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revisionInfo.xml" ContentType="application/vnd.ms-powerpoint.revisioninfo+xml"/>
  <Override PartName="/ppt/changesInfos/changesInfo1.xml" ContentType="application/vnd.ms-powerpoint.changes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0" r:id="rId1"/>
  </p:sldMasterIdLst>
  <p:notesMasterIdLst>
    <p:notesMasterId r:id="rId40"/>
  </p:notesMasterIdLst>
  <p:handoutMasterIdLst>
    <p:handoutMasterId r:id="rId41"/>
  </p:handoutMasterIdLst>
  <p:sldIdLst>
    <p:sldId id="256" r:id="rId2"/>
    <p:sldId id="628" r:id="rId3"/>
    <p:sldId id="940" r:id="rId4"/>
    <p:sldId id="939" r:id="rId5"/>
    <p:sldId id="903" r:id="rId6"/>
    <p:sldId id="889" r:id="rId7"/>
    <p:sldId id="888" r:id="rId8"/>
    <p:sldId id="890" r:id="rId9"/>
    <p:sldId id="900" r:id="rId10"/>
    <p:sldId id="901" r:id="rId11"/>
    <p:sldId id="902" r:id="rId12"/>
    <p:sldId id="904" r:id="rId13"/>
    <p:sldId id="926" r:id="rId14"/>
    <p:sldId id="928" r:id="rId15"/>
    <p:sldId id="929" r:id="rId16"/>
    <p:sldId id="932" r:id="rId17"/>
    <p:sldId id="906" r:id="rId18"/>
    <p:sldId id="907" r:id="rId19"/>
    <p:sldId id="937" r:id="rId20"/>
    <p:sldId id="938" r:id="rId21"/>
    <p:sldId id="905" r:id="rId22"/>
    <p:sldId id="935" r:id="rId23"/>
    <p:sldId id="934" r:id="rId24"/>
    <p:sldId id="909" r:id="rId25"/>
    <p:sldId id="908" r:id="rId26"/>
    <p:sldId id="910" r:id="rId27"/>
    <p:sldId id="912" r:id="rId28"/>
    <p:sldId id="913" r:id="rId29"/>
    <p:sldId id="914" r:id="rId30"/>
    <p:sldId id="933" r:id="rId31"/>
    <p:sldId id="915" r:id="rId32"/>
    <p:sldId id="924" r:id="rId33"/>
    <p:sldId id="925" r:id="rId34"/>
    <p:sldId id="923" r:id="rId35"/>
    <p:sldId id="916" r:id="rId36"/>
    <p:sldId id="927" r:id="rId37"/>
    <p:sldId id="930" r:id="rId38"/>
    <p:sldId id="936" r:id="rId39"/>
  </p:sldIdLst>
  <p:sldSz cx="12168188" cy="6840538"/>
  <p:notesSz cx="6797675" cy="9926638"/>
  <p:defaultTextStyle>
    <a:defPPr>
      <a:defRPr lang="ko-KR"/>
    </a:defPPr>
    <a:lvl1pPr marL="0" algn="l" defTabSz="912388" rtl="0" eaLnBrk="1" latinLnBrk="1" hangingPunct="1">
      <a:defRPr sz="1796" kern="1200">
        <a:solidFill>
          <a:schemeClr val="tx1"/>
        </a:solidFill>
        <a:latin typeface="+mn-lt"/>
        <a:ea typeface="+mn-ea"/>
        <a:cs typeface="+mn-cs"/>
      </a:defRPr>
    </a:lvl1pPr>
    <a:lvl2pPr marL="456194" algn="l" defTabSz="912388" rtl="0" eaLnBrk="1" latinLnBrk="1" hangingPunct="1">
      <a:defRPr sz="1796" kern="1200">
        <a:solidFill>
          <a:schemeClr val="tx1"/>
        </a:solidFill>
        <a:latin typeface="+mn-lt"/>
        <a:ea typeface="+mn-ea"/>
        <a:cs typeface="+mn-cs"/>
      </a:defRPr>
    </a:lvl2pPr>
    <a:lvl3pPr marL="912388" algn="l" defTabSz="912388" rtl="0" eaLnBrk="1" latinLnBrk="1" hangingPunct="1">
      <a:defRPr sz="1796" kern="1200">
        <a:solidFill>
          <a:schemeClr val="tx1"/>
        </a:solidFill>
        <a:latin typeface="+mn-lt"/>
        <a:ea typeface="+mn-ea"/>
        <a:cs typeface="+mn-cs"/>
      </a:defRPr>
    </a:lvl3pPr>
    <a:lvl4pPr marL="1368582" algn="l" defTabSz="912388" rtl="0" eaLnBrk="1" latinLnBrk="1" hangingPunct="1">
      <a:defRPr sz="1796" kern="1200">
        <a:solidFill>
          <a:schemeClr val="tx1"/>
        </a:solidFill>
        <a:latin typeface="+mn-lt"/>
        <a:ea typeface="+mn-ea"/>
        <a:cs typeface="+mn-cs"/>
      </a:defRPr>
    </a:lvl4pPr>
    <a:lvl5pPr marL="1824777" algn="l" defTabSz="912388" rtl="0" eaLnBrk="1" latinLnBrk="1" hangingPunct="1">
      <a:defRPr sz="1796" kern="1200">
        <a:solidFill>
          <a:schemeClr val="tx1"/>
        </a:solidFill>
        <a:latin typeface="+mn-lt"/>
        <a:ea typeface="+mn-ea"/>
        <a:cs typeface="+mn-cs"/>
      </a:defRPr>
    </a:lvl5pPr>
    <a:lvl6pPr marL="2280971" algn="l" defTabSz="912388" rtl="0" eaLnBrk="1" latinLnBrk="1" hangingPunct="1">
      <a:defRPr sz="1796" kern="1200">
        <a:solidFill>
          <a:schemeClr val="tx1"/>
        </a:solidFill>
        <a:latin typeface="+mn-lt"/>
        <a:ea typeface="+mn-ea"/>
        <a:cs typeface="+mn-cs"/>
      </a:defRPr>
    </a:lvl6pPr>
    <a:lvl7pPr marL="2737165" algn="l" defTabSz="912388" rtl="0" eaLnBrk="1" latinLnBrk="1" hangingPunct="1">
      <a:defRPr sz="1796" kern="1200">
        <a:solidFill>
          <a:schemeClr val="tx1"/>
        </a:solidFill>
        <a:latin typeface="+mn-lt"/>
        <a:ea typeface="+mn-ea"/>
        <a:cs typeface="+mn-cs"/>
      </a:defRPr>
    </a:lvl7pPr>
    <a:lvl8pPr marL="3193359" algn="l" defTabSz="912388" rtl="0" eaLnBrk="1" latinLnBrk="1" hangingPunct="1">
      <a:defRPr sz="1796" kern="1200">
        <a:solidFill>
          <a:schemeClr val="tx1"/>
        </a:solidFill>
        <a:latin typeface="+mn-lt"/>
        <a:ea typeface="+mn-ea"/>
        <a:cs typeface="+mn-cs"/>
      </a:defRPr>
    </a:lvl8pPr>
    <a:lvl9pPr marL="3649553" algn="l" defTabSz="912388" rtl="0" eaLnBrk="1" latinLnBrk="1" hangingPunct="1">
      <a:defRPr sz="1796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기본 구역" id="{8FAC7ADD-389A-48ED-A3A5-25BBB1A0C40D}">
          <p14:sldIdLst>
            <p14:sldId id="256"/>
          </p14:sldIdLst>
        </p14:section>
        <p14:section name="프로젝트 방향" id="{933754F3-B016-486A-8D5A-53E31693986F}">
          <p14:sldIdLst>
            <p14:sldId id="628"/>
            <p14:sldId id="940"/>
            <p14:sldId id="939"/>
            <p14:sldId id="903"/>
            <p14:sldId id="889"/>
            <p14:sldId id="888"/>
            <p14:sldId id="890"/>
            <p14:sldId id="900"/>
            <p14:sldId id="901"/>
            <p14:sldId id="902"/>
            <p14:sldId id="904"/>
            <p14:sldId id="926"/>
            <p14:sldId id="928"/>
            <p14:sldId id="929"/>
            <p14:sldId id="932"/>
            <p14:sldId id="906"/>
            <p14:sldId id="907"/>
            <p14:sldId id="937"/>
            <p14:sldId id="938"/>
          </p14:sldIdLst>
        </p14:section>
        <p14:section name="화면설계 (Front)" id="{FDB187D3-C150-437C-B385-CBFA461521BE}">
          <p14:sldIdLst>
            <p14:sldId id="905"/>
            <p14:sldId id="935"/>
            <p14:sldId id="934"/>
            <p14:sldId id="909"/>
            <p14:sldId id="908"/>
            <p14:sldId id="910"/>
            <p14:sldId id="912"/>
            <p14:sldId id="913"/>
            <p14:sldId id="914"/>
            <p14:sldId id="933"/>
          </p14:sldIdLst>
        </p14:section>
        <p14:section name="화면설계 (NBOS)" id="{3D9841AB-59EC-4FC3-85E5-E87F417A50E6}">
          <p14:sldIdLst>
            <p14:sldId id="915"/>
            <p14:sldId id="924"/>
            <p14:sldId id="925"/>
            <p14:sldId id="923"/>
            <p14:sldId id="916"/>
            <p14:sldId id="927"/>
            <p14:sldId id="930"/>
            <p14:sldId id="936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54" userDrawn="1">
          <p15:clr>
            <a:srgbClr val="A4A3A4"/>
          </p15:clr>
        </p15:guide>
        <p15:guide id="2" pos="3832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00CC"/>
    <a:srgbClr val="A66BD3"/>
    <a:srgbClr val="8A3CC4"/>
    <a:srgbClr val="9900CC"/>
    <a:srgbClr val="CC99FF"/>
    <a:srgbClr val="CCCCFF"/>
    <a:srgbClr val="FFFFEF"/>
    <a:srgbClr val="EEA0A6"/>
    <a:srgbClr val="660066"/>
    <a:srgbClr val="80008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9A2FC05-A0F3-ACB8-77CE-3E8BB724BC68}" v="45" dt="2023-12-15T05:48:12.03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315" autoAdjust="0"/>
    <p:restoredTop sz="94313" autoAdjust="0"/>
  </p:normalViewPr>
  <p:slideViewPr>
    <p:cSldViewPr snapToGrid="0">
      <p:cViewPr>
        <p:scale>
          <a:sx n="100" d="100"/>
          <a:sy n="100" d="100"/>
        </p:scale>
        <p:origin x="283" y="-226"/>
      </p:cViewPr>
      <p:guideLst>
        <p:guide orient="horz" pos="2154"/>
        <p:guide pos="3832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6" d="100"/>
          <a:sy n="86" d="100"/>
        </p:scale>
        <p:origin x="3874" y="67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notesMaster" Target="notesMasters/notesMaster1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94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Relationship Id="rId193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정보람" userId="S::jbr2021@lfcorp.com::2c2ee64a-f96d-41bf-831c-3c1005aa6d8a" providerId="AD" clId="Web-{59A2FC05-A0F3-ACB8-77CE-3E8BB724BC68}"/>
    <pc:docChg chg="modSld">
      <pc:chgData name="정보람" userId="S::jbr2021@lfcorp.com::2c2ee64a-f96d-41bf-831c-3c1005aa6d8a" providerId="AD" clId="Web-{59A2FC05-A0F3-ACB8-77CE-3E8BB724BC68}" dt="2023-12-15T05:48:12.038" v="44" actId="14100"/>
      <pc:docMkLst>
        <pc:docMk/>
      </pc:docMkLst>
      <pc:sldChg chg="modSp">
        <pc:chgData name="정보람" userId="S::jbr2021@lfcorp.com::2c2ee64a-f96d-41bf-831c-3c1005aa6d8a" providerId="AD" clId="Web-{59A2FC05-A0F3-ACB8-77CE-3E8BB724BC68}" dt="2023-12-15T05:48:12.038" v="44" actId="14100"/>
        <pc:sldMkLst>
          <pc:docMk/>
          <pc:sldMk cId="1928063865" sldId="573"/>
        </pc:sldMkLst>
        <pc:spChg chg="mod">
          <ac:chgData name="정보람" userId="S::jbr2021@lfcorp.com::2c2ee64a-f96d-41bf-831c-3c1005aa6d8a" providerId="AD" clId="Web-{59A2FC05-A0F3-ACB8-77CE-3E8BB724BC68}" dt="2023-12-15T05:47:21.910" v="19" actId="1076"/>
          <ac:spMkLst>
            <pc:docMk/>
            <pc:sldMk cId="1928063865" sldId="573"/>
            <ac:spMk id="11" creationId="{00000000-0000-0000-0000-000000000000}"/>
          </ac:spMkLst>
        </pc:spChg>
        <pc:spChg chg="mod">
          <ac:chgData name="정보람" userId="S::jbr2021@lfcorp.com::2c2ee64a-f96d-41bf-831c-3c1005aa6d8a" providerId="AD" clId="Web-{59A2FC05-A0F3-ACB8-77CE-3E8BB724BC68}" dt="2023-12-15T05:47:22.191" v="28" actId="1076"/>
          <ac:spMkLst>
            <pc:docMk/>
            <pc:sldMk cId="1928063865" sldId="573"/>
            <ac:spMk id="17" creationId="{00000000-0000-0000-0000-000000000000}"/>
          </ac:spMkLst>
        </pc:spChg>
        <pc:spChg chg="mod">
          <ac:chgData name="정보람" userId="S::jbr2021@lfcorp.com::2c2ee64a-f96d-41bf-831c-3c1005aa6d8a" providerId="AD" clId="Web-{59A2FC05-A0F3-ACB8-77CE-3E8BB724BC68}" dt="2023-12-15T05:47:21.957" v="21" actId="1076"/>
          <ac:spMkLst>
            <pc:docMk/>
            <pc:sldMk cId="1928063865" sldId="573"/>
            <ac:spMk id="19" creationId="{00000000-0000-0000-0000-000000000000}"/>
          </ac:spMkLst>
        </pc:spChg>
        <pc:spChg chg="mod">
          <ac:chgData name="정보람" userId="S::jbr2021@lfcorp.com::2c2ee64a-f96d-41bf-831c-3c1005aa6d8a" providerId="AD" clId="Web-{59A2FC05-A0F3-ACB8-77CE-3E8BB724BC68}" dt="2023-12-15T05:47:22.082" v="24" actId="1076"/>
          <ac:spMkLst>
            <pc:docMk/>
            <pc:sldMk cId="1928063865" sldId="573"/>
            <ac:spMk id="20" creationId="{00000000-0000-0000-0000-000000000000}"/>
          </ac:spMkLst>
        </pc:spChg>
        <pc:spChg chg="mod">
          <ac:chgData name="정보람" userId="S::jbr2021@lfcorp.com::2c2ee64a-f96d-41bf-831c-3c1005aa6d8a" providerId="AD" clId="Web-{59A2FC05-A0F3-ACB8-77CE-3E8BB724BC68}" dt="2023-12-15T05:47:33.973" v="33" actId="1076"/>
          <ac:spMkLst>
            <pc:docMk/>
            <pc:sldMk cId="1928063865" sldId="573"/>
            <ac:spMk id="21" creationId="{00000000-0000-0000-0000-000000000000}"/>
          </ac:spMkLst>
        </pc:spChg>
        <pc:spChg chg="mod">
          <ac:chgData name="정보람" userId="S::jbr2021@lfcorp.com::2c2ee64a-f96d-41bf-831c-3c1005aa6d8a" providerId="AD" clId="Web-{59A2FC05-A0F3-ACB8-77CE-3E8BB724BC68}" dt="2023-12-15T05:47:22.160" v="27" actId="1076"/>
          <ac:spMkLst>
            <pc:docMk/>
            <pc:sldMk cId="1928063865" sldId="573"/>
            <ac:spMk id="22" creationId="{00000000-0000-0000-0000-000000000000}"/>
          </ac:spMkLst>
        </pc:spChg>
        <pc:spChg chg="mod">
          <ac:chgData name="정보람" userId="S::jbr2021@lfcorp.com::2c2ee64a-f96d-41bf-831c-3c1005aa6d8a" providerId="AD" clId="Web-{59A2FC05-A0F3-ACB8-77CE-3E8BB724BC68}" dt="2023-12-15T05:47:22.222" v="29" actId="1076"/>
          <ac:spMkLst>
            <pc:docMk/>
            <pc:sldMk cId="1928063865" sldId="573"/>
            <ac:spMk id="23" creationId="{00000000-0000-0000-0000-000000000000}"/>
          </ac:spMkLst>
        </pc:spChg>
        <pc:spChg chg="mod">
          <ac:chgData name="정보람" userId="S::jbr2021@lfcorp.com::2c2ee64a-f96d-41bf-831c-3c1005aa6d8a" providerId="AD" clId="Web-{59A2FC05-A0F3-ACB8-77CE-3E8BB724BC68}" dt="2023-12-15T05:48:00.631" v="41" actId="1076"/>
          <ac:spMkLst>
            <pc:docMk/>
            <pc:sldMk cId="1928063865" sldId="573"/>
            <ac:spMk id="82" creationId="{00000000-0000-0000-0000-000000000000}"/>
          </ac:spMkLst>
        </pc:spChg>
        <pc:spChg chg="mod">
          <ac:chgData name="정보람" userId="S::jbr2021@lfcorp.com::2c2ee64a-f96d-41bf-831c-3c1005aa6d8a" providerId="AD" clId="Web-{59A2FC05-A0F3-ACB8-77CE-3E8BB724BC68}" dt="2023-12-15T05:47:34.129" v="37" actId="1076"/>
          <ac:spMkLst>
            <pc:docMk/>
            <pc:sldMk cId="1928063865" sldId="573"/>
            <ac:spMk id="94" creationId="{00000000-0000-0000-0000-000000000000}"/>
          </ac:spMkLst>
        </pc:spChg>
        <pc:spChg chg="mod">
          <ac:chgData name="정보람" userId="S::jbr2021@lfcorp.com::2c2ee64a-f96d-41bf-831c-3c1005aa6d8a" providerId="AD" clId="Web-{59A2FC05-A0F3-ACB8-77CE-3E8BB724BC68}" dt="2023-12-15T05:47:34.036" v="35" actId="1076"/>
          <ac:spMkLst>
            <pc:docMk/>
            <pc:sldMk cId="1928063865" sldId="573"/>
            <ac:spMk id="120" creationId="{00000000-0000-0000-0000-000000000000}"/>
          </ac:spMkLst>
        </pc:spChg>
        <pc:spChg chg="mod">
          <ac:chgData name="정보람" userId="S::jbr2021@lfcorp.com::2c2ee64a-f96d-41bf-831c-3c1005aa6d8a" providerId="AD" clId="Web-{59A2FC05-A0F3-ACB8-77CE-3E8BB724BC68}" dt="2023-12-15T05:48:00.647" v="42" actId="1076"/>
          <ac:spMkLst>
            <pc:docMk/>
            <pc:sldMk cId="1928063865" sldId="573"/>
            <ac:spMk id="123" creationId="{00000000-0000-0000-0000-000000000000}"/>
          </ac:spMkLst>
        </pc:spChg>
        <pc:spChg chg="mod">
          <ac:chgData name="정보람" userId="S::jbr2021@lfcorp.com::2c2ee64a-f96d-41bf-831c-3c1005aa6d8a" providerId="AD" clId="Web-{59A2FC05-A0F3-ACB8-77CE-3E8BB724BC68}" dt="2023-12-15T05:47:22.253" v="30" actId="1076"/>
          <ac:spMkLst>
            <pc:docMk/>
            <pc:sldMk cId="1928063865" sldId="573"/>
            <ac:spMk id="183" creationId="{00000000-0000-0000-0000-000000000000}"/>
          </ac:spMkLst>
        </pc:spChg>
        <pc:spChg chg="mod">
          <ac:chgData name="정보람" userId="S::jbr2021@lfcorp.com::2c2ee64a-f96d-41bf-831c-3c1005aa6d8a" providerId="AD" clId="Web-{59A2FC05-A0F3-ACB8-77CE-3E8BB724BC68}" dt="2023-12-15T05:47:22.269" v="31" actId="1076"/>
          <ac:spMkLst>
            <pc:docMk/>
            <pc:sldMk cId="1928063865" sldId="573"/>
            <ac:spMk id="184" creationId="{00000000-0000-0000-0000-000000000000}"/>
          </ac:spMkLst>
        </pc:spChg>
        <pc:spChg chg="mod">
          <ac:chgData name="정보람" userId="S::jbr2021@lfcorp.com::2c2ee64a-f96d-41bf-831c-3c1005aa6d8a" providerId="AD" clId="Web-{59A2FC05-A0F3-ACB8-77CE-3E8BB724BC68}" dt="2023-12-15T05:47:22.300" v="32" actId="1076"/>
          <ac:spMkLst>
            <pc:docMk/>
            <pc:sldMk cId="1928063865" sldId="573"/>
            <ac:spMk id="185" creationId="{00000000-0000-0000-0000-000000000000}"/>
          </ac:spMkLst>
        </pc:spChg>
        <pc:spChg chg="mod">
          <ac:chgData name="정보람" userId="S::jbr2021@lfcorp.com::2c2ee64a-f96d-41bf-831c-3c1005aa6d8a" providerId="AD" clId="Web-{59A2FC05-A0F3-ACB8-77CE-3E8BB724BC68}" dt="2023-12-15T05:47:34.145" v="38" actId="1076"/>
          <ac:spMkLst>
            <pc:docMk/>
            <pc:sldMk cId="1928063865" sldId="573"/>
            <ac:spMk id="186" creationId="{00000000-0000-0000-0000-000000000000}"/>
          </ac:spMkLst>
        </pc:spChg>
        <pc:picChg chg="mod">
          <ac:chgData name="정보람" userId="S::jbr2021@lfcorp.com::2c2ee64a-f96d-41bf-831c-3c1005aa6d8a" providerId="AD" clId="Web-{59A2FC05-A0F3-ACB8-77CE-3E8BB724BC68}" dt="2023-12-15T05:47:14.362" v="0" actId="1076"/>
          <ac:picMkLst>
            <pc:docMk/>
            <pc:sldMk cId="1928063865" sldId="573"/>
            <ac:picMk id="10" creationId="{00000000-0000-0000-0000-000000000000}"/>
          </ac:picMkLst>
        </pc:picChg>
        <pc:picChg chg="mod">
          <ac:chgData name="정보람" userId="S::jbr2021@lfcorp.com::2c2ee64a-f96d-41bf-831c-3c1005aa6d8a" providerId="AD" clId="Web-{59A2FC05-A0F3-ACB8-77CE-3E8BB724BC68}" dt="2023-12-15T05:47:14.425" v="3" actId="1076"/>
          <ac:picMkLst>
            <pc:docMk/>
            <pc:sldMk cId="1928063865" sldId="573"/>
            <ac:picMk id="18" creationId="{00000000-0000-0000-0000-000000000000}"/>
          </ac:picMkLst>
        </pc:picChg>
        <pc:picChg chg="mod">
          <ac:chgData name="정보람" userId="S::jbr2021@lfcorp.com::2c2ee64a-f96d-41bf-831c-3c1005aa6d8a" providerId="AD" clId="Web-{59A2FC05-A0F3-ACB8-77CE-3E8BB724BC68}" dt="2023-12-15T05:47:14.394" v="1" actId="1076"/>
          <ac:picMkLst>
            <pc:docMk/>
            <pc:sldMk cId="1928063865" sldId="573"/>
            <ac:picMk id="30" creationId="{00000000-0000-0000-0000-000000000000}"/>
          </ac:picMkLst>
        </pc:picChg>
        <pc:picChg chg="mod">
          <ac:chgData name="정보람" userId="S::jbr2021@lfcorp.com::2c2ee64a-f96d-41bf-831c-3c1005aa6d8a" providerId="AD" clId="Web-{59A2FC05-A0F3-ACB8-77CE-3E8BB724BC68}" dt="2023-12-15T05:47:14.409" v="2" actId="1076"/>
          <ac:picMkLst>
            <pc:docMk/>
            <pc:sldMk cId="1928063865" sldId="573"/>
            <ac:picMk id="31" creationId="{00000000-0000-0000-0000-000000000000}"/>
          </ac:picMkLst>
        </pc:picChg>
        <pc:picChg chg="mod">
          <ac:chgData name="정보람" userId="S::jbr2021@lfcorp.com::2c2ee64a-f96d-41bf-831c-3c1005aa6d8a" providerId="AD" clId="Web-{59A2FC05-A0F3-ACB8-77CE-3E8BB724BC68}" dt="2023-12-15T05:47:53.443" v="39" actId="1076"/>
          <ac:picMkLst>
            <pc:docMk/>
            <pc:sldMk cId="1928063865" sldId="573"/>
            <ac:picMk id="81" creationId="{00000000-0000-0000-0000-000000000000}"/>
          </ac:picMkLst>
        </pc:picChg>
        <pc:picChg chg="mod">
          <ac:chgData name="정보람" userId="S::jbr2021@lfcorp.com::2c2ee64a-f96d-41bf-831c-3c1005aa6d8a" providerId="AD" clId="Web-{59A2FC05-A0F3-ACB8-77CE-3E8BB724BC68}" dt="2023-12-15T05:47:53.474" v="40" actId="1076"/>
          <ac:picMkLst>
            <pc:docMk/>
            <pc:sldMk cId="1928063865" sldId="573"/>
            <ac:picMk id="119" creationId="{00000000-0000-0000-0000-000000000000}"/>
          </ac:picMkLst>
        </pc:picChg>
        <pc:cxnChg chg="mod">
          <ac:chgData name="정보람" userId="S::jbr2021@lfcorp.com::2c2ee64a-f96d-41bf-831c-3c1005aa6d8a" providerId="AD" clId="Web-{59A2FC05-A0F3-ACB8-77CE-3E8BB724BC68}" dt="2023-12-15T05:48:12.038" v="44" actId="14100"/>
          <ac:cxnSpMkLst>
            <pc:docMk/>
            <pc:sldMk cId="1928063865" sldId="573"/>
            <ac:cxnSpMk id="49" creationId="{00000000-0000-0000-0000-000000000000}"/>
          </ac:cxnSpMkLst>
        </pc:cxnChg>
        <pc:cxnChg chg="mod">
          <ac:chgData name="정보람" userId="S::jbr2021@lfcorp.com::2c2ee64a-f96d-41bf-831c-3c1005aa6d8a" providerId="AD" clId="Web-{59A2FC05-A0F3-ACB8-77CE-3E8BB724BC68}" dt="2023-12-15T05:47:22.003" v="23" actId="1076"/>
          <ac:cxnSpMkLst>
            <pc:docMk/>
            <pc:sldMk cId="1928063865" sldId="573"/>
            <ac:cxnSpMk id="65" creationId="{00000000-0000-0000-0000-000000000000}"/>
          </ac:cxnSpMkLst>
        </pc:cxnChg>
        <pc:cxnChg chg="mod">
          <ac:chgData name="정보람" userId="S::jbr2021@lfcorp.com::2c2ee64a-f96d-41bf-831c-3c1005aa6d8a" providerId="AD" clId="Web-{59A2FC05-A0F3-ACB8-77CE-3E8BB724BC68}" dt="2023-12-15T05:47:21.972" v="22" actId="1076"/>
          <ac:cxnSpMkLst>
            <pc:docMk/>
            <pc:sldMk cId="1928063865" sldId="573"/>
            <ac:cxnSpMk id="68" creationId="{00000000-0000-0000-0000-000000000000}"/>
          </ac:cxnSpMkLst>
        </pc:cxnChg>
        <pc:cxnChg chg="mod">
          <ac:chgData name="정보람" userId="S::jbr2021@lfcorp.com::2c2ee64a-f96d-41bf-831c-3c1005aa6d8a" providerId="AD" clId="Web-{59A2FC05-A0F3-ACB8-77CE-3E8BB724BC68}" dt="2023-12-15T05:47:22.128" v="26" actId="1076"/>
          <ac:cxnSpMkLst>
            <pc:docMk/>
            <pc:sldMk cId="1928063865" sldId="573"/>
            <ac:cxnSpMk id="71" creationId="{00000000-0000-0000-0000-000000000000}"/>
          </ac:cxnSpMkLst>
        </pc:cxnChg>
        <pc:cxnChg chg="mod">
          <ac:chgData name="정보람" userId="S::jbr2021@lfcorp.com::2c2ee64a-f96d-41bf-831c-3c1005aa6d8a" providerId="AD" clId="Web-{59A2FC05-A0F3-ACB8-77CE-3E8BB724BC68}" dt="2023-12-15T05:47:22.113" v="25" actId="1076"/>
          <ac:cxnSpMkLst>
            <pc:docMk/>
            <pc:sldMk cId="1928063865" sldId="573"/>
            <ac:cxnSpMk id="74" creationId="{00000000-0000-0000-0000-000000000000}"/>
          </ac:cxnSpMkLst>
        </pc:cxnChg>
        <pc:cxnChg chg="mod">
          <ac:chgData name="정보람" userId="S::jbr2021@lfcorp.com::2c2ee64a-f96d-41bf-831c-3c1005aa6d8a" providerId="AD" clId="Web-{59A2FC05-A0F3-ACB8-77CE-3E8BB724BC68}" dt="2023-12-15T05:47:33.989" v="34" actId="1076"/>
          <ac:cxnSpMkLst>
            <pc:docMk/>
            <pc:sldMk cId="1928063865" sldId="573"/>
            <ac:cxnSpMk id="95" creationId="{00000000-0000-0000-0000-000000000000}"/>
          </ac:cxnSpMkLst>
        </pc:cxnChg>
        <pc:cxnChg chg="mod">
          <ac:chgData name="정보람" userId="S::jbr2021@lfcorp.com::2c2ee64a-f96d-41bf-831c-3c1005aa6d8a" providerId="AD" clId="Web-{59A2FC05-A0F3-ACB8-77CE-3E8BB724BC68}" dt="2023-12-15T05:47:34.067" v="36" actId="1076"/>
          <ac:cxnSpMkLst>
            <pc:docMk/>
            <pc:sldMk cId="1928063865" sldId="573"/>
            <ac:cxnSpMk id="130" creationId="{00000000-0000-0000-0000-000000000000}"/>
          </ac:cxnSpMkLst>
        </pc:cxnChg>
        <pc:cxnChg chg="mod">
          <ac:chgData name="정보람" userId="S::jbr2021@lfcorp.com::2c2ee64a-f96d-41bf-831c-3c1005aa6d8a" providerId="AD" clId="Web-{59A2FC05-A0F3-ACB8-77CE-3E8BB724BC68}" dt="2023-12-15T05:47:14.909" v="15" actId="1076"/>
          <ac:cxnSpMkLst>
            <pc:docMk/>
            <pc:sldMk cId="1928063865" sldId="573"/>
            <ac:cxnSpMk id="180" creationId="{00000000-0000-0000-0000-000000000000}"/>
          </ac:cxnSpMkLst>
        </pc:cxnChg>
        <pc:cxnChg chg="mod">
          <ac:chgData name="정보람" userId="S::jbr2021@lfcorp.com::2c2ee64a-f96d-41bf-831c-3c1005aa6d8a" providerId="AD" clId="Web-{59A2FC05-A0F3-ACB8-77CE-3E8BB724BC68}" dt="2023-12-15T05:47:34.129" v="37" actId="1076"/>
          <ac:cxnSpMkLst>
            <pc:docMk/>
            <pc:sldMk cId="1928063865" sldId="573"/>
            <ac:cxnSpMk id="219" creationId="{00000000-0000-0000-0000-000000000000}"/>
          </ac:cxnSpMkLst>
        </pc:cxnChg>
        <pc:cxnChg chg="mod">
          <ac:chgData name="정보람" userId="S::jbr2021@lfcorp.com::2c2ee64a-f96d-41bf-831c-3c1005aa6d8a" providerId="AD" clId="Web-{59A2FC05-A0F3-ACB8-77CE-3E8BB724BC68}" dt="2023-12-15T05:47:22.082" v="24" actId="1076"/>
          <ac:cxnSpMkLst>
            <pc:docMk/>
            <pc:sldMk cId="1928063865" sldId="573"/>
            <ac:cxnSpMk id="220" creationId="{00000000-0000-0000-0000-000000000000}"/>
          </ac:cxnSpMkLst>
        </pc:cxnChg>
        <pc:cxnChg chg="mod">
          <ac:chgData name="정보람" userId="S::jbr2021@lfcorp.com::2c2ee64a-f96d-41bf-831c-3c1005aa6d8a" providerId="AD" clId="Web-{59A2FC05-A0F3-ACB8-77CE-3E8BB724BC68}" dt="2023-12-15T05:47:34.129" v="37" actId="1076"/>
          <ac:cxnSpMkLst>
            <pc:docMk/>
            <pc:sldMk cId="1928063865" sldId="573"/>
            <ac:cxnSpMk id="250" creationId="{00000000-0000-0000-0000-000000000000}"/>
          </ac:cxnSpMkLst>
        </pc:cxn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50443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9D3D760-4B16-4B3A-A0FA-DFBA6AD412BF}" type="datetimeFigureOut">
              <a:rPr lang="ko-KR" altLang="en-US" smtClean="0"/>
              <a:t>2026-04-15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08DBB2C-82F7-41F9-87E5-1CBC424A4BD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4709801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7CBBB49-ACD4-4383-AEF7-EF5A2D0E3B66}" type="datetimeFigureOut">
              <a:rPr lang="ko-KR" altLang="en-US" smtClean="0"/>
              <a:t>2026-04-15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420688" y="1241425"/>
            <a:ext cx="5956300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9768" y="4777194"/>
            <a:ext cx="5438140" cy="390861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7A74E2A-C5E6-4BFD-810A-92AF8B60F79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094576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2388" rtl="0" eaLnBrk="1" latinLnBrk="1" hangingPunct="1">
      <a:defRPr sz="1197" kern="1200">
        <a:solidFill>
          <a:schemeClr val="tx1"/>
        </a:solidFill>
        <a:latin typeface="+mn-lt"/>
        <a:ea typeface="+mn-ea"/>
        <a:cs typeface="+mn-cs"/>
      </a:defRPr>
    </a:lvl1pPr>
    <a:lvl2pPr marL="456194" algn="l" defTabSz="912388" rtl="0" eaLnBrk="1" latinLnBrk="1" hangingPunct="1">
      <a:defRPr sz="1197" kern="1200">
        <a:solidFill>
          <a:schemeClr val="tx1"/>
        </a:solidFill>
        <a:latin typeface="+mn-lt"/>
        <a:ea typeface="+mn-ea"/>
        <a:cs typeface="+mn-cs"/>
      </a:defRPr>
    </a:lvl2pPr>
    <a:lvl3pPr marL="912388" algn="l" defTabSz="912388" rtl="0" eaLnBrk="1" latinLnBrk="1" hangingPunct="1">
      <a:defRPr sz="1197" kern="1200">
        <a:solidFill>
          <a:schemeClr val="tx1"/>
        </a:solidFill>
        <a:latin typeface="+mn-lt"/>
        <a:ea typeface="+mn-ea"/>
        <a:cs typeface="+mn-cs"/>
      </a:defRPr>
    </a:lvl3pPr>
    <a:lvl4pPr marL="1368582" algn="l" defTabSz="912388" rtl="0" eaLnBrk="1" latinLnBrk="1" hangingPunct="1">
      <a:defRPr sz="1197" kern="1200">
        <a:solidFill>
          <a:schemeClr val="tx1"/>
        </a:solidFill>
        <a:latin typeface="+mn-lt"/>
        <a:ea typeface="+mn-ea"/>
        <a:cs typeface="+mn-cs"/>
      </a:defRPr>
    </a:lvl4pPr>
    <a:lvl5pPr marL="1824777" algn="l" defTabSz="912388" rtl="0" eaLnBrk="1" latinLnBrk="1" hangingPunct="1">
      <a:defRPr sz="1197" kern="1200">
        <a:solidFill>
          <a:schemeClr val="tx1"/>
        </a:solidFill>
        <a:latin typeface="+mn-lt"/>
        <a:ea typeface="+mn-ea"/>
        <a:cs typeface="+mn-cs"/>
      </a:defRPr>
    </a:lvl5pPr>
    <a:lvl6pPr marL="2280971" algn="l" defTabSz="912388" rtl="0" eaLnBrk="1" latinLnBrk="1" hangingPunct="1">
      <a:defRPr sz="1197" kern="1200">
        <a:solidFill>
          <a:schemeClr val="tx1"/>
        </a:solidFill>
        <a:latin typeface="+mn-lt"/>
        <a:ea typeface="+mn-ea"/>
        <a:cs typeface="+mn-cs"/>
      </a:defRPr>
    </a:lvl6pPr>
    <a:lvl7pPr marL="2737165" algn="l" defTabSz="912388" rtl="0" eaLnBrk="1" latinLnBrk="1" hangingPunct="1">
      <a:defRPr sz="1197" kern="1200">
        <a:solidFill>
          <a:schemeClr val="tx1"/>
        </a:solidFill>
        <a:latin typeface="+mn-lt"/>
        <a:ea typeface="+mn-ea"/>
        <a:cs typeface="+mn-cs"/>
      </a:defRPr>
    </a:lvl7pPr>
    <a:lvl8pPr marL="3193359" algn="l" defTabSz="912388" rtl="0" eaLnBrk="1" latinLnBrk="1" hangingPunct="1">
      <a:defRPr sz="1197" kern="1200">
        <a:solidFill>
          <a:schemeClr val="tx1"/>
        </a:solidFill>
        <a:latin typeface="+mn-lt"/>
        <a:ea typeface="+mn-ea"/>
        <a:cs typeface="+mn-cs"/>
      </a:defRPr>
    </a:lvl8pPr>
    <a:lvl9pPr marL="3649553" algn="l" defTabSz="912388" rtl="0" eaLnBrk="1" latinLnBrk="1" hangingPunct="1">
      <a:defRPr sz="1197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커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/>
          <p:cNvSpPr/>
          <p:nvPr userDrawn="1"/>
        </p:nvSpPr>
        <p:spPr>
          <a:xfrm>
            <a:off x="0" y="0"/>
            <a:ext cx="12168188" cy="6840538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207" tIns="45604" rIns="91207" bIns="4560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792">
              <a:solidFill>
                <a:prstClr val="white"/>
              </a:solidFill>
            </a:endParaRPr>
          </a:p>
        </p:txBody>
      </p:sp>
      <p:sp>
        <p:nvSpPr>
          <p:cNvPr id="8" name="모서리가 둥근 직사각형 7"/>
          <p:cNvSpPr/>
          <p:nvPr userDrawn="1"/>
        </p:nvSpPr>
        <p:spPr>
          <a:xfrm>
            <a:off x="144093" y="144269"/>
            <a:ext cx="11880000" cy="6552000"/>
          </a:xfrm>
          <a:prstGeom prst="roundRect">
            <a:avLst>
              <a:gd name="adj" fmla="val 3634"/>
            </a:avLst>
          </a:prstGeom>
          <a:solidFill>
            <a:schemeClr val="bg1"/>
          </a:solidFill>
          <a:ln>
            <a:noFill/>
          </a:ln>
          <a:effectLst>
            <a:innerShdw blurRad="63500">
              <a:prstClr val="black"/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207" tIns="45604" rIns="91207" bIns="4560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792">
              <a:solidFill>
                <a:prstClr val="white"/>
              </a:solidFill>
            </a:endParaRPr>
          </a:p>
        </p:txBody>
      </p:sp>
      <p:sp>
        <p:nvSpPr>
          <p:cNvPr id="9" name="직사각형 8"/>
          <p:cNvSpPr/>
          <p:nvPr userDrawn="1"/>
        </p:nvSpPr>
        <p:spPr>
          <a:xfrm>
            <a:off x="684094" y="1436333"/>
            <a:ext cx="2627899" cy="33791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596">
                <a:solidFill>
                  <a:prstClr val="black"/>
                </a:solidFill>
              </a:rPr>
              <a:t>E-commerce Platform Project</a:t>
            </a:r>
            <a:endParaRPr lang="ko-KR" altLang="en-US" sz="1596">
              <a:solidFill>
                <a:prstClr val="black"/>
              </a:solidFill>
            </a:endParaRPr>
          </a:p>
        </p:txBody>
      </p:sp>
      <p:cxnSp>
        <p:nvCxnSpPr>
          <p:cNvPr id="10" name="직선 연결선 9"/>
          <p:cNvCxnSpPr/>
          <p:nvPr userDrawn="1"/>
        </p:nvCxnSpPr>
        <p:spPr>
          <a:xfrm>
            <a:off x="684094" y="3420269"/>
            <a:ext cx="10800000" cy="0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그림 11">
            <a:extLst>
              <a:ext uri="{FF2B5EF4-FFF2-40B4-BE49-F238E27FC236}">
                <a16:creationId xmlns:a16="http://schemas.microsoft.com/office/drawing/2014/main" xmlns="" id="{FE6CBCE7-B83C-4ABD-8C65-A7D6AF73DA9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84094" y="718167"/>
            <a:ext cx="768510" cy="3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45825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개정이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64;p13"/>
          <p:cNvSpPr txBox="1"/>
          <p:nvPr userDrawn="1"/>
        </p:nvSpPr>
        <p:spPr>
          <a:xfrm>
            <a:off x="144094" y="237094"/>
            <a:ext cx="11880000" cy="432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spcFirstLastPara="1" wrap="square" lIns="180000" tIns="72000" rIns="180000" bIns="72000" anchor="ctr" anchorCtr="0">
            <a:noAutofit/>
          </a:bodyPr>
          <a:lstStyle/>
          <a:p>
            <a:endParaRPr lang="ko-KR" altLang="en-US" sz="1600" b="1">
              <a:solidFill>
                <a:srgbClr val="3F3F3F"/>
              </a:solidFill>
              <a:latin typeface="맑은 고딕" panose="020B0503020000020004" pitchFamily="50" charset="-127"/>
              <a:cs typeface="Arial"/>
              <a:sym typeface="Arial"/>
            </a:endParaRPr>
          </a:p>
        </p:txBody>
      </p:sp>
      <p:cxnSp>
        <p:nvCxnSpPr>
          <p:cNvPr id="4" name="Google Shape;65;p13"/>
          <p:cNvCxnSpPr/>
          <p:nvPr userDrawn="1"/>
        </p:nvCxnSpPr>
        <p:spPr>
          <a:xfrm>
            <a:off x="144094" y="836712"/>
            <a:ext cx="11880000" cy="2"/>
          </a:xfrm>
          <a:prstGeom prst="straightConnector1">
            <a:avLst/>
          </a:prstGeom>
          <a:noFill/>
          <a:ln w="12700" cap="flat" cmpd="sng">
            <a:solidFill>
              <a:schemeClr val="bg1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" name="슬라이드 번호 개체 틀 5"/>
          <p:cNvSpPr txBox="1">
            <a:spLocks/>
          </p:cNvSpPr>
          <p:nvPr userDrawn="1"/>
        </p:nvSpPr>
        <p:spPr>
          <a:xfrm>
            <a:off x="5969008" y="6506395"/>
            <a:ext cx="229797" cy="234286"/>
          </a:xfrm>
          <a:prstGeom prst="rect">
            <a:avLst/>
          </a:prstGeom>
        </p:spPr>
        <p:txBody>
          <a:bodyPr vert="horz" wrap="none" lIns="36000" tIns="36000" rIns="36000" bIns="36000" rtlCol="0" anchor="ctr">
            <a:spAutoFit/>
          </a:bodyPr>
          <a:lstStyle>
            <a:defPPr>
              <a:defRPr lang="ko-KR"/>
            </a:defPPr>
            <a:lvl1pPr marL="0" algn="r" defTabSz="912388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6194" algn="l" defTabSz="912388" rtl="0" eaLnBrk="1" latinLnBrk="1" hangingPunct="1">
              <a:defRPr sz="179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2388" algn="l" defTabSz="912388" rtl="0" eaLnBrk="1" latinLnBrk="1" hangingPunct="1">
              <a:defRPr sz="179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68582" algn="l" defTabSz="912388" rtl="0" eaLnBrk="1" latinLnBrk="1" hangingPunct="1">
              <a:defRPr sz="179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4777" algn="l" defTabSz="912388" rtl="0" eaLnBrk="1" latinLnBrk="1" hangingPunct="1">
              <a:defRPr sz="179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0971" algn="l" defTabSz="912388" rtl="0" eaLnBrk="1" latinLnBrk="1" hangingPunct="1">
              <a:defRPr sz="179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37165" algn="l" defTabSz="912388" rtl="0" eaLnBrk="1" latinLnBrk="1" hangingPunct="1">
              <a:defRPr sz="179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93359" algn="l" defTabSz="912388" rtl="0" eaLnBrk="1" latinLnBrk="1" hangingPunct="1">
              <a:defRPr sz="179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49553" algn="l" defTabSz="912388" rtl="0" eaLnBrk="1" latinLnBrk="1" hangingPunct="1">
              <a:defRPr sz="179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E599212-FDAA-48C6-AA0A-60FFE96216AA}" type="slidenum">
              <a:rPr lang="ko-KR" altLang="en-US" sz="1000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 sz="1000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xmlns="" id="{C7DC3F44-E69A-4F60-A108-ACE9D6FEFDF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43906" y="6533538"/>
            <a:ext cx="384255" cy="1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46615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공통정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/>
          <p:cNvSpPr/>
          <p:nvPr userDrawn="1"/>
        </p:nvSpPr>
        <p:spPr>
          <a:xfrm>
            <a:off x="188" y="433454"/>
            <a:ext cx="12168000" cy="640708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innerShdw blurRad="63500" dist="12700" dir="16200000">
              <a:schemeClr val="tx1">
                <a:lumMod val="85000"/>
                <a:lumOff val="15000"/>
                <a:alpha val="5000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207" tIns="45604" rIns="91207" bIns="4560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792">
              <a:solidFill>
                <a:prstClr val="white"/>
              </a:solidFill>
            </a:endParaRPr>
          </a:p>
        </p:txBody>
      </p:sp>
      <p:sp>
        <p:nvSpPr>
          <p:cNvPr id="5" name="직사각형 4"/>
          <p:cNvSpPr/>
          <p:nvPr userDrawn="1"/>
        </p:nvSpPr>
        <p:spPr>
          <a:xfrm>
            <a:off x="94" y="-1"/>
            <a:ext cx="12168000" cy="4320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207" tIns="45604" rIns="91207" bIns="4560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792">
              <a:solidFill>
                <a:prstClr val="white"/>
              </a:solidFill>
            </a:endParaRPr>
          </a:p>
        </p:txBody>
      </p:sp>
      <p:sp>
        <p:nvSpPr>
          <p:cNvPr id="11" name="직사각형 10"/>
          <p:cNvSpPr/>
          <p:nvPr userDrawn="1"/>
        </p:nvSpPr>
        <p:spPr>
          <a:xfrm>
            <a:off x="143906" y="575999"/>
            <a:ext cx="11880000" cy="5832024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23" name="슬라이드 번호 개체 틀 5"/>
          <p:cNvSpPr txBox="1">
            <a:spLocks/>
          </p:cNvSpPr>
          <p:nvPr userDrawn="1"/>
        </p:nvSpPr>
        <p:spPr>
          <a:xfrm>
            <a:off x="5969008" y="6506395"/>
            <a:ext cx="229797" cy="234286"/>
          </a:xfrm>
          <a:prstGeom prst="rect">
            <a:avLst/>
          </a:prstGeom>
        </p:spPr>
        <p:txBody>
          <a:bodyPr vert="horz" wrap="none" lIns="36000" tIns="36000" rIns="36000" bIns="36000" rtlCol="0" anchor="ctr">
            <a:spAutoFit/>
          </a:bodyPr>
          <a:lstStyle>
            <a:defPPr>
              <a:defRPr lang="ko-KR"/>
            </a:defPPr>
            <a:lvl1pPr marL="0" algn="r" defTabSz="912388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6194" algn="l" defTabSz="912388" rtl="0" eaLnBrk="1" latinLnBrk="1" hangingPunct="1">
              <a:defRPr sz="179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2388" algn="l" defTabSz="912388" rtl="0" eaLnBrk="1" latinLnBrk="1" hangingPunct="1">
              <a:defRPr sz="179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68582" algn="l" defTabSz="912388" rtl="0" eaLnBrk="1" latinLnBrk="1" hangingPunct="1">
              <a:defRPr sz="179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4777" algn="l" defTabSz="912388" rtl="0" eaLnBrk="1" latinLnBrk="1" hangingPunct="1">
              <a:defRPr sz="179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0971" algn="l" defTabSz="912388" rtl="0" eaLnBrk="1" latinLnBrk="1" hangingPunct="1">
              <a:defRPr sz="179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37165" algn="l" defTabSz="912388" rtl="0" eaLnBrk="1" latinLnBrk="1" hangingPunct="1">
              <a:defRPr sz="179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93359" algn="l" defTabSz="912388" rtl="0" eaLnBrk="1" latinLnBrk="1" hangingPunct="1">
              <a:defRPr sz="179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49553" algn="l" defTabSz="912388" rtl="0" eaLnBrk="1" latinLnBrk="1" hangingPunct="1">
              <a:defRPr sz="179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E599212-FDAA-48C6-AA0A-60FFE96216AA}" type="slidenum">
              <a:rPr lang="ko-KR" altLang="en-US" sz="1000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 sz="1000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xmlns="" id="{5F5BF3D7-D5EB-4365-8FC3-DD83DE9296E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43906" y="6533538"/>
            <a:ext cx="384255" cy="1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78955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C_기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직사각형 20"/>
          <p:cNvSpPr/>
          <p:nvPr userDrawn="1"/>
        </p:nvSpPr>
        <p:spPr>
          <a:xfrm>
            <a:off x="143906" y="709700"/>
            <a:ext cx="9360000" cy="5688023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23" name="슬라이드 번호 개체 틀 5"/>
          <p:cNvSpPr txBox="1">
            <a:spLocks/>
          </p:cNvSpPr>
          <p:nvPr userDrawn="1"/>
        </p:nvSpPr>
        <p:spPr>
          <a:xfrm>
            <a:off x="5969008" y="6506395"/>
            <a:ext cx="229797" cy="234286"/>
          </a:xfrm>
          <a:prstGeom prst="rect">
            <a:avLst/>
          </a:prstGeom>
        </p:spPr>
        <p:txBody>
          <a:bodyPr vert="horz" wrap="none" lIns="36000" tIns="36000" rIns="36000" bIns="36000" rtlCol="0" anchor="ctr">
            <a:spAutoFit/>
          </a:bodyPr>
          <a:lstStyle>
            <a:defPPr>
              <a:defRPr lang="ko-KR"/>
            </a:defPPr>
            <a:lvl1pPr marL="0" algn="r" defTabSz="912388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6194" algn="l" defTabSz="912388" rtl="0" eaLnBrk="1" latinLnBrk="1" hangingPunct="1">
              <a:defRPr sz="179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2388" algn="l" defTabSz="912388" rtl="0" eaLnBrk="1" latinLnBrk="1" hangingPunct="1">
              <a:defRPr sz="179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68582" algn="l" defTabSz="912388" rtl="0" eaLnBrk="1" latinLnBrk="1" hangingPunct="1">
              <a:defRPr sz="179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4777" algn="l" defTabSz="912388" rtl="0" eaLnBrk="1" latinLnBrk="1" hangingPunct="1">
              <a:defRPr sz="179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0971" algn="l" defTabSz="912388" rtl="0" eaLnBrk="1" latinLnBrk="1" hangingPunct="1">
              <a:defRPr sz="179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37165" algn="l" defTabSz="912388" rtl="0" eaLnBrk="1" latinLnBrk="1" hangingPunct="1">
              <a:defRPr sz="179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93359" algn="l" defTabSz="912388" rtl="0" eaLnBrk="1" latinLnBrk="1" hangingPunct="1">
              <a:defRPr sz="179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49553" algn="l" defTabSz="912388" rtl="0" eaLnBrk="1" latinLnBrk="1" hangingPunct="1">
              <a:defRPr sz="179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E599212-FDAA-48C6-AA0A-60FFE96216AA}" type="slidenum">
              <a:rPr lang="ko-KR" altLang="en-US" sz="1000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 sz="1000">
              <a:solidFill>
                <a:prstClr val="black">
                  <a:tint val="75000"/>
                </a:prstClr>
              </a:solidFill>
            </a:endParaRPr>
          </a:p>
        </p:txBody>
      </p:sp>
      <p:graphicFrame>
        <p:nvGraphicFramePr>
          <p:cNvPr id="41" name="Google Shape;26;p5"/>
          <p:cNvGraphicFramePr/>
          <p:nvPr userDrawn="1">
            <p:extLst>
              <p:ext uri="{D42A27DB-BD31-4B8C-83A1-F6EECF244321}">
                <p14:modId xmlns:p14="http://schemas.microsoft.com/office/powerpoint/2010/main" val="2189220075"/>
              </p:ext>
            </p:extLst>
          </p:nvPr>
        </p:nvGraphicFramePr>
        <p:xfrm>
          <a:off x="143906" y="142660"/>
          <a:ext cx="11880000" cy="43200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108000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4320000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xmlns="" val="20006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xmlns="" val="20007"/>
                    </a:ext>
                  </a:extLst>
                </a:gridCol>
              </a:tblGrid>
              <a:tr h="216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화면 구분</a:t>
                      </a:r>
                      <a:endParaRPr dirty="0"/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F3F3F"/>
                        </a:buClr>
                        <a:buSzPts val="800"/>
                        <a:buFont typeface="Malgun Gothic"/>
                        <a:buNone/>
                      </a:pPr>
                      <a:endParaRPr sz="800" b="0" i="0" u="none" strike="noStrike" cap="none" dirty="0">
                        <a:solidFill>
                          <a:srgbClr val="3F3F3F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sz="800" b="0" i="0" u="none" strike="noStrike" cap="non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화면</a:t>
                      </a:r>
                      <a:r>
                        <a:rPr lang="en-US" altLang="ko-KR" sz="800" b="0" i="0" u="none" strike="noStrike" cap="non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 </a:t>
                      </a:r>
                      <a:r>
                        <a:rPr lang="ko-KR" altLang="en-US" sz="800" b="0" i="0" u="none" strike="noStrike" cap="non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명칭</a:t>
                      </a:r>
                      <a:endParaRPr/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endParaRPr sz="800" b="0" i="0" u="none" strike="noStrike" cap="non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sz="800" b="0" i="0" u="none" strike="noStrike" cap="non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작성자</a:t>
                      </a:r>
                      <a:endParaRPr/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0" i="0" u="none" strike="noStrike" cap="none" smtClean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최범열</a:t>
                      </a:r>
                      <a:endParaRPr sz="800" b="0" i="0" u="none" strike="noStrike" cap="non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sz="800" b="0" i="0" u="none" strike="noStrike" cap="non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작성</a:t>
                      </a:r>
                      <a:r>
                        <a:rPr lang="en-US" altLang="ko-KR" sz="800" b="0" i="0" u="none" strike="noStrike" cap="non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 </a:t>
                      </a:r>
                      <a:r>
                        <a:rPr lang="ko-KR" altLang="en-US" sz="800" b="0" i="0" u="none" strike="noStrike" cap="non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일자</a:t>
                      </a:r>
                      <a:endParaRPr/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F3F3F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altLang="ko-KR" sz="800" u="none" strike="noStrike" cap="none" smtClean="0">
                          <a:solidFill>
                            <a:srgbClr val="3F3F3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2026-04-14</a:t>
                      </a:r>
                      <a:endParaRPr sz="800" u="none" strike="noStrike" cap="none" dirty="0">
                        <a:solidFill>
                          <a:srgbClr val="3F3F3F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sz="800" b="0" i="0" u="none" strike="noStrike" cap="non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화면</a:t>
                      </a:r>
                      <a:r>
                        <a:rPr lang="en-US" altLang="ko-KR" sz="800" b="0" i="0" u="none" strike="noStrike" cap="non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 </a:t>
                      </a:r>
                      <a:r>
                        <a:rPr lang="ko-KR" sz="800" b="0" i="0" u="none" strike="noStrike" cap="non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코드</a:t>
                      </a:r>
                      <a:endParaRPr sz="800" b="0" i="0" u="none" strike="noStrike" cap="non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endParaRPr sz="800" b="0" i="0" u="none" strike="noStrike" cap="none">
                        <a:solidFill>
                          <a:srgbClr val="3F3F3F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sz="800" b="0" i="0" u="none" strike="noStrike" cap="non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화면</a:t>
                      </a:r>
                      <a:r>
                        <a:rPr lang="en-US" altLang="ko-KR" sz="800" b="0" i="0" u="none" strike="noStrike" cap="non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 </a:t>
                      </a:r>
                      <a:r>
                        <a:rPr lang="ko-KR" sz="800" b="0" i="0" u="none" strike="noStrike" cap="non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경로</a:t>
                      </a:r>
                      <a:endParaRPr sz="800" b="0" i="0" u="none" strike="noStrike" cap="non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endParaRPr sz="800" b="0" i="0" u="none" strike="noStrike" cap="non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0" i="0" u="none" strike="noStrike" cap="non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문서 </a:t>
                      </a:r>
                      <a:r>
                        <a:rPr lang="ko-KR" sz="800" b="0" i="0" u="none" strike="noStrike" cap="non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버전</a:t>
                      </a:r>
                      <a:endParaRPr sz="800" b="0" i="0" u="none" strike="noStrike" cap="non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F3F3F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altLang="ko-KR" sz="800" b="0" i="0" u="none" strike="noStrike" cap="none" smtClean="0">
                          <a:solidFill>
                            <a:srgbClr val="3F3F3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v0.7</a:t>
                      </a:r>
                      <a:endParaRPr sz="800" b="0" i="0" u="none" strike="noStrike" cap="none" dirty="0">
                        <a:solidFill>
                          <a:srgbClr val="3F3F3F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</a:tbl>
          </a:graphicData>
        </a:graphic>
      </p:graphicFrame>
      <p:pic>
        <p:nvPicPr>
          <p:cNvPr id="6" name="그림 5">
            <a:extLst>
              <a:ext uri="{FF2B5EF4-FFF2-40B4-BE49-F238E27FC236}">
                <a16:creationId xmlns:a16="http://schemas.microsoft.com/office/drawing/2014/main" xmlns="" id="{969D864D-1DDE-4AD9-9B8A-9042B6B2AE9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43906" y="6533538"/>
            <a:ext cx="384255" cy="1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88893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C_다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직사각형 20"/>
          <p:cNvSpPr/>
          <p:nvPr userDrawn="1"/>
        </p:nvSpPr>
        <p:spPr>
          <a:xfrm>
            <a:off x="143906" y="709700"/>
            <a:ext cx="9360000" cy="5688023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23" name="슬라이드 번호 개체 틀 5"/>
          <p:cNvSpPr txBox="1">
            <a:spLocks/>
          </p:cNvSpPr>
          <p:nvPr userDrawn="1"/>
        </p:nvSpPr>
        <p:spPr>
          <a:xfrm>
            <a:off x="5969008" y="6506395"/>
            <a:ext cx="229797" cy="234286"/>
          </a:xfrm>
          <a:prstGeom prst="rect">
            <a:avLst/>
          </a:prstGeom>
        </p:spPr>
        <p:txBody>
          <a:bodyPr vert="horz" wrap="none" lIns="36000" tIns="36000" rIns="36000" bIns="36000" rtlCol="0" anchor="ctr">
            <a:spAutoFit/>
          </a:bodyPr>
          <a:lstStyle>
            <a:defPPr>
              <a:defRPr lang="ko-KR"/>
            </a:defPPr>
            <a:lvl1pPr marL="0" algn="r" defTabSz="912388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6194" algn="l" defTabSz="912388" rtl="0" eaLnBrk="1" latinLnBrk="1" hangingPunct="1">
              <a:defRPr sz="179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2388" algn="l" defTabSz="912388" rtl="0" eaLnBrk="1" latinLnBrk="1" hangingPunct="1">
              <a:defRPr sz="179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68582" algn="l" defTabSz="912388" rtl="0" eaLnBrk="1" latinLnBrk="1" hangingPunct="1">
              <a:defRPr sz="179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4777" algn="l" defTabSz="912388" rtl="0" eaLnBrk="1" latinLnBrk="1" hangingPunct="1">
              <a:defRPr sz="179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0971" algn="l" defTabSz="912388" rtl="0" eaLnBrk="1" latinLnBrk="1" hangingPunct="1">
              <a:defRPr sz="179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37165" algn="l" defTabSz="912388" rtl="0" eaLnBrk="1" latinLnBrk="1" hangingPunct="1">
              <a:defRPr sz="179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93359" algn="l" defTabSz="912388" rtl="0" eaLnBrk="1" latinLnBrk="1" hangingPunct="1">
              <a:defRPr sz="179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49553" algn="l" defTabSz="912388" rtl="0" eaLnBrk="1" latinLnBrk="1" hangingPunct="1">
              <a:defRPr sz="179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E599212-FDAA-48C6-AA0A-60FFE96216AA}" type="slidenum">
              <a:rPr lang="ko-KR" altLang="en-US" sz="1000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 sz="100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5" name="직사각형 14"/>
          <p:cNvSpPr/>
          <p:nvPr userDrawn="1"/>
        </p:nvSpPr>
        <p:spPr>
          <a:xfrm>
            <a:off x="143906" y="6181723"/>
            <a:ext cx="9360000" cy="216000"/>
          </a:xfrm>
          <a:prstGeom prst="rect">
            <a:avLst/>
          </a:prstGeom>
          <a:pattFill prst="wave">
            <a:fgClr>
              <a:schemeClr val="bg1">
                <a:lumMod val="75000"/>
              </a:schemeClr>
            </a:fgClr>
            <a:bgClr>
              <a:schemeClr val="bg1"/>
            </a:bgClr>
          </a:patt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</a:rPr>
              <a:t>Next Page</a:t>
            </a:r>
            <a:endParaRPr lang="ko-KR" altLang="en-US" sz="800">
              <a:solidFill>
                <a:prstClr val="black">
                  <a:lumMod val="75000"/>
                  <a:lumOff val="25000"/>
                </a:prstClr>
              </a:solidFill>
              <a:latin typeface="맑은 고딕" panose="020B0503020000020004" pitchFamily="50" charset="-127"/>
            </a:endParaRPr>
          </a:p>
        </p:txBody>
      </p:sp>
      <p:graphicFrame>
        <p:nvGraphicFramePr>
          <p:cNvPr id="8" name="Google Shape;26;p5"/>
          <p:cNvGraphicFramePr/>
          <p:nvPr userDrawn="1">
            <p:extLst>
              <p:ext uri="{D42A27DB-BD31-4B8C-83A1-F6EECF244321}">
                <p14:modId xmlns:p14="http://schemas.microsoft.com/office/powerpoint/2010/main" val="3696540329"/>
              </p:ext>
            </p:extLst>
          </p:nvPr>
        </p:nvGraphicFramePr>
        <p:xfrm>
          <a:off x="143906" y="142660"/>
          <a:ext cx="11880000" cy="43200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108000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4320000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xmlns="" val="20006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xmlns="" val="20007"/>
                    </a:ext>
                  </a:extLst>
                </a:gridCol>
              </a:tblGrid>
              <a:tr h="216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화면 구분</a:t>
                      </a:r>
                      <a:endParaRPr dirty="0"/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F3F3F"/>
                        </a:buClr>
                        <a:buSzPts val="800"/>
                        <a:buFont typeface="Malgun Gothic"/>
                        <a:buNone/>
                      </a:pPr>
                      <a:endParaRPr sz="800" b="0" i="0" u="none" strike="noStrike" cap="none" dirty="0">
                        <a:solidFill>
                          <a:srgbClr val="3F3F3F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sz="800" b="0" i="0" u="none" strike="noStrike" cap="non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화면</a:t>
                      </a:r>
                      <a:r>
                        <a:rPr lang="en-US" altLang="ko-KR" sz="800" b="0" i="0" u="none" strike="noStrike" cap="non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 </a:t>
                      </a:r>
                      <a:r>
                        <a:rPr lang="ko-KR" altLang="en-US" sz="800" b="0" i="0" u="none" strike="noStrike" cap="non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명칭</a:t>
                      </a:r>
                      <a:endParaRPr/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endParaRPr sz="800" b="0" i="0" u="none" strike="noStrike" cap="non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sz="800" b="0" i="0" u="none" strike="noStrike" cap="non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작성자</a:t>
                      </a:r>
                      <a:endParaRPr/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0" i="0" u="none" strike="noStrike" cap="none" smtClean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최범열</a:t>
                      </a:r>
                      <a:endParaRPr sz="800" b="0" i="0" u="none" strike="noStrike" cap="non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sz="800" b="0" i="0" u="none" strike="noStrike" cap="non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작성</a:t>
                      </a:r>
                      <a:r>
                        <a:rPr lang="en-US" altLang="ko-KR" sz="800" b="0" i="0" u="none" strike="noStrike" cap="non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 </a:t>
                      </a:r>
                      <a:r>
                        <a:rPr lang="ko-KR" altLang="en-US" sz="800" b="0" i="0" u="none" strike="noStrike" cap="non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일자</a:t>
                      </a:r>
                      <a:endParaRPr/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F3F3F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altLang="ko-KR" sz="800" u="none" strike="noStrike" cap="none" smtClean="0">
                          <a:solidFill>
                            <a:srgbClr val="3F3F3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2026-04-14</a:t>
                      </a:r>
                      <a:endParaRPr sz="800" u="none" strike="noStrike" cap="none" dirty="0">
                        <a:solidFill>
                          <a:srgbClr val="3F3F3F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sz="800" b="0" i="0" u="none" strike="noStrike" cap="non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화면</a:t>
                      </a:r>
                      <a:r>
                        <a:rPr lang="en-US" altLang="ko-KR" sz="800" b="0" i="0" u="none" strike="noStrike" cap="non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 </a:t>
                      </a:r>
                      <a:r>
                        <a:rPr lang="ko-KR" sz="800" b="0" i="0" u="none" strike="noStrike" cap="non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코드</a:t>
                      </a:r>
                      <a:endParaRPr sz="800" b="0" i="0" u="none" strike="noStrike" cap="non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endParaRPr sz="800" b="0" i="0" u="none" strike="noStrike" cap="none">
                        <a:solidFill>
                          <a:srgbClr val="3F3F3F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sz="800" b="0" i="0" u="none" strike="noStrike" cap="non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화면</a:t>
                      </a:r>
                      <a:r>
                        <a:rPr lang="en-US" altLang="ko-KR" sz="800" b="0" i="0" u="none" strike="noStrike" cap="non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 </a:t>
                      </a:r>
                      <a:r>
                        <a:rPr lang="ko-KR" sz="800" b="0" i="0" u="none" strike="noStrike" cap="non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경로</a:t>
                      </a:r>
                      <a:endParaRPr sz="800" b="0" i="0" u="none" strike="noStrike" cap="non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endParaRPr sz="800" b="0" i="0" u="none" strike="noStrike" cap="non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0" i="0" u="none" strike="noStrike" cap="non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문서 </a:t>
                      </a:r>
                      <a:r>
                        <a:rPr lang="ko-KR" sz="800" b="0" i="0" u="none" strike="noStrike" cap="non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버전</a:t>
                      </a:r>
                      <a:endParaRPr sz="800" b="0" i="0" u="none" strike="noStrike" cap="non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F3F3F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altLang="ko-KR" sz="800" b="0" i="0" u="none" strike="noStrike" cap="none" smtClean="0">
                          <a:solidFill>
                            <a:srgbClr val="3F3F3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v0.7</a:t>
                      </a:r>
                      <a:endParaRPr sz="800" b="0" i="0" u="none" strike="noStrike" cap="none" dirty="0">
                        <a:solidFill>
                          <a:srgbClr val="3F3F3F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</a:tbl>
          </a:graphicData>
        </a:graphic>
      </p:graphicFrame>
      <p:pic>
        <p:nvPicPr>
          <p:cNvPr id="7" name="그림 6">
            <a:extLst>
              <a:ext uri="{FF2B5EF4-FFF2-40B4-BE49-F238E27FC236}">
                <a16:creationId xmlns:a16="http://schemas.microsoft.com/office/drawing/2014/main" xmlns="" id="{850AE9D5-E4B6-414A-BDF1-C3A19BF6633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43906" y="6533538"/>
            <a:ext cx="384255" cy="1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97868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C_이전/다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직사각형 20"/>
          <p:cNvSpPr/>
          <p:nvPr userDrawn="1"/>
        </p:nvSpPr>
        <p:spPr>
          <a:xfrm>
            <a:off x="143906" y="709700"/>
            <a:ext cx="9360000" cy="5688023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23" name="슬라이드 번호 개체 틀 5"/>
          <p:cNvSpPr txBox="1">
            <a:spLocks/>
          </p:cNvSpPr>
          <p:nvPr userDrawn="1"/>
        </p:nvSpPr>
        <p:spPr>
          <a:xfrm>
            <a:off x="5969008" y="6506395"/>
            <a:ext cx="229797" cy="234286"/>
          </a:xfrm>
          <a:prstGeom prst="rect">
            <a:avLst/>
          </a:prstGeom>
        </p:spPr>
        <p:txBody>
          <a:bodyPr vert="horz" wrap="none" lIns="36000" tIns="36000" rIns="36000" bIns="36000" rtlCol="0" anchor="ctr">
            <a:spAutoFit/>
          </a:bodyPr>
          <a:lstStyle>
            <a:defPPr>
              <a:defRPr lang="ko-KR"/>
            </a:defPPr>
            <a:lvl1pPr marL="0" algn="r" defTabSz="912388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6194" algn="l" defTabSz="912388" rtl="0" eaLnBrk="1" latinLnBrk="1" hangingPunct="1">
              <a:defRPr sz="179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2388" algn="l" defTabSz="912388" rtl="0" eaLnBrk="1" latinLnBrk="1" hangingPunct="1">
              <a:defRPr sz="179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68582" algn="l" defTabSz="912388" rtl="0" eaLnBrk="1" latinLnBrk="1" hangingPunct="1">
              <a:defRPr sz="179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4777" algn="l" defTabSz="912388" rtl="0" eaLnBrk="1" latinLnBrk="1" hangingPunct="1">
              <a:defRPr sz="179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0971" algn="l" defTabSz="912388" rtl="0" eaLnBrk="1" latinLnBrk="1" hangingPunct="1">
              <a:defRPr sz="179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37165" algn="l" defTabSz="912388" rtl="0" eaLnBrk="1" latinLnBrk="1" hangingPunct="1">
              <a:defRPr sz="179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93359" algn="l" defTabSz="912388" rtl="0" eaLnBrk="1" latinLnBrk="1" hangingPunct="1">
              <a:defRPr sz="179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49553" algn="l" defTabSz="912388" rtl="0" eaLnBrk="1" latinLnBrk="1" hangingPunct="1">
              <a:defRPr sz="179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E599212-FDAA-48C6-AA0A-60FFE96216AA}" type="slidenum">
              <a:rPr lang="ko-KR" altLang="en-US" sz="1000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 sz="100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5" name="직사각형 14"/>
          <p:cNvSpPr/>
          <p:nvPr userDrawn="1"/>
        </p:nvSpPr>
        <p:spPr>
          <a:xfrm>
            <a:off x="143906" y="6181723"/>
            <a:ext cx="9360000" cy="216000"/>
          </a:xfrm>
          <a:prstGeom prst="rect">
            <a:avLst/>
          </a:prstGeom>
          <a:pattFill prst="wave">
            <a:fgClr>
              <a:schemeClr val="bg1">
                <a:lumMod val="75000"/>
              </a:schemeClr>
            </a:fgClr>
            <a:bgClr>
              <a:schemeClr val="bg1"/>
            </a:bgClr>
          </a:patt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</a:rPr>
              <a:t>Next Page</a:t>
            </a:r>
            <a:endParaRPr lang="ko-KR" altLang="en-US" sz="800">
              <a:solidFill>
                <a:prstClr val="black">
                  <a:lumMod val="75000"/>
                  <a:lumOff val="25000"/>
                </a:prst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8" name="직사각형 7"/>
          <p:cNvSpPr/>
          <p:nvPr userDrawn="1"/>
        </p:nvSpPr>
        <p:spPr>
          <a:xfrm>
            <a:off x="143906" y="709700"/>
            <a:ext cx="9360000" cy="216000"/>
          </a:xfrm>
          <a:prstGeom prst="rect">
            <a:avLst/>
          </a:prstGeom>
          <a:pattFill prst="wave">
            <a:fgClr>
              <a:schemeClr val="bg1">
                <a:lumMod val="75000"/>
              </a:schemeClr>
            </a:fgClr>
            <a:bgClr>
              <a:schemeClr val="bg1"/>
            </a:bgClr>
          </a:patt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</a:rPr>
              <a:t>Previous Page</a:t>
            </a:r>
            <a:endParaRPr lang="ko-KR" altLang="en-US" sz="800">
              <a:solidFill>
                <a:prstClr val="black">
                  <a:lumMod val="75000"/>
                  <a:lumOff val="25000"/>
                </a:prstClr>
              </a:solidFill>
              <a:latin typeface="맑은 고딕" panose="020B0503020000020004" pitchFamily="50" charset="-127"/>
            </a:endParaRPr>
          </a:p>
        </p:txBody>
      </p:sp>
      <p:graphicFrame>
        <p:nvGraphicFramePr>
          <p:cNvPr id="11" name="Google Shape;26;p5"/>
          <p:cNvGraphicFramePr/>
          <p:nvPr userDrawn="1">
            <p:extLst>
              <p:ext uri="{D42A27DB-BD31-4B8C-83A1-F6EECF244321}">
                <p14:modId xmlns:p14="http://schemas.microsoft.com/office/powerpoint/2010/main" val="1428614577"/>
              </p:ext>
            </p:extLst>
          </p:nvPr>
        </p:nvGraphicFramePr>
        <p:xfrm>
          <a:off x="143906" y="142660"/>
          <a:ext cx="11880000" cy="43200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108000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4320000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xmlns="" val="20006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xmlns="" val="20007"/>
                    </a:ext>
                  </a:extLst>
                </a:gridCol>
              </a:tblGrid>
              <a:tr h="216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화면 구분</a:t>
                      </a:r>
                      <a:endParaRPr dirty="0"/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F3F3F"/>
                        </a:buClr>
                        <a:buSzPts val="800"/>
                        <a:buFont typeface="Malgun Gothic"/>
                        <a:buNone/>
                      </a:pPr>
                      <a:endParaRPr sz="800" b="0" i="0" u="none" strike="noStrike" cap="none" dirty="0">
                        <a:solidFill>
                          <a:srgbClr val="3F3F3F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sz="800" b="0" i="0" u="none" strike="noStrike" cap="non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화면</a:t>
                      </a:r>
                      <a:r>
                        <a:rPr lang="en-US" altLang="ko-KR" sz="800" b="0" i="0" u="none" strike="noStrike" cap="non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 </a:t>
                      </a:r>
                      <a:r>
                        <a:rPr lang="ko-KR" altLang="en-US" sz="800" b="0" i="0" u="none" strike="noStrike" cap="non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명칭</a:t>
                      </a:r>
                      <a:endParaRPr/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endParaRPr sz="800" b="0" i="0" u="none" strike="noStrike" cap="non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sz="800" b="0" i="0" u="none" strike="noStrike" cap="non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작성자</a:t>
                      </a:r>
                      <a:endParaRPr/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0" i="0" u="none" strike="noStrike" cap="none" smtClean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최범열</a:t>
                      </a:r>
                      <a:endParaRPr sz="800" b="0" i="0" u="none" strike="noStrike" cap="non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sz="800" b="0" i="0" u="none" strike="noStrike" cap="non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작성</a:t>
                      </a:r>
                      <a:r>
                        <a:rPr lang="en-US" altLang="ko-KR" sz="800" b="0" i="0" u="none" strike="noStrike" cap="non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 </a:t>
                      </a:r>
                      <a:r>
                        <a:rPr lang="ko-KR" altLang="en-US" sz="800" b="0" i="0" u="none" strike="noStrike" cap="non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일자</a:t>
                      </a:r>
                      <a:endParaRPr/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F3F3F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altLang="ko-KR" sz="800" u="none" strike="noStrike" cap="none" smtClean="0">
                          <a:solidFill>
                            <a:srgbClr val="3F3F3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2026-04-14</a:t>
                      </a:r>
                      <a:endParaRPr sz="800" u="none" strike="noStrike" cap="none" dirty="0">
                        <a:solidFill>
                          <a:srgbClr val="3F3F3F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sz="800" b="0" i="0" u="none" strike="noStrike" cap="non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화면</a:t>
                      </a:r>
                      <a:r>
                        <a:rPr lang="en-US" altLang="ko-KR" sz="800" b="0" i="0" u="none" strike="noStrike" cap="non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 </a:t>
                      </a:r>
                      <a:r>
                        <a:rPr lang="ko-KR" sz="800" b="0" i="0" u="none" strike="noStrike" cap="non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코드</a:t>
                      </a:r>
                      <a:endParaRPr sz="800" b="0" i="0" u="none" strike="noStrike" cap="non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endParaRPr sz="800" b="0" i="0" u="none" strike="noStrike" cap="none">
                        <a:solidFill>
                          <a:srgbClr val="3F3F3F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sz="800" b="0" i="0" u="none" strike="noStrike" cap="non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화면</a:t>
                      </a:r>
                      <a:r>
                        <a:rPr lang="en-US" altLang="ko-KR" sz="800" b="0" i="0" u="none" strike="noStrike" cap="non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 </a:t>
                      </a:r>
                      <a:r>
                        <a:rPr lang="ko-KR" sz="800" b="0" i="0" u="none" strike="noStrike" cap="non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경로</a:t>
                      </a:r>
                      <a:endParaRPr sz="800" b="0" i="0" u="none" strike="noStrike" cap="non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endParaRPr sz="800" b="0" i="0" u="none" strike="noStrike" cap="non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0" i="0" u="none" strike="noStrike" cap="non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문서 </a:t>
                      </a:r>
                      <a:r>
                        <a:rPr lang="ko-KR" sz="800" b="0" i="0" u="none" strike="noStrike" cap="non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버전</a:t>
                      </a:r>
                      <a:endParaRPr sz="800" b="0" i="0" u="none" strike="noStrike" cap="non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F3F3F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altLang="ko-KR" sz="800" b="0" i="0" u="none" strike="noStrike" cap="none" smtClean="0">
                          <a:solidFill>
                            <a:srgbClr val="3F3F3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v0.7</a:t>
                      </a:r>
                      <a:endParaRPr sz="800" b="0" i="0" u="none" strike="noStrike" cap="none" dirty="0">
                        <a:solidFill>
                          <a:srgbClr val="3F3F3F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</a:tbl>
          </a:graphicData>
        </a:graphic>
      </p:graphicFrame>
      <p:pic>
        <p:nvPicPr>
          <p:cNvPr id="9" name="그림 8">
            <a:extLst>
              <a:ext uri="{FF2B5EF4-FFF2-40B4-BE49-F238E27FC236}">
                <a16:creationId xmlns:a16="http://schemas.microsoft.com/office/drawing/2014/main" xmlns="" id="{E65DD553-E009-45CC-97F1-C3FD89BB4B1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43906" y="6533538"/>
            <a:ext cx="384255" cy="1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9552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C_이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직사각형 20"/>
          <p:cNvSpPr/>
          <p:nvPr userDrawn="1"/>
        </p:nvSpPr>
        <p:spPr>
          <a:xfrm>
            <a:off x="143906" y="709700"/>
            <a:ext cx="9360000" cy="5688023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23" name="슬라이드 번호 개체 틀 5"/>
          <p:cNvSpPr txBox="1">
            <a:spLocks/>
          </p:cNvSpPr>
          <p:nvPr userDrawn="1"/>
        </p:nvSpPr>
        <p:spPr>
          <a:xfrm>
            <a:off x="5969008" y="6506395"/>
            <a:ext cx="229797" cy="234286"/>
          </a:xfrm>
          <a:prstGeom prst="rect">
            <a:avLst/>
          </a:prstGeom>
        </p:spPr>
        <p:txBody>
          <a:bodyPr vert="horz" wrap="none" lIns="36000" tIns="36000" rIns="36000" bIns="36000" rtlCol="0" anchor="ctr">
            <a:spAutoFit/>
          </a:bodyPr>
          <a:lstStyle>
            <a:defPPr>
              <a:defRPr lang="ko-KR"/>
            </a:defPPr>
            <a:lvl1pPr marL="0" algn="r" defTabSz="912388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6194" algn="l" defTabSz="912388" rtl="0" eaLnBrk="1" latinLnBrk="1" hangingPunct="1">
              <a:defRPr sz="179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2388" algn="l" defTabSz="912388" rtl="0" eaLnBrk="1" latinLnBrk="1" hangingPunct="1">
              <a:defRPr sz="179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68582" algn="l" defTabSz="912388" rtl="0" eaLnBrk="1" latinLnBrk="1" hangingPunct="1">
              <a:defRPr sz="179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4777" algn="l" defTabSz="912388" rtl="0" eaLnBrk="1" latinLnBrk="1" hangingPunct="1">
              <a:defRPr sz="179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0971" algn="l" defTabSz="912388" rtl="0" eaLnBrk="1" latinLnBrk="1" hangingPunct="1">
              <a:defRPr sz="179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37165" algn="l" defTabSz="912388" rtl="0" eaLnBrk="1" latinLnBrk="1" hangingPunct="1">
              <a:defRPr sz="179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93359" algn="l" defTabSz="912388" rtl="0" eaLnBrk="1" latinLnBrk="1" hangingPunct="1">
              <a:defRPr sz="179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49553" algn="l" defTabSz="912388" rtl="0" eaLnBrk="1" latinLnBrk="1" hangingPunct="1">
              <a:defRPr sz="179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E599212-FDAA-48C6-AA0A-60FFE96216AA}" type="slidenum">
              <a:rPr lang="ko-KR" altLang="en-US" sz="1000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 sz="100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직사각형 7"/>
          <p:cNvSpPr/>
          <p:nvPr userDrawn="1"/>
        </p:nvSpPr>
        <p:spPr>
          <a:xfrm>
            <a:off x="143906" y="709700"/>
            <a:ext cx="9360000" cy="216000"/>
          </a:xfrm>
          <a:prstGeom prst="rect">
            <a:avLst/>
          </a:prstGeom>
          <a:pattFill prst="wave">
            <a:fgClr>
              <a:schemeClr val="bg1">
                <a:lumMod val="75000"/>
              </a:schemeClr>
            </a:fgClr>
            <a:bgClr>
              <a:schemeClr val="bg1"/>
            </a:bgClr>
          </a:patt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</a:rPr>
              <a:t>Previous Page</a:t>
            </a:r>
            <a:endParaRPr lang="ko-KR" altLang="en-US" sz="800">
              <a:solidFill>
                <a:prstClr val="black">
                  <a:lumMod val="75000"/>
                  <a:lumOff val="25000"/>
                </a:prstClr>
              </a:solidFill>
              <a:latin typeface="맑은 고딕" panose="020B0503020000020004" pitchFamily="50" charset="-127"/>
            </a:endParaRPr>
          </a:p>
        </p:txBody>
      </p:sp>
      <p:graphicFrame>
        <p:nvGraphicFramePr>
          <p:cNvPr id="11" name="Google Shape;26;p5"/>
          <p:cNvGraphicFramePr/>
          <p:nvPr userDrawn="1">
            <p:extLst>
              <p:ext uri="{D42A27DB-BD31-4B8C-83A1-F6EECF244321}">
                <p14:modId xmlns:p14="http://schemas.microsoft.com/office/powerpoint/2010/main" val="3498323520"/>
              </p:ext>
            </p:extLst>
          </p:nvPr>
        </p:nvGraphicFramePr>
        <p:xfrm>
          <a:off x="143906" y="142660"/>
          <a:ext cx="11880000" cy="43200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108000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4320000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xmlns="" val="20006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xmlns="" val="20007"/>
                    </a:ext>
                  </a:extLst>
                </a:gridCol>
              </a:tblGrid>
              <a:tr h="216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화면 구분</a:t>
                      </a:r>
                      <a:endParaRPr dirty="0"/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F3F3F"/>
                        </a:buClr>
                        <a:buSzPts val="800"/>
                        <a:buFont typeface="Malgun Gothic"/>
                        <a:buNone/>
                      </a:pPr>
                      <a:endParaRPr sz="800" b="0" i="0" u="none" strike="noStrike" cap="none" dirty="0">
                        <a:solidFill>
                          <a:srgbClr val="3F3F3F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sz="800" b="0" i="0" u="none" strike="noStrike" cap="non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화면</a:t>
                      </a:r>
                      <a:r>
                        <a:rPr lang="en-US" altLang="ko-KR" sz="800" b="0" i="0" u="none" strike="noStrike" cap="non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 </a:t>
                      </a:r>
                      <a:r>
                        <a:rPr lang="ko-KR" altLang="en-US" sz="800" b="0" i="0" u="none" strike="noStrike" cap="non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명칭</a:t>
                      </a:r>
                      <a:endParaRPr/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endParaRPr sz="800" b="0" i="0" u="none" strike="noStrike" cap="non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sz="800" b="0" i="0" u="none" strike="noStrike" cap="non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작성자</a:t>
                      </a:r>
                      <a:endParaRPr/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0" i="0" u="none" strike="noStrike" cap="none" smtClean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최범열</a:t>
                      </a:r>
                      <a:endParaRPr sz="800" b="0" i="0" u="none" strike="noStrike" cap="non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sz="800" b="0" i="0" u="none" strike="noStrike" cap="non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작성</a:t>
                      </a:r>
                      <a:r>
                        <a:rPr lang="en-US" altLang="ko-KR" sz="800" b="0" i="0" u="none" strike="noStrike" cap="non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 </a:t>
                      </a:r>
                      <a:r>
                        <a:rPr lang="ko-KR" altLang="en-US" sz="800" b="0" i="0" u="none" strike="noStrike" cap="non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일자</a:t>
                      </a:r>
                      <a:endParaRPr/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F3F3F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altLang="ko-KR" sz="800" u="none" strike="noStrike" cap="none" smtClean="0">
                          <a:solidFill>
                            <a:srgbClr val="3F3F3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2026-04-14</a:t>
                      </a:r>
                      <a:endParaRPr sz="800" u="none" strike="noStrike" cap="none" dirty="0">
                        <a:solidFill>
                          <a:srgbClr val="3F3F3F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sz="800" b="0" i="0" u="none" strike="noStrike" cap="non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화면</a:t>
                      </a:r>
                      <a:r>
                        <a:rPr lang="en-US" altLang="ko-KR" sz="800" b="0" i="0" u="none" strike="noStrike" cap="non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 </a:t>
                      </a:r>
                      <a:r>
                        <a:rPr lang="ko-KR" sz="800" b="0" i="0" u="none" strike="noStrike" cap="non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코드</a:t>
                      </a:r>
                      <a:endParaRPr sz="800" b="0" i="0" u="none" strike="noStrike" cap="non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endParaRPr sz="800" b="0" i="0" u="none" strike="noStrike" cap="none">
                        <a:solidFill>
                          <a:srgbClr val="3F3F3F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sz="800" b="0" i="0" u="none" strike="noStrike" cap="non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화면</a:t>
                      </a:r>
                      <a:r>
                        <a:rPr lang="en-US" altLang="ko-KR" sz="800" b="0" i="0" u="none" strike="noStrike" cap="non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 </a:t>
                      </a:r>
                      <a:r>
                        <a:rPr lang="ko-KR" sz="800" b="0" i="0" u="none" strike="noStrike" cap="non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경로</a:t>
                      </a:r>
                      <a:endParaRPr sz="800" b="0" i="0" u="none" strike="noStrike" cap="non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endParaRPr sz="800" b="0" i="0" u="none" strike="noStrike" cap="non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0" i="0" u="none" strike="noStrike" cap="non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문서 </a:t>
                      </a:r>
                      <a:r>
                        <a:rPr lang="ko-KR" sz="800" b="0" i="0" u="none" strike="noStrike" cap="non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버전</a:t>
                      </a:r>
                      <a:endParaRPr sz="800" b="0" i="0" u="none" strike="noStrike" cap="non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F3F3F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altLang="ko-KR" sz="800" b="0" i="0" u="none" strike="noStrike" cap="none" smtClean="0">
                          <a:solidFill>
                            <a:srgbClr val="3F3F3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v0.7</a:t>
                      </a:r>
                      <a:endParaRPr sz="800" b="0" i="0" u="none" strike="noStrike" cap="none" dirty="0">
                        <a:solidFill>
                          <a:srgbClr val="3F3F3F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</a:tbl>
          </a:graphicData>
        </a:graphic>
      </p:graphicFrame>
      <p:pic>
        <p:nvPicPr>
          <p:cNvPr id="7" name="그림 6">
            <a:extLst>
              <a:ext uri="{FF2B5EF4-FFF2-40B4-BE49-F238E27FC236}">
                <a16:creationId xmlns:a16="http://schemas.microsoft.com/office/drawing/2014/main" xmlns="" id="{3CDBADD8-681F-42BD-B882-4E137E36C3C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43906" y="6533538"/>
            <a:ext cx="384255" cy="1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64740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2_MO_기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슬라이드 번호 개체 틀 5"/>
          <p:cNvSpPr txBox="1">
            <a:spLocks/>
          </p:cNvSpPr>
          <p:nvPr userDrawn="1"/>
        </p:nvSpPr>
        <p:spPr>
          <a:xfrm>
            <a:off x="5969008" y="6506395"/>
            <a:ext cx="229797" cy="234286"/>
          </a:xfrm>
          <a:prstGeom prst="rect">
            <a:avLst/>
          </a:prstGeom>
        </p:spPr>
        <p:txBody>
          <a:bodyPr vert="horz" wrap="none" lIns="36000" tIns="36000" rIns="36000" bIns="36000" rtlCol="0" anchor="ctr">
            <a:spAutoFit/>
          </a:bodyPr>
          <a:lstStyle>
            <a:defPPr>
              <a:defRPr lang="ko-KR"/>
            </a:defPPr>
            <a:lvl1pPr marL="0" algn="r" defTabSz="912388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6194" algn="l" defTabSz="912388" rtl="0" eaLnBrk="1" latinLnBrk="1" hangingPunct="1">
              <a:defRPr sz="179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2388" algn="l" defTabSz="912388" rtl="0" eaLnBrk="1" latinLnBrk="1" hangingPunct="1">
              <a:defRPr sz="179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68582" algn="l" defTabSz="912388" rtl="0" eaLnBrk="1" latinLnBrk="1" hangingPunct="1">
              <a:defRPr sz="179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4777" algn="l" defTabSz="912388" rtl="0" eaLnBrk="1" latinLnBrk="1" hangingPunct="1">
              <a:defRPr sz="179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0971" algn="l" defTabSz="912388" rtl="0" eaLnBrk="1" latinLnBrk="1" hangingPunct="1">
              <a:defRPr sz="179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37165" algn="l" defTabSz="912388" rtl="0" eaLnBrk="1" latinLnBrk="1" hangingPunct="1">
              <a:defRPr sz="179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93359" algn="l" defTabSz="912388" rtl="0" eaLnBrk="1" latinLnBrk="1" hangingPunct="1">
              <a:defRPr sz="179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49553" algn="l" defTabSz="912388" rtl="0" eaLnBrk="1" latinLnBrk="1" hangingPunct="1">
              <a:defRPr sz="179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E599212-FDAA-48C6-AA0A-60FFE96216AA}" type="slidenum">
              <a:rPr lang="ko-KR" altLang="en-US" sz="1000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 sz="1000">
              <a:solidFill>
                <a:prstClr val="black">
                  <a:tint val="75000"/>
                </a:prstClr>
              </a:solidFill>
            </a:endParaRPr>
          </a:p>
        </p:txBody>
      </p:sp>
      <p:graphicFrame>
        <p:nvGraphicFramePr>
          <p:cNvPr id="41" name="Google Shape;26;p5"/>
          <p:cNvGraphicFramePr/>
          <p:nvPr userDrawn="1">
            <p:extLst>
              <p:ext uri="{D42A27DB-BD31-4B8C-83A1-F6EECF244321}">
                <p14:modId xmlns:p14="http://schemas.microsoft.com/office/powerpoint/2010/main" val="903055293"/>
              </p:ext>
            </p:extLst>
          </p:nvPr>
        </p:nvGraphicFramePr>
        <p:xfrm>
          <a:off x="143906" y="142660"/>
          <a:ext cx="11880000" cy="43200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108000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4320000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xmlns="" val="20006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xmlns="" val="20007"/>
                    </a:ext>
                  </a:extLst>
                </a:gridCol>
              </a:tblGrid>
              <a:tr h="216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화면 구분</a:t>
                      </a:r>
                      <a:endParaRPr dirty="0"/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F3F3F"/>
                        </a:buClr>
                        <a:buSzPts val="800"/>
                        <a:buFont typeface="Malgun Gothic"/>
                        <a:buNone/>
                      </a:pPr>
                      <a:endParaRPr sz="800" b="0" i="0" u="none" strike="noStrike" cap="none" dirty="0">
                        <a:solidFill>
                          <a:srgbClr val="3F3F3F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sz="800" b="0" i="0" u="none" strike="noStrike" cap="non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화면</a:t>
                      </a:r>
                      <a:r>
                        <a:rPr lang="en-US" altLang="ko-KR" sz="800" b="0" i="0" u="none" strike="noStrike" cap="non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 </a:t>
                      </a:r>
                      <a:r>
                        <a:rPr lang="ko-KR" altLang="en-US" sz="800" b="0" i="0" u="none" strike="noStrike" cap="non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명칭</a:t>
                      </a:r>
                      <a:endParaRPr/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endParaRPr sz="800" b="0" i="0" u="none" strike="noStrike" cap="non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sz="800" b="0" i="0" u="none" strike="noStrike" cap="non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작성자</a:t>
                      </a:r>
                      <a:endParaRPr/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0" i="0" u="none" strike="noStrike" cap="none" smtClean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최범열</a:t>
                      </a:r>
                      <a:endParaRPr sz="800" b="0" i="0" u="none" strike="noStrike" cap="non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sz="800" b="0" i="0" u="none" strike="noStrike" cap="non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작성</a:t>
                      </a:r>
                      <a:r>
                        <a:rPr lang="en-US" altLang="ko-KR" sz="800" b="0" i="0" u="none" strike="noStrike" cap="non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 </a:t>
                      </a:r>
                      <a:r>
                        <a:rPr lang="ko-KR" altLang="en-US" sz="800" b="0" i="0" u="none" strike="noStrike" cap="non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일자</a:t>
                      </a:r>
                      <a:endParaRPr/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F3F3F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altLang="ko-KR" sz="800" u="none" strike="noStrike" cap="none" smtClean="0">
                          <a:solidFill>
                            <a:srgbClr val="3F3F3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2026-04-14</a:t>
                      </a:r>
                      <a:endParaRPr sz="800" u="none" strike="noStrike" cap="none" dirty="0">
                        <a:solidFill>
                          <a:srgbClr val="3F3F3F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sz="800" b="0" i="0" u="none" strike="noStrike" cap="non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화면</a:t>
                      </a:r>
                      <a:r>
                        <a:rPr lang="en-US" altLang="ko-KR" sz="800" b="0" i="0" u="none" strike="noStrike" cap="non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 </a:t>
                      </a:r>
                      <a:r>
                        <a:rPr lang="ko-KR" sz="800" b="0" i="0" u="none" strike="noStrike" cap="non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코드</a:t>
                      </a:r>
                      <a:endParaRPr sz="800" b="0" i="0" u="none" strike="noStrike" cap="non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endParaRPr sz="800" b="0" i="0" u="none" strike="noStrike" cap="none">
                        <a:solidFill>
                          <a:srgbClr val="3F3F3F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sz="800" b="0" i="0" u="none" strike="noStrike" cap="non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화면</a:t>
                      </a:r>
                      <a:r>
                        <a:rPr lang="en-US" altLang="ko-KR" sz="800" b="0" i="0" u="none" strike="noStrike" cap="non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 </a:t>
                      </a:r>
                      <a:r>
                        <a:rPr lang="ko-KR" sz="800" b="0" i="0" u="none" strike="noStrike" cap="non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경로</a:t>
                      </a:r>
                      <a:endParaRPr sz="800" b="0" i="0" u="none" strike="noStrike" cap="non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endParaRPr sz="800" b="0" i="0" u="none" strike="noStrike" cap="non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0" i="0" u="none" strike="noStrike" cap="non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문서 </a:t>
                      </a:r>
                      <a:r>
                        <a:rPr lang="ko-KR" sz="800" b="0" i="0" u="none" strike="noStrike" cap="non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버전</a:t>
                      </a:r>
                      <a:endParaRPr sz="800" b="0" i="0" u="none" strike="noStrike" cap="non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F3F3F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altLang="ko-KR" sz="800" b="0" i="0" u="none" strike="noStrike" cap="none" smtClean="0">
                          <a:solidFill>
                            <a:srgbClr val="3F3F3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v0.7</a:t>
                      </a:r>
                      <a:endParaRPr sz="800" b="0" i="0" u="none" strike="noStrike" cap="none" dirty="0">
                        <a:solidFill>
                          <a:srgbClr val="3F3F3F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</a:tbl>
          </a:graphicData>
        </a:graphic>
      </p:graphicFrame>
      <p:pic>
        <p:nvPicPr>
          <p:cNvPr id="6" name="그림 5">
            <a:extLst>
              <a:ext uri="{FF2B5EF4-FFF2-40B4-BE49-F238E27FC236}">
                <a16:creationId xmlns:a16="http://schemas.microsoft.com/office/drawing/2014/main" xmlns="" id="{969D864D-1DDE-4AD9-9B8A-9042B6B2AE9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43906" y="6533538"/>
            <a:ext cx="384255" cy="180000"/>
          </a:xfrm>
          <a:prstGeom prst="rect">
            <a:avLst/>
          </a:prstGeom>
        </p:spPr>
      </p:pic>
      <p:sp>
        <p:nvSpPr>
          <p:cNvPr id="7" name="직사각형 6"/>
          <p:cNvSpPr/>
          <p:nvPr userDrawn="1"/>
        </p:nvSpPr>
        <p:spPr>
          <a:xfrm>
            <a:off x="4823906" y="709700"/>
            <a:ext cx="2880000" cy="5688023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="" xmlns:a16="http://schemas.microsoft.com/office/drawing/2014/main" id="{F9776C3A-3D6C-4965-9DA5-D76F1E6E1639}"/>
              </a:ext>
            </a:extLst>
          </p:cNvPr>
          <p:cNvSpPr/>
          <p:nvPr userDrawn="1"/>
        </p:nvSpPr>
        <p:spPr>
          <a:xfrm>
            <a:off x="145414" y="710174"/>
            <a:ext cx="2879531" cy="5687074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700">
              <a:solidFill>
                <a:prstClr val="black">
                  <a:lumMod val="75000"/>
                  <a:lumOff val="25000"/>
                </a:prstClr>
              </a:solidFill>
              <a:latin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3067069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3_MO_기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직사각형 20"/>
          <p:cNvSpPr/>
          <p:nvPr userDrawn="1"/>
        </p:nvSpPr>
        <p:spPr>
          <a:xfrm>
            <a:off x="143906" y="709700"/>
            <a:ext cx="2880000" cy="5688023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23" name="슬라이드 번호 개체 틀 5"/>
          <p:cNvSpPr txBox="1">
            <a:spLocks/>
          </p:cNvSpPr>
          <p:nvPr userDrawn="1"/>
        </p:nvSpPr>
        <p:spPr>
          <a:xfrm>
            <a:off x="5969008" y="6506395"/>
            <a:ext cx="229797" cy="234286"/>
          </a:xfrm>
          <a:prstGeom prst="rect">
            <a:avLst/>
          </a:prstGeom>
        </p:spPr>
        <p:txBody>
          <a:bodyPr vert="horz" wrap="none" lIns="36000" tIns="36000" rIns="36000" bIns="36000" rtlCol="0" anchor="ctr">
            <a:spAutoFit/>
          </a:bodyPr>
          <a:lstStyle>
            <a:defPPr>
              <a:defRPr lang="ko-KR"/>
            </a:defPPr>
            <a:lvl1pPr marL="0" algn="r" defTabSz="912388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6194" algn="l" defTabSz="912388" rtl="0" eaLnBrk="1" latinLnBrk="1" hangingPunct="1">
              <a:defRPr sz="179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2388" algn="l" defTabSz="912388" rtl="0" eaLnBrk="1" latinLnBrk="1" hangingPunct="1">
              <a:defRPr sz="179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68582" algn="l" defTabSz="912388" rtl="0" eaLnBrk="1" latinLnBrk="1" hangingPunct="1">
              <a:defRPr sz="179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4777" algn="l" defTabSz="912388" rtl="0" eaLnBrk="1" latinLnBrk="1" hangingPunct="1">
              <a:defRPr sz="179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0971" algn="l" defTabSz="912388" rtl="0" eaLnBrk="1" latinLnBrk="1" hangingPunct="1">
              <a:defRPr sz="179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37165" algn="l" defTabSz="912388" rtl="0" eaLnBrk="1" latinLnBrk="1" hangingPunct="1">
              <a:defRPr sz="179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93359" algn="l" defTabSz="912388" rtl="0" eaLnBrk="1" latinLnBrk="1" hangingPunct="1">
              <a:defRPr sz="179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49553" algn="l" defTabSz="912388" rtl="0" eaLnBrk="1" latinLnBrk="1" hangingPunct="1">
              <a:defRPr sz="179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E599212-FDAA-48C6-AA0A-60FFE96216AA}" type="slidenum">
              <a:rPr lang="ko-KR" altLang="en-US" sz="1000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 sz="1000">
              <a:solidFill>
                <a:prstClr val="black">
                  <a:tint val="75000"/>
                </a:prstClr>
              </a:solidFill>
            </a:endParaRPr>
          </a:p>
        </p:txBody>
      </p:sp>
      <p:graphicFrame>
        <p:nvGraphicFramePr>
          <p:cNvPr id="41" name="Google Shape;26;p5"/>
          <p:cNvGraphicFramePr/>
          <p:nvPr userDrawn="1">
            <p:extLst>
              <p:ext uri="{D42A27DB-BD31-4B8C-83A1-F6EECF244321}">
                <p14:modId xmlns:p14="http://schemas.microsoft.com/office/powerpoint/2010/main" val="329663868"/>
              </p:ext>
            </p:extLst>
          </p:nvPr>
        </p:nvGraphicFramePr>
        <p:xfrm>
          <a:off x="143906" y="142660"/>
          <a:ext cx="11880000" cy="43200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108000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4320000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xmlns="" val="20006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xmlns="" val="20007"/>
                    </a:ext>
                  </a:extLst>
                </a:gridCol>
              </a:tblGrid>
              <a:tr h="216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화면 구분</a:t>
                      </a:r>
                      <a:endParaRPr dirty="0"/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F3F3F"/>
                        </a:buClr>
                        <a:buSzPts val="800"/>
                        <a:buFont typeface="Malgun Gothic"/>
                        <a:buNone/>
                      </a:pPr>
                      <a:endParaRPr sz="800" b="0" i="0" u="none" strike="noStrike" cap="none" dirty="0">
                        <a:solidFill>
                          <a:srgbClr val="3F3F3F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sz="800" b="0" i="0" u="none" strike="noStrike" cap="non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화면</a:t>
                      </a:r>
                      <a:r>
                        <a:rPr lang="en-US" altLang="ko-KR" sz="800" b="0" i="0" u="none" strike="noStrike" cap="non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 </a:t>
                      </a:r>
                      <a:r>
                        <a:rPr lang="ko-KR" altLang="en-US" sz="800" b="0" i="0" u="none" strike="noStrike" cap="non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명칭</a:t>
                      </a:r>
                      <a:endParaRPr/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endParaRPr sz="800" b="0" i="0" u="none" strike="noStrike" cap="non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sz="800" b="0" i="0" u="none" strike="noStrike" cap="non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작성자</a:t>
                      </a:r>
                      <a:endParaRPr/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0" i="0" u="none" strike="noStrike" cap="none" smtClean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최범열</a:t>
                      </a:r>
                      <a:endParaRPr sz="800" b="0" i="0" u="none" strike="noStrike" cap="non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sz="800" b="0" i="0" u="none" strike="noStrike" cap="non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작성</a:t>
                      </a:r>
                      <a:r>
                        <a:rPr lang="en-US" altLang="ko-KR" sz="800" b="0" i="0" u="none" strike="noStrike" cap="non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 </a:t>
                      </a:r>
                      <a:r>
                        <a:rPr lang="ko-KR" altLang="en-US" sz="800" b="0" i="0" u="none" strike="noStrike" cap="non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일자</a:t>
                      </a:r>
                      <a:endParaRPr/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F3F3F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altLang="ko-KR" sz="800" u="none" strike="noStrike" cap="none" smtClean="0">
                          <a:solidFill>
                            <a:srgbClr val="3F3F3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2026-04-14</a:t>
                      </a:r>
                      <a:endParaRPr sz="800" u="none" strike="noStrike" cap="none" dirty="0">
                        <a:solidFill>
                          <a:srgbClr val="3F3F3F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sz="800" b="0" i="0" u="none" strike="noStrike" cap="non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화면</a:t>
                      </a:r>
                      <a:r>
                        <a:rPr lang="en-US" altLang="ko-KR" sz="800" b="0" i="0" u="none" strike="noStrike" cap="non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 </a:t>
                      </a:r>
                      <a:r>
                        <a:rPr lang="ko-KR" sz="800" b="0" i="0" u="none" strike="noStrike" cap="non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코드</a:t>
                      </a:r>
                      <a:endParaRPr sz="800" b="0" i="0" u="none" strike="noStrike" cap="non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endParaRPr sz="800" b="0" i="0" u="none" strike="noStrike" cap="none">
                        <a:solidFill>
                          <a:srgbClr val="3F3F3F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sz="800" b="0" i="0" u="none" strike="noStrike" cap="non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화면</a:t>
                      </a:r>
                      <a:r>
                        <a:rPr lang="en-US" altLang="ko-KR" sz="800" b="0" i="0" u="none" strike="noStrike" cap="non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 </a:t>
                      </a:r>
                      <a:r>
                        <a:rPr lang="ko-KR" sz="800" b="0" i="0" u="none" strike="noStrike" cap="non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경로</a:t>
                      </a:r>
                      <a:endParaRPr sz="800" b="0" i="0" u="none" strike="noStrike" cap="non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endParaRPr sz="800" b="0" i="0" u="none" strike="noStrike" cap="non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0" i="0" u="none" strike="noStrike" cap="non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문서 </a:t>
                      </a:r>
                      <a:r>
                        <a:rPr lang="ko-KR" sz="800" b="0" i="0" u="none" strike="noStrike" cap="non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버전</a:t>
                      </a:r>
                      <a:endParaRPr sz="800" b="0" i="0" u="none" strike="noStrike" cap="non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F3F3F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altLang="ko-KR" sz="800" b="0" i="0" u="none" strike="noStrike" cap="none" smtClean="0">
                          <a:solidFill>
                            <a:srgbClr val="3F3F3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v0.7</a:t>
                      </a:r>
                      <a:endParaRPr sz="800" b="0" i="0" u="none" strike="noStrike" cap="none" dirty="0">
                        <a:solidFill>
                          <a:srgbClr val="3F3F3F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</a:tbl>
          </a:graphicData>
        </a:graphic>
      </p:graphicFrame>
      <p:pic>
        <p:nvPicPr>
          <p:cNvPr id="6" name="그림 5">
            <a:extLst>
              <a:ext uri="{FF2B5EF4-FFF2-40B4-BE49-F238E27FC236}">
                <a16:creationId xmlns:a16="http://schemas.microsoft.com/office/drawing/2014/main" xmlns="" id="{969D864D-1DDE-4AD9-9B8A-9042B6B2AE9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43906" y="6533538"/>
            <a:ext cx="384255" cy="180000"/>
          </a:xfrm>
          <a:prstGeom prst="rect">
            <a:avLst/>
          </a:prstGeom>
        </p:spPr>
      </p:pic>
      <p:sp>
        <p:nvSpPr>
          <p:cNvPr id="7" name="직사각형 6"/>
          <p:cNvSpPr/>
          <p:nvPr userDrawn="1"/>
        </p:nvSpPr>
        <p:spPr>
          <a:xfrm>
            <a:off x="4103906" y="709700"/>
            <a:ext cx="2880000" cy="5688023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8" name="직사각형 7"/>
          <p:cNvSpPr/>
          <p:nvPr userDrawn="1"/>
        </p:nvSpPr>
        <p:spPr>
          <a:xfrm>
            <a:off x="8063906" y="709700"/>
            <a:ext cx="2880000" cy="5688023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765151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4_MO_기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직사각형 20"/>
          <p:cNvSpPr/>
          <p:nvPr userDrawn="1"/>
        </p:nvSpPr>
        <p:spPr>
          <a:xfrm>
            <a:off x="143906" y="709700"/>
            <a:ext cx="2880000" cy="5688023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23" name="슬라이드 번호 개체 틀 5"/>
          <p:cNvSpPr txBox="1">
            <a:spLocks/>
          </p:cNvSpPr>
          <p:nvPr userDrawn="1"/>
        </p:nvSpPr>
        <p:spPr>
          <a:xfrm>
            <a:off x="5969008" y="6506395"/>
            <a:ext cx="229797" cy="234286"/>
          </a:xfrm>
          <a:prstGeom prst="rect">
            <a:avLst/>
          </a:prstGeom>
        </p:spPr>
        <p:txBody>
          <a:bodyPr vert="horz" wrap="none" lIns="36000" tIns="36000" rIns="36000" bIns="36000" rtlCol="0" anchor="ctr">
            <a:spAutoFit/>
          </a:bodyPr>
          <a:lstStyle>
            <a:defPPr>
              <a:defRPr lang="ko-KR"/>
            </a:defPPr>
            <a:lvl1pPr marL="0" algn="r" defTabSz="912388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6194" algn="l" defTabSz="912388" rtl="0" eaLnBrk="1" latinLnBrk="1" hangingPunct="1">
              <a:defRPr sz="179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2388" algn="l" defTabSz="912388" rtl="0" eaLnBrk="1" latinLnBrk="1" hangingPunct="1">
              <a:defRPr sz="179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68582" algn="l" defTabSz="912388" rtl="0" eaLnBrk="1" latinLnBrk="1" hangingPunct="1">
              <a:defRPr sz="179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4777" algn="l" defTabSz="912388" rtl="0" eaLnBrk="1" latinLnBrk="1" hangingPunct="1">
              <a:defRPr sz="179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0971" algn="l" defTabSz="912388" rtl="0" eaLnBrk="1" latinLnBrk="1" hangingPunct="1">
              <a:defRPr sz="179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37165" algn="l" defTabSz="912388" rtl="0" eaLnBrk="1" latinLnBrk="1" hangingPunct="1">
              <a:defRPr sz="179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93359" algn="l" defTabSz="912388" rtl="0" eaLnBrk="1" latinLnBrk="1" hangingPunct="1">
              <a:defRPr sz="179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49553" algn="l" defTabSz="912388" rtl="0" eaLnBrk="1" latinLnBrk="1" hangingPunct="1">
              <a:defRPr sz="179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E599212-FDAA-48C6-AA0A-60FFE96216AA}" type="slidenum">
              <a:rPr lang="ko-KR" altLang="en-US" sz="1000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 sz="1000">
              <a:solidFill>
                <a:prstClr val="black">
                  <a:tint val="75000"/>
                </a:prstClr>
              </a:solidFill>
            </a:endParaRPr>
          </a:p>
        </p:txBody>
      </p:sp>
      <p:graphicFrame>
        <p:nvGraphicFramePr>
          <p:cNvPr id="41" name="Google Shape;26;p5"/>
          <p:cNvGraphicFramePr/>
          <p:nvPr userDrawn="1">
            <p:extLst>
              <p:ext uri="{D42A27DB-BD31-4B8C-83A1-F6EECF244321}">
                <p14:modId xmlns:p14="http://schemas.microsoft.com/office/powerpoint/2010/main" val="116811930"/>
              </p:ext>
            </p:extLst>
          </p:nvPr>
        </p:nvGraphicFramePr>
        <p:xfrm>
          <a:off x="143906" y="142660"/>
          <a:ext cx="11880000" cy="43200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108000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4320000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xmlns="" val="20006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xmlns="" val="20007"/>
                    </a:ext>
                  </a:extLst>
                </a:gridCol>
              </a:tblGrid>
              <a:tr h="216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화면 구분</a:t>
                      </a:r>
                      <a:endParaRPr dirty="0"/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F3F3F"/>
                        </a:buClr>
                        <a:buSzPts val="800"/>
                        <a:buFont typeface="Malgun Gothic"/>
                        <a:buNone/>
                      </a:pPr>
                      <a:endParaRPr sz="800" b="0" i="0" u="none" strike="noStrike" cap="none" dirty="0">
                        <a:solidFill>
                          <a:srgbClr val="3F3F3F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sz="800" b="0" i="0" u="none" strike="noStrike" cap="non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화면</a:t>
                      </a:r>
                      <a:r>
                        <a:rPr lang="en-US" altLang="ko-KR" sz="800" b="0" i="0" u="none" strike="noStrike" cap="non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 </a:t>
                      </a:r>
                      <a:r>
                        <a:rPr lang="ko-KR" altLang="en-US" sz="800" b="0" i="0" u="none" strike="noStrike" cap="non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명칭</a:t>
                      </a:r>
                      <a:endParaRPr/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endParaRPr sz="800" b="0" i="0" u="none" strike="noStrike" cap="non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sz="800" b="0" i="0" u="none" strike="noStrike" cap="non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작성자</a:t>
                      </a:r>
                      <a:endParaRPr/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0" i="0" u="none" strike="noStrike" cap="none" smtClean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최범열</a:t>
                      </a:r>
                      <a:endParaRPr sz="800" b="0" i="0" u="none" strike="noStrike" cap="non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sz="800" b="0" i="0" u="none" strike="noStrike" cap="non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작성</a:t>
                      </a:r>
                      <a:r>
                        <a:rPr lang="en-US" altLang="ko-KR" sz="800" b="0" i="0" u="none" strike="noStrike" cap="non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 </a:t>
                      </a:r>
                      <a:r>
                        <a:rPr lang="ko-KR" altLang="en-US" sz="800" b="0" i="0" u="none" strike="noStrike" cap="non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일자</a:t>
                      </a:r>
                      <a:endParaRPr/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F3F3F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altLang="ko-KR" sz="800" u="none" strike="noStrike" cap="none" smtClean="0">
                          <a:solidFill>
                            <a:srgbClr val="3F3F3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2026-04-14</a:t>
                      </a:r>
                      <a:endParaRPr sz="800" u="none" strike="noStrike" cap="none" dirty="0">
                        <a:solidFill>
                          <a:srgbClr val="3F3F3F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sz="800" b="0" i="0" u="none" strike="noStrike" cap="non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화면</a:t>
                      </a:r>
                      <a:r>
                        <a:rPr lang="en-US" altLang="ko-KR" sz="800" b="0" i="0" u="none" strike="noStrike" cap="non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 </a:t>
                      </a:r>
                      <a:r>
                        <a:rPr lang="ko-KR" sz="800" b="0" i="0" u="none" strike="noStrike" cap="non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코드</a:t>
                      </a:r>
                      <a:endParaRPr sz="800" b="0" i="0" u="none" strike="noStrike" cap="non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endParaRPr sz="800" b="0" i="0" u="none" strike="noStrike" cap="none">
                        <a:solidFill>
                          <a:srgbClr val="3F3F3F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sz="800" b="0" i="0" u="none" strike="noStrike" cap="non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화면</a:t>
                      </a:r>
                      <a:r>
                        <a:rPr lang="en-US" altLang="ko-KR" sz="800" b="0" i="0" u="none" strike="noStrike" cap="non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 </a:t>
                      </a:r>
                      <a:r>
                        <a:rPr lang="ko-KR" sz="800" b="0" i="0" u="none" strike="noStrike" cap="non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경로</a:t>
                      </a:r>
                      <a:endParaRPr sz="800" b="0" i="0" u="none" strike="noStrike" cap="non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endParaRPr sz="800" b="0" i="0" u="none" strike="noStrike" cap="non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0" i="0" u="none" strike="noStrike" cap="non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문서 </a:t>
                      </a:r>
                      <a:r>
                        <a:rPr lang="ko-KR" sz="800" b="0" i="0" u="none" strike="noStrike" cap="non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버전</a:t>
                      </a:r>
                      <a:endParaRPr sz="800" b="0" i="0" u="none" strike="noStrike" cap="non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F3F3F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altLang="ko-KR" sz="800" b="0" i="0" u="none" strike="noStrike" cap="none" smtClean="0">
                          <a:solidFill>
                            <a:srgbClr val="3F3F3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v0.7</a:t>
                      </a:r>
                      <a:endParaRPr sz="800" b="0" i="0" u="none" strike="noStrike" cap="none" dirty="0">
                        <a:solidFill>
                          <a:srgbClr val="3F3F3F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</a:tbl>
          </a:graphicData>
        </a:graphic>
      </p:graphicFrame>
      <p:pic>
        <p:nvPicPr>
          <p:cNvPr id="6" name="그림 5">
            <a:extLst>
              <a:ext uri="{FF2B5EF4-FFF2-40B4-BE49-F238E27FC236}">
                <a16:creationId xmlns:a16="http://schemas.microsoft.com/office/drawing/2014/main" xmlns="" id="{969D864D-1DDE-4AD9-9B8A-9042B6B2AE9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43906" y="6533538"/>
            <a:ext cx="384255" cy="180000"/>
          </a:xfrm>
          <a:prstGeom prst="rect">
            <a:avLst/>
          </a:prstGeom>
        </p:spPr>
      </p:pic>
      <p:sp>
        <p:nvSpPr>
          <p:cNvPr id="7" name="직사각형 6"/>
          <p:cNvSpPr/>
          <p:nvPr userDrawn="1"/>
        </p:nvSpPr>
        <p:spPr>
          <a:xfrm>
            <a:off x="4103906" y="709700"/>
            <a:ext cx="2880000" cy="5688023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499247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2_MO_한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직사각형 20"/>
          <p:cNvSpPr/>
          <p:nvPr userDrawn="1"/>
        </p:nvSpPr>
        <p:spPr>
          <a:xfrm>
            <a:off x="143906" y="709700"/>
            <a:ext cx="2880000" cy="5688023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23" name="슬라이드 번호 개체 틀 5"/>
          <p:cNvSpPr txBox="1">
            <a:spLocks/>
          </p:cNvSpPr>
          <p:nvPr userDrawn="1"/>
        </p:nvSpPr>
        <p:spPr>
          <a:xfrm>
            <a:off x="5969008" y="6506395"/>
            <a:ext cx="229797" cy="234286"/>
          </a:xfrm>
          <a:prstGeom prst="rect">
            <a:avLst/>
          </a:prstGeom>
        </p:spPr>
        <p:txBody>
          <a:bodyPr vert="horz" wrap="none" lIns="36000" tIns="36000" rIns="36000" bIns="36000" rtlCol="0" anchor="ctr">
            <a:spAutoFit/>
          </a:bodyPr>
          <a:lstStyle>
            <a:defPPr>
              <a:defRPr lang="ko-KR"/>
            </a:defPPr>
            <a:lvl1pPr marL="0" algn="r" defTabSz="912388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6194" algn="l" defTabSz="912388" rtl="0" eaLnBrk="1" latinLnBrk="1" hangingPunct="1">
              <a:defRPr sz="179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2388" algn="l" defTabSz="912388" rtl="0" eaLnBrk="1" latinLnBrk="1" hangingPunct="1">
              <a:defRPr sz="179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68582" algn="l" defTabSz="912388" rtl="0" eaLnBrk="1" latinLnBrk="1" hangingPunct="1">
              <a:defRPr sz="179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4777" algn="l" defTabSz="912388" rtl="0" eaLnBrk="1" latinLnBrk="1" hangingPunct="1">
              <a:defRPr sz="179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0971" algn="l" defTabSz="912388" rtl="0" eaLnBrk="1" latinLnBrk="1" hangingPunct="1">
              <a:defRPr sz="179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37165" algn="l" defTabSz="912388" rtl="0" eaLnBrk="1" latinLnBrk="1" hangingPunct="1">
              <a:defRPr sz="179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93359" algn="l" defTabSz="912388" rtl="0" eaLnBrk="1" latinLnBrk="1" hangingPunct="1">
              <a:defRPr sz="179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49553" algn="l" defTabSz="912388" rtl="0" eaLnBrk="1" latinLnBrk="1" hangingPunct="1">
              <a:defRPr sz="179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E599212-FDAA-48C6-AA0A-60FFE96216AA}" type="slidenum">
              <a:rPr lang="ko-KR" altLang="en-US" sz="1000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 sz="1000">
              <a:solidFill>
                <a:prstClr val="black">
                  <a:tint val="75000"/>
                </a:prstClr>
              </a:solidFill>
            </a:endParaRPr>
          </a:p>
        </p:txBody>
      </p:sp>
      <p:graphicFrame>
        <p:nvGraphicFramePr>
          <p:cNvPr id="41" name="Google Shape;26;p5"/>
          <p:cNvGraphicFramePr/>
          <p:nvPr userDrawn="1">
            <p:extLst>
              <p:ext uri="{D42A27DB-BD31-4B8C-83A1-F6EECF244321}">
                <p14:modId xmlns:p14="http://schemas.microsoft.com/office/powerpoint/2010/main" val="1567324811"/>
              </p:ext>
            </p:extLst>
          </p:nvPr>
        </p:nvGraphicFramePr>
        <p:xfrm>
          <a:off x="143906" y="142660"/>
          <a:ext cx="11880000" cy="43200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108000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4320000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xmlns="" val="20006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xmlns="" val="20007"/>
                    </a:ext>
                  </a:extLst>
                </a:gridCol>
              </a:tblGrid>
              <a:tr h="216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화면 구분</a:t>
                      </a:r>
                      <a:endParaRPr dirty="0"/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F3F3F"/>
                        </a:buClr>
                        <a:buSzPts val="800"/>
                        <a:buFont typeface="Malgun Gothic"/>
                        <a:buNone/>
                      </a:pPr>
                      <a:endParaRPr sz="800" b="0" i="0" u="none" strike="noStrike" cap="none" dirty="0">
                        <a:solidFill>
                          <a:srgbClr val="3F3F3F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sz="800" b="0" i="0" u="none" strike="noStrike" cap="non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화면</a:t>
                      </a:r>
                      <a:r>
                        <a:rPr lang="en-US" altLang="ko-KR" sz="800" b="0" i="0" u="none" strike="noStrike" cap="non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 </a:t>
                      </a:r>
                      <a:r>
                        <a:rPr lang="ko-KR" altLang="en-US" sz="800" b="0" i="0" u="none" strike="noStrike" cap="non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명칭</a:t>
                      </a:r>
                      <a:endParaRPr/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endParaRPr sz="800" b="0" i="0" u="none" strike="noStrike" cap="non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sz="800" b="0" i="0" u="none" strike="noStrike" cap="non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작성자</a:t>
                      </a:r>
                      <a:endParaRPr/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0" i="0" u="none" strike="noStrike" cap="none" smtClean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최범열</a:t>
                      </a:r>
                      <a:endParaRPr sz="800" b="0" i="0" u="none" strike="noStrike" cap="non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sz="800" b="0" i="0" u="none" strike="noStrike" cap="non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작성</a:t>
                      </a:r>
                      <a:r>
                        <a:rPr lang="en-US" altLang="ko-KR" sz="800" b="0" i="0" u="none" strike="noStrike" cap="non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 </a:t>
                      </a:r>
                      <a:r>
                        <a:rPr lang="ko-KR" altLang="en-US" sz="800" b="0" i="0" u="none" strike="noStrike" cap="non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일자</a:t>
                      </a:r>
                      <a:endParaRPr/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F3F3F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altLang="ko-KR" sz="800" u="none" strike="noStrike" cap="none" smtClean="0">
                          <a:solidFill>
                            <a:srgbClr val="3F3F3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2026-04-14</a:t>
                      </a:r>
                      <a:endParaRPr sz="800" u="none" strike="noStrike" cap="none" dirty="0">
                        <a:solidFill>
                          <a:srgbClr val="3F3F3F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sz="800" b="0" i="0" u="none" strike="noStrike" cap="non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화면</a:t>
                      </a:r>
                      <a:r>
                        <a:rPr lang="en-US" altLang="ko-KR" sz="800" b="0" i="0" u="none" strike="noStrike" cap="non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 </a:t>
                      </a:r>
                      <a:r>
                        <a:rPr lang="ko-KR" sz="800" b="0" i="0" u="none" strike="noStrike" cap="non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코드</a:t>
                      </a:r>
                      <a:endParaRPr sz="800" b="0" i="0" u="none" strike="noStrike" cap="non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endParaRPr sz="800" b="0" i="0" u="none" strike="noStrike" cap="none">
                        <a:solidFill>
                          <a:srgbClr val="3F3F3F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sz="800" b="0" i="0" u="none" strike="noStrike" cap="non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화면</a:t>
                      </a:r>
                      <a:r>
                        <a:rPr lang="en-US" altLang="ko-KR" sz="800" b="0" i="0" u="none" strike="noStrike" cap="non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 </a:t>
                      </a:r>
                      <a:r>
                        <a:rPr lang="ko-KR" sz="800" b="0" i="0" u="none" strike="noStrike" cap="non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경로</a:t>
                      </a:r>
                      <a:endParaRPr sz="800" b="0" i="0" u="none" strike="noStrike" cap="non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endParaRPr sz="800" b="0" i="0" u="none" strike="noStrike" cap="non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0" i="0" u="none" strike="noStrike" cap="non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문서 </a:t>
                      </a:r>
                      <a:r>
                        <a:rPr lang="ko-KR" sz="800" b="0" i="0" u="none" strike="noStrike" cap="non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버전</a:t>
                      </a:r>
                      <a:endParaRPr sz="800" b="0" i="0" u="none" strike="noStrike" cap="non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F3F3F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altLang="ko-KR" sz="800" b="0" i="0" u="none" strike="noStrike" cap="none" smtClean="0">
                          <a:solidFill>
                            <a:srgbClr val="3F3F3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v0.7</a:t>
                      </a:r>
                      <a:endParaRPr sz="800" b="0" i="0" u="none" strike="noStrike" cap="none" dirty="0">
                        <a:solidFill>
                          <a:srgbClr val="3F3F3F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</a:tbl>
          </a:graphicData>
        </a:graphic>
      </p:graphicFrame>
      <p:pic>
        <p:nvPicPr>
          <p:cNvPr id="6" name="그림 5">
            <a:extLst>
              <a:ext uri="{FF2B5EF4-FFF2-40B4-BE49-F238E27FC236}">
                <a16:creationId xmlns:a16="http://schemas.microsoft.com/office/drawing/2014/main" xmlns="" id="{969D864D-1DDE-4AD9-9B8A-9042B6B2AE9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43906" y="6533538"/>
            <a:ext cx="384255" cy="1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95810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슬라이드 번호 개체 틀 5"/>
          <p:cNvSpPr txBox="1">
            <a:spLocks/>
          </p:cNvSpPr>
          <p:nvPr userDrawn="1"/>
        </p:nvSpPr>
        <p:spPr>
          <a:xfrm>
            <a:off x="5969008" y="6506395"/>
            <a:ext cx="229797" cy="234286"/>
          </a:xfrm>
          <a:prstGeom prst="rect">
            <a:avLst/>
          </a:prstGeom>
        </p:spPr>
        <p:txBody>
          <a:bodyPr vert="horz" wrap="none" lIns="36000" tIns="36000" rIns="36000" bIns="36000" rtlCol="0" anchor="ctr">
            <a:spAutoFit/>
          </a:bodyPr>
          <a:lstStyle>
            <a:defPPr>
              <a:defRPr lang="ko-KR"/>
            </a:defPPr>
            <a:lvl1pPr marL="0" algn="r" defTabSz="912388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6194" algn="l" defTabSz="912388" rtl="0" eaLnBrk="1" latinLnBrk="1" hangingPunct="1">
              <a:defRPr sz="179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2388" algn="l" defTabSz="912388" rtl="0" eaLnBrk="1" latinLnBrk="1" hangingPunct="1">
              <a:defRPr sz="179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68582" algn="l" defTabSz="912388" rtl="0" eaLnBrk="1" latinLnBrk="1" hangingPunct="1">
              <a:defRPr sz="179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4777" algn="l" defTabSz="912388" rtl="0" eaLnBrk="1" latinLnBrk="1" hangingPunct="1">
              <a:defRPr sz="179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0971" algn="l" defTabSz="912388" rtl="0" eaLnBrk="1" latinLnBrk="1" hangingPunct="1">
              <a:defRPr sz="179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37165" algn="l" defTabSz="912388" rtl="0" eaLnBrk="1" latinLnBrk="1" hangingPunct="1">
              <a:defRPr sz="179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93359" algn="l" defTabSz="912388" rtl="0" eaLnBrk="1" latinLnBrk="1" hangingPunct="1">
              <a:defRPr sz="179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49553" algn="l" defTabSz="912388" rtl="0" eaLnBrk="1" latinLnBrk="1" hangingPunct="1">
              <a:defRPr sz="179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E599212-FDAA-48C6-AA0A-60FFE96216AA}" type="slidenum">
              <a:rPr lang="ko-KR" altLang="en-US" sz="1000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 sz="1000">
              <a:solidFill>
                <a:prstClr val="black">
                  <a:tint val="75000"/>
                </a:prstClr>
              </a:solidFill>
            </a:endParaRPr>
          </a:p>
        </p:txBody>
      </p:sp>
      <p:graphicFrame>
        <p:nvGraphicFramePr>
          <p:cNvPr id="41" name="Google Shape;26;p5"/>
          <p:cNvGraphicFramePr/>
          <p:nvPr userDrawn="1">
            <p:extLst>
              <p:ext uri="{D42A27DB-BD31-4B8C-83A1-F6EECF244321}">
                <p14:modId xmlns:p14="http://schemas.microsoft.com/office/powerpoint/2010/main" val="4175324564"/>
              </p:ext>
            </p:extLst>
          </p:nvPr>
        </p:nvGraphicFramePr>
        <p:xfrm>
          <a:off x="143906" y="142660"/>
          <a:ext cx="11880000" cy="43200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108000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4320000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xmlns="" val="20006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xmlns="" val="20007"/>
                    </a:ext>
                  </a:extLst>
                </a:gridCol>
              </a:tblGrid>
              <a:tr h="216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화면 구분</a:t>
                      </a:r>
                      <a:endParaRPr dirty="0"/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F3F3F"/>
                        </a:buClr>
                        <a:buSzPts val="800"/>
                        <a:buFont typeface="Malgun Gothic"/>
                        <a:buNone/>
                      </a:pPr>
                      <a:endParaRPr sz="800" b="0" i="0" u="none" strike="noStrike" cap="none" dirty="0">
                        <a:solidFill>
                          <a:srgbClr val="3F3F3F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sz="800" b="0" i="0" u="none" strike="noStrike" cap="non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화면</a:t>
                      </a:r>
                      <a:r>
                        <a:rPr lang="en-US" altLang="ko-KR" sz="800" b="0" i="0" u="none" strike="noStrike" cap="non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 </a:t>
                      </a:r>
                      <a:r>
                        <a:rPr lang="ko-KR" altLang="en-US" sz="800" b="0" i="0" u="none" strike="noStrike" cap="non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명칭</a:t>
                      </a:r>
                      <a:endParaRPr/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endParaRPr sz="800" b="0" i="0" u="none" strike="noStrike" cap="non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sz="800" b="0" i="0" u="none" strike="noStrike" cap="non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작성자</a:t>
                      </a:r>
                      <a:endParaRPr/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0" i="0" u="none" strike="noStrike" cap="none" smtClean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최범열</a:t>
                      </a:r>
                      <a:endParaRPr sz="800" b="0" i="0" u="none" strike="noStrike" cap="non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sz="800" b="0" i="0" u="none" strike="noStrike" cap="non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작성</a:t>
                      </a:r>
                      <a:r>
                        <a:rPr lang="en-US" altLang="ko-KR" sz="800" b="0" i="0" u="none" strike="noStrike" cap="non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 </a:t>
                      </a:r>
                      <a:r>
                        <a:rPr lang="ko-KR" altLang="en-US" sz="800" b="0" i="0" u="none" strike="noStrike" cap="non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일자</a:t>
                      </a:r>
                      <a:endParaRPr/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F3F3F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altLang="ko-KR" sz="800" u="none" strike="noStrike" cap="none" smtClean="0">
                          <a:solidFill>
                            <a:srgbClr val="3F3F3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2026-04-14</a:t>
                      </a:r>
                      <a:endParaRPr sz="800" u="none" strike="noStrike" cap="none" dirty="0">
                        <a:solidFill>
                          <a:srgbClr val="3F3F3F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sz="800" b="0" i="0" u="none" strike="noStrike" cap="non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화면</a:t>
                      </a:r>
                      <a:r>
                        <a:rPr lang="en-US" altLang="ko-KR" sz="800" b="0" i="0" u="none" strike="noStrike" cap="non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 </a:t>
                      </a:r>
                      <a:r>
                        <a:rPr lang="ko-KR" sz="800" b="0" i="0" u="none" strike="noStrike" cap="non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코드</a:t>
                      </a:r>
                      <a:endParaRPr sz="800" b="0" i="0" u="none" strike="noStrike" cap="non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endParaRPr sz="800" b="0" i="0" u="none" strike="noStrike" cap="none">
                        <a:solidFill>
                          <a:srgbClr val="3F3F3F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sz="800" b="0" i="0" u="none" strike="noStrike" cap="non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화면</a:t>
                      </a:r>
                      <a:r>
                        <a:rPr lang="en-US" altLang="ko-KR" sz="800" b="0" i="0" u="none" strike="noStrike" cap="non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 </a:t>
                      </a:r>
                      <a:r>
                        <a:rPr lang="ko-KR" sz="800" b="0" i="0" u="none" strike="noStrike" cap="non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경로</a:t>
                      </a:r>
                      <a:endParaRPr sz="800" b="0" i="0" u="none" strike="noStrike" cap="non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endParaRPr sz="800" b="0" i="0" u="none" strike="noStrike" cap="non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0" i="0" u="none" strike="noStrike" cap="non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문서 </a:t>
                      </a:r>
                      <a:r>
                        <a:rPr lang="ko-KR" sz="800" b="0" i="0" u="none" strike="noStrike" cap="non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버전</a:t>
                      </a:r>
                      <a:endParaRPr sz="800" b="0" i="0" u="none" strike="noStrike" cap="non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F3F3F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altLang="ko-KR" sz="800" b="0" i="0" u="none" strike="noStrike" cap="none" smtClean="0">
                          <a:solidFill>
                            <a:srgbClr val="3F3F3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v0.7</a:t>
                      </a:r>
                      <a:endParaRPr sz="800" b="0" i="0" u="none" strike="noStrike" cap="none" dirty="0">
                        <a:solidFill>
                          <a:srgbClr val="3F3F3F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</a:tbl>
          </a:graphicData>
        </a:graphic>
      </p:graphicFrame>
      <p:pic>
        <p:nvPicPr>
          <p:cNvPr id="5" name="그림 4">
            <a:extLst>
              <a:ext uri="{FF2B5EF4-FFF2-40B4-BE49-F238E27FC236}">
                <a16:creationId xmlns:a16="http://schemas.microsoft.com/office/drawing/2014/main" xmlns="" id="{1EF6DC7B-6025-4CCF-AC27-0E7AE8F39CC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43906" y="6533538"/>
            <a:ext cx="384255" cy="1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38998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커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/>
          <p:cNvSpPr/>
          <p:nvPr userDrawn="1"/>
        </p:nvSpPr>
        <p:spPr>
          <a:xfrm>
            <a:off x="0" y="0"/>
            <a:ext cx="12168188" cy="6840538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207" tIns="45604" rIns="91207" bIns="4560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792">
              <a:solidFill>
                <a:prstClr val="white"/>
              </a:solidFill>
            </a:endParaRPr>
          </a:p>
        </p:txBody>
      </p:sp>
      <p:sp>
        <p:nvSpPr>
          <p:cNvPr id="8" name="모서리가 둥근 직사각형 7"/>
          <p:cNvSpPr/>
          <p:nvPr userDrawn="1"/>
        </p:nvSpPr>
        <p:spPr>
          <a:xfrm>
            <a:off x="144093" y="144269"/>
            <a:ext cx="11880000" cy="6552000"/>
          </a:xfrm>
          <a:prstGeom prst="roundRect">
            <a:avLst>
              <a:gd name="adj" fmla="val 3634"/>
            </a:avLst>
          </a:prstGeom>
          <a:solidFill>
            <a:schemeClr val="bg1"/>
          </a:solidFill>
          <a:ln>
            <a:noFill/>
          </a:ln>
          <a:effectLst>
            <a:innerShdw blurRad="63500">
              <a:prstClr val="black"/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207" tIns="45604" rIns="91207" bIns="4560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792">
              <a:solidFill>
                <a:prstClr val="white"/>
              </a:solidFill>
            </a:endParaRPr>
          </a:p>
        </p:txBody>
      </p:sp>
      <p:sp>
        <p:nvSpPr>
          <p:cNvPr id="9" name="직사각형 8"/>
          <p:cNvSpPr/>
          <p:nvPr userDrawn="1"/>
        </p:nvSpPr>
        <p:spPr>
          <a:xfrm>
            <a:off x="684094" y="1436333"/>
            <a:ext cx="2627899" cy="33791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596">
                <a:solidFill>
                  <a:prstClr val="black"/>
                </a:solidFill>
              </a:rPr>
              <a:t>E-commerce Platform Project</a:t>
            </a:r>
            <a:endParaRPr lang="ko-KR" altLang="en-US" sz="1596">
              <a:solidFill>
                <a:prstClr val="black"/>
              </a:solidFill>
            </a:endParaRPr>
          </a:p>
        </p:txBody>
      </p:sp>
      <p:cxnSp>
        <p:nvCxnSpPr>
          <p:cNvPr id="10" name="직선 연결선 9"/>
          <p:cNvCxnSpPr/>
          <p:nvPr userDrawn="1"/>
        </p:nvCxnSpPr>
        <p:spPr>
          <a:xfrm>
            <a:off x="684094" y="3420269"/>
            <a:ext cx="10800000" cy="0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그림 11">
            <a:extLst>
              <a:ext uri="{FF2B5EF4-FFF2-40B4-BE49-F238E27FC236}">
                <a16:creationId xmlns:a16="http://schemas.microsoft.com/office/drawing/2014/main" xmlns="" id="{FE6CBCE7-B83C-4ABD-8C65-A7D6AF73DA9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84094" y="718167"/>
            <a:ext cx="768510" cy="3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37094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개정이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64;p13"/>
          <p:cNvSpPr txBox="1"/>
          <p:nvPr userDrawn="1"/>
        </p:nvSpPr>
        <p:spPr>
          <a:xfrm>
            <a:off x="144094" y="237094"/>
            <a:ext cx="11880000" cy="432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spcFirstLastPara="1" wrap="square" lIns="180000" tIns="72000" rIns="180000" bIns="72000" anchor="ctr" anchorCtr="0">
            <a:noAutofit/>
          </a:bodyPr>
          <a:lstStyle/>
          <a:p>
            <a:endParaRPr lang="ko-KR" altLang="en-US" sz="1600" b="1">
              <a:solidFill>
                <a:srgbClr val="3F3F3F"/>
              </a:solidFill>
              <a:latin typeface="맑은 고딕" panose="020B0503020000020004" pitchFamily="50" charset="-127"/>
              <a:cs typeface="Arial"/>
              <a:sym typeface="Arial"/>
            </a:endParaRPr>
          </a:p>
        </p:txBody>
      </p:sp>
      <p:cxnSp>
        <p:nvCxnSpPr>
          <p:cNvPr id="4" name="Google Shape;65;p13"/>
          <p:cNvCxnSpPr/>
          <p:nvPr userDrawn="1"/>
        </p:nvCxnSpPr>
        <p:spPr>
          <a:xfrm>
            <a:off x="144094" y="836712"/>
            <a:ext cx="11880000" cy="2"/>
          </a:xfrm>
          <a:prstGeom prst="straightConnector1">
            <a:avLst/>
          </a:prstGeom>
          <a:noFill/>
          <a:ln w="12700" cap="flat" cmpd="sng">
            <a:solidFill>
              <a:schemeClr val="bg1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" name="슬라이드 번호 개체 틀 5"/>
          <p:cNvSpPr txBox="1">
            <a:spLocks/>
          </p:cNvSpPr>
          <p:nvPr userDrawn="1"/>
        </p:nvSpPr>
        <p:spPr>
          <a:xfrm>
            <a:off x="5969008" y="6506395"/>
            <a:ext cx="229797" cy="234286"/>
          </a:xfrm>
          <a:prstGeom prst="rect">
            <a:avLst/>
          </a:prstGeom>
        </p:spPr>
        <p:txBody>
          <a:bodyPr vert="horz" wrap="none" lIns="36000" tIns="36000" rIns="36000" bIns="36000" rtlCol="0" anchor="ctr">
            <a:spAutoFit/>
          </a:bodyPr>
          <a:lstStyle>
            <a:defPPr>
              <a:defRPr lang="ko-KR"/>
            </a:defPPr>
            <a:lvl1pPr marL="0" algn="r" defTabSz="912388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6194" algn="l" defTabSz="912388" rtl="0" eaLnBrk="1" latinLnBrk="1" hangingPunct="1">
              <a:defRPr sz="179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2388" algn="l" defTabSz="912388" rtl="0" eaLnBrk="1" latinLnBrk="1" hangingPunct="1">
              <a:defRPr sz="179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68582" algn="l" defTabSz="912388" rtl="0" eaLnBrk="1" latinLnBrk="1" hangingPunct="1">
              <a:defRPr sz="179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4777" algn="l" defTabSz="912388" rtl="0" eaLnBrk="1" latinLnBrk="1" hangingPunct="1">
              <a:defRPr sz="179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0971" algn="l" defTabSz="912388" rtl="0" eaLnBrk="1" latinLnBrk="1" hangingPunct="1">
              <a:defRPr sz="179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37165" algn="l" defTabSz="912388" rtl="0" eaLnBrk="1" latinLnBrk="1" hangingPunct="1">
              <a:defRPr sz="179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93359" algn="l" defTabSz="912388" rtl="0" eaLnBrk="1" latinLnBrk="1" hangingPunct="1">
              <a:defRPr sz="179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49553" algn="l" defTabSz="912388" rtl="0" eaLnBrk="1" latinLnBrk="1" hangingPunct="1">
              <a:defRPr sz="179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E599212-FDAA-48C6-AA0A-60FFE96216AA}" type="slidenum">
              <a:rPr lang="ko-KR" altLang="en-US" sz="1000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 sz="1000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xmlns="" id="{C7DC3F44-E69A-4F60-A108-ACE9D6FEFDF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43906" y="6533538"/>
            <a:ext cx="384255" cy="1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45779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개정이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 userDrawn="1"/>
        </p:nvSpPr>
        <p:spPr>
          <a:xfrm>
            <a:off x="0" y="0"/>
            <a:ext cx="12168188" cy="6840538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endParaRPr lang="ko-KR" altLang="en-US" sz="800" dirty="0">
              <a:solidFill>
                <a:prstClr val="black">
                  <a:lumMod val="75000"/>
                  <a:lumOff val="25000"/>
                </a:prst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7" name="슬라이드 번호 개체 틀 5"/>
          <p:cNvSpPr txBox="1">
            <a:spLocks/>
          </p:cNvSpPr>
          <p:nvPr userDrawn="1"/>
        </p:nvSpPr>
        <p:spPr>
          <a:xfrm>
            <a:off x="5969008" y="6506395"/>
            <a:ext cx="229797" cy="234286"/>
          </a:xfrm>
          <a:prstGeom prst="rect">
            <a:avLst/>
          </a:prstGeom>
        </p:spPr>
        <p:txBody>
          <a:bodyPr vert="horz" wrap="none" lIns="36000" tIns="36000" rIns="36000" bIns="36000" rtlCol="0" anchor="ctr">
            <a:spAutoFit/>
          </a:bodyPr>
          <a:lstStyle>
            <a:defPPr>
              <a:defRPr lang="ko-KR"/>
            </a:defPPr>
            <a:lvl1pPr marL="0" algn="r" defTabSz="912388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6194" algn="l" defTabSz="912388" rtl="0" eaLnBrk="1" latinLnBrk="1" hangingPunct="1">
              <a:defRPr sz="179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2388" algn="l" defTabSz="912388" rtl="0" eaLnBrk="1" latinLnBrk="1" hangingPunct="1">
              <a:defRPr sz="179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68582" algn="l" defTabSz="912388" rtl="0" eaLnBrk="1" latinLnBrk="1" hangingPunct="1">
              <a:defRPr sz="179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4777" algn="l" defTabSz="912388" rtl="0" eaLnBrk="1" latinLnBrk="1" hangingPunct="1">
              <a:defRPr sz="179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0971" algn="l" defTabSz="912388" rtl="0" eaLnBrk="1" latinLnBrk="1" hangingPunct="1">
              <a:defRPr sz="179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37165" algn="l" defTabSz="912388" rtl="0" eaLnBrk="1" latinLnBrk="1" hangingPunct="1">
              <a:defRPr sz="179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93359" algn="l" defTabSz="912388" rtl="0" eaLnBrk="1" latinLnBrk="1" hangingPunct="1">
              <a:defRPr sz="179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49553" algn="l" defTabSz="912388" rtl="0" eaLnBrk="1" latinLnBrk="1" hangingPunct="1">
              <a:defRPr sz="179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E599212-FDAA-48C6-AA0A-60FFE96216AA}" type="slidenum">
              <a:rPr lang="ko-KR" altLang="en-US" sz="1000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 sz="1000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xmlns="" id="{C7DC3F44-E69A-4F60-A108-ACE9D6FEFDF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43906" y="6533538"/>
            <a:ext cx="384255" cy="180000"/>
          </a:xfrm>
          <a:prstGeom prst="rect">
            <a:avLst/>
          </a:prstGeom>
        </p:spPr>
      </p:pic>
      <p:cxnSp>
        <p:nvCxnSpPr>
          <p:cNvPr id="9" name="직선 연결선 8"/>
          <p:cNvCxnSpPr/>
          <p:nvPr userDrawn="1"/>
        </p:nvCxnSpPr>
        <p:spPr>
          <a:xfrm>
            <a:off x="0" y="3420269"/>
            <a:ext cx="7200000" cy="0"/>
          </a:xfrm>
          <a:prstGeom prst="line">
            <a:avLst/>
          </a:prstGeom>
          <a:ln w="12700">
            <a:solidFill>
              <a:schemeClr val="bg1">
                <a:lumMod val="95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710707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725936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1" r:id="rId1"/>
    <p:sldLayoutId id="2147483682" r:id="rId2"/>
    <p:sldLayoutId id="2147483683" r:id="rId3"/>
    <p:sldLayoutId id="2147483684" r:id="rId4"/>
    <p:sldLayoutId id="2147483685" r:id="rId5"/>
    <p:sldLayoutId id="2147483686" r:id="rId6"/>
    <p:sldLayoutId id="2147483687" r:id="rId7"/>
    <p:sldLayoutId id="2147483688" r:id="rId8"/>
    <p:sldLayoutId id="2147483693" r:id="rId9"/>
    <p:sldLayoutId id="2147483698" r:id="rId10"/>
    <p:sldLayoutId id="2147483691" r:id="rId11"/>
    <p:sldLayoutId id="2147483689" r:id="rId12"/>
    <p:sldLayoutId id="2147483695" r:id="rId13"/>
    <p:sldLayoutId id="2147483696" r:id="rId14"/>
    <p:sldLayoutId id="2147483697" r:id="rId15"/>
  </p:sldLayoutIdLst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hf hdr="0" ftr="0" dt="0"/>
  <p:txStyles>
    <p:titleStyle>
      <a:lvl1pPr algn="l" defTabSz="912114" rtl="0" eaLnBrk="1" latinLnBrk="1" hangingPunct="1">
        <a:lnSpc>
          <a:spcPct val="90000"/>
        </a:lnSpc>
        <a:spcBef>
          <a:spcPct val="0"/>
        </a:spcBef>
        <a:buNone/>
        <a:defRPr sz="4389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029" indent="-228029" algn="l" defTabSz="912114" rtl="0" eaLnBrk="1" latinLnBrk="1" hangingPunct="1">
        <a:lnSpc>
          <a:spcPct val="90000"/>
        </a:lnSpc>
        <a:spcBef>
          <a:spcPts val="998"/>
        </a:spcBef>
        <a:buFont typeface="Arial" panose="020B0604020202020204" pitchFamily="34" charset="0"/>
        <a:buChar char="•"/>
        <a:defRPr sz="2793" kern="1200">
          <a:solidFill>
            <a:schemeClr val="tx1"/>
          </a:solidFill>
          <a:latin typeface="+mn-lt"/>
          <a:ea typeface="+mn-ea"/>
          <a:cs typeface="+mn-cs"/>
        </a:defRPr>
      </a:lvl1pPr>
      <a:lvl2pPr marL="684086" indent="-228029" algn="l" defTabSz="912114" rtl="0" eaLnBrk="1" latinLnBrk="1" hangingPunct="1">
        <a:lnSpc>
          <a:spcPct val="90000"/>
        </a:lnSpc>
        <a:spcBef>
          <a:spcPts val="499"/>
        </a:spcBef>
        <a:buFont typeface="Arial" panose="020B0604020202020204" pitchFamily="34" charset="0"/>
        <a:buChar char="•"/>
        <a:defRPr sz="2394" kern="1200">
          <a:solidFill>
            <a:schemeClr val="tx1"/>
          </a:solidFill>
          <a:latin typeface="+mn-lt"/>
          <a:ea typeface="+mn-ea"/>
          <a:cs typeface="+mn-cs"/>
        </a:defRPr>
      </a:lvl2pPr>
      <a:lvl3pPr marL="1140143" indent="-228029" algn="l" defTabSz="912114" rtl="0" eaLnBrk="1" latinLnBrk="1" hangingPunct="1">
        <a:lnSpc>
          <a:spcPct val="90000"/>
        </a:lnSpc>
        <a:spcBef>
          <a:spcPts val="499"/>
        </a:spcBef>
        <a:buFont typeface="Arial" panose="020B0604020202020204" pitchFamily="34" charset="0"/>
        <a:buChar char="•"/>
        <a:defRPr sz="1995" kern="1200">
          <a:solidFill>
            <a:schemeClr val="tx1"/>
          </a:solidFill>
          <a:latin typeface="+mn-lt"/>
          <a:ea typeface="+mn-ea"/>
          <a:cs typeface="+mn-cs"/>
        </a:defRPr>
      </a:lvl3pPr>
      <a:lvl4pPr marL="1596200" indent="-228029" algn="l" defTabSz="912114" rtl="0" eaLnBrk="1" latinLnBrk="1" hangingPunct="1">
        <a:lnSpc>
          <a:spcPct val="90000"/>
        </a:lnSpc>
        <a:spcBef>
          <a:spcPts val="499"/>
        </a:spcBef>
        <a:buFont typeface="Arial" panose="020B0604020202020204" pitchFamily="34" charset="0"/>
        <a:buChar char="•"/>
        <a:defRPr sz="1795" kern="1200">
          <a:solidFill>
            <a:schemeClr val="tx1"/>
          </a:solidFill>
          <a:latin typeface="+mn-lt"/>
          <a:ea typeface="+mn-ea"/>
          <a:cs typeface="+mn-cs"/>
        </a:defRPr>
      </a:lvl4pPr>
      <a:lvl5pPr marL="2052257" indent="-228029" algn="l" defTabSz="912114" rtl="0" eaLnBrk="1" latinLnBrk="1" hangingPunct="1">
        <a:lnSpc>
          <a:spcPct val="90000"/>
        </a:lnSpc>
        <a:spcBef>
          <a:spcPts val="499"/>
        </a:spcBef>
        <a:buFont typeface="Arial" panose="020B0604020202020204" pitchFamily="34" charset="0"/>
        <a:buChar char="•"/>
        <a:defRPr sz="1795" kern="1200">
          <a:solidFill>
            <a:schemeClr val="tx1"/>
          </a:solidFill>
          <a:latin typeface="+mn-lt"/>
          <a:ea typeface="+mn-ea"/>
          <a:cs typeface="+mn-cs"/>
        </a:defRPr>
      </a:lvl5pPr>
      <a:lvl6pPr marL="2508314" indent="-228029" algn="l" defTabSz="912114" rtl="0" eaLnBrk="1" latinLnBrk="1" hangingPunct="1">
        <a:lnSpc>
          <a:spcPct val="90000"/>
        </a:lnSpc>
        <a:spcBef>
          <a:spcPts val="499"/>
        </a:spcBef>
        <a:buFont typeface="Arial" panose="020B0604020202020204" pitchFamily="34" charset="0"/>
        <a:buChar char="•"/>
        <a:defRPr sz="1795" kern="1200">
          <a:solidFill>
            <a:schemeClr val="tx1"/>
          </a:solidFill>
          <a:latin typeface="+mn-lt"/>
          <a:ea typeface="+mn-ea"/>
          <a:cs typeface="+mn-cs"/>
        </a:defRPr>
      </a:lvl6pPr>
      <a:lvl7pPr marL="2964371" indent="-228029" algn="l" defTabSz="912114" rtl="0" eaLnBrk="1" latinLnBrk="1" hangingPunct="1">
        <a:lnSpc>
          <a:spcPct val="90000"/>
        </a:lnSpc>
        <a:spcBef>
          <a:spcPts val="499"/>
        </a:spcBef>
        <a:buFont typeface="Arial" panose="020B0604020202020204" pitchFamily="34" charset="0"/>
        <a:buChar char="•"/>
        <a:defRPr sz="1795" kern="1200">
          <a:solidFill>
            <a:schemeClr val="tx1"/>
          </a:solidFill>
          <a:latin typeface="+mn-lt"/>
          <a:ea typeface="+mn-ea"/>
          <a:cs typeface="+mn-cs"/>
        </a:defRPr>
      </a:lvl7pPr>
      <a:lvl8pPr marL="3420428" indent="-228029" algn="l" defTabSz="912114" rtl="0" eaLnBrk="1" latinLnBrk="1" hangingPunct="1">
        <a:lnSpc>
          <a:spcPct val="90000"/>
        </a:lnSpc>
        <a:spcBef>
          <a:spcPts val="499"/>
        </a:spcBef>
        <a:buFont typeface="Arial" panose="020B0604020202020204" pitchFamily="34" charset="0"/>
        <a:buChar char="•"/>
        <a:defRPr sz="1795" kern="1200">
          <a:solidFill>
            <a:schemeClr val="tx1"/>
          </a:solidFill>
          <a:latin typeface="+mn-lt"/>
          <a:ea typeface="+mn-ea"/>
          <a:cs typeface="+mn-cs"/>
        </a:defRPr>
      </a:lvl8pPr>
      <a:lvl9pPr marL="3876485" indent="-228029" algn="l" defTabSz="912114" rtl="0" eaLnBrk="1" latinLnBrk="1" hangingPunct="1">
        <a:lnSpc>
          <a:spcPct val="90000"/>
        </a:lnSpc>
        <a:spcBef>
          <a:spcPts val="499"/>
        </a:spcBef>
        <a:buFont typeface="Arial" panose="020B0604020202020204" pitchFamily="34" charset="0"/>
        <a:buChar char="•"/>
        <a:defRPr sz="179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2114" rtl="0" eaLnBrk="1" latinLnBrk="1" hangingPunct="1">
        <a:defRPr sz="1795" kern="1200">
          <a:solidFill>
            <a:schemeClr val="tx1"/>
          </a:solidFill>
          <a:latin typeface="+mn-lt"/>
          <a:ea typeface="+mn-ea"/>
          <a:cs typeface="+mn-cs"/>
        </a:defRPr>
      </a:lvl1pPr>
      <a:lvl2pPr marL="456057" algn="l" defTabSz="912114" rtl="0" eaLnBrk="1" latinLnBrk="1" hangingPunct="1">
        <a:defRPr sz="1795" kern="1200">
          <a:solidFill>
            <a:schemeClr val="tx1"/>
          </a:solidFill>
          <a:latin typeface="+mn-lt"/>
          <a:ea typeface="+mn-ea"/>
          <a:cs typeface="+mn-cs"/>
        </a:defRPr>
      </a:lvl2pPr>
      <a:lvl3pPr marL="912114" algn="l" defTabSz="912114" rtl="0" eaLnBrk="1" latinLnBrk="1" hangingPunct="1">
        <a:defRPr sz="1795" kern="1200">
          <a:solidFill>
            <a:schemeClr val="tx1"/>
          </a:solidFill>
          <a:latin typeface="+mn-lt"/>
          <a:ea typeface="+mn-ea"/>
          <a:cs typeface="+mn-cs"/>
        </a:defRPr>
      </a:lvl3pPr>
      <a:lvl4pPr marL="1368171" algn="l" defTabSz="912114" rtl="0" eaLnBrk="1" latinLnBrk="1" hangingPunct="1">
        <a:defRPr sz="1795" kern="1200">
          <a:solidFill>
            <a:schemeClr val="tx1"/>
          </a:solidFill>
          <a:latin typeface="+mn-lt"/>
          <a:ea typeface="+mn-ea"/>
          <a:cs typeface="+mn-cs"/>
        </a:defRPr>
      </a:lvl4pPr>
      <a:lvl5pPr marL="1824228" algn="l" defTabSz="912114" rtl="0" eaLnBrk="1" latinLnBrk="1" hangingPunct="1">
        <a:defRPr sz="1795" kern="1200">
          <a:solidFill>
            <a:schemeClr val="tx1"/>
          </a:solidFill>
          <a:latin typeface="+mn-lt"/>
          <a:ea typeface="+mn-ea"/>
          <a:cs typeface="+mn-cs"/>
        </a:defRPr>
      </a:lvl5pPr>
      <a:lvl6pPr marL="2280285" algn="l" defTabSz="912114" rtl="0" eaLnBrk="1" latinLnBrk="1" hangingPunct="1">
        <a:defRPr sz="1795" kern="1200">
          <a:solidFill>
            <a:schemeClr val="tx1"/>
          </a:solidFill>
          <a:latin typeface="+mn-lt"/>
          <a:ea typeface="+mn-ea"/>
          <a:cs typeface="+mn-cs"/>
        </a:defRPr>
      </a:lvl6pPr>
      <a:lvl7pPr marL="2736342" algn="l" defTabSz="912114" rtl="0" eaLnBrk="1" latinLnBrk="1" hangingPunct="1">
        <a:defRPr sz="1795" kern="1200">
          <a:solidFill>
            <a:schemeClr val="tx1"/>
          </a:solidFill>
          <a:latin typeface="+mn-lt"/>
          <a:ea typeface="+mn-ea"/>
          <a:cs typeface="+mn-cs"/>
        </a:defRPr>
      </a:lvl7pPr>
      <a:lvl8pPr marL="3192399" algn="l" defTabSz="912114" rtl="0" eaLnBrk="1" latinLnBrk="1" hangingPunct="1">
        <a:defRPr sz="1795" kern="1200">
          <a:solidFill>
            <a:schemeClr val="tx1"/>
          </a:solidFill>
          <a:latin typeface="+mn-lt"/>
          <a:ea typeface="+mn-ea"/>
          <a:cs typeface="+mn-cs"/>
        </a:defRPr>
      </a:lvl8pPr>
      <a:lvl9pPr marL="3648456" algn="l" defTabSz="912114" rtl="0" eaLnBrk="1" latinLnBrk="1" hangingPunct="1">
        <a:defRPr sz="179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s://www.law.go.kr/&#48277;&#47161;/" TargetMode="Externa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jpeg"/><Relationship Id="rId3" Type="http://schemas.openxmlformats.org/officeDocument/2006/relationships/image" Target="../media/image5.jpeg"/><Relationship Id="rId7" Type="http://schemas.openxmlformats.org/officeDocument/2006/relationships/image" Target="../media/image9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8.jpeg"/><Relationship Id="rId5" Type="http://schemas.openxmlformats.org/officeDocument/2006/relationships/image" Target="../media/image7.jpeg"/><Relationship Id="rId4" Type="http://schemas.openxmlformats.org/officeDocument/2006/relationships/image" Target="../media/image6.jpeg"/><Relationship Id="rId9" Type="http://schemas.openxmlformats.org/officeDocument/2006/relationships/image" Target="../media/image11.jpe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microsoft.com/office/2007/relationships/hdphoto" Target="../media/hdphoto1.wdp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8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8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8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8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8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7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8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4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4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직사각형 10"/>
          <p:cNvSpPr/>
          <p:nvPr/>
        </p:nvSpPr>
        <p:spPr>
          <a:xfrm>
            <a:off x="697844" y="2620700"/>
            <a:ext cx="4943982" cy="5221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2793" b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</a:t>
            </a:r>
            <a:r>
              <a:rPr lang="ko-KR" altLang="en-US" sz="2793" b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프로젝트</a:t>
            </a:r>
            <a:r>
              <a:rPr lang="en-US" altLang="ko-KR" sz="2793" b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 </a:t>
            </a:r>
            <a:r>
              <a:rPr lang="ko-KR" altLang="en-US" sz="2793" b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온오프 재고 효율화</a:t>
            </a:r>
            <a:endParaRPr lang="ko-KR" altLang="en-US" sz="2793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2" name="직사각형 11"/>
          <p:cNvSpPr/>
          <p:nvPr/>
        </p:nvSpPr>
        <p:spPr>
          <a:xfrm>
            <a:off x="697845" y="3728650"/>
            <a:ext cx="723275" cy="46076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2394" b="1" smtClean="0"/>
              <a:t>v0.7</a:t>
            </a:r>
            <a:endParaRPr lang="ko-KR" altLang="en-US" sz="2394" b="1" dirty="0"/>
          </a:p>
        </p:txBody>
      </p:sp>
      <p:sp>
        <p:nvSpPr>
          <p:cNvPr id="5" name="직사각형 4"/>
          <p:cNvSpPr/>
          <p:nvPr/>
        </p:nvSpPr>
        <p:spPr>
          <a:xfrm>
            <a:off x="10490374" y="2835054"/>
            <a:ext cx="1173719" cy="307777"/>
          </a:xfrm>
          <a:prstGeom prst="rect">
            <a:avLst/>
          </a:prstGeom>
        </p:spPr>
        <p:txBody>
          <a:bodyPr wrap="none" anchor="b">
            <a:spAutoFit/>
          </a:bodyPr>
          <a:lstStyle/>
          <a:p>
            <a:pPr algn="r"/>
            <a:r>
              <a:rPr lang="en-US" altLang="ko-KR" sz="140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LFML-138562</a:t>
            </a:r>
            <a:endParaRPr lang="ko-KR" altLang="en-US" sz="1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aphicFrame>
        <p:nvGraphicFramePr>
          <p:cNvPr id="6" name="표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39115734"/>
              </p:ext>
            </p:extLst>
          </p:nvPr>
        </p:nvGraphicFramePr>
        <p:xfrm>
          <a:off x="5904093" y="5472269"/>
          <a:ext cx="5760000" cy="86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4000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4400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1440000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1440000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</a:tblGrid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작성자</a:t>
                      </a:r>
                    </a:p>
                  </a:txBody>
                  <a:tcPr marL="91207" marR="91207" marT="45604" marB="45604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21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최범열 매니저</a:t>
                      </a:r>
                      <a:endParaRPr lang="en-US" altLang="ko-KR" sz="1000" b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91207" marR="91207" marT="45604" marB="45604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작성일</a:t>
                      </a:r>
                    </a:p>
                  </a:txBody>
                  <a:tcPr marL="91207" marR="91207" marT="45604" marB="45604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2026.04.03</a:t>
                      </a:r>
                      <a:endParaRPr lang="ko-KR" altLang="en-US" sz="10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1207" marR="91207" marT="45604" marB="45604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검토자</a:t>
                      </a:r>
                    </a:p>
                  </a:txBody>
                  <a:tcPr marL="91207" marR="91207" marT="45604" marB="45604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김성석 실장</a:t>
                      </a:r>
                      <a:endParaRPr lang="en-US" altLang="ko-KR" sz="1000" b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marR="0" lvl="0" indent="0" algn="ctr" defTabSz="9121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김용희 팀장</a:t>
                      </a:r>
                      <a:endParaRPr lang="en-US" altLang="ko-KR" sz="1000" b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91207" marR="91207" marT="45604" marB="45604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검토일</a:t>
                      </a:r>
                    </a:p>
                  </a:txBody>
                  <a:tcPr marL="91207" marR="91207" marT="45604" marB="45604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1207" marR="91207" marT="45604" marB="45604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767901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C5E486F5-93A1-4316-A9AE-8F2FB1C3263A}"/>
              </a:ext>
            </a:extLst>
          </p:cNvPr>
          <p:cNvSpPr txBox="1"/>
          <p:nvPr/>
        </p:nvSpPr>
        <p:spPr>
          <a:xfrm>
            <a:off x="94" y="102705"/>
            <a:ext cx="1842721" cy="226591"/>
          </a:xfrm>
          <a:prstGeom prst="rect">
            <a:avLst/>
          </a:prstGeom>
          <a:noFill/>
        </p:spPr>
        <p:txBody>
          <a:bodyPr wrap="none" lIns="360000" tIns="36000" rIns="360000" bIns="36000" rtlCol="0" anchor="ctr">
            <a:spAutoFit/>
          </a:bodyPr>
          <a:lstStyle/>
          <a:p>
            <a:r>
              <a:rPr lang="ko-KR" altLang="en-US" sz="1000" b="1">
                <a:solidFill>
                  <a:schemeClr val="bg1"/>
                </a:solidFill>
                <a:latin typeface="맑은 고딕" panose="020B0503020000020004" pitchFamily="50" charset="-127"/>
              </a:rPr>
              <a:t>온오프 재고 </a:t>
            </a:r>
            <a:r>
              <a:rPr lang="ko-KR" altLang="en-US" sz="1000" b="1" smtClean="0">
                <a:solidFill>
                  <a:schemeClr val="bg1"/>
                </a:solidFill>
                <a:latin typeface="맑은 고딕" panose="020B0503020000020004" pitchFamily="50" charset="-127"/>
              </a:rPr>
              <a:t>효율화</a:t>
            </a:r>
            <a:endParaRPr lang="en-US" altLang="ko-KR" sz="1000" b="1">
              <a:solidFill>
                <a:schemeClr val="bg1"/>
              </a:solidFill>
              <a:latin typeface="맑은 고딕" panose="020B0503020000020004" pitchFamily="50" charset="-127"/>
            </a:endParaRPr>
          </a:p>
        </p:txBody>
      </p:sp>
      <p:sp>
        <p:nvSpPr>
          <p:cNvPr id="105" name="모서리가 둥근 직사각형 104"/>
          <p:cNvSpPr/>
          <p:nvPr/>
        </p:nvSpPr>
        <p:spPr>
          <a:xfrm>
            <a:off x="323906" y="755999"/>
            <a:ext cx="2700000" cy="360000"/>
          </a:xfrm>
          <a:prstGeom prst="roundRect">
            <a:avLst/>
          </a:prstGeom>
          <a:solidFill>
            <a:schemeClr val="tx1">
              <a:lumMod val="65000"/>
              <a:lumOff val="35000"/>
            </a:schemeClr>
          </a:solidFill>
          <a:ln w="381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0" tIns="36000" rIns="36000" bIns="36000" rtlCol="0" anchor="ctr"/>
          <a:lstStyle/>
          <a:p>
            <a:r>
              <a:rPr lang="en-US" altLang="ko-KR" sz="900" b="1" smtClean="0">
                <a:solidFill>
                  <a:schemeClr val="bg1"/>
                </a:solidFill>
                <a:latin typeface="맑은 고딕" panose="020B0503020000020004" pitchFamily="50" charset="-127"/>
              </a:rPr>
              <a:t>e-</a:t>
            </a:r>
            <a:r>
              <a:rPr lang="ko-KR" altLang="en-US" sz="900" b="1" smtClean="0">
                <a:solidFill>
                  <a:schemeClr val="bg1"/>
                </a:solidFill>
                <a:latin typeface="맑은 고딕" panose="020B0503020000020004" pitchFamily="50" charset="-127"/>
              </a:rPr>
              <a:t>영업 진행현황 공유 </a:t>
            </a:r>
            <a:r>
              <a:rPr lang="en-US" altLang="ko-KR" sz="900" b="1" smtClean="0">
                <a:solidFill>
                  <a:schemeClr val="bg1"/>
                </a:solidFill>
                <a:latin typeface="맑은 고딕" panose="020B0503020000020004" pitchFamily="50" charset="-127"/>
              </a:rPr>
              <a:t>&amp; </a:t>
            </a:r>
            <a:r>
              <a:rPr lang="ko-KR" altLang="en-US" sz="900" b="1" smtClean="0">
                <a:solidFill>
                  <a:schemeClr val="bg1"/>
                </a:solidFill>
                <a:latin typeface="맑은 고딕" panose="020B0503020000020004" pitchFamily="50" charset="-127"/>
              </a:rPr>
              <a:t>이슈 논의사항</a:t>
            </a:r>
            <a:endParaRPr lang="ko-KR" altLang="en-US" sz="900" b="1">
              <a:solidFill>
                <a:schemeClr val="bg1"/>
              </a:solidFill>
              <a:latin typeface="맑은 고딕" panose="020B0503020000020004" pitchFamily="50" charset="-127"/>
            </a:endParaRPr>
          </a:p>
        </p:txBody>
      </p:sp>
      <p:sp>
        <p:nvSpPr>
          <p:cNvPr id="43" name="모서리가 둥근 직사각형 42"/>
          <p:cNvSpPr/>
          <p:nvPr/>
        </p:nvSpPr>
        <p:spPr>
          <a:xfrm>
            <a:off x="324542" y="1480927"/>
            <a:ext cx="11520000" cy="360705"/>
          </a:xfrm>
          <a:prstGeom prst="roundRect">
            <a:avLst>
              <a:gd name="adj" fmla="val 50000"/>
            </a:avLst>
          </a:prstGeom>
          <a:solidFill>
            <a:schemeClr val="accent5">
              <a:lumMod val="20000"/>
              <a:lumOff val="8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1057" tIns="0" rIns="1082114" bIns="0" rtlCol="0" anchor="ctr"/>
          <a:lstStyle/>
          <a:p>
            <a:r>
              <a:rPr lang="ko-KR" altLang="en-US" sz="1002" b="1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매장 </a:t>
            </a:r>
            <a:r>
              <a:rPr lang="en-US" altLang="ko-KR" sz="1002" b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&lt;</a:t>
            </a:r>
            <a:r>
              <a:rPr lang="ko-KR" altLang="en-US" sz="1002" b="1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물량 이동 지시</a:t>
            </a:r>
            <a:r>
              <a:rPr lang="en-US" altLang="ko-KR" sz="1002" b="1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2</a:t>
            </a:r>
            <a:r>
              <a:rPr lang="ko-KR" altLang="en-US" sz="1002" b="1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회 진행</a:t>
            </a:r>
            <a:endParaRPr lang="ko-KR" altLang="en-US" sz="1002" b="1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4" name="타원 43"/>
          <p:cNvSpPr/>
          <p:nvPr/>
        </p:nvSpPr>
        <p:spPr>
          <a:xfrm>
            <a:off x="324541" y="1480927"/>
            <a:ext cx="360705" cy="360705"/>
          </a:xfrm>
          <a:prstGeom prst="ellipse">
            <a:avLst/>
          </a:prstGeom>
          <a:solidFill>
            <a:schemeClr val="accent5">
              <a:lumMod val="5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2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endParaRPr lang="ko-KR" altLang="en-US" sz="1002" b="1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5" name="직사각형 44"/>
          <p:cNvSpPr/>
          <p:nvPr/>
        </p:nvSpPr>
        <p:spPr>
          <a:xfrm>
            <a:off x="324542" y="1841630"/>
            <a:ext cx="11520000" cy="504000"/>
          </a:xfrm>
          <a:prstGeom prst="rect">
            <a:avLst/>
          </a:pr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1057" tIns="0" rIns="1082114" bIns="0" rtlCol="0" anchor="ctr"/>
          <a:lstStyle/>
          <a:p>
            <a:pPr marL="171826" indent="-171826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902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전자상거래법 </a:t>
            </a:r>
            <a:r>
              <a:rPr lang="en-US" altLang="ko-KR" sz="902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[</a:t>
            </a:r>
            <a:r>
              <a:rPr lang="ko-KR" altLang="en-US" sz="902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제</a:t>
            </a:r>
            <a:r>
              <a:rPr lang="en-US" altLang="ko-KR" sz="902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15</a:t>
            </a:r>
            <a:r>
              <a:rPr lang="ko-KR" altLang="en-US" sz="902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조</a:t>
            </a:r>
            <a:r>
              <a:rPr lang="en-US" altLang="ko-KR" sz="902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(</a:t>
            </a:r>
            <a:r>
              <a:rPr lang="ko-KR" altLang="en-US" sz="902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재화등의 공급 등</a:t>
            </a:r>
            <a:r>
              <a:rPr lang="en-US" altLang="ko-KR" sz="902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) 2</a:t>
            </a:r>
            <a:r>
              <a:rPr lang="ko-KR" altLang="en-US" sz="902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항</a:t>
            </a:r>
            <a:r>
              <a:rPr lang="en-US" altLang="ko-KR" sz="902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] </a:t>
            </a:r>
            <a:r>
              <a:rPr lang="ko-KR" altLang="en-US" sz="902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내용 </a:t>
            </a:r>
            <a:r>
              <a:rPr lang="en-US" altLang="ko-KR" sz="902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'</a:t>
            </a:r>
            <a:r>
              <a:rPr lang="ko-KR" altLang="en-US" sz="902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소비자가 그 대금의 전부 또는 일부를 지급한 날부터 </a:t>
            </a:r>
            <a:r>
              <a:rPr lang="en-US" altLang="ko-KR" sz="902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3</a:t>
            </a:r>
            <a:r>
              <a:rPr lang="ko-KR" altLang="en-US" sz="902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영업일 이내에 </a:t>
            </a:r>
            <a:r>
              <a:rPr lang="ko-KR" altLang="en-US" sz="902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환급</a:t>
            </a:r>
            <a:r>
              <a:rPr lang="en-US" altLang="ko-KR" sz="902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‘</a:t>
            </a:r>
          </a:p>
          <a:p>
            <a:pPr marL="171826" indent="-171826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902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3</a:t>
            </a:r>
            <a:r>
              <a:rPr lang="ko-KR" altLang="en-US" sz="902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영업일 이내에 환급을 위한 리드타임 </a:t>
            </a:r>
            <a:r>
              <a:rPr lang="en-US" altLang="ko-KR" sz="902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r>
              <a:rPr lang="ko-KR" altLang="en-US" sz="902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영업일 </a:t>
            </a:r>
            <a:r>
              <a:rPr lang="en-US" altLang="ko-KR" sz="902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+ 1</a:t>
            </a:r>
            <a:r>
              <a:rPr lang="ko-KR" altLang="en-US" sz="902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영업일</a:t>
            </a:r>
            <a:endParaRPr lang="ko-KR" altLang="en-US" sz="902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6" name="모서리가 둥근 직사각형 45"/>
          <p:cNvSpPr/>
          <p:nvPr/>
        </p:nvSpPr>
        <p:spPr>
          <a:xfrm>
            <a:off x="324542" y="2489630"/>
            <a:ext cx="11520000" cy="360705"/>
          </a:xfrm>
          <a:prstGeom prst="roundRect">
            <a:avLst>
              <a:gd name="adj" fmla="val 50000"/>
            </a:avLst>
          </a:prstGeom>
          <a:solidFill>
            <a:schemeClr val="accent5">
              <a:lumMod val="20000"/>
              <a:lumOff val="8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1057" tIns="0" rIns="1082114" bIns="0" rtlCol="0" anchor="ctr"/>
          <a:lstStyle/>
          <a:p>
            <a:r>
              <a:rPr lang="ko-KR" altLang="en-US" sz="1002" b="1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법무검토 결과 공유</a:t>
            </a:r>
            <a:endParaRPr lang="ko-KR" altLang="en-US" sz="1002" b="1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47" name="타원 46"/>
          <p:cNvSpPr/>
          <p:nvPr/>
        </p:nvSpPr>
        <p:spPr>
          <a:xfrm>
            <a:off x="324541" y="2489630"/>
            <a:ext cx="360705" cy="360705"/>
          </a:xfrm>
          <a:prstGeom prst="ellipse">
            <a:avLst/>
          </a:prstGeom>
          <a:solidFill>
            <a:schemeClr val="accent5">
              <a:lumMod val="5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2" b="1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endParaRPr lang="ko-KR" altLang="en-US" sz="1002" b="1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8" name="직사각형 47"/>
          <p:cNvSpPr/>
          <p:nvPr/>
        </p:nvSpPr>
        <p:spPr>
          <a:xfrm>
            <a:off x="324542" y="2850333"/>
            <a:ext cx="11520000" cy="504000"/>
          </a:xfrm>
          <a:prstGeom prst="rect">
            <a:avLst/>
          </a:pr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1057" tIns="0" rIns="1082114" bIns="0" rtlCol="0" anchor="ctr"/>
          <a:lstStyle/>
          <a:p>
            <a:pPr marL="171826" indent="-171826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902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제</a:t>
            </a:r>
            <a:r>
              <a:rPr lang="en-US" altLang="ko-KR" sz="902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15</a:t>
            </a:r>
            <a:r>
              <a:rPr lang="ko-KR" altLang="en-US" sz="902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조 제</a:t>
            </a:r>
            <a:r>
              <a:rPr lang="en-US" altLang="ko-KR" sz="902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1</a:t>
            </a:r>
            <a:r>
              <a:rPr lang="ko-KR" altLang="en-US" sz="902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항의 예외 규정을 제</a:t>
            </a:r>
            <a:r>
              <a:rPr lang="en-US" altLang="ko-KR" sz="902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2</a:t>
            </a:r>
            <a:r>
              <a:rPr lang="ko-KR" altLang="en-US" sz="902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항</a:t>
            </a:r>
            <a:r>
              <a:rPr lang="en-US" altLang="ko-KR" sz="902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(</a:t>
            </a:r>
            <a:r>
              <a:rPr lang="ko-KR" altLang="en-US" sz="902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환급</a:t>
            </a:r>
            <a:r>
              <a:rPr lang="en-US" altLang="ko-KR" sz="902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)</a:t>
            </a:r>
            <a:r>
              <a:rPr lang="ko-KR" altLang="en-US" sz="902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에까지 유추 적용하기는 어려워</a:t>
            </a:r>
            <a:r>
              <a:rPr lang="en-US" altLang="ko-KR" sz="902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,  3</a:t>
            </a:r>
            <a:r>
              <a:rPr lang="ko-KR" altLang="en-US" sz="902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영업일을 넘긴 환불은 법 위반</a:t>
            </a:r>
            <a:r>
              <a:rPr lang="en-US" altLang="ko-KR" sz="902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(</a:t>
            </a:r>
            <a:r>
              <a:rPr lang="ko-KR" altLang="en-US" sz="902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이행 지연</a:t>
            </a:r>
            <a:r>
              <a:rPr lang="en-US" altLang="ko-KR" sz="902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)</a:t>
            </a:r>
            <a:r>
              <a:rPr lang="ko-KR" altLang="en-US" sz="902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의 소지가 있으므로</a:t>
            </a:r>
            <a:r>
              <a:rPr lang="en-US" altLang="ko-KR" sz="902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, </a:t>
            </a:r>
          </a:p>
          <a:p>
            <a:pPr marL="171826" indent="-171826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902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시스템적으로 </a:t>
            </a:r>
            <a:r>
              <a:rPr lang="ko-KR" altLang="en-US" sz="902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재고 확정 가능 시간을 최대한 앞당겨</a:t>
            </a:r>
            <a:r>
              <a:rPr lang="en-US" altLang="ko-KR" sz="902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, </a:t>
            </a:r>
            <a:r>
              <a:rPr lang="ko-KR" altLang="en-US" sz="902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품절 여부에 대한 통지를 법정 기한 내에 하는 것이 본질적인 해결책이 될 것으로 보입니다</a:t>
            </a:r>
            <a:r>
              <a:rPr lang="en-US" altLang="ko-KR" sz="902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.</a:t>
            </a:r>
            <a:endParaRPr lang="ko-KR" altLang="en-US" sz="902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</a:endParaRPr>
          </a:p>
        </p:txBody>
      </p:sp>
      <p:grpSp>
        <p:nvGrpSpPr>
          <p:cNvPr id="4" name="그룹 3"/>
          <p:cNvGrpSpPr/>
          <p:nvPr/>
        </p:nvGrpSpPr>
        <p:grpSpPr>
          <a:xfrm>
            <a:off x="324541" y="3498333"/>
            <a:ext cx="11520001" cy="864703"/>
            <a:chOff x="324541" y="4720810"/>
            <a:chExt cx="11520001" cy="864703"/>
          </a:xfrm>
        </p:grpSpPr>
        <p:sp>
          <p:nvSpPr>
            <p:cNvPr id="51" name="모서리가 둥근 직사각형 50"/>
            <p:cNvSpPr/>
            <p:nvPr/>
          </p:nvSpPr>
          <p:spPr>
            <a:xfrm>
              <a:off x="324542" y="4720810"/>
              <a:ext cx="11520000" cy="360705"/>
            </a:xfrm>
            <a:prstGeom prst="roundRect">
              <a:avLst>
                <a:gd name="adj" fmla="val 50000"/>
              </a:avLst>
            </a:prstGeom>
            <a:solidFill>
              <a:schemeClr val="accent5">
                <a:lumMod val="20000"/>
                <a:lumOff val="80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541057" tIns="0" rIns="1082114" bIns="0" rtlCol="0" anchor="ctr"/>
            <a:lstStyle/>
            <a:p>
              <a:r>
                <a:rPr lang="ko-KR" altLang="en-US" sz="1002" b="1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주문 후 </a:t>
              </a:r>
              <a:r>
                <a:rPr lang="en-US" altLang="ko-KR" sz="1002" b="1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[</a:t>
              </a:r>
              <a:r>
                <a:rPr lang="ko-KR" altLang="en-US" sz="1002" b="1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옵션변경</a:t>
              </a:r>
              <a:r>
                <a:rPr lang="en-US" altLang="ko-KR" sz="1002" b="1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] </a:t>
              </a:r>
              <a:r>
                <a:rPr lang="ko-KR" altLang="en-US" sz="1002" b="1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불가 처리 공유</a:t>
              </a:r>
              <a:endParaRPr lang="ko-KR" altLang="en-US" sz="1002" b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52" name="타원 51"/>
            <p:cNvSpPr/>
            <p:nvPr/>
          </p:nvSpPr>
          <p:spPr>
            <a:xfrm>
              <a:off x="324541" y="4720810"/>
              <a:ext cx="360705" cy="360705"/>
            </a:xfrm>
            <a:prstGeom prst="ellipse">
              <a:avLst/>
            </a:prstGeom>
            <a:solidFill>
              <a:schemeClr val="accent5">
                <a:lumMod val="50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2" b="1" smtClean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3</a:t>
              </a:r>
              <a:endParaRPr lang="ko-KR" altLang="en-US" sz="1002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53" name="직사각형 52"/>
            <p:cNvSpPr/>
            <p:nvPr/>
          </p:nvSpPr>
          <p:spPr>
            <a:xfrm>
              <a:off x="324542" y="5081513"/>
              <a:ext cx="11520000" cy="504000"/>
            </a:xfrm>
            <a:prstGeom prst="rect">
              <a:avLst/>
            </a:prstGeom>
            <a:solidFill>
              <a:schemeClr val="bg1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541057" tIns="0" rIns="1082114" bIns="0" rtlCol="0" anchor="ctr"/>
            <a:lstStyle/>
            <a:p>
              <a:pPr marL="171826" indent="-171826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ko-KR" altLang="en-US" sz="902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매장상품주문은 즉시 </a:t>
              </a:r>
              <a:r>
                <a:rPr lang="en-US" altLang="ko-KR" sz="902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‘</a:t>
              </a:r>
              <a:r>
                <a:rPr lang="ko-KR" altLang="en-US" sz="902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물량이동지시</a:t>
              </a:r>
              <a:r>
                <a:rPr lang="en-US" altLang="ko-KR" sz="902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’ </a:t>
              </a:r>
              <a:r>
                <a:rPr lang="ko-KR" altLang="en-US" sz="902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가 진행되므로</a:t>
              </a:r>
              <a:r>
                <a:rPr lang="en-US" altLang="ko-KR" sz="902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, </a:t>
              </a:r>
              <a:r>
                <a:rPr lang="ko-KR" altLang="en-US" sz="902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기존 정책대로 송장발급 전까지 옵션 변경을 가능하게 하면</a:t>
              </a:r>
              <a:r>
                <a:rPr lang="en-US" altLang="ko-KR" sz="902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,</a:t>
              </a:r>
            </a:p>
            <a:p>
              <a:pPr marL="171826" indent="-171826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ko-KR" altLang="en-US" sz="902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물량이동지시를 철회하고</a:t>
              </a:r>
              <a:r>
                <a:rPr lang="en-US" altLang="ko-KR" sz="902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, </a:t>
              </a:r>
              <a:r>
                <a:rPr lang="ko-KR" altLang="en-US" sz="902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다른 매장으로 새로운 물량이동지시를 내려야하는데</a:t>
              </a:r>
              <a:r>
                <a:rPr lang="en-US" altLang="ko-KR" sz="902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, RT </a:t>
              </a:r>
              <a:r>
                <a:rPr lang="ko-KR" altLang="en-US" sz="902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의 혼선이 발생할 수 있으며</a:t>
              </a:r>
              <a:r>
                <a:rPr lang="en-US" altLang="ko-KR" sz="902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, </a:t>
              </a:r>
              <a:r>
                <a:rPr lang="ko-KR" altLang="en-US" sz="902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자동 결품 처리에도 예외가 발생</a:t>
              </a:r>
              <a:endParaRPr lang="ko-KR" altLang="en-US" sz="902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endParaRPr>
            </a:p>
          </p:txBody>
        </p:sp>
      </p:grpSp>
      <p:grpSp>
        <p:nvGrpSpPr>
          <p:cNvPr id="56" name="그룹 55"/>
          <p:cNvGrpSpPr/>
          <p:nvPr/>
        </p:nvGrpSpPr>
        <p:grpSpPr>
          <a:xfrm>
            <a:off x="324541" y="4507036"/>
            <a:ext cx="11520001" cy="720703"/>
            <a:chOff x="324541" y="4720810"/>
            <a:chExt cx="11520001" cy="720703"/>
          </a:xfrm>
        </p:grpSpPr>
        <p:sp>
          <p:nvSpPr>
            <p:cNvPr id="57" name="모서리가 둥근 직사각형 56"/>
            <p:cNvSpPr/>
            <p:nvPr/>
          </p:nvSpPr>
          <p:spPr>
            <a:xfrm>
              <a:off x="324542" y="4720810"/>
              <a:ext cx="11520000" cy="360705"/>
            </a:xfrm>
            <a:prstGeom prst="roundRect">
              <a:avLst>
                <a:gd name="adj" fmla="val 50000"/>
              </a:avLst>
            </a:prstGeom>
            <a:solidFill>
              <a:schemeClr val="accent5">
                <a:lumMod val="20000"/>
                <a:lumOff val="80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541057" tIns="0" rIns="1082114" bIns="0" rtlCol="0" anchor="ctr"/>
            <a:lstStyle/>
            <a:p>
              <a:r>
                <a:rPr lang="ko-KR" altLang="en-US" sz="1002" b="1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디자인 산출물 공유</a:t>
              </a:r>
              <a:endParaRPr lang="ko-KR" altLang="en-US" sz="1002" b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58" name="타원 57"/>
            <p:cNvSpPr/>
            <p:nvPr/>
          </p:nvSpPr>
          <p:spPr>
            <a:xfrm>
              <a:off x="324541" y="4720810"/>
              <a:ext cx="360705" cy="360705"/>
            </a:xfrm>
            <a:prstGeom prst="ellipse">
              <a:avLst/>
            </a:prstGeom>
            <a:solidFill>
              <a:schemeClr val="accent5">
                <a:lumMod val="50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2" b="1" smtClean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4</a:t>
              </a:r>
              <a:endParaRPr lang="ko-KR" altLang="en-US" sz="1002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59" name="직사각형 58"/>
            <p:cNvSpPr/>
            <p:nvPr/>
          </p:nvSpPr>
          <p:spPr>
            <a:xfrm>
              <a:off x="324542" y="5081513"/>
              <a:ext cx="11520000" cy="360000"/>
            </a:xfrm>
            <a:prstGeom prst="rect">
              <a:avLst/>
            </a:prstGeom>
            <a:solidFill>
              <a:schemeClr val="bg1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541057" tIns="0" rIns="1082114" bIns="0" rtlCol="0" anchor="ctr"/>
            <a:lstStyle/>
            <a:p>
              <a:pPr marL="171826" indent="-171826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ko-KR" altLang="en-US" sz="902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플래그 통일 </a:t>
              </a:r>
              <a:r>
                <a:rPr lang="en-US" altLang="ko-KR" sz="902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(</a:t>
              </a:r>
              <a:r>
                <a:rPr lang="ko-KR" altLang="en-US" sz="902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매장상품</a:t>
              </a:r>
              <a:r>
                <a:rPr lang="en-US" altLang="ko-KR" sz="902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, </a:t>
              </a:r>
              <a:r>
                <a:rPr lang="ko-KR" altLang="en-US" sz="902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매장상품 배송</a:t>
              </a:r>
              <a:r>
                <a:rPr lang="en-US" altLang="ko-KR" sz="902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) </a:t>
              </a:r>
              <a:r>
                <a:rPr lang="ko-KR" altLang="en-US" sz="902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의견</a:t>
              </a:r>
              <a:endParaRPr lang="ko-KR" altLang="en-US" sz="902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endParaRPr>
            </a:p>
          </p:txBody>
        </p:sp>
      </p:grpSp>
      <p:grpSp>
        <p:nvGrpSpPr>
          <p:cNvPr id="68" name="그룹 67"/>
          <p:cNvGrpSpPr/>
          <p:nvPr/>
        </p:nvGrpSpPr>
        <p:grpSpPr>
          <a:xfrm>
            <a:off x="324541" y="5369806"/>
            <a:ext cx="11520001" cy="864703"/>
            <a:chOff x="324541" y="4720810"/>
            <a:chExt cx="11520001" cy="864703"/>
          </a:xfrm>
        </p:grpSpPr>
        <p:sp>
          <p:nvSpPr>
            <p:cNvPr id="69" name="모서리가 둥근 직사각형 68"/>
            <p:cNvSpPr/>
            <p:nvPr/>
          </p:nvSpPr>
          <p:spPr>
            <a:xfrm>
              <a:off x="324542" y="4720810"/>
              <a:ext cx="11520000" cy="360705"/>
            </a:xfrm>
            <a:prstGeom prst="roundRect">
              <a:avLst>
                <a:gd name="adj" fmla="val 50000"/>
              </a:avLst>
            </a:prstGeom>
            <a:solidFill>
              <a:schemeClr val="accent5">
                <a:lumMod val="20000"/>
                <a:lumOff val="80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541057" tIns="0" rIns="1082114" bIns="0" rtlCol="0" anchor="ctr"/>
            <a:lstStyle/>
            <a:p>
              <a:r>
                <a:rPr lang="ko-KR" altLang="en-US" sz="1002" b="1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서비스 오픈 시점 </a:t>
              </a:r>
              <a:r>
                <a:rPr lang="en-US" altLang="ko-KR" sz="1002" b="1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‘</a:t>
              </a:r>
              <a:r>
                <a:rPr lang="ko-KR" altLang="en-US" sz="1002" b="1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대상 브랜드</a:t>
              </a:r>
              <a:r>
                <a:rPr lang="en-US" altLang="ko-KR" sz="1002" b="1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’ / ‘</a:t>
              </a:r>
              <a:r>
                <a:rPr lang="ko-KR" altLang="en-US" sz="1002" b="1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대상 상품</a:t>
              </a:r>
              <a:r>
                <a:rPr lang="en-US" altLang="ko-KR" sz="1002" b="1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’</a:t>
              </a:r>
              <a:endParaRPr lang="ko-KR" altLang="en-US" sz="1002" b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70" name="타원 69"/>
            <p:cNvSpPr/>
            <p:nvPr/>
          </p:nvSpPr>
          <p:spPr>
            <a:xfrm>
              <a:off x="324541" y="4720810"/>
              <a:ext cx="360705" cy="360705"/>
            </a:xfrm>
            <a:prstGeom prst="ellipse">
              <a:avLst/>
            </a:prstGeom>
            <a:solidFill>
              <a:schemeClr val="accent5">
                <a:lumMod val="50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2" b="1" smtClean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5</a:t>
              </a:r>
              <a:endParaRPr lang="ko-KR" altLang="en-US" sz="1002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71" name="직사각형 70"/>
            <p:cNvSpPr/>
            <p:nvPr/>
          </p:nvSpPr>
          <p:spPr>
            <a:xfrm>
              <a:off x="324542" y="5081513"/>
              <a:ext cx="11520000" cy="504000"/>
            </a:xfrm>
            <a:prstGeom prst="rect">
              <a:avLst/>
            </a:prstGeom>
            <a:solidFill>
              <a:schemeClr val="bg1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541057" tIns="0" rIns="1082114" bIns="0" rtlCol="0" anchor="ctr"/>
            <a:lstStyle/>
            <a:p>
              <a:pPr marL="171826" indent="-171826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altLang="ko-KR" sz="902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ICT </a:t>
              </a:r>
              <a:r>
                <a:rPr lang="ko-KR" altLang="en-US" sz="902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요청사항 </a:t>
              </a:r>
              <a:r>
                <a:rPr lang="en-US" altLang="ko-KR" sz="902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(</a:t>
              </a:r>
              <a:r>
                <a:rPr lang="ko-KR" altLang="en-US" sz="902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데이터 모수 줄이기 위함</a:t>
              </a:r>
              <a:r>
                <a:rPr lang="en-US" altLang="ko-KR" sz="902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)</a:t>
              </a:r>
            </a:p>
            <a:p>
              <a:pPr marL="171826" indent="-171826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ko-KR" altLang="en-US" sz="902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추후 운영 단계에서는 </a:t>
              </a:r>
              <a:r>
                <a:rPr lang="en-US" altLang="ko-KR" sz="902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DP </a:t>
              </a:r>
              <a:r>
                <a:rPr lang="ko-KR" altLang="en-US" sz="902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에서 </a:t>
              </a:r>
              <a:r>
                <a:rPr lang="en-US" altLang="ko-KR" sz="902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[</a:t>
              </a:r>
              <a:r>
                <a:rPr lang="ko-KR" altLang="en-US" sz="902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대상 브랜드</a:t>
              </a:r>
              <a:r>
                <a:rPr lang="en-US" altLang="ko-KR" sz="902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] </a:t>
              </a:r>
              <a:r>
                <a:rPr lang="ko-KR" altLang="en-US" sz="902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설정 </a:t>
              </a:r>
              <a:r>
                <a:rPr lang="en-US" altLang="ko-KR" sz="902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/ NBOS </a:t>
              </a:r>
              <a:r>
                <a:rPr lang="ko-KR" altLang="en-US" sz="902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에서 </a:t>
              </a:r>
              <a:r>
                <a:rPr lang="en-US" altLang="ko-KR" sz="902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[</a:t>
              </a:r>
              <a:r>
                <a:rPr lang="ko-KR" altLang="en-US" sz="902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대상 상품</a:t>
              </a:r>
              <a:r>
                <a:rPr lang="en-US" altLang="ko-KR" sz="902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] </a:t>
              </a:r>
              <a:r>
                <a:rPr lang="ko-KR" altLang="en-US" sz="902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설정</a:t>
              </a:r>
              <a:endParaRPr lang="ko-KR" altLang="en-US" sz="902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0105607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8075679" y="6542220"/>
            <a:ext cx="3939146" cy="180425"/>
          </a:xfrm>
          <a:prstGeom prst="rect">
            <a:avLst/>
          </a:prstGeom>
          <a:noFill/>
        </p:spPr>
        <p:txBody>
          <a:bodyPr wrap="none" lIns="36000" tIns="36000" rIns="36000" bIns="36000" rtlCol="0" anchor="ctr">
            <a:spAutoFit/>
          </a:bodyPr>
          <a:lstStyle/>
          <a:p>
            <a:pPr algn="r"/>
            <a:r>
              <a:rPr lang="en-US" altLang="ko-KR" sz="7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※ </a:t>
            </a:r>
            <a:r>
              <a:rPr lang="ko-KR" altLang="en-US" sz="7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전자상거래 법령 </a:t>
            </a:r>
            <a:r>
              <a:rPr lang="en-US" altLang="ko-KR" sz="7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URL : </a:t>
            </a:r>
            <a:r>
              <a:rPr lang="en-US" altLang="ko-KR" sz="7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hlinkClick r:id="rId2"/>
              </a:rPr>
              <a:t>https</a:t>
            </a:r>
            <a:r>
              <a:rPr lang="en-US" altLang="ko-KR" sz="7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hlinkClick r:id="rId2"/>
              </a:rPr>
              <a:t>://www.law.go.kr/</a:t>
            </a:r>
            <a:r>
              <a:rPr lang="ko-KR" altLang="en-US" sz="7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hlinkClick r:id="rId2"/>
              </a:rPr>
              <a:t>법령</a:t>
            </a:r>
            <a:r>
              <a:rPr lang="en-US" altLang="ko-KR" sz="7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hlinkClick r:id="rId2"/>
              </a:rPr>
              <a:t>/</a:t>
            </a:r>
            <a:r>
              <a:rPr lang="ko-KR" altLang="en-US" sz="7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전자상거래등에서의소비자보호에관한법률</a:t>
            </a:r>
            <a:endParaRPr lang="ko-KR" altLang="en-US" sz="7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C5E486F5-93A1-4316-A9AE-8F2FB1C3263A}"/>
              </a:ext>
            </a:extLst>
          </p:cNvPr>
          <p:cNvSpPr txBox="1"/>
          <p:nvPr/>
        </p:nvSpPr>
        <p:spPr>
          <a:xfrm>
            <a:off x="94" y="102705"/>
            <a:ext cx="1990198" cy="226591"/>
          </a:xfrm>
          <a:prstGeom prst="rect">
            <a:avLst/>
          </a:prstGeom>
          <a:noFill/>
        </p:spPr>
        <p:txBody>
          <a:bodyPr wrap="none" lIns="360000" tIns="36000" rIns="360000" bIns="36000" rtlCol="0" anchor="ctr">
            <a:spAutoFit/>
          </a:bodyPr>
          <a:lstStyle/>
          <a:p>
            <a:r>
              <a:rPr lang="ko-KR" altLang="en-US" sz="1000" b="1" smtClean="0">
                <a:solidFill>
                  <a:schemeClr val="bg1"/>
                </a:solidFill>
                <a:latin typeface="맑은 고딕" panose="020B0503020000020004" pitchFamily="50" charset="-127"/>
              </a:rPr>
              <a:t>전자상거래 법령 </a:t>
            </a:r>
            <a:r>
              <a:rPr lang="en-US" altLang="ko-KR" sz="1000" b="1" smtClean="0">
                <a:solidFill>
                  <a:schemeClr val="bg1"/>
                </a:solidFill>
                <a:latin typeface="맑은 고딕" panose="020B0503020000020004" pitchFamily="50" charset="-127"/>
              </a:rPr>
              <a:t>15</a:t>
            </a:r>
            <a:r>
              <a:rPr lang="ko-KR" altLang="en-US" sz="1000" b="1" smtClean="0">
                <a:solidFill>
                  <a:schemeClr val="bg1"/>
                </a:solidFill>
                <a:latin typeface="맑은 고딕" panose="020B0503020000020004" pitchFamily="50" charset="-127"/>
              </a:rPr>
              <a:t>조</a:t>
            </a:r>
            <a:endParaRPr lang="en-US" altLang="ko-KR" sz="1000" b="1">
              <a:solidFill>
                <a:schemeClr val="bg1"/>
              </a:solidFill>
              <a:latin typeface="맑은 고딕" panose="020B0503020000020004" pitchFamily="50" charset="-127"/>
            </a:endParaRPr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741"/>
          <a:stretch/>
        </p:blipFill>
        <p:spPr>
          <a:xfrm>
            <a:off x="143906" y="575999"/>
            <a:ext cx="11880000" cy="5830539"/>
          </a:xfrm>
          <a:prstGeom prst="rect">
            <a:avLst/>
          </a:prstGeom>
        </p:spPr>
      </p:pic>
      <p:sp>
        <p:nvSpPr>
          <p:cNvPr id="6" name="직사각형 5"/>
          <p:cNvSpPr/>
          <p:nvPr/>
        </p:nvSpPr>
        <p:spPr>
          <a:xfrm>
            <a:off x="143906" y="575999"/>
            <a:ext cx="11880000" cy="5832024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515660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C5E486F5-93A1-4316-A9AE-8F2FB1C3263A}"/>
              </a:ext>
            </a:extLst>
          </p:cNvPr>
          <p:cNvSpPr txBox="1"/>
          <p:nvPr/>
        </p:nvSpPr>
        <p:spPr>
          <a:xfrm>
            <a:off x="94" y="102705"/>
            <a:ext cx="1842721" cy="226591"/>
          </a:xfrm>
          <a:prstGeom prst="rect">
            <a:avLst/>
          </a:prstGeom>
          <a:noFill/>
        </p:spPr>
        <p:txBody>
          <a:bodyPr wrap="none" lIns="360000" tIns="36000" rIns="360000" bIns="36000" rtlCol="0" anchor="ctr">
            <a:spAutoFit/>
          </a:bodyPr>
          <a:lstStyle/>
          <a:p>
            <a:r>
              <a:rPr lang="ko-KR" altLang="en-US" sz="1000" b="1">
                <a:solidFill>
                  <a:schemeClr val="bg1"/>
                </a:solidFill>
                <a:latin typeface="맑은 고딕" panose="020B0503020000020004" pitchFamily="50" charset="-127"/>
              </a:rPr>
              <a:t>온오프 재고 </a:t>
            </a:r>
            <a:r>
              <a:rPr lang="ko-KR" altLang="en-US" sz="1000" b="1" smtClean="0">
                <a:solidFill>
                  <a:schemeClr val="bg1"/>
                </a:solidFill>
                <a:latin typeface="맑은 고딕" panose="020B0503020000020004" pitchFamily="50" charset="-127"/>
              </a:rPr>
              <a:t>효율화</a:t>
            </a:r>
            <a:endParaRPr lang="en-US" altLang="ko-KR" sz="1000" b="1">
              <a:solidFill>
                <a:schemeClr val="bg1"/>
              </a:solidFill>
              <a:latin typeface="맑은 고딕" panose="020B0503020000020004" pitchFamily="50" charset="-127"/>
            </a:endParaRPr>
          </a:p>
        </p:txBody>
      </p:sp>
      <p:sp>
        <p:nvSpPr>
          <p:cNvPr id="105" name="모서리가 둥근 직사각형 104"/>
          <p:cNvSpPr/>
          <p:nvPr/>
        </p:nvSpPr>
        <p:spPr>
          <a:xfrm>
            <a:off x="323906" y="755999"/>
            <a:ext cx="1512000" cy="360000"/>
          </a:xfrm>
          <a:prstGeom prst="roundRect">
            <a:avLst/>
          </a:prstGeom>
          <a:solidFill>
            <a:schemeClr val="tx1">
              <a:lumMod val="65000"/>
              <a:lumOff val="35000"/>
            </a:schemeClr>
          </a:solidFill>
          <a:ln w="381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0" tIns="36000" rIns="36000" bIns="36000" rtlCol="0" anchor="ctr"/>
          <a:lstStyle/>
          <a:p>
            <a:r>
              <a:rPr lang="ko-KR" altLang="en-US" sz="900" b="1" smtClean="0">
                <a:solidFill>
                  <a:schemeClr val="bg1"/>
                </a:solidFill>
                <a:latin typeface="맑은 고딕" panose="020B0503020000020004" pitchFamily="50" charset="-127"/>
              </a:rPr>
              <a:t>명칭 변경 투표</a:t>
            </a:r>
            <a:endParaRPr lang="ko-KR" altLang="en-US" sz="900" b="1">
              <a:solidFill>
                <a:schemeClr val="bg1"/>
              </a:solidFill>
              <a:latin typeface="맑은 고딕" panose="020B0503020000020004" pitchFamily="50" charset="-127"/>
            </a:endParaRPr>
          </a:p>
        </p:txBody>
      </p:sp>
      <p:sp>
        <p:nvSpPr>
          <p:cNvPr id="118" name="TextBox 117"/>
          <p:cNvSpPr txBox="1"/>
          <p:nvPr/>
        </p:nvSpPr>
        <p:spPr>
          <a:xfrm>
            <a:off x="6504783" y="1334398"/>
            <a:ext cx="1677310" cy="211203"/>
          </a:xfrm>
          <a:prstGeom prst="rect">
            <a:avLst/>
          </a:prstGeom>
          <a:noFill/>
        </p:spPr>
        <p:txBody>
          <a:bodyPr wrap="none" lIns="36000" tIns="36000" rIns="36000" bIns="36000" rtlCol="0" anchor="ctr">
            <a:spAutoFit/>
          </a:bodyPr>
          <a:lstStyle/>
          <a:p>
            <a:pPr algn="ctr"/>
            <a:r>
              <a:rPr lang="ko-KR" altLang="en-US" sz="900" b="1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서비스기획</a:t>
            </a:r>
            <a:r>
              <a:rPr lang="en-US" altLang="ko-KR" sz="900" b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900" b="1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&amp; </a:t>
            </a:r>
            <a:r>
              <a:rPr lang="ko-KR" altLang="en-US" sz="900" b="1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과제담당자</a:t>
            </a:r>
            <a:r>
              <a:rPr lang="en-US" altLang="ko-KR" sz="900" b="1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900" b="1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투표</a:t>
            </a:r>
            <a:endParaRPr lang="ko-KR" altLang="en-US" sz="900" b="1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12" name="직선 연결선 11"/>
          <p:cNvCxnSpPr/>
          <p:nvPr/>
        </p:nvCxnSpPr>
        <p:spPr>
          <a:xfrm>
            <a:off x="324094" y="1619999"/>
            <a:ext cx="810000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780469" y="1334398"/>
            <a:ext cx="805276" cy="211203"/>
          </a:xfrm>
          <a:prstGeom prst="rect">
            <a:avLst/>
          </a:prstGeom>
          <a:noFill/>
        </p:spPr>
        <p:txBody>
          <a:bodyPr wrap="none" lIns="36000" tIns="36000" rIns="36000" bIns="36000" rtlCol="0" anchor="ctr">
            <a:spAutoFit/>
          </a:bodyPr>
          <a:lstStyle/>
          <a:p>
            <a:pPr algn="ctr"/>
            <a:r>
              <a:rPr lang="ko-KR" altLang="en-US" sz="900" b="1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서비스 네이밍</a:t>
            </a:r>
            <a:endParaRPr lang="ko-KR" altLang="en-US" sz="900" b="1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71" name="TextBox 170"/>
          <p:cNvSpPr txBox="1"/>
          <p:nvPr/>
        </p:nvSpPr>
        <p:spPr>
          <a:xfrm>
            <a:off x="7127436" y="1763999"/>
            <a:ext cx="432000" cy="288000"/>
          </a:xfrm>
          <a:prstGeom prst="roundRect">
            <a:avLst>
              <a:gd name="adj" fmla="val 50000"/>
            </a:avLst>
          </a:prstGeom>
          <a:solidFill>
            <a:schemeClr val="tx1">
              <a:lumMod val="75000"/>
              <a:lumOff val="25000"/>
            </a:schemeClr>
          </a:solidFill>
        </p:spPr>
        <p:txBody>
          <a:bodyPr wrap="none" lIns="36000" tIns="36000" rIns="36000" bIns="36000" rtlCol="0" anchor="ctr">
            <a:noAutofit/>
          </a:bodyPr>
          <a:lstStyle/>
          <a:p>
            <a:pPr algn="ctr"/>
            <a:r>
              <a:rPr lang="en-US" altLang="ko-KR" sz="1000" b="1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endParaRPr lang="ko-KR" altLang="en-US" sz="1000" b="1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74" name="TextBox 173"/>
          <p:cNvSpPr txBox="1"/>
          <p:nvPr/>
        </p:nvSpPr>
        <p:spPr>
          <a:xfrm>
            <a:off x="7127436" y="2267999"/>
            <a:ext cx="432000" cy="288000"/>
          </a:xfrm>
          <a:prstGeom prst="roundRect">
            <a:avLst>
              <a:gd name="adj" fmla="val 50000"/>
            </a:avLst>
          </a:prstGeom>
          <a:solidFill>
            <a:schemeClr val="tx1">
              <a:lumMod val="75000"/>
              <a:lumOff val="25000"/>
            </a:schemeClr>
          </a:solidFill>
        </p:spPr>
        <p:txBody>
          <a:bodyPr wrap="none" lIns="36000" tIns="36000" rIns="36000" bIns="36000" rtlCol="0" anchor="ctr">
            <a:noAutofit/>
          </a:bodyPr>
          <a:lstStyle/>
          <a:p>
            <a:pPr algn="ctr"/>
            <a:r>
              <a:rPr lang="en-US" altLang="ko-KR" sz="1000" b="1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</a:t>
            </a:r>
            <a:endParaRPr lang="ko-KR" altLang="en-US" sz="1000" b="1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77" name="TextBox 176"/>
          <p:cNvSpPr txBox="1"/>
          <p:nvPr/>
        </p:nvSpPr>
        <p:spPr>
          <a:xfrm>
            <a:off x="7127436" y="2807999"/>
            <a:ext cx="432000" cy="288000"/>
          </a:xfrm>
          <a:prstGeom prst="roundRect">
            <a:avLst>
              <a:gd name="adj" fmla="val 50000"/>
            </a:avLst>
          </a:prstGeom>
          <a:solidFill>
            <a:schemeClr val="tx1">
              <a:lumMod val="75000"/>
              <a:lumOff val="25000"/>
            </a:schemeClr>
          </a:solidFill>
        </p:spPr>
        <p:txBody>
          <a:bodyPr wrap="none" lIns="36000" tIns="36000" rIns="36000" bIns="36000" rtlCol="0" anchor="ctr">
            <a:noAutofit/>
          </a:bodyPr>
          <a:lstStyle/>
          <a:p>
            <a:pPr algn="ctr"/>
            <a:r>
              <a:rPr lang="en-US" altLang="ko-KR" sz="1000" b="1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3</a:t>
            </a:r>
            <a:endParaRPr lang="ko-KR" altLang="en-US" sz="1000" b="1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78" name="TextBox 177"/>
          <p:cNvSpPr txBox="1"/>
          <p:nvPr/>
        </p:nvSpPr>
        <p:spPr>
          <a:xfrm>
            <a:off x="7127436" y="3311999"/>
            <a:ext cx="432000" cy="288000"/>
          </a:xfrm>
          <a:prstGeom prst="roundRect">
            <a:avLst>
              <a:gd name="adj" fmla="val 50000"/>
            </a:avLst>
          </a:prstGeom>
          <a:solidFill>
            <a:srgbClr val="C00000"/>
          </a:solidFill>
        </p:spPr>
        <p:txBody>
          <a:bodyPr wrap="none" lIns="36000" tIns="36000" rIns="36000" bIns="36000" rtlCol="0" anchor="ctr">
            <a:noAutofit/>
          </a:bodyPr>
          <a:lstStyle/>
          <a:p>
            <a:pPr algn="ctr"/>
            <a:r>
              <a:rPr lang="en-US" altLang="ko-KR" sz="1000" b="1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6</a:t>
            </a:r>
            <a:endParaRPr lang="ko-KR" altLang="en-US" sz="1000" b="1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79" name="TextBox 178"/>
          <p:cNvSpPr txBox="1"/>
          <p:nvPr/>
        </p:nvSpPr>
        <p:spPr>
          <a:xfrm>
            <a:off x="7127436" y="3815999"/>
            <a:ext cx="432000" cy="288000"/>
          </a:xfrm>
          <a:prstGeom prst="roundRect">
            <a:avLst>
              <a:gd name="adj" fmla="val 50000"/>
            </a:avLst>
          </a:prstGeom>
          <a:solidFill>
            <a:schemeClr val="tx1">
              <a:lumMod val="75000"/>
              <a:lumOff val="25000"/>
            </a:schemeClr>
          </a:solidFill>
        </p:spPr>
        <p:txBody>
          <a:bodyPr wrap="none" lIns="36000" tIns="36000" rIns="36000" bIns="36000" rtlCol="0" anchor="ctr">
            <a:noAutofit/>
          </a:bodyPr>
          <a:lstStyle/>
          <a:p>
            <a:pPr algn="ctr"/>
            <a:r>
              <a:rPr lang="en-US" altLang="ko-KR" sz="1000" b="1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</a:t>
            </a:r>
            <a:endParaRPr lang="ko-KR" altLang="en-US" sz="1000" b="1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80" name="TextBox 179"/>
          <p:cNvSpPr txBox="1"/>
          <p:nvPr/>
        </p:nvSpPr>
        <p:spPr>
          <a:xfrm>
            <a:off x="7127436" y="4319999"/>
            <a:ext cx="432000" cy="288000"/>
          </a:xfrm>
          <a:prstGeom prst="roundRect">
            <a:avLst>
              <a:gd name="adj" fmla="val 50000"/>
            </a:avLst>
          </a:prstGeom>
          <a:solidFill>
            <a:schemeClr val="tx1">
              <a:lumMod val="75000"/>
              <a:lumOff val="25000"/>
            </a:schemeClr>
          </a:solidFill>
        </p:spPr>
        <p:txBody>
          <a:bodyPr wrap="none" lIns="36000" tIns="36000" rIns="36000" bIns="36000" rtlCol="0" anchor="ctr">
            <a:noAutofit/>
          </a:bodyPr>
          <a:lstStyle/>
          <a:p>
            <a:pPr algn="ctr"/>
            <a:r>
              <a:rPr lang="en-US" altLang="ko-KR" sz="1000" b="1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endParaRPr lang="ko-KR" altLang="en-US" sz="1000" b="1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81" name="TextBox 180"/>
          <p:cNvSpPr txBox="1"/>
          <p:nvPr/>
        </p:nvSpPr>
        <p:spPr>
          <a:xfrm>
            <a:off x="7127436" y="4859999"/>
            <a:ext cx="432000" cy="288000"/>
          </a:xfrm>
          <a:prstGeom prst="roundRect">
            <a:avLst>
              <a:gd name="adj" fmla="val 50000"/>
            </a:avLst>
          </a:prstGeom>
          <a:solidFill>
            <a:schemeClr val="tx1">
              <a:lumMod val="75000"/>
              <a:lumOff val="25000"/>
            </a:schemeClr>
          </a:solidFill>
        </p:spPr>
        <p:txBody>
          <a:bodyPr wrap="none" lIns="36000" tIns="36000" rIns="36000" bIns="36000" rtlCol="0" anchor="ctr">
            <a:noAutofit/>
          </a:bodyPr>
          <a:lstStyle/>
          <a:p>
            <a:pPr algn="ctr"/>
            <a:r>
              <a:rPr lang="en-US" altLang="ko-KR" sz="1000" b="1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endParaRPr lang="ko-KR" altLang="en-US" sz="1000" b="1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82" name="TextBox 181"/>
          <p:cNvSpPr txBox="1"/>
          <p:nvPr/>
        </p:nvSpPr>
        <p:spPr>
          <a:xfrm>
            <a:off x="7127436" y="5327999"/>
            <a:ext cx="432000" cy="288000"/>
          </a:xfrm>
          <a:prstGeom prst="roundRect">
            <a:avLst>
              <a:gd name="adj" fmla="val 50000"/>
            </a:avLst>
          </a:prstGeom>
          <a:solidFill>
            <a:schemeClr val="tx1">
              <a:lumMod val="75000"/>
              <a:lumOff val="25000"/>
            </a:schemeClr>
          </a:solidFill>
        </p:spPr>
        <p:txBody>
          <a:bodyPr wrap="none" lIns="36000" tIns="36000" rIns="36000" bIns="36000" rtlCol="0" anchor="ctr">
            <a:noAutofit/>
          </a:bodyPr>
          <a:lstStyle/>
          <a:p>
            <a:pPr algn="ctr"/>
            <a:r>
              <a:rPr lang="en-US" altLang="ko-KR" sz="1000" b="1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4</a:t>
            </a:r>
            <a:endParaRPr lang="ko-KR" altLang="en-US" sz="1000" b="1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83" name="TextBox 182"/>
          <p:cNvSpPr txBox="1"/>
          <p:nvPr/>
        </p:nvSpPr>
        <p:spPr>
          <a:xfrm>
            <a:off x="7127436" y="5831999"/>
            <a:ext cx="432000" cy="288000"/>
          </a:xfrm>
          <a:prstGeom prst="roundRect">
            <a:avLst>
              <a:gd name="adj" fmla="val 50000"/>
            </a:avLst>
          </a:prstGeom>
          <a:solidFill>
            <a:schemeClr val="tx1">
              <a:lumMod val="75000"/>
              <a:lumOff val="25000"/>
            </a:schemeClr>
          </a:solidFill>
        </p:spPr>
        <p:txBody>
          <a:bodyPr wrap="none" lIns="36000" tIns="36000" rIns="36000" bIns="36000" rtlCol="0" anchor="ctr">
            <a:noAutofit/>
          </a:bodyPr>
          <a:lstStyle/>
          <a:p>
            <a:pPr algn="ctr"/>
            <a:r>
              <a:rPr lang="en-US" altLang="ko-KR" sz="1000" b="1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endParaRPr lang="ko-KR" altLang="en-US" sz="1000" b="1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7" name="TextBox 86"/>
          <p:cNvSpPr txBox="1"/>
          <p:nvPr/>
        </p:nvSpPr>
        <p:spPr>
          <a:xfrm>
            <a:off x="1836684" y="1334398"/>
            <a:ext cx="574444" cy="211203"/>
          </a:xfrm>
          <a:prstGeom prst="rect">
            <a:avLst/>
          </a:prstGeom>
          <a:noFill/>
        </p:spPr>
        <p:txBody>
          <a:bodyPr wrap="none" lIns="36000" tIns="36000" rIns="36000" bIns="36000" rtlCol="0" anchor="ctr">
            <a:spAutoFit/>
          </a:bodyPr>
          <a:lstStyle/>
          <a:p>
            <a:pPr algn="ctr"/>
            <a:r>
              <a:rPr lang="ko-KR" altLang="en-US" sz="900" b="1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명칭 목적</a:t>
            </a:r>
            <a:endParaRPr lang="ko-KR" altLang="en-US" sz="900" b="1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89" name="직선 연결선 88"/>
          <p:cNvCxnSpPr/>
          <p:nvPr/>
        </p:nvCxnSpPr>
        <p:spPr>
          <a:xfrm>
            <a:off x="4103906" y="1259999"/>
            <a:ext cx="0" cy="504000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" name="TextBox 89"/>
          <p:cNvSpPr txBox="1"/>
          <p:nvPr/>
        </p:nvSpPr>
        <p:spPr>
          <a:xfrm>
            <a:off x="323906" y="1799999"/>
            <a:ext cx="3600000" cy="288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none" lIns="36000" tIns="36000" rIns="36000" bIns="36000" rtlCol="0" anchor="ctr">
            <a:noAutofit/>
          </a:bodyPr>
          <a:lstStyle/>
          <a:p>
            <a:pPr algn="ctr"/>
            <a:r>
              <a:rPr lang="ko-KR" altLang="en-US" sz="9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기존 서비스 명칭 재활용을 통한 고객 인지도 확보</a:t>
            </a:r>
            <a:endParaRPr lang="ko-KR" altLang="en-US" sz="9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4" name="TextBox 93"/>
          <p:cNvSpPr txBox="1"/>
          <p:nvPr/>
        </p:nvSpPr>
        <p:spPr>
          <a:xfrm>
            <a:off x="323906" y="2555999"/>
            <a:ext cx="3600000" cy="288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none" lIns="36000" tIns="36000" rIns="36000" bIns="36000" rtlCol="0" anchor="ctr">
            <a:noAutofit/>
          </a:bodyPr>
          <a:lstStyle/>
          <a:p>
            <a:pPr algn="ctr"/>
            <a:r>
              <a:rPr lang="ko-KR" altLang="en-US" sz="9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오프라인 </a:t>
            </a:r>
            <a:r>
              <a:rPr lang="en-US" altLang="ko-KR" sz="9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‘</a:t>
            </a:r>
            <a:r>
              <a:rPr lang="ko-KR" altLang="en-US" sz="9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스토어</a:t>
            </a:r>
            <a:r>
              <a:rPr lang="en-US" altLang="ko-KR" sz="9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’ </a:t>
            </a:r>
            <a:r>
              <a:rPr lang="ko-KR" altLang="en-US" sz="9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의 상품</a:t>
            </a:r>
            <a:r>
              <a:rPr lang="en-US" altLang="ko-KR" sz="9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9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재고</a:t>
            </a:r>
            <a:r>
              <a:rPr lang="en-US" altLang="ko-KR" sz="9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r>
              <a:rPr lang="ko-KR" altLang="en-US" sz="9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를 연결한 서비스명 제안</a:t>
            </a:r>
            <a:endParaRPr lang="ko-KR" altLang="en-US" sz="9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5" name="TextBox 94"/>
          <p:cNvSpPr txBox="1"/>
          <p:nvPr/>
        </p:nvSpPr>
        <p:spPr>
          <a:xfrm>
            <a:off x="323906" y="3563999"/>
            <a:ext cx="3600000" cy="288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none" lIns="36000" tIns="36000" rIns="36000" bIns="36000" rtlCol="0" anchor="ctr">
            <a:noAutofit/>
          </a:bodyPr>
          <a:lstStyle/>
          <a:p>
            <a:pPr algn="ctr"/>
            <a:r>
              <a:rPr lang="ko-KR" altLang="en-US" sz="9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오프라인 </a:t>
            </a:r>
            <a:r>
              <a:rPr lang="en-US" altLang="ko-KR" sz="9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‘</a:t>
            </a:r>
            <a:r>
              <a:rPr lang="ko-KR" altLang="en-US" sz="9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매장</a:t>
            </a:r>
            <a:r>
              <a:rPr lang="en-US" altLang="ko-KR" sz="9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’ </a:t>
            </a:r>
            <a:r>
              <a:rPr lang="ko-KR" altLang="en-US" sz="9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의 상품</a:t>
            </a:r>
            <a:r>
              <a:rPr lang="en-US" altLang="ko-KR" sz="9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9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재고</a:t>
            </a:r>
            <a:r>
              <a:rPr lang="en-US" altLang="ko-KR" sz="9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r>
              <a:rPr lang="ko-KR" altLang="en-US" sz="9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를 연결한 서비스명 제안</a:t>
            </a:r>
            <a:endParaRPr lang="ko-KR" altLang="en-US" sz="9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6" name="TextBox 95"/>
          <p:cNvSpPr txBox="1"/>
          <p:nvPr/>
        </p:nvSpPr>
        <p:spPr>
          <a:xfrm>
            <a:off x="323906" y="4319999"/>
            <a:ext cx="3600000" cy="288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none" lIns="36000" tIns="36000" rIns="36000" bIns="36000" rtlCol="0" anchor="ctr">
            <a:noAutofit/>
          </a:bodyPr>
          <a:lstStyle/>
          <a:p>
            <a:pPr algn="ctr"/>
            <a:r>
              <a:rPr lang="en-US" altLang="ko-KR" sz="9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‘O2O’ </a:t>
            </a:r>
            <a:r>
              <a:rPr lang="ko-KR" altLang="en-US" sz="9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키워드를 활용한 서비스명 제안</a:t>
            </a:r>
            <a:endParaRPr lang="ko-KR" altLang="en-US" sz="9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7" name="TextBox 96"/>
          <p:cNvSpPr txBox="1"/>
          <p:nvPr/>
        </p:nvSpPr>
        <p:spPr>
          <a:xfrm>
            <a:off x="323906" y="5075999"/>
            <a:ext cx="3600000" cy="288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none" lIns="36000" tIns="36000" rIns="36000" bIns="36000" rtlCol="0" anchor="ctr">
            <a:noAutofit/>
          </a:bodyPr>
          <a:lstStyle/>
          <a:p>
            <a:pPr algn="ctr"/>
            <a:r>
              <a:rPr lang="en-US" altLang="ko-KR" sz="9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‘</a:t>
            </a:r>
            <a:r>
              <a:rPr lang="ko-KR" altLang="en-US" sz="9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재고</a:t>
            </a:r>
            <a:r>
              <a:rPr lang="en-US" altLang="ko-KR" sz="9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’ </a:t>
            </a:r>
            <a:r>
              <a:rPr lang="ko-KR" altLang="en-US" sz="9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키워드를 활용한 서비스명 제안</a:t>
            </a:r>
            <a:endParaRPr lang="ko-KR" altLang="en-US" sz="9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8" name="TextBox 97"/>
          <p:cNvSpPr txBox="1"/>
          <p:nvPr/>
        </p:nvSpPr>
        <p:spPr>
          <a:xfrm>
            <a:off x="323906" y="5831999"/>
            <a:ext cx="3600000" cy="288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none" lIns="36000" tIns="36000" rIns="36000" bIns="36000" rtlCol="0" anchor="ctr">
            <a:noAutofit/>
          </a:bodyPr>
          <a:lstStyle/>
          <a:p>
            <a:pPr algn="ctr"/>
            <a:r>
              <a:rPr lang="ko-KR" altLang="en-US" sz="9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사명 </a:t>
            </a:r>
            <a:r>
              <a:rPr lang="en-US" altLang="ko-KR" sz="9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‘LF’ </a:t>
            </a:r>
            <a:r>
              <a:rPr lang="ko-KR" altLang="en-US" sz="9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를 활용한 서비스명 제안</a:t>
            </a:r>
            <a:endParaRPr lang="ko-KR" altLang="en-US" sz="9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3" name="모서리가 둥근 직사각형 102"/>
          <p:cNvSpPr/>
          <p:nvPr/>
        </p:nvSpPr>
        <p:spPr>
          <a:xfrm>
            <a:off x="4283107" y="1763999"/>
            <a:ext cx="1800000" cy="360000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chemeClr val="accent5">
                  <a:lumMod val="75000"/>
                </a:schemeClr>
              </a:gs>
              <a:gs pos="50000">
                <a:schemeClr val="accent5"/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0" scaled="1"/>
            <a:tileRect/>
          </a:gra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000" b="1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사이즈구해드림</a:t>
            </a:r>
            <a:endParaRPr lang="ko-KR" altLang="en-US" sz="1000" b="1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4" name="모서리가 둥근 직사각형 103"/>
          <p:cNvSpPr/>
          <p:nvPr/>
        </p:nvSpPr>
        <p:spPr>
          <a:xfrm>
            <a:off x="4283107" y="2267999"/>
            <a:ext cx="1800000" cy="360000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chemeClr val="accent5">
                  <a:lumMod val="75000"/>
                </a:schemeClr>
              </a:gs>
              <a:gs pos="50000">
                <a:schemeClr val="accent5"/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0" scaled="1"/>
            <a:tileRect/>
          </a:gra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0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스토어링크</a:t>
            </a:r>
          </a:p>
        </p:txBody>
      </p:sp>
      <p:sp>
        <p:nvSpPr>
          <p:cNvPr id="106" name="모서리가 둥근 직사각형 105"/>
          <p:cNvSpPr/>
          <p:nvPr/>
        </p:nvSpPr>
        <p:spPr>
          <a:xfrm>
            <a:off x="4283107" y="3275999"/>
            <a:ext cx="1800000" cy="360000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chemeClr val="accent5">
                  <a:lumMod val="75000"/>
                </a:schemeClr>
              </a:gs>
              <a:gs pos="50000">
                <a:schemeClr val="accent5"/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0" scaled="1"/>
            <a:tileRect/>
          </a:gra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0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매장상품배송</a:t>
            </a:r>
          </a:p>
        </p:txBody>
      </p:sp>
      <p:sp>
        <p:nvSpPr>
          <p:cNvPr id="108" name="모서리가 둥근 직사각형 107"/>
          <p:cNvSpPr/>
          <p:nvPr/>
        </p:nvSpPr>
        <p:spPr>
          <a:xfrm>
            <a:off x="4283107" y="4283999"/>
            <a:ext cx="1800000" cy="360000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chemeClr val="accent5">
                  <a:lumMod val="75000"/>
                </a:schemeClr>
              </a:gs>
              <a:gs pos="50000">
                <a:schemeClr val="accent5"/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0" scaled="1"/>
            <a:tileRect/>
          </a:gra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0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O2O Connect</a:t>
            </a:r>
            <a:endParaRPr lang="ko-KR" altLang="en-US" sz="1000" b="1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13" name="모서리가 둥근 직사각형 112"/>
          <p:cNvSpPr/>
          <p:nvPr/>
        </p:nvSpPr>
        <p:spPr>
          <a:xfrm>
            <a:off x="4283107" y="3779999"/>
            <a:ext cx="1800000" cy="360000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chemeClr val="accent5">
                  <a:lumMod val="75000"/>
                </a:schemeClr>
              </a:gs>
              <a:gs pos="50000">
                <a:schemeClr val="accent5"/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0" scaled="1"/>
            <a:tileRect/>
          </a:gra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0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매장재고연동</a:t>
            </a:r>
          </a:p>
        </p:txBody>
      </p:sp>
      <p:sp>
        <p:nvSpPr>
          <p:cNvPr id="125" name="모서리가 둥근 직사각형 124"/>
          <p:cNvSpPr/>
          <p:nvPr/>
        </p:nvSpPr>
        <p:spPr>
          <a:xfrm>
            <a:off x="4283107" y="2771999"/>
            <a:ext cx="1800000" cy="360000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chemeClr val="accent5">
                  <a:lumMod val="75000"/>
                </a:schemeClr>
              </a:gs>
              <a:gs pos="50000">
                <a:schemeClr val="accent5"/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0" scaled="1"/>
            <a:tileRect/>
          </a:gra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0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스토어커넥트</a:t>
            </a:r>
          </a:p>
        </p:txBody>
      </p:sp>
      <p:sp>
        <p:nvSpPr>
          <p:cNvPr id="131" name="모서리가 둥근 직사각형 130"/>
          <p:cNvSpPr/>
          <p:nvPr/>
        </p:nvSpPr>
        <p:spPr>
          <a:xfrm>
            <a:off x="4283107" y="5291999"/>
            <a:ext cx="1800000" cy="360000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chemeClr val="accent5">
                  <a:lumMod val="75000"/>
                </a:schemeClr>
              </a:gs>
              <a:gs pos="50000">
                <a:schemeClr val="accent5"/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0" scaled="1"/>
            <a:tileRect/>
          </a:gra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0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재고 찾아드림</a:t>
            </a:r>
          </a:p>
        </p:txBody>
      </p:sp>
      <p:sp>
        <p:nvSpPr>
          <p:cNvPr id="133" name="모서리가 둥근 직사각형 132"/>
          <p:cNvSpPr/>
          <p:nvPr/>
        </p:nvSpPr>
        <p:spPr>
          <a:xfrm>
            <a:off x="4283107" y="4787999"/>
            <a:ext cx="1800000" cy="360000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chemeClr val="accent5">
                  <a:lumMod val="75000"/>
                </a:schemeClr>
              </a:gs>
              <a:gs pos="50000">
                <a:schemeClr val="accent5"/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0" scaled="1"/>
            <a:tileRect/>
          </a:gra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0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재고</a:t>
            </a:r>
            <a:r>
              <a:rPr lang="en-US" altLang="ko-KR" sz="10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+</a:t>
            </a:r>
            <a:endParaRPr lang="ko-KR" altLang="en-US" sz="1000" b="1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42" name="모서리가 둥근 직사각형 141"/>
          <p:cNvSpPr/>
          <p:nvPr/>
        </p:nvSpPr>
        <p:spPr>
          <a:xfrm>
            <a:off x="4283107" y="5795999"/>
            <a:ext cx="1800000" cy="360000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chemeClr val="accent5">
                  <a:lumMod val="75000"/>
                </a:schemeClr>
              </a:gs>
              <a:gs pos="50000">
                <a:schemeClr val="accent5"/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0" scaled="1"/>
            <a:tileRect/>
          </a:gra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0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L.Finder</a:t>
            </a:r>
            <a:endParaRPr lang="ko-KR" altLang="en-US" sz="1000" b="1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143" name="직선 연결선 142"/>
          <p:cNvCxnSpPr/>
          <p:nvPr/>
        </p:nvCxnSpPr>
        <p:spPr>
          <a:xfrm>
            <a:off x="6263530" y="1259999"/>
            <a:ext cx="0" cy="504000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꺾인 연결선 6"/>
          <p:cNvCxnSpPr>
            <a:stCxn id="125" idx="1"/>
            <a:endCxn id="94" idx="3"/>
          </p:cNvCxnSpPr>
          <p:nvPr/>
        </p:nvCxnSpPr>
        <p:spPr>
          <a:xfrm rot="10800000">
            <a:off x="3923907" y="2699999"/>
            <a:ext cx="359201" cy="252000"/>
          </a:xfrm>
          <a:prstGeom prst="bentConnector3">
            <a:avLst>
              <a:gd name="adj1" fmla="val 50000"/>
            </a:avLst>
          </a:prstGeom>
          <a:ln w="12700">
            <a:solidFill>
              <a:schemeClr val="accent1">
                <a:lumMod val="75000"/>
              </a:schemeClr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꺾인 연결선 66"/>
          <p:cNvCxnSpPr>
            <a:stCxn id="104" idx="1"/>
            <a:endCxn id="94" idx="3"/>
          </p:cNvCxnSpPr>
          <p:nvPr/>
        </p:nvCxnSpPr>
        <p:spPr>
          <a:xfrm rot="10800000" flipV="1">
            <a:off x="3923907" y="2447999"/>
            <a:ext cx="359201" cy="252000"/>
          </a:xfrm>
          <a:prstGeom prst="bentConnector3">
            <a:avLst>
              <a:gd name="adj1" fmla="val 50000"/>
            </a:avLst>
          </a:prstGeom>
          <a:ln w="12700">
            <a:solidFill>
              <a:schemeClr val="accent1">
                <a:lumMod val="75000"/>
              </a:schemeClr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직선 화살표 연결선 10"/>
          <p:cNvCxnSpPr>
            <a:stCxn id="103" idx="1"/>
            <a:endCxn id="90" idx="3"/>
          </p:cNvCxnSpPr>
          <p:nvPr/>
        </p:nvCxnSpPr>
        <p:spPr>
          <a:xfrm flipH="1">
            <a:off x="3923906" y="1943999"/>
            <a:ext cx="359201" cy="0"/>
          </a:xfrm>
          <a:prstGeom prst="straightConnector1">
            <a:avLst/>
          </a:prstGeom>
          <a:ln w="12700">
            <a:solidFill>
              <a:schemeClr val="accent1">
                <a:lumMod val="75000"/>
              </a:schemeClr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꺾인 연결선 71"/>
          <p:cNvCxnSpPr>
            <a:stCxn id="106" idx="1"/>
            <a:endCxn id="95" idx="3"/>
          </p:cNvCxnSpPr>
          <p:nvPr/>
        </p:nvCxnSpPr>
        <p:spPr>
          <a:xfrm rot="10800000" flipV="1">
            <a:off x="3923907" y="3455999"/>
            <a:ext cx="359201" cy="252000"/>
          </a:xfrm>
          <a:prstGeom prst="bentConnector3">
            <a:avLst>
              <a:gd name="adj1" fmla="val 50000"/>
            </a:avLst>
          </a:prstGeom>
          <a:ln w="12700">
            <a:solidFill>
              <a:schemeClr val="accent1">
                <a:lumMod val="75000"/>
              </a:schemeClr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꺾인 연결선 72"/>
          <p:cNvCxnSpPr>
            <a:stCxn id="113" idx="1"/>
            <a:endCxn id="95" idx="3"/>
          </p:cNvCxnSpPr>
          <p:nvPr/>
        </p:nvCxnSpPr>
        <p:spPr>
          <a:xfrm rot="10800000">
            <a:off x="3923907" y="3707999"/>
            <a:ext cx="359201" cy="252000"/>
          </a:xfrm>
          <a:prstGeom prst="bentConnector3">
            <a:avLst>
              <a:gd name="adj1" fmla="val 50000"/>
            </a:avLst>
          </a:prstGeom>
          <a:ln w="12700">
            <a:solidFill>
              <a:schemeClr val="accent1">
                <a:lumMod val="75000"/>
              </a:schemeClr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직선 화살표 연결선 77"/>
          <p:cNvCxnSpPr>
            <a:stCxn id="108" idx="1"/>
            <a:endCxn id="96" idx="3"/>
          </p:cNvCxnSpPr>
          <p:nvPr/>
        </p:nvCxnSpPr>
        <p:spPr>
          <a:xfrm flipH="1">
            <a:off x="3923906" y="4463999"/>
            <a:ext cx="359201" cy="0"/>
          </a:xfrm>
          <a:prstGeom prst="straightConnector1">
            <a:avLst/>
          </a:prstGeom>
          <a:ln w="12700">
            <a:solidFill>
              <a:schemeClr val="accent1">
                <a:lumMod val="75000"/>
              </a:schemeClr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직선 화살표 연결선 80"/>
          <p:cNvCxnSpPr>
            <a:endCxn id="98" idx="3"/>
          </p:cNvCxnSpPr>
          <p:nvPr/>
        </p:nvCxnSpPr>
        <p:spPr>
          <a:xfrm flipH="1">
            <a:off x="3923906" y="5975999"/>
            <a:ext cx="359201" cy="0"/>
          </a:xfrm>
          <a:prstGeom prst="straightConnector1">
            <a:avLst/>
          </a:prstGeom>
          <a:ln w="12700">
            <a:solidFill>
              <a:schemeClr val="accent1">
                <a:lumMod val="75000"/>
              </a:schemeClr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꺾인 연결선 83"/>
          <p:cNvCxnSpPr>
            <a:stCxn id="131" idx="1"/>
            <a:endCxn id="97" idx="3"/>
          </p:cNvCxnSpPr>
          <p:nvPr/>
        </p:nvCxnSpPr>
        <p:spPr>
          <a:xfrm rot="10800000">
            <a:off x="3923907" y="5219999"/>
            <a:ext cx="359201" cy="252000"/>
          </a:xfrm>
          <a:prstGeom prst="bentConnector3">
            <a:avLst>
              <a:gd name="adj1" fmla="val 50000"/>
            </a:avLst>
          </a:prstGeom>
          <a:ln w="12700">
            <a:solidFill>
              <a:schemeClr val="accent1">
                <a:lumMod val="75000"/>
              </a:schemeClr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꺾인 연결선 84"/>
          <p:cNvCxnSpPr>
            <a:stCxn id="133" idx="1"/>
            <a:endCxn id="97" idx="3"/>
          </p:cNvCxnSpPr>
          <p:nvPr/>
        </p:nvCxnSpPr>
        <p:spPr>
          <a:xfrm rot="10800000" flipV="1">
            <a:off x="3923907" y="4967999"/>
            <a:ext cx="359201" cy="252000"/>
          </a:xfrm>
          <a:prstGeom prst="bentConnector3">
            <a:avLst>
              <a:gd name="adj1" fmla="val 50000"/>
            </a:avLst>
          </a:prstGeom>
          <a:ln w="12700">
            <a:solidFill>
              <a:schemeClr val="accent1">
                <a:lumMod val="75000"/>
              </a:schemeClr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520560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아래쪽 화살표 347"/>
          <p:cNvSpPr/>
          <p:nvPr/>
        </p:nvSpPr>
        <p:spPr>
          <a:xfrm>
            <a:off x="5405505" y="4968171"/>
            <a:ext cx="288000" cy="360000"/>
          </a:xfrm>
          <a:prstGeom prst="downArrow">
            <a:avLst/>
          </a:prstGeom>
          <a:gradFill flip="none" rotWithShape="1">
            <a:gsLst>
              <a:gs pos="0">
                <a:schemeClr val="accent2">
                  <a:lumMod val="75000"/>
                  <a:tint val="66000"/>
                  <a:satMod val="160000"/>
                </a:schemeClr>
              </a:gs>
              <a:gs pos="50000">
                <a:schemeClr val="accent2">
                  <a:lumMod val="75000"/>
                  <a:tint val="44500"/>
                  <a:satMod val="160000"/>
                </a:schemeClr>
              </a:gs>
              <a:gs pos="100000">
                <a:schemeClr val="accent2">
                  <a:lumMod val="75000"/>
                  <a:tint val="23500"/>
                  <a:satMod val="160000"/>
                </a:schemeClr>
              </a:gs>
            </a:gsLst>
            <a:lin ang="16200000" scaled="1"/>
            <a:tileRect/>
          </a:gra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60" name="아래쪽 화살표 359"/>
          <p:cNvSpPr/>
          <p:nvPr/>
        </p:nvSpPr>
        <p:spPr>
          <a:xfrm>
            <a:off x="7956606" y="2809973"/>
            <a:ext cx="288000" cy="2520000"/>
          </a:xfrm>
          <a:prstGeom prst="downArrow">
            <a:avLst/>
          </a:prstGeom>
          <a:gradFill flip="none" rotWithShape="1">
            <a:gsLst>
              <a:gs pos="0">
                <a:schemeClr val="accent2">
                  <a:lumMod val="75000"/>
                  <a:tint val="66000"/>
                  <a:satMod val="160000"/>
                </a:schemeClr>
              </a:gs>
              <a:gs pos="50000">
                <a:schemeClr val="accent2">
                  <a:lumMod val="75000"/>
                  <a:tint val="44500"/>
                  <a:satMod val="160000"/>
                </a:schemeClr>
              </a:gs>
              <a:gs pos="100000">
                <a:schemeClr val="accent2">
                  <a:lumMod val="75000"/>
                  <a:tint val="23500"/>
                  <a:satMod val="160000"/>
                </a:schemeClr>
              </a:gs>
            </a:gsLst>
            <a:lin ang="16200000" scaled="1"/>
            <a:tileRect/>
          </a:gra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52" name="아래쪽 화살표 351"/>
          <p:cNvSpPr/>
          <p:nvPr/>
        </p:nvSpPr>
        <p:spPr>
          <a:xfrm>
            <a:off x="6625135" y="2809973"/>
            <a:ext cx="288000" cy="2520000"/>
          </a:xfrm>
          <a:prstGeom prst="downArrow">
            <a:avLst/>
          </a:prstGeom>
          <a:gradFill flip="none" rotWithShape="1">
            <a:gsLst>
              <a:gs pos="0">
                <a:schemeClr val="accent2">
                  <a:lumMod val="75000"/>
                  <a:tint val="66000"/>
                  <a:satMod val="160000"/>
                </a:schemeClr>
              </a:gs>
              <a:gs pos="50000">
                <a:schemeClr val="accent2">
                  <a:lumMod val="75000"/>
                  <a:tint val="44500"/>
                  <a:satMod val="160000"/>
                </a:schemeClr>
              </a:gs>
              <a:gs pos="100000">
                <a:schemeClr val="accent2">
                  <a:lumMod val="75000"/>
                  <a:tint val="23500"/>
                  <a:satMod val="160000"/>
                </a:schemeClr>
              </a:gs>
            </a:gsLst>
            <a:lin ang="16200000" scaled="1"/>
            <a:tileRect/>
          </a:gra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321" name="직선 화살표 연결선 320">
            <a:extLst>
              <a:ext uri="{FF2B5EF4-FFF2-40B4-BE49-F238E27FC236}">
                <a16:creationId xmlns="" xmlns:a16="http://schemas.microsoft.com/office/drawing/2014/main" id="{3D9B20DA-AA59-4AA9-AC84-6C3B8844582A}"/>
              </a:ext>
            </a:extLst>
          </p:cNvPr>
          <p:cNvCxnSpPr>
            <a:cxnSpLocks/>
            <a:stCxn id="278" idx="3"/>
            <a:endCxn id="215" idx="2"/>
          </p:cNvCxnSpPr>
          <p:nvPr/>
        </p:nvCxnSpPr>
        <p:spPr>
          <a:xfrm flipV="1">
            <a:off x="4217186" y="2557896"/>
            <a:ext cx="6167312" cy="77"/>
          </a:xfrm>
          <a:prstGeom prst="straightConnector1">
            <a:avLst/>
          </a:prstGeom>
          <a:noFill/>
          <a:ln w="38100" cap="flat" cmpd="sng" algn="ctr">
            <a:solidFill>
              <a:schemeClr val="accent1">
                <a:lumMod val="20000"/>
                <a:lumOff val="80000"/>
              </a:schemeClr>
            </a:solidFill>
            <a:prstDash val="solid"/>
            <a:headEnd type="none" w="med" len="med"/>
            <a:tailEnd type="none" w="med" len="med"/>
          </a:ln>
          <a:effectLst/>
        </p:spPr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C5E486F5-93A1-4316-A9AE-8F2FB1C3263A}"/>
              </a:ext>
            </a:extLst>
          </p:cNvPr>
          <p:cNvSpPr txBox="1"/>
          <p:nvPr/>
        </p:nvSpPr>
        <p:spPr>
          <a:xfrm>
            <a:off x="94" y="102705"/>
            <a:ext cx="1842721" cy="226591"/>
          </a:xfrm>
          <a:prstGeom prst="rect">
            <a:avLst/>
          </a:prstGeom>
          <a:noFill/>
        </p:spPr>
        <p:txBody>
          <a:bodyPr wrap="none" lIns="360000" tIns="36000" rIns="360000" bIns="36000" rtlCol="0" anchor="ctr">
            <a:spAutoFit/>
          </a:bodyPr>
          <a:lstStyle/>
          <a:p>
            <a:r>
              <a:rPr lang="ko-KR" altLang="en-US" sz="1000" b="1">
                <a:solidFill>
                  <a:schemeClr val="bg1"/>
                </a:solidFill>
                <a:latin typeface="맑은 고딕" panose="020B0503020000020004" pitchFamily="50" charset="-127"/>
              </a:rPr>
              <a:t>온오프 재고 효율화</a:t>
            </a:r>
            <a:endParaRPr lang="en-US" altLang="ko-KR" sz="1000" b="1">
              <a:solidFill>
                <a:schemeClr val="bg1"/>
              </a:solidFill>
              <a:latin typeface="맑은 고딕" panose="020B0503020000020004" pitchFamily="50" charset="-127"/>
            </a:endParaRPr>
          </a:p>
        </p:txBody>
      </p:sp>
      <p:sp>
        <p:nvSpPr>
          <p:cNvPr id="78" name="모서리가 둥근 직사각형 77"/>
          <p:cNvSpPr/>
          <p:nvPr/>
        </p:nvSpPr>
        <p:spPr>
          <a:xfrm>
            <a:off x="323906" y="755999"/>
            <a:ext cx="1440000" cy="360000"/>
          </a:xfrm>
          <a:prstGeom prst="roundRect">
            <a:avLst/>
          </a:prstGeom>
          <a:solidFill>
            <a:schemeClr val="tx1">
              <a:lumMod val="65000"/>
              <a:lumOff val="35000"/>
            </a:schemeClr>
          </a:solidFill>
          <a:ln w="381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0" tIns="36000" rIns="36000" bIns="36000" rtlCol="0" anchor="ctr"/>
          <a:lstStyle/>
          <a:p>
            <a:r>
              <a:rPr lang="ko-KR" altLang="en-US" sz="900" b="1" smtClean="0">
                <a:solidFill>
                  <a:schemeClr val="bg1"/>
                </a:solidFill>
                <a:latin typeface="맑은 고딕" panose="020B0503020000020004" pitchFamily="50" charset="-127"/>
              </a:rPr>
              <a:t>전체 프로세스</a:t>
            </a:r>
            <a:endParaRPr lang="ko-KR" altLang="en-US" sz="900" b="1">
              <a:solidFill>
                <a:schemeClr val="bg1"/>
              </a:solidFill>
              <a:latin typeface="맑은 고딕" panose="020B0503020000020004" pitchFamily="50" charset="-127"/>
            </a:endParaRPr>
          </a:p>
        </p:txBody>
      </p:sp>
      <p:sp>
        <p:nvSpPr>
          <p:cNvPr id="207" name="타원 206"/>
          <p:cNvSpPr/>
          <p:nvPr/>
        </p:nvSpPr>
        <p:spPr>
          <a:xfrm>
            <a:off x="4344600" y="2305896"/>
            <a:ext cx="504000" cy="504000"/>
          </a:xfrm>
          <a:prstGeom prst="ellipse">
            <a:avLst/>
          </a:prstGeom>
          <a:solidFill>
            <a:schemeClr val="tx1">
              <a:lumMod val="75000"/>
              <a:lumOff val="25000"/>
            </a:schemeClr>
          </a:solidFill>
          <a:ln w="3175">
            <a:noFill/>
          </a:ln>
          <a:effectLst>
            <a:outerShdw blurRad="25400" dist="25400" dir="2700000" algn="tl" rotWithShape="0">
              <a:schemeClr val="tx1">
                <a:lumMod val="75000"/>
                <a:lumOff val="2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70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결제</a:t>
            </a:r>
            <a:endParaRPr lang="en-US" altLang="ko-KR" sz="700" smtClean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ctr"/>
            <a:r>
              <a:rPr lang="ko-KR" altLang="en-US" sz="70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완료</a:t>
            </a:r>
            <a:endParaRPr lang="ko-KR" altLang="en-US" sz="70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13" name="타원 212"/>
          <p:cNvSpPr/>
          <p:nvPr/>
        </p:nvSpPr>
        <p:spPr>
          <a:xfrm>
            <a:off x="8689670" y="2305896"/>
            <a:ext cx="504000" cy="504000"/>
          </a:xfrm>
          <a:prstGeom prst="ellipse">
            <a:avLst/>
          </a:prstGeom>
          <a:solidFill>
            <a:schemeClr val="tx1">
              <a:lumMod val="75000"/>
              <a:lumOff val="25000"/>
            </a:schemeClr>
          </a:solidFill>
          <a:ln w="3175">
            <a:noFill/>
          </a:ln>
          <a:effectLst>
            <a:outerShdw blurRad="25400" dist="25400" dir="2700000" algn="tl" rotWithShape="0">
              <a:schemeClr val="tx1">
                <a:lumMod val="75000"/>
                <a:lumOff val="2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70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상품</a:t>
            </a:r>
            <a:endParaRPr lang="en-US" altLang="ko-KR" sz="700" smtClean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ctr"/>
            <a:r>
              <a:rPr lang="ko-KR" altLang="en-US" sz="70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준비중</a:t>
            </a:r>
            <a:endParaRPr lang="ko-KR" altLang="en-US" sz="70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14" name="타원 213"/>
          <p:cNvSpPr/>
          <p:nvPr/>
        </p:nvSpPr>
        <p:spPr>
          <a:xfrm>
            <a:off x="9537084" y="2305896"/>
            <a:ext cx="504000" cy="504000"/>
          </a:xfrm>
          <a:prstGeom prst="ellipse">
            <a:avLst/>
          </a:prstGeom>
          <a:solidFill>
            <a:schemeClr val="tx1">
              <a:lumMod val="75000"/>
              <a:lumOff val="25000"/>
            </a:schemeClr>
          </a:solidFill>
          <a:ln w="3175">
            <a:noFill/>
          </a:ln>
          <a:effectLst>
            <a:outerShdw blurRad="25400" dist="25400" dir="2700000" algn="tl" rotWithShape="0">
              <a:schemeClr val="tx1">
                <a:lumMod val="75000"/>
                <a:lumOff val="2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70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배송중</a:t>
            </a:r>
            <a:endParaRPr lang="ko-KR" altLang="en-US" sz="70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15" name="타원 214"/>
          <p:cNvSpPr/>
          <p:nvPr/>
        </p:nvSpPr>
        <p:spPr>
          <a:xfrm>
            <a:off x="10384498" y="2305896"/>
            <a:ext cx="504000" cy="504000"/>
          </a:xfrm>
          <a:prstGeom prst="ellipse">
            <a:avLst/>
          </a:prstGeom>
          <a:solidFill>
            <a:schemeClr val="tx1">
              <a:lumMod val="75000"/>
              <a:lumOff val="25000"/>
            </a:schemeClr>
          </a:solidFill>
          <a:ln w="3175">
            <a:noFill/>
          </a:ln>
          <a:effectLst>
            <a:outerShdw blurRad="25400" dist="25400" dir="2700000" algn="tl" rotWithShape="0">
              <a:schemeClr val="tx1">
                <a:lumMod val="75000"/>
                <a:lumOff val="2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70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배송완료</a:t>
            </a:r>
            <a:endParaRPr lang="ko-KR" altLang="en-US" sz="70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252" name="꺾인 연결선 251"/>
          <p:cNvCxnSpPr>
            <a:stCxn id="255" idx="3"/>
            <a:endCxn id="265" idx="1"/>
          </p:cNvCxnSpPr>
          <p:nvPr/>
        </p:nvCxnSpPr>
        <p:spPr>
          <a:xfrm>
            <a:off x="2522358" y="2018244"/>
            <a:ext cx="127414" cy="539729"/>
          </a:xfrm>
          <a:prstGeom prst="bentConnector3">
            <a:avLst>
              <a:gd name="adj1" fmla="val 50000"/>
            </a:avLst>
          </a:prstGeom>
          <a:noFill/>
          <a:ln w="6350" cap="flat" cmpd="sng" algn="ctr">
            <a:solidFill>
              <a:srgbClr val="FFFFFF">
                <a:lumMod val="50000"/>
              </a:srgbClr>
            </a:solidFill>
            <a:prstDash val="solid"/>
            <a:tailEnd type="triangle"/>
          </a:ln>
          <a:effectLst/>
        </p:spPr>
      </p:cxnSp>
      <p:cxnSp>
        <p:nvCxnSpPr>
          <p:cNvPr id="253" name="꺾인 연결선 252"/>
          <p:cNvCxnSpPr>
            <a:stCxn id="255" idx="3"/>
            <a:endCxn id="264" idx="1"/>
          </p:cNvCxnSpPr>
          <p:nvPr/>
        </p:nvCxnSpPr>
        <p:spPr>
          <a:xfrm flipV="1">
            <a:off x="2522358" y="1478244"/>
            <a:ext cx="127414" cy="540000"/>
          </a:xfrm>
          <a:prstGeom prst="bentConnector3">
            <a:avLst>
              <a:gd name="adj1" fmla="val 50000"/>
            </a:avLst>
          </a:prstGeom>
          <a:noFill/>
          <a:ln w="6350" cap="flat" cmpd="sng" algn="ctr">
            <a:solidFill>
              <a:srgbClr val="FFFFFF">
                <a:lumMod val="50000"/>
              </a:srgbClr>
            </a:solidFill>
            <a:prstDash val="solid"/>
            <a:tailEnd type="triangle"/>
          </a:ln>
          <a:effectLst/>
        </p:spPr>
      </p:cxnSp>
      <p:cxnSp>
        <p:nvCxnSpPr>
          <p:cNvPr id="254" name="직선 화살표 연결선 253">
            <a:extLst>
              <a:ext uri="{FF2B5EF4-FFF2-40B4-BE49-F238E27FC236}">
                <a16:creationId xmlns="" xmlns:a16="http://schemas.microsoft.com/office/drawing/2014/main" id="{3D9B20DA-AA59-4AA9-AC84-6C3B8844582A}"/>
              </a:ext>
            </a:extLst>
          </p:cNvPr>
          <p:cNvCxnSpPr>
            <a:cxnSpLocks/>
            <a:stCxn id="255" idx="3"/>
            <a:endCxn id="256" idx="1"/>
          </p:cNvCxnSpPr>
          <p:nvPr/>
        </p:nvCxnSpPr>
        <p:spPr>
          <a:xfrm>
            <a:off x="2522358" y="2018244"/>
            <a:ext cx="127414" cy="0"/>
          </a:xfrm>
          <a:prstGeom prst="straightConnector1">
            <a:avLst/>
          </a:prstGeom>
          <a:noFill/>
          <a:ln w="6350" cap="flat" cmpd="sng" algn="ctr">
            <a:solidFill>
              <a:srgbClr val="FFFFFF">
                <a:lumMod val="50000"/>
              </a:srgbClr>
            </a:solidFill>
            <a:prstDash val="solid"/>
            <a:tailEnd type="triangle"/>
          </a:ln>
          <a:effectLst/>
        </p:spPr>
      </p:cxnSp>
      <p:sp>
        <p:nvSpPr>
          <p:cNvPr id="255" name="모서리가 둥근 직사각형 254"/>
          <p:cNvSpPr/>
          <p:nvPr/>
        </p:nvSpPr>
        <p:spPr>
          <a:xfrm>
            <a:off x="1802358" y="1838244"/>
            <a:ext cx="720000" cy="360000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 w="3175">
            <a:solidFill>
              <a:schemeClr val="bg1">
                <a:lumMod val="75000"/>
              </a:schemeClr>
            </a:solidFill>
          </a:ln>
          <a:effectLst>
            <a:outerShdw blurRad="12700" dist="12700" dir="2700000" algn="tl" rotWithShape="0">
              <a:schemeClr val="tx1">
                <a:lumMod val="75000"/>
                <a:lumOff val="2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8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상품 상세</a:t>
            </a:r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56" name="모서리가 둥근 직사각형 255"/>
          <p:cNvSpPr/>
          <p:nvPr/>
        </p:nvSpPr>
        <p:spPr>
          <a:xfrm>
            <a:off x="2649772" y="1838244"/>
            <a:ext cx="720000" cy="360000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 w="3175">
            <a:solidFill>
              <a:schemeClr val="bg1">
                <a:lumMod val="75000"/>
              </a:schemeClr>
            </a:solidFill>
          </a:ln>
          <a:effectLst>
            <a:outerShdw blurRad="12700" dist="12700" dir="2700000" algn="tl" rotWithShape="0">
              <a:schemeClr val="tx1">
                <a:lumMod val="75000"/>
                <a:lumOff val="2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8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쇼핑백</a:t>
            </a:r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57" name="모서리가 둥근 직사각형 256"/>
          <p:cNvSpPr/>
          <p:nvPr/>
        </p:nvSpPr>
        <p:spPr>
          <a:xfrm>
            <a:off x="3497186" y="1838244"/>
            <a:ext cx="720000" cy="360000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 w="3175">
            <a:solidFill>
              <a:schemeClr val="bg1">
                <a:lumMod val="75000"/>
              </a:schemeClr>
            </a:solidFill>
          </a:ln>
          <a:effectLst>
            <a:outerShdw blurRad="12700" dist="12700" dir="2700000" algn="tl" rotWithShape="0">
              <a:schemeClr val="tx1">
                <a:lumMod val="75000"/>
                <a:lumOff val="2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8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주문완료</a:t>
            </a:r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258" name="직선 화살표 연결선 257">
            <a:extLst>
              <a:ext uri="{FF2B5EF4-FFF2-40B4-BE49-F238E27FC236}">
                <a16:creationId xmlns="" xmlns:a16="http://schemas.microsoft.com/office/drawing/2014/main" id="{3D9B20DA-AA59-4AA9-AC84-6C3B8844582A}"/>
              </a:ext>
            </a:extLst>
          </p:cNvPr>
          <p:cNvCxnSpPr>
            <a:cxnSpLocks/>
            <a:stCxn id="257" idx="2"/>
            <a:endCxn id="278" idx="0"/>
          </p:cNvCxnSpPr>
          <p:nvPr/>
        </p:nvCxnSpPr>
        <p:spPr>
          <a:xfrm>
            <a:off x="3857186" y="2198244"/>
            <a:ext cx="0" cy="179729"/>
          </a:xfrm>
          <a:prstGeom prst="straightConnector1">
            <a:avLst/>
          </a:prstGeom>
          <a:noFill/>
          <a:ln w="6350" cap="flat" cmpd="sng" algn="ctr">
            <a:solidFill>
              <a:srgbClr val="FFFFFF">
                <a:lumMod val="50000"/>
              </a:srgbClr>
            </a:solidFill>
            <a:prstDash val="solid"/>
            <a:tailEnd type="triangle"/>
          </a:ln>
          <a:effectLst/>
        </p:spPr>
      </p:cxnSp>
      <p:sp>
        <p:nvSpPr>
          <p:cNvPr id="259" name="모서리가 둥근 직사각형 258"/>
          <p:cNvSpPr/>
          <p:nvPr/>
        </p:nvSpPr>
        <p:spPr>
          <a:xfrm>
            <a:off x="9429084" y="1838244"/>
            <a:ext cx="720000" cy="360000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 w="3175">
            <a:solidFill>
              <a:schemeClr val="bg1">
                <a:lumMod val="75000"/>
              </a:schemeClr>
            </a:solidFill>
          </a:ln>
          <a:effectLst>
            <a:outerShdw blurRad="12700" dist="12700" dir="2700000" algn="tl" rotWithShape="0">
              <a:schemeClr val="tx1">
                <a:lumMod val="75000"/>
                <a:lumOff val="2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8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배송중</a:t>
            </a:r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260" name="직선 화살표 연결선 259">
            <a:extLst>
              <a:ext uri="{FF2B5EF4-FFF2-40B4-BE49-F238E27FC236}">
                <a16:creationId xmlns="" xmlns:a16="http://schemas.microsoft.com/office/drawing/2014/main" id="{3D9B20DA-AA59-4AA9-AC84-6C3B8844582A}"/>
              </a:ext>
            </a:extLst>
          </p:cNvPr>
          <p:cNvCxnSpPr>
            <a:cxnSpLocks/>
            <a:stCxn id="214" idx="0"/>
            <a:endCxn id="259" idx="2"/>
          </p:cNvCxnSpPr>
          <p:nvPr/>
        </p:nvCxnSpPr>
        <p:spPr>
          <a:xfrm flipV="1">
            <a:off x="9789084" y="2198244"/>
            <a:ext cx="0" cy="107652"/>
          </a:xfrm>
          <a:prstGeom prst="straightConnector1">
            <a:avLst/>
          </a:prstGeom>
          <a:noFill/>
          <a:ln w="6350" cap="flat" cmpd="sng" algn="ctr">
            <a:solidFill>
              <a:srgbClr val="FFFFFF">
                <a:lumMod val="50000"/>
              </a:srgbClr>
            </a:solidFill>
            <a:prstDash val="solid"/>
            <a:tailEnd type="triangle"/>
          </a:ln>
          <a:effectLst/>
        </p:spPr>
      </p:cxnSp>
      <p:sp>
        <p:nvSpPr>
          <p:cNvPr id="261" name="모서리가 둥근 직사각형 260"/>
          <p:cNvSpPr/>
          <p:nvPr/>
        </p:nvSpPr>
        <p:spPr>
          <a:xfrm>
            <a:off x="10276498" y="1838244"/>
            <a:ext cx="720000" cy="360000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 w="3175">
            <a:solidFill>
              <a:schemeClr val="bg1">
                <a:lumMod val="75000"/>
              </a:schemeClr>
            </a:solidFill>
          </a:ln>
          <a:effectLst>
            <a:outerShdw blurRad="12700" dist="12700" dir="2700000" algn="tl" rotWithShape="0">
              <a:schemeClr val="tx1">
                <a:lumMod val="75000"/>
                <a:lumOff val="2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8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배송완료</a:t>
            </a:r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262" name="직선 화살표 연결선 261">
            <a:extLst>
              <a:ext uri="{FF2B5EF4-FFF2-40B4-BE49-F238E27FC236}">
                <a16:creationId xmlns="" xmlns:a16="http://schemas.microsoft.com/office/drawing/2014/main" id="{3D9B20DA-AA59-4AA9-AC84-6C3B8844582A}"/>
              </a:ext>
            </a:extLst>
          </p:cNvPr>
          <p:cNvCxnSpPr>
            <a:cxnSpLocks/>
            <a:stCxn id="259" idx="3"/>
            <a:endCxn id="261" idx="1"/>
          </p:cNvCxnSpPr>
          <p:nvPr/>
        </p:nvCxnSpPr>
        <p:spPr>
          <a:xfrm>
            <a:off x="10149084" y="2018244"/>
            <a:ext cx="127414" cy="0"/>
          </a:xfrm>
          <a:prstGeom prst="straightConnector1">
            <a:avLst/>
          </a:prstGeom>
          <a:noFill/>
          <a:ln w="6350" cap="flat" cmpd="sng" algn="ctr">
            <a:solidFill>
              <a:srgbClr val="FFFFFF">
                <a:lumMod val="50000"/>
              </a:srgbClr>
            </a:solidFill>
            <a:prstDash val="solid"/>
            <a:tailEnd type="triangle"/>
          </a:ln>
          <a:effectLst/>
        </p:spPr>
      </p:cxnSp>
      <p:cxnSp>
        <p:nvCxnSpPr>
          <p:cNvPr id="263" name="직선 화살표 연결선 262">
            <a:extLst>
              <a:ext uri="{FF2B5EF4-FFF2-40B4-BE49-F238E27FC236}">
                <a16:creationId xmlns="" xmlns:a16="http://schemas.microsoft.com/office/drawing/2014/main" id="{3D9B20DA-AA59-4AA9-AC84-6C3B8844582A}"/>
              </a:ext>
            </a:extLst>
          </p:cNvPr>
          <p:cNvCxnSpPr>
            <a:cxnSpLocks/>
            <a:stCxn id="256" idx="2"/>
            <a:endCxn id="265" idx="0"/>
          </p:cNvCxnSpPr>
          <p:nvPr/>
        </p:nvCxnSpPr>
        <p:spPr>
          <a:xfrm>
            <a:off x="3009772" y="2198244"/>
            <a:ext cx="0" cy="179729"/>
          </a:xfrm>
          <a:prstGeom prst="straightConnector1">
            <a:avLst/>
          </a:prstGeom>
          <a:noFill/>
          <a:ln w="6350" cap="flat" cmpd="sng" algn="ctr">
            <a:solidFill>
              <a:srgbClr val="FFFFFF">
                <a:lumMod val="50000"/>
              </a:srgbClr>
            </a:solidFill>
            <a:prstDash val="solid"/>
            <a:tailEnd type="triangle"/>
          </a:ln>
          <a:effectLst/>
        </p:spPr>
      </p:cxnSp>
      <p:sp>
        <p:nvSpPr>
          <p:cNvPr id="264" name="모서리가 둥근 직사각형 263"/>
          <p:cNvSpPr/>
          <p:nvPr/>
        </p:nvSpPr>
        <p:spPr>
          <a:xfrm>
            <a:off x="2649772" y="1298244"/>
            <a:ext cx="720000" cy="360000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 w="3175">
            <a:solidFill>
              <a:schemeClr val="bg1">
                <a:lumMod val="75000"/>
              </a:schemeClr>
            </a:solidFill>
          </a:ln>
          <a:effectLst>
            <a:outerShdw blurRad="12700" dist="12700" dir="2700000" algn="tl" rotWithShape="0">
              <a:schemeClr val="tx1">
                <a:lumMod val="75000"/>
                <a:lumOff val="2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8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원클릭 결제</a:t>
            </a:r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65" name="모서리가 둥근 직사각형 264"/>
          <p:cNvSpPr/>
          <p:nvPr/>
        </p:nvSpPr>
        <p:spPr>
          <a:xfrm>
            <a:off x="2649772" y="2377973"/>
            <a:ext cx="720000" cy="360000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 w="3175">
            <a:solidFill>
              <a:schemeClr val="bg1">
                <a:lumMod val="75000"/>
              </a:schemeClr>
            </a:solidFill>
          </a:ln>
          <a:effectLst>
            <a:outerShdw blurRad="12700" dist="12700" dir="2700000" algn="tl" rotWithShape="0">
              <a:schemeClr val="tx1">
                <a:lumMod val="75000"/>
                <a:lumOff val="2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8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주문서</a:t>
            </a:r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266" name="꺾인 연결선 265"/>
          <p:cNvCxnSpPr>
            <a:stCxn id="264" idx="3"/>
            <a:endCxn id="257" idx="1"/>
          </p:cNvCxnSpPr>
          <p:nvPr/>
        </p:nvCxnSpPr>
        <p:spPr>
          <a:xfrm>
            <a:off x="3369772" y="1478244"/>
            <a:ext cx="127414" cy="540000"/>
          </a:xfrm>
          <a:prstGeom prst="bentConnector3">
            <a:avLst>
              <a:gd name="adj1" fmla="val 50000"/>
            </a:avLst>
          </a:prstGeom>
          <a:noFill/>
          <a:ln w="6350" cap="flat" cmpd="sng" algn="ctr">
            <a:solidFill>
              <a:srgbClr val="FFFFFF">
                <a:lumMod val="50000"/>
              </a:srgbClr>
            </a:solidFill>
            <a:prstDash val="solid"/>
            <a:tailEnd type="triangle"/>
          </a:ln>
          <a:effectLst/>
        </p:spPr>
      </p:cxnSp>
      <p:cxnSp>
        <p:nvCxnSpPr>
          <p:cNvPr id="267" name="꺾인 연결선 266"/>
          <p:cNvCxnSpPr>
            <a:stCxn id="265" idx="3"/>
            <a:endCxn id="257" idx="1"/>
          </p:cNvCxnSpPr>
          <p:nvPr/>
        </p:nvCxnSpPr>
        <p:spPr>
          <a:xfrm flipV="1">
            <a:off x="3369772" y="2018244"/>
            <a:ext cx="127414" cy="539729"/>
          </a:xfrm>
          <a:prstGeom prst="bentConnector3">
            <a:avLst>
              <a:gd name="adj1" fmla="val 50000"/>
            </a:avLst>
          </a:prstGeom>
          <a:noFill/>
          <a:ln w="6350" cap="flat" cmpd="sng" algn="ctr">
            <a:solidFill>
              <a:srgbClr val="FFFFFF">
                <a:lumMod val="50000"/>
              </a:srgbClr>
            </a:solidFill>
            <a:prstDash val="solid"/>
            <a:tailEnd type="triangle"/>
          </a:ln>
          <a:effectLst/>
        </p:spPr>
      </p:cxnSp>
      <p:cxnSp>
        <p:nvCxnSpPr>
          <p:cNvPr id="268" name="직선 화살표 연결선 267">
            <a:extLst>
              <a:ext uri="{FF2B5EF4-FFF2-40B4-BE49-F238E27FC236}">
                <a16:creationId xmlns="" xmlns:a16="http://schemas.microsoft.com/office/drawing/2014/main" id="{3D9B20DA-AA59-4AA9-AC84-6C3B8844582A}"/>
              </a:ext>
            </a:extLst>
          </p:cNvPr>
          <p:cNvCxnSpPr>
            <a:cxnSpLocks/>
            <a:stCxn id="278" idx="2"/>
            <a:endCxn id="269" idx="0"/>
          </p:cNvCxnSpPr>
          <p:nvPr/>
        </p:nvCxnSpPr>
        <p:spPr>
          <a:xfrm>
            <a:off x="3857186" y="2737973"/>
            <a:ext cx="0" cy="540000"/>
          </a:xfrm>
          <a:prstGeom prst="straightConnector1">
            <a:avLst/>
          </a:prstGeom>
          <a:noFill/>
          <a:ln w="6350" cap="flat" cmpd="sng" algn="ctr">
            <a:solidFill>
              <a:srgbClr val="FFFFFF">
                <a:lumMod val="50000"/>
              </a:srgbClr>
            </a:solidFill>
            <a:prstDash val="solid"/>
            <a:tailEnd type="triangle"/>
          </a:ln>
          <a:effectLst/>
        </p:spPr>
      </p:cxnSp>
      <p:sp>
        <p:nvSpPr>
          <p:cNvPr id="269" name="모서리가 둥근 직사각형 268"/>
          <p:cNvSpPr/>
          <p:nvPr/>
        </p:nvSpPr>
        <p:spPr>
          <a:xfrm>
            <a:off x="3497186" y="3277973"/>
            <a:ext cx="720000" cy="3600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3175">
            <a:solidFill>
              <a:schemeClr val="bg1">
                <a:lumMod val="75000"/>
              </a:schemeClr>
            </a:solidFill>
          </a:ln>
          <a:effectLst>
            <a:outerShdw blurRad="12700" dist="12700" dir="2700000" algn="tl" rotWithShape="0">
              <a:schemeClr val="tx1">
                <a:lumMod val="75000"/>
                <a:lumOff val="2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8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주문수집</a:t>
            </a:r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70" name="모서리가 둥근 직사각형 269"/>
          <p:cNvSpPr/>
          <p:nvPr/>
        </p:nvSpPr>
        <p:spPr>
          <a:xfrm>
            <a:off x="7734256" y="3277973"/>
            <a:ext cx="720000" cy="3600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3175">
            <a:solidFill>
              <a:schemeClr val="bg1">
                <a:lumMod val="75000"/>
              </a:schemeClr>
            </a:solidFill>
          </a:ln>
          <a:effectLst>
            <a:outerShdw blurRad="12700" dist="12700" dir="2700000" algn="tl" rotWithShape="0">
              <a:schemeClr val="tx1">
                <a:lumMod val="75000"/>
                <a:lumOff val="2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8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출고처지정</a:t>
            </a:r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71" name="모서리가 둥근 직사각형 270"/>
          <p:cNvSpPr/>
          <p:nvPr/>
        </p:nvSpPr>
        <p:spPr>
          <a:xfrm>
            <a:off x="8581670" y="3277973"/>
            <a:ext cx="720000" cy="3600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3175">
            <a:solidFill>
              <a:schemeClr val="bg1">
                <a:lumMod val="75000"/>
              </a:schemeClr>
            </a:solidFill>
          </a:ln>
          <a:effectLst>
            <a:outerShdw blurRad="12700" dist="12700" dir="2700000" algn="tl" rotWithShape="0">
              <a:schemeClr val="tx1">
                <a:lumMod val="75000"/>
                <a:lumOff val="2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8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입고확정</a:t>
            </a:r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272" name="직선 화살표 연결선 271">
            <a:extLst>
              <a:ext uri="{FF2B5EF4-FFF2-40B4-BE49-F238E27FC236}">
                <a16:creationId xmlns="" xmlns:a16="http://schemas.microsoft.com/office/drawing/2014/main" id="{3D9B20DA-AA59-4AA9-AC84-6C3B8844582A}"/>
              </a:ext>
            </a:extLst>
          </p:cNvPr>
          <p:cNvCxnSpPr>
            <a:cxnSpLocks/>
            <a:stCxn id="31" idx="3"/>
            <a:endCxn id="270" idx="1"/>
          </p:cNvCxnSpPr>
          <p:nvPr/>
        </p:nvCxnSpPr>
        <p:spPr>
          <a:xfrm>
            <a:off x="5133131" y="3457973"/>
            <a:ext cx="2601125" cy="0"/>
          </a:xfrm>
          <a:prstGeom prst="straightConnector1">
            <a:avLst/>
          </a:prstGeom>
          <a:noFill/>
          <a:ln w="6350" cap="flat" cmpd="sng" algn="ctr">
            <a:solidFill>
              <a:srgbClr val="FFFFFF">
                <a:lumMod val="50000"/>
              </a:srgbClr>
            </a:solidFill>
            <a:prstDash val="solid"/>
            <a:tailEnd type="triangle"/>
          </a:ln>
          <a:effectLst/>
        </p:spPr>
      </p:cxnSp>
      <p:cxnSp>
        <p:nvCxnSpPr>
          <p:cNvPr id="273" name="직선 화살표 연결선 272">
            <a:extLst>
              <a:ext uri="{FF2B5EF4-FFF2-40B4-BE49-F238E27FC236}">
                <a16:creationId xmlns="" xmlns:a16="http://schemas.microsoft.com/office/drawing/2014/main" id="{3D9B20DA-AA59-4AA9-AC84-6C3B8844582A}"/>
              </a:ext>
            </a:extLst>
          </p:cNvPr>
          <p:cNvCxnSpPr>
            <a:cxnSpLocks/>
            <a:stCxn id="270" idx="3"/>
            <a:endCxn id="271" idx="1"/>
          </p:cNvCxnSpPr>
          <p:nvPr/>
        </p:nvCxnSpPr>
        <p:spPr>
          <a:xfrm>
            <a:off x="8454256" y="3457973"/>
            <a:ext cx="127414" cy="0"/>
          </a:xfrm>
          <a:prstGeom prst="straightConnector1">
            <a:avLst/>
          </a:prstGeom>
          <a:noFill/>
          <a:ln w="6350" cap="flat" cmpd="sng" algn="ctr">
            <a:solidFill>
              <a:srgbClr val="FFFFFF">
                <a:lumMod val="50000"/>
              </a:srgbClr>
            </a:solidFill>
            <a:prstDash val="solid"/>
            <a:tailEnd type="triangle"/>
          </a:ln>
          <a:effectLst/>
        </p:spPr>
      </p:cxnSp>
      <p:cxnSp>
        <p:nvCxnSpPr>
          <p:cNvPr id="274" name="직선 화살표 연결선 273">
            <a:extLst>
              <a:ext uri="{FF2B5EF4-FFF2-40B4-BE49-F238E27FC236}">
                <a16:creationId xmlns="" xmlns:a16="http://schemas.microsoft.com/office/drawing/2014/main" id="{3D9B20DA-AA59-4AA9-AC84-6C3B8844582A}"/>
              </a:ext>
            </a:extLst>
          </p:cNvPr>
          <p:cNvCxnSpPr>
            <a:cxnSpLocks/>
            <a:stCxn id="271" idx="0"/>
            <a:endCxn id="213" idx="4"/>
          </p:cNvCxnSpPr>
          <p:nvPr/>
        </p:nvCxnSpPr>
        <p:spPr>
          <a:xfrm flipV="1">
            <a:off x="8941670" y="2809896"/>
            <a:ext cx="0" cy="468077"/>
          </a:xfrm>
          <a:prstGeom prst="straightConnector1">
            <a:avLst/>
          </a:prstGeom>
          <a:noFill/>
          <a:ln w="6350" cap="flat" cmpd="sng" algn="ctr">
            <a:solidFill>
              <a:srgbClr val="FFFFFF">
                <a:lumMod val="50000"/>
              </a:srgbClr>
            </a:solidFill>
            <a:prstDash val="solid"/>
            <a:tailEnd type="triangle"/>
          </a:ln>
          <a:effectLst/>
        </p:spPr>
      </p:cxnSp>
      <p:sp>
        <p:nvSpPr>
          <p:cNvPr id="275" name="모서리가 둥근 직사각형 274"/>
          <p:cNvSpPr/>
          <p:nvPr/>
        </p:nvSpPr>
        <p:spPr>
          <a:xfrm>
            <a:off x="9429084" y="3277973"/>
            <a:ext cx="720000" cy="3600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3175">
            <a:solidFill>
              <a:schemeClr val="bg1">
                <a:lumMod val="75000"/>
              </a:schemeClr>
            </a:solidFill>
          </a:ln>
          <a:effectLst>
            <a:outerShdw blurRad="12700" dist="12700" dir="2700000" algn="tl" rotWithShape="0">
              <a:schemeClr val="tx1">
                <a:lumMod val="75000"/>
                <a:lumOff val="2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8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송장출력</a:t>
            </a:r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276" name="직선 화살표 연결선 275">
            <a:extLst>
              <a:ext uri="{FF2B5EF4-FFF2-40B4-BE49-F238E27FC236}">
                <a16:creationId xmlns="" xmlns:a16="http://schemas.microsoft.com/office/drawing/2014/main" id="{3D9B20DA-AA59-4AA9-AC84-6C3B8844582A}"/>
              </a:ext>
            </a:extLst>
          </p:cNvPr>
          <p:cNvCxnSpPr>
            <a:cxnSpLocks/>
            <a:stCxn id="271" idx="3"/>
            <a:endCxn id="275" idx="1"/>
          </p:cNvCxnSpPr>
          <p:nvPr/>
        </p:nvCxnSpPr>
        <p:spPr>
          <a:xfrm>
            <a:off x="9301670" y="3457973"/>
            <a:ext cx="127414" cy="0"/>
          </a:xfrm>
          <a:prstGeom prst="straightConnector1">
            <a:avLst/>
          </a:prstGeom>
          <a:noFill/>
          <a:ln w="6350" cap="flat" cmpd="sng" algn="ctr">
            <a:solidFill>
              <a:srgbClr val="FFFFFF">
                <a:lumMod val="50000"/>
              </a:srgbClr>
            </a:solidFill>
            <a:prstDash val="solid"/>
            <a:tailEnd type="triangle"/>
          </a:ln>
          <a:effectLst/>
        </p:spPr>
      </p:cxnSp>
      <p:cxnSp>
        <p:nvCxnSpPr>
          <p:cNvPr id="277" name="직선 화살표 연결선 276">
            <a:extLst>
              <a:ext uri="{FF2B5EF4-FFF2-40B4-BE49-F238E27FC236}">
                <a16:creationId xmlns="" xmlns:a16="http://schemas.microsoft.com/office/drawing/2014/main" id="{3D9B20DA-AA59-4AA9-AC84-6C3B8844582A}"/>
              </a:ext>
            </a:extLst>
          </p:cNvPr>
          <p:cNvCxnSpPr>
            <a:cxnSpLocks/>
            <a:stCxn id="275" idx="0"/>
            <a:endCxn id="214" idx="4"/>
          </p:cNvCxnSpPr>
          <p:nvPr/>
        </p:nvCxnSpPr>
        <p:spPr>
          <a:xfrm flipV="1">
            <a:off x="9789084" y="2809896"/>
            <a:ext cx="0" cy="468077"/>
          </a:xfrm>
          <a:prstGeom prst="straightConnector1">
            <a:avLst/>
          </a:prstGeom>
          <a:noFill/>
          <a:ln w="6350" cap="flat" cmpd="sng" algn="ctr">
            <a:solidFill>
              <a:srgbClr val="FFFFFF">
                <a:lumMod val="50000"/>
              </a:srgbClr>
            </a:solidFill>
            <a:prstDash val="solid"/>
            <a:tailEnd type="triangle"/>
          </a:ln>
          <a:effectLst/>
        </p:spPr>
      </p:cxnSp>
      <p:sp>
        <p:nvSpPr>
          <p:cNvPr id="278" name="모서리가 둥근 직사각형 277"/>
          <p:cNvSpPr/>
          <p:nvPr/>
        </p:nvSpPr>
        <p:spPr>
          <a:xfrm>
            <a:off x="3497186" y="2377973"/>
            <a:ext cx="720000" cy="360000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 w="3175">
            <a:solidFill>
              <a:schemeClr val="bg1">
                <a:lumMod val="75000"/>
              </a:schemeClr>
            </a:solidFill>
          </a:ln>
          <a:effectLst>
            <a:outerShdw blurRad="12700" dist="12700" dir="2700000" algn="tl" rotWithShape="0">
              <a:schemeClr val="tx1">
                <a:lumMod val="75000"/>
                <a:lumOff val="2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8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주문생성</a:t>
            </a:r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92" name="모서리가 둥근 직사각형 291"/>
          <p:cNvSpPr/>
          <p:nvPr/>
        </p:nvSpPr>
        <p:spPr>
          <a:xfrm>
            <a:off x="954944" y="1838244"/>
            <a:ext cx="720000" cy="360000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 w="3175">
            <a:solidFill>
              <a:schemeClr val="bg1">
                <a:lumMod val="75000"/>
              </a:schemeClr>
            </a:solidFill>
          </a:ln>
          <a:effectLst>
            <a:outerShdw blurRad="12700" dist="12700" dir="2700000" algn="tl" rotWithShape="0">
              <a:schemeClr val="tx1">
                <a:lumMod val="75000"/>
                <a:lumOff val="2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8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상품 목록</a:t>
            </a:r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03" name="모서리가 둥근 직사각형 302"/>
          <p:cNvSpPr/>
          <p:nvPr/>
        </p:nvSpPr>
        <p:spPr>
          <a:xfrm>
            <a:off x="10276498" y="3277973"/>
            <a:ext cx="720000" cy="3600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3175">
            <a:solidFill>
              <a:schemeClr val="bg1">
                <a:lumMod val="75000"/>
              </a:schemeClr>
            </a:solidFill>
          </a:ln>
          <a:effectLst>
            <a:outerShdw blurRad="12700" dist="12700" dir="2700000" algn="tl" rotWithShape="0">
              <a:schemeClr val="tx1">
                <a:lumMod val="75000"/>
                <a:lumOff val="2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8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CJ</a:t>
            </a:r>
            <a:r>
              <a:rPr lang="ko-KR" altLang="en-US" sz="8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대한통운</a:t>
            </a:r>
            <a:endParaRPr lang="en-US" altLang="ko-KR" sz="800" smtClean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ctr"/>
            <a:r>
              <a:rPr lang="ko-KR" altLang="en-US" sz="8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배송완료</a:t>
            </a:r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304" name="직선 화살표 연결선 303">
            <a:extLst>
              <a:ext uri="{FF2B5EF4-FFF2-40B4-BE49-F238E27FC236}">
                <a16:creationId xmlns="" xmlns:a16="http://schemas.microsoft.com/office/drawing/2014/main" id="{3D9B20DA-AA59-4AA9-AC84-6C3B8844582A}"/>
              </a:ext>
            </a:extLst>
          </p:cNvPr>
          <p:cNvCxnSpPr>
            <a:cxnSpLocks/>
            <a:stCxn id="275" idx="3"/>
            <a:endCxn id="303" idx="1"/>
          </p:cNvCxnSpPr>
          <p:nvPr/>
        </p:nvCxnSpPr>
        <p:spPr>
          <a:xfrm>
            <a:off x="10149084" y="3457973"/>
            <a:ext cx="127414" cy="0"/>
          </a:xfrm>
          <a:prstGeom prst="straightConnector1">
            <a:avLst/>
          </a:prstGeom>
          <a:noFill/>
          <a:ln w="6350" cap="flat" cmpd="sng" algn="ctr">
            <a:solidFill>
              <a:srgbClr val="FFFFFF">
                <a:lumMod val="50000"/>
              </a:srgbClr>
            </a:solidFill>
            <a:prstDash val="solid"/>
            <a:tailEnd type="triangle"/>
          </a:ln>
          <a:effectLst/>
        </p:spPr>
      </p:cxnSp>
      <p:cxnSp>
        <p:nvCxnSpPr>
          <p:cNvPr id="100" name="직선 화살표 연결선 99">
            <a:extLst>
              <a:ext uri="{FF2B5EF4-FFF2-40B4-BE49-F238E27FC236}">
                <a16:creationId xmlns="" xmlns:a16="http://schemas.microsoft.com/office/drawing/2014/main" id="{3D9B20DA-AA59-4AA9-AC84-6C3B8844582A}"/>
              </a:ext>
            </a:extLst>
          </p:cNvPr>
          <p:cNvCxnSpPr>
            <a:cxnSpLocks/>
            <a:stCxn id="215" idx="0"/>
            <a:endCxn id="261" idx="2"/>
          </p:cNvCxnSpPr>
          <p:nvPr/>
        </p:nvCxnSpPr>
        <p:spPr>
          <a:xfrm flipV="1">
            <a:off x="10636498" y="2198244"/>
            <a:ext cx="0" cy="107652"/>
          </a:xfrm>
          <a:prstGeom prst="straightConnector1">
            <a:avLst/>
          </a:prstGeom>
          <a:noFill/>
          <a:ln w="6350" cap="flat" cmpd="sng" algn="ctr">
            <a:solidFill>
              <a:srgbClr val="FFFFFF">
                <a:lumMod val="50000"/>
              </a:srgbClr>
            </a:solidFill>
            <a:prstDash val="solid"/>
            <a:tailEnd type="triangle"/>
          </a:ln>
          <a:effectLst/>
        </p:spPr>
      </p:cxnSp>
      <p:cxnSp>
        <p:nvCxnSpPr>
          <p:cNvPr id="104" name="직선 화살표 연결선 103">
            <a:extLst>
              <a:ext uri="{FF2B5EF4-FFF2-40B4-BE49-F238E27FC236}">
                <a16:creationId xmlns="" xmlns:a16="http://schemas.microsoft.com/office/drawing/2014/main" id="{3D9B20DA-AA59-4AA9-AC84-6C3B8844582A}"/>
              </a:ext>
            </a:extLst>
          </p:cNvPr>
          <p:cNvCxnSpPr>
            <a:cxnSpLocks/>
            <a:stCxn id="303" idx="0"/>
            <a:endCxn id="215" idx="4"/>
          </p:cNvCxnSpPr>
          <p:nvPr/>
        </p:nvCxnSpPr>
        <p:spPr>
          <a:xfrm flipV="1">
            <a:off x="10636498" y="2809896"/>
            <a:ext cx="0" cy="468077"/>
          </a:xfrm>
          <a:prstGeom prst="straightConnector1">
            <a:avLst/>
          </a:prstGeom>
          <a:noFill/>
          <a:ln w="6350" cap="flat" cmpd="sng" algn="ctr">
            <a:solidFill>
              <a:srgbClr val="FFFFFF">
                <a:lumMod val="50000"/>
              </a:srgbClr>
            </a:solidFill>
            <a:prstDash val="solid"/>
            <a:tailEnd type="triangle"/>
          </a:ln>
          <a:effectLst/>
        </p:spPr>
      </p:cxnSp>
      <p:cxnSp>
        <p:nvCxnSpPr>
          <p:cNvPr id="131" name="직선 화살표 연결선 130">
            <a:extLst>
              <a:ext uri="{FF2B5EF4-FFF2-40B4-BE49-F238E27FC236}">
                <a16:creationId xmlns="" xmlns:a16="http://schemas.microsoft.com/office/drawing/2014/main" id="{3D9B20DA-AA59-4AA9-AC84-6C3B8844582A}"/>
              </a:ext>
            </a:extLst>
          </p:cNvPr>
          <p:cNvCxnSpPr>
            <a:cxnSpLocks/>
            <a:stCxn id="269" idx="3"/>
            <a:endCxn id="31" idx="1"/>
          </p:cNvCxnSpPr>
          <p:nvPr/>
        </p:nvCxnSpPr>
        <p:spPr>
          <a:xfrm>
            <a:off x="4217186" y="3457973"/>
            <a:ext cx="195945" cy="0"/>
          </a:xfrm>
          <a:prstGeom prst="straightConnector1">
            <a:avLst/>
          </a:prstGeom>
          <a:noFill/>
          <a:ln w="6350" cap="flat" cmpd="sng" algn="ctr">
            <a:solidFill>
              <a:srgbClr val="FFFFFF">
                <a:lumMod val="50000"/>
              </a:srgbClr>
            </a:solidFill>
            <a:prstDash val="solid"/>
            <a:tailEnd type="triangle"/>
          </a:ln>
          <a:effectLst/>
        </p:spPr>
      </p:cxnSp>
      <p:sp>
        <p:nvSpPr>
          <p:cNvPr id="150" name="다이아몬드 149"/>
          <p:cNvSpPr/>
          <p:nvPr/>
        </p:nvSpPr>
        <p:spPr>
          <a:xfrm>
            <a:off x="6886842" y="3655373"/>
            <a:ext cx="720000" cy="648000"/>
          </a:xfrm>
          <a:prstGeom prst="diamond">
            <a:avLst/>
          </a:prstGeom>
          <a:solidFill>
            <a:schemeClr val="bg1">
              <a:lumMod val="8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7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가용화</a:t>
            </a:r>
            <a:endParaRPr lang="ko-KR" altLang="en-US" sz="70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89" name="직선 화살표 연결선 88">
            <a:extLst>
              <a:ext uri="{FF2B5EF4-FFF2-40B4-BE49-F238E27FC236}">
                <a16:creationId xmlns="" xmlns:a16="http://schemas.microsoft.com/office/drawing/2014/main" id="{3D9B20DA-AA59-4AA9-AC84-6C3B8844582A}"/>
              </a:ext>
            </a:extLst>
          </p:cNvPr>
          <p:cNvCxnSpPr>
            <a:cxnSpLocks/>
            <a:stCxn id="292" idx="3"/>
            <a:endCxn id="255" idx="1"/>
          </p:cNvCxnSpPr>
          <p:nvPr/>
        </p:nvCxnSpPr>
        <p:spPr>
          <a:xfrm>
            <a:off x="1674944" y="2018244"/>
            <a:ext cx="127414" cy="0"/>
          </a:xfrm>
          <a:prstGeom prst="straightConnector1">
            <a:avLst/>
          </a:prstGeom>
          <a:noFill/>
          <a:ln w="6350" cap="flat" cmpd="sng" algn="ctr">
            <a:solidFill>
              <a:srgbClr val="FFFFFF">
                <a:lumMod val="50000"/>
              </a:srgbClr>
            </a:solidFill>
            <a:prstDash val="solid"/>
            <a:tailEnd type="triangle"/>
          </a:ln>
          <a:effectLst/>
        </p:spPr>
      </p:cxnSp>
      <p:sp>
        <p:nvSpPr>
          <p:cNvPr id="31" name="다이아몬드 30"/>
          <p:cNvSpPr/>
          <p:nvPr/>
        </p:nvSpPr>
        <p:spPr>
          <a:xfrm>
            <a:off x="4413131" y="3133973"/>
            <a:ext cx="720000" cy="648000"/>
          </a:xfrm>
          <a:prstGeom prst="diamond">
            <a:avLst/>
          </a:prstGeom>
          <a:solidFill>
            <a:schemeClr val="accent2">
              <a:lumMod val="20000"/>
              <a:lumOff val="8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7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매장상품배송</a:t>
            </a:r>
            <a:endParaRPr lang="ko-KR" altLang="en-US" sz="70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634008" y="3781143"/>
            <a:ext cx="135221" cy="195814"/>
          </a:xfrm>
          <a:prstGeom prst="rect">
            <a:avLst/>
          </a:prstGeom>
          <a:noFill/>
        </p:spPr>
        <p:txBody>
          <a:bodyPr wrap="none" lIns="36000" tIns="36000" rIns="36000" bIns="36000" rtlCol="0" anchor="ctr">
            <a:spAutoFit/>
          </a:bodyPr>
          <a:lstStyle/>
          <a:p>
            <a:pPr algn="r"/>
            <a:r>
              <a:rPr lang="en-US" altLang="ko-KR" sz="800" b="1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Y</a:t>
            </a:r>
            <a:endParaRPr lang="ko-KR" altLang="en-US" sz="800" b="1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9" name="TextBox 98"/>
          <p:cNvSpPr txBox="1"/>
          <p:nvPr/>
        </p:nvSpPr>
        <p:spPr>
          <a:xfrm>
            <a:off x="5113026" y="3261073"/>
            <a:ext cx="154457" cy="195814"/>
          </a:xfrm>
          <a:prstGeom prst="rect">
            <a:avLst/>
          </a:prstGeom>
          <a:noFill/>
        </p:spPr>
        <p:txBody>
          <a:bodyPr wrap="none" lIns="36000" tIns="36000" rIns="36000" bIns="36000" rtlCol="0" anchor="ctr">
            <a:spAutoFit/>
          </a:bodyPr>
          <a:lstStyle/>
          <a:p>
            <a:pPr algn="r"/>
            <a:r>
              <a:rPr lang="en-US" altLang="ko-KR" sz="800" b="1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N</a:t>
            </a:r>
            <a:endParaRPr lang="ko-KR" altLang="en-US" sz="800" b="1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3" name="TextBox 102"/>
          <p:cNvSpPr txBox="1"/>
          <p:nvPr/>
        </p:nvSpPr>
        <p:spPr>
          <a:xfrm>
            <a:off x="6244971" y="4196957"/>
            <a:ext cx="154457" cy="195814"/>
          </a:xfrm>
          <a:prstGeom prst="rect">
            <a:avLst/>
          </a:prstGeom>
          <a:noFill/>
        </p:spPr>
        <p:txBody>
          <a:bodyPr wrap="none" lIns="36000" tIns="36000" rIns="36000" bIns="36000" rtlCol="0" anchor="ctr">
            <a:spAutoFit/>
          </a:bodyPr>
          <a:lstStyle/>
          <a:p>
            <a:pPr algn="r"/>
            <a:r>
              <a:rPr lang="en-US" altLang="ko-KR" sz="800" b="1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N</a:t>
            </a:r>
            <a:endParaRPr lang="ko-KR" altLang="en-US" sz="800" b="1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72" name="그룹 71"/>
          <p:cNvGrpSpPr/>
          <p:nvPr/>
        </p:nvGrpSpPr>
        <p:grpSpPr>
          <a:xfrm>
            <a:off x="323530" y="1712244"/>
            <a:ext cx="504000" cy="612000"/>
            <a:chOff x="323530" y="1529728"/>
            <a:chExt cx="504000" cy="612000"/>
          </a:xfrm>
        </p:grpSpPr>
        <p:sp>
          <p:nvSpPr>
            <p:cNvPr id="206" name="TextBox 205"/>
            <p:cNvSpPr txBox="1"/>
            <p:nvPr/>
          </p:nvSpPr>
          <p:spPr>
            <a:xfrm>
              <a:off x="323530" y="1961728"/>
              <a:ext cx="504000" cy="180000"/>
            </a:xfrm>
            <a:prstGeom prst="roundRect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txBody>
            <a:bodyPr wrap="none" lIns="36000" tIns="36000" rIns="36000" bIns="36000" rtlCol="0" anchor="ctr">
              <a:noAutofit/>
            </a:bodyPr>
            <a:lstStyle/>
            <a:p>
              <a:pPr algn="ctr"/>
              <a:r>
                <a:rPr lang="ko-KR" altLang="en-US" sz="700" b="1" smtClean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고객</a:t>
              </a:r>
            </a:p>
          </p:txBody>
        </p:sp>
        <p:sp>
          <p:nvSpPr>
            <p:cNvPr id="125" name="Group"/>
            <p:cNvSpPr>
              <a:spLocks noChangeAspect="1" noEditPoints="1"/>
            </p:cNvSpPr>
            <p:nvPr/>
          </p:nvSpPr>
          <p:spPr bwMode="auto">
            <a:xfrm>
              <a:off x="380211" y="1529728"/>
              <a:ext cx="390638" cy="360000"/>
            </a:xfrm>
            <a:custGeom>
              <a:avLst/>
              <a:gdLst>
                <a:gd name="T0" fmla="*/ 146 w 666"/>
                <a:gd name="T1" fmla="*/ 80 h 613"/>
                <a:gd name="T2" fmla="*/ 151 w 666"/>
                <a:gd name="T3" fmla="*/ 165 h 613"/>
                <a:gd name="T4" fmla="*/ 26 w 666"/>
                <a:gd name="T5" fmla="*/ 253 h 613"/>
                <a:gd name="T6" fmla="*/ 0 w 666"/>
                <a:gd name="T7" fmla="*/ 440 h 613"/>
                <a:gd name="T8" fmla="*/ 5 w 666"/>
                <a:gd name="T9" fmla="*/ 510 h 613"/>
                <a:gd name="T10" fmla="*/ 120 w 666"/>
                <a:gd name="T11" fmla="*/ 533 h 613"/>
                <a:gd name="T12" fmla="*/ 213 w 666"/>
                <a:gd name="T13" fmla="*/ 520 h 613"/>
                <a:gd name="T14" fmla="*/ 218 w 666"/>
                <a:gd name="T15" fmla="*/ 590 h 613"/>
                <a:gd name="T16" fmla="*/ 333 w 666"/>
                <a:gd name="T17" fmla="*/ 613 h 613"/>
                <a:gd name="T18" fmla="*/ 448 w 666"/>
                <a:gd name="T19" fmla="*/ 590 h 613"/>
                <a:gd name="T20" fmla="*/ 453 w 666"/>
                <a:gd name="T21" fmla="*/ 520 h 613"/>
                <a:gd name="T22" fmla="*/ 546 w 666"/>
                <a:gd name="T23" fmla="*/ 533 h 613"/>
                <a:gd name="T24" fmla="*/ 661 w 666"/>
                <a:gd name="T25" fmla="*/ 510 h 613"/>
                <a:gd name="T26" fmla="*/ 666 w 666"/>
                <a:gd name="T27" fmla="*/ 440 h 613"/>
                <a:gd name="T28" fmla="*/ 640 w 666"/>
                <a:gd name="T29" fmla="*/ 253 h 613"/>
                <a:gd name="T30" fmla="*/ 513 w 666"/>
                <a:gd name="T31" fmla="*/ 166 h 613"/>
                <a:gd name="T32" fmla="*/ 517 w 666"/>
                <a:gd name="T33" fmla="*/ 80 h 613"/>
                <a:gd name="T34" fmla="*/ 357 w 666"/>
                <a:gd name="T35" fmla="*/ 80 h 613"/>
                <a:gd name="T36" fmla="*/ 332 w 666"/>
                <a:gd name="T37" fmla="*/ 224 h 613"/>
                <a:gd name="T38" fmla="*/ 306 w 666"/>
                <a:gd name="T39" fmla="*/ 80 h 613"/>
                <a:gd name="T40" fmla="*/ 226 w 666"/>
                <a:gd name="T41" fmla="*/ 26 h 613"/>
                <a:gd name="T42" fmla="*/ 226 w 666"/>
                <a:gd name="T43" fmla="*/ 133 h 613"/>
                <a:gd name="T44" fmla="*/ 226 w 666"/>
                <a:gd name="T45" fmla="*/ 26 h 613"/>
                <a:gd name="T46" fmla="*/ 490 w 666"/>
                <a:gd name="T47" fmla="*/ 80 h 613"/>
                <a:gd name="T48" fmla="*/ 384 w 666"/>
                <a:gd name="T49" fmla="*/ 80 h 613"/>
                <a:gd name="T50" fmla="*/ 226 w 666"/>
                <a:gd name="T51" fmla="*/ 160 h 613"/>
                <a:gd name="T52" fmla="*/ 306 w 666"/>
                <a:gd name="T53" fmla="*/ 244 h 613"/>
                <a:gd name="T54" fmla="*/ 282 w 666"/>
                <a:gd name="T55" fmla="*/ 411 h 613"/>
                <a:gd name="T56" fmla="*/ 240 w 666"/>
                <a:gd name="T57" fmla="*/ 440 h 613"/>
                <a:gd name="T58" fmla="*/ 213 w 666"/>
                <a:gd name="T59" fmla="*/ 253 h 613"/>
                <a:gd name="T60" fmla="*/ 226 w 666"/>
                <a:gd name="T61" fmla="*/ 160 h 613"/>
                <a:gd name="T62" fmla="*/ 489 w 666"/>
                <a:gd name="T63" fmla="*/ 179 h 613"/>
                <a:gd name="T64" fmla="*/ 495 w 666"/>
                <a:gd name="T65" fmla="*/ 331 h 613"/>
                <a:gd name="T66" fmla="*/ 426 w 666"/>
                <a:gd name="T67" fmla="*/ 445 h 613"/>
                <a:gd name="T68" fmla="*/ 426 w 666"/>
                <a:gd name="T69" fmla="*/ 333 h 613"/>
                <a:gd name="T70" fmla="*/ 357 w 666"/>
                <a:gd name="T71" fmla="*/ 240 h 613"/>
                <a:gd name="T72" fmla="*/ 120 w 666"/>
                <a:gd name="T73" fmla="*/ 186 h 613"/>
                <a:gd name="T74" fmla="*/ 120 w 666"/>
                <a:gd name="T75" fmla="*/ 320 h 613"/>
                <a:gd name="T76" fmla="*/ 120 w 666"/>
                <a:gd name="T77" fmla="*/ 186 h 613"/>
                <a:gd name="T78" fmla="*/ 613 w 666"/>
                <a:gd name="T79" fmla="*/ 253 h 613"/>
                <a:gd name="T80" fmla="*/ 480 w 666"/>
                <a:gd name="T81" fmla="*/ 253 h 613"/>
                <a:gd name="T82" fmla="*/ 333 w 666"/>
                <a:gd name="T83" fmla="*/ 266 h 613"/>
                <a:gd name="T84" fmla="*/ 333 w 666"/>
                <a:gd name="T85" fmla="*/ 400 h 613"/>
                <a:gd name="T86" fmla="*/ 333 w 666"/>
                <a:gd name="T87" fmla="*/ 266 h 613"/>
                <a:gd name="T88" fmla="*/ 213 w 666"/>
                <a:gd name="T89" fmla="*/ 440 h 613"/>
                <a:gd name="T90" fmla="*/ 199 w 666"/>
                <a:gd name="T91" fmla="*/ 497 h 613"/>
                <a:gd name="T92" fmla="*/ 40 w 666"/>
                <a:gd name="T93" fmla="*/ 497 h 613"/>
                <a:gd name="T94" fmla="*/ 26 w 666"/>
                <a:gd name="T95" fmla="*/ 440 h 613"/>
                <a:gd name="T96" fmla="*/ 546 w 666"/>
                <a:gd name="T97" fmla="*/ 346 h 613"/>
                <a:gd name="T98" fmla="*/ 640 w 666"/>
                <a:gd name="T99" fmla="*/ 491 h 613"/>
                <a:gd name="T100" fmla="*/ 546 w 666"/>
                <a:gd name="T101" fmla="*/ 506 h 613"/>
                <a:gd name="T102" fmla="*/ 453 w 666"/>
                <a:gd name="T103" fmla="*/ 491 h 613"/>
                <a:gd name="T104" fmla="*/ 546 w 666"/>
                <a:gd name="T105" fmla="*/ 346 h 613"/>
                <a:gd name="T106" fmla="*/ 426 w 666"/>
                <a:gd name="T107" fmla="*/ 520 h 613"/>
                <a:gd name="T108" fmla="*/ 412 w 666"/>
                <a:gd name="T109" fmla="*/ 577 h 613"/>
                <a:gd name="T110" fmla="*/ 253 w 666"/>
                <a:gd name="T111" fmla="*/ 577 h 613"/>
                <a:gd name="T112" fmla="*/ 240 w 666"/>
                <a:gd name="T113" fmla="*/ 520 h 6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666" h="613">
                  <a:moveTo>
                    <a:pt x="226" y="0"/>
                  </a:moveTo>
                  <a:cubicBezTo>
                    <a:pt x="182" y="0"/>
                    <a:pt x="146" y="36"/>
                    <a:pt x="146" y="80"/>
                  </a:cubicBezTo>
                  <a:cubicBezTo>
                    <a:pt x="146" y="106"/>
                    <a:pt x="159" y="129"/>
                    <a:pt x="179" y="144"/>
                  </a:cubicBezTo>
                  <a:cubicBezTo>
                    <a:pt x="168" y="149"/>
                    <a:pt x="159" y="157"/>
                    <a:pt x="151" y="165"/>
                  </a:cubicBezTo>
                  <a:cubicBezTo>
                    <a:pt x="141" y="162"/>
                    <a:pt x="130" y="160"/>
                    <a:pt x="120" y="160"/>
                  </a:cubicBezTo>
                  <a:cubicBezTo>
                    <a:pt x="68" y="160"/>
                    <a:pt x="26" y="202"/>
                    <a:pt x="26" y="253"/>
                  </a:cubicBezTo>
                  <a:cubicBezTo>
                    <a:pt x="26" y="286"/>
                    <a:pt x="43" y="314"/>
                    <a:pt x="69" y="331"/>
                  </a:cubicBezTo>
                  <a:cubicBezTo>
                    <a:pt x="28" y="350"/>
                    <a:pt x="0" y="392"/>
                    <a:pt x="0" y="440"/>
                  </a:cubicBezTo>
                  <a:lnTo>
                    <a:pt x="0" y="500"/>
                  </a:lnTo>
                  <a:cubicBezTo>
                    <a:pt x="0" y="504"/>
                    <a:pt x="2" y="508"/>
                    <a:pt x="5" y="510"/>
                  </a:cubicBezTo>
                  <a:cubicBezTo>
                    <a:pt x="5" y="510"/>
                    <a:pt x="14" y="517"/>
                    <a:pt x="32" y="522"/>
                  </a:cubicBezTo>
                  <a:cubicBezTo>
                    <a:pt x="50" y="528"/>
                    <a:pt x="78" y="533"/>
                    <a:pt x="120" y="533"/>
                  </a:cubicBezTo>
                  <a:cubicBezTo>
                    <a:pt x="161" y="533"/>
                    <a:pt x="189" y="528"/>
                    <a:pt x="207" y="522"/>
                  </a:cubicBezTo>
                  <a:cubicBezTo>
                    <a:pt x="209" y="522"/>
                    <a:pt x="211" y="521"/>
                    <a:pt x="213" y="520"/>
                  </a:cubicBezTo>
                  <a:lnTo>
                    <a:pt x="213" y="580"/>
                  </a:lnTo>
                  <a:cubicBezTo>
                    <a:pt x="213" y="584"/>
                    <a:pt x="215" y="588"/>
                    <a:pt x="218" y="590"/>
                  </a:cubicBezTo>
                  <a:cubicBezTo>
                    <a:pt x="218" y="590"/>
                    <a:pt x="228" y="597"/>
                    <a:pt x="246" y="602"/>
                  </a:cubicBezTo>
                  <a:cubicBezTo>
                    <a:pt x="264" y="608"/>
                    <a:pt x="292" y="613"/>
                    <a:pt x="333" y="613"/>
                  </a:cubicBezTo>
                  <a:cubicBezTo>
                    <a:pt x="374" y="613"/>
                    <a:pt x="402" y="608"/>
                    <a:pt x="420" y="602"/>
                  </a:cubicBezTo>
                  <a:cubicBezTo>
                    <a:pt x="438" y="597"/>
                    <a:pt x="448" y="590"/>
                    <a:pt x="448" y="590"/>
                  </a:cubicBezTo>
                  <a:cubicBezTo>
                    <a:pt x="451" y="588"/>
                    <a:pt x="453" y="584"/>
                    <a:pt x="453" y="580"/>
                  </a:cubicBezTo>
                  <a:lnTo>
                    <a:pt x="453" y="520"/>
                  </a:lnTo>
                  <a:cubicBezTo>
                    <a:pt x="455" y="521"/>
                    <a:pt x="457" y="522"/>
                    <a:pt x="459" y="522"/>
                  </a:cubicBezTo>
                  <a:cubicBezTo>
                    <a:pt x="477" y="528"/>
                    <a:pt x="505" y="533"/>
                    <a:pt x="546" y="533"/>
                  </a:cubicBezTo>
                  <a:cubicBezTo>
                    <a:pt x="587" y="533"/>
                    <a:pt x="615" y="528"/>
                    <a:pt x="633" y="522"/>
                  </a:cubicBezTo>
                  <a:cubicBezTo>
                    <a:pt x="651" y="517"/>
                    <a:pt x="661" y="510"/>
                    <a:pt x="661" y="510"/>
                  </a:cubicBezTo>
                  <a:cubicBezTo>
                    <a:pt x="664" y="508"/>
                    <a:pt x="666" y="504"/>
                    <a:pt x="666" y="500"/>
                  </a:cubicBezTo>
                  <a:lnTo>
                    <a:pt x="666" y="440"/>
                  </a:lnTo>
                  <a:cubicBezTo>
                    <a:pt x="666" y="392"/>
                    <a:pt x="638" y="350"/>
                    <a:pt x="597" y="331"/>
                  </a:cubicBezTo>
                  <a:cubicBezTo>
                    <a:pt x="623" y="314"/>
                    <a:pt x="640" y="286"/>
                    <a:pt x="640" y="253"/>
                  </a:cubicBezTo>
                  <a:cubicBezTo>
                    <a:pt x="640" y="202"/>
                    <a:pt x="598" y="160"/>
                    <a:pt x="546" y="160"/>
                  </a:cubicBezTo>
                  <a:cubicBezTo>
                    <a:pt x="535" y="160"/>
                    <a:pt x="523" y="162"/>
                    <a:pt x="513" y="166"/>
                  </a:cubicBezTo>
                  <a:cubicBezTo>
                    <a:pt x="505" y="157"/>
                    <a:pt x="495" y="150"/>
                    <a:pt x="484" y="144"/>
                  </a:cubicBezTo>
                  <a:cubicBezTo>
                    <a:pt x="504" y="129"/>
                    <a:pt x="517" y="106"/>
                    <a:pt x="517" y="80"/>
                  </a:cubicBezTo>
                  <a:cubicBezTo>
                    <a:pt x="517" y="36"/>
                    <a:pt x="481" y="0"/>
                    <a:pt x="437" y="0"/>
                  </a:cubicBezTo>
                  <a:cubicBezTo>
                    <a:pt x="393" y="0"/>
                    <a:pt x="357" y="36"/>
                    <a:pt x="357" y="80"/>
                  </a:cubicBezTo>
                  <a:cubicBezTo>
                    <a:pt x="357" y="106"/>
                    <a:pt x="370" y="129"/>
                    <a:pt x="390" y="144"/>
                  </a:cubicBezTo>
                  <a:cubicBezTo>
                    <a:pt x="359" y="159"/>
                    <a:pt x="337" y="188"/>
                    <a:pt x="332" y="224"/>
                  </a:cubicBezTo>
                  <a:cubicBezTo>
                    <a:pt x="326" y="188"/>
                    <a:pt x="304" y="159"/>
                    <a:pt x="273" y="144"/>
                  </a:cubicBezTo>
                  <a:cubicBezTo>
                    <a:pt x="293" y="129"/>
                    <a:pt x="306" y="106"/>
                    <a:pt x="306" y="80"/>
                  </a:cubicBezTo>
                  <a:cubicBezTo>
                    <a:pt x="306" y="36"/>
                    <a:pt x="270" y="0"/>
                    <a:pt x="226" y="0"/>
                  </a:cubicBezTo>
                  <a:close/>
                  <a:moveTo>
                    <a:pt x="226" y="26"/>
                  </a:moveTo>
                  <a:cubicBezTo>
                    <a:pt x="256" y="26"/>
                    <a:pt x="280" y="50"/>
                    <a:pt x="280" y="80"/>
                  </a:cubicBezTo>
                  <a:cubicBezTo>
                    <a:pt x="280" y="109"/>
                    <a:pt x="256" y="133"/>
                    <a:pt x="226" y="133"/>
                  </a:cubicBezTo>
                  <a:cubicBezTo>
                    <a:pt x="197" y="133"/>
                    <a:pt x="173" y="109"/>
                    <a:pt x="173" y="80"/>
                  </a:cubicBezTo>
                  <a:cubicBezTo>
                    <a:pt x="173" y="50"/>
                    <a:pt x="197" y="26"/>
                    <a:pt x="226" y="26"/>
                  </a:cubicBezTo>
                  <a:close/>
                  <a:moveTo>
                    <a:pt x="437" y="26"/>
                  </a:moveTo>
                  <a:cubicBezTo>
                    <a:pt x="467" y="26"/>
                    <a:pt x="490" y="50"/>
                    <a:pt x="490" y="80"/>
                  </a:cubicBezTo>
                  <a:cubicBezTo>
                    <a:pt x="490" y="109"/>
                    <a:pt x="467" y="133"/>
                    <a:pt x="437" y="133"/>
                  </a:cubicBezTo>
                  <a:cubicBezTo>
                    <a:pt x="407" y="133"/>
                    <a:pt x="384" y="109"/>
                    <a:pt x="384" y="80"/>
                  </a:cubicBezTo>
                  <a:cubicBezTo>
                    <a:pt x="384" y="50"/>
                    <a:pt x="407" y="26"/>
                    <a:pt x="437" y="26"/>
                  </a:cubicBezTo>
                  <a:close/>
                  <a:moveTo>
                    <a:pt x="226" y="160"/>
                  </a:moveTo>
                  <a:cubicBezTo>
                    <a:pt x="271" y="160"/>
                    <a:pt x="306" y="195"/>
                    <a:pt x="306" y="240"/>
                  </a:cubicBezTo>
                  <a:lnTo>
                    <a:pt x="306" y="244"/>
                  </a:lnTo>
                  <a:cubicBezTo>
                    <a:pt x="268" y="255"/>
                    <a:pt x="240" y="291"/>
                    <a:pt x="240" y="333"/>
                  </a:cubicBezTo>
                  <a:cubicBezTo>
                    <a:pt x="240" y="366"/>
                    <a:pt x="257" y="394"/>
                    <a:pt x="282" y="411"/>
                  </a:cubicBezTo>
                  <a:cubicBezTo>
                    <a:pt x="266" y="419"/>
                    <a:pt x="251" y="430"/>
                    <a:pt x="240" y="445"/>
                  </a:cubicBezTo>
                  <a:lnTo>
                    <a:pt x="240" y="440"/>
                  </a:lnTo>
                  <a:cubicBezTo>
                    <a:pt x="240" y="392"/>
                    <a:pt x="211" y="350"/>
                    <a:pt x="170" y="331"/>
                  </a:cubicBezTo>
                  <a:cubicBezTo>
                    <a:pt x="196" y="314"/>
                    <a:pt x="213" y="286"/>
                    <a:pt x="213" y="253"/>
                  </a:cubicBezTo>
                  <a:cubicBezTo>
                    <a:pt x="213" y="222"/>
                    <a:pt x="198" y="195"/>
                    <a:pt x="175" y="178"/>
                  </a:cubicBezTo>
                  <a:cubicBezTo>
                    <a:pt x="189" y="167"/>
                    <a:pt x="206" y="160"/>
                    <a:pt x="226" y="160"/>
                  </a:cubicBezTo>
                  <a:close/>
                  <a:moveTo>
                    <a:pt x="437" y="160"/>
                  </a:moveTo>
                  <a:cubicBezTo>
                    <a:pt x="457" y="160"/>
                    <a:pt x="475" y="167"/>
                    <a:pt x="489" y="179"/>
                  </a:cubicBezTo>
                  <a:cubicBezTo>
                    <a:pt x="467" y="197"/>
                    <a:pt x="453" y="223"/>
                    <a:pt x="453" y="253"/>
                  </a:cubicBezTo>
                  <a:cubicBezTo>
                    <a:pt x="453" y="286"/>
                    <a:pt x="470" y="314"/>
                    <a:pt x="495" y="331"/>
                  </a:cubicBezTo>
                  <a:cubicBezTo>
                    <a:pt x="455" y="350"/>
                    <a:pt x="426" y="392"/>
                    <a:pt x="426" y="440"/>
                  </a:cubicBezTo>
                  <a:lnTo>
                    <a:pt x="426" y="445"/>
                  </a:lnTo>
                  <a:cubicBezTo>
                    <a:pt x="415" y="430"/>
                    <a:pt x="400" y="419"/>
                    <a:pt x="384" y="411"/>
                  </a:cubicBezTo>
                  <a:cubicBezTo>
                    <a:pt x="409" y="394"/>
                    <a:pt x="426" y="366"/>
                    <a:pt x="426" y="333"/>
                  </a:cubicBezTo>
                  <a:cubicBezTo>
                    <a:pt x="426" y="290"/>
                    <a:pt x="397" y="254"/>
                    <a:pt x="357" y="243"/>
                  </a:cubicBezTo>
                  <a:lnTo>
                    <a:pt x="357" y="240"/>
                  </a:lnTo>
                  <a:cubicBezTo>
                    <a:pt x="357" y="195"/>
                    <a:pt x="392" y="160"/>
                    <a:pt x="437" y="160"/>
                  </a:cubicBezTo>
                  <a:close/>
                  <a:moveTo>
                    <a:pt x="120" y="186"/>
                  </a:moveTo>
                  <a:cubicBezTo>
                    <a:pt x="157" y="186"/>
                    <a:pt x="186" y="216"/>
                    <a:pt x="186" y="253"/>
                  </a:cubicBezTo>
                  <a:cubicBezTo>
                    <a:pt x="186" y="290"/>
                    <a:pt x="157" y="320"/>
                    <a:pt x="120" y="320"/>
                  </a:cubicBezTo>
                  <a:cubicBezTo>
                    <a:pt x="83" y="320"/>
                    <a:pt x="53" y="290"/>
                    <a:pt x="53" y="253"/>
                  </a:cubicBezTo>
                  <a:cubicBezTo>
                    <a:pt x="53" y="216"/>
                    <a:pt x="83" y="186"/>
                    <a:pt x="120" y="186"/>
                  </a:cubicBezTo>
                  <a:close/>
                  <a:moveTo>
                    <a:pt x="546" y="186"/>
                  </a:moveTo>
                  <a:cubicBezTo>
                    <a:pt x="583" y="186"/>
                    <a:pt x="613" y="216"/>
                    <a:pt x="613" y="253"/>
                  </a:cubicBezTo>
                  <a:cubicBezTo>
                    <a:pt x="613" y="290"/>
                    <a:pt x="583" y="320"/>
                    <a:pt x="546" y="320"/>
                  </a:cubicBezTo>
                  <a:cubicBezTo>
                    <a:pt x="509" y="320"/>
                    <a:pt x="480" y="290"/>
                    <a:pt x="480" y="253"/>
                  </a:cubicBezTo>
                  <a:cubicBezTo>
                    <a:pt x="480" y="216"/>
                    <a:pt x="509" y="186"/>
                    <a:pt x="546" y="186"/>
                  </a:cubicBezTo>
                  <a:close/>
                  <a:moveTo>
                    <a:pt x="333" y="266"/>
                  </a:moveTo>
                  <a:cubicBezTo>
                    <a:pt x="370" y="266"/>
                    <a:pt x="400" y="296"/>
                    <a:pt x="400" y="333"/>
                  </a:cubicBezTo>
                  <a:cubicBezTo>
                    <a:pt x="400" y="370"/>
                    <a:pt x="370" y="400"/>
                    <a:pt x="333" y="400"/>
                  </a:cubicBezTo>
                  <a:cubicBezTo>
                    <a:pt x="296" y="400"/>
                    <a:pt x="266" y="370"/>
                    <a:pt x="266" y="333"/>
                  </a:cubicBezTo>
                  <a:cubicBezTo>
                    <a:pt x="266" y="296"/>
                    <a:pt x="296" y="266"/>
                    <a:pt x="333" y="266"/>
                  </a:cubicBezTo>
                  <a:close/>
                  <a:moveTo>
                    <a:pt x="120" y="346"/>
                  </a:moveTo>
                  <a:cubicBezTo>
                    <a:pt x="171" y="346"/>
                    <a:pt x="213" y="388"/>
                    <a:pt x="213" y="440"/>
                  </a:cubicBezTo>
                  <a:lnTo>
                    <a:pt x="213" y="491"/>
                  </a:lnTo>
                  <a:cubicBezTo>
                    <a:pt x="211" y="492"/>
                    <a:pt x="210" y="494"/>
                    <a:pt x="199" y="497"/>
                  </a:cubicBezTo>
                  <a:cubicBezTo>
                    <a:pt x="184" y="501"/>
                    <a:pt x="158" y="506"/>
                    <a:pt x="120" y="506"/>
                  </a:cubicBezTo>
                  <a:cubicBezTo>
                    <a:pt x="81" y="506"/>
                    <a:pt x="55" y="501"/>
                    <a:pt x="40" y="497"/>
                  </a:cubicBezTo>
                  <a:cubicBezTo>
                    <a:pt x="29" y="494"/>
                    <a:pt x="28" y="492"/>
                    <a:pt x="26" y="491"/>
                  </a:cubicBezTo>
                  <a:lnTo>
                    <a:pt x="26" y="440"/>
                  </a:lnTo>
                  <a:cubicBezTo>
                    <a:pt x="26" y="388"/>
                    <a:pt x="68" y="346"/>
                    <a:pt x="120" y="346"/>
                  </a:cubicBezTo>
                  <a:close/>
                  <a:moveTo>
                    <a:pt x="546" y="346"/>
                  </a:moveTo>
                  <a:cubicBezTo>
                    <a:pt x="598" y="346"/>
                    <a:pt x="640" y="388"/>
                    <a:pt x="640" y="440"/>
                  </a:cubicBezTo>
                  <a:lnTo>
                    <a:pt x="640" y="491"/>
                  </a:lnTo>
                  <a:cubicBezTo>
                    <a:pt x="638" y="492"/>
                    <a:pt x="637" y="494"/>
                    <a:pt x="626" y="497"/>
                  </a:cubicBezTo>
                  <a:cubicBezTo>
                    <a:pt x="610" y="501"/>
                    <a:pt x="585" y="506"/>
                    <a:pt x="546" y="506"/>
                  </a:cubicBezTo>
                  <a:cubicBezTo>
                    <a:pt x="507" y="506"/>
                    <a:pt x="482" y="501"/>
                    <a:pt x="467" y="497"/>
                  </a:cubicBezTo>
                  <a:cubicBezTo>
                    <a:pt x="456" y="494"/>
                    <a:pt x="455" y="492"/>
                    <a:pt x="453" y="491"/>
                  </a:cubicBezTo>
                  <a:lnTo>
                    <a:pt x="453" y="440"/>
                  </a:lnTo>
                  <a:cubicBezTo>
                    <a:pt x="453" y="388"/>
                    <a:pt x="495" y="346"/>
                    <a:pt x="546" y="346"/>
                  </a:cubicBezTo>
                  <a:close/>
                  <a:moveTo>
                    <a:pt x="333" y="426"/>
                  </a:moveTo>
                  <a:cubicBezTo>
                    <a:pt x="384" y="426"/>
                    <a:pt x="426" y="468"/>
                    <a:pt x="426" y="520"/>
                  </a:cubicBezTo>
                  <a:lnTo>
                    <a:pt x="426" y="571"/>
                  </a:lnTo>
                  <a:cubicBezTo>
                    <a:pt x="424" y="572"/>
                    <a:pt x="423" y="574"/>
                    <a:pt x="412" y="577"/>
                  </a:cubicBezTo>
                  <a:cubicBezTo>
                    <a:pt x="397" y="581"/>
                    <a:pt x="372" y="586"/>
                    <a:pt x="333" y="586"/>
                  </a:cubicBezTo>
                  <a:cubicBezTo>
                    <a:pt x="294" y="586"/>
                    <a:pt x="269" y="581"/>
                    <a:pt x="253" y="577"/>
                  </a:cubicBezTo>
                  <a:cubicBezTo>
                    <a:pt x="242" y="574"/>
                    <a:pt x="242" y="572"/>
                    <a:pt x="240" y="571"/>
                  </a:cubicBezTo>
                  <a:lnTo>
                    <a:pt x="240" y="520"/>
                  </a:lnTo>
                  <a:cubicBezTo>
                    <a:pt x="240" y="468"/>
                    <a:pt x="281" y="426"/>
                    <a:pt x="333" y="426"/>
                  </a:cubicBezTo>
                  <a:close/>
                </a:path>
              </a:pathLst>
            </a:custGeom>
            <a:solidFill>
              <a:srgbClr val="5F5F5F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cxnSp>
        <p:nvCxnSpPr>
          <p:cNvPr id="235" name="직선 연결선 234"/>
          <p:cNvCxnSpPr/>
          <p:nvPr/>
        </p:nvCxnSpPr>
        <p:spPr>
          <a:xfrm>
            <a:off x="486109" y="2917973"/>
            <a:ext cx="11427523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7" name="모서리가 둥근 직사각형 146"/>
          <p:cNvSpPr/>
          <p:nvPr/>
        </p:nvSpPr>
        <p:spPr>
          <a:xfrm>
            <a:off x="9756322" y="827999"/>
            <a:ext cx="648000" cy="216000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 w="3175">
            <a:noFill/>
          </a:ln>
          <a:effectLst>
            <a:outerShdw blurRad="12700" dist="12700" dir="2700000" algn="tl" rotWithShape="0">
              <a:schemeClr val="tx1">
                <a:lumMod val="75000"/>
                <a:lumOff val="2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8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LFmall</a:t>
            </a:r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48" name="모서리가 둥근 직사각형 147"/>
          <p:cNvSpPr/>
          <p:nvPr/>
        </p:nvSpPr>
        <p:spPr>
          <a:xfrm>
            <a:off x="10476114" y="827999"/>
            <a:ext cx="648000" cy="2160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3175">
            <a:noFill/>
          </a:ln>
          <a:effectLst>
            <a:outerShdw blurRad="12700" dist="12700" dir="2700000" algn="tl" rotWithShape="0">
              <a:schemeClr val="tx1">
                <a:lumMod val="75000"/>
                <a:lumOff val="2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8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OMS/SAP</a:t>
            </a:r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49" name="모서리가 둥근 직사각형 148"/>
          <p:cNvSpPr/>
          <p:nvPr/>
        </p:nvSpPr>
        <p:spPr>
          <a:xfrm>
            <a:off x="11195906" y="827999"/>
            <a:ext cx="648000" cy="21600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3175">
            <a:noFill/>
          </a:ln>
          <a:effectLst>
            <a:outerShdw blurRad="12700" dist="12700" dir="2700000" algn="tl" rotWithShape="0">
              <a:schemeClr val="tx1">
                <a:lumMod val="75000"/>
                <a:lumOff val="2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8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POS</a:t>
            </a:r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305" name="직선 화살표 연결선 304">
            <a:extLst>
              <a:ext uri="{FF2B5EF4-FFF2-40B4-BE49-F238E27FC236}">
                <a16:creationId xmlns="" xmlns:a16="http://schemas.microsoft.com/office/drawing/2014/main" id="{3D9B20DA-AA59-4AA9-AC84-6C3B8844582A}"/>
              </a:ext>
            </a:extLst>
          </p:cNvPr>
          <p:cNvCxnSpPr>
            <a:cxnSpLocks/>
            <a:stCxn id="257" idx="3"/>
            <a:endCxn id="259" idx="1"/>
          </p:cNvCxnSpPr>
          <p:nvPr/>
        </p:nvCxnSpPr>
        <p:spPr>
          <a:xfrm>
            <a:off x="4217186" y="2018244"/>
            <a:ext cx="5211898" cy="0"/>
          </a:xfrm>
          <a:prstGeom prst="straightConnector1">
            <a:avLst/>
          </a:prstGeom>
          <a:noFill/>
          <a:ln w="6350" cap="flat" cmpd="sng" algn="ctr">
            <a:solidFill>
              <a:srgbClr val="FFFFFF">
                <a:lumMod val="50000"/>
              </a:srgbClr>
            </a:solidFill>
            <a:prstDash val="solid"/>
            <a:tailEnd type="triangle"/>
          </a:ln>
          <a:effectLst/>
        </p:spPr>
      </p:cxnSp>
      <p:sp>
        <p:nvSpPr>
          <p:cNvPr id="334" name="모서리가 둥근 직사각형 333"/>
          <p:cNvSpPr/>
          <p:nvPr/>
        </p:nvSpPr>
        <p:spPr>
          <a:xfrm>
            <a:off x="5329135" y="2413973"/>
            <a:ext cx="2880000" cy="288000"/>
          </a:xfrm>
          <a:prstGeom prst="roundRect">
            <a:avLst>
              <a:gd name="adj" fmla="val 50000"/>
            </a:avLst>
          </a:prstGeom>
          <a:solidFill>
            <a:schemeClr val="accent2">
              <a:lumMod val="20000"/>
              <a:lumOff val="8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자동결품배치 </a:t>
            </a:r>
            <a:r>
              <a:rPr lang="en-US" altLang="ko-KR" sz="8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8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알림톡</a:t>
            </a:r>
            <a:r>
              <a:rPr lang="en-US" altLang="ko-KR" sz="8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 </a:t>
            </a:r>
            <a:r>
              <a:rPr lang="ko-KR" altLang="en-US" sz="8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정책</a:t>
            </a:r>
            <a:endParaRPr lang="ko-KR" altLang="en-US" sz="80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42" name="아래쪽 화살표 341"/>
          <p:cNvSpPr/>
          <p:nvPr/>
        </p:nvSpPr>
        <p:spPr>
          <a:xfrm>
            <a:off x="1594651" y="2305973"/>
            <a:ext cx="288000" cy="3024000"/>
          </a:xfrm>
          <a:prstGeom prst="downArrow">
            <a:avLst/>
          </a:prstGeom>
          <a:gradFill flip="none" rotWithShape="1">
            <a:gsLst>
              <a:gs pos="0">
                <a:schemeClr val="accent2">
                  <a:lumMod val="75000"/>
                  <a:tint val="66000"/>
                  <a:satMod val="160000"/>
                </a:schemeClr>
              </a:gs>
              <a:gs pos="50000">
                <a:schemeClr val="accent2">
                  <a:lumMod val="75000"/>
                  <a:tint val="44500"/>
                  <a:satMod val="160000"/>
                </a:schemeClr>
              </a:gs>
              <a:gs pos="100000">
                <a:schemeClr val="accent2">
                  <a:lumMod val="75000"/>
                  <a:tint val="23500"/>
                  <a:satMod val="160000"/>
                </a:schemeClr>
              </a:gs>
            </a:gsLst>
            <a:lin ang="16200000" scaled="1"/>
            <a:tileRect/>
          </a:gra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65" name="모서리가 둥근 직사각형 364"/>
          <p:cNvSpPr/>
          <p:nvPr/>
        </p:nvSpPr>
        <p:spPr>
          <a:xfrm>
            <a:off x="11123906" y="1568380"/>
            <a:ext cx="720000" cy="360000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 w="3175">
            <a:solidFill>
              <a:schemeClr val="bg1">
                <a:lumMod val="75000"/>
              </a:schemeClr>
            </a:solidFill>
          </a:ln>
          <a:effectLst>
            <a:outerShdw blurRad="12700" dist="12700" dir="2700000" algn="tl" rotWithShape="0">
              <a:schemeClr val="tx1">
                <a:lumMod val="75000"/>
                <a:lumOff val="2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8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반품신청</a:t>
            </a:r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67" name="모서리가 둥근 직사각형 366"/>
          <p:cNvSpPr/>
          <p:nvPr/>
        </p:nvSpPr>
        <p:spPr>
          <a:xfrm>
            <a:off x="11123906" y="2108109"/>
            <a:ext cx="720000" cy="360000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 w="3175">
            <a:solidFill>
              <a:schemeClr val="bg1">
                <a:lumMod val="75000"/>
              </a:schemeClr>
            </a:solidFill>
          </a:ln>
          <a:effectLst>
            <a:outerShdw blurRad="12700" dist="12700" dir="2700000" algn="tl" rotWithShape="0">
              <a:schemeClr val="tx1">
                <a:lumMod val="75000"/>
                <a:lumOff val="2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8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교환신청</a:t>
            </a:r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368" name="꺾인 연결선 367"/>
          <p:cNvCxnSpPr>
            <a:stCxn id="261" idx="3"/>
            <a:endCxn id="365" idx="1"/>
          </p:cNvCxnSpPr>
          <p:nvPr/>
        </p:nvCxnSpPr>
        <p:spPr>
          <a:xfrm flipV="1">
            <a:off x="10996498" y="1748380"/>
            <a:ext cx="127408" cy="269864"/>
          </a:xfrm>
          <a:prstGeom prst="bentConnector3">
            <a:avLst>
              <a:gd name="adj1" fmla="val 50000"/>
            </a:avLst>
          </a:prstGeom>
          <a:noFill/>
          <a:ln w="6350" cap="flat" cmpd="sng" algn="ctr">
            <a:solidFill>
              <a:srgbClr val="FFFFFF">
                <a:lumMod val="50000"/>
              </a:srgbClr>
            </a:solidFill>
            <a:prstDash val="solid"/>
            <a:tailEnd type="triangle"/>
          </a:ln>
          <a:effectLst/>
        </p:spPr>
      </p:cxnSp>
      <p:cxnSp>
        <p:nvCxnSpPr>
          <p:cNvPr id="369" name="꺾인 연결선 368"/>
          <p:cNvCxnSpPr>
            <a:stCxn id="261" idx="3"/>
            <a:endCxn id="367" idx="1"/>
          </p:cNvCxnSpPr>
          <p:nvPr/>
        </p:nvCxnSpPr>
        <p:spPr>
          <a:xfrm>
            <a:off x="10996498" y="2018244"/>
            <a:ext cx="127408" cy="269865"/>
          </a:xfrm>
          <a:prstGeom prst="bentConnector3">
            <a:avLst>
              <a:gd name="adj1" fmla="val 50000"/>
            </a:avLst>
          </a:prstGeom>
          <a:noFill/>
          <a:ln w="6350" cap="flat" cmpd="sng" algn="ctr">
            <a:solidFill>
              <a:srgbClr val="FFFFFF">
                <a:lumMod val="50000"/>
              </a:srgbClr>
            </a:solidFill>
            <a:prstDash val="solid"/>
            <a:tailEnd type="triangle"/>
          </a:ln>
          <a:effectLst/>
        </p:spPr>
      </p:cxnSp>
      <p:sp>
        <p:nvSpPr>
          <p:cNvPr id="372" name="아래쪽 화살표 371"/>
          <p:cNvSpPr/>
          <p:nvPr/>
        </p:nvSpPr>
        <p:spPr>
          <a:xfrm>
            <a:off x="11339906" y="2593973"/>
            <a:ext cx="288000" cy="2736000"/>
          </a:xfrm>
          <a:prstGeom prst="downArrow">
            <a:avLst/>
          </a:prstGeom>
          <a:gradFill flip="none" rotWithShape="1">
            <a:gsLst>
              <a:gs pos="0">
                <a:schemeClr val="accent2">
                  <a:lumMod val="75000"/>
                  <a:tint val="66000"/>
                  <a:satMod val="160000"/>
                </a:schemeClr>
              </a:gs>
              <a:gs pos="50000">
                <a:schemeClr val="accent2">
                  <a:lumMod val="75000"/>
                  <a:tint val="44500"/>
                  <a:satMod val="160000"/>
                </a:schemeClr>
              </a:gs>
              <a:gs pos="100000">
                <a:schemeClr val="accent2">
                  <a:lumMod val="75000"/>
                  <a:tint val="23500"/>
                  <a:satMod val="160000"/>
                </a:schemeClr>
              </a:gs>
            </a:gsLst>
            <a:lin ang="16200000" scaled="1"/>
            <a:tileRect/>
          </a:gra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384" name="꺾인 연결선 383"/>
          <p:cNvCxnSpPr>
            <a:stCxn id="31" idx="2"/>
            <a:endCxn id="94" idx="0"/>
          </p:cNvCxnSpPr>
          <p:nvPr/>
        </p:nvCxnSpPr>
        <p:spPr>
          <a:xfrm rot="5400000">
            <a:off x="3937759" y="3701401"/>
            <a:ext cx="754800" cy="915945"/>
          </a:xfrm>
          <a:prstGeom prst="bentConnector3">
            <a:avLst>
              <a:gd name="adj1" fmla="val 26276"/>
            </a:avLst>
          </a:prstGeom>
          <a:noFill/>
          <a:ln w="6350" cap="flat" cmpd="sng" algn="ctr">
            <a:solidFill>
              <a:srgbClr val="FFFFFF">
                <a:lumMod val="50000"/>
              </a:srgbClr>
            </a:solidFill>
            <a:prstDash val="solid"/>
            <a:tailEnd type="triangle"/>
          </a:ln>
          <a:effectLst/>
        </p:spPr>
      </p:cxnSp>
      <p:sp>
        <p:nvSpPr>
          <p:cNvPr id="94" name="모서리가 둥근 직사각형 93"/>
          <p:cNvSpPr/>
          <p:nvPr/>
        </p:nvSpPr>
        <p:spPr>
          <a:xfrm>
            <a:off x="3497186" y="4536773"/>
            <a:ext cx="720000" cy="3600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3175">
            <a:solidFill>
              <a:schemeClr val="bg1">
                <a:lumMod val="75000"/>
              </a:schemeClr>
            </a:solidFill>
          </a:ln>
          <a:effectLst>
            <a:outerShdw blurRad="12700" dist="12700" dir="2700000" algn="tl" rotWithShape="0">
              <a:schemeClr val="tx1">
                <a:lumMod val="75000"/>
                <a:lumOff val="2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o-KR" altLang="en-US" sz="8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비직송매장</a:t>
            </a:r>
            <a:endParaRPr lang="en-US" altLang="ko-KR" sz="800" smtClean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ctr"/>
            <a:r>
              <a:rPr lang="ko-KR" altLang="en-US" sz="8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재고체크</a:t>
            </a:r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5" name="모서리가 둥근 직사각형 94"/>
          <p:cNvSpPr/>
          <p:nvPr/>
        </p:nvSpPr>
        <p:spPr>
          <a:xfrm>
            <a:off x="4344600" y="4536773"/>
            <a:ext cx="720000" cy="3600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3175">
            <a:solidFill>
              <a:schemeClr val="bg1">
                <a:lumMod val="75000"/>
              </a:schemeClr>
            </a:solidFill>
          </a:ln>
          <a:effectLst>
            <a:outerShdw blurRad="12700" dist="12700" dir="2700000" algn="tl" rotWithShape="0">
              <a:schemeClr val="tx1">
                <a:lumMod val="75000"/>
                <a:lumOff val="2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o-KR" altLang="en-US" sz="8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물량</a:t>
            </a:r>
            <a:r>
              <a:rPr lang="en-US" altLang="ko-KR" sz="8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8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이동</a:t>
            </a:r>
            <a:endParaRPr lang="en-US" altLang="ko-KR" sz="800" smtClean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ctr"/>
            <a:r>
              <a:rPr lang="ko-KR" altLang="en-US" sz="8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지시</a:t>
            </a:r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98" name="직선 화살표 연결선 97">
            <a:extLst>
              <a:ext uri="{FF2B5EF4-FFF2-40B4-BE49-F238E27FC236}">
                <a16:creationId xmlns="" xmlns:a16="http://schemas.microsoft.com/office/drawing/2014/main" id="{3D9B20DA-AA59-4AA9-AC84-6C3B8844582A}"/>
              </a:ext>
            </a:extLst>
          </p:cNvPr>
          <p:cNvCxnSpPr>
            <a:cxnSpLocks/>
            <a:stCxn id="94" idx="3"/>
            <a:endCxn id="95" idx="1"/>
          </p:cNvCxnSpPr>
          <p:nvPr/>
        </p:nvCxnSpPr>
        <p:spPr>
          <a:xfrm>
            <a:off x="4217186" y="4716773"/>
            <a:ext cx="127414" cy="0"/>
          </a:xfrm>
          <a:prstGeom prst="straightConnector1">
            <a:avLst/>
          </a:prstGeom>
          <a:noFill/>
          <a:ln w="6350" cap="flat" cmpd="sng" algn="ctr">
            <a:solidFill>
              <a:srgbClr val="FFFFFF">
                <a:lumMod val="50000"/>
              </a:srgbClr>
            </a:solidFill>
            <a:prstDash val="solid"/>
            <a:tailEnd type="triangle"/>
          </a:ln>
          <a:effectLst/>
        </p:spPr>
      </p:cxnSp>
      <p:sp>
        <p:nvSpPr>
          <p:cNvPr id="142" name="모서리가 둥근 직사각형 141"/>
          <p:cNvSpPr/>
          <p:nvPr/>
        </p:nvSpPr>
        <p:spPr>
          <a:xfrm>
            <a:off x="6886842" y="4536773"/>
            <a:ext cx="720000" cy="3600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3175">
            <a:solidFill>
              <a:schemeClr val="bg1">
                <a:lumMod val="75000"/>
              </a:schemeClr>
            </a:solidFill>
          </a:ln>
          <a:effectLst>
            <a:outerShdw blurRad="12700" dist="12700" dir="2700000" algn="tl" rotWithShape="0">
              <a:schemeClr val="tx1">
                <a:lumMod val="75000"/>
                <a:lumOff val="2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8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매장 반품</a:t>
            </a:r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143" name="직선 화살표 연결선 142">
            <a:extLst>
              <a:ext uri="{FF2B5EF4-FFF2-40B4-BE49-F238E27FC236}">
                <a16:creationId xmlns="" xmlns:a16="http://schemas.microsoft.com/office/drawing/2014/main" id="{3D9B20DA-AA59-4AA9-AC84-6C3B8844582A}"/>
              </a:ext>
            </a:extLst>
          </p:cNvPr>
          <p:cNvCxnSpPr>
            <a:cxnSpLocks/>
            <a:stCxn id="152" idx="3"/>
            <a:endCxn id="101" idx="1"/>
          </p:cNvCxnSpPr>
          <p:nvPr/>
        </p:nvCxnSpPr>
        <p:spPr>
          <a:xfrm>
            <a:off x="5912014" y="4716773"/>
            <a:ext cx="127414" cy="0"/>
          </a:xfrm>
          <a:prstGeom prst="straightConnector1">
            <a:avLst/>
          </a:prstGeom>
          <a:noFill/>
          <a:ln w="6350" cap="flat" cmpd="sng" algn="ctr">
            <a:solidFill>
              <a:srgbClr val="FFFFFF">
                <a:lumMod val="50000"/>
              </a:srgbClr>
            </a:solidFill>
            <a:prstDash val="solid"/>
            <a:tailEnd type="triangle"/>
          </a:ln>
          <a:effectLst/>
        </p:spPr>
      </p:cxnSp>
      <p:cxnSp>
        <p:nvCxnSpPr>
          <p:cNvPr id="173" name="직선 화살표 연결선 172">
            <a:extLst>
              <a:ext uri="{FF2B5EF4-FFF2-40B4-BE49-F238E27FC236}">
                <a16:creationId xmlns="" xmlns:a16="http://schemas.microsoft.com/office/drawing/2014/main" id="{3D9B20DA-AA59-4AA9-AC84-6C3B8844582A}"/>
              </a:ext>
            </a:extLst>
          </p:cNvPr>
          <p:cNvCxnSpPr>
            <a:cxnSpLocks/>
            <a:stCxn id="142" idx="0"/>
            <a:endCxn id="150" idx="2"/>
          </p:cNvCxnSpPr>
          <p:nvPr/>
        </p:nvCxnSpPr>
        <p:spPr>
          <a:xfrm flipV="1">
            <a:off x="7246842" y="4303373"/>
            <a:ext cx="0" cy="233400"/>
          </a:xfrm>
          <a:prstGeom prst="straightConnector1">
            <a:avLst/>
          </a:prstGeom>
          <a:noFill/>
          <a:ln w="6350" cap="flat" cmpd="sng" algn="ctr">
            <a:solidFill>
              <a:srgbClr val="FFFFFF">
                <a:lumMod val="50000"/>
              </a:srgbClr>
            </a:solidFill>
            <a:prstDash val="solid"/>
            <a:tailEnd type="triangle"/>
          </a:ln>
          <a:effectLst/>
        </p:spPr>
      </p:cxnSp>
      <p:sp>
        <p:nvSpPr>
          <p:cNvPr id="101" name="다이아몬드 100"/>
          <p:cNvSpPr/>
          <p:nvPr/>
        </p:nvSpPr>
        <p:spPr>
          <a:xfrm>
            <a:off x="6039428" y="4392773"/>
            <a:ext cx="720000" cy="648000"/>
          </a:xfrm>
          <a:prstGeom prst="diamond">
            <a:avLst/>
          </a:prstGeom>
          <a:solidFill>
            <a:schemeClr val="accent2">
              <a:lumMod val="20000"/>
              <a:lumOff val="8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7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승인</a:t>
            </a:r>
            <a:endParaRPr lang="en-US" altLang="ko-KR" sz="700" smtClean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ctr"/>
            <a:r>
              <a:rPr lang="ko-KR" altLang="en-US" sz="7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여부</a:t>
            </a:r>
            <a:endParaRPr lang="ko-KR" altLang="en-US" sz="70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2" name="TextBox 101"/>
          <p:cNvSpPr txBox="1"/>
          <p:nvPr/>
        </p:nvSpPr>
        <p:spPr>
          <a:xfrm>
            <a:off x="6752216" y="4520959"/>
            <a:ext cx="135221" cy="195814"/>
          </a:xfrm>
          <a:prstGeom prst="rect">
            <a:avLst/>
          </a:prstGeom>
          <a:noFill/>
        </p:spPr>
        <p:txBody>
          <a:bodyPr wrap="none" lIns="36000" tIns="36000" rIns="36000" bIns="36000" rtlCol="0" anchor="ctr">
            <a:spAutoFit/>
          </a:bodyPr>
          <a:lstStyle/>
          <a:p>
            <a:pPr algn="r"/>
            <a:r>
              <a:rPr lang="en-US" altLang="ko-KR" sz="800" b="1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Y</a:t>
            </a:r>
            <a:endParaRPr lang="ko-KR" altLang="en-US" sz="800" b="1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133" name="직선 연결선 132"/>
          <p:cNvCxnSpPr/>
          <p:nvPr/>
        </p:nvCxnSpPr>
        <p:spPr>
          <a:xfrm>
            <a:off x="486109" y="5256173"/>
            <a:ext cx="11427523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2" name="모서리가 둥근 직사각형 151"/>
          <p:cNvSpPr/>
          <p:nvPr/>
        </p:nvSpPr>
        <p:spPr>
          <a:xfrm>
            <a:off x="5192014" y="4536773"/>
            <a:ext cx="720000" cy="36000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3175">
            <a:solidFill>
              <a:schemeClr val="bg1">
                <a:lumMod val="75000"/>
              </a:schemeClr>
            </a:solidFill>
          </a:ln>
          <a:effectLst>
            <a:outerShdw blurRad="12700" dist="12700" dir="2700000" algn="tl" rotWithShape="0">
              <a:schemeClr val="tx1">
                <a:lumMod val="75000"/>
                <a:lumOff val="2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o-KR" altLang="en-US" sz="8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물량</a:t>
            </a:r>
            <a:r>
              <a:rPr lang="en-US" altLang="ko-KR" sz="8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8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이동</a:t>
            </a:r>
            <a:endParaRPr lang="en-US" altLang="ko-KR" sz="800" smtClean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ctr"/>
            <a:r>
              <a:rPr lang="ko-KR" altLang="en-US" sz="8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확인</a:t>
            </a:r>
            <a:r>
              <a:rPr lang="en-US" altLang="ko-KR" sz="8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8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승인</a:t>
            </a:r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176" name="직선 화살표 연결선 175">
            <a:extLst>
              <a:ext uri="{FF2B5EF4-FFF2-40B4-BE49-F238E27FC236}">
                <a16:creationId xmlns="" xmlns:a16="http://schemas.microsoft.com/office/drawing/2014/main" id="{3D9B20DA-AA59-4AA9-AC84-6C3B8844582A}"/>
              </a:ext>
            </a:extLst>
          </p:cNvPr>
          <p:cNvCxnSpPr>
            <a:cxnSpLocks/>
            <a:stCxn id="95" idx="3"/>
            <a:endCxn id="152" idx="1"/>
          </p:cNvCxnSpPr>
          <p:nvPr/>
        </p:nvCxnSpPr>
        <p:spPr>
          <a:xfrm>
            <a:off x="5064600" y="4716773"/>
            <a:ext cx="127414" cy="0"/>
          </a:xfrm>
          <a:prstGeom prst="straightConnector1">
            <a:avLst/>
          </a:prstGeom>
          <a:noFill/>
          <a:ln w="6350" cap="flat" cmpd="sng" algn="ctr">
            <a:solidFill>
              <a:srgbClr val="FFFFFF">
                <a:lumMod val="50000"/>
              </a:srgbClr>
            </a:solidFill>
            <a:prstDash val="solid"/>
            <a:tailEnd type="triangle"/>
          </a:ln>
          <a:effectLst/>
        </p:spPr>
      </p:cxnSp>
      <p:cxnSp>
        <p:nvCxnSpPr>
          <p:cNvPr id="202" name="직선 화살표 연결선 201">
            <a:extLst>
              <a:ext uri="{FF2B5EF4-FFF2-40B4-BE49-F238E27FC236}">
                <a16:creationId xmlns="" xmlns:a16="http://schemas.microsoft.com/office/drawing/2014/main" id="{3D9B20DA-AA59-4AA9-AC84-6C3B8844582A}"/>
              </a:ext>
            </a:extLst>
          </p:cNvPr>
          <p:cNvCxnSpPr>
            <a:cxnSpLocks/>
            <a:stCxn id="101" idx="3"/>
            <a:endCxn id="142" idx="1"/>
          </p:cNvCxnSpPr>
          <p:nvPr/>
        </p:nvCxnSpPr>
        <p:spPr>
          <a:xfrm>
            <a:off x="6759428" y="4716773"/>
            <a:ext cx="127414" cy="0"/>
          </a:xfrm>
          <a:prstGeom prst="straightConnector1">
            <a:avLst/>
          </a:prstGeom>
          <a:noFill/>
          <a:ln w="6350" cap="flat" cmpd="sng" algn="ctr">
            <a:solidFill>
              <a:srgbClr val="FFFFFF">
                <a:lumMod val="50000"/>
              </a:srgbClr>
            </a:solidFill>
            <a:prstDash val="solid"/>
            <a:tailEnd type="triangle"/>
          </a:ln>
          <a:effectLst/>
        </p:spPr>
      </p:cxnSp>
      <p:grpSp>
        <p:nvGrpSpPr>
          <p:cNvPr id="341" name="그룹 340"/>
          <p:cNvGrpSpPr/>
          <p:nvPr/>
        </p:nvGrpSpPr>
        <p:grpSpPr>
          <a:xfrm>
            <a:off x="1236627" y="5437554"/>
            <a:ext cx="1004048" cy="608273"/>
            <a:chOff x="1213104" y="5217012"/>
            <a:chExt cx="1004048" cy="608273"/>
          </a:xfrm>
        </p:grpSpPr>
        <p:sp>
          <p:nvSpPr>
            <p:cNvPr id="239" name="TextBox 238"/>
            <p:cNvSpPr txBox="1"/>
            <p:nvPr/>
          </p:nvSpPr>
          <p:spPr>
            <a:xfrm>
              <a:off x="1355128" y="5217012"/>
              <a:ext cx="720000" cy="216645"/>
            </a:xfrm>
            <a:prstGeom prst="roundRect">
              <a:avLst>
                <a:gd name="adj" fmla="val 50000"/>
              </a:avLst>
            </a:prstGeom>
            <a:solidFill>
              <a:schemeClr val="accent2">
                <a:lumMod val="75000"/>
              </a:schemeClr>
            </a:solidFill>
          </p:spPr>
          <p:txBody>
            <a:bodyPr wrap="none" lIns="36000" tIns="36000" rIns="36000" bIns="36000" rtlCol="0" anchor="ctr">
              <a:noAutofit/>
            </a:bodyPr>
            <a:lstStyle/>
            <a:p>
              <a:pPr algn="ctr"/>
              <a:r>
                <a:rPr lang="en-US" altLang="ko-KR" sz="800" smtClean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ISSUE 1.</a:t>
              </a:r>
              <a:endParaRPr lang="ko-KR" altLang="en-US" sz="80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240" name="TextBox 239"/>
            <p:cNvSpPr txBox="1"/>
            <p:nvPr/>
          </p:nvSpPr>
          <p:spPr>
            <a:xfrm>
              <a:off x="1213104" y="5433657"/>
              <a:ext cx="1004048" cy="391628"/>
            </a:xfrm>
            <a:prstGeom prst="rect">
              <a:avLst/>
            </a:prstGeom>
            <a:noFill/>
          </p:spPr>
          <p:txBody>
            <a:bodyPr wrap="none" lIns="36000" tIns="108000" rIns="36000" bIns="36000" rtlCol="0" anchor="t">
              <a:spAutoFit/>
            </a:bodyPr>
            <a:lstStyle/>
            <a:p>
              <a:pPr algn="ctr"/>
              <a:r>
                <a:rPr lang="ko-KR" altLang="en-US" sz="80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상품 재고 케이스 별</a:t>
              </a:r>
              <a:endParaRPr lang="en-US" altLang="ko-KR" sz="8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algn="ctr"/>
              <a:r>
                <a:rPr lang="ko-KR" altLang="en-US" sz="80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표현 방법</a:t>
              </a:r>
              <a:endPara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grpSp>
        <p:nvGrpSpPr>
          <p:cNvPr id="349" name="그룹 348"/>
          <p:cNvGrpSpPr/>
          <p:nvPr/>
        </p:nvGrpSpPr>
        <p:grpSpPr>
          <a:xfrm>
            <a:off x="5048586" y="5437554"/>
            <a:ext cx="1004047" cy="731383"/>
            <a:chOff x="1213104" y="5217012"/>
            <a:chExt cx="1004047" cy="731383"/>
          </a:xfrm>
        </p:grpSpPr>
        <p:sp>
          <p:nvSpPr>
            <p:cNvPr id="350" name="TextBox 349"/>
            <p:cNvSpPr txBox="1"/>
            <p:nvPr/>
          </p:nvSpPr>
          <p:spPr>
            <a:xfrm>
              <a:off x="1355128" y="5217012"/>
              <a:ext cx="720000" cy="216645"/>
            </a:xfrm>
            <a:prstGeom prst="roundRect">
              <a:avLst>
                <a:gd name="adj" fmla="val 50000"/>
              </a:avLst>
            </a:prstGeom>
            <a:solidFill>
              <a:schemeClr val="accent2">
                <a:lumMod val="75000"/>
              </a:schemeClr>
            </a:solidFill>
          </p:spPr>
          <p:txBody>
            <a:bodyPr wrap="none" lIns="36000" tIns="36000" rIns="36000" bIns="36000" rtlCol="0" anchor="ctr">
              <a:noAutofit/>
            </a:bodyPr>
            <a:lstStyle/>
            <a:p>
              <a:pPr algn="ctr"/>
              <a:r>
                <a:rPr lang="en-US" altLang="ko-KR" sz="800" smtClean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ISSUE 2.</a:t>
              </a:r>
              <a:endParaRPr lang="ko-KR" altLang="en-US" sz="80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351" name="TextBox 350"/>
            <p:cNvSpPr txBox="1"/>
            <p:nvPr/>
          </p:nvSpPr>
          <p:spPr>
            <a:xfrm>
              <a:off x="1213104" y="5433657"/>
              <a:ext cx="1004047" cy="514738"/>
            </a:xfrm>
            <a:prstGeom prst="rect">
              <a:avLst/>
            </a:prstGeom>
            <a:noFill/>
          </p:spPr>
          <p:txBody>
            <a:bodyPr wrap="none" lIns="36000" tIns="108000" rIns="36000" bIns="36000" rtlCol="0" anchor="t">
              <a:spAutoFit/>
            </a:bodyPr>
            <a:lstStyle/>
            <a:p>
              <a:pPr algn="ctr"/>
              <a:r>
                <a:rPr lang="ko-KR" altLang="en-US" sz="80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비직송 매장</a:t>
              </a:r>
              <a:endParaRPr lang="en-US" altLang="ko-KR" sz="8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algn="ctr"/>
              <a:r>
                <a:rPr lang="ko-KR" altLang="en-US" sz="80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물량 이동 승인 이슈</a:t>
              </a:r>
              <a:endParaRPr lang="en-US" altLang="ko-KR" sz="8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algn="ctr"/>
              <a:r>
                <a:rPr lang="en-US" altLang="ko-KR" sz="80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(</a:t>
              </a:r>
              <a:r>
                <a:rPr lang="ko-KR" altLang="en-US" sz="80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매장 제공 혜택</a:t>
              </a:r>
              <a:r>
                <a:rPr lang="en-US" altLang="ko-KR" sz="80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)</a:t>
              </a:r>
              <a:endPara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grpSp>
        <p:nvGrpSpPr>
          <p:cNvPr id="353" name="그룹 352"/>
          <p:cNvGrpSpPr/>
          <p:nvPr/>
        </p:nvGrpSpPr>
        <p:grpSpPr>
          <a:xfrm>
            <a:off x="6303697" y="5437554"/>
            <a:ext cx="925501" cy="731383"/>
            <a:chOff x="1252378" y="5217012"/>
            <a:chExt cx="925501" cy="731383"/>
          </a:xfrm>
        </p:grpSpPr>
        <p:sp>
          <p:nvSpPr>
            <p:cNvPr id="354" name="TextBox 353"/>
            <p:cNvSpPr txBox="1"/>
            <p:nvPr/>
          </p:nvSpPr>
          <p:spPr>
            <a:xfrm>
              <a:off x="1355128" y="5217012"/>
              <a:ext cx="720000" cy="216645"/>
            </a:xfrm>
            <a:prstGeom prst="roundRect">
              <a:avLst>
                <a:gd name="adj" fmla="val 50000"/>
              </a:avLst>
            </a:prstGeom>
            <a:solidFill>
              <a:schemeClr val="accent2">
                <a:lumMod val="75000"/>
              </a:schemeClr>
            </a:solidFill>
          </p:spPr>
          <p:txBody>
            <a:bodyPr wrap="none" lIns="36000" tIns="36000" rIns="36000" bIns="36000" rtlCol="0" anchor="ctr">
              <a:noAutofit/>
            </a:bodyPr>
            <a:lstStyle/>
            <a:p>
              <a:pPr algn="ctr"/>
              <a:r>
                <a:rPr lang="en-US" altLang="ko-KR" sz="800" smtClean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ISSUE 3.</a:t>
              </a:r>
              <a:endParaRPr lang="ko-KR" altLang="en-US" sz="80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355" name="TextBox 354"/>
            <p:cNvSpPr txBox="1"/>
            <p:nvPr/>
          </p:nvSpPr>
          <p:spPr>
            <a:xfrm>
              <a:off x="1252378" y="5433657"/>
              <a:ext cx="925501" cy="514738"/>
            </a:xfrm>
            <a:prstGeom prst="rect">
              <a:avLst/>
            </a:prstGeom>
            <a:noFill/>
          </p:spPr>
          <p:txBody>
            <a:bodyPr wrap="none" lIns="36000" tIns="108000" rIns="36000" bIns="36000" rtlCol="0" anchor="t">
              <a:spAutoFit/>
            </a:bodyPr>
            <a:lstStyle/>
            <a:p>
              <a:pPr algn="ctr"/>
              <a:r>
                <a:rPr lang="ko-KR" altLang="en-US" sz="80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자동결품배치</a:t>
              </a:r>
              <a:endParaRPr lang="en-US" altLang="ko-KR" sz="8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algn="ctr"/>
              <a:r>
                <a:rPr lang="ko-KR" altLang="en-US" sz="80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예외처리 </a:t>
              </a:r>
              <a:r>
                <a:rPr lang="en-US" altLang="ko-KR" sz="80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(D+5 </a:t>
              </a:r>
              <a:r>
                <a:rPr lang="ko-KR" altLang="en-US" sz="80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등</a:t>
              </a:r>
              <a:r>
                <a:rPr lang="en-US" altLang="ko-KR" sz="80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)</a:t>
              </a:r>
            </a:p>
            <a:p>
              <a:pPr algn="ctr"/>
              <a:r>
                <a:rPr lang="ko-KR" altLang="en-US" sz="80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정책 수립</a:t>
              </a:r>
              <a:endPara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grpSp>
        <p:nvGrpSpPr>
          <p:cNvPr id="361" name="그룹 360"/>
          <p:cNvGrpSpPr/>
          <p:nvPr/>
        </p:nvGrpSpPr>
        <p:grpSpPr>
          <a:xfrm>
            <a:off x="7740606" y="5437554"/>
            <a:ext cx="725126" cy="731383"/>
            <a:chOff x="1352566" y="5217012"/>
            <a:chExt cx="725126" cy="731383"/>
          </a:xfrm>
        </p:grpSpPr>
        <p:sp>
          <p:nvSpPr>
            <p:cNvPr id="362" name="TextBox 361"/>
            <p:cNvSpPr txBox="1"/>
            <p:nvPr/>
          </p:nvSpPr>
          <p:spPr>
            <a:xfrm>
              <a:off x="1355128" y="5217012"/>
              <a:ext cx="720000" cy="216645"/>
            </a:xfrm>
            <a:prstGeom prst="roundRect">
              <a:avLst>
                <a:gd name="adj" fmla="val 50000"/>
              </a:avLst>
            </a:prstGeom>
            <a:solidFill>
              <a:schemeClr val="accent2">
                <a:lumMod val="75000"/>
              </a:schemeClr>
            </a:solidFill>
          </p:spPr>
          <p:txBody>
            <a:bodyPr wrap="none" lIns="36000" tIns="36000" rIns="36000" bIns="36000" rtlCol="0" anchor="ctr">
              <a:noAutofit/>
            </a:bodyPr>
            <a:lstStyle/>
            <a:p>
              <a:pPr algn="ctr"/>
              <a:r>
                <a:rPr lang="en-US" altLang="ko-KR" sz="800" smtClean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ISSUE 4.</a:t>
              </a:r>
              <a:endParaRPr lang="ko-KR" altLang="en-US" sz="80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363" name="TextBox 362"/>
            <p:cNvSpPr txBox="1"/>
            <p:nvPr/>
          </p:nvSpPr>
          <p:spPr>
            <a:xfrm>
              <a:off x="1352566" y="5433657"/>
              <a:ext cx="725126" cy="514738"/>
            </a:xfrm>
            <a:prstGeom prst="rect">
              <a:avLst/>
            </a:prstGeom>
            <a:noFill/>
          </p:spPr>
          <p:txBody>
            <a:bodyPr wrap="none" lIns="36000" tIns="108000" rIns="36000" bIns="36000" rtlCol="0" anchor="t">
              <a:spAutoFit/>
            </a:bodyPr>
            <a:lstStyle/>
            <a:p>
              <a:pPr algn="ctr"/>
              <a:r>
                <a:rPr lang="ko-KR" altLang="en-US" sz="80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고객 주문취소</a:t>
              </a:r>
              <a:endParaRPr lang="en-US" altLang="ko-KR" sz="8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algn="ctr"/>
              <a:r>
                <a:rPr lang="ko-KR" altLang="en-US" sz="80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인터벌에 대한</a:t>
              </a:r>
              <a:endPara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algn="ctr"/>
              <a:r>
                <a:rPr lang="ko-KR" altLang="en-US" sz="80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정책 수립</a:t>
              </a:r>
              <a:endParaRPr lang="en-US" altLang="ko-KR" sz="8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grpSp>
        <p:nvGrpSpPr>
          <p:cNvPr id="373" name="그룹 372"/>
          <p:cNvGrpSpPr/>
          <p:nvPr/>
        </p:nvGrpSpPr>
        <p:grpSpPr>
          <a:xfrm>
            <a:off x="11102909" y="5437554"/>
            <a:ext cx="761994" cy="608273"/>
            <a:chOff x="1334131" y="5217012"/>
            <a:chExt cx="761994" cy="608273"/>
          </a:xfrm>
        </p:grpSpPr>
        <p:sp>
          <p:nvSpPr>
            <p:cNvPr id="374" name="TextBox 373"/>
            <p:cNvSpPr txBox="1"/>
            <p:nvPr/>
          </p:nvSpPr>
          <p:spPr>
            <a:xfrm>
              <a:off x="1355128" y="5217012"/>
              <a:ext cx="720000" cy="216645"/>
            </a:xfrm>
            <a:prstGeom prst="roundRect">
              <a:avLst>
                <a:gd name="adj" fmla="val 50000"/>
              </a:avLst>
            </a:prstGeom>
            <a:solidFill>
              <a:schemeClr val="accent2">
                <a:lumMod val="75000"/>
              </a:schemeClr>
            </a:solidFill>
          </p:spPr>
          <p:txBody>
            <a:bodyPr wrap="none" lIns="36000" tIns="36000" rIns="36000" bIns="36000" rtlCol="0" anchor="ctr">
              <a:noAutofit/>
            </a:bodyPr>
            <a:lstStyle/>
            <a:p>
              <a:pPr algn="ctr"/>
              <a:r>
                <a:rPr lang="en-US" altLang="ko-KR" sz="800" smtClean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ISSUE 5.</a:t>
              </a:r>
              <a:endParaRPr lang="ko-KR" altLang="en-US" sz="80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375" name="TextBox 374"/>
            <p:cNvSpPr txBox="1"/>
            <p:nvPr/>
          </p:nvSpPr>
          <p:spPr>
            <a:xfrm>
              <a:off x="1334131" y="5433657"/>
              <a:ext cx="761994" cy="391628"/>
            </a:xfrm>
            <a:prstGeom prst="rect">
              <a:avLst/>
            </a:prstGeom>
            <a:noFill/>
          </p:spPr>
          <p:txBody>
            <a:bodyPr wrap="none" lIns="36000" tIns="108000" rIns="36000" bIns="36000" rtlCol="0" anchor="t">
              <a:spAutoFit/>
            </a:bodyPr>
            <a:lstStyle/>
            <a:p>
              <a:pPr algn="ctr"/>
              <a:r>
                <a:rPr lang="ko-KR" altLang="en-US" sz="80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교환 신청</a:t>
              </a:r>
              <a:endParaRPr lang="en-US" altLang="ko-KR" sz="8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algn="ctr"/>
              <a:r>
                <a:rPr lang="ko-KR" altLang="en-US" sz="80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재고 체크 로직</a:t>
              </a:r>
              <a:endParaRPr lang="en-US" altLang="ko-KR" sz="8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cxnSp>
        <p:nvCxnSpPr>
          <p:cNvPr id="106" name="꺾인 연결선 105"/>
          <p:cNvCxnSpPr>
            <a:stCxn id="101" idx="0"/>
            <a:endCxn id="94" idx="0"/>
          </p:cNvCxnSpPr>
          <p:nvPr/>
        </p:nvCxnSpPr>
        <p:spPr>
          <a:xfrm rot="16200000" flipH="1" flipV="1">
            <a:off x="5056307" y="3193652"/>
            <a:ext cx="144000" cy="2542242"/>
          </a:xfrm>
          <a:prstGeom prst="bentConnector3">
            <a:avLst>
              <a:gd name="adj1" fmla="val -287073"/>
            </a:avLst>
          </a:prstGeom>
          <a:noFill/>
          <a:ln w="6350" cap="flat" cmpd="sng" algn="ctr">
            <a:solidFill>
              <a:srgbClr val="C00000"/>
            </a:solidFill>
            <a:prstDash val="solid"/>
            <a:tailEnd type="triangle"/>
          </a:ln>
          <a:effectLst/>
        </p:spPr>
      </p:cxnSp>
      <p:cxnSp>
        <p:nvCxnSpPr>
          <p:cNvPr id="389" name="꺾인 연결선 388"/>
          <p:cNvCxnSpPr>
            <a:stCxn id="150" idx="0"/>
            <a:endCxn id="270" idx="1"/>
          </p:cNvCxnSpPr>
          <p:nvPr/>
        </p:nvCxnSpPr>
        <p:spPr>
          <a:xfrm rot="5400000" flipH="1" flipV="1">
            <a:off x="7391849" y="3312966"/>
            <a:ext cx="197400" cy="487414"/>
          </a:xfrm>
          <a:prstGeom prst="bentConnector2">
            <a:avLst/>
          </a:prstGeom>
          <a:noFill/>
          <a:ln w="6350" cap="flat" cmpd="sng" algn="ctr">
            <a:solidFill>
              <a:srgbClr val="FFFFFF">
                <a:lumMod val="50000"/>
              </a:srgbClr>
            </a:solidFill>
            <a:prstDash val="solid"/>
            <a:tailEnd type="triangle"/>
          </a:ln>
          <a:effectLst/>
        </p:spPr>
      </p:cxnSp>
      <p:cxnSp>
        <p:nvCxnSpPr>
          <p:cNvPr id="392" name="꺾인 연결선 391"/>
          <p:cNvCxnSpPr>
            <a:stCxn id="150" idx="1"/>
            <a:endCxn id="94" idx="0"/>
          </p:cNvCxnSpPr>
          <p:nvPr/>
        </p:nvCxnSpPr>
        <p:spPr>
          <a:xfrm rot="10800000" flipV="1">
            <a:off x="3857186" y="3979373"/>
            <a:ext cx="3029656" cy="557400"/>
          </a:xfrm>
          <a:prstGeom prst="bentConnector2">
            <a:avLst/>
          </a:prstGeom>
          <a:noFill/>
          <a:ln w="6350" cap="flat" cmpd="sng" algn="ctr">
            <a:solidFill>
              <a:srgbClr val="C00000"/>
            </a:solidFill>
            <a:prstDash val="solid"/>
            <a:tailEnd type="triangle"/>
          </a:ln>
          <a:effectLst/>
        </p:spPr>
      </p:cxnSp>
      <p:sp>
        <p:nvSpPr>
          <p:cNvPr id="410" name="TextBox 409"/>
          <p:cNvSpPr txBox="1"/>
          <p:nvPr/>
        </p:nvSpPr>
        <p:spPr>
          <a:xfrm>
            <a:off x="6732385" y="3781143"/>
            <a:ext cx="154457" cy="195814"/>
          </a:xfrm>
          <a:prstGeom prst="rect">
            <a:avLst/>
          </a:prstGeom>
          <a:noFill/>
        </p:spPr>
        <p:txBody>
          <a:bodyPr wrap="none" lIns="36000" tIns="36000" rIns="36000" bIns="36000" rtlCol="0" anchor="ctr">
            <a:spAutoFit/>
          </a:bodyPr>
          <a:lstStyle/>
          <a:p>
            <a:pPr algn="r"/>
            <a:r>
              <a:rPr lang="en-US" altLang="ko-KR" sz="800" b="1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N</a:t>
            </a:r>
            <a:endParaRPr lang="ko-KR" altLang="en-US" sz="800" b="1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11" name="TextBox 410"/>
          <p:cNvSpPr txBox="1"/>
          <p:nvPr/>
        </p:nvSpPr>
        <p:spPr>
          <a:xfrm>
            <a:off x="7246368" y="3461696"/>
            <a:ext cx="135221" cy="195814"/>
          </a:xfrm>
          <a:prstGeom prst="rect">
            <a:avLst/>
          </a:prstGeom>
          <a:noFill/>
        </p:spPr>
        <p:txBody>
          <a:bodyPr wrap="none" lIns="36000" tIns="36000" rIns="36000" bIns="36000" rtlCol="0" anchor="ctr">
            <a:spAutoFit/>
          </a:bodyPr>
          <a:lstStyle/>
          <a:p>
            <a:r>
              <a:rPr lang="en-US" altLang="ko-KR" sz="800" b="1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Y</a:t>
            </a:r>
            <a:endParaRPr lang="ko-KR" altLang="en-US" sz="800" b="1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4752036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3" name="직선 연결선 102"/>
          <p:cNvCxnSpPr>
            <a:stCxn id="58" idx="3"/>
            <a:endCxn id="72" idx="1"/>
          </p:cNvCxnSpPr>
          <p:nvPr/>
        </p:nvCxnSpPr>
        <p:spPr>
          <a:xfrm>
            <a:off x="8603906" y="1835999"/>
            <a:ext cx="1440000" cy="0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직선 연결선 104"/>
          <p:cNvCxnSpPr>
            <a:stCxn id="58" idx="3"/>
            <a:endCxn id="76" idx="1"/>
          </p:cNvCxnSpPr>
          <p:nvPr/>
        </p:nvCxnSpPr>
        <p:spPr>
          <a:xfrm>
            <a:off x="8603906" y="1835999"/>
            <a:ext cx="2520000" cy="0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C5E486F5-93A1-4316-A9AE-8F2FB1C3263A}"/>
              </a:ext>
            </a:extLst>
          </p:cNvPr>
          <p:cNvSpPr txBox="1"/>
          <p:nvPr/>
        </p:nvSpPr>
        <p:spPr>
          <a:xfrm>
            <a:off x="94" y="102705"/>
            <a:ext cx="1842721" cy="226591"/>
          </a:xfrm>
          <a:prstGeom prst="rect">
            <a:avLst/>
          </a:prstGeom>
          <a:noFill/>
        </p:spPr>
        <p:txBody>
          <a:bodyPr wrap="none" lIns="360000" tIns="36000" rIns="360000" bIns="36000" rtlCol="0" anchor="ctr">
            <a:spAutoFit/>
          </a:bodyPr>
          <a:lstStyle/>
          <a:p>
            <a:r>
              <a:rPr lang="ko-KR" altLang="en-US" sz="1000" b="1">
                <a:solidFill>
                  <a:schemeClr val="bg1"/>
                </a:solidFill>
                <a:latin typeface="맑은 고딕" panose="020B0503020000020004" pitchFamily="50" charset="-127"/>
              </a:rPr>
              <a:t>온오프 재고 효율화</a:t>
            </a:r>
            <a:endParaRPr lang="en-US" altLang="ko-KR" sz="1000" b="1">
              <a:solidFill>
                <a:schemeClr val="bg1"/>
              </a:solidFill>
              <a:latin typeface="맑은 고딕" panose="020B0503020000020004" pitchFamily="50" charset="-127"/>
            </a:endParaRPr>
          </a:p>
        </p:txBody>
      </p:sp>
      <p:grpSp>
        <p:nvGrpSpPr>
          <p:cNvPr id="83" name="그룹 82"/>
          <p:cNvGrpSpPr/>
          <p:nvPr/>
        </p:nvGrpSpPr>
        <p:grpSpPr>
          <a:xfrm>
            <a:off x="323906" y="1475999"/>
            <a:ext cx="720000" cy="720000"/>
            <a:chOff x="323530" y="1799999"/>
            <a:chExt cx="720000" cy="720000"/>
          </a:xfrm>
        </p:grpSpPr>
        <p:sp>
          <p:nvSpPr>
            <p:cNvPr id="84" name="모서리가 둥근 직사각형 83"/>
            <p:cNvSpPr/>
            <p:nvPr/>
          </p:nvSpPr>
          <p:spPr>
            <a:xfrm>
              <a:off x="323530" y="1799999"/>
              <a:ext cx="720000" cy="720000"/>
            </a:xfrm>
            <a:prstGeom prst="roundRect">
              <a:avLst>
                <a:gd name="adj" fmla="val 5025"/>
              </a:avLst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  <a:effectLst>
              <a:outerShdw blurRad="12700" dist="12700" dir="2700000" algn="tl" rotWithShape="0">
                <a:schemeClr val="tx1">
                  <a:lumMod val="75000"/>
                  <a:lumOff val="25000"/>
                  <a:alpha val="5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ko-KR" altLang="en-US" sz="70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상품목록</a:t>
              </a:r>
              <a:endParaRPr lang="ko-KR" altLang="en-US" sz="7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85" name="모서리가 둥근 직사각형 84"/>
            <p:cNvSpPr/>
            <p:nvPr/>
          </p:nvSpPr>
          <p:spPr>
            <a:xfrm>
              <a:off x="323530" y="1799999"/>
              <a:ext cx="720000" cy="180000"/>
            </a:xfrm>
            <a:prstGeom prst="roundRect">
              <a:avLst/>
            </a:prstGeom>
            <a:solidFill>
              <a:srgbClr val="C00000"/>
            </a:solidFill>
            <a:ln w="3175">
              <a:solidFill>
                <a:schemeClr val="bg1">
                  <a:lumMod val="75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altLang="ko-KR" sz="700" smtClean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LFmall</a:t>
              </a:r>
              <a:endParaRPr lang="ko-KR" altLang="en-US" sz="70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86" name="모서리가 둥근 직사각형 85"/>
            <p:cNvSpPr/>
            <p:nvPr/>
          </p:nvSpPr>
          <p:spPr>
            <a:xfrm>
              <a:off x="323530" y="2339999"/>
              <a:ext cx="720000" cy="180000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 w="3175">
              <a:solidFill>
                <a:schemeClr val="bg1">
                  <a:lumMod val="75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altLang="ko-KR" sz="70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Front</a:t>
              </a:r>
              <a:endParaRPr lang="ko-KR" altLang="en-US" sz="7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endParaRPr>
            </a:p>
          </p:txBody>
        </p:sp>
      </p:grpSp>
      <p:sp>
        <p:nvSpPr>
          <p:cNvPr id="78" name="모서리가 둥근 직사각형 77"/>
          <p:cNvSpPr/>
          <p:nvPr/>
        </p:nvSpPr>
        <p:spPr>
          <a:xfrm>
            <a:off x="323906" y="755999"/>
            <a:ext cx="2232000" cy="360000"/>
          </a:xfrm>
          <a:prstGeom prst="roundRect">
            <a:avLst/>
          </a:prstGeom>
          <a:solidFill>
            <a:schemeClr val="tx1">
              <a:lumMod val="65000"/>
              <a:lumOff val="35000"/>
            </a:schemeClr>
          </a:solidFill>
          <a:ln w="381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0" tIns="36000" rIns="36000" bIns="36000" rtlCol="0" anchor="ctr"/>
          <a:lstStyle/>
          <a:p>
            <a:r>
              <a:rPr lang="en-US" altLang="ko-KR" sz="900" b="1" smtClean="0">
                <a:solidFill>
                  <a:schemeClr val="bg1"/>
                </a:solidFill>
                <a:latin typeface="맑은 고딕" panose="020B0503020000020004" pitchFamily="50" charset="-127"/>
              </a:rPr>
              <a:t>LFmall </a:t>
            </a:r>
            <a:r>
              <a:rPr lang="ko-KR" altLang="en-US" sz="900" b="1" smtClean="0">
                <a:solidFill>
                  <a:schemeClr val="bg1"/>
                </a:solidFill>
                <a:latin typeface="맑은 고딕" panose="020B0503020000020004" pitchFamily="50" charset="-127"/>
              </a:rPr>
              <a:t>재고 관련 </a:t>
            </a:r>
            <a:r>
              <a:rPr lang="en-US" altLang="ko-KR" sz="900" b="1" smtClean="0">
                <a:solidFill>
                  <a:schemeClr val="bg1"/>
                </a:solidFill>
                <a:latin typeface="맑은 고딕" panose="020B0503020000020004" pitchFamily="50" charset="-127"/>
              </a:rPr>
              <a:t>DB</a:t>
            </a:r>
            <a:r>
              <a:rPr lang="ko-KR" altLang="en-US" sz="900" b="1" smtClean="0">
                <a:solidFill>
                  <a:schemeClr val="bg1"/>
                </a:solidFill>
                <a:latin typeface="맑은 고딕" panose="020B0503020000020004" pitchFamily="50" charset="-127"/>
              </a:rPr>
              <a:t> 구조</a:t>
            </a:r>
            <a:endParaRPr lang="ko-KR" altLang="en-US" sz="900" b="1">
              <a:solidFill>
                <a:schemeClr val="bg1"/>
              </a:solidFill>
              <a:latin typeface="맑은 고딕" panose="020B0503020000020004" pitchFamily="50" charset="-127"/>
            </a:endParaRPr>
          </a:p>
        </p:txBody>
      </p:sp>
      <p:grpSp>
        <p:nvGrpSpPr>
          <p:cNvPr id="65" name="그룹 64"/>
          <p:cNvGrpSpPr/>
          <p:nvPr/>
        </p:nvGrpSpPr>
        <p:grpSpPr>
          <a:xfrm>
            <a:off x="1403906" y="1475999"/>
            <a:ext cx="720000" cy="720000"/>
            <a:chOff x="323530" y="1799999"/>
            <a:chExt cx="720000" cy="720000"/>
          </a:xfrm>
        </p:grpSpPr>
        <p:sp>
          <p:nvSpPr>
            <p:cNvPr id="66" name="모서리가 둥근 직사각형 65"/>
            <p:cNvSpPr/>
            <p:nvPr/>
          </p:nvSpPr>
          <p:spPr>
            <a:xfrm>
              <a:off x="323530" y="1799999"/>
              <a:ext cx="720000" cy="720000"/>
            </a:xfrm>
            <a:prstGeom prst="roundRect">
              <a:avLst>
                <a:gd name="adj" fmla="val 5025"/>
              </a:avLst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  <a:effectLst>
              <a:outerShdw blurRad="12700" dist="12700" dir="2700000" algn="tl" rotWithShape="0">
                <a:schemeClr val="tx1">
                  <a:lumMod val="75000"/>
                  <a:lumOff val="25000"/>
                  <a:alpha val="5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ko-KR" altLang="en-US" sz="70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상품상세</a:t>
              </a:r>
              <a:endParaRPr lang="ko-KR" altLang="en-US" sz="7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67" name="모서리가 둥근 직사각형 66"/>
            <p:cNvSpPr/>
            <p:nvPr/>
          </p:nvSpPr>
          <p:spPr>
            <a:xfrm>
              <a:off x="323530" y="1799999"/>
              <a:ext cx="720000" cy="180000"/>
            </a:xfrm>
            <a:prstGeom prst="roundRect">
              <a:avLst/>
            </a:prstGeom>
            <a:solidFill>
              <a:srgbClr val="C00000"/>
            </a:solidFill>
            <a:ln w="3175">
              <a:solidFill>
                <a:schemeClr val="bg1">
                  <a:lumMod val="75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altLang="ko-KR" sz="700" smtClean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LFmall</a:t>
              </a:r>
              <a:endParaRPr lang="ko-KR" altLang="en-US" sz="70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68" name="모서리가 둥근 직사각형 67"/>
            <p:cNvSpPr/>
            <p:nvPr/>
          </p:nvSpPr>
          <p:spPr>
            <a:xfrm>
              <a:off x="323530" y="2339999"/>
              <a:ext cx="720000" cy="180000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 w="3175">
              <a:solidFill>
                <a:schemeClr val="bg1">
                  <a:lumMod val="75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altLang="ko-KR" sz="70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Front</a:t>
              </a:r>
              <a:endParaRPr lang="ko-KR" altLang="en-US" sz="7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endParaRPr>
            </a:p>
          </p:txBody>
        </p:sp>
      </p:grpSp>
      <p:grpSp>
        <p:nvGrpSpPr>
          <p:cNvPr id="69" name="그룹 68"/>
          <p:cNvGrpSpPr/>
          <p:nvPr/>
        </p:nvGrpSpPr>
        <p:grpSpPr>
          <a:xfrm>
            <a:off x="3563906" y="1475999"/>
            <a:ext cx="720000" cy="720000"/>
            <a:chOff x="323530" y="1799999"/>
            <a:chExt cx="720000" cy="720000"/>
          </a:xfrm>
        </p:grpSpPr>
        <p:sp>
          <p:nvSpPr>
            <p:cNvPr id="70" name="모서리가 둥근 직사각형 69"/>
            <p:cNvSpPr/>
            <p:nvPr/>
          </p:nvSpPr>
          <p:spPr>
            <a:xfrm>
              <a:off x="323530" y="1799999"/>
              <a:ext cx="720000" cy="720000"/>
            </a:xfrm>
            <a:prstGeom prst="roundRect">
              <a:avLst>
                <a:gd name="adj" fmla="val 5025"/>
              </a:avLst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  <a:effectLst>
              <a:outerShdw blurRad="12700" dist="12700" dir="2700000" algn="tl" rotWithShape="0">
                <a:schemeClr val="tx1">
                  <a:lumMod val="75000"/>
                  <a:lumOff val="25000"/>
                  <a:alpha val="5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ko-KR" altLang="en-US" sz="70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쇼핑백</a:t>
              </a:r>
              <a:endParaRPr lang="ko-KR" altLang="en-US" sz="7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77" name="모서리가 둥근 직사각형 76"/>
            <p:cNvSpPr/>
            <p:nvPr/>
          </p:nvSpPr>
          <p:spPr>
            <a:xfrm>
              <a:off x="323530" y="1799999"/>
              <a:ext cx="720000" cy="180000"/>
            </a:xfrm>
            <a:prstGeom prst="roundRect">
              <a:avLst/>
            </a:prstGeom>
            <a:solidFill>
              <a:srgbClr val="C00000"/>
            </a:solidFill>
            <a:ln w="3175">
              <a:solidFill>
                <a:schemeClr val="bg1">
                  <a:lumMod val="75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altLang="ko-KR" sz="700" smtClean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LFmall</a:t>
              </a:r>
              <a:endParaRPr lang="ko-KR" altLang="en-US" sz="70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79" name="모서리가 둥근 직사각형 78"/>
            <p:cNvSpPr/>
            <p:nvPr/>
          </p:nvSpPr>
          <p:spPr>
            <a:xfrm>
              <a:off x="323530" y="2339999"/>
              <a:ext cx="720000" cy="180000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 w="3175">
              <a:solidFill>
                <a:schemeClr val="bg1">
                  <a:lumMod val="75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altLang="ko-KR" sz="70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Front</a:t>
              </a:r>
              <a:endParaRPr lang="ko-KR" altLang="en-US" sz="7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endParaRPr>
            </a:p>
          </p:txBody>
        </p:sp>
      </p:grpSp>
      <p:grpSp>
        <p:nvGrpSpPr>
          <p:cNvPr id="81" name="그룹 80"/>
          <p:cNvGrpSpPr/>
          <p:nvPr/>
        </p:nvGrpSpPr>
        <p:grpSpPr>
          <a:xfrm>
            <a:off x="4643906" y="1475999"/>
            <a:ext cx="720000" cy="720000"/>
            <a:chOff x="323530" y="1799999"/>
            <a:chExt cx="720000" cy="720000"/>
          </a:xfrm>
        </p:grpSpPr>
        <p:sp>
          <p:nvSpPr>
            <p:cNvPr id="82" name="모서리가 둥근 직사각형 81"/>
            <p:cNvSpPr/>
            <p:nvPr/>
          </p:nvSpPr>
          <p:spPr>
            <a:xfrm>
              <a:off x="323530" y="1799999"/>
              <a:ext cx="720000" cy="720000"/>
            </a:xfrm>
            <a:prstGeom prst="roundRect">
              <a:avLst>
                <a:gd name="adj" fmla="val 5025"/>
              </a:avLst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  <a:effectLst>
              <a:outerShdw blurRad="12700" dist="12700" dir="2700000" algn="tl" rotWithShape="0">
                <a:schemeClr val="tx1">
                  <a:lumMod val="75000"/>
                  <a:lumOff val="25000"/>
                  <a:alpha val="5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ko-KR" altLang="en-US" sz="70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주문서</a:t>
              </a:r>
              <a:endParaRPr lang="ko-KR" altLang="en-US" sz="7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87" name="모서리가 둥근 직사각형 86"/>
            <p:cNvSpPr/>
            <p:nvPr/>
          </p:nvSpPr>
          <p:spPr>
            <a:xfrm>
              <a:off x="323530" y="1799999"/>
              <a:ext cx="720000" cy="180000"/>
            </a:xfrm>
            <a:prstGeom prst="roundRect">
              <a:avLst/>
            </a:prstGeom>
            <a:solidFill>
              <a:srgbClr val="C00000"/>
            </a:solidFill>
            <a:ln w="3175">
              <a:solidFill>
                <a:schemeClr val="bg1">
                  <a:lumMod val="75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altLang="ko-KR" sz="700" smtClean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LFmall</a:t>
              </a:r>
              <a:endParaRPr lang="ko-KR" altLang="en-US" sz="70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88" name="모서리가 둥근 직사각형 87"/>
            <p:cNvSpPr/>
            <p:nvPr/>
          </p:nvSpPr>
          <p:spPr>
            <a:xfrm>
              <a:off x="323530" y="2339999"/>
              <a:ext cx="720000" cy="180000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 w="3175">
              <a:solidFill>
                <a:schemeClr val="bg1">
                  <a:lumMod val="75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altLang="ko-KR" sz="70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Front</a:t>
              </a:r>
              <a:endParaRPr lang="ko-KR" altLang="en-US" sz="7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endParaRPr>
            </a:p>
          </p:txBody>
        </p:sp>
      </p:grpSp>
      <p:grpSp>
        <p:nvGrpSpPr>
          <p:cNvPr id="89" name="그룹 88"/>
          <p:cNvGrpSpPr/>
          <p:nvPr/>
        </p:nvGrpSpPr>
        <p:grpSpPr>
          <a:xfrm>
            <a:off x="2483906" y="2195998"/>
            <a:ext cx="720000" cy="720000"/>
            <a:chOff x="323530" y="1799999"/>
            <a:chExt cx="720000" cy="720000"/>
          </a:xfrm>
        </p:grpSpPr>
        <p:sp>
          <p:nvSpPr>
            <p:cNvPr id="90" name="모서리가 둥근 직사각형 89"/>
            <p:cNvSpPr/>
            <p:nvPr/>
          </p:nvSpPr>
          <p:spPr>
            <a:xfrm>
              <a:off x="323530" y="1799999"/>
              <a:ext cx="720000" cy="720000"/>
            </a:xfrm>
            <a:prstGeom prst="roundRect">
              <a:avLst>
                <a:gd name="adj" fmla="val 5025"/>
              </a:avLst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  <a:effectLst>
              <a:outerShdw blurRad="12700" dist="12700" dir="2700000" algn="tl" rotWithShape="0">
                <a:schemeClr val="tx1">
                  <a:lumMod val="75000"/>
                  <a:lumOff val="25000"/>
                  <a:alpha val="5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ko-KR" altLang="en-US" sz="70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원클릭</a:t>
              </a:r>
              <a:endParaRPr lang="en-US" altLang="ko-KR" sz="7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algn="ctr"/>
              <a:r>
                <a:rPr lang="ko-KR" altLang="en-US" sz="70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주문서</a:t>
              </a:r>
              <a:endParaRPr lang="ko-KR" altLang="en-US" sz="7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92" name="모서리가 둥근 직사각형 91"/>
            <p:cNvSpPr/>
            <p:nvPr/>
          </p:nvSpPr>
          <p:spPr>
            <a:xfrm>
              <a:off x="323530" y="1799999"/>
              <a:ext cx="720000" cy="180000"/>
            </a:xfrm>
            <a:prstGeom prst="roundRect">
              <a:avLst/>
            </a:prstGeom>
            <a:solidFill>
              <a:srgbClr val="C00000"/>
            </a:solidFill>
            <a:ln w="3175">
              <a:solidFill>
                <a:schemeClr val="bg1">
                  <a:lumMod val="75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altLang="ko-KR" sz="700" smtClean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LFmall</a:t>
              </a:r>
              <a:endParaRPr lang="ko-KR" altLang="en-US" sz="70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94" name="모서리가 둥근 직사각형 93"/>
            <p:cNvSpPr/>
            <p:nvPr/>
          </p:nvSpPr>
          <p:spPr>
            <a:xfrm>
              <a:off x="323530" y="2339999"/>
              <a:ext cx="720000" cy="180000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 w="3175">
              <a:solidFill>
                <a:schemeClr val="bg1">
                  <a:lumMod val="75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altLang="ko-KR" sz="70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Front</a:t>
              </a:r>
              <a:endParaRPr lang="ko-KR" altLang="en-US" sz="7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endParaRPr>
            </a:p>
          </p:txBody>
        </p:sp>
      </p:grpSp>
      <p:cxnSp>
        <p:nvCxnSpPr>
          <p:cNvPr id="26" name="직선 연결선 25"/>
          <p:cNvCxnSpPr>
            <a:stCxn id="84" idx="3"/>
            <a:endCxn id="66" idx="1"/>
          </p:cNvCxnSpPr>
          <p:nvPr/>
        </p:nvCxnSpPr>
        <p:spPr>
          <a:xfrm>
            <a:off x="1043906" y="1835999"/>
            <a:ext cx="360000" cy="0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꺾인 연결선 103"/>
          <p:cNvCxnSpPr>
            <a:stCxn id="66" idx="3"/>
            <a:endCxn id="92" idx="0"/>
          </p:cNvCxnSpPr>
          <p:nvPr/>
        </p:nvCxnSpPr>
        <p:spPr>
          <a:xfrm>
            <a:off x="2123906" y="1835999"/>
            <a:ext cx="720000" cy="359999"/>
          </a:xfrm>
          <a:prstGeom prst="bentConnector2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직선 연결선 108"/>
          <p:cNvCxnSpPr>
            <a:stCxn id="70" idx="3"/>
            <a:endCxn id="82" idx="1"/>
          </p:cNvCxnSpPr>
          <p:nvPr/>
        </p:nvCxnSpPr>
        <p:spPr>
          <a:xfrm>
            <a:off x="4283906" y="1835999"/>
            <a:ext cx="360000" cy="0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그룹 11"/>
          <p:cNvGrpSpPr/>
          <p:nvPr/>
        </p:nvGrpSpPr>
        <p:grpSpPr>
          <a:xfrm>
            <a:off x="2124093" y="3887851"/>
            <a:ext cx="7920002" cy="2376229"/>
            <a:chOff x="1043904" y="3887851"/>
            <a:chExt cx="7920002" cy="2376229"/>
          </a:xfrm>
        </p:grpSpPr>
        <p:sp>
          <p:nvSpPr>
            <p:cNvPr id="147" name="모서리가 둥근 직사각형 146"/>
            <p:cNvSpPr/>
            <p:nvPr/>
          </p:nvSpPr>
          <p:spPr>
            <a:xfrm>
              <a:off x="3743905" y="3887851"/>
              <a:ext cx="3960000" cy="1224000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3175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8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grpSp>
          <p:nvGrpSpPr>
            <p:cNvPr id="7" name="그룹 6"/>
            <p:cNvGrpSpPr/>
            <p:nvPr/>
          </p:nvGrpSpPr>
          <p:grpSpPr>
            <a:xfrm>
              <a:off x="6803904" y="3995998"/>
              <a:ext cx="720000" cy="1043999"/>
              <a:chOff x="3052033" y="3601616"/>
              <a:chExt cx="720000" cy="1043999"/>
            </a:xfrm>
          </p:grpSpPr>
          <p:sp>
            <p:nvSpPr>
              <p:cNvPr id="2" name="원통 1"/>
              <p:cNvSpPr/>
              <p:nvPr/>
            </p:nvSpPr>
            <p:spPr>
              <a:xfrm>
                <a:off x="3052033" y="3601616"/>
                <a:ext cx="720000" cy="720000"/>
              </a:xfrm>
              <a:prstGeom prst="can">
                <a:avLst/>
              </a:prstGeom>
              <a:solidFill>
                <a:schemeClr val="accent5">
                  <a:lumMod val="50000"/>
                </a:schemeClr>
              </a:solidFill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36000" rIns="36000" bIns="36000" rtlCol="0" anchor="ctr"/>
              <a:lstStyle/>
              <a:p>
                <a:pPr algn="ctr"/>
                <a:r>
                  <a:rPr lang="en-US" altLang="ko-KR" sz="700" b="1" smtClean="0">
                    <a:solidFill>
                      <a:schemeClr val="bg1"/>
                    </a:solidFill>
                    <a:latin typeface="맑은 고딕" panose="020B0503020000020004" pitchFamily="50" charset="-127"/>
                  </a:rPr>
                  <a:t>STB_STOCK</a:t>
                </a:r>
                <a:endParaRPr lang="ko-KR" altLang="en-US" sz="700" b="1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  <p:sp>
            <p:nvSpPr>
              <p:cNvPr id="4" name="직사각형 3"/>
              <p:cNvSpPr/>
              <p:nvPr/>
            </p:nvSpPr>
            <p:spPr>
              <a:xfrm>
                <a:off x="3052033" y="4393615"/>
                <a:ext cx="720000" cy="25200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31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ko-KR" sz="600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LFmall </a:t>
                </a:r>
                <a:r>
                  <a:rPr lang="ko-KR" altLang="en-US" sz="600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기준 재고 </a:t>
                </a:r>
                <a:r>
                  <a:rPr lang="en-US" altLang="ko-KR" sz="600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(STORE </a:t>
                </a:r>
                <a:r>
                  <a:rPr lang="ko-KR" altLang="en-US" sz="600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합계</a:t>
                </a:r>
                <a:r>
                  <a:rPr lang="en-US" altLang="ko-KR" sz="600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)</a:t>
                </a:r>
                <a:endParaRPr lang="ko-KR" altLang="en-US" sz="60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</p:grpSp>
        <p:grpSp>
          <p:nvGrpSpPr>
            <p:cNvPr id="8" name="그룹 7"/>
            <p:cNvGrpSpPr/>
            <p:nvPr/>
          </p:nvGrpSpPr>
          <p:grpSpPr>
            <a:xfrm>
              <a:off x="3923908" y="3995998"/>
              <a:ext cx="720000" cy="1043999"/>
              <a:chOff x="4003755" y="3601616"/>
              <a:chExt cx="720000" cy="1043999"/>
            </a:xfrm>
          </p:grpSpPr>
          <p:sp>
            <p:nvSpPr>
              <p:cNvPr id="95" name="원통 94"/>
              <p:cNvSpPr/>
              <p:nvPr/>
            </p:nvSpPr>
            <p:spPr>
              <a:xfrm>
                <a:off x="4003755" y="3601616"/>
                <a:ext cx="720000" cy="720000"/>
              </a:xfrm>
              <a:prstGeom prst="can">
                <a:avLst/>
              </a:prstGeom>
              <a:solidFill>
                <a:schemeClr val="accent5">
                  <a:lumMod val="50000"/>
                </a:schemeClr>
              </a:solidFill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36000" rIns="36000" bIns="36000" rtlCol="0" anchor="ctr"/>
              <a:lstStyle/>
              <a:p>
                <a:pPr algn="ctr"/>
                <a:r>
                  <a:rPr lang="en-US" altLang="ko-KR" sz="700" b="1" smtClean="0">
                    <a:solidFill>
                      <a:schemeClr val="bg1"/>
                    </a:solidFill>
                    <a:latin typeface="맑은 고딕" panose="020B0503020000020004" pitchFamily="50" charset="-127"/>
                  </a:rPr>
                  <a:t>STB_STOCK_</a:t>
                </a:r>
              </a:p>
              <a:p>
                <a:pPr algn="ctr"/>
                <a:r>
                  <a:rPr lang="en-US" altLang="ko-KR" sz="700" b="1" smtClean="0">
                    <a:solidFill>
                      <a:schemeClr val="bg1"/>
                    </a:solidFill>
                    <a:latin typeface="맑은 고딕" panose="020B0503020000020004" pitchFamily="50" charset="-127"/>
                  </a:rPr>
                  <a:t>STORE</a:t>
                </a:r>
                <a:endParaRPr lang="ko-KR" altLang="en-US" sz="700" b="1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  <p:sp>
            <p:nvSpPr>
              <p:cNvPr id="98" name="직사각형 97"/>
              <p:cNvSpPr/>
              <p:nvPr/>
            </p:nvSpPr>
            <p:spPr>
              <a:xfrm>
                <a:off x="4003755" y="4393615"/>
                <a:ext cx="720000" cy="25200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31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ko-KR" altLang="en-US" sz="600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매장코드 단위로</a:t>
                </a:r>
                <a:endParaRPr lang="en-US" altLang="ko-KR" sz="60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  <a:p>
                <a:pPr algn="ctr"/>
                <a:r>
                  <a:rPr lang="ko-KR" altLang="en-US" sz="600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매장 별 재고</a:t>
                </a:r>
                <a:endParaRPr lang="ko-KR" altLang="en-US" sz="60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</p:grpSp>
        <p:sp>
          <p:nvSpPr>
            <p:cNvPr id="101" name="원통 100"/>
            <p:cNvSpPr/>
            <p:nvPr/>
          </p:nvSpPr>
          <p:spPr>
            <a:xfrm>
              <a:off x="1043904" y="3995998"/>
              <a:ext cx="720000" cy="720000"/>
            </a:xfrm>
            <a:prstGeom prst="can">
              <a:avLst/>
            </a:prstGeom>
            <a:solidFill>
              <a:schemeClr val="tx1">
                <a:lumMod val="75000"/>
                <a:lumOff val="25000"/>
              </a:schemeClr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/>
              <a:r>
                <a:rPr lang="en-US" altLang="ko-KR" sz="700" b="1" smtClean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SAP</a:t>
              </a:r>
            </a:p>
            <a:p>
              <a:pPr algn="ctr"/>
              <a:r>
                <a:rPr lang="en-US" altLang="ko-KR" sz="700" b="1" smtClean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(MDP)</a:t>
              </a:r>
              <a:endParaRPr lang="ko-KR" altLang="en-US" sz="7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grpSp>
          <p:nvGrpSpPr>
            <p:cNvPr id="116" name="그룹 115"/>
            <p:cNvGrpSpPr/>
            <p:nvPr/>
          </p:nvGrpSpPr>
          <p:grpSpPr>
            <a:xfrm>
              <a:off x="8243906" y="3995998"/>
              <a:ext cx="720000" cy="1043999"/>
              <a:chOff x="5011461" y="3601616"/>
              <a:chExt cx="720000" cy="1043999"/>
            </a:xfrm>
          </p:grpSpPr>
          <p:sp>
            <p:nvSpPr>
              <p:cNvPr id="117" name="원통 116"/>
              <p:cNvSpPr/>
              <p:nvPr/>
            </p:nvSpPr>
            <p:spPr>
              <a:xfrm>
                <a:off x="5011461" y="3601616"/>
                <a:ext cx="720000" cy="720000"/>
              </a:xfrm>
              <a:prstGeom prst="can">
                <a:avLst/>
              </a:prstGeom>
              <a:solidFill>
                <a:schemeClr val="accent5">
                  <a:lumMod val="50000"/>
                </a:schemeClr>
              </a:solidFill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36000" rIns="36000" bIns="36000" rtlCol="0" anchor="ctr"/>
              <a:lstStyle/>
              <a:p>
                <a:pPr algn="ctr"/>
                <a:r>
                  <a:rPr lang="en-US" altLang="ko-KR" sz="700" b="1">
                    <a:solidFill>
                      <a:schemeClr val="bg1"/>
                    </a:solidFill>
                    <a:latin typeface="맑은 고딕" panose="020B0503020000020004" pitchFamily="50" charset="-127"/>
                  </a:rPr>
                  <a:t>STB_PROD</a:t>
                </a:r>
                <a:r>
                  <a:rPr lang="en-US" altLang="ko-KR" sz="700" b="1" smtClean="0">
                    <a:solidFill>
                      <a:schemeClr val="bg1"/>
                    </a:solidFill>
                    <a:latin typeface="맑은 고딕" panose="020B0503020000020004" pitchFamily="50" charset="-127"/>
                  </a:rPr>
                  <a:t>_</a:t>
                </a:r>
              </a:p>
              <a:p>
                <a:pPr algn="ctr"/>
                <a:r>
                  <a:rPr lang="en-US" altLang="ko-KR" sz="700" b="1" smtClean="0">
                    <a:solidFill>
                      <a:schemeClr val="bg1"/>
                    </a:solidFill>
                    <a:latin typeface="맑은 고딕" panose="020B0503020000020004" pitchFamily="50" charset="-127"/>
                  </a:rPr>
                  <a:t>STOCK_OPT</a:t>
                </a:r>
                <a:endParaRPr lang="ko-KR" altLang="en-US" sz="700" b="1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  <p:sp>
            <p:nvSpPr>
              <p:cNvPr id="118" name="직사각형 117"/>
              <p:cNvSpPr/>
              <p:nvPr/>
            </p:nvSpPr>
            <p:spPr>
              <a:xfrm>
                <a:off x="5011461" y="4393615"/>
                <a:ext cx="720000" cy="25200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31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ko-KR" altLang="en-US" sz="600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전시를 위한</a:t>
                </a:r>
                <a:endParaRPr lang="en-US" altLang="ko-KR" sz="60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  <a:p>
                <a:pPr algn="ctr"/>
                <a:r>
                  <a:rPr lang="ko-KR" altLang="en-US" sz="600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자사</a:t>
                </a:r>
                <a:r>
                  <a:rPr lang="en-US" altLang="ko-KR" sz="600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/</a:t>
                </a:r>
                <a:r>
                  <a:rPr lang="ko-KR" altLang="en-US" sz="600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입점 통합</a:t>
                </a:r>
                <a:endParaRPr lang="ko-KR" altLang="en-US" sz="60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</p:grpSp>
        <p:grpSp>
          <p:nvGrpSpPr>
            <p:cNvPr id="119" name="그룹 118"/>
            <p:cNvGrpSpPr/>
            <p:nvPr/>
          </p:nvGrpSpPr>
          <p:grpSpPr>
            <a:xfrm>
              <a:off x="2483906" y="5220081"/>
              <a:ext cx="720000" cy="1043999"/>
              <a:chOff x="5011461" y="3601616"/>
              <a:chExt cx="720000" cy="1043999"/>
            </a:xfrm>
          </p:grpSpPr>
          <p:sp>
            <p:nvSpPr>
              <p:cNvPr id="120" name="원통 119"/>
              <p:cNvSpPr/>
              <p:nvPr/>
            </p:nvSpPr>
            <p:spPr>
              <a:xfrm>
                <a:off x="5011461" y="3601616"/>
                <a:ext cx="720000" cy="720000"/>
              </a:xfrm>
              <a:prstGeom prst="can">
                <a:avLst/>
              </a:prstGeom>
              <a:solidFill>
                <a:schemeClr val="accent5">
                  <a:lumMod val="50000"/>
                </a:schemeClr>
              </a:solidFill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36000" rIns="36000" bIns="36000" rtlCol="0" anchor="ctr"/>
              <a:lstStyle/>
              <a:p>
                <a:pPr algn="ctr"/>
                <a:r>
                  <a:rPr lang="en-US" altLang="ko-KR" sz="700" b="1">
                    <a:solidFill>
                      <a:schemeClr val="bg1"/>
                    </a:solidFill>
                    <a:latin typeface="맑은 고딕" panose="020B0503020000020004" pitchFamily="50" charset="-127"/>
                  </a:rPr>
                  <a:t>STB_STOCK</a:t>
                </a:r>
                <a:r>
                  <a:rPr lang="en-US" altLang="ko-KR" sz="700" b="1" smtClean="0">
                    <a:solidFill>
                      <a:schemeClr val="bg1"/>
                    </a:solidFill>
                    <a:latin typeface="맑은 고딕" panose="020B0503020000020004" pitchFamily="50" charset="-127"/>
                  </a:rPr>
                  <a:t>_</a:t>
                </a:r>
              </a:p>
              <a:p>
                <a:pPr algn="ctr"/>
                <a:r>
                  <a:rPr lang="en-US" altLang="ko-KR" sz="700" b="1" smtClean="0">
                    <a:solidFill>
                      <a:schemeClr val="bg1"/>
                    </a:solidFill>
                    <a:latin typeface="맑은 고딕" panose="020B0503020000020004" pitchFamily="50" charset="-127"/>
                  </a:rPr>
                  <a:t>RES_BASE</a:t>
                </a:r>
                <a:endParaRPr lang="ko-KR" altLang="en-US" sz="700" b="1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  <p:sp>
            <p:nvSpPr>
              <p:cNvPr id="121" name="직사각형 120"/>
              <p:cNvSpPr/>
              <p:nvPr/>
            </p:nvSpPr>
            <p:spPr>
              <a:xfrm>
                <a:off x="5011461" y="4393615"/>
                <a:ext cx="720000" cy="25200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31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ko-KR" altLang="en-US" sz="600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매장 별 재고를</a:t>
                </a:r>
                <a:endParaRPr lang="en-US" altLang="ko-KR" sz="60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  <a:p>
                <a:pPr algn="ctr"/>
                <a:r>
                  <a:rPr lang="en-US" altLang="ko-KR" sz="600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SAP </a:t>
                </a:r>
                <a:r>
                  <a:rPr lang="ko-KR" altLang="en-US" sz="600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호출 여부</a:t>
                </a:r>
                <a:endParaRPr lang="ko-KR" altLang="en-US" sz="60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</p:grpSp>
        <p:cxnSp>
          <p:nvCxnSpPr>
            <p:cNvPr id="129" name="직선 화살표 연결선 128"/>
            <p:cNvCxnSpPr>
              <a:stCxn id="2" idx="4"/>
              <a:endCxn id="117" idx="2"/>
            </p:cNvCxnSpPr>
            <p:nvPr/>
          </p:nvCxnSpPr>
          <p:spPr>
            <a:xfrm>
              <a:off x="7523904" y="4355998"/>
              <a:ext cx="720002" cy="0"/>
            </a:xfrm>
            <a:prstGeom prst="straightConnector1">
              <a:avLst/>
            </a:prstGeom>
            <a:ln>
              <a:solidFill>
                <a:schemeClr val="tx1">
                  <a:lumMod val="75000"/>
                  <a:lumOff val="25000"/>
                </a:schemeClr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39" name="그룹 138"/>
            <p:cNvGrpSpPr/>
            <p:nvPr/>
          </p:nvGrpSpPr>
          <p:grpSpPr>
            <a:xfrm>
              <a:off x="5363902" y="5220081"/>
              <a:ext cx="720000" cy="1043999"/>
              <a:chOff x="3052033" y="3601616"/>
              <a:chExt cx="720000" cy="1043999"/>
            </a:xfrm>
          </p:grpSpPr>
          <p:sp>
            <p:nvSpPr>
              <p:cNvPr id="140" name="원통 139"/>
              <p:cNvSpPr/>
              <p:nvPr/>
            </p:nvSpPr>
            <p:spPr>
              <a:xfrm>
                <a:off x="3052033" y="3601616"/>
                <a:ext cx="720000" cy="720000"/>
              </a:xfrm>
              <a:prstGeom prst="can">
                <a:avLst/>
              </a:prstGeom>
              <a:solidFill>
                <a:schemeClr val="accent5">
                  <a:lumMod val="50000"/>
                </a:schemeClr>
              </a:solidFill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36000" rIns="36000" bIns="36000" rtlCol="0" anchor="ctr"/>
              <a:lstStyle/>
              <a:p>
                <a:pPr algn="ctr"/>
                <a:r>
                  <a:rPr lang="en-US" altLang="ko-KR" sz="700" b="1" smtClean="0">
                    <a:solidFill>
                      <a:schemeClr val="bg1"/>
                    </a:solidFill>
                    <a:latin typeface="맑은 고딕" panose="020B0503020000020004" pitchFamily="50" charset="-127"/>
                  </a:rPr>
                  <a:t>STB_ITEM</a:t>
                </a:r>
                <a:endParaRPr lang="ko-KR" altLang="en-US" sz="700" b="1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  <p:sp>
            <p:nvSpPr>
              <p:cNvPr id="141" name="직사각형 140"/>
              <p:cNvSpPr/>
              <p:nvPr/>
            </p:nvSpPr>
            <p:spPr>
              <a:xfrm>
                <a:off x="3052033" y="4393615"/>
                <a:ext cx="720000" cy="25200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31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ko-KR" altLang="en-US" sz="600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매장 별 재고</a:t>
                </a:r>
                <a:endParaRPr lang="en-US" altLang="ko-KR" sz="60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  <a:p>
                <a:pPr algn="ctr"/>
                <a:r>
                  <a:rPr lang="ko-KR" altLang="en-US" sz="600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연계 여부</a:t>
                </a:r>
                <a:endParaRPr lang="ko-KR" altLang="en-US" sz="60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</p:grpSp>
        <p:cxnSp>
          <p:nvCxnSpPr>
            <p:cNvPr id="123" name="꺾인 연결선 122"/>
            <p:cNvCxnSpPr>
              <a:stCxn id="101" idx="4"/>
              <a:endCxn id="120" idx="1"/>
            </p:cNvCxnSpPr>
            <p:nvPr/>
          </p:nvCxnSpPr>
          <p:spPr>
            <a:xfrm>
              <a:off x="1763904" y="4355998"/>
              <a:ext cx="1080002" cy="864083"/>
            </a:xfrm>
            <a:prstGeom prst="bentConnector2">
              <a:avLst/>
            </a:prstGeom>
            <a:ln>
              <a:solidFill>
                <a:schemeClr val="tx1">
                  <a:lumMod val="75000"/>
                  <a:lumOff val="25000"/>
                </a:schemeClr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6" name="꺾인 연결선 155"/>
            <p:cNvCxnSpPr>
              <a:stCxn id="120" idx="1"/>
              <a:endCxn id="95" idx="2"/>
            </p:cNvCxnSpPr>
            <p:nvPr/>
          </p:nvCxnSpPr>
          <p:spPr>
            <a:xfrm rot="5400000" flipH="1" flipV="1">
              <a:off x="2951866" y="4248039"/>
              <a:ext cx="864083" cy="1080002"/>
            </a:xfrm>
            <a:prstGeom prst="bentConnector2">
              <a:avLst/>
            </a:prstGeom>
            <a:ln>
              <a:solidFill>
                <a:schemeClr val="tx1">
                  <a:lumMod val="75000"/>
                  <a:lumOff val="25000"/>
                </a:schemeClr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6" name="꺾인 연결선 165"/>
            <p:cNvCxnSpPr>
              <a:stCxn id="95" idx="4"/>
              <a:endCxn id="140" idx="1"/>
            </p:cNvCxnSpPr>
            <p:nvPr/>
          </p:nvCxnSpPr>
          <p:spPr>
            <a:xfrm>
              <a:off x="4643908" y="4355998"/>
              <a:ext cx="1079994" cy="864083"/>
            </a:xfrm>
            <a:prstGeom prst="bentConnector2">
              <a:avLst/>
            </a:prstGeom>
            <a:ln>
              <a:solidFill>
                <a:schemeClr val="tx1">
                  <a:lumMod val="75000"/>
                  <a:lumOff val="25000"/>
                </a:schemeClr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7" name="꺾인 연결선 166"/>
            <p:cNvCxnSpPr>
              <a:stCxn id="140" idx="1"/>
              <a:endCxn id="2" idx="2"/>
            </p:cNvCxnSpPr>
            <p:nvPr/>
          </p:nvCxnSpPr>
          <p:spPr>
            <a:xfrm rot="5400000" flipH="1" flipV="1">
              <a:off x="5831862" y="4248039"/>
              <a:ext cx="864083" cy="1080002"/>
            </a:xfrm>
            <a:prstGeom prst="bentConnector2">
              <a:avLst/>
            </a:prstGeom>
            <a:ln>
              <a:solidFill>
                <a:schemeClr val="tx1">
                  <a:lumMod val="75000"/>
                  <a:lumOff val="25000"/>
                </a:schemeClr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5" name="TextBox 144"/>
            <p:cNvSpPr txBox="1"/>
            <p:nvPr/>
          </p:nvSpPr>
          <p:spPr>
            <a:xfrm>
              <a:off x="2555081" y="4175572"/>
              <a:ext cx="577650" cy="180425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ctr">
              <a:spAutoFit/>
            </a:bodyPr>
            <a:lstStyle/>
            <a:p>
              <a:pPr algn="ctr"/>
              <a:r>
                <a:rPr lang="en-US" altLang="ko-KR" sz="70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10</a:t>
              </a:r>
              <a:r>
                <a:rPr lang="ko-KR" altLang="en-US" sz="70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분 </a:t>
              </a:r>
              <a:r>
                <a:rPr lang="en-US" altLang="ko-KR" sz="70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BATCH</a:t>
              </a:r>
              <a:endParaRPr lang="ko-KR" altLang="en-US" sz="7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cxnSp>
        <p:nvCxnSpPr>
          <p:cNvPr id="54" name="직선 연결선 53"/>
          <p:cNvCxnSpPr>
            <a:stCxn id="66" idx="3"/>
            <a:endCxn id="70" idx="1"/>
          </p:cNvCxnSpPr>
          <p:nvPr/>
        </p:nvCxnSpPr>
        <p:spPr>
          <a:xfrm>
            <a:off x="2123906" y="1835999"/>
            <a:ext cx="1440000" cy="0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7" name="그룹 56"/>
          <p:cNvGrpSpPr/>
          <p:nvPr/>
        </p:nvGrpSpPr>
        <p:grpSpPr>
          <a:xfrm>
            <a:off x="7883906" y="1475999"/>
            <a:ext cx="720000" cy="720000"/>
            <a:chOff x="323530" y="1799999"/>
            <a:chExt cx="720000" cy="720000"/>
          </a:xfrm>
        </p:grpSpPr>
        <p:sp>
          <p:nvSpPr>
            <p:cNvPr id="58" name="모서리가 둥근 직사각형 57"/>
            <p:cNvSpPr/>
            <p:nvPr/>
          </p:nvSpPr>
          <p:spPr>
            <a:xfrm>
              <a:off x="323530" y="1799999"/>
              <a:ext cx="720000" cy="720000"/>
            </a:xfrm>
            <a:prstGeom prst="roundRect">
              <a:avLst>
                <a:gd name="adj" fmla="val 5025"/>
              </a:avLst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  <a:effectLst>
              <a:outerShdw blurRad="12700" dist="12700" dir="2700000" algn="tl" rotWithShape="0">
                <a:schemeClr val="tx1">
                  <a:lumMod val="75000"/>
                  <a:lumOff val="25000"/>
                  <a:alpha val="5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ko-KR" altLang="en-US" sz="70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마이페이지</a:t>
              </a:r>
              <a:endParaRPr lang="ko-KR" altLang="en-US" sz="7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59" name="모서리가 둥근 직사각형 58"/>
            <p:cNvSpPr/>
            <p:nvPr/>
          </p:nvSpPr>
          <p:spPr>
            <a:xfrm>
              <a:off x="323530" y="1799999"/>
              <a:ext cx="720000" cy="180000"/>
            </a:xfrm>
            <a:prstGeom prst="roundRect">
              <a:avLst/>
            </a:prstGeom>
            <a:solidFill>
              <a:srgbClr val="C00000"/>
            </a:solidFill>
            <a:ln w="3175">
              <a:solidFill>
                <a:schemeClr val="bg1">
                  <a:lumMod val="75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altLang="ko-KR" sz="700" smtClean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LFmall</a:t>
              </a:r>
              <a:endParaRPr lang="ko-KR" altLang="en-US" sz="70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60" name="모서리가 둥근 직사각형 59"/>
            <p:cNvSpPr/>
            <p:nvPr/>
          </p:nvSpPr>
          <p:spPr>
            <a:xfrm>
              <a:off x="323530" y="2339999"/>
              <a:ext cx="720000" cy="180000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 w="3175">
              <a:solidFill>
                <a:schemeClr val="bg1">
                  <a:lumMod val="75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altLang="ko-KR" sz="70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Front</a:t>
              </a:r>
              <a:endParaRPr lang="ko-KR" altLang="en-US" sz="7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endParaRPr>
            </a:p>
          </p:txBody>
        </p:sp>
      </p:grpSp>
      <p:grpSp>
        <p:nvGrpSpPr>
          <p:cNvPr id="61" name="그룹 60"/>
          <p:cNvGrpSpPr/>
          <p:nvPr/>
        </p:nvGrpSpPr>
        <p:grpSpPr>
          <a:xfrm>
            <a:off x="8963906" y="1475999"/>
            <a:ext cx="720000" cy="720000"/>
            <a:chOff x="323530" y="1799999"/>
            <a:chExt cx="720000" cy="720000"/>
          </a:xfrm>
        </p:grpSpPr>
        <p:sp>
          <p:nvSpPr>
            <p:cNvPr id="62" name="모서리가 둥근 직사각형 61"/>
            <p:cNvSpPr/>
            <p:nvPr/>
          </p:nvSpPr>
          <p:spPr>
            <a:xfrm>
              <a:off x="323530" y="1799999"/>
              <a:ext cx="720000" cy="720000"/>
            </a:xfrm>
            <a:prstGeom prst="roundRect">
              <a:avLst>
                <a:gd name="adj" fmla="val 5025"/>
              </a:avLst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  <a:effectLst>
              <a:outerShdw blurRad="12700" dist="12700" dir="2700000" algn="tl" rotWithShape="0">
                <a:schemeClr val="tx1">
                  <a:lumMod val="75000"/>
                  <a:lumOff val="25000"/>
                  <a:alpha val="5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ko-KR" altLang="en-US" sz="70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취소신청</a:t>
              </a:r>
              <a:endParaRPr lang="ko-KR" altLang="en-US" sz="7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63" name="모서리가 둥근 직사각형 62"/>
            <p:cNvSpPr/>
            <p:nvPr/>
          </p:nvSpPr>
          <p:spPr>
            <a:xfrm>
              <a:off x="323530" y="1799999"/>
              <a:ext cx="720000" cy="180000"/>
            </a:xfrm>
            <a:prstGeom prst="roundRect">
              <a:avLst/>
            </a:prstGeom>
            <a:solidFill>
              <a:srgbClr val="C00000"/>
            </a:solidFill>
            <a:ln w="3175">
              <a:solidFill>
                <a:schemeClr val="bg1">
                  <a:lumMod val="75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altLang="ko-KR" sz="700" smtClean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LFmall</a:t>
              </a:r>
              <a:endParaRPr lang="ko-KR" altLang="en-US" sz="70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64" name="모서리가 둥근 직사각형 63"/>
            <p:cNvSpPr/>
            <p:nvPr/>
          </p:nvSpPr>
          <p:spPr>
            <a:xfrm>
              <a:off x="323530" y="2339999"/>
              <a:ext cx="720000" cy="180000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 w="3175">
              <a:solidFill>
                <a:schemeClr val="bg1">
                  <a:lumMod val="75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altLang="ko-KR" sz="70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Front</a:t>
              </a:r>
              <a:endParaRPr lang="ko-KR" altLang="en-US" sz="7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endParaRPr>
            </a:p>
          </p:txBody>
        </p:sp>
      </p:grpSp>
      <p:grpSp>
        <p:nvGrpSpPr>
          <p:cNvPr id="71" name="그룹 70"/>
          <p:cNvGrpSpPr/>
          <p:nvPr/>
        </p:nvGrpSpPr>
        <p:grpSpPr>
          <a:xfrm>
            <a:off x="10043906" y="1475999"/>
            <a:ext cx="720000" cy="720000"/>
            <a:chOff x="323530" y="1799999"/>
            <a:chExt cx="720000" cy="720000"/>
          </a:xfrm>
        </p:grpSpPr>
        <p:sp>
          <p:nvSpPr>
            <p:cNvPr id="72" name="모서리가 둥근 직사각형 71"/>
            <p:cNvSpPr/>
            <p:nvPr/>
          </p:nvSpPr>
          <p:spPr>
            <a:xfrm>
              <a:off x="323530" y="1799999"/>
              <a:ext cx="720000" cy="720000"/>
            </a:xfrm>
            <a:prstGeom prst="roundRect">
              <a:avLst>
                <a:gd name="adj" fmla="val 5025"/>
              </a:avLst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  <a:effectLst>
              <a:outerShdw blurRad="12700" dist="12700" dir="2700000" algn="tl" rotWithShape="0">
                <a:schemeClr val="tx1">
                  <a:lumMod val="75000"/>
                  <a:lumOff val="25000"/>
                  <a:alpha val="5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ko-KR" altLang="en-US" sz="70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반품신청</a:t>
              </a:r>
              <a:endParaRPr lang="ko-KR" altLang="en-US" sz="7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73" name="모서리가 둥근 직사각형 72"/>
            <p:cNvSpPr/>
            <p:nvPr/>
          </p:nvSpPr>
          <p:spPr>
            <a:xfrm>
              <a:off x="323530" y="1799999"/>
              <a:ext cx="720000" cy="180000"/>
            </a:xfrm>
            <a:prstGeom prst="roundRect">
              <a:avLst/>
            </a:prstGeom>
            <a:solidFill>
              <a:srgbClr val="C00000"/>
            </a:solidFill>
            <a:ln w="3175">
              <a:solidFill>
                <a:schemeClr val="bg1">
                  <a:lumMod val="75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altLang="ko-KR" sz="700" smtClean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LFmall</a:t>
              </a:r>
              <a:endParaRPr lang="ko-KR" altLang="en-US" sz="70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74" name="모서리가 둥근 직사각형 73"/>
            <p:cNvSpPr/>
            <p:nvPr/>
          </p:nvSpPr>
          <p:spPr>
            <a:xfrm>
              <a:off x="323530" y="2339999"/>
              <a:ext cx="720000" cy="180000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 w="3175">
              <a:solidFill>
                <a:schemeClr val="bg1">
                  <a:lumMod val="75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altLang="ko-KR" sz="70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Front</a:t>
              </a:r>
              <a:endParaRPr lang="ko-KR" altLang="en-US" sz="7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endParaRPr>
            </a:p>
          </p:txBody>
        </p:sp>
      </p:grpSp>
      <p:grpSp>
        <p:nvGrpSpPr>
          <p:cNvPr id="75" name="그룹 74"/>
          <p:cNvGrpSpPr/>
          <p:nvPr/>
        </p:nvGrpSpPr>
        <p:grpSpPr>
          <a:xfrm>
            <a:off x="11123906" y="1475999"/>
            <a:ext cx="720000" cy="720000"/>
            <a:chOff x="323530" y="1799999"/>
            <a:chExt cx="720000" cy="720000"/>
          </a:xfrm>
        </p:grpSpPr>
        <p:sp>
          <p:nvSpPr>
            <p:cNvPr id="76" name="모서리가 둥근 직사각형 75"/>
            <p:cNvSpPr/>
            <p:nvPr/>
          </p:nvSpPr>
          <p:spPr>
            <a:xfrm>
              <a:off x="323530" y="1799999"/>
              <a:ext cx="720000" cy="720000"/>
            </a:xfrm>
            <a:prstGeom prst="roundRect">
              <a:avLst>
                <a:gd name="adj" fmla="val 5025"/>
              </a:avLst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  <a:effectLst>
              <a:outerShdw blurRad="12700" dist="12700" dir="2700000" algn="tl" rotWithShape="0">
                <a:schemeClr val="tx1">
                  <a:lumMod val="75000"/>
                  <a:lumOff val="25000"/>
                  <a:alpha val="5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ko-KR" altLang="en-US" sz="70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교환신청</a:t>
              </a:r>
              <a:endParaRPr lang="ko-KR" altLang="en-US" sz="7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80" name="모서리가 둥근 직사각형 79"/>
            <p:cNvSpPr/>
            <p:nvPr/>
          </p:nvSpPr>
          <p:spPr>
            <a:xfrm>
              <a:off x="323530" y="1799999"/>
              <a:ext cx="720000" cy="180000"/>
            </a:xfrm>
            <a:prstGeom prst="roundRect">
              <a:avLst/>
            </a:prstGeom>
            <a:solidFill>
              <a:srgbClr val="C00000"/>
            </a:solidFill>
            <a:ln w="3175">
              <a:solidFill>
                <a:schemeClr val="bg1">
                  <a:lumMod val="75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altLang="ko-KR" sz="700" smtClean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LFmall</a:t>
              </a:r>
              <a:endParaRPr lang="ko-KR" altLang="en-US" sz="70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91" name="모서리가 둥근 직사각형 90"/>
            <p:cNvSpPr/>
            <p:nvPr/>
          </p:nvSpPr>
          <p:spPr>
            <a:xfrm>
              <a:off x="323530" y="2339999"/>
              <a:ext cx="720000" cy="180000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 w="3175">
              <a:solidFill>
                <a:schemeClr val="bg1">
                  <a:lumMod val="75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altLang="ko-KR" sz="70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Front</a:t>
              </a:r>
              <a:endParaRPr lang="ko-KR" altLang="en-US" sz="7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endParaRPr>
            </a:p>
          </p:txBody>
        </p:sp>
      </p:grpSp>
      <p:cxnSp>
        <p:nvCxnSpPr>
          <p:cNvPr id="102" name="직선 연결선 101"/>
          <p:cNvCxnSpPr>
            <a:stCxn id="58" idx="3"/>
            <a:endCxn id="62" idx="1"/>
          </p:cNvCxnSpPr>
          <p:nvPr/>
        </p:nvCxnSpPr>
        <p:spPr>
          <a:xfrm>
            <a:off x="8603906" y="1835999"/>
            <a:ext cx="360000" cy="0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꺾인 연결선 42"/>
          <p:cNvCxnSpPr>
            <a:stCxn id="86" idx="2"/>
            <a:endCxn id="147" idx="0"/>
          </p:cNvCxnSpPr>
          <p:nvPr/>
        </p:nvCxnSpPr>
        <p:spPr>
          <a:xfrm rot="16200000" flipH="1">
            <a:off x="2898074" y="-18169"/>
            <a:ext cx="1691852" cy="6120188"/>
          </a:xfrm>
          <a:prstGeom prst="bentConnector3">
            <a:avLst>
              <a:gd name="adj1" fmla="val 53003"/>
            </a:avLst>
          </a:prstGeom>
          <a:ln w="12700">
            <a:solidFill>
              <a:schemeClr val="accent6">
                <a:lumMod val="50000"/>
              </a:schemeClr>
            </a:solidFill>
            <a:prstDash val="lg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9" name="꺾인 연결선 158"/>
          <p:cNvCxnSpPr>
            <a:stCxn id="68" idx="2"/>
            <a:endCxn id="147" idx="0"/>
          </p:cNvCxnSpPr>
          <p:nvPr/>
        </p:nvCxnSpPr>
        <p:spPr>
          <a:xfrm rot="16200000" flipH="1">
            <a:off x="3438074" y="521831"/>
            <a:ext cx="1691852" cy="5040188"/>
          </a:xfrm>
          <a:prstGeom prst="bentConnector3">
            <a:avLst>
              <a:gd name="adj1" fmla="val 70898"/>
            </a:avLst>
          </a:prstGeom>
          <a:ln w="12700">
            <a:solidFill>
              <a:schemeClr val="accent4"/>
            </a:solidFill>
            <a:prstDash val="lg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0" name="꺾인 연결선 159"/>
          <p:cNvCxnSpPr>
            <a:stCxn id="94" idx="2"/>
            <a:endCxn id="147" idx="0"/>
          </p:cNvCxnSpPr>
          <p:nvPr/>
        </p:nvCxnSpPr>
        <p:spPr>
          <a:xfrm rot="16200000" flipH="1">
            <a:off x="4338074" y="1421830"/>
            <a:ext cx="971853" cy="3960188"/>
          </a:xfrm>
          <a:prstGeom prst="bentConnector3">
            <a:avLst>
              <a:gd name="adj1" fmla="val 17853"/>
            </a:avLst>
          </a:prstGeom>
          <a:ln w="12700">
            <a:solidFill>
              <a:schemeClr val="tx2"/>
            </a:solidFill>
            <a:prstDash val="lg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1" name="꺾인 연결선 160"/>
          <p:cNvCxnSpPr>
            <a:stCxn id="88" idx="2"/>
            <a:endCxn id="147" idx="0"/>
          </p:cNvCxnSpPr>
          <p:nvPr/>
        </p:nvCxnSpPr>
        <p:spPr>
          <a:xfrm rot="16200000" flipH="1">
            <a:off x="5058074" y="2141831"/>
            <a:ext cx="1691852" cy="1800188"/>
          </a:xfrm>
          <a:prstGeom prst="bentConnector3">
            <a:avLst>
              <a:gd name="adj1" fmla="val 52702"/>
            </a:avLst>
          </a:prstGeom>
          <a:ln w="12700">
            <a:solidFill>
              <a:schemeClr val="tx2"/>
            </a:solidFill>
            <a:prstDash val="lg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2" name="꺾인 연결선 161"/>
          <p:cNvCxnSpPr>
            <a:stCxn id="79" idx="2"/>
            <a:endCxn id="147" idx="0"/>
          </p:cNvCxnSpPr>
          <p:nvPr/>
        </p:nvCxnSpPr>
        <p:spPr>
          <a:xfrm rot="16200000" flipH="1">
            <a:off x="4518074" y="1601831"/>
            <a:ext cx="1691852" cy="2880188"/>
          </a:xfrm>
          <a:prstGeom prst="bentConnector3">
            <a:avLst>
              <a:gd name="adj1" fmla="val 52702"/>
            </a:avLst>
          </a:prstGeom>
          <a:ln w="12700">
            <a:solidFill>
              <a:schemeClr val="tx2"/>
            </a:solidFill>
            <a:prstDash val="lg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8" name="꺾인 연결선 167"/>
          <p:cNvCxnSpPr>
            <a:stCxn id="91" idx="2"/>
            <a:endCxn id="147" idx="0"/>
          </p:cNvCxnSpPr>
          <p:nvPr/>
        </p:nvCxnSpPr>
        <p:spPr>
          <a:xfrm rot="5400000">
            <a:off x="8298074" y="702019"/>
            <a:ext cx="1691852" cy="4679812"/>
          </a:xfrm>
          <a:prstGeom prst="bentConnector3">
            <a:avLst>
              <a:gd name="adj1" fmla="val 52852"/>
            </a:avLst>
          </a:prstGeom>
          <a:ln w="12700">
            <a:solidFill>
              <a:schemeClr val="tx2"/>
            </a:solidFill>
            <a:prstDash val="lg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구부러진 연결선 5"/>
          <p:cNvCxnSpPr>
            <a:stCxn id="88" idx="2"/>
            <a:endCxn id="101" idx="1"/>
          </p:cNvCxnSpPr>
          <p:nvPr/>
        </p:nvCxnSpPr>
        <p:spPr>
          <a:xfrm rot="5400000">
            <a:off x="2844001" y="1836092"/>
            <a:ext cx="1799999" cy="2519813"/>
          </a:xfrm>
          <a:prstGeom prst="curvedConnector3">
            <a:avLst>
              <a:gd name="adj1" fmla="val 50000"/>
            </a:avLst>
          </a:prstGeom>
          <a:ln>
            <a:solidFill>
              <a:srgbClr val="C00000"/>
            </a:solidFill>
            <a:prstDash val="lg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" name="구부러진 연결선 132"/>
          <p:cNvCxnSpPr>
            <a:stCxn id="90" idx="2"/>
            <a:endCxn id="101" idx="1"/>
          </p:cNvCxnSpPr>
          <p:nvPr/>
        </p:nvCxnSpPr>
        <p:spPr>
          <a:xfrm rot="5400000">
            <a:off x="2124000" y="3276092"/>
            <a:ext cx="1080000" cy="359813"/>
          </a:xfrm>
          <a:prstGeom prst="curvedConnector3">
            <a:avLst>
              <a:gd name="adj1" fmla="val 50000"/>
            </a:avLst>
          </a:prstGeom>
          <a:ln>
            <a:solidFill>
              <a:srgbClr val="C00000"/>
            </a:solidFill>
            <a:prstDash val="lg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694231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직사각형 116"/>
          <p:cNvSpPr/>
          <p:nvPr/>
        </p:nvSpPr>
        <p:spPr>
          <a:xfrm>
            <a:off x="8783906" y="710781"/>
            <a:ext cx="2880000" cy="5508763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prstClr val="white"/>
              </a:solidFill>
            </a:endParaRPr>
          </a:p>
        </p:txBody>
      </p:sp>
      <p:pic>
        <p:nvPicPr>
          <p:cNvPr id="1026" name="Picture 2" descr="https://nimg.lfmall.co.kr/file/product/prd/JN/2025/375/JNJU5D702BK_00.jpg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965"/>
          <a:stretch/>
        </p:blipFill>
        <p:spPr bwMode="auto">
          <a:xfrm>
            <a:off x="8965179" y="891378"/>
            <a:ext cx="1224000" cy="15116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https://nimg.lfmall.co.kr/file/product/prd/IE/2025/375/IEJU5F005BK_00.jpg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" b="2706"/>
          <a:stretch/>
        </p:blipFill>
        <p:spPr bwMode="auto">
          <a:xfrm>
            <a:off x="10261179" y="891378"/>
            <a:ext cx="1224000" cy="15116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xmlns="" id="{C5E486F5-93A1-4316-A9AE-8F2FB1C3263A}"/>
              </a:ext>
            </a:extLst>
          </p:cNvPr>
          <p:cNvSpPr txBox="1"/>
          <p:nvPr/>
        </p:nvSpPr>
        <p:spPr>
          <a:xfrm>
            <a:off x="94" y="102705"/>
            <a:ext cx="1842721" cy="226591"/>
          </a:xfrm>
          <a:prstGeom prst="rect">
            <a:avLst/>
          </a:prstGeom>
          <a:noFill/>
        </p:spPr>
        <p:txBody>
          <a:bodyPr wrap="none" lIns="360000" tIns="36000" rIns="360000" bIns="36000" rtlCol="0" anchor="ctr">
            <a:spAutoFit/>
          </a:bodyPr>
          <a:lstStyle/>
          <a:p>
            <a:r>
              <a:rPr lang="ko-KR" altLang="en-US" sz="1000" b="1">
                <a:solidFill>
                  <a:schemeClr val="bg1"/>
                </a:solidFill>
                <a:latin typeface="맑은 고딕" panose="020B0503020000020004" pitchFamily="50" charset="-127"/>
              </a:rPr>
              <a:t>온오프 재고 효율화</a:t>
            </a:r>
            <a:endParaRPr lang="en-US" altLang="ko-KR" sz="1000" b="1">
              <a:solidFill>
                <a:schemeClr val="bg1"/>
              </a:solidFill>
              <a:latin typeface="맑은 고딕" panose="020B0503020000020004" pitchFamily="50" charset="-127"/>
            </a:endParaRPr>
          </a:p>
        </p:txBody>
      </p:sp>
      <p:sp>
        <p:nvSpPr>
          <p:cNvPr id="12" name="모서리가 둥근 직사각형 11"/>
          <p:cNvSpPr/>
          <p:nvPr/>
        </p:nvSpPr>
        <p:spPr>
          <a:xfrm>
            <a:off x="323906" y="755999"/>
            <a:ext cx="2088000" cy="360000"/>
          </a:xfrm>
          <a:prstGeom prst="roundRect">
            <a:avLst/>
          </a:prstGeom>
          <a:solidFill>
            <a:schemeClr val="tx1">
              <a:lumMod val="65000"/>
              <a:lumOff val="35000"/>
            </a:schemeClr>
          </a:solidFill>
          <a:ln w="381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0" tIns="36000" rIns="36000" bIns="36000" rtlCol="0" anchor="ctr"/>
          <a:lstStyle/>
          <a:p>
            <a:r>
              <a:rPr lang="ko-KR" altLang="en-US" sz="900" b="1" smtClean="0">
                <a:solidFill>
                  <a:schemeClr val="bg1"/>
                </a:solidFill>
                <a:latin typeface="맑은 고딕" panose="020B0503020000020004" pitchFamily="50" charset="-127"/>
              </a:rPr>
              <a:t>매장상품배송 </a:t>
            </a:r>
            <a:r>
              <a:rPr lang="ko-KR" altLang="en-US" sz="900" b="1">
                <a:solidFill>
                  <a:schemeClr val="bg1"/>
                </a:solidFill>
                <a:latin typeface="맑은 고딕" panose="020B0503020000020004" pitchFamily="50" charset="-127"/>
              </a:rPr>
              <a:t>표현 정책</a:t>
            </a:r>
          </a:p>
        </p:txBody>
      </p:sp>
      <p:graphicFrame>
        <p:nvGraphicFramePr>
          <p:cNvPr id="30" name="표 2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12701998"/>
              </p:ext>
            </p:extLst>
          </p:nvPr>
        </p:nvGraphicFramePr>
        <p:xfrm>
          <a:off x="325247" y="2376070"/>
          <a:ext cx="4500000" cy="2304000"/>
        </p:xfrm>
        <a:graphic>
          <a:graphicData uri="http://schemas.openxmlformats.org/drawingml/2006/table">
            <a:tbl>
              <a:tblPr firstRow="1" bandRow="1">
                <a:effectLst>
                  <a:outerShdw blurRad="25400" dist="25400" dir="2700000" algn="tl" rotWithShape="0">
                    <a:schemeClr val="tx1">
                      <a:lumMod val="75000"/>
                      <a:lumOff val="25000"/>
                      <a:alpha val="50000"/>
                    </a:schemeClr>
                  </a:outerShdw>
                </a:effectLst>
                <a:tableStyleId>{5C22544A-7EE6-4342-B048-85BDC9FD1C3A}</a:tableStyleId>
              </a:tblPr>
              <a:tblGrid>
                <a:gridCol w="720000"/>
                <a:gridCol w="1080000"/>
                <a:gridCol w="540000"/>
                <a:gridCol w="540000"/>
                <a:gridCol w="540000"/>
                <a:gridCol w="540000"/>
                <a:gridCol w="540000"/>
              </a:tblGrid>
              <a:tr h="2880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상품</a:t>
                      </a:r>
                      <a:endParaRPr lang="ko-KR" altLang="en-US" sz="70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창고</a:t>
                      </a:r>
                      <a:endParaRPr lang="ko-KR" altLang="en-US" sz="70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CASE 1</a:t>
                      </a:r>
                      <a:endParaRPr lang="ko-KR" altLang="en-US" sz="70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21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smtClean="0">
                          <a:latin typeface="맑은 고딕" panose="020B0503020000020004" pitchFamily="50" charset="-127"/>
                          <a:ea typeface="+mn-ea"/>
                        </a:rPr>
                        <a:t>CASE 2</a:t>
                      </a:r>
                      <a:endParaRPr lang="ko-KR" altLang="en-US" sz="700" smtClean="0"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CASE</a:t>
                      </a:r>
                      <a:r>
                        <a:rPr lang="en-US" altLang="ko-KR" sz="700" baseline="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3</a:t>
                      </a:r>
                      <a:endParaRPr lang="ko-KR" altLang="en-US" sz="70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CASE</a:t>
                      </a:r>
                      <a:r>
                        <a:rPr lang="en-US" altLang="ko-KR" sz="700" baseline="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4</a:t>
                      </a:r>
                      <a:endParaRPr lang="ko-KR" altLang="en-US" sz="70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CASE 5</a:t>
                      </a:r>
                      <a:endParaRPr lang="ko-KR" altLang="en-US" sz="70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</a:tr>
              <a:tr h="288000">
                <a:tc rowSpan="3">
                  <a:txBody>
                    <a:bodyPr/>
                    <a:lstStyle/>
                    <a:p>
                      <a:pPr algn="ctr" latinLnBrk="1"/>
                      <a:r>
                        <a:rPr lang="ko-KR" altLang="en-US" sz="70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옵션 </a:t>
                      </a:r>
                      <a:r>
                        <a:rPr lang="en-US" altLang="ko-KR" sz="70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</a:t>
                      </a:r>
                      <a:endParaRPr lang="ko-KR" altLang="en-US" sz="70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온라인 재고</a:t>
                      </a:r>
                      <a:endParaRPr lang="ko-KR" altLang="en-US" sz="70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●</a:t>
                      </a:r>
                      <a:endParaRPr lang="ko-KR" altLang="en-US" sz="70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●</a:t>
                      </a:r>
                      <a:endParaRPr lang="ko-KR" altLang="en-US" sz="70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●</a:t>
                      </a:r>
                      <a:endParaRPr lang="ko-KR" altLang="en-US" sz="70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88000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70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직송매장 재고</a:t>
                      </a:r>
                      <a:endParaRPr lang="ko-KR" altLang="en-US" sz="70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●</a:t>
                      </a:r>
                      <a:endParaRPr lang="ko-KR" altLang="en-US" sz="70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●</a:t>
                      </a:r>
                      <a:endParaRPr lang="ko-KR" altLang="en-US" sz="70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●</a:t>
                      </a:r>
                      <a:endParaRPr lang="ko-KR" altLang="en-US" sz="70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88000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70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비직송매장 재고</a:t>
                      </a:r>
                      <a:endParaRPr lang="ko-KR" altLang="en-US" sz="70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●</a:t>
                      </a:r>
                      <a:endParaRPr lang="ko-KR" altLang="en-US" sz="70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●</a:t>
                      </a:r>
                      <a:endParaRPr lang="ko-KR" altLang="en-US" sz="70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●</a:t>
                      </a:r>
                      <a:endParaRPr lang="ko-KR" altLang="en-US" sz="70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</a:tr>
              <a:tr h="288000">
                <a:tc rowSpan="3">
                  <a:txBody>
                    <a:bodyPr/>
                    <a:lstStyle/>
                    <a:p>
                      <a:pPr algn="ctr" latinLnBrk="1"/>
                      <a:r>
                        <a:rPr lang="ko-KR" altLang="en-US" sz="70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옵션 </a:t>
                      </a:r>
                      <a:r>
                        <a:rPr lang="en-US" altLang="ko-KR" sz="70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</a:t>
                      </a:r>
                      <a:endParaRPr lang="ko-KR" altLang="en-US" sz="70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온라인 재고</a:t>
                      </a:r>
                      <a:endParaRPr lang="ko-KR" altLang="en-US" sz="70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●</a:t>
                      </a:r>
                      <a:endParaRPr lang="ko-KR" altLang="en-US" sz="70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●</a:t>
                      </a:r>
                      <a:endParaRPr lang="ko-KR" altLang="en-US" sz="70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88000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70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직송매장 재고</a:t>
                      </a:r>
                      <a:endParaRPr lang="ko-KR" altLang="en-US" sz="70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●</a:t>
                      </a:r>
                      <a:endParaRPr lang="ko-KR" altLang="en-US" sz="70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●</a:t>
                      </a:r>
                      <a:endParaRPr lang="ko-KR" altLang="en-US" sz="70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88000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70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비직송매장 재고</a:t>
                      </a:r>
                      <a:endParaRPr lang="ko-KR" altLang="en-US" sz="70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●</a:t>
                      </a:r>
                      <a:endParaRPr lang="ko-KR" altLang="en-US" sz="70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●</a:t>
                      </a:r>
                      <a:endParaRPr lang="ko-KR" altLang="en-US" sz="70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●</a:t>
                      </a:r>
                      <a:endParaRPr lang="ko-KR" altLang="en-US" sz="70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</a:tr>
              <a:tr h="288000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70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매장상품배송 표현</a:t>
                      </a:r>
                      <a:endParaRPr lang="ko-KR" altLang="en-US" sz="70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70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Ⅹ</a:t>
                      </a:r>
                      <a:endParaRPr lang="ko-KR" altLang="en-US" sz="70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smtClean="0">
                          <a:latin typeface="맑은 고딕" panose="020B0503020000020004" pitchFamily="50" charset="-127"/>
                          <a:ea typeface="+mn-ea"/>
                        </a:rPr>
                        <a:t>Ⅹ</a:t>
                      </a:r>
                      <a:endParaRPr lang="ko-KR" altLang="en-US" sz="70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21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smtClean="0">
                          <a:latin typeface="맑은 고딕" panose="020B0503020000020004" pitchFamily="50" charset="-127"/>
                          <a:ea typeface="+mn-ea"/>
                        </a:rPr>
                        <a:t>●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smtClean="0">
                          <a:latin typeface="맑은 고딕" panose="020B0503020000020004" pitchFamily="50" charset="-127"/>
                          <a:ea typeface="+mn-ea"/>
                        </a:rPr>
                        <a:t>●</a:t>
                      </a:r>
                      <a:endParaRPr lang="ko-KR" altLang="en-US" sz="70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품절</a:t>
                      </a:r>
                      <a:endParaRPr lang="ko-KR" altLang="en-US" sz="70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107" name="모서리가 둥근 직사각형 106"/>
          <p:cNvSpPr/>
          <p:nvPr/>
        </p:nvSpPr>
        <p:spPr>
          <a:xfrm>
            <a:off x="323906" y="1295999"/>
            <a:ext cx="1368000" cy="36000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381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36000" rIns="180000" bIns="36000" rtlCol="0" anchor="ctr"/>
          <a:lstStyle/>
          <a:p>
            <a:r>
              <a:rPr lang="en-US" altLang="ko-KR" sz="900" b="1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1. </a:t>
            </a:r>
            <a:r>
              <a:rPr lang="ko-KR" altLang="en-US" sz="900" b="1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상품 목록</a:t>
            </a:r>
            <a:r>
              <a:rPr lang="en-US" altLang="ko-KR" sz="900" b="1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 </a:t>
            </a:r>
            <a:r>
              <a:rPr lang="ko-KR" altLang="en-US" sz="900" b="1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화면</a:t>
            </a:r>
            <a:endParaRPr lang="ko-KR" altLang="en-US" sz="900" b="1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325247" y="2096991"/>
            <a:ext cx="2111723" cy="195814"/>
          </a:xfrm>
          <a:prstGeom prst="rect">
            <a:avLst/>
          </a:prstGeom>
          <a:noFill/>
        </p:spPr>
        <p:txBody>
          <a:bodyPr wrap="none" lIns="36000" tIns="36000" rIns="36000" bIns="36000" rtlCol="0" anchor="ctr">
            <a:spAutoFit/>
          </a:bodyPr>
          <a:lstStyle/>
          <a:p>
            <a:r>
              <a:rPr lang="ko-KR" altLang="en-US" sz="800" b="1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상품 內 옵션 단위 재고 상황에 따른 케이스</a:t>
            </a:r>
            <a:endParaRPr lang="ko-KR" altLang="en-US" sz="800" b="1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5543906" y="710781"/>
            <a:ext cx="2880000" cy="5940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5725179" y="2475771"/>
            <a:ext cx="1224000" cy="144000"/>
          </a:xfrm>
          <a:prstGeom prst="rect">
            <a:avLst/>
          </a:prstGeom>
          <a:solidFill>
            <a:schemeClr val="bg1">
              <a:alpha val="50000"/>
            </a:schemeClr>
          </a:solidFill>
        </p:spPr>
        <p:txBody>
          <a:bodyPr wrap="none" lIns="0" tIns="36000" rIns="0" bIns="36000" rtlCol="0" anchor="ctr">
            <a:noAutofit/>
          </a:bodyPr>
          <a:lstStyle/>
          <a:p>
            <a:r>
              <a:rPr lang="en-US" altLang="ko-KR" sz="700" b="1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BRAND</a:t>
            </a:r>
            <a:endParaRPr lang="ko-KR" altLang="en-US" sz="700" b="1" smtClean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5725179" y="2619771"/>
            <a:ext cx="1224000" cy="144000"/>
          </a:xfrm>
          <a:prstGeom prst="rect">
            <a:avLst/>
          </a:prstGeom>
          <a:solidFill>
            <a:schemeClr val="bg1">
              <a:alpha val="50000"/>
            </a:schemeClr>
          </a:solidFill>
        </p:spPr>
        <p:txBody>
          <a:bodyPr wrap="none" lIns="0" tIns="36000" rIns="0" bIns="36000" rtlCol="0" anchor="ctr">
            <a:noAutofit/>
          </a:bodyPr>
          <a:lstStyle/>
          <a:p>
            <a:r>
              <a:rPr lang="en-US" altLang="ko-KR" sz="7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PRODUCT_NAME_ABCD</a:t>
            </a:r>
            <a:endParaRPr lang="ko-KR" altLang="en-US" sz="700" smtClean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7" name="TextBox 56"/>
          <p:cNvSpPr txBox="1"/>
          <p:nvPr/>
        </p:nvSpPr>
        <p:spPr>
          <a:xfrm>
            <a:off x="5725179" y="2763986"/>
            <a:ext cx="1224000" cy="144000"/>
          </a:xfrm>
          <a:prstGeom prst="rect">
            <a:avLst/>
          </a:prstGeom>
          <a:solidFill>
            <a:schemeClr val="bg1">
              <a:alpha val="50000"/>
            </a:schemeClr>
          </a:solidFill>
        </p:spPr>
        <p:txBody>
          <a:bodyPr wrap="none" lIns="0" tIns="36000" rIns="0" bIns="36000" rtlCol="0" anchor="ctr">
            <a:noAutofit/>
          </a:bodyPr>
          <a:lstStyle/>
          <a:p>
            <a:r>
              <a:rPr lang="en-US" altLang="ko-KR" sz="700" strike="sngStrike" smtClean="0">
                <a:solidFill>
                  <a:schemeClr val="bg1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123,000</a:t>
            </a:r>
            <a:endParaRPr lang="ko-KR" altLang="en-US" sz="700" strike="sngStrike" smtClean="0">
              <a:solidFill>
                <a:schemeClr val="bg1">
                  <a:lumMod val="7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8" name="TextBox 57"/>
          <p:cNvSpPr txBox="1"/>
          <p:nvPr/>
        </p:nvSpPr>
        <p:spPr>
          <a:xfrm>
            <a:off x="5725179" y="2907986"/>
            <a:ext cx="1224000" cy="144000"/>
          </a:xfrm>
          <a:prstGeom prst="rect">
            <a:avLst/>
          </a:prstGeom>
          <a:solidFill>
            <a:schemeClr val="bg1">
              <a:alpha val="50000"/>
            </a:schemeClr>
          </a:solidFill>
        </p:spPr>
        <p:txBody>
          <a:bodyPr wrap="none" lIns="0" tIns="36000" rIns="0" bIns="36000" rtlCol="0" anchor="ctr">
            <a:noAutofit/>
          </a:bodyPr>
          <a:lstStyle/>
          <a:p>
            <a:r>
              <a:rPr lang="en-US" altLang="ko-KR" sz="800" b="1" smtClean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10%</a:t>
            </a:r>
            <a:r>
              <a:rPr lang="en-US" altLang="ko-KR" sz="800" b="1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123,000</a:t>
            </a:r>
            <a:endParaRPr lang="ko-KR" altLang="en-US" sz="800" b="1" smtClean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3" name="직사각형 62"/>
          <p:cNvSpPr/>
          <p:nvPr/>
        </p:nvSpPr>
        <p:spPr>
          <a:xfrm>
            <a:off x="5725180" y="3807648"/>
            <a:ext cx="360000" cy="36000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600" b="1" smtClean="0">
                <a:solidFill>
                  <a:schemeClr val="bg1"/>
                </a:solidFill>
                <a:latin typeface="맑은 고딕" panose="020B0503020000020004" pitchFamily="50" charset="-127"/>
              </a:rPr>
              <a:t>BADGE</a:t>
            </a:r>
            <a:endParaRPr lang="ko-KR" altLang="en-US" sz="600" b="1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4" name="직사각형 63"/>
          <p:cNvSpPr/>
          <p:nvPr/>
        </p:nvSpPr>
        <p:spPr>
          <a:xfrm>
            <a:off x="7021179" y="3807648"/>
            <a:ext cx="360000" cy="36000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600" b="1" smtClean="0">
                <a:solidFill>
                  <a:schemeClr val="bg1"/>
                </a:solidFill>
                <a:latin typeface="맑은 고딕" panose="020B0503020000020004" pitchFamily="50" charset="-127"/>
              </a:rPr>
              <a:t>BADGE</a:t>
            </a:r>
            <a:endParaRPr lang="ko-KR" altLang="en-US" sz="600" b="1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65" name="Picture 2" descr="https://nimg.lfmall.co.kr/file/product/prd/DL/2023/240/DLJA3D993N3_00.jpg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256"/>
          <a:stretch/>
        </p:blipFill>
        <p:spPr bwMode="auto">
          <a:xfrm>
            <a:off x="5725179" y="891379"/>
            <a:ext cx="1224000" cy="15116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6" name="Picture 4" descr="https://nimg.lfmall.co.kr/file/product/prd/C004/2023/240/VLJA3D901BA_00.jpg"/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501"/>
          <a:stretch/>
        </p:blipFill>
        <p:spPr bwMode="auto">
          <a:xfrm>
            <a:off x="7021179" y="891378"/>
            <a:ext cx="1224000" cy="15116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7" name="Picture 2" descr="https://nimg.lfmall.co.kr/file/product/prd/C552/2023/240/ISTS3F504CR_00.jpg"/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" b="2499"/>
          <a:stretch/>
        </p:blipFill>
        <p:spPr bwMode="auto">
          <a:xfrm>
            <a:off x="5725180" y="3770936"/>
            <a:ext cx="1224000" cy="15116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8" name="Picture 4" descr="https://nimg.lfmall.co.kr/file/product/prd/DL/2023/240/DLSW3D992I3_00.jpg"/>
          <p:cNvPicPr>
            <a:picLocks noChangeAspect="1" noChangeArrowheads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" b="2499"/>
          <a:stretch/>
        </p:blipFill>
        <p:spPr bwMode="auto">
          <a:xfrm>
            <a:off x="7021179" y="3770937"/>
            <a:ext cx="1224000" cy="15116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3" name="TextBox 82"/>
          <p:cNvSpPr txBox="1"/>
          <p:nvPr/>
        </p:nvSpPr>
        <p:spPr>
          <a:xfrm>
            <a:off x="5725179" y="3051986"/>
            <a:ext cx="1224000" cy="144000"/>
          </a:xfrm>
          <a:prstGeom prst="rect">
            <a:avLst/>
          </a:prstGeom>
          <a:solidFill>
            <a:schemeClr val="bg1">
              <a:alpha val="50000"/>
            </a:schemeClr>
          </a:solidFill>
        </p:spPr>
        <p:txBody>
          <a:bodyPr wrap="none" lIns="0" tIns="36000" rIns="0" bIns="36000" rtlCol="0" anchor="ctr">
            <a:noAutofit/>
          </a:bodyPr>
          <a:lstStyle/>
          <a:p>
            <a:r>
              <a:rPr lang="ko-KR" altLang="en-US" sz="7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★ </a:t>
            </a:r>
            <a:r>
              <a:rPr lang="en-US" altLang="ko-KR" sz="7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4.8 </a:t>
            </a:r>
            <a:r>
              <a:rPr lang="en-US" altLang="ko-KR" sz="700" smtClean="0">
                <a:solidFill>
                  <a:schemeClr val="tx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(12)</a:t>
            </a:r>
            <a:endParaRPr lang="ko-KR" altLang="en-US" sz="700" smtClean="0">
              <a:solidFill>
                <a:schemeClr val="tx1">
                  <a:lumMod val="50000"/>
                  <a:lumOff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9" name="직사각형 68"/>
          <p:cNvSpPr/>
          <p:nvPr/>
        </p:nvSpPr>
        <p:spPr>
          <a:xfrm>
            <a:off x="5725179" y="3213986"/>
            <a:ext cx="108000" cy="1080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2" name="직사각형 71"/>
          <p:cNvSpPr/>
          <p:nvPr/>
        </p:nvSpPr>
        <p:spPr>
          <a:xfrm>
            <a:off x="5868547" y="3213986"/>
            <a:ext cx="108000" cy="108000"/>
          </a:xfrm>
          <a:prstGeom prst="rect">
            <a:avLst/>
          </a:prstGeom>
          <a:solidFill>
            <a:srgbClr val="C0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5" name="직사각형 74"/>
          <p:cNvSpPr/>
          <p:nvPr/>
        </p:nvSpPr>
        <p:spPr>
          <a:xfrm>
            <a:off x="6011915" y="3213986"/>
            <a:ext cx="108000" cy="108000"/>
          </a:xfrm>
          <a:prstGeom prst="rect">
            <a:avLst/>
          </a:prstGeom>
          <a:solidFill>
            <a:schemeClr val="accent5">
              <a:lumMod val="5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6" name="직사각형 85"/>
          <p:cNvSpPr/>
          <p:nvPr/>
        </p:nvSpPr>
        <p:spPr>
          <a:xfrm>
            <a:off x="6155283" y="3213986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7" name="직사각형 86"/>
          <p:cNvSpPr/>
          <p:nvPr/>
        </p:nvSpPr>
        <p:spPr>
          <a:xfrm>
            <a:off x="6298651" y="3213986"/>
            <a:ext cx="108000" cy="108000"/>
          </a:xfrm>
          <a:prstGeom prst="rect">
            <a:avLst/>
          </a:prstGeom>
          <a:solidFill>
            <a:schemeClr val="accent6">
              <a:lumMod val="5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21" name="그룹 20"/>
          <p:cNvGrpSpPr/>
          <p:nvPr/>
        </p:nvGrpSpPr>
        <p:grpSpPr>
          <a:xfrm>
            <a:off x="5725179" y="3365820"/>
            <a:ext cx="373641" cy="92333"/>
            <a:chOff x="4374463" y="3951036"/>
            <a:chExt cx="373641" cy="92333"/>
          </a:xfrm>
        </p:grpSpPr>
        <p:grpSp>
          <p:nvGrpSpPr>
            <p:cNvPr id="19" name="그룹 18"/>
            <p:cNvGrpSpPr/>
            <p:nvPr/>
          </p:nvGrpSpPr>
          <p:grpSpPr>
            <a:xfrm>
              <a:off x="4374463" y="3961202"/>
              <a:ext cx="126000" cy="72000"/>
              <a:chOff x="4549384" y="3972353"/>
              <a:chExt cx="180000" cy="108000"/>
            </a:xfrm>
          </p:grpSpPr>
          <p:sp>
            <p:nvSpPr>
              <p:cNvPr id="91" name="직사각형 90"/>
              <p:cNvSpPr/>
              <p:nvPr/>
            </p:nvSpPr>
            <p:spPr>
              <a:xfrm>
                <a:off x="4549384" y="3972353"/>
                <a:ext cx="35644" cy="108000"/>
              </a:xfrm>
              <a:prstGeom prst="rect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 w="31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80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  <p:sp>
            <p:nvSpPr>
              <p:cNvPr id="92" name="타원 91"/>
              <p:cNvSpPr/>
              <p:nvPr/>
            </p:nvSpPr>
            <p:spPr>
              <a:xfrm>
                <a:off x="4595721" y="4044353"/>
                <a:ext cx="35644" cy="36000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 w="31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80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  <p:sp>
            <p:nvSpPr>
              <p:cNvPr id="93" name="직사각형 92"/>
              <p:cNvSpPr/>
              <p:nvPr/>
            </p:nvSpPr>
            <p:spPr>
              <a:xfrm>
                <a:off x="4647404" y="3972353"/>
                <a:ext cx="35644" cy="108000"/>
              </a:xfrm>
              <a:prstGeom prst="rect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 w="31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80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  <p:sp>
            <p:nvSpPr>
              <p:cNvPr id="94" name="타원 93"/>
              <p:cNvSpPr/>
              <p:nvPr/>
            </p:nvSpPr>
            <p:spPr>
              <a:xfrm>
                <a:off x="4693740" y="3972353"/>
                <a:ext cx="35644" cy="36000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 w="31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80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  <p:sp>
            <p:nvSpPr>
              <p:cNvPr id="95" name="타원 94"/>
              <p:cNvSpPr/>
              <p:nvPr/>
            </p:nvSpPr>
            <p:spPr>
              <a:xfrm>
                <a:off x="4693740" y="4026353"/>
                <a:ext cx="35644" cy="36000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 w="31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80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</p:grpSp>
        <p:sp>
          <p:nvSpPr>
            <p:cNvPr id="90" name="TextBox 89"/>
            <p:cNvSpPr txBox="1"/>
            <p:nvPr/>
          </p:nvSpPr>
          <p:spPr>
            <a:xfrm>
              <a:off x="4517272" y="3951036"/>
              <a:ext cx="230832" cy="92333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r>
                <a:rPr lang="ko-KR" altLang="en-US" sz="600" smtClean="0">
                  <a:solidFill>
                    <a:srgbClr val="C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슝배송</a:t>
              </a:r>
              <a:endParaRPr lang="ko-KR" altLang="en-US" sz="60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sp>
        <p:nvSpPr>
          <p:cNvPr id="23" name="직사각형 22"/>
          <p:cNvSpPr/>
          <p:nvPr/>
        </p:nvSpPr>
        <p:spPr>
          <a:xfrm>
            <a:off x="5725179" y="3501986"/>
            <a:ext cx="360000" cy="108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5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마케팅뱃지</a:t>
            </a:r>
            <a:endParaRPr lang="ko-KR" altLang="en-US" sz="50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71" name="TextBox 170"/>
          <p:cNvSpPr txBox="1"/>
          <p:nvPr/>
        </p:nvSpPr>
        <p:spPr>
          <a:xfrm>
            <a:off x="5725179" y="5355329"/>
            <a:ext cx="1224000" cy="144000"/>
          </a:xfrm>
          <a:prstGeom prst="rect">
            <a:avLst/>
          </a:prstGeom>
          <a:solidFill>
            <a:schemeClr val="bg1">
              <a:alpha val="50000"/>
            </a:schemeClr>
          </a:solidFill>
        </p:spPr>
        <p:txBody>
          <a:bodyPr wrap="none" lIns="0" tIns="36000" rIns="0" bIns="36000" rtlCol="0" anchor="ctr">
            <a:noAutofit/>
          </a:bodyPr>
          <a:lstStyle/>
          <a:p>
            <a:r>
              <a:rPr lang="en-US" altLang="ko-KR" sz="700" b="1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BRAND</a:t>
            </a:r>
            <a:endParaRPr lang="ko-KR" altLang="en-US" sz="700" b="1" smtClean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72" name="TextBox 171"/>
          <p:cNvSpPr txBox="1"/>
          <p:nvPr/>
        </p:nvSpPr>
        <p:spPr>
          <a:xfrm>
            <a:off x="5725179" y="5499329"/>
            <a:ext cx="1224000" cy="144000"/>
          </a:xfrm>
          <a:prstGeom prst="rect">
            <a:avLst/>
          </a:prstGeom>
          <a:solidFill>
            <a:schemeClr val="bg1">
              <a:alpha val="50000"/>
            </a:schemeClr>
          </a:solidFill>
        </p:spPr>
        <p:txBody>
          <a:bodyPr wrap="none" lIns="0" tIns="36000" rIns="0" bIns="36000" rtlCol="0" anchor="ctr">
            <a:noAutofit/>
          </a:bodyPr>
          <a:lstStyle/>
          <a:p>
            <a:r>
              <a:rPr lang="en-US" altLang="ko-KR" sz="7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PRODUCT_NAME_ABCD</a:t>
            </a:r>
            <a:endParaRPr lang="ko-KR" altLang="en-US" sz="700" smtClean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75" name="TextBox 174"/>
          <p:cNvSpPr txBox="1"/>
          <p:nvPr/>
        </p:nvSpPr>
        <p:spPr>
          <a:xfrm>
            <a:off x="5725179" y="5643544"/>
            <a:ext cx="1224000" cy="144000"/>
          </a:xfrm>
          <a:prstGeom prst="rect">
            <a:avLst/>
          </a:prstGeom>
          <a:solidFill>
            <a:schemeClr val="bg1">
              <a:alpha val="50000"/>
            </a:schemeClr>
          </a:solidFill>
        </p:spPr>
        <p:txBody>
          <a:bodyPr wrap="none" lIns="0" tIns="36000" rIns="0" bIns="36000" rtlCol="0" anchor="ctr">
            <a:noAutofit/>
          </a:bodyPr>
          <a:lstStyle/>
          <a:p>
            <a:r>
              <a:rPr lang="en-US" altLang="ko-KR" sz="700" strike="sngStrike" smtClean="0">
                <a:solidFill>
                  <a:schemeClr val="bg1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123,000</a:t>
            </a:r>
            <a:endParaRPr lang="ko-KR" altLang="en-US" sz="700" strike="sngStrike" smtClean="0">
              <a:solidFill>
                <a:schemeClr val="bg1">
                  <a:lumMod val="7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76" name="TextBox 175"/>
          <p:cNvSpPr txBox="1"/>
          <p:nvPr/>
        </p:nvSpPr>
        <p:spPr>
          <a:xfrm>
            <a:off x="5725179" y="5787544"/>
            <a:ext cx="1224000" cy="144000"/>
          </a:xfrm>
          <a:prstGeom prst="rect">
            <a:avLst/>
          </a:prstGeom>
          <a:solidFill>
            <a:schemeClr val="bg1">
              <a:alpha val="50000"/>
            </a:schemeClr>
          </a:solidFill>
        </p:spPr>
        <p:txBody>
          <a:bodyPr wrap="none" lIns="0" tIns="36000" rIns="0" bIns="36000" rtlCol="0" anchor="ctr">
            <a:noAutofit/>
          </a:bodyPr>
          <a:lstStyle/>
          <a:p>
            <a:r>
              <a:rPr lang="en-US" altLang="ko-KR" sz="800" b="1" smtClean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10%</a:t>
            </a:r>
            <a:r>
              <a:rPr lang="en-US" altLang="ko-KR" sz="800" b="1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123,000</a:t>
            </a:r>
            <a:endParaRPr lang="ko-KR" altLang="en-US" sz="800" b="1" smtClean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87" name="TextBox 186"/>
          <p:cNvSpPr txBox="1"/>
          <p:nvPr/>
        </p:nvSpPr>
        <p:spPr>
          <a:xfrm>
            <a:off x="5725179" y="5931544"/>
            <a:ext cx="1224000" cy="144000"/>
          </a:xfrm>
          <a:prstGeom prst="rect">
            <a:avLst/>
          </a:prstGeom>
          <a:solidFill>
            <a:schemeClr val="bg1">
              <a:alpha val="50000"/>
            </a:schemeClr>
          </a:solidFill>
        </p:spPr>
        <p:txBody>
          <a:bodyPr wrap="none" lIns="0" tIns="36000" rIns="0" bIns="36000" rtlCol="0" anchor="ctr">
            <a:noAutofit/>
          </a:bodyPr>
          <a:lstStyle/>
          <a:p>
            <a:r>
              <a:rPr lang="ko-KR" altLang="en-US" sz="7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★ </a:t>
            </a:r>
            <a:r>
              <a:rPr lang="en-US" altLang="ko-KR" sz="7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4.8 </a:t>
            </a:r>
            <a:r>
              <a:rPr lang="en-US" altLang="ko-KR" sz="700" smtClean="0">
                <a:solidFill>
                  <a:schemeClr val="tx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(12)</a:t>
            </a:r>
            <a:endParaRPr lang="ko-KR" altLang="en-US" sz="700" smtClean="0">
              <a:solidFill>
                <a:schemeClr val="tx1">
                  <a:lumMod val="50000"/>
                  <a:lumOff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92" name="직사각형 191"/>
          <p:cNvSpPr/>
          <p:nvPr/>
        </p:nvSpPr>
        <p:spPr>
          <a:xfrm>
            <a:off x="5725179" y="6093544"/>
            <a:ext cx="108000" cy="1080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93" name="직사각형 192"/>
          <p:cNvSpPr/>
          <p:nvPr/>
        </p:nvSpPr>
        <p:spPr>
          <a:xfrm>
            <a:off x="5868547" y="6093544"/>
            <a:ext cx="108000" cy="108000"/>
          </a:xfrm>
          <a:prstGeom prst="rect">
            <a:avLst/>
          </a:prstGeom>
          <a:solidFill>
            <a:srgbClr val="C0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94" name="직사각형 193"/>
          <p:cNvSpPr/>
          <p:nvPr/>
        </p:nvSpPr>
        <p:spPr>
          <a:xfrm>
            <a:off x="6011915" y="6093544"/>
            <a:ext cx="108000" cy="108000"/>
          </a:xfrm>
          <a:prstGeom prst="rect">
            <a:avLst/>
          </a:prstGeom>
          <a:solidFill>
            <a:schemeClr val="accent5">
              <a:lumMod val="5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95" name="직사각형 194"/>
          <p:cNvSpPr/>
          <p:nvPr/>
        </p:nvSpPr>
        <p:spPr>
          <a:xfrm>
            <a:off x="6155283" y="6093544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96" name="직사각형 195"/>
          <p:cNvSpPr/>
          <p:nvPr/>
        </p:nvSpPr>
        <p:spPr>
          <a:xfrm>
            <a:off x="6298651" y="6093544"/>
            <a:ext cx="108000" cy="108000"/>
          </a:xfrm>
          <a:prstGeom prst="rect">
            <a:avLst/>
          </a:prstGeom>
          <a:solidFill>
            <a:schemeClr val="accent6">
              <a:lumMod val="5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00" name="직사각형 199"/>
          <p:cNvSpPr/>
          <p:nvPr/>
        </p:nvSpPr>
        <p:spPr>
          <a:xfrm>
            <a:off x="5725179" y="6381544"/>
            <a:ext cx="360000" cy="108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5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마케팅뱃지</a:t>
            </a:r>
            <a:endParaRPr lang="ko-KR" altLang="en-US" sz="50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35" name="모서리가 둥근 직사각형 234"/>
          <p:cNvSpPr/>
          <p:nvPr/>
        </p:nvSpPr>
        <p:spPr>
          <a:xfrm>
            <a:off x="5651906" y="818783"/>
            <a:ext cx="504000" cy="288000"/>
          </a:xfrm>
          <a:prstGeom prst="roundRect">
            <a:avLst/>
          </a:prstGeom>
          <a:solidFill>
            <a:schemeClr val="accent2">
              <a:lumMod val="7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800" b="1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CASE 1</a:t>
            </a:r>
            <a:endParaRPr lang="ko-KR" altLang="en-US" sz="800" b="1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41" name="모서리가 둥근 직사각형 240"/>
          <p:cNvSpPr/>
          <p:nvPr/>
        </p:nvSpPr>
        <p:spPr>
          <a:xfrm>
            <a:off x="6949179" y="818783"/>
            <a:ext cx="504000" cy="288000"/>
          </a:xfrm>
          <a:prstGeom prst="roundRect">
            <a:avLst/>
          </a:prstGeom>
          <a:solidFill>
            <a:schemeClr val="accent2">
              <a:lumMod val="7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800" b="1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CASE 2</a:t>
            </a:r>
            <a:endParaRPr lang="ko-KR" altLang="en-US" sz="800" b="1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44" name="모서리가 둥근 직사각형 243"/>
          <p:cNvSpPr/>
          <p:nvPr/>
        </p:nvSpPr>
        <p:spPr>
          <a:xfrm>
            <a:off x="5651906" y="3698936"/>
            <a:ext cx="504000" cy="288000"/>
          </a:xfrm>
          <a:prstGeom prst="roundRect">
            <a:avLst/>
          </a:prstGeom>
          <a:solidFill>
            <a:schemeClr val="accent2">
              <a:lumMod val="7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800" b="1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CASE 3</a:t>
            </a:r>
            <a:endParaRPr lang="ko-KR" altLang="en-US" sz="800" b="1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46" name="모서리가 둥근 직사각형 245"/>
          <p:cNvSpPr/>
          <p:nvPr/>
        </p:nvSpPr>
        <p:spPr>
          <a:xfrm>
            <a:off x="6949179" y="3698936"/>
            <a:ext cx="504000" cy="288000"/>
          </a:xfrm>
          <a:prstGeom prst="roundRect">
            <a:avLst/>
          </a:prstGeom>
          <a:solidFill>
            <a:schemeClr val="accent2">
              <a:lumMod val="7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800" b="1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CASE 4</a:t>
            </a:r>
            <a:endParaRPr lang="ko-KR" altLang="en-US" sz="800" b="1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18" name="TextBox 117"/>
          <p:cNvSpPr txBox="1"/>
          <p:nvPr/>
        </p:nvSpPr>
        <p:spPr>
          <a:xfrm>
            <a:off x="8965179" y="2475771"/>
            <a:ext cx="1224000" cy="144000"/>
          </a:xfrm>
          <a:prstGeom prst="rect">
            <a:avLst/>
          </a:prstGeom>
          <a:solidFill>
            <a:schemeClr val="bg1">
              <a:alpha val="50000"/>
            </a:schemeClr>
          </a:solidFill>
        </p:spPr>
        <p:txBody>
          <a:bodyPr wrap="none" lIns="0" tIns="36000" rIns="0" bIns="36000" rtlCol="0" anchor="ctr">
            <a:noAutofit/>
          </a:bodyPr>
          <a:lstStyle/>
          <a:p>
            <a:r>
              <a:rPr lang="en-US" altLang="ko-KR" sz="700" b="1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BRAND</a:t>
            </a:r>
            <a:endParaRPr lang="ko-KR" altLang="en-US" sz="700" b="1" smtClean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19" name="TextBox 118"/>
          <p:cNvSpPr txBox="1"/>
          <p:nvPr/>
        </p:nvSpPr>
        <p:spPr>
          <a:xfrm>
            <a:off x="8965179" y="2619771"/>
            <a:ext cx="1224000" cy="144000"/>
          </a:xfrm>
          <a:prstGeom prst="rect">
            <a:avLst/>
          </a:prstGeom>
          <a:solidFill>
            <a:schemeClr val="bg1">
              <a:alpha val="50000"/>
            </a:schemeClr>
          </a:solidFill>
        </p:spPr>
        <p:txBody>
          <a:bodyPr wrap="none" lIns="0" tIns="36000" rIns="0" bIns="36000" rtlCol="0" anchor="ctr">
            <a:noAutofit/>
          </a:bodyPr>
          <a:lstStyle/>
          <a:p>
            <a:r>
              <a:rPr lang="en-US" altLang="ko-KR" sz="7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PRODUCT_NAME_ABCD</a:t>
            </a:r>
            <a:endParaRPr lang="ko-KR" altLang="en-US" sz="700" smtClean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20" name="TextBox 119"/>
          <p:cNvSpPr txBox="1"/>
          <p:nvPr/>
        </p:nvSpPr>
        <p:spPr>
          <a:xfrm>
            <a:off x="10261179" y="2475771"/>
            <a:ext cx="1224000" cy="144000"/>
          </a:xfrm>
          <a:prstGeom prst="rect">
            <a:avLst/>
          </a:prstGeom>
          <a:solidFill>
            <a:schemeClr val="bg1">
              <a:alpha val="50000"/>
            </a:schemeClr>
          </a:solidFill>
        </p:spPr>
        <p:txBody>
          <a:bodyPr wrap="none" lIns="0" tIns="36000" rIns="0" bIns="36000" rtlCol="0" anchor="ctr">
            <a:noAutofit/>
          </a:bodyPr>
          <a:lstStyle/>
          <a:p>
            <a:r>
              <a:rPr lang="en-US" altLang="ko-KR" sz="700" b="1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BRAND</a:t>
            </a:r>
            <a:endParaRPr lang="ko-KR" altLang="en-US" sz="700" b="1" smtClean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21" name="TextBox 120"/>
          <p:cNvSpPr txBox="1"/>
          <p:nvPr/>
        </p:nvSpPr>
        <p:spPr>
          <a:xfrm>
            <a:off x="10261179" y="2619771"/>
            <a:ext cx="1224000" cy="144000"/>
          </a:xfrm>
          <a:prstGeom prst="rect">
            <a:avLst/>
          </a:prstGeom>
          <a:solidFill>
            <a:schemeClr val="bg1">
              <a:alpha val="50000"/>
            </a:schemeClr>
          </a:solidFill>
        </p:spPr>
        <p:txBody>
          <a:bodyPr wrap="none" lIns="0" tIns="36000" rIns="0" bIns="36000" rtlCol="0" anchor="ctr">
            <a:noAutofit/>
          </a:bodyPr>
          <a:lstStyle/>
          <a:p>
            <a:r>
              <a:rPr lang="en-US" altLang="ko-KR" sz="7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PRODUCT_NAME_ABCD</a:t>
            </a:r>
            <a:endParaRPr lang="ko-KR" altLang="en-US" sz="70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122" name="TextBox 121"/>
          <p:cNvSpPr txBox="1"/>
          <p:nvPr/>
        </p:nvSpPr>
        <p:spPr>
          <a:xfrm>
            <a:off x="8965179" y="2763986"/>
            <a:ext cx="1224000" cy="144000"/>
          </a:xfrm>
          <a:prstGeom prst="rect">
            <a:avLst/>
          </a:prstGeom>
          <a:solidFill>
            <a:schemeClr val="bg1">
              <a:alpha val="50000"/>
            </a:schemeClr>
          </a:solidFill>
        </p:spPr>
        <p:txBody>
          <a:bodyPr wrap="none" lIns="0" tIns="36000" rIns="0" bIns="36000" rtlCol="0" anchor="ctr">
            <a:noAutofit/>
          </a:bodyPr>
          <a:lstStyle/>
          <a:p>
            <a:r>
              <a:rPr lang="en-US" altLang="ko-KR" sz="700" strike="sngStrike" smtClean="0">
                <a:solidFill>
                  <a:schemeClr val="bg1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123,000</a:t>
            </a:r>
            <a:endParaRPr lang="ko-KR" altLang="en-US" sz="700" strike="sngStrike" smtClean="0">
              <a:solidFill>
                <a:schemeClr val="bg1">
                  <a:lumMod val="7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24" name="TextBox 123"/>
          <p:cNvSpPr txBox="1"/>
          <p:nvPr/>
        </p:nvSpPr>
        <p:spPr>
          <a:xfrm>
            <a:off x="8965179" y="2907986"/>
            <a:ext cx="1224000" cy="144000"/>
          </a:xfrm>
          <a:prstGeom prst="rect">
            <a:avLst/>
          </a:prstGeom>
          <a:solidFill>
            <a:schemeClr val="bg1">
              <a:alpha val="50000"/>
            </a:schemeClr>
          </a:solidFill>
        </p:spPr>
        <p:txBody>
          <a:bodyPr wrap="none" lIns="0" tIns="36000" rIns="0" bIns="36000" rtlCol="0" anchor="ctr">
            <a:noAutofit/>
          </a:bodyPr>
          <a:lstStyle/>
          <a:p>
            <a:r>
              <a:rPr lang="en-US" altLang="ko-KR" sz="800" b="1" smtClean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10%</a:t>
            </a:r>
            <a:r>
              <a:rPr lang="en-US" altLang="ko-KR" sz="800" b="1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123,000</a:t>
            </a:r>
            <a:endParaRPr lang="ko-KR" altLang="en-US" sz="800" b="1" smtClean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25" name="TextBox 124"/>
          <p:cNvSpPr txBox="1"/>
          <p:nvPr/>
        </p:nvSpPr>
        <p:spPr>
          <a:xfrm>
            <a:off x="10261179" y="2763986"/>
            <a:ext cx="1224000" cy="144000"/>
          </a:xfrm>
          <a:prstGeom prst="rect">
            <a:avLst/>
          </a:prstGeom>
          <a:solidFill>
            <a:schemeClr val="bg1">
              <a:alpha val="50000"/>
            </a:schemeClr>
          </a:solidFill>
        </p:spPr>
        <p:txBody>
          <a:bodyPr wrap="none" lIns="0" tIns="36000" rIns="0" bIns="36000" rtlCol="0" anchor="ctr">
            <a:noAutofit/>
          </a:bodyPr>
          <a:lstStyle/>
          <a:p>
            <a:r>
              <a:rPr lang="en-US" altLang="ko-KR" sz="700" strike="sngStrike">
                <a:solidFill>
                  <a:schemeClr val="bg1">
                    <a:lumMod val="75000"/>
                  </a:schemeClr>
                </a:solidFill>
                <a:latin typeface="맑은 고딕" panose="020B0503020000020004" pitchFamily="50" charset="-127"/>
              </a:rPr>
              <a:t>123,000</a:t>
            </a:r>
            <a:endParaRPr lang="ko-KR" altLang="en-US" sz="700" strike="sngStrike">
              <a:solidFill>
                <a:schemeClr val="bg1">
                  <a:lumMod val="75000"/>
                </a:scheme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126" name="TextBox 125"/>
          <p:cNvSpPr txBox="1"/>
          <p:nvPr/>
        </p:nvSpPr>
        <p:spPr>
          <a:xfrm>
            <a:off x="10261179" y="2907986"/>
            <a:ext cx="1224000" cy="144000"/>
          </a:xfrm>
          <a:prstGeom prst="rect">
            <a:avLst/>
          </a:prstGeom>
          <a:solidFill>
            <a:schemeClr val="bg1">
              <a:alpha val="50000"/>
            </a:schemeClr>
          </a:solidFill>
        </p:spPr>
        <p:txBody>
          <a:bodyPr wrap="none" lIns="0" tIns="36000" rIns="0" bIns="36000" rtlCol="0" anchor="ctr">
            <a:noAutofit/>
          </a:bodyPr>
          <a:lstStyle/>
          <a:p>
            <a:r>
              <a:rPr lang="en-US" altLang="ko-KR" sz="800" b="1">
                <a:solidFill>
                  <a:srgbClr val="C00000"/>
                </a:solidFill>
                <a:latin typeface="맑은 고딕" panose="020B0503020000020004" pitchFamily="50" charset="-127"/>
              </a:rPr>
              <a:t>10%</a:t>
            </a:r>
            <a:r>
              <a:rPr lang="en-US" altLang="ko-KR" sz="800" b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 123,000</a:t>
            </a:r>
            <a:endParaRPr lang="ko-KR" altLang="en-US" sz="800" b="1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127" name="직사각형 126"/>
          <p:cNvSpPr/>
          <p:nvPr/>
        </p:nvSpPr>
        <p:spPr>
          <a:xfrm>
            <a:off x="8965180" y="3807648"/>
            <a:ext cx="360000" cy="36000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600" b="1" smtClean="0">
                <a:solidFill>
                  <a:schemeClr val="bg1"/>
                </a:solidFill>
                <a:latin typeface="맑은 고딕" panose="020B0503020000020004" pitchFamily="50" charset="-127"/>
              </a:rPr>
              <a:t>BADGE</a:t>
            </a:r>
            <a:endParaRPr lang="ko-KR" altLang="en-US" sz="600" b="1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28" name="직사각형 127"/>
          <p:cNvSpPr/>
          <p:nvPr/>
        </p:nvSpPr>
        <p:spPr>
          <a:xfrm>
            <a:off x="10261179" y="3807648"/>
            <a:ext cx="360000" cy="36000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600" b="1" smtClean="0">
                <a:solidFill>
                  <a:schemeClr val="bg1"/>
                </a:solidFill>
                <a:latin typeface="맑은 고딕" panose="020B0503020000020004" pitchFamily="50" charset="-127"/>
              </a:rPr>
              <a:t>BADGE</a:t>
            </a:r>
            <a:endParaRPr lang="ko-KR" altLang="en-US" sz="600" b="1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40" name="TextBox 139"/>
          <p:cNvSpPr txBox="1"/>
          <p:nvPr/>
        </p:nvSpPr>
        <p:spPr>
          <a:xfrm>
            <a:off x="8965179" y="3051986"/>
            <a:ext cx="1224000" cy="144000"/>
          </a:xfrm>
          <a:prstGeom prst="rect">
            <a:avLst/>
          </a:prstGeom>
          <a:solidFill>
            <a:schemeClr val="bg1">
              <a:alpha val="50000"/>
            </a:schemeClr>
          </a:solidFill>
        </p:spPr>
        <p:txBody>
          <a:bodyPr wrap="none" lIns="0" tIns="36000" rIns="0" bIns="36000" rtlCol="0" anchor="ctr">
            <a:noAutofit/>
          </a:bodyPr>
          <a:lstStyle/>
          <a:p>
            <a:r>
              <a:rPr lang="ko-KR" altLang="en-US" sz="7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★ </a:t>
            </a:r>
            <a:r>
              <a:rPr lang="en-US" altLang="ko-KR" sz="7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4.8 </a:t>
            </a:r>
            <a:r>
              <a:rPr lang="en-US" altLang="ko-KR" sz="700" smtClean="0">
                <a:solidFill>
                  <a:schemeClr val="tx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(12)</a:t>
            </a:r>
            <a:endParaRPr lang="ko-KR" altLang="en-US" sz="700" smtClean="0">
              <a:solidFill>
                <a:schemeClr val="tx1">
                  <a:lumMod val="50000"/>
                  <a:lumOff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41" name="TextBox 140"/>
          <p:cNvSpPr txBox="1"/>
          <p:nvPr/>
        </p:nvSpPr>
        <p:spPr>
          <a:xfrm>
            <a:off x="10261179" y="3051986"/>
            <a:ext cx="1224000" cy="144000"/>
          </a:xfrm>
          <a:prstGeom prst="rect">
            <a:avLst/>
          </a:prstGeom>
          <a:solidFill>
            <a:schemeClr val="bg1">
              <a:alpha val="50000"/>
            </a:schemeClr>
          </a:solidFill>
        </p:spPr>
        <p:txBody>
          <a:bodyPr wrap="none" lIns="0" tIns="36000" rIns="0" bIns="36000" rtlCol="0" anchor="ctr">
            <a:noAutofit/>
          </a:bodyPr>
          <a:lstStyle/>
          <a:p>
            <a:r>
              <a:rPr lang="ko-KR" altLang="en-US" sz="7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★ </a:t>
            </a:r>
            <a:r>
              <a:rPr lang="en-US" altLang="ko-KR" sz="7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4.8 </a:t>
            </a:r>
            <a:r>
              <a:rPr lang="en-US" altLang="ko-KR" sz="700">
                <a:solidFill>
                  <a:schemeClr val="tx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</a:rPr>
              <a:t>(12)</a:t>
            </a:r>
            <a:endParaRPr lang="ko-KR" altLang="en-US" sz="700">
              <a:solidFill>
                <a:schemeClr val="tx1">
                  <a:lumMod val="50000"/>
                  <a:lumOff val="50000"/>
                </a:scheme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145" name="직사각형 144"/>
          <p:cNvSpPr/>
          <p:nvPr/>
        </p:nvSpPr>
        <p:spPr>
          <a:xfrm>
            <a:off x="8965179" y="3213986"/>
            <a:ext cx="108000" cy="1080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46" name="직사각형 145"/>
          <p:cNvSpPr/>
          <p:nvPr/>
        </p:nvSpPr>
        <p:spPr>
          <a:xfrm>
            <a:off x="9108547" y="3213986"/>
            <a:ext cx="108000" cy="108000"/>
          </a:xfrm>
          <a:prstGeom prst="rect">
            <a:avLst/>
          </a:prstGeom>
          <a:solidFill>
            <a:srgbClr val="C0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47" name="직사각형 146"/>
          <p:cNvSpPr/>
          <p:nvPr/>
        </p:nvSpPr>
        <p:spPr>
          <a:xfrm>
            <a:off x="9251915" y="3213986"/>
            <a:ext cx="108000" cy="108000"/>
          </a:xfrm>
          <a:prstGeom prst="rect">
            <a:avLst/>
          </a:prstGeom>
          <a:solidFill>
            <a:schemeClr val="accent5">
              <a:lumMod val="5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48" name="직사각형 147"/>
          <p:cNvSpPr/>
          <p:nvPr/>
        </p:nvSpPr>
        <p:spPr>
          <a:xfrm>
            <a:off x="9395283" y="3213986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49" name="직사각형 148"/>
          <p:cNvSpPr/>
          <p:nvPr/>
        </p:nvSpPr>
        <p:spPr>
          <a:xfrm>
            <a:off x="9538651" y="3213986"/>
            <a:ext cx="108000" cy="108000"/>
          </a:xfrm>
          <a:prstGeom prst="rect">
            <a:avLst/>
          </a:prstGeom>
          <a:solidFill>
            <a:schemeClr val="accent6">
              <a:lumMod val="5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150" name="그룹 149"/>
          <p:cNvGrpSpPr/>
          <p:nvPr/>
        </p:nvGrpSpPr>
        <p:grpSpPr>
          <a:xfrm>
            <a:off x="8965179" y="3365820"/>
            <a:ext cx="373641" cy="92333"/>
            <a:chOff x="4374463" y="3951036"/>
            <a:chExt cx="373641" cy="92333"/>
          </a:xfrm>
        </p:grpSpPr>
        <p:grpSp>
          <p:nvGrpSpPr>
            <p:cNvPr id="151" name="그룹 150"/>
            <p:cNvGrpSpPr/>
            <p:nvPr/>
          </p:nvGrpSpPr>
          <p:grpSpPr>
            <a:xfrm>
              <a:off x="4374463" y="3961202"/>
              <a:ext cx="126000" cy="72000"/>
              <a:chOff x="4549384" y="3972353"/>
              <a:chExt cx="180000" cy="108000"/>
            </a:xfrm>
          </p:grpSpPr>
          <p:sp>
            <p:nvSpPr>
              <p:cNvPr id="153" name="직사각형 152"/>
              <p:cNvSpPr/>
              <p:nvPr/>
            </p:nvSpPr>
            <p:spPr>
              <a:xfrm>
                <a:off x="4549384" y="3972353"/>
                <a:ext cx="35644" cy="108000"/>
              </a:xfrm>
              <a:prstGeom prst="rect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 w="31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80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  <p:sp>
            <p:nvSpPr>
              <p:cNvPr id="154" name="타원 153"/>
              <p:cNvSpPr/>
              <p:nvPr/>
            </p:nvSpPr>
            <p:spPr>
              <a:xfrm>
                <a:off x="4595721" y="4044353"/>
                <a:ext cx="35644" cy="36000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 w="31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80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  <p:sp>
            <p:nvSpPr>
              <p:cNvPr id="155" name="직사각형 154"/>
              <p:cNvSpPr/>
              <p:nvPr/>
            </p:nvSpPr>
            <p:spPr>
              <a:xfrm>
                <a:off x="4647404" y="3972353"/>
                <a:ext cx="35644" cy="108000"/>
              </a:xfrm>
              <a:prstGeom prst="rect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 w="31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80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  <p:sp>
            <p:nvSpPr>
              <p:cNvPr id="156" name="타원 155"/>
              <p:cNvSpPr/>
              <p:nvPr/>
            </p:nvSpPr>
            <p:spPr>
              <a:xfrm>
                <a:off x="4693740" y="3972353"/>
                <a:ext cx="35644" cy="36000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 w="31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80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  <p:sp>
            <p:nvSpPr>
              <p:cNvPr id="157" name="타원 156"/>
              <p:cNvSpPr/>
              <p:nvPr/>
            </p:nvSpPr>
            <p:spPr>
              <a:xfrm>
                <a:off x="4693740" y="4026353"/>
                <a:ext cx="35644" cy="36000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 w="31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80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</p:grpSp>
        <p:sp>
          <p:nvSpPr>
            <p:cNvPr id="152" name="TextBox 151"/>
            <p:cNvSpPr txBox="1"/>
            <p:nvPr/>
          </p:nvSpPr>
          <p:spPr>
            <a:xfrm>
              <a:off x="4517272" y="3951036"/>
              <a:ext cx="230832" cy="92333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r>
                <a:rPr lang="ko-KR" altLang="en-US" sz="600" smtClean="0">
                  <a:solidFill>
                    <a:srgbClr val="C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슝배송</a:t>
              </a:r>
              <a:endParaRPr lang="ko-KR" altLang="en-US" sz="60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sp>
        <p:nvSpPr>
          <p:cNvPr id="159" name="직사각형 158"/>
          <p:cNvSpPr/>
          <p:nvPr/>
        </p:nvSpPr>
        <p:spPr>
          <a:xfrm>
            <a:off x="8965179" y="3501986"/>
            <a:ext cx="360000" cy="108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5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마케팅뱃지</a:t>
            </a:r>
            <a:endParaRPr lang="ko-KR" altLang="en-US" sz="50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61" name="TextBox 160"/>
          <p:cNvSpPr txBox="1"/>
          <p:nvPr/>
        </p:nvSpPr>
        <p:spPr>
          <a:xfrm>
            <a:off x="8965179" y="5355329"/>
            <a:ext cx="1224000" cy="144000"/>
          </a:xfrm>
          <a:prstGeom prst="rect">
            <a:avLst/>
          </a:prstGeom>
          <a:solidFill>
            <a:schemeClr val="bg1">
              <a:alpha val="50000"/>
            </a:schemeClr>
          </a:solidFill>
        </p:spPr>
        <p:txBody>
          <a:bodyPr wrap="none" lIns="0" tIns="36000" rIns="0" bIns="36000" rtlCol="0" anchor="ctr">
            <a:noAutofit/>
          </a:bodyPr>
          <a:lstStyle/>
          <a:p>
            <a:r>
              <a:rPr lang="en-US" altLang="ko-KR" sz="700" b="1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BRAND</a:t>
            </a:r>
            <a:endParaRPr lang="ko-KR" altLang="en-US" sz="700" b="1" smtClean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62" name="TextBox 161"/>
          <p:cNvSpPr txBox="1"/>
          <p:nvPr/>
        </p:nvSpPr>
        <p:spPr>
          <a:xfrm>
            <a:off x="8965179" y="5499329"/>
            <a:ext cx="1224000" cy="144000"/>
          </a:xfrm>
          <a:prstGeom prst="rect">
            <a:avLst/>
          </a:prstGeom>
          <a:solidFill>
            <a:schemeClr val="bg1">
              <a:alpha val="50000"/>
            </a:schemeClr>
          </a:solidFill>
        </p:spPr>
        <p:txBody>
          <a:bodyPr wrap="none" lIns="0" tIns="36000" rIns="0" bIns="36000" rtlCol="0" anchor="ctr">
            <a:noAutofit/>
          </a:bodyPr>
          <a:lstStyle/>
          <a:p>
            <a:r>
              <a:rPr lang="en-US" altLang="ko-KR" sz="7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PRODUCT_NAME_ABCD</a:t>
            </a:r>
            <a:endParaRPr lang="ko-KR" altLang="en-US" sz="700" smtClean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63" name="TextBox 162"/>
          <p:cNvSpPr txBox="1"/>
          <p:nvPr/>
        </p:nvSpPr>
        <p:spPr>
          <a:xfrm>
            <a:off x="10261179" y="5355329"/>
            <a:ext cx="1224000" cy="144000"/>
          </a:xfrm>
          <a:prstGeom prst="rect">
            <a:avLst/>
          </a:prstGeom>
          <a:solidFill>
            <a:schemeClr val="bg1">
              <a:alpha val="50000"/>
            </a:schemeClr>
          </a:solidFill>
        </p:spPr>
        <p:txBody>
          <a:bodyPr wrap="none" lIns="0" tIns="36000" rIns="0" bIns="36000" rtlCol="0" anchor="ctr">
            <a:noAutofit/>
          </a:bodyPr>
          <a:lstStyle/>
          <a:p>
            <a:r>
              <a:rPr lang="en-US" altLang="ko-KR" sz="700" b="1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BRAND</a:t>
            </a:r>
            <a:endParaRPr lang="ko-KR" altLang="en-US" sz="700" b="1" smtClean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64" name="TextBox 163"/>
          <p:cNvSpPr txBox="1"/>
          <p:nvPr/>
        </p:nvSpPr>
        <p:spPr>
          <a:xfrm>
            <a:off x="10261179" y="5499329"/>
            <a:ext cx="1224000" cy="144000"/>
          </a:xfrm>
          <a:prstGeom prst="rect">
            <a:avLst/>
          </a:prstGeom>
          <a:solidFill>
            <a:schemeClr val="bg1">
              <a:alpha val="50000"/>
            </a:schemeClr>
          </a:solidFill>
        </p:spPr>
        <p:txBody>
          <a:bodyPr wrap="none" lIns="0" tIns="36000" rIns="0" bIns="36000" rtlCol="0" anchor="ctr">
            <a:noAutofit/>
          </a:bodyPr>
          <a:lstStyle/>
          <a:p>
            <a:r>
              <a:rPr lang="en-US" altLang="ko-KR" sz="7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PRODUCT_NAME_ABCD</a:t>
            </a:r>
            <a:endParaRPr lang="ko-KR" altLang="en-US" sz="70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165" name="TextBox 164"/>
          <p:cNvSpPr txBox="1"/>
          <p:nvPr/>
        </p:nvSpPr>
        <p:spPr>
          <a:xfrm>
            <a:off x="8965179" y="5643544"/>
            <a:ext cx="1224000" cy="144000"/>
          </a:xfrm>
          <a:prstGeom prst="rect">
            <a:avLst/>
          </a:prstGeom>
          <a:solidFill>
            <a:schemeClr val="bg1">
              <a:alpha val="50000"/>
            </a:schemeClr>
          </a:solidFill>
        </p:spPr>
        <p:txBody>
          <a:bodyPr wrap="none" lIns="0" tIns="36000" rIns="0" bIns="36000" rtlCol="0" anchor="ctr">
            <a:noAutofit/>
          </a:bodyPr>
          <a:lstStyle/>
          <a:p>
            <a:r>
              <a:rPr lang="en-US" altLang="ko-KR" sz="700" strike="sngStrike" smtClean="0">
                <a:solidFill>
                  <a:schemeClr val="bg1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123,000</a:t>
            </a:r>
            <a:endParaRPr lang="ko-KR" altLang="en-US" sz="700" strike="sngStrike" smtClean="0">
              <a:solidFill>
                <a:schemeClr val="bg1">
                  <a:lumMod val="7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66" name="TextBox 165"/>
          <p:cNvSpPr txBox="1"/>
          <p:nvPr/>
        </p:nvSpPr>
        <p:spPr>
          <a:xfrm>
            <a:off x="8965179" y="5787544"/>
            <a:ext cx="1224000" cy="144000"/>
          </a:xfrm>
          <a:prstGeom prst="rect">
            <a:avLst/>
          </a:prstGeom>
          <a:solidFill>
            <a:schemeClr val="bg1">
              <a:alpha val="50000"/>
            </a:schemeClr>
          </a:solidFill>
        </p:spPr>
        <p:txBody>
          <a:bodyPr wrap="none" lIns="0" tIns="36000" rIns="0" bIns="36000" rtlCol="0" anchor="ctr">
            <a:noAutofit/>
          </a:bodyPr>
          <a:lstStyle/>
          <a:p>
            <a:r>
              <a:rPr lang="en-US" altLang="ko-KR" sz="800" b="1" smtClean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10%</a:t>
            </a:r>
            <a:r>
              <a:rPr lang="en-US" altLang="ko-KR" sz="800" b="1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123,000</a:t>
            </a:r>
            <a:endParaRPr lang="ko-KR" altLang="en-US" sz="800" b="1" smtClean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67" name="TextBox 166"/>
          <p:cNvSpPr txBox="1"/>
          <p:nvPr/>
        </p:nvSpPr>
        <p:spPr>
          <a:xfrm>
            <a:off x="10261179" y="5643544"/>
            <a:ext cx="1224000" cy="144000"/>
          </a:xfrm>
          <a:prstGeom prst="rect">
            <a:avLst/>
          </a:prstGeom>
          <a:solidFill>
            <a:schemeClr val="bg1">
              <a:alpha val="50000"/>
            </a:schemeClr>
          </a:solidFill>
        </p:spPr>
        <p:txBody>
          <a:bodyPr wrap="none" lIns="0" tIns="36000" rIns="0" bIns="36000" rtlCol="0" anchor="ctr">
            <a:noAutofit/>
          </a:bodyPr>
          <a:lstStyle/>
          <a:p>
            <a:r>
              <a:rPr lang="en-US" altLang="ko-KR" sz="700" strike="sngStrike">
                <a:solidFill>
                  <a:schemeClr val="bg1">
                    <a:lumMod val="75000"/>
                  </a:schemeClr>
                </a:solidFill>
                <a:latin typeface="맑은 고딕" panose="020B0503020000020004" pitchFamily="50" charset="-127"/>
              </a:rPr>
              <a:t>123,000</a:t>
            </a:r>
            <a:endParaRPr lang="ko-KR" altLang="en-US" sz="700" strike="sngStrike">
              <a:solidFill>
                <a:schemeClr val="bg1">
                  <a:lumMod val="75000"/>
                </a:scheme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168" name="TextBox 167"/>
          <p:cNvSpPr txBox="1"/>
          <p:nvPr/>
        </p:nvSpPr>
        <p:spPr>
          <a:xfrm>
            <a:off x="10261179" y="5787544"/>
            <a:ext cx="1224000" cy="144000"/>
          </a:xfrm>
          <a:prstGeom prst="rect">
            <a:avLst/>
          </a:prstGeom>
          <a:solidFill>
            <a:schemeClr val="bg1">
              <a:alpha val="50000"/>
            </a:schemeClr>
          </a:solidFill>
        </p:spPr>
        <p:txBody>
          <a:bodyPr wrap="none" lIns="0" tIns="36000" rIns="0" bIns="36000" rtlCol="0" anchor="ctr">
            <a:noAutofit/>
          </a:bodyPr>
          <a:lstStyle/>
          <a:p>
            <a:r>
              <a:rPr lang="en-US" altLang="ko-KR" sz="800" b="1">
                <a:solidFill>
                  <a:srgbClr val="C00000"/>
                </a:solidFill>
                <a:latin typeface="맑은 고딕" panose="020B0503020000020004" pitchFamily="50" charset="-127"/>
              </a:rPr>
              <a:t>10%</a:t>
            </a:r>
            <a:r>
              <a:rPr lang="en-US" altLang="ko-KR" sz="800" b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 123,000</a:t>
            </a:r>
            <a:endParaRPr lang="ko-KR" altLang="en-US" sz="800" b="1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203" name="TextBox 202"/>
          <p:cNvSpPr txBox="1"/>
          <p:nvPr/>
        </p:nvSpPr>
        <p:spPr>
          <a:xfrm>
            <a:off x="8965179" y="5931544"/>
            <a:ext cx="1224000" cy="144000"/>
          </a:xfrm>
          <a:prstGeom prst="rect">
            <a:avLst/>
          </a:prstGeom>
          <a:solidFill>
            <a:schemeClr val="bg1">
              <a:alpha val="50000"/>
            </a:schemeClr>
          </a:solidFill>
        </p:spPr>
        <p:txBody>
          <a:bodyPr wrap="none" lIns="0" tIns="36000" rIns="0" bIns="36000" rtlCol="0" anchor="ctr">
            <a:noAutofit/>
          </a:bodyPr>
          <a:lstStyle/>
          <a:p>
            <a:r>
              <a:rPr lang="ko-KR" altLang="en-US" sz="7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★ </a:t>
            </a:r>
            <a:r>
              <a:rPr lang="en-US" altLang="ko-KR" sz="7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4.8 </a:t>
            </a:r>
            <a:r>
              <a:rPr lang="en-US" altLang="ko-KR" sz="700" smtClean="0">
                <a:solidFill>
                  <a:schemeClr val="tx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(12)</a:t>
            </a:r>
            <a:endParaRPr lang="ko-KR" altLang="en-US" sz="700" smtClean="0">
              <a:solidFill>
                <a:schemeClr val="tx1">
                  <a:lumMod val="50000"/>
                  <a:lumOff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82" name="TextBox 281"/>
          <p:cNvSpPr txBox="1"/>
          <p:nvPr/>
        </p:nvSpPr>
        <p:spPr>
          <a:xfrm>
            <a:off x="7021179" y="2475771"/>
            <a:ext cx="1224000" cy="144000"/>
          </a:xfrm>
          <a:prstGeom prst="rect">
            <a:avLst/>
          </a:prstGeom>
          <a:solidFill>
            <a:schemeClr val="bg1">
              <a:alpha val="50000"/>
            </a:schemeClr>
          </a:solidFill>
        </p:spPr>
        <p:txBody>
          <a:bodyPr wrap="none" lIns="0" tIns="36000" rIns="0" bIns="36000" rtlCol="0" anchor="ctr">
            <a:noAutofit/>
          </a:bodyPr>
          <a:lstStyle/>
          <a:p>
            <a:r>
              <a:rPr lang="en-US" altLang="ko-KR" sz="700" b="1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BRAND</a:t>
            </a:r>
            <a:endParaRPr lang="ko-KR" altLang="en-US" sz="700" b="1" smtClean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83" name="TextBox 282"/>
          <p:cNvSpPr txBox="1"/>
          <p:nvPr/>
        </p:nvSpPr>
        <p:spPr>
          <a:xfrm>
            <a:off x="7021179" y="2619771"/>
            <a:ext cx="1224000" cy="144000"/>
          </a:xfrm>
          <a:prstGeom prst="rect">
            <a:avLst/>
          </a:prstGeom>
          <a:solidFill>
            <a:schemeClr val="bg1">
              <a:alpha val="50000"/>
            </a:schemeClr>
          </a:solidFill>
        </p:spPr>
        <p:txBody>
          <a:bodyPr wrap="none" lIns="0" tIns="36000" rIns="0" bIns="36000" rtlCol="0" anchor="ctr">
            <a:noAutofit/>
          </a:bodyPr>
          <a:lstStyle/>
          <a:p>
            <a:r>
              <a:rPr lang="en-US" altLang="ko-KR" sz="7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PRODUCT_NAME_ABCD</a:t>
            </a:r>
            <a:endParaRPr lang="ko-KR" altLang="en-US" sz="700" smtClean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84" name="TextBox 283"/>
          <p:cNvSpPr txBox="1"/>
          <p:nvPr/>
        </p:nvSpPr>
        <p:spPr>
          <a:xfrm>
            <a:off x="7021179" y="2763986"/>
            <a:ext cx="1224000" cy="144000"/>
          </a:xfrm>
          <a:prstGeom prst="rect">
            <a:avLst/>
          </a:prstGeom>
          <a:solidFill>
            <a:schemeClr val="bg1">
              <a:alpha val="50000"/>
            </a:schemeClr>
          </a:solidFill>
        </p:spPr>
        <p:txBody>
          <a:bodyPr wrap="none" lIns="0" tIns="36000" rIns="0" bIns="36000" rtlCol="0" anchor="ctr">
            <a:noAutofit/>
          </a:bodyPr>
          <a:lstStyle/>
          <a:p>
            <a:r>
              <a:rPr lang="en-US" altLang="ko-KR" sz="700" strike="sngStrike" smtClean="0">
                <a:solidFill>
                  <a:schemeClr val="bg1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123,000</a:t>
            </a:r>
            <a:endParaRPr lang="ko-KR" altLang="en-US" sz="700" strike="sngStrike" smtClean="0">
              <a:solidFill>
                <a:schemeClr val="bg1">
                  <a:lumMod val="7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85" name="TextBox 284"/>
          <p:cNvSpPr txBox="1"/>
          <p:nvPr/>
        </p:nvSpPr>
        <p:spPr>
          <a:xfrm>
            <a:off x="7021179" y="2907986"/>
            <a:ext cx="1224000" cy="144000"/>
          </a:xfrm>
          <a:prstGeom prst="rect">
            <a:avLst/>
          </a:prstGeom>
          <a:solidFill>
            <a:schemeClr val="bg1">
              <a:alpha val="50000"/>
            </a:schemeClr>
          </a:solidFill>
        </p:spPr>
        <p:txBody>
          <a:bodyPr wrap="none" lIns="0" tIns="36000" rIns="0" bIns="36000" rtlCol="0" anchor="ctr">
            <a:noAutofit/>
          </a:bodyPr>
          <a:lstStyle/>
          <a:p>
            <a:r>
              <a:rPr lang="en-US" altLang="ko-KR" sz="800" b="1" smtClean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10%</a:t>
            </a:r>
            <a:r>
              <a:rPr lang="en-US" altLang="ko-KR" sz="800" b="1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123,000</a:t>
            </a:r>
            <a:endParaRPr lang="ko-KR" altLang="en-US" sz="800" b="1" smtClean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86" name="TextBox 285"/>
          <p:cNvSpPr txBox="1"/>
          <p:nvPr/>
        </p:nvSpPr>
        <p:spPr>
          <a:xfrm>
            <a:off x="7021179" y="3051986"/>
            <a:ext cx="1224000" cy="144000"/>
          </a:xfrm>
          <a:prstGeom prst="rect">
            <a:avLst/>
          </a:prstGeom>
          <a:solidFill>
            <a:schemeClr val="bg1">
              <a:alpha val="50000"/>
            </a:schemeClr>
          </a:solidFill>
        </p:spPr>
        <p:txBody>
          <a:bodyPr wrap="none" lIns="0" tIns="36000" rIns="0" bIns="36000" rtlCol="0" anchor="ctr">
            <a:noAutofit/>
          </a:bodyPr>
          <a:lstStyle/>
          <a:p>
            <a:r>
              <a:rPr lang="ko-KR" altLang="en-US" sz="7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★ </a:t>
            </a:r>
            <a:r>
              <a:rPr lang="en-US" altLang="ko-KR" sz="7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4.8 </a:t>
            </a:r>
            <a:r>
              <a:rPr lang="en-US" altLang="ko-KR" sz="700" smtClean="0">
                <a:solidFill>
                  <a:schemeClr val="tx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(12)</a:t>
            </a:r>
            <a:endParaRPr lang="ko-KR" altLang="en-US" sz="700" smtClean="0">
              <a:solidFill>
                <a:schemeClr val="tx1">
                  <a:lumMod val="50000"/>
                  <a:lumOff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87" name="직사각형 286"/>
          <p:cNvSpPr/>
          <p:nvPr/>
        </p:nvSpPr>
        <p:spPr>
          <a:xfrm>
            <a:off x="7021179" y="3213986"/>
            <a:ext cx="108000" cy="1080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88" name="직사각형 287"/>
          <p:cNvSpPr/>
          <p:nvPr/>
        </p:nvSpPr>
        <p:spPr>
          <a:xfrm>
            <a:off x="7164547" y="3213986"/>
            <a:ext cx="108000" cy="108000"/>
          </a:xfrm>
          <a:prstGeom prst="rect">
            <a:avLst/>
          </a:prstGeom>
          <a:solidFill>
            <a:srgbClr val="C0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89" name="직사각형 288"/>
          <p:cNvSpPr/>
          <p:nvPr/>
        </p:nvSpPr>
        <p:spPr>
          <a:xfrm>
            <a:off x="7307915" y="3213986"/>
            <a:ext cx="108000" cy="108000"/>
          </a:xfrm>
          <a:prstGeom prst="rect">
            <a:avLst/>
          </a:prstGeom>
          <a:solidFill>
            <a:schemeClr val="accent5">
              <a:lumMod val="5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90" name="직사각형 289"/>
          <p:cNvSpPr/>
          <p:nvPr/>
        </p:nvSpPr>
        <p:spPr>
          <a:xfrm>
            <a:off x="7451283" y="3213986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91" name="직사각형 290"/>
          <p:cNvSpPr/>
          <p:nvPr/>
        </p:nvSpPr>
        <p:spPr>
          <a:xfrm>
            <a:off x="7594651" y="3213986"/>
            <a:ext cx="108000" cy="108000"/>
          </a:xfrm>
          <a:prstGeom prst="rect">
            <a:avLst/>
          </a:prstGeom>
          <a:solidFill>
            <a:schemeClr val="accent6">
              <a:lumMod val="5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292" name="그룹 291"/>
          <p:cNvGrpSpPr/>
          <p:nvPr/>
        </p:nvGrpSpPr>
        <p:grpSpPr>
          <a:xfrm>
            <a:off x="7021179" y="3365820"/>
            <a:ext cx="373641" cy="92333"/>
            <a:chOff x="4374463" y="3951036"/>
            <a:chExt cx="373641" cy="92333"/>
          </a:xfrm>
        </p:grpSpPr>
        <p:grpSp>
          <p:nvGrpSpPr>
            <p:cNvPr id="294" name="그룹 293"/>
            <p:cNvGrpSpPr/>
            <p:nvPr/>
          </p:nvGrpSpPr>
          <p:grpSpPr>
            <a:xfrm>
              <a:off x="4374463" y="3961202"/>
              <a:ext cx="126000" cy="72000"/>
              <a:chOff x="4549384" y="3972353"/>
              <a:chExt cx="180000" cy="108000"/>
            </a:xfrm>
          </p:grpSpPr>
          <p:sp>
            <p:nvSpPr>
              <p:cNvPr id="296" name="직사각형 295"/>
              <p:cNvSpPr/>
              <p:nvPr/>
            </p:nvSpPr>
            <p:spPr>
              <a:xfrm>
                <a:off x="4549384" y="3972353"/>
                <a:ext cx="35644" cy="108000"/>
              </a:xfrm>
              <a:prstGeom prst="rect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 w="31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80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  <p:sp>
            <p:nvSpPr>
              <p:cNvPr id="297" name="타원 296"/>
              <p:cNvSpPr/>
              <p:nvPr/>
            </p:nvSpPr>
            <p:spPr>
              <a:xfrm>
                <a:off x="4595721" y="4044353"/>
                <a:ext cx="35644" cy="36000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 w="31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80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  <p:sp>
            <p:nvSpPr>
              <p:cNvPr id="298" name="직사각형 297"/>
              <p:cNvSpPr/>
              <p:nvPr/>
            </p:nvSpPr>
            <p:spPr>
              <a:xfrm>
                <a:off x="4647404" y="3972353"/>
                <a:ext cx="35644" cy="108000"/>
              </a:xfrm>
              <a:prstGeom prst="rect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 w="31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80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  <p:sp>
            <p:nvSpPr>
              <p:cNvPr id="299" name="타원 298"/>
              <p:cNvSpPr/>
              <p:nvPr/>
            </p:nvSpPr>
            <p:spPr>
              <a:xfrm>
                <a:off x="4693740" y="3972353"/>
                <a:ext cx="35644" cy="36000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 w="31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80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  <p:sp>
            <p:nvSpPr>
              <p:cNvPr id="300" name="타원 299"/>
              <p:cNvSpPr/>
              <p:nvPr/>
            </p:nvSpPr>
            <p:spPr>
              <a:xfrm>
                <a:off x="4693740" y="4026353"/>
                <a:ext cx="35644" cy="36000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 w="31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80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</p:grpSp>
        <p:sp>
          <p:nvSpPr>
            <p:cNvPr id="295" name="TextBox 294"/>
            <p:cNvSpPr txBox="1"/>
            <p:nvPr/>
          </p:nvSpPr>
          <p:spPr>
            <a:xfrm>
              <a:off x="4517272" y="3951036"/>
              <a:ext cx="230832" cy="92333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r>
                <a:rPr lang="ko-KR" altLang="en-US" sz="600" smtClean="0">
                  <a:solidFill>
                    <a:srgbClr val="C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슝배송</a:t>
              </a:r>
              <a:endParaRPr lang="ko-KR" altLang="en-US" sz="60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sp>
        <p:nvSpPr>
          <p:cNvPr id="293" name="직사각형 292"/>
          <p:cNvSpPr/>
          <p:nvPr/>
        </p:nvSpPr>
        <p:spPr>
          <a:xfrm>
            <a:off x="7021179" y="3501986"/>
            <a:ext cx="360000" cy="108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5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마케팅뱃지</a:t>
            </a:r>
            <a:endParaRPr lang="ko-KR" altLang="en-US" sz="50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16" name="그룹 15"/>
          <p:cNvGrpSpPr/>
          <p:nvPr/>
        </p:nvGrpSpPr>
        <p:grpSpPr>
          <a:xfrm>
            <a:off x="5725179" y="6237544"/>
            <a:ext cx="949640" cy="108000"/>
            <a:chOff x="7021179" y="5710666"/>
            <a:chExt cx="949640" cy="108000"/>
          </a:xfrm>
        </p:grpSpPr>
        <p:sp>
          <p:nvSpPr>
            <p:cNvPr id="310" name="직사각형 309"/>
            <p:cNvSpPr/>
            <p:nvPr/>
          </p:nvSpPr>
          <p:spPr>
            <a:xfrm>
              <a:off x="7466819" y="5710666"/>
              <a:ext cx="504000" cy="108000"/>
            </a:xfrm>
            <a:prstGeom prst="rect">
              <a:avLst/>
            </a:prstGeom>
            <a:gradFill flip="none" rotWithShape="1">
              <a:gsLst>
                <a:gs pos="0">
                  <a:schemeClr val="accent5">
                    <a:lumMod val="75000"/>
                  </a:schemeClr>
                </a:gs>
                <a:gs pos="50000">
                  <a:schemeClr val="accent5"/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0" scaled="1"/>
              <a:tileRect/>
            </a:gra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500" smtClean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매장상품배송</a:t>
              </a:r>
              <a:endParaRPr lang="ko-KR" altLang="en-US" sz="50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grpSp>
          <p:nvGrpSpPr>
            <p:cNvPr id="311" name="그룹 310"/>
            <p:cNvGrpSpPr/>
            <p:nvPr/>
          </p:nvGrpSpPr>
          <p:grpSpPr>
            <a:xfrm>
              <a:off x="7021179" y="5718500"/>
              <a:ext cx="373641" cy="92333"/>
              <a:chOff x="4374463" y="3951036"/>
              <a:chExt cx="373641" cy="92333"/>
            </a:xfrm>
          </p:grpSpPr>
          <p:grpSp>
            <p:nvGrpSpPr>
              <p:cNvPr id="312" name="그룹 311"/>
              <p:cNvGrpSpPr/>
              <p:nvPr/>
            </p:nvGrpSpPr>
            <p:grpSpPr>
              <a:xfrm>
                <a:off x="4374463" y="3961202"/>
                <a:ext cx="126000" cy="72000"/>
                <a:chOff x="4549384" y="3972353"/>
                <a:chExt cx="180000" cy="108000"/>
              </a:xfrm>
            </p:grpSpPr>
            <p:sp>
              <p:nvSpPr>
                <p:cNvPr id="314" name="직사각형 313"/>
                <p:cNvSpPr/>
                <p:nvPr/>
              </p:nvSpPr>
              <p:spPr>
                <a:xfrm>
                  <a:off x="4549384" y="3972353"/>
                  <a:ext cx="35644" cy="108000"/>
                </a:xfrm>
                <a:prstGeom prst="rect">
                  <a:avLst/>
                </a:prstGeom>
                <a:solidFill>
                  <a:schemeClr val="tx1">
                    <a:lumMod val="75000"/>
                    <a:lumOff val="25000"/>
                  </a:schemeClr>
                </a:solidFill>
                <a:ln w="3175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endParaRPr>
                </a:p>
              </p:txBody>
            </p:sp>
            <p:sp>
              <p:nvSpPr>
                <p:cNvPr id="315" name="타원 314"/>
                <p:cNvSpPr/>
                <p:nvPr/>
              </p:nvSpPr>
              <p:spPr>
                <a:xfrm>
                  <a:off x="4595721" y="4044353"/>
                  <a:ext cx="35644" cy="36000"/>
                </a:xfrm>
                <a:prstGeom prst="ellipse">
                  <a:avLst/>
                </a:prstGeom>
                <a:solidFill>
                  <a:schemeClr val="tx1">
                    <a:lumMod val="75000"/>
                    <a:lumOff val="25000"/>
                  </a:schemeClr>
                </a:solidFill>
                <a:ln w="3175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endParaRPr>
                </a:p>
              </p:txBody>
            </p:sp>
            <p:sp>
              <p:nvSpPr>
                <p:cNvPr id="316" name="직사각형 315"/>
                <p:cNvSpPr/>
                <p:nvPr/>
              </p:nvSpPr>
              <p:spPr>
                <a:xfrm>
                  <a:off x="4647404" y="3972353"/>
                  <a:ext cx="35644" cy="108000"/>
                </a:xfrm>
                <a:prstGeom prst="rect">
                  <a:avLst/>
                </a:prstGeom>
                <a:solidFill>
                  <a:schemeClr val="tx1">
                    <a:lumMod val="75000"/>
                    <a:lumOff val="25000"/>
                  </a:schemeClr>
                </a:solidFill>
                <a:ln w="3175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endParaRPr>
                </a:p>
              </p:txBody>
            </p:sp>
            <p:sp>
              <p:nvSpPr>
                <p:cNvPr id="317" name="타원 316"/>
                <p:cNvSpPr/>
                <p:nvPr/>
              </p:nvSpPr>
              <p:spPr>
                <a:xfrm>
                  <a:off x="4693740" y="3972353"/>
                  <a:ext cx="35644" cy="36000"/>
                </a:xfrm>
                <a:prstGeom prst="ellipse">
                  <a:avLst/>
                </a:prstGeom>
                <a:solidFill>
                  <a:schemeClr val="tx1">
                    <a:lumMod val="75000"/>
                    <a:lumOff val="25000"/>
                  </a:schemeClr>
                </a:solidFill>
                <a:ln w="3175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endParaRPr>
                </a:p>
              </p:txBody>
            </p:sp>
            <p:sp>
              <p:nvSpPr>
                <p:cNvPr id="318" name="타원 317"/>
                <p:cNvSpPr/>
                <p:nvPr/>
              </p:nvSpPr>
              <p:spPr>
                <a:xfrm>
                  <a:off x="4693740" y="4026353"/>
                  <a:ext cx="35644" cy="36000"/>
                </a:xfrm>
                <a:prstGeom prst="ellipse">
                  <a:avLst/>
                </a:prstGeom>
                <a:solidFill>
                  <a:schemeClr val="tx1">
                    <a:lumMod val="75000"/>
                    <a:lumOff val="25000"/>
                  </a:schemeClr>
                </a:solidFill>
                <a:ln w="3175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endParaRPr>
                </a:p>
              </p:txBody>
            </p:sp>
          </p:grpSp>
          <p:sp>
            <p:nvSpPr>
              <p:cNvPr id="313" name="TextBox 312"/>
              <p:cNvSpPr txBox="1"/>
              <p:nvPr/>
            </p:nvSpPr>
            <p:spPr>
              <a:xfrm>
                <a:off x="4517272" y="3951036"/>
                <a:ext cx="230832" cy="92333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spAutoFit/>
              </a:bodyPr>
              <a:lstStyle/>
              <a:p>
                <a:r>
                  <a:rPr lang="ko-KR" altLang="en-US" sz="600" smtClean="0">
                    <a:solidFill>
                      <a:srgbClr val="C00000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슝배송</a:t>
                </a:r>
                <a:endParaRPr lang="ko-KR" altLang="en-US" sz="600" dirty="0">
                  <a:solidFill>
                    <a:srgbClr val="C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</p:grpSp>
      </p:grpSp>
      <p:sp>
        <p:nvSpPr>
          <p:cNvPr id="341" name="TextBox 340"/>
          <p:cNvSpPr txBox="1"/>
          <p:nvPr/>
        </p:nvSpPr>
        <p:spPr>
          <a:xfrm>
            <a:off x="7021179" y="5355329"/>
            <a:ext cx="1224000" cy="144000"/>
          </a:xfrm>
          <a:prstGeom prst="rect">
            <a:avLst/>
          </a:prstGeom>
          <a:solidFill>
            <a:schemeClr val="bg1">
              <a:alpha val="50000"/>
            </a:schemeClr>
          </a:solidFill>
        </p:spPr>
        <p:txBody>
          <a:bodyPr wrap="none" lIns="0" tIns="36000" rIns="0" bIns="36000" rtlCol="0" anchor="ctr">
            <a:noAutofit/>
          </a:bodyPr>
          <a:lstStyle/>
          <a:p>
            <a:r>
              <a:rPr lang="en-US" altLang="ko-KR" sz="700" b="1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BRAND</a:t>
            </a:r>
            <a:endParaRPr lang="ko-KR" altLang="en-US" sz="700" b="1" smtClean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42" name="TextBox 341"/>
          <p:cNvSpPr txBox="1"/>
          <p:nvPr/>
        </p:nvSpPr>
        <p:spPr>
          <a:xfrm>
            <a:off x="7021179" y="5499329"/>
            <a:ext cx="1224000" cy="144000"/>
          </a:xfrm>
          <a:prstGeom prst="rect">
            <a:avLst/>
          </a:prstGeom>
          <a:solidFill>
            <a:schemeClr val="bg1">
              <a:alpha val="50000"/>
            </a:schemeClr>
          </a:solidFill>
        </p:spPr>
        <p:txBody>
          <a:bodyPr wrap="none" lIns="0" tIns="36000" rIns="0" bIns="36000" rtlCol="0" anchor="ctr">
            <a:noAutofit/>
          </a:bodyPr>
          <a:lstStyle/>
          <a:p>
            <a:r>
              <a:rPr lang="en-US" altLang="ko-KR" sz="7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PRODUCT_NAME_ABCD</a:t>
            </a:r>
            <a:endParaRPr lang="ko-KR" altLang="en-US" sz="700" smtClean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43" name="TextBox 342"/>
          <p:cNvSpPr txBox="1"/>
          <p:nvPr/>
        </p:nvSpPr>
        <p:spPr>
          <a:xfrm>
            <a:off x="7021179" y="5643544"/>
            <a:ext cx="1224000" cy="144000"/>
          </a:xfrm>
          <a:prstGeom prst="rect">
            <a:avLst/>
          </a:prstGeom>
          <a:solidFill>
            <a:schemeClr val="bg1">
              <a:alpha val="50000"/>
            </a:schemeClr>
          </a:solidFill>
        </p:spPr>
        <p:txBody>
          <a:bodyPr wrap="none" lIns="0" tIns="36000" rIns="0" bIns="36000" rtlCol="0" anchor="ctr">
            <a:noAutofit/>
          </a:bodyPr>
          <a:lstStyle/>
          <a:p>
            <a:r>
              <a:rPr lang="en-US" altLang="ko-KR" sz="700" strike="sngStrike" smtClean="0">
                <a:solidFill>
                  <a:schemeClr val="bg1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123,000</a:t>
            </a:r>
            <a:endParaRPr lang="ko-KR" altLang="en-US" sz="700" strike="sngStrike" smtClean="0">
              <a:solidFill>
                <a:schemeClr val="bg1">
                  <a:lumMod val="7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44" name="TextBox 343"/>
          <p:cNvSpPr txBox="1"/>
          <p:nvPr/>
        </p:nvSpPr>
        <p:spPr>
          <a:xfrm>
            <a:off x="7021179" y="5787544"/>
            <a:ext cx="1224000" cy="144000"/>
          </a:xfrm>
          <a:prstGeom prst="rect">
            <a:avLst/>
          </a:prstGeom>
          <a:solidFill>
            <a:schemeClr val="bg1">
              <a:alpha val="50000"/>
            </a:schemeClr>
          </a:solidFill>
        </p:spPr>
        <p:txBody>
          <a:bodyPr wrap="none" lIns="0" tIns="36000" rIns="0" bIns="36000" rtlCol="0" anchor="ctr">
            <a:noAutofit/>
          </a:bodyPr>
          <a:lstStyle/>
          <a:p>
            <a:r>
              <a:rPr lang="en-US" altLang="ko-KR" sz="800" b="1" smtClean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10%</a:t>
            </a:r>
            <a:r>
              <a:rPr lang="en-US" altLang="ko-KR" sz="800" b="1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123,000</a:t>
            </a:r>
            <a:endParaRPr lang="ko-KR" altLang="en-US" sz="800" b="1" smtClean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45" name="TextBox 344"/>
          <p:cNvSpPr txBox="1"/>
          <p:nvPr/>
        </p:nvSpPr>
        <p:spPr>
          <a:xfrm>
            <a:off x="7021179" y="5931544"/>
            <a:ext cx="1224000" cy="144000"/>
          </a:xfrm>
          <a:prstGeom prst="rect">
            <a:avLst/>
          </a:prstGeom>
          <a:solidFill>
            <a:schemeClr val="bg1">
              <a:alpha val="50000"/>
            </a:schemeClr>
          </a:solidFill>
        </p:spPr>
        <p:txBody>
          <a:bodyPr wrap="none" lIns="0" tIns="36000" rIns="0" bIns="36000" rtlCol="0" anchor="ctr">
            <a:noAutofit/>
          </a:bodyPr>
          <a:lstStyle/>
          <a:p>
            <a:r>
              <a:rPr lang="ko-KR" altLang="en-US" sz="7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★ </a:t>
            </a:r>
            <a:r>
              <a:rPr lang="en-US" altLang="ko-KR" sz="7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4.8 </a:t>
            </a:r>
            <a:r>
              <a:rPr lang="en-US" altLang="ko-KR" sz="700" smtClean="0">
                <a:solidFill>
                  <a:schemeClr val="tx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(12)</a:t>
            </a:r>
            <a:endParaRPr lang="ko-KR" altLang="en-US" sz="700" smtClean="0">
              <a:solidFill>
                <a:schemeClr val="tx1">
                  <a:lumMod val="50000"/>
                  <a:lumOff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46" name="직사각형 345"/>
          <p:cNvSpPr/>
          <p:nvPr/>
        </p:nvSpPr>
        <p:spPr>
          <a:xfrm>
            <a:off x="7021179" y="6093544"/>
            <a:ext cx="108000" cy="1080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47" name="직사각형 346"/>
          <p:cNvSpPr/>
          <p:nvPr/>
        </p:nvSpPr>
        <p:spPr>
          <a:xfrm>
            <a:off x="7164547" y="6093544"/>
            <a:ext cx="108000" cy="108000"/>
          </a:xfrm>
          <a:prstGeom prst="rect">
            <a:avLst/>
          </a:prstGeom>
          <a:solidFill>
            <a:srgbClr val="C0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48" name="직사각형 347"/>
          <p:cNvSpPr/>
          <p:nvPr/>
        </p:nvSpPr>
        <p:spPr>
          <a:xfrm>
            <a:off x="7307915" y="6093544"/>
            <a:ext cx="108000" cy="108000"/>
          </a:xfrm>
          <a:prstGeom prst="rect">
            <a:avLst/>
          </a:prstGeom>
          <a:solidFill>
            <a:schemeClr val="accent5">
              <a:lumMod val="5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49" name="직사각형 348"/>
          <p:cNvSpPr/>
          <p:nvPr/>
        </p:nvSpPr>
        <p:spPr>
          <a:xfrm>
            <a:off x="7451283" y="6093544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50" name="직사각형 349"/>
          <p:cNvSpPr/>
          <p:nvPr/>
        </p:nvSpPr>
        <p:spPr>
          <a:xfrm>
            <a:off x="7594651" y="6093544"/>
            <a:ext cx="108000" cy="108000"/>
          </a:xfrm>
          <a:prstGeom prst="rect">
            <a:avLst/>
          </a:prstGeom>
          <a:solidFill>
            <a:schemeClr val="accent6">
              <a:lumMod val="5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51" name="직사각형 350"/>
          <p:cNvSpPr/>
          <p:nvPr/>
        </p:nvSpPr>
        <p:spPr>
          <a:xfrm>
            <a:off x="7021179" y="6381544"/>
            <a:ext cx="360000" cy="108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5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마케팅뱃지</a:t>
            </a:r>
            <a:endParaRPr lang="ko-KR" altLang="en-US" sz="50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53" name="직사각형 352"/>
          <p:cNvSpPr/>
          <p:nvPr/>
        </p:nvSpPr>
        <p:spPr>
          <a:xfrm>
            <a:off x="7021179" y="6237544"/>
            <a:ext cx="504000" cy="108000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75000"/>
                </a:schemeClr>
              </a:gs>
              <a:gs pos="50000">
                <a:schemeClr val="accent5"/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0" scaled="1"/>
            <a:tileRect/>
          </a:gra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50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매장상품배송</a:t>
            </a:r>
            <a:endParaRPr lang="ko-KR" altLang="en-US" sz="50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62" name="직사각형 361"/>
          <p:cNvSpPr/>
          <p:nvPr/>
        </p:nvSpPr>
        <p:spPr>
          <a:xfrm>
            <a:off x="8965179" y="891379"/>
            <a:ext cx="1224000" cy="1511623"/>
          </a:xfrm>
          <a:prstGeom prst="rect">
            <a:avLst/>
          </a:prstGeom>
          <a:solidFill>
            <a:schemeClr val="tx1">
              <a:lumMod val="75000"/>
              <a:lumOff val="25000"/>
              <a:alpha val="5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일시품절</a:t>
            </a:r>
            <a:endParaRPr lang="ko-KR" altLang="en-US" sz="80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53" name="모서리가 둥근 직사각형 252"/>
          <p:cNvSpPr/>
          <p:nvPr/>
        </p:nvSpPr>
        <p:spPr>
          <a:xfrm>
            <a:off x="8891906" y="818783"/>
            <a:ext cx="504000" cy="288000"/>
          </a:xfrm>
          <a:prstGeom prst="roundRect">
            <a:avLst/>
          </a:prstGeom>
          <a:solidFill>
            <a:schemeClr val="accent2">
              <a:lumMod val="7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800" b="1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CASE 5</a:t>
            </a:r>
            <a:endParaRPr lang="ko-KR" altLang="en-US" sz="800" b="1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18" name="그룹 17"/>
          <p:cNvGrpSpPr/>
          <p:nvPr/>
        </p:nvGrpSpPr>
        <p:grpSpPr>
          <a:xfrm>
            <a:off x="10261179" y="3213986"/>
            <a:ext cx="681472" cy="108000"/>
            <a:chOff x="10458699" y="3213986"/>
            <a:chExt cx="681472" cy="108000"/>
          </a:xfrm>
        </p:grpSpPr>
        <p:sp>
          <p:nvSpPr>
            <p:cNvPr id="363" name="직사각형 362"/>
            <p:cNvSpPr/>
            <p:nvPr/>
          </p:nvSpPr>
          <p:spPr>
            <a:xfrm>
              <a:off x="10458699" y="3213986"/>
              <a:ext cx="108000" cy="108000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8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364" name="직사각형 363"/>
            <p:cNvSpPr/>
            <p:nvPr/>
          </p:nvSpPr>
          <p:spPr>
            <a:xfrm>
              <a:off x="10602067" y="3213986"/>
              <a:ext cx="108000" cy="108000"/>
            </a:xfrm>
            <a:prstGeom prst="rect">
              <a:avLst/>
            </a:prstGeom>
            <a:solidFill>
              <a:srgbClr val="C00000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8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365" name="직사각형 364"/>
            <p:cNvSpPr/>
            <p:nvPr/>
          </p:nvSpPr>
          <p:spPr>
            <a:xfrm>
              <a:off x="10745435" y="3213986"/>
              <a:ext cx="108000" cy="108000"/>
            </a:xfrm>
            <a:prstGeom prst="rect">
              <a:avLst/>
            </a:prstGeom>
            <a:solidFill>
              <a:schemeClr val="accent5">
                <a:lumMod val="50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8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366" name="직사각형 365"/>
            <p:cNvSpPr/>
            <p:nvPr/>
          </p:nvSpPr>
          <p:spPr>
            <a:xfrm>
              <a:off x="10888803" y="3213986"/>
              <a:ext cx="108000" cy="10800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8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367" name="직사각형 366"/>
            <p:cNvSpPr/>
            <p:nvPr/>
          </p:nvSpPr>
          <p:spPr>
            <a:xfrm>
              <a:off x="11032171" y="3213986"/>
              <a:ext cx="108000" cy="108000"/>
            </a:xfrm>
            <a:prstGeom prst="rect">
              <a:avLst/>
            </a:prstGeom>
            <a:solidFill>
              <a:schemeClr val="accent6">
                <a:lumMod val="50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8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pic>
        <p:nvPicPr>
          <p:cNvPr id="368" name="Picture 4" descr="https://nimg.lfmall.co.kr/file/product/prd/HZ/2025/375/HZJU5C302W2_00.jpg"/>
          <p:cNvPicPr>
            <a:picLocks noChangeAspect="1" noChangeArrowheads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965"/>
          <a:stretch/>
        </p:blipFill>
        <p:spPr bwMode="auto">
          <a:xfrm>
            <a:off x="8965180" y="3770937"/>
            <a:ext cx="1224000" cy="15116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69" name="Picture 8" descr="https://nimg.lfmall.co.kr/file/product/prd/TN/2025/375/TNJU5F201I2_00.jpg"/>
          <p:cNvPicPr>
            <a:picLocks noChangeAspect="1" noChangeArrowheads="1"/>
          </p:cNvPicPr>
          <p:nvPr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965"/>
          <a:stretch/>
        </p:blipFill>
        <p:spPr bwMode="auto">
          <a:xfrm>
            <a:off x="10261179" y="3770937"/>
            <a:ext cx="1224000" cy="15116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370" name="그룹 369"/>
          <p:cNvGrpSpPr/>
          <p:nvPr/>
        </p:nvGrpSpPr>
        <p:grpSpPr>
          <a:xfrm>
            <a:off x="8783906" y="6164902"/>
            <a:ext cx="2880000" cy="108000"/>
            <a:chOff x="1367906" y="5198893"/>
            <a:chExt cx="7992000" cy="108000"/>
          </a:xfrm>
        </p:grpSpPr>
        <p:sp>
          <p:nvSpPr>
            <p:cNvPr id="371" name="Fill">
              <a:extLst>
                <a:ext uri="{FF2B5EF4-FFF2-40B4-BE49-F238E27FC236}">
                  <a16:creationId xmlns="" xmlns:a16="http://schemas.microsoft.com/office/drawing/2014/main" id="{037FE56A-459C-4D17-A0B7-95ABD183D048}"/>
                </a:ext>
              </a:extLst>
            </p:cNvPr>
            <p:cNvSpPr>
              <a:spLocks/>
            </p:cNvSpPr>
            <p:nvPr/>
          </p:nvSpPr>
          <p:spPr bwMode="auto">
            <a:xfrm rot="16200000">
              <a:off x="5309906" y="1256893"/>
              <a:ext cx="108000" cy="7992000"/>
            </a:xfrm>
            <a:custGeom>
              <a:avLst/>
              <a:gdLst>
                <a:gd name="T0" fmla="*/ 74 w 151"/>
                <a:gd name="T1" fmla="*/ 588 h 588"/>
                <a:gd name="T2" fmla="*/ 151 w 151"/>
                <a:gd name="T3" fmla="*/ 518 h 588"/>
                <a:gd name="T4" fmla="*/ 74 w 151"/>
                <a:gd name="T5" fmla="*/ 441 h 588"/>
                <a:gd name="T6" fmla="*/ 151 w 151"/>
                <a:gd name="T7" fmla="*/ 375 h 588"/>
                <a:gd name="T8" fmla="*/ 74 w 151"/>
                <a:gd name="T9" fmla="*/ 294 h 588"/>
                <a:gd name="T10" fmla="*/ 151 w 151"/>
                <a:gd name="T11" fmla="*/ 231 h 588"/>
                <a:gd name="T12" fmla="*/ 74 w 151"/>
                <a:gd name="T13" fmla="*/ 147 h 588"/>
                <a:gd name="T14" fmla="*/ 151 w 151"/>
                <a:gd name="T15" fmla="*/ 88 h 588"/>
                <a:gd name="T16" fmla="*/ 74 w 151"/>
                <a:gd name="T17" fmla="*/ 0 h 588"/>
                <a:gd name="T18" fmla="*/ 0 w 151"/>
                <a:gd name="T19" fmla="*/ 0 h 588"/>
                <a:gd name="T20" fmla="*/ 78 w 151"/>
                <a:gd name="T21" fmla="*/ 88 h 588"/>
                <a:gd name="T22" fmla="*/ 0 w 151"/>
                <a:gd name="T23" fmla="*/ 147 h 588"/>
                <a:gd name="T24" fmla="*/ 78 w 151"/>
                <a:gd name="T25" fmla="*/ 231 h 588"/>
                <a:gd name="T26" fmla="*/ 0 w 151"/>
                <a:gd name="T27" fmla="*/ 294 h 588"/>
                <a:gd name="T28" fmla="*/ 78 w 151"/>
                <a:gd name="T29" fmla="*/ 375 h 588"/>
                <a:gd name="T30" fmla="*/ 0 w 151"/>
                <a:gd name="T31" fmla="*/ 441 h 588"/>
                <a:gd name="T32" fmla="*/ 78 w 151"/>
                <a:gd name="T33" fmla="*/ 518 h 588"/>
                <a:gd name="T34" fmla="*/ 0 w 151"/>
                <a:gd name="T35" fmla="*/ 588 h 588"/>
                <a:gd name="T36" fmla="*/ 74 w 151"/>
                <a:gd name="T37" fmla="*/ 588 h 5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51" h="588">
                  <a:moveTo>
                    <a:pt x="74" y="588"/>
                  </a:moveTo>
                  <a:lnTo>
                    <a:pt x="151" y="518"/>
                  </a:lnTo>
                  <a:lnTo>
                    <a:pt x="74" y="441"/>
                  </a:lnTo>
                  <a:lnTo>
                    <a:pt x="151" y="375"/>
                  </a:lnTo>
                  <a:lnTo>
                    <a:pt x="74" y="294"/>
                  </a:lnTo>
                  <a:lnTo>
                    <a:pt x="151" y="231"/>
                  </a:lnTo>
                  <a:lnTo>
                    <a:pt x="74" y="147"/>
                  </a:lnTo>
                  <a:lnTo>
                    <a:pt x="151" y="88"/>
                  </a:lnTo>
                  <a:lnTo>
                    <a:pt x="74" y="0"/>
                  </a:lnTo>
                  <a:lnTo>
                    <a:pt x="0" y="0"/>
                  </a:lnTo>
                  <a:lnTo>
                    <a:pt x="78" y="88"/>
                  </a:lnTo>
                  <a:lnTo>
                    <a:pt x="0" y="147"/>
                  </a:lnTo>
                  <a:lnTo>
                    <a:pt x="78" y="231"/>
                  </a:lnTo>
                  <a:lnTo>
                    <a:pt x="0" y="294"/>
                  </a:lnTo>
                  <a:lnTo>
                    <a:pt x="78" y="375"/>
                  </a:lnTo>
                  <a:lnTo>
                    <a:pt x="0" y="441"/>
                  </a:lnTo>
                  <a:lnTo>
                    <a:pt x="78" y="518"/>
                  </a:lnTo>
                  <a:lnTo>
                    <a:pt x="0" y="588"/>
                  </a:lnTo>
                  <a:lnTo>
                    <a:pt x="74" y="588"/>
                  </a:lnTo>
                  <a:close/>
                </a:path>
              </a:pathLst>
            </a:custGeom>
            <a:solidFill>
              <a:srgbClr val="F79646">
                <a:lumMod val="20000"/>
                <a:lumOff val="80000"/>
              </a:srgbClr>
            </a:solidFill>
            <a:ln w="6350" cap="flat" cmpd="sng" algn="ctr">
              <a:solidFill>
                <a:srgbClr val="F79646">
                  <a:lumMod val="60000"/>
                  <a:lumOff val="40000"/>
                </a:srgbClr>
              </a:solidFill>
              <a:prstDash val="solid"/>
            </a:ln>
            <a:effectLst/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Segoe UI" panose="020B0502040204020203" pitchFamily="34" charset="0"/>
                <a:ea typeface="맑은 고딕"/>
                <a:cs typeface="Segoe UI" panose="020B0502040204020203" pitchFamily="34" charset="0"/>
              </a:endParaRPr>
            </a:p>
          </p:txBody>
        </p:sp>
        <p:sp>
          <p:nvSpPr>
            <p:cNvPr id="372" name="Border">
              <a:extLst>
                <a:ext uri="{FF2B5EF4-FFF2-40B4-BE49-F238E27FC236}">
                  <a16:creationId xmlns="" xmlns:a16="http://schemas.microsoft.com/office/drawing/2014/main" id="{3C344D81-4CE5-4D66-9FA5-12D6AFF14483}"/>
                </a:ext>
              </a:extLst>
            </p:cNvPr>
            <p:cNvSpPr>
              <a:spLocks noEditPoints="1"/>
            </p:cNvSpPr>
            <p:nvPr/>
          </p:nvSpPr>
          <p:spPr bwMode="auto">
            <a:xfrm rot="16200000">
              <a:off x="5309906" y="1256893"/>
              <a:ext cx="108000" cy="7992000"/>
            </a:xfrm>
            <a:custGeom>
              <a:avLst/>
              <a:gdLst>
                <a:gd name="T0" fmla="*/ 0 w 909"/>
                <a:gd name="T1" fmla="*/ 0 h 3585"/>
                <a:gd name="T2" fmla="*/ 467 w 909"/>
                <a:gd name="T3" fmla="*/ 535 h 3585"/>
                <a:gd name="T4" fmla="*/ 0 w 909"/>
                <a:gd name="T5" fmla="*/ 896 h 3585"/>
                <a:gd name="T6" fmla="*/ 467 w 909"/>
                <a:gd name="T7" fmla="*/ 1409 h 3585"/>
                <a:gd name="T8" fmla="*/ 0 w 909"/>
                <a:gd name="T9" fmla="*/ 1793 h 3585"/>
                <a:gd name="T10" fmla="*/ 467 w 909"/>
                <a:gd name="T11" fmla="*/ 2284 h 3585"/>
                <a:gd name="T12" fmla="*/ 0 w 909"/>
                <a:gd name="T13" fmla="*/ 2689 h 3585"/>
                <a:gd name="T14" fmla="*/ 467 w 909"/>
                <a:gd name="T15" fmla="*/ 3158 h 3585"/>
                <a:gd name="T16" fmla="*/ 0 w 909"/>
                <a:gd name="T17" fmla="*/ 3585 h 3585"/>
                <a:gd name="T18" fmla="*/ 442 w 909"/>
                <a:gd name="T19" fmla="*/ 3585 h 3585"/>
                <a:gd name="T20" fmla="*/ 909 w 909"/>
                <a:gd name="T21" fmla="*/ 3158 h 3585"/>
                <a:gd name="T22" fmla="*/ 442 w 909"/>
                <a:gd name="T23" fmla="*/ 2689 h 3585"/>
                <a:gd name="T24" fmla="*/ 909 w 909"/>
                <a:gd name="T25" fmla="*/ 2284 h 3585"/>
                <a:gd name="T26" fmla="*/ 442 w 909"/>
                <a:gd name="T27" fmla="*/ 1793 h 3585"/>
                <a:gd name="T28" fmla="*/ 909 w 909"/>
                <a:gd name="T29" fmla="*/ 1409 h 3585"/>
                <a:gd name="T30" fmla="*/ 442 w 909"/>
                <a:gd name="T31" fmla="*/ 896 h 3585"/>
                <a:gd name="T32" fmla="*/ 909 w 909"/>
                <a:gd name="T33" fmla="*/ 535 h 3585"/>
                <a:gd name="T34" fmla="*/ 442 w 909"/>
                <a:gd name="T35" fmla="*/ 0 h 35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909" h="3585">
                  <a:moveTo>
                    <a:pt x="0" y="0"/>
                  </a:moveTo>
                  <a:lnTo>
                    <a:pt x="467" y="535"/>
                  </a:lnTo>
                  <a:lnTo>
                    <a:pt x="0" y="896"/>
                  </a:lnTo>
                  <a:lnTo>
                    <a:pt x="467" y="1409"/>
                  </a:lnTo>
                  <a:lnTo>
                    <a:pt x="0" y="1793"/>
                  </a:lnTo>
                  <a:lnTo>
                    <a:pt x="467" y="2284"/>
                  </a:lnTo>
                  <a:lnTo>
                    <a:pt x="0" y="2689"/>
                  </a:lnTo>
                  <a:lnTo>
                    <a:pt x="467" y="3158"/>
                  </a:lnTo>
                  <a:lnTo>
                    <a:pt x="0" y="3585"/>
                  </a:lnTo>
                  <a:moveTo>
                    <a:pt x="442" y="3585"/>
                  </a:moveTo>
                  <a:lnTo>
                    <a:pt x="909" y="3158"/>
                  </a:lnTo>
                  <a:lnTo>
                    <a:pt x="442" y="2689"/>
                  </a:lnTo>
                  <a:lnTo>
                    <a:pt x="909" y="2284"/>
                  </a:lnTo>
                  <a:lnTo>
                    <a:pt x="442" y="1793"/>
                  </a:lnTo>
                  <a:lnTo>
                    <a:pt x="909" y="1409"/>
                  </a:lnTo>
                  <a:lnTo>
                    <a:pt x="442" y="896"/>
                  </a:lnTo>
                  <a:lnTo>
                    <a:pt x="909" y="535"/>
                  </a:lnTo>
                  <a:lnTo>
                    <a:pt x="442" y="0"/>
                  </a:lnTo>
                </a:path>
              </a:pathLst>
            </a:custGeom>
            <a:noFill/>
            <a:ln w="6350" cap="flat" cmpd="sng" algn="ctr">
              <a:solidFill>
                <a:srgbClr val="F79646">
                  <a:lumMod val="60000"/>
                  <a:lumOff val="40000"/>
                </a:srgbClr>
              </a:solidFill>
              <a:prstDash val="solid"/>
            </a:ln>
            <a:effectLst/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Segoe UI" panose="020B0502040204020203" pitchFamily="34" charset="0"/>
                <a:ea typeface="맑은 고딕"/>
                <a:cs typeface="Segoe UI" panose="020B0502040204020203" pitchFamily="34" charset="0"/>
              </a:endParaRPr>
            </a:p>
          </p:txBody>
        </p:sp>
      </p:grpSp>
      <p:sp>
        <p:nvSpPr>
          <p:cNvPr id="142" name="직사각형 141"/>
          <p:cNvSpPr/>
          <p:nvPr/>
        </p:nvSpPr>
        <p:spPr>
          <a:xfrm>
            <a:off x="143906" y="575999"/>
            <a:ext cx="11880000" cy="5832024"/>
          </a:xfrm>
          <a:prstGeom prst="rect">
            <a:avLst/>
          </a:prstGeom>
          <a:solidFill>
            <a:schemeClr val="tx1">
              <a:lumMod val="75000"/>
              <a:lumOff val="25000"/>
              <a:alpha val="70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>
                <a:solidFill>
                  <a:schemeClr val="bg1"/>
                </a:solidFill>
                <a:latin typeface="맑은 고딕" panose="020B0503020000020004" pitchFamily="50" charset="-127"/>
              </a:rPr>
              <a:t>Out of Scope</a:t>
            </a:r>
            <a:endParaRPr lang="ko-KR" altLang="en-US" b="1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4711331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82" name="그룹 681"/>
          <p:cNvGrpSpPr/>
          <p:nvPr/>
        </p:nvGrpSpPr>
        <p:grpSpPr>
          <a:xfrm>
            <a:off x="8784086" y="709700"/>
            <a:ext cx="2880509" cy="5688023"/>
            <a:chOff x="4824187" y="709700"/>
            <a:chExt cx="2880509" cy="5688023"/>
          </a:xfrm>
        </p:grpSpPr>
        <p:grpSp>
          <p:nvGrpSpPr>
            <p:cNvPr id="683" name="그룹 682"/>
            <p:cNvGrpSpPr/>
            <p:nvPr/>
          </p:nvGrpSpPr>
          <p:grpSpPr>
            <a:xfrm>
              <a:off x="4824187" y="709700"/>
              <a:ext cx="2880000" cy="5687074"/>
              <a:chOff x="4824187" y="709700"/>
              <a:chExt cx="2880000" cy="5687074"/>
            </a:xfrm>
          </p:grpSpPr>
          <p:sp>
            <p:nvSpPr>
              <p:cNvPr id="732" name="TextBox 731">
                <a:extLst>
                  <a:ext uri="{FF2B5EF4-FFF2-40B4-BE49-F238E27FC236}">
                    <a16:creationId xmlns="" xmlns:a16="http://schemas.microsoft.com/office/drawing/2014/main" id="{0C96C875-C47F-4F5B-B4C1-F9D666A7BD9D}"/>
                  </a:ext>
                </a:extLst>
              </p:cNvPr>
              <p:cNvSpPr txBox="1"/>
              <p:nvPr/>
            </p:nvSpPr>
            <p:spPr>
              <a:xfrm>
                <a:off x="4968163" y="1086156"/>
                <a:ext cx="463836" cy="180425"/>
              </a:xfrm>
              <a:prstGeom prst="rect">
                <a:avLst/>
              </a:prstGeom>
              <a:noFill/>
              <a:ln w="3175" cap="flat" cmpd="sng" algn="ctr">
                <a:noFill/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txBody>
              <a:bodyPr vert="horz" wrap="none" lIns="36000" tIns="36000" rIns="36000" bIns="36000" numCol="1" rtlCol="0" anchor="ctr" anchorCtr="0" compatLnSpc="1">
                <a:prstTxWarp prst="textNoShape">
                  <a:avLst/>
                </a:prstTxWarp>
                <a:spAutoFit/>
              </a:bodyPr>
              <a:lstStyle/>
              <a:p>
                <a:r>
                  <a:rPr lang="ko-KR" altLang="en-US" sz="700" b="1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맑은 고딕" panose="020B0503020000020004" pitchFamily="50" charset="-127"/>
                  </a:rPr>
                  <a:t>컬러</a:t>
                </a:r>
                <a:r>
                  <a:rPr lang="ko-KR" altLang="en-US" sz="700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맑은 고딕" panose="020B0503020000020004" pitchFamily="50" charset="-127"/>
                  </a:rPr>
                  <a:t> 블랙</a:t>
                </a:r>
                <a:endParaRPr lang="ko-KR" altLang="en-US" sz="7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endParaRPr>
              </a:p>
            </p:txBody>
          </p:sp>
          <p:cxnSp>
            <p:nvCxnSpPr>
              <p:cNvPr id="733" name="직선 연결선 732"/>
              <p:cNvCxnSpPr/>
              <p:nvPr/>
            </p:nvCxnSpPr>
            <p:spPr>
              <a:xfrm>
                <a:off x="4968163" y="709700"/>
                <a:ext cx="2591578" cy="0"/>
              </a:xfrm>
              <a:prstGeom prst="line">
                <a:avLst/>
              </a:prstGeom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34" name="TextBox 733">
                <a:extLst>
                  <a:ext uri="{FF2B5EF4-FFF2-40B4-BE49-F238E27FC236}">
                    <a16:creationId xmlns="" xmlns:a16="http://schemas.microsoft.com/office/drawing/2014/main" id="{0C96C875-C47F-4F5B-B4C1-F9D666A7BD9D}"/>
                  </a:ext>
                </a:extLst>
              </p:cNvPr>
              <p:cNvSpPr txBox="1"/>
              <p:nvPr/>
            </p:nvSpPr>
            <p:spPr>
              <a:xfrm>
                <a:off x="4968164" y="791898"/>
                <a:ext cx="519941" cy="195814"/>
              </a:xfrm>
              <a:prstGeom prst="rect">
                <a:avLst/>
              </a:prstGeom>
              <a:noFill/>
              <a:ln w="3175" cap="flat" cmpd="sng" algn="ctr">
                <a:noFill/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txBody>
              <a:bodyPr vert="horz" wrap="none" lIns="36000" tIns="36000" rIns="36000" bIns="36000" numCol="1" rtlCol="0" anchor="ctr" anchorCtr="0" compatLnSpc="1">
                <a:prstTxWarp prst="textNoShape">
                  <a:avLst/>
                </a:prstTxWarp>
                <a:spAutoFit/>
              </a:bodyPr>
              <a:lstStyle/>
              <a:p>
                <a:r>
                  <a:rPr lang="ko-KR" altLang="en-US" sz="800" b="1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맑은 고딕" panose="020B0503020000020004" pitchFamily="50" charset="-127"/>
                  </a:rPr>
                  <a:t>옵션 선택</a:t>
                </a:r>
                <a:endParaRPr lang="en-US" altLang="ko-KR" sz="800" b="1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endParaRPr>
              </a:p>
            </p:txBody>
          </p:sp>
          <p:sp>
            <p:nvSpPr>
              <p:cNvPr id="735" name="모서리가 둥근 직사각형 734"/>
              <p:cNvSpPr/>
              <p:nvPr/>
            </p:nvSpPr>
            <p:spPr>
              <a:xfrm>
                <a:off x="4968163" y="1285766"/>
                <a:ext cx="432000" cy="539912"/>
              </a:xfrm>
              <a:prstGeom prst="roundRect">
                <a:avLst>
                  <a:gd name="adj" fmla="val 11375"/>
                </a:avLst>
              </a:prstGeom>
              <a:pattFill prst="openDmnd">
                <a:fgClr>
                  <a:schemeClr val="bg1">
                    <a:lumMod val="85000"/>
                  </a:schemeClr>
                </a:fgClr>
                <a:bgClr>
                  <a:schemeClr val="bg1"/>
                </a:bgClr>
              </a:pattFill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ko-KR" sz="600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맑은 고딕" panose="020B0503020000020004" pitchFamily="50" charset="-127"/>
                  </a:rPr>
                  <a:t>PROD</a:t>
                </a:r>
              </a:p>
              <a:p>
                <a:pPr algn="ctr"/>
                <a:r>
                  <a:rPr lang="en-US" altLang="ko-KR" sz="600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맑은 고딕" panose="020B0503020000020004" pitchFamily="50" charset="-127"/>
                  </a:rPr>
                  <a:t>IMG</a:t>
                </a:r>
                <a:endParaRPr lang="ko-KR" altLang="en-US" sz="60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endParaRPr>
              </a:p>
            </p:txBody>
          </p:sp>
          <p:sp>
            <p:nvSpPr>
              <p:cNvPr id="736" name="모서리가 둥근 직사각형 735"/>
              <p:cNvSpPr/>
              <p:nvPr/>
            </p:nvSpPr>
            <p:spPr>
              <a:xfrm>
                <a:off x="5472584" y="1285766"/>
                <a:ext cx="432000" cy="539912"/>
              </a:xfrm>
              <a:prstGeom prst="roundRect">
                <a:avLst>
                  <a:gd name="adj" fmla="val 11375"/>
                </a:avLst>
              </a:prstGeom>
              <a:pattFill prst="openDmnd">
                <a:fgClr>
                  <a:schemeClr val="bg1">
                    <a:lumMod val="85000"/>
                  </a:schemeClr>
                </a:fgClr>
                <a:bgClr>
                  <a:schemeClr val="bg1"/>
                </a:bgClr>
              </a:pattFill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ko-KR" sz="600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맑은 고딕" panose="020B0503020000020004" pitchFamily="50" charset="-127"/>
                  </a:rPr>
                  <a:t>PROD</a:t>
                </a:r>
              </a:p>
              <a:p>
                <a:pPr algn="ctr"/>
                <a:r>
                  <a:rPr lang="en-US" altLang="ko-KR" sz="600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맑은 고딕" panose="020B0503020000020004" pitchFamily="50" charset="-127"/>
                  </a:rPr>
                  <a:t>IMG</a:t>
                </a:r>
                <a:endParaRPr lang="ko-KR" altLang="en-US" sz="60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endParaRPr>
              </a:p>
            </p:txBody>
          </p:sp>
          <p:sp>
            <p:nvSpPr>
              <p:cNvPr id="737" name="TextBox 736">
                <a:extLst>
                  <a:ext uri="{FF2B5EF4-FFF2-40B4-BE49-F238E27FC236}">
                    <a16:creationId xmlns="" xmlns:a16="http://schemas.microsoft.com/office/drawing/2014/main" id="{0C96C875-C47F-4F5B-B4C1-F9D666A7BD9D}"/>
                  </a:ext>
                </a:extLst>
              </p:cNvPr>
              <p:cNvSpPr txBox="1"/>
              <p:nvPr/>
            </p:nvSpPr>
            <p:spPr>
              <a:xfrm>
                <a:off x="4968163" y="1915377"/>
                <a:ext cx="342008" cy="180425"/>
              </a:xfrm>
              <a:prstGeom prst="rect">
                <a:avLst/>
              </a:prstGeom>
              <a:noFill/>
              <a:ln w="3175" cap="flat" cmpd="sng" algn="ctr">
                <a:noFill/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txBody>
              <a:bodyPr vert="horz" wrap="none" lIns="36000" tIns="36000" rIns="36000" bIns="36000" numCol="1" rtlCol="0" anchor="ctr" anchorCtr="0" compatLnSpc="1">
                <a:prstTxWarp prst="textNoShape">
                  <a:avLst/>
                </a:prstTxWarp>
                <a:spAutoFit/>
              </a:bodyPr>
              <a:lstStyle/>
              <a:p>
                <a:r>
                  <a:rPr lang="ko-KR" altLang="en-US" sz="700" b="1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맑은 고딕" panose="020B0503020000020004" pitchFamily="50" charset="-127"/>
                  </a:rPr>
                  <a:t>사이즈</a:t>
                </a:r>
                <a:endParaRPr lang="ko-KR" altLang="en-US" sz="7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endParaRPr>
              </a:p>
            </p:txBody>
          </p:sp>
          <p:sp>
            <p:nvSpPr>
              <p:cNvPr id="738" name="모서리가 둥근 직사각형 737"/>
              <p:cNvSpPr/>
              <p:nvPr/>
            </p:nvSpPr>
            <p:spPr>
              <a:xfrm>
                <a:off x="4968163" y="2114511"/>
                <a:ext cx="359942" cy="288000"/>
              </a:xfrm>
              <a:prstGeom prst="roundRect">
                <a:avLst>
                  <a:gd name="adj" fmla="val 11375"/>
                </a:avLst>
              </a:prstGeom>
              <a:solidFill>
                <a:schemeClr val="bg1"/>
              </a:solidFill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ko-KR" sz="800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맑은 고딕" panose="020B0503020000020004" pitchFamily="50" charset="-127"/>
                  </a:rPr>
                  <a:t>95</a:t>
                </a:r>
                <a:endParaRPr lang="ko-KR" altLang="en-US" sz="80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endParaRPr>
              </a:p>
            </p:txBody>
          </p:sp>
          <p:sp>
            <p:nvSpPr>
              <p:cNvPr id="739" name="모서리가 둥근 직사각형 738"/>
              <p:cNvSpPr/>
              <p:nvPr/>
            </p:nvSpPr>
            <p:spPr>
              <a:xfrm>
                <a:off x="5401029" y="2114511"/>
                <a:ext cx="359942" cy="288000"/>
              </a:xfrm>
              <a:prstGeom prst="roundRect">
                <a:avLst>
                  <a:gd name="adj" fmla="val 11375"/>
                </a:avLst>
              </a:prstGeom>
              <a:solidFill>
                <a:schemeClr val="bg1"/>
              </a:solidFill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ko-KR" sz="8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맑은 고딕" panose="020B0503020000020004" pitchFamily="50" charset="-127"/>
                  </a:rPr>
                  <a:t>100</a:t>
                </a:r>
                <a:endParaRPr lang="ko-KR" altLang="en-US" sz="80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endParaRPr>
              </a:p>
            </p:txBody>
          </p:sp>
          <p:sp>
            <p:nvSpPr>
              <p:cNvPr id="740" name="모서리가 둥근 직사각형 739"/>
              <p:cNvSpPr/>
              <p:nvPr/>
            </p:nvSpPr>
            <p:spPr>
              <a:xfrm>
                <a:off x="5832764" y="2114511"/>
                <a:ext cx="359942" cy="288000"/>
              </a:xfrm>
              <a:prstGeom prst="roundRect">
                <a:avLst>
                  <a:gd name="adj" fmla="val 11375"/>
                </a:avLst>
              </a:prstGeom>
              <a:solidFill>
                <a:schemeClr val="accent1">
                  <a:lumMod val="20000"/>
                  <a:lumOff val="80000"/>
                </a:schemeClr>
              </a:solidFill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ko-KR" sz="800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맑은 고딕" panose="020B0503020000020004" pitchFamily="50" charset="-127"/>
                  </a:rPr>
                  <a:t>105</a:t>
                </a:r>
                <a:endParaRPr lang="ko-KR" altLang="en-US" sz="80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endParaRPr>
              </a:p>
            </p:txBody>
          </p:sp>
          <p:sp>
            <p:nvSpPr>
              <p:cNvPr id="741" name="모서리가 둥근 직사각형 740"/>
              <p:cNvSpPr/>
              <p:nvPr/>
            </p:nvSpPr>
            <p:spPr>
              <a:xfrm>
                <a:off x="6263440" y="2114511"/>
                <a:ext cx="359942" cy="288000"/>
              </a:xfrm>
              <a:prstGeom prst="roundRect">
                <a:avLst>
                  <a:gd name="adj" fmla="val 11375"/>
                </a:avLst>
              </a:prstGeom>
              <a:solidFill>
                <a:schemeClr val="bg1"/>
              </a:solidFill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ko-KR" sz="800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맑은 고딕" panose="020B0503020000020004" pitchFamily="50" charset="-127"/>
                  </a:rPr>
                  <a:t>110</a:t>
                </a:r>
                <a:endParaRPr lang="ko-KR" altLang="en-US" sz="80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endParaRPr>
              </a:p>
            </p:txBody>
          </p:sp>
          <p:sp>
            <p:nvSpPr>
              <p:cNvPr id="742" name="모서리가 둥근 직사각형 741"/>
              <p:cNvSpPr/>
              <p:nvPr/>
            </p:nvSpPr>
            <p:spPr>
              <a:xfrm>
                <a:off x="6696109" y="2114511"/>
                <a:ext cx="359942" cy="288000"/>
              </a:xfrm>
              <a:prstGeom prst="roundRect">
                <a:avLst>
                  <a:gd name="adj" fmla="val 11375"/>
                </a:avLst>
              </a:prstGeom>
              <a:solidFill>
                <a:schemeClr val="bg1"/>
              </a:solidFill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ko-KR" sz="800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맑은 고딕" panose="020B0503020000020004" pitchFamily="50" charset="-127"/>
                  </a:rPr>
                  <a:t>115</a:t>
                </a:r>
                <a:endParaRPr lang="ko-KR" altLang="en-US" sz="80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endParaRPr>
              </a:p>
            </p:txBody>
          </p:sp>
          <p:sp>
            <p:nvSpPr>
              <p:cNvPr id="743" name="모서리가 둥근 직사각형 742"/>
              <p:cNvSpPr/>
              <p:nvPr/>
            </p:nvSpPr>
            <p:spPr>
              <a:xfrm>
                <a:off x="7128632" y="2114511"/>
                <a:ext cx="359942" cy="288000"/>
              </a:xfrm>
              <a:prstGeom prst="roundRect">
                <a:avLst>
                  <a:gd name="adj" fmla="val 11375"/>
                </a:avLst>
              </a:prstGeom>
              <a:solidFill>
                <a:schemeClr val="bg1">
                  <a:lumMod val="95000"/>
                </a:schemeClr>
              </a:solidFill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ko-KR" sz="800" strike="sngStrike" smtClean="0">
                    <a:solidFill>
                      <a:schemeClr val="bg1">
                        <a:lumMod val="75000"/>
                      </a:schemeClr>
                    </a:solidFill>
                    <a:latin typeface="맑은 고딕" panose="020B0503020000020004" pitchFamily="50" charset="-127"/>
                  </a:rPr>
                  <a:t>120</a:t>
                </a:r>
                <a:endParaRPr lang="ko-KR" altLang="en-US" sz="800" strike="sngStrike">
                  <a:solidFill>
                    <a:schemeClr val="bg1">
                      <a:lumMod val="75000"/>
                    </a:schemeClr>
                  </a:solidFill>
                  <a:latin typeface="맑은 고딕" panose="020B0503020000020004" pitchFamily="50" charset="-127"/>
                </a:endParaRPr>
              </a:p>
            </p:txBody>
          </p:sp>
          <p:grpSp>
            <p:nvGrpSpPr>
              <p:cNvPr id="744" name="그룹 743"/>
              <p:cNvGrpSpPr/>
              <p:nvPr/>
            </p:nvGrpSpPr>
            <p:grpSpPr>
              <a:xfrm>
                <a:off x="7343331" y="2077802"/>
                <a:ext cx="179970" cy="179970"/>
                <a:chOff x="7589341" y="3009028"/>
                <a:chExt cx="180000" cy="180000"/>
              </a:xfrm>
            </p:grpSpPr>
            <p:sp>
              <p:nvSpPr>
                <p:cNvPr id="798" name="타원 797"/>
                <p:cNvSpPr/>
                <p:nvPr/>
              </p:nvSpPr>
              <p:spPr>
                <a:xfrm>
                  <a:off x="7589341" y="3009028"/>
                  <a:ext cx="180000" cy="180000"/>
                </a:xfrm>
                <a:prstGeom prst="ellipse">
                  <a:avLst/>
                </a:prstGeom>
                <a:solidFill>
                  <a:schemeClr val="bg1"/>
                </a:solidFill>
                <a:ln w="3175"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endParaRPr lang="ko-KR" altLang="en-US" sz="500" b="1">
                    <a:solidFill>
                      <a:schemeClr val="bg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endParaRPr>
                </a:p>
              </p:txBody>
            </p:sp>
            <p:grpSp>
              <p:nvGrpSpPr>
                <p:cNvPr id="799" name="그룹 798"/>
                <p:cNvGrpSpPr/>
                <p:nvPr/>
              </p:nvGrpSpPr>
              <p:grpSpPr>
                <a:xfrm>
                  <a:off x="7625341" y="3045028"/>
                  <a:ext cx="108000" cy="108000"/>
                  <a:chOff x="531806" y="1604594"/>
                  <a:chExt cx="180000" cy="180738"/>
                </a:xfrm>
              </p:grpSpPr>
              <p:grpSp>
                <p:nvGrpSpPr>
                  <p:cNvPr id="800" name="그룹 799"/>
                  <p:cNvGrpSpPr/>
                  <p:nvPr/>
                </p:nvGrpSpPr>
                <p:grpSpPr>
                  <a:xfrm>
                    <a:off x="549806" y="1604594"/>
                    <a:ext cx="144000" cy="180738"/>
                    <a:chOff x="691953" y="1723346"/>
                    <a:chExt cx="144000" cy="180738"/>
                  </a:xfrm>
                  <a:solidFill>
                    <a:schemeClr val="bg1"/>
                  </a:solidFill>
                </p:grpSpPr>
                <p:sp>
                  <p:nvSpPr>
                    <p:cNvPr id="802" name="양쪽 모서리가 둥근 사각형 801"/>
                    <p:cNvSpPr/>
                    <p:nvPr/>
                  </p:nvSpPr>
                  <p:spPr>
                    <a:xfrm>
                      <a:off x="700953" y="1723346"/>
                      <a:ext cx="126000" cy="126000"/>
                    </a:xfrm>
                    <a:prstGeom prst="round2SameRect">
                      <a:avLst>
                        <a:gd name="adj1" fmla="val 50000"/>
                        <a:gd name="adj2" fmla="val 0"/>
                      </a:avLst>
                    </a:prstGeom>
                    <a:grpFill/>
                    <a:ln w="3175">
                      <a:solidFill>
                        <a:srgbClr val="DC2832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7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p:txBody>
                </p:sp>
                <p:sp>
                  <p:nvSpPr>
                    <p:cNvPr id="803" name="타원 802"/>
                    <p:cNvSpPr/>
                    <p:nvPr/>
                  </p:nvSpPr>
                  <p:spPr>
                    <a:xfrm>
                      <a:off x="736953" y="1850084"/>
                      <a:ext cx="54000" cy="54000"/>
                    </a:xfrm>
                    <a:prstGeom prst="ellipse">
                      <a:avLst/>
                    </a:prstGeom>
                    <a:grpFill/>
                    <a:ln w="3175">
                      <a:solidFill>
                        <a:srgbClr val="DC2832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7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p:txBody>
                </p:sp>
                <p:sp>
                  <p:nvSpPr>
                    <p:cNvPr id="804" name="직사각형 803"/>
                    <p:cNvSpPr/>
                    <p:nvPr/>
                  </p:nvSpPr>
                  <p:spPr>
                    <a:xfrm>
                      <a:off x="691953" y="1811453"/>
                      <a:ext cx="144000" cy="18000"/>
                    </a:xfrm>
                    <a:prstGeom prst="rect">
                      <a:avLst/>
                    </a:prstGeom>
                    <a:grpFill/>
                    <a:ln w="3175"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7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p:txBody>
                </p:sp>
                <p:sp>
                  <p:nvSpPr>
                    <p:cNvPr id="805" name="직사각형 804"/>
                    <p:cNvSpPr/>
                    <p:nvPr/>
                  </p:nvSpPr>
                  <p:spPr>
                    <a:xfrm>
                      <a:off x="691953" y="1859609"/>
                      <a:ext cx="144000" cy="18000"/>
                    </a:xfrm>
                    <a:prstGeom prst="rect">
                      <a:avLst/>
                    </a:prstGeom>
                    <a:grpFill/>
                    <a:ln w="3175"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7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p:txBody>
                </p:sp>
                <p:sp>
                  <p:nvSpPr>
                    <p:cNvPr id="806" name="직사각형 805"/>
                    <p:cNvSpPr/>
                    <p:nvPr/>
                  </p:nvSpPr>
                  <p:spPr>
                    <a:xfrm>
                      <a:off x="691953" y="1832609"/>
                      <a:ext cx="144000" cy="25200"/>
                    </a:xfrm>
                    <a:prstGeom prst="rect">
                      <a:avLst/>
                    </a:prstGeom>
                    <a:grpFill/>
                    <a:ln w="3175">
                      <a:solidFill>
                        <a:srgbClr val="DC2832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7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p:txBody>
                </p:sp>
              </p:grpSp>
              <p:sp>
                <p:nvSpPr>
                  <p:cNvPr id="801" name="직사각형 800"/>
                  <p:cNvSpPr/>
                  <p:nvPr/>
                </p:nvSpPr>
                <p:spPr>
                  <a:xfrm>
                    <a:off x="531806" y="1604594"/>
                    <a:ext cx="180000" cy="180000"/>
                  </a:xfrm>
                  <a:prstGeom prst="rect">
                    <a:avLst/>
                  </a:prstGeom>
                  <a:noFill/>
                  <a:ln w="3175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 sz="70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맑은 고딕" panose="020B0503020000020004" pitchFamily="50" charset="-127"/>
                      <a:ea typeface="맑은 고딕" panose="020B0503020000020004" pitchFamily="50" charset="-127"/>
                    </a:endParaRPr>
                  </a:p>
                </p:txBody>
              </p:sp>
            </p:grpSp>
          </p:grpSp>
          <p:sp>
            <p:nvSpPr>
              <p:cNvPr id="745" name="TextBox 744">
                <a:extLst>
                  <a:ext uri="{FF2B5EF4-FFF2-40B4-BE49-F238E27FC236}">
                    <a16:creationId xmlns="" xmlns:a16="http://schemas.microsoft.com/office/drawing/2014/main" id="{0C96C875-C47F-4F5B-B4C1-F9D666A7BD9D}"/>
                  </a:ext>
                </a:extLst>
              </p:cNvPr>
              <p:cNvSpPr txBox="1"/>
              <p:nvPr/>
            </p:nvSpPr>
            <p:spPr>
              <a:xfrm>
                <a:off x="6958046" y="1915378"/>
                <a:ext cx="601695" cy="180425"/>
              </a:xfrm>
              <a:prstGeom prst="rect">
                <a:avLst/>
              </a:prstGeom>
              <a:noFill/>
              <a:ln w="3175" cap="flat" cmpd="sng" algn="ctr">
                <a:noFill/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txBody>
              <a:bodyPr vert="horz" wrap="none" lIns="36000" tIns="36000" rIns="36000" bIns="36000" numCol="1" rtlCol="0" anchor="ctr" anchorCtr="0" compatLnSpc="1">
                <a:prstTxWarp prst="textNoShape">
                  <a:avLst/>
                </a:prstTxWarp>
                <a:spAutoFit/>
              </a:bodyPr>
              <a:lstStyle/>
              <a:p>
                <a:pPr algn="r"/>
                <a:r>
                  <a:rPr lang="ko-KR" altLang="en-US" sz="700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맑은 고딕" panose="020B0503020000020004" pitchFamily="50" charset="-127"/>
                  </a:rPr>
                  <a:t>사이즈안내 </a:t>
                </a:r>
                <a:r>
                  <a:rPr lang="en-US" altLang="ko-KR" sz="700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맑은 고딕" panose="020B0503020000020004" pitchFamily="50" charset="-127"/>
                  </a:rPr>
                  <a:t>〉</a:t>
                </a:r>
                <a:endParaRPr lang="ko-KR" altLang="en-US" sz="7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endParaRPr>
              </a:p>
            </p:txBody>
          </p:sp>
          <p:sp>
            <p:nvSpPr>
              <p:cNvPr id="746" name="타원 745"/>
              <p:cNvSpPr/>
              <p:nvPr/>
            </p:nvSpPr>
            <p:spPr>
              <a:xfrm>
                <a:off x="5238105" y="2168511"/>
                <a:ext cx="36000" cy="36000"/>
              </a:xfrm>
              <a:prstGeom prst="ellipse">
                <a:avLst/>
              </a:prstGeom>
              <a:solidFill>
                <a:srgbClr val="C00000"/>
              </a:solidFill>
              <a:ln w="31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80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  <p:sp>
            <p:nvSpPr>
              <p:cNvPr id="747" name="TextBox 746"/>
              <p:cNvSpPr txBox="1"/>
              <p:nvPr/>
            </p:nvSpPr>
            <p:spPr>
              <a:xfrm>
                <a:off x="5022548" y="2473675"/>
                <a:ext cx="250068" cy="76944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spAutoFit/>
              </a:bodyPr>
              <a:lstStyle/>
              <a:p>
                <a:r>
                  <a:rPr lang="en-US" altLang="ko-KR" sz="500" smtClean="0">
                    <a:solidFill>
                      <a:schemeClr val="bg1">
                        <a:lumMod val="50000"/>
                      </a:schemeClr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3</a:t>
                </a:r>
                <a:r>
                  <a:rPr lang="ko-KR" altLang="en-US" sz="500" smtClean="0">
                    <a:solidFill>
                      <a:schemeClr val="bg1">
                        <a:lumMod val="50000"/>
                      </a:schemeClr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개 남음</a:t>
                </a:r>
                <a:endParaRPr lang="ko-KR" altLang="en-US" sz="500" dirty="0">
                  <a:solidFill>
                    <a:schemeClr val="bg1">
                      <a:lumMod val="50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  <p:cxnSp>
            <p:nvCxnSpPr>
              <p:cNvPr id="748" name="직선 연결선 747"/>
              <p:cNvCxnSpPr/>
              <p:nvPr/>
            </p:nvCxnSpPr>
            <p:spPr>
              <a:xfrm>
                <a:off x="4968163" y="2726138"/>
                <a:ext cx="2591578" cy="0"/>
              </a:xfrm>
              <a:prstGeom prst="line">
                <a:avLst/>
              </a:prstGeom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49" name="TextBox 748">
                <a:extLst>
                  <a:ext uri="{FF2B5EF4-FFF2-40B4-BE49-F238E27FC236}">
                    <a16:creationId xmlns="" xmlns:a16="http://schemas.microsoft.com/office/drawing/2014/main" id="{0C96C875-C47F-4F5B-B4C1-F9D666A7BD9D}"/>
                  </a:ext>
                </a:extLst>
              </p:cNvPr>
              <p:cNvSpPr txBox="1"/>
              <p:nvPr/>
            </p:nvSpPr>
            <p:spPr>
              <a:xfrm>
                <a:off x="4968164" y="2809808"/>
                <a:ext cx="901456" cy="195814"/>
              </a:xfrm>
              <a:prstGeom prst="rect">
                <a:avLst/>
              </a:prstGeom>
              <a:noFill/>
              <a:ln w="3175" cap="flat" cmpd="sng" algn="ctr">
                <a:noFill/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txBody>
              <a:bodyPr vert="horz" wrap="none" lIns="36000" tIns="36000" rIns="36000" bIns="36000" numCol="1" rtlCol="0" anchor="ctr" anchorCtr="0" compatLnSpc="1">
                <a:prstTxWarp prst="textNoShape">
                  <a:avLst/>
                </a:prstTxWarp>
                <a:spAutoFit/>
              </a:bodyPr>
              <a:lstStyle/>
              <a:p>
                <a:r>
                  <a:rPr lang="ko-KR" altLang="en-US" sz="800" b="1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맑은 고딕" panose="020B0503020000020004" pitchFamily="50" charset="-127"/>
                  </a:rPr>
                  <a:t>배송 및 혜택 안내</a:t>
                </a:r>
                <a:endParaRPr lang="en-US" altLang="ko-KR" sz="800" b="1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endParaRPr>
              </a:p>
            </p:txBody>
          </p:sp>
          <p:grpSp>
            <p:nvGrpSpPr>
              <p:cNvPr id="750" name="그룹 749"/>
              <p:cNvGrpSpPr/>
              <p:nvPr/>
            </p:nvGrpSpPr>
            <p:grpSpPr>
              <a:xfrm>
                <a:off x="5832764" y="2441086"/>
                <a:ext cx="431047" cy="215060"/>
                <a:chOff x="9792952" y="3338758"/>
                <a:chExt cx="431047" cy="215060"/>
              </a:xfrm>
            </p:grpSpPr>
            <p:sp>
              <p:nvSpPr>
                <p:cNvPr id="796" name="직사각형 795"/>
                <p:cNvSpPr/>
                <p:nvPr/>
              </p:nvSpPr>
              <p:spPr>
                <a:xfrm>
                  <a:off x="9792952" y="3373818"/>
                  <a:ext cx="360000" cy="180000"/>
                </a:xfrm>
                <a:prstGeom prst="rect">
                  <a:avLst/>
                </a:prstGeom>
                <a:gradFill flip="none" rotWithShape="1">
                  <a:gsLst>
                    <a:gs pos="0">
                      <a:schemeClr val="accent5">
                        <a:lumMod val="75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0" scaled="1"/>
                  <a:tileRect/>
                </a:gradFill>
                <a:ln w="3175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ko-KR" altLang="en-US" sz="500" smtClean="0">
                      <a:solidFill>
                        <a:schemeClr val="bg1"/>
                      </a:solidFill>
                      <a:latin typeface="맑은 고딕" panose="020B0503020000020004" pitchFamily="50" charset="-127"/>
                    </a:rPr>
                    <a:t>매장상품</a:t>
                  </a:r>
                  <a:endParaRPr lang="en-US" altLang="ko-KR" sz="500" smtClean="0">
                    <a:solidFill>
                      <a:schemeClr val="bg1"/>
                    </a:solidFill>
                    <a:latin typeface="맑은 고딕" panose="020B0503020000020004" pitchFamily="50" charset="-127"/>
                  </a:endParaRPr>
                </a:p>
                <a:p>
                  <a:pPr algn="ctr"/>
                  <a:r>
                    <a:rPr lang="ko-KR" altLang="en-US" sz="500" smtClean="0">
                      <a:solidFill>
                        <a:schemeClr val="bg1"/>
                      </a:solidFill>
                      <a:latin typeface="맑은 고딕" panose="020B0503020000020004" pitchFamily="50" charset="-127"/>
                    </a:rPr>
                    <a:t>배송</a:t>
                  </a:r>
                  <a:endParaRPr lang="ko-KR" altLang="en-US" sz="500">
                    <a:solidFill>
                      <a:schemeClr val="bg1"/>
                    </a:solidFill>
                    <a:latin typeface="맑은 고딕" panose="020B0503020000020004" pitchFamily="50" charset="-127"/>
                  </a:endParaRPr>
                </a:p>
              </p:txBody>
            </p:sp>
            <p:sp>
              <p:nvSpPr>
                <p:cNvPr id="797" name="타원 796"/>
                <p:cNvSpPr/>
                <p:nvPr/>
              </p:nvSpPr>
              <p:spPr>
                <a:xfrm>
                  <a:off x="10080022" y="3338758"/>
                  <a:ext cx="143977" cy="143976"/>
                </a:xfrm>
                <a:prstGeom prst="ellipse">
                  <a:avLst/>
                </a:prstGeom>
                <a:solidFill>
                  <a:schemeClr val="bg1"/>
                </a:solidFill>
                <a:ln w="3175"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sz="700" smtClean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맑은 고딕" panose="020B0503020000020004" pitchFamily="50" charset="-127"/>
                      <a:ea typeface="맑은 고딕" panose="020B0503020000020004" pitchFamily="50" charset="-127"/>
                    </a:rPr>
                    <a:t>?</a:t>
                  </a:r>
                  <a:endParaRPr lang="ko-KR" altLang="en-US" sz="7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endParaRPr>
                </a:p>
              </p:txBody>
            </p:sp>
          </p:grpSp>
          <p:sp>
            <p:nvSpPr>
              <p:cNvPr id="751" name="TextBox 750">
                <a:extLst>
                  <a:ext uri="{FF2B5EF4-FFF2-40B4-BE49-F238E27FC236}">
                    <a16:creationId xmlns="" xmlns:a16="http://schemas.microsoft.com/office/drawing/2014/main" id="{0C96C875-C47F-4F5B-B4C1-F9D666A7BD9D}"/>
                  </a:ext>
                </a:extLst>
              </p:cNvPr>
              <p:cNvSpPr txBox="1"/>
              <p:nvPr/>
            </p:nvSpPr>
            <p:spPr>
              <a:xfrm>
                <a:off x="4968163" y="3086287"/>
                <a:ext cx="431776" cy="180425"/>
              </a:xfrm>
              <a:prstGeom prst="rect">
                <a:avLst/>
              </a:prstGeom>
              <a:noFill/>
              <a:ln w="3175" cap="flat" cmpd="sng" algn="ctr">
                <a:noFill/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txBody>
              <a:bodyPr vert="horz" wrap="none" lIns="36000" tIns="36000" rIns="36000" bIns="36000" numCol="1" rtlCol="0" anchor="ctr" anchorCtr="0" compatLnSpc="1">
                <a:prstTxWarp prst="textNoShape">
                  <a:avLst/>
                </a:prstTxWarp>
                <a:spAutoFit/>
              </a:bodyPr>
              <a:lstStyle/>
              <a:p>
                <a:r>
                  <a:rPr lang="ko-KR" altLang="en-US" sz="700" smtClean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맑은 고딕" panose="020B0503020000020004" pitchFamily="50" charset="-127"/>
                  </a:rPr>
                  <a:t>배송정보</a:t>
                </a:r>
                <a:endParaRPr lang="ko-KR" altLang="en-US" sz="7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맑은 고딕" panose="020B0503020000020004" pitchFamily="50" charset="-127"/>
                </a:endParaRPr>
              </a:p>
            </p:txBody>
          </p:sp>
          <p:grpSp>
            <p:nvGrpSpPr>
              <p:cNvPr id="752" name="그룹 751"/>
              <p:cNvGrpSpPr/>
              <p:nvPr/>
            </p:nvGrpSpPr>
            <p:grpSpPr>
              <a:xfrm>
                <a:off x="5616187" y="3140468"/>
                <a:ext cx="126000" cy="72000"/>
                <a:chOff x="4549384" y="3972353"/>
                <a:chExt cx="180000" cy="108000"/>
              </a:xfrm>
            </p:grpSpPr>
            <p:sp>
              <p:nvSpPr>
                <p:cNvPr id="791" name="직사각형 790"/>
                <p:cNvSpPr/>
                <p:nvPr/>
              </p:nvSpPr>
              <p:spPr>
                <a:xfrm>
                  <a:off x="4549384" y="3972353"/>
                  <a:ext cx="35644" cy="108000"/>
                </a:xfrm>
                <a:prstGeom prst="rect">
                  <a:avLst/>
                </a:prstGeom>
                <a:solidFill>
                  <a:schemeClr val="tx1">
                    <a:lumMod val="75000"/>
                    <a:lumOff val="25000"/>
                  </a:schemeClr>
                </a:solidFill>
                <a:ln w="3175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endParaRPr>
                </a:p>
              </p:txBody>
            </p:sp>
            <p:sp>
              <p:nvSpPr>
                <p:cNvPr id="792" name="타원 791"/>
                <p:cNvSpPr/>
                <p:nvPr/>
              </p:nvSpPr>
              <p:spPr>
                <a:xfrm>
                  <a:off x="4595721" y="4044353"/>
                  <a:ext cx="35644" cy="36000"/>
                </a:xfrm>
                <a:prstGeom prst="ellipse">
                  <a:avLst/>
                </a:prstGeom>
                <a:solidFill>
                  <a:schemeClr val="tx1">
                    <a:lumMod val="75000"/>
                    <a:lumOff val="25000"/>
                  </a:schemeClr>
                </a:solidFill>
                <a:ln w="3175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endParaRPr>
                </a:p>
              </p:txBody>
            </p:sp>
            <p:sp>
              <p:nvSpPr>
                <p:cNvPr id="793" name="직사각형 792"/>
                <p:cNvSpPr/>
                <p:nvPr/>
              </p:nvSpPr>
              <p:spPr>
                <a:xfrm>
                  <a:off x="4647404" y="3972353"/>
                  <a:ext cx="35644" cy="108000"/>
                </a:xfrm>
                <a:prstGeom prst="rect">
                  <a:avLst/>
                </a:prstGeom>
                <a:solidFill>
                  <a:schemeClr val="tx1">
                    <a:lumMod val="75000"/>
                    <a:lumOff val="25000"/>
                  </a:schemeClr>
                </a:solidFill>
                <a:ln w="3175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endParaRPr>
                </a:p>
              </p:txBody>
            </p:sp>
            <p:sp>
              <p:nvSpPr>
                <p:cNvPr id="794" name="타원 793"/>
                <p:cNvSpPr/>
                <p:nvPr/>
              </p:nvSpPr>
              <p:spPr>
                <a:xfrm>
                  <a:off x="4693740" y="3972353"/>
                  <a:ext cx="35644" cy="36000"/>
                </a:xfrm>
                <a:prstGeom prst="ellipse">
                  <a:avLst/>
                </a:prstGeom>
                <a:solidFill>
                  <a:schemeClr val="tx1">
                    <a:lumMod val="75000"/>
                    <a:lumOff val="25000"/>
                  </a:schemeClr>
                </a:solidFill>
                <a:ln w="3175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endParaRPr>
                </a:p>
              </p:txBody>
            </p:sp>
            <p:sp>
              <p:nvSpPr>
                <p:cNvPr id="795" name="타원 794"/>
                <p:cNvSpPr/>
                <p:nvPr/>
              </p:nvSpPr>
              <p:spPr>
                <a:xfrm>
                  <a:off x="4693740" y="4026353"/>
                  <a:ext cx="35644" cy="36000"/>
                </a:xfrm>
                <a:prstGeom prst="ellipse">
                  <a:avLst/>
                </a:prstGeom>
                <a:solidFill>
                  <a:schemeClr val="tx1">
                    <a:lumMod val="75000"/>
                    <a:lumOff val="25000"/>
                  </a:schemeClr>
                </a:solidFill>
                <a:ln w="3175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endParaRPr>
                </a:p>
              </p:txBody>
            </p:sp>
          </p:grpSp>
          <p:sp>
            <p:nvSpPr>
              <p:cNvPr id="753" name="TextBox 752"/>
              <p:cNvSpPr txBox="1"/>
              <p:nvPr/>
            </p:nvSpPr>
            <p:spPr>
              <a:xfrm>
                <a:off x="5777848" y="3122638"/>
                <a:ext cx="269304" cy="107722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spAutoFit/>
              </a:bodyPr>
              <a:lstStyle/>
              <a:p>
                <a:r>
                  <a:rPr lang="ko-KR" altLang="en-US" sz="700" smtClean="0">
                    <a:solidFill>
                      <a:srgbClr val="C00000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슝배송</a:t>
                </a:r>
                <a:endParaRPr lang="ko-KR" altLang="en-US" sz="700" dirty="0">
                  <a:solidFill>
                    <a:srgbClr val="C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  <p:sp>
            <p:nvSpPr>
              <p:cNvPr id="754" name="TextBox 753">
                <a:extLst>
                  <a:ext uri="{FF2B5EF4-FFF2-40B4-BE49-F238E27FC236}">
                    <a16:creationId xmlns="" xmlns:a16="http://schemas.microsoft.com/office/drawing/2014/main" id="{0C96C875-C47F-4F5B-B4C1-F9D666A7BD9D}"/>
                  </a:ext>
                </a:extLst>
              </p:cNvPr>
              <p:cNvSpPr txBox="1"/>
              <p:nvPr/>
            </p:nvSpPr>
            <p:spPr>
              <a:xfrm>
                <a:off x="6191508" y="3086287"/>
                <a:ext cx="448841" cy="180425"/>
              </a:xfrm>
              <a:prstGeom prst="rect">
                <a:avLst/>
              </a:prstGeom>
              <a:noFill/>
              <a:ln w="3175" cap="flat" cmpd="sng" algn="ctr">
                <a:noFill/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txBody>
              <a:bodyPr vert="horz" wrap="none" lIns="0" tIns="36000" rIns="0" bIns="36000" numCol="1" rtlCol="0" anchor="ctr" anchorCtr="0" compatLnSpc="1">
                <a:prstTxWarp prst="textNoShape">
                  <a:avLst/>
                </a:prstTxWarp>
                <a:spAutoFit/>
              </a:bodyPr>
              <a:lstStyle/>
              <a:p>
                <a:r>
                  <a:rPr lang="en-US" altLang="ko-KR" sz="700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맑은 고딕" panose="020B0503020000020004" pitchFamily="50" charset="-127"/>
                  </a:rPr>
                  <a:t>CJ</a:t>
                </a:r>
                <a:r>
                  <a:rPr lang="ko-KR" altLang="en-US" sz="700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맑은 고딕" panose="020B0503020000020004" pitchFamily="50" charset="-127"/>
                  </a:rPr>
                  <a:t>대한통운</a:t>
                </a:r>
                <a:endParaRPr lang="ko-KR" altLang="en-US" sz="7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endParaRPr>
              </a:p>
            </p:txBody>
          </p:sp>
          <p:cxnSp>
            <p:nvCxnSpPr>
              <p:cNvPr id="755" name="직선 연결선 754"/>
              <p:cNvCxnSpPr/>
              <p:nvPr/>
            </p:nvCxnSpPr>
            <p:spPr>
              <a:xfrm>
                <a:off x="6119330" y="3122499"/>
                <a:ext cx="0" cy="108000"/>
              </a:xfrm>
              <a:prstGeom prst="line">
                <a:avLst/>
              </a:prstGeom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56" name="TextBox 755">
                <a:extLst>
                  <a:ext uri="{FF2B5EF4-FFF2-40B4-BE49-F238E27FC236}">
                    <a16:creationId xmlns="" xmlns:a16="http://schemas.microsoft.com/office/drawing/2014/main" id="{0C96C875-C47F-4F5B-B4C1-F9D666A7BD9D}"/>
                  </a:ext>
                </a:extLst>
              </p:cNvPr>
              <p:cNvSpPr txBox="1"/>
              <p:nvPr/>
            </p:nvSpPr>
            <p:spPr>
              <a:xfrm>
                <a:off x="5616187" y="3267636"/>
                <a:ext cx="359073" cy="180425"/>
              </a:xfrm>
              <a:prstGeom prst="rect">
                <a:avLst/>
              </a:prstGeom>
              <a:noFill/>
              <a:ln w="3175" cap="flat" cmpd="sng" algn="ctr">
                <a:noFill/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txBody>
              <a:bodyPr vert="horz" wrap="none" lIns="0" tIns="36000" rIns="0" bIns="36000" numCol="1" rtlCol="0" anchor="ctr" anchorCtr="0" compatLnSpc="1">
                <a:prstTxWarp prst="textNoShape">
                  <a:avLst/>
                </a:prstTxWarp>
                <a:spAutoFit/>
              </a:bodyPr>
              <a:lstStyle/>
              <a:p>
                <a:r>
                  <a:rPr lang="ko-KR" altLang="en-US" sz="700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맑은 고딕" panose="020B0503020000020004" pitchFamily="50" charset="-127"/>
                  </a:rPr>
                  <a:t>무료배송</a:t>
                </a:r>
                <a:endParaRPr lang="ko-KR" altLang="en-US" sz="7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endParaRPr>
              </a:p>
            </p:txBody>
          </p:sp>
          <p:cxnSp>
            <p:nvCxnSpPr>
              <p:cNvPr id="757" name="직선 연결선 756"/>
              <p:cNvCxnSpPr/>
              <p:nvPr/>
            </p:nvCxnSpPr>
            <p:spPr>
              <a:xfrm>
                <a:off x="5616187" y="3519983"/>
                <a:ext cx="1944000" cy="0"/>
              </a:xfrm>
              <a:prstGeom prst="line">
                <a:avLst/>
              </a:prstGeom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58" name="TextBox 757">
                <a:extLst>
                  <a:ext uri="{FF2B5EF4-FFF2-40B4-BE49-F238E27FC236}">
                    <a16:creationId xmlns="" xmlns:a16="http://schemas.microsoft.com/office/drawing/2014/main" id="{0C96C875-C47F-4F5B-B4C1-F9D666A7BD9D}"/>
                  </a:ext>
                </a:extLst>
              </p:cNvPr>
              <p:cNvSpPr txBox="1"/>
              <p:nvPr/>
            </p:nvSpPr>
            <p:spPr>
              <a:xfrm>
                <a:off x="5616187" y="3591747"/>
                <a:ext cx="1247136" cy="180425"/>
              </a:xfrm>
              <a:prstGeom prst="rect">
                <a:avLst/>
              </a:prstGeom>
              <a:noFill/>
              <a:ln w="3175" cap="flat" cmpd="sng" algn="ctr">
                <a:noFill/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txBody>
              <a:bodyPr vert="horz" wrap="none" lIns="0" tIns="36000" rIns="0" bIns="36000" numCol="1" rtlCol="0" anchor="ctr" anchorCtr="0" compatLnSpc="1">
                <a:prstTxWarp prst="textNoShape">
                  <a:avLst/>
                </a:prstTxWarp>
                <a:spAutoFit/>
              </a:bodyPr>
              <a:lstStyle/>
              <a:p>
                <a:r>
                  <a:rPr lang="en-US" altLang="ko-KR" sz="700" b="1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맑은 고딕" panose="020B0503020000020004" pitchFamily="50" charset="-127"/>
                  </a:rPr>
                  <a:t>12/13 (</a:t>
                </a:r>
                <a:r>
                  <a:rPr lang="ko-KR" altLang="en-US" sz="700" b="1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맑은 고딕" panose="020B0503020000020004" pitchFamily="50" charset="-127"/>
                  </a:rPr>
                  <a:t>토</a:t>
                </a:r>
                <a:r>
                  <a:rPr lang="en-US" altLang="ko-KR" sz="700" b="1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맑은 고딕" panose="020B0503020000020004" pitchFamily="50" charset="-127"/>
                  </a:rPr>
                  <a:t>) </a:t>
                </a:r>
                <a:r>
                  <a:rPr lang="ko-KR" altLang="en-US" sz="700" b="1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맑은 고딕" panose="020B0503020000020004" pitchFamily="50" charset="-127"/>
                  </a:rPr>
                  <a:t>이내 도착확률 </a:t>
                </a:r>
                <a:r>
                  <a:rPr lang="en-US" altLang="ko-KR" sz="700" b="1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맑은 고딕" panose="020B0503020000020004" pitchFamily="50" charset="-127"/>
                  </a:rPr>
                  <a:t>96%</a:t>
                </a:r>
                <a:endParaRPr lang="ko-KR" altLang="en-US" sz="7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endParaRPr>
              </a:p>
            </p:txBody>
          </p:sp>
          <p:sp>
            <p:nvSpPr>
              <p:cNvPr id="759" name="TextBox 758">
                <a:extLst>
                  <a:ext uri="{FF2B5EF4-FFF2-40B4-BE49-F238E27FC236}">
                    <a16:creationId xmlns="" xmlns:a16="http://schemas.microsoft.com/office/drawing/2014/main" id="{0C96C875-C47F-4F5B-B4C1-F9D666A7BD9D}"/>
                  </a:ext>
                </a:extLst>
              </p:cNvPr>
              <p:cNvSpPr txBox="1"/>
              <p:nvPr/>
            </p:nvSpPr>
            <p:spPr>
              <a:xfrm>
                <a:off x="5616187" y="3773175"/>
                <a:ext cx="1513235" cy="180425"/>
              </a:xfrm>
              <a:prstGeom prst="rect">
                <a:avLst/>
              </a:prstGeom>
              <a:noFill/>
              <a:ln w="3175" cap="flat" cmpd="sng" algn="ctr">
                <a:noFill/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txBody>
              <a:bodyPr vert="horz" wrap="none" lIns="0" tIns="36000" rIns="0" bIns="36000" numCol="1" rtlCol="0" anchor="ctr" anchorCtr="0" compatLnSpc="1">
                <a:prstTxWarp prst="textNoShape">
                  <a:avLst/>
                </a:prstTxWarp>
                <a:spAutoFit/>
              </a:bodyPr>
              <a:lstStyle/>
              <a:p>
                <a:r>
                  <a:rPr lang="ko-KR" altLang="en-US" sz="700" smtClean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맑은 고딕" panose="020B0503020000020004" pitchFamily="50" charset="-127"/>
                  </a:rPr>
                  <a:t>서울 노원구 기준 </a:t>
                </a:r>
                <a:r>
                  <a:rPr lang="en-US" altLang="ko-KR" sz="700" smtClean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맑은 고딕" panose="020B0503020000020004" pitchFamily="50" charset="-127"/>
                  </a:rPr>
                  <a:t>(18</a:t>
                </a:r>
                <a:r>
                  <a:rPr lang="ko-KR" altLang="en-US" sz="700" smtClean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맑은 고딕" panose="020B0503020000020004" pitchFamily="50" charset="-127"/>
                  </a:rPr>
                  <a:t>시 이전 결제 시</a:t>
                </a:r>
                <a:r>
                  <a:rPr lang="en-US" altLang="ko-KR" sz="700" smtClean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맑은 고딕" panose="020B0503020000020004" pitchFamily="50" charset="-127"/>
                  </a:rPr>
                  <a:t>)</a:t>
                </a:r>
                <a:endParaRPr lang="ko-KR" altLang="en-US" sz="7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맑은 고딕" panose="020B0503020000020004" pitchFamily="50" charset="-127"/>
                </a:endParaRPr>
              </a:p>
            </p:txBody>
          </p:sp>
          <p:cxnSp>
            <p:nvCxnSpPr>
              <p:cNvPr id="760" name="직선 연결선 759"/>
              <p:cNvCxnSpPr/>
              <p:nvPr/>
            </p:nvCxnSpPr>
            <p:spPr>
              <a:xfrm>
                <a:off x="4968163" y="4529997"/>
                <a:ext cx="2591578" cy="0"/>
              </a:xfrm>
              <a:prstGeom prst="line">
                <a:avLst/>
              </a:prstGeom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61" name="TextBox 760">
                <a:extLst>
                  <a:ext uri="{FF2B5EF4-FFF2-40B4-BE49-F238E27FC236}">
                    <a16:creationId xmlns="" xmlns:a16="http://schemas.microsoft.com/office/drawing/2014/main" id="{0C96C875-C47F-4F5B-B4C1-F9D666A7BD9D}"/>
                  </a:ext>
                </a:extLst>
              </p:cNvPr>
              <p:cNvSpPr txBox="1"/>
              <p:nvPr/>
            </p:nvSpPr>
            <p:spPr>
              <a:xfrm>
                <a:off x="5616187" y="4602360"/>
                <a:ext cx="1518044" cy="180425"/>
              </a:xfrm>
              <a:prstGeom prst="rect">
                <a:avLst/>
              </a:prstGeom>
              <a:noFill/>
              <a:ln w="3175" cap="flat" cmpd="sng" algn="ctr">
                <a:noFill/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txBody>
              <a:bodyPr vert="horz" wrap="none" lIns="0" tIns="36000" rIns="0" bIns="36000" numCol="1" rtlCol="0" anchor="ctr" anchorCtr="0" compatLnSpc="1">
                <a:prstTxWarp prst="textNoShape">
                  <a:avLst/>
                </a:prstTxWarp>
                <a:spAutoFit/>
              </a:bodyPr>
              <a:lstStyle/>
              <a:p>
                <a:r>
                  <a:rPr lang="en-US" altLang="ko-KR" sz="700" smtClean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맑은 고딕" panose="020B0503020000020004" pitchFamily="50" charset="-127"/>
                  </a:rPr>
                  <a:t>LFmall </a:t>
                </a:r>
                <a:r>
                  <a:rPr lang="ko-KR" altLang="en-US" sz="700" smtClean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맑은 고딕" panose="020B0503020000020004" pitchFamily="50" charset="-127"/>
                  </a:rPr>
                  <a:t>신용카드 결제시</a:t>
                </a:r>
                <a:r>
                  <a:rPr lang="ko-KR" altLang="en-US" sz="700" b="1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맑은 고딕" panose="020B0503020000020004" pitchFamily="50" charset="-127"/>
                  </a:rPr>
                  <a:t> </a:t>
                </a:r>
                <a:r>
                  <a:rPr lang="en-US" altLang="ko-KR" sz="700" b="1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맑은 고딕" panose="020B0503020000020004" pitchFamily="50" charset="-127"/>
                  </a:rPr>
                  <a:t>5% </a:t>
                </a:r>
                <a:r>
                  <a:rPr lang="ko-KR" altLang="en-US" sz="700" b="1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맑은 고딕" panose="020B0503020000020004" pitchFamily="50" charset="-127"/>
                  </a:rPr>
                  <a:t>추가할인</a:t>
                </a:r>
                <a:endParaRPr lang="ko-KR" altLang="en-US" sz="7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endParaRPr>
              </a:p>
            </p:txBody>
          </p:sp>
          <p:sp>
            <p:nvSpPr>
              <p:cNvPr id="762" name="TextBox 761">
                <a:extLst>
                  <a:ext uri="{FF2B5EF4-FFF2-40B4-BE49-F238E27FC236}">
                    <a16:creationId xmlns="" xmlns:a16="http://schemas.microsoft.com/office/drawing/2014/main" id="{0C96C875-C47F-4F5B-B4C1-F9D666A7BD9D}"/>
                  </a:ext>
                </a:extLst>
              </p:cNvPr>
              <p:cNvSpPr txBox="1"/>
              <p:nvPr/>
            </p:nvSpPr>
            <p:spPr>
              <a:xfrm>
                <a:off x="5616187" y="4783788"/>
                <a:ext cx="782265" cy="180425"/>
              </a:xfrm>
              <a:prstGeom prst="rect">
                <a:avLst/>
              </a:prstGeom>
              <a:noFill/>
              <a:ln w="3175" cap="flat" cmpd="sng" algn="ctr">
                <a:noFill/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txBody>
              <a:bodyPr vert="horz" wrap="none" lIns="0" tIns="36000" rIns="0" bIns="36000" numCol="1" rtlCol="0" anchor="ctr" anchorCtr="0" compatLnSpc="1">
                <a:prstTxWarp prst="textNoShape">
                  <a:avLst/>
                </a:prstTxWarp>
                <a:spAutoFit/>
              </a:bodyPr>
              <a:lstStyle/>
              <a:p>
                <a:r>
                  <a:rPr lang="ko-KR" altLang="en-US" sz="700" smtClean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맑은 고딕" panose="020B0503020000020004" pitchFamily="50" charset="-127"/>
                  </a:rPr>
                  <a:t>카드사별 할부 혜택</a:t>
                </a:r>
                <a:endParaRPr lang="ko-KR" altLang="en-US" sz="7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맑은 고딕" panose="020B0503020000020004" pitchFamily="50" charset="-127"/>
                </a:endParaRPr>
              </a:p>
            </p:txBody>
          </p:sp>
          <p:cxnSp>
            <p:nvCxnSpPr>
              <p:cNvPr id="763" name="직선 연결선 762"/>
              <p:cNvCxnSpPr/>
              <p:nvPr/>
            </p:nvCxnSpPr>
            <p:spPr>
              <a:xfrm>
                <a:off x="4968163" y="5034841"/>
                <a:ext cx="2591578" cy="0"/>
              </a:xfrm>
              <a:prstGeom prst="line">
                <a:avLst/>
              </a:prstGeom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64" name="TextBox 763">
                <a:extLst>
                  <a:ext uri="{FF2B5EF4-FFF2-40B4-BE49-F238E27FC236}">
                    <a16:creationId xmlns="" xmlns:a16="http://schemas.microsoft.com/office/drawing/2014/main" id="{0C96C875-C47F-4F5B-B4C1-F9D666A7BD9D}"/>
                  </a:ext>
                </a:extLst>
              </p:cNvPr>
              <p:cNvSpPr txBox="1"/>
              <p:nvPr/>
            </p:nvSpPr>
            <p:spPr>
              <a:xfrm>
                <a:off x="4968163" y="4601465"/>
                <a:ext cx="431776" cy="180425"/>
              </a:xfrm>
              <a:prstGeom prst="rect">
                <a:avLst/>
              </a:prstGeom>
              <a:noFill/>
              <a:ln w="3175" cap="flat" cmpd="sng" algn="ctr">
                <a:noFill/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txBody>
              <a:bodyPr vert="horz" wrap="none" lIns="36000" tIns="36000" rIns="36000" bIns="36000" numCol="1" rtlCol="0" anchor="ctr" anchorCtr="0" compatLnSpc="1">
                <a:prstTxWarp prst="textNoShape">
                  <a:avLst/>
                </a:prstTxWarp>
                <a:spAutoFit/>
              </a:bodyPr>
              <a:lstStyle/>
              <a:p>
                <a:r>
                  <a:rPr lang="ko-KR" altLang="en-US" sz="700" smtClean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맑은 고딕" panose="020B0503020000020004" pitchFamily="50" charset="-127"/>
                  </a:rPr>
                  <a:t>카드혜택</a:t>
                </a:r>
                <a:endParaRPr lang="ko-KR" altLang="en-US" sz="7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맑은 고딕" panose="020B0503020000020004" pitchFamily="50" charset="-127"/>
                </a:endParaRPr>
              </a:p>
            </p:txBody>
          </p:sp>
          <p:sp>
            <p:nvSpPr>
              <p:cNvPr id="765" name="TextBox 764">
                <a:extLst>
                  <a:ext uri="{FF2B5EF4-FFF2-40B4-BE49-F238E27FC236}">
                    <a16:creationId xmlns="" xmlns:a16="http://schemas.microsoft.com/office/drawing/2014/main" id="{0C96C875-C47F-4F5B-B4C1-F9D666A7BD9D}"/>
                  </a:ext>
                </a:extLst>
              </p:cNvPr>
              <p:cNvSpPr txBox="1"/>
              <p:nvPr/>
            </p:nvSpPr>
            <p:spPr>
              <a:xfrm>
                <a:off x="7511651" y="4602360"/>
                <a:ext cx="48090" cy="180425"/>
              </a:xfrm>
              <a:prstGeom prst="rect">
                <a:avLst/>
              </a:prstGeom>
              <a:noFill/>
              <a:ln w="3175" cap="flat" cmpd="sng" algn="ctr">
                <a:noFill/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txBody>
              <a:bodyPr vert="horz" wrap="none" lIns="0" tIns="36000" rIns="0" bIns="36000" numCol="1" rtlCol="0" anchor="ctr" anchorCtr="0" compatLnSpc="1">
                <a:prstTxWarp prst="textNoShape">
                  <a:avLst/>
                </a:prstTxWarp>
                <a:spAutoFit/>
              </a:bodyPr>
              <a:lstStyle/>
              <a:p>
                <a:r>
                  <a:rPr lang="en-US" altLang="ko-KR" sz="700" b="1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맑은 고딕" panose="020B0503020000020004" pitchFamily="50" charset="-127"/>
                  </a:rPr>
                  <a:t>〉</a:t>
                </a:r>
                <a:endParaRPr lang="ko-KR" altLang="en-US" sz="7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endParaRPr>
              </a:p>
            </p:txBody>
          </p:sp>
          <p:sp>
            <p:nvSpPr>
              <p:cNvPr id="766" name="TextBox 765">
                <a:extLst>
                  <a:ext uri="{FF2B5EF4-FFF2-40B4-BE49-F238E27FC236}">
                    <a16:creationId xmlns="" xmlns:a16="http://schemas.microsoft.com/office/drawing/2014/main" id="{0C96C875-C47F-4F5B-B4C1-F9D666A7BD9D}"/>
                  </a:ext>
                </a:extLst>
              </p:cNvPr>
              <p:cNvSpPr txBox="1"/>
              <p:nvPr/>
            </p:nvSpPr>
            <p:spPr>
              <a:xfrm>
                <a:off x="7511651" y="4783788"/>
                <a:ext cx="48090" cy="180425"/>
              </a:xfrm>
              <a:prstGeom prst="rect">
                <a:avLst/>
              </a:prstGeom>
              <a:noFill/>
              <a:ln w="3175" cap="flat" cmpd="sng" algn="ctr">
                <a:noFill/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txBody>
              <a:bodyPr vert="horz" wrap="none" lIns="0" tIns="36000" rIns="0" bIns="36000" numCol="1" rtlCol="0" anchor="ctr" anchorCtr="0" compatLnSpc="1">
                <a:prstTxWarp prst="textNoShape">
                  <a:avLst/>
                </a:prstTxWarp>
                <a:spAutoFit/>
              </a:bodyPr>
              <a:lstStyle/>
              <a:p>
                <a:r>
                  <a:rPr lang="en-US" altLang="ko-KR" sz="700" b="1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맑은 고딕" panose="020B0503020000020004" pitchFamily="50" charset="-127"/>
                  </a:rPr>
                  <a:t>〉</a:t>
                </a:r>
                <a:endParaRPr lang="ko-KR" altLang="en-US" sz="7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endParaRPr>
              </a:p>
            </p:txBody>
          </p:sp>
          <p:sp>
            <p:nvSpPr>
              <p:cNvPr id="767" name="TextBox 766">
                <a:extLst>
                  <a:ext uri="{FF2B5EF4-FFF2-40B4-BE49-F238E27FC236}">
                    <a16:creationId xmlns="" xmlns:a16="http://schemas.microsoft.com/office/drawing/2014/main" id="{0C96C875-C47F-4F5B-B4C1-F9D666A7BD9D}"/>
                  </a:ext>
                </a:extLst>
              </p:cNvPr>
              <p:cNvSpPr txBox="1"/>
              <p:nvPr/>
            </p:nvSpPr>
            <p:spPr>
              <a:xfrm rot="5400000">
                <a:off x="7481835" y="3717039"/>
                <a:ext cx="48090" cy="107722"/>
              </a:xfrm>
              <a:prstGeom prst="rect">
                <a:avLst/>
              </a:prstGeom>
              <a:noFill/>
              <a:ln w="3175" cap="flat" cmpd="sng" algn="ctr">
                <a:noFill/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txBody>
              <a:bodyPr vert="horz" wrap="none" lIns="0" tIns="0" rIns="0" bIns="0" numCol="1" rtlCol="0" anchor="ctr" anchorCtr="0" compatLnSpc="1">
                <a:prstTxWarp prst="textNoShape">
                  <a:avLst/>
                </a:prstTxWarp>
                <a:spAutoFit/>
              </a:bodyPr>
              <a:lstStyle/>
              <a:p>
                <a:r>
                  <a:rPr lang="en-US" altLang="ko-KR" sz="700" b="1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맑은 고딕" panose="020B0503020000020004" pitchFamily="50" charset="-127"/>
                  </a:rPr>
                  <a:t>〉</a:t>
                </a:r>
                <a:endParaRPr lang="ko-KR" altLang="en-US" sz="7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endParaRPr>
              </a:p>
            </p:txBody>
          </p:sp>
          <p:cxnSp>
            <p:nvCxnSpPr>
              <p:cNvPr id="768" name="직선 연결선 767"/>
              <p:cNvCxnSpPr/>
              <p:nvPr/>
            </p:nvCxnSpPr>
            <p:spPr>
              <a:xfrm>
                <a:off x="5616187" y="4023044"/>
                <a:ext cx="1944000" cy="0"/>
              </a:xfrm>
              <a:prstGeom prst="line">
                <a:avLst/>
              </a:prstGeom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69" name="직사각형 768"/>
              <p:cNvSpPr/>
              <p:nvPr/>
            </p:nvSpPr>
            <p:spPr>
              <a:xfrm>
                <a:off x="5616187" y="4113740"/>
                <a:ext cx="540000" cy="144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5">
                      <a:lumMod val="75000"/>
                    </a:schemeClr>
                  </a:gs>
                  <a:gs pos="50000">
                    <a:schemeClr val="accent5"/>
                  </a:gs>
                  <a:gs pos="100000">
                    <a:schemeClr val="accent5">
                      <a:lumMod val="60000"/>
                      <a:lumOff val="40000"/>
                    </a:schemeClr>
                  </a:gs>
                </a:gsLst>
                <a:lin ang="0" scaled="1"/>
                <a:tileRect/>
              </a:gradFill>
              <a:ln w="31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ko-KR" altLang="en-US" sz="500" smtClean="0">
                    <a:solidFill>
                      <a:schemeClr val="bg1"/>
                    </a:solidFill>
                    <a:latin typeface="맑은 고딕" panose="020B0503020000020004" pitchFamily="50" charset="-127"/>
                  </a:rPr>
                  <a:t>매장상품배송</a:t>
                </a:r>
                <a:endParaRPr lang="ko-KR" altLang="en-US" sz="500">
                  <a:solidFill>
                    <a:schemeClr val="bg1"/>
                  </a:solidFill>
                  <a:latin typeface="맑은 고딕" panose="020B0503020000020004" pitchFamily="50" charset="-127"/>
                </a:endParaRPr>
              </a:p>
            </p:txBody>
          </p:sp>
          <p:sp>
            <p:nvSpPr>
              <p:cNvPr id="770" name="타원 769"/>
              <p:cNvSpPr/>
              <p:nvPr/>
            </p:nvSpPr>
            <p:spPr>
              <a:xfrm>
                <a:off x="6899357" y="3627959"/>
                <a:ext cx="108000" cy="108000"/>
              </a:xfrm>
              <a:prstGeom prst="ellipse">
                <a:avLst/>
              </a:prstGeom>
              <a:solidFill>
                <a:schemeClr val="bg1"/>
              </a:solidFill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600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?</a:t>
                </a:r>
                <a:endParaRPr lang="ko-KR" altLang="en-US" sz="60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  <p:sp>
            <p:nvSpPr>
              <p:cNvPr id="771" name="타원 770"/>
              <p:cNvSpPr/>
              <p:nvPr/>
            </p:nvSpPr>
            <p:spPr>
              <a:xfrm>
                <a:off x="6191508" y="4131740"/>
                <a:ext cx="108000" cy="108000"/>
              </a:xfrm>
              <a:prstGeom prst="ellipse">
                <a:avLst/>
              </a:prstGeom>
              <a:solidFill>
                <a:schemeClr val="bg1"/>
              </a:solidFill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600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?</a:t>
                </a:r>
                <a:endParaRPr lang="ko-KR" altLang="en-US" sz="60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  <p:sp>
            <p:nvSpPr>
              <p:cNvPr id="772" name="TextBox 771">
                <a:extLst>
                  <a:ext uri="{FF2B5EF4-FFF2-40B4-BE49-F238E27FC236}">
                    <a16:creationId xmlns="" xmlns:a16="http://schemas.microsoft.com/office/drawing/2014/main" id="{0C96C875-C47F-4F5B-B4C1-F9D666A7BD9D}"/>
                  </a:ext>
                </a:extLst>
              </p:cNvPr>
              <p:cNvSpPr txBox="1"/>
              <p:nvPr/>
            </p:nvSpPr>
            <p:spPr>
              <a:xfrm>
                <a:off x="5616187" y="4277459"/>
                <a:ext cx="1207062" cy="180425"/>
              </a:xfrm>
              <a:prstGeom prst="rect">
                <a:avLst/>
              </a:prstGeom>
              <a:noFill/>
              <a:ln w="3175" cap="flat" cmpd="sng" algn="ctr">
                <a:noFill/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txBody>
              <a:bodyPr vert="horz" wrap="none" lIns="0" tIns="36000" rIns="0" bIns="36000" numCol="1" rtlCol="0" anchor="ctr" anchorCtr="0" compatLnSpc="1">
                <a:prstTxWarp prst="textNoShape">
                  <a:avLst/>
                </a:prstTxWarp>
                <a:spAutoFit/>
              </a:bodyPr>
              <a:lstStyle/>
              <a:p>
                <a:r>
                  <a:rPr lang="ko-KR" altLang="en-US" sz="700" smtClean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맑은 고딕" panose="020B0503020000020004" pitchFamily="50" charset="-127"/>
                  </a:rPr>
                  <a:t>평균 </a:t>
                </a:r>
                <a:r>
                  <a:rPr lang="en-US" altLang="ko-KR" sz="700" smtClean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맑은 고딕" panose="020B0503020000020004" pitchFamily="50" charset="-127"/>
                  </a:rPr>
                  <a:t>5~7 </a:t>
                </a:r>
                <a:r>
                  <a:rPr lang="ko-KR" altLang="en-US" sz="700" smtClean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맑은 고딕" panose="020B0503020000020004" pitchFamily="50" charset="-127"/>
                  </a:rPr>
                  <a:t>영업일 소요됩니다</a:t>
                </a:r>
                <a:r>
                  <a:rPr lang="en-US" altLang="ko-KR" sz="700" smtClean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맑은 고딕" panose="020B0503020000020004" pitchFamily="50" charset="-127"/>
                  </a:rPr>
                  <a:t>.</a:t>
                </a:r>
                <a:endParaRPr lang="ko-KR" altLang="en-US" sz="7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맑은 고딕" panose="020B0503020000020004" pitchFamily="50" charset="-127"/>
                </a:endParaRPr>
              </a:p>
            </p:txBody>
          </p:sp>
          <p:cxnSp>
            <p:nvCxnSpPr>
              <p:cNvPr id="773" name="직선 연결선 772"/>
              <p:cNvCxnSpPr/>
              <p:nvPr/>
            </p:nvCxnSpPr>
            <p:spPr>
              <a:xfrm>
                <a:off x="4968163" y="5033482"/>
                <a:ext cx="2591578" cy="0"/>
              </a:xfrm>
              <a:prstGeom prst="line">
                <a:avLst/>
              </a:prstGeom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74" name="TextBox 773">
                <a:extLst>
                  <a:ext uri="{FF2B5EF4-FFF2-40B4-BE49-F238E27FC236}">
                    <a16:creationId xmlns="" xmlns:a16="http://schemas.microsoft.com/office/drawing/2014/main" id="{0C96C875-C47F-4F5B-B4C1-F9D666A7BD9D}"/>
                  </a:ext>
                </a:extLst>
              </p:cNvPr>
              <p:cNvSpPr txBox="1"/>
              <p:nvPr/>
            </p:nvSpPr>
            <p:spPr>
              <a:xfrm>
                <a:off x="5616187" y="5105845"/>
                <a:ext cx="782265" cy="180425"/>
              </a:xfrm>
              <a:prstGeom prst="rect">
                <a:avLst/>
              </a:prstGeom>
              <a:noFill/>
              <a:ln w="3175" cap="flat" cmpd="sng" algn="ctr">
                <a:noFill/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txBody>
              <a:bodyPr vert="horz" wrap="none" lIns="0" tIns="36000" rIns="0" bIns="36000" numCol="1" rtlCol="0" anchor="ctr" anchorCtr="0" compatLnSpc="1">
                <a:prstTxWarp prst="textNoShape">
                  <a:avLst/>
                </a:prstTxWarp>
                <a:spAutoFit/>
              </a:bodyPr>
              <a:lstStyle/>
              <a:p>
                <a:r>
                  <a:rPr lang="ko-KR" altLang="en-US" sz="700" smtClean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맑은 고딕" panose="020B0503020000020004" pitchFamily="50" charset="-127"/>
                  </a:rPr>
                  <a:t>선물포장 가능 안내</a:t>
                </a:r>
                <a:endParaRPr lang="ko-KR" altLang="en-US" sz="7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endParaRPr>
              </a:p>
            </p:txBody>
          </p:sp>
          <p:cxnSp>
            <p:nvCxnSpPr>
              <p:cNvPr id="775" name="직선 연결선 774"/>
              <p:cNvCxnSpPr/>
              <p:nvPr/>
            </p:nvCxnSpPr>
            <p:spPr>
              <a:xfrm>
                <a:off x="4824187" y="5358239"/>
                <a:ext cx="2880000" cy="0"/>
              </a:xfrm>
              <a:prstGeom prst="line">
                <a:avLst/>
              </a:prstGeom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76" name="TextBox 775">
                <a:extLst>
                  <a:ext uri="{FF2B5EF4-FFF2-40B4-BE49-F238E27FC236}">
                    <a16:creationId xmlns="" xmlns:a16="http://schemas.microsoft.com/office/drawing/2014/main" id="{0C96C875-C47F-4F5B-B4C1-F9D666A7BD9D}"/>
                  </a:ext>
                </a:extLst>
              </p:cNvPr>
              <p:cNvSpPr txBox="1"/>
              <p:nvPr/>
            </p:nvSpPr>
            <p:spPr>
              <a:xfrm>
                <a:off x="4968163" y="5104950"/>
                <a:ext cx="431776" cy="180425"/>
              </a:xfrm>
              <a:prstGeom prst="rect">
                <a:avLst/>
              </a:prstGeom>
              <a:noFill/>
              <a:ln w="3175" cap="flat" cmpd="sng" algn="ctr">
                <a:noFill/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txBody>
              <a:bodyPr vert="horz" wrap="none" lIns="36000" tIns="36000" rIns="36000" bIns="36000" numCol="1" rtlCol="0" anchor="ctr" anchorCtr="0" compatLnSpc="1">
                <a:prstTxWarp prst="textNoShape">
                  <a:avLst/>
                </a:prstTxWarp>
                <a:spAutoFit/>
              </a:bodyPr>
              <a:lstStyle/>
              <a:p>
                <a:r>
                  <a:rPr lang="ko-KR" altLang="en-US" sz="700" smtClean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맑은 고딕" panose="020B0503020000020004" pitchFamily="50" charset="-127"/>
                  </a:rPr>
                  <a:t>선물포장</a:t>
                </a:r>
                <a:endParaRPr lang="ko-KR" altLang="en-US" sz="7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맑은 고딕" panose="020B0503020000020004" pitchFamily="50" charset="-127"/>
                </a:endParaRPr>
              </a:p>
            </p:txBody>
          </p:sp>
          <p:sp>
            <p:nvSpPr>
              <p:cNvPr id="777" name="TextBox 776">
                <a:extLst>
                  <a:ext uri="{FF2B5EF4-FFF2-40B4-BE49-F238E27FC236}">
                    <a16:creationId xmlns="" xmlns:a16="http://schemas.microsoft.com/office/drawing/2014/main" id="{0C96C875-C47F-4F5B-B4C1-F9D666A7BD9D}"/>
                  </a:ext>
                </a:extLst>
              </p:cNvPr>
              <p:cNvSpPr txBox="1"/>
              <p:nvPr/>
            </p:nvSpPr>
            <p:spPr>
              <a:xfrm rot="5400000">
                <a:off x="7481835" y="5141301"/>
                <a:ext cx="48090" cy="107722"/>
              </a:xfrm>
              <a:prstGeom prst="rect">
                <a:avLst/>
              </a:prstGeom>
              <a:noFill/>
              <a:ln w="3175" cap="flat" cmpd="sng" algn="ctr">
                <a:noFill/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txBody>
              <a:bodyPr vert="horz" wrap="none" lIns="0" tIns="0" rIns="0" bIns="0" numCol="1" rtlCol="0" anchor="ctr" anchorCtr="0" compatLnSpc="1">
                <a:prstTxWarp prst="textNoShape">
                  <a:avLst/>
                </a:prstTxWarp>
                <a:spAutoFit/>
              </a:bodyPr>
              <a:lstStyle/>
              <a:p>
                <a:r>
                  <a:rPr lang="en-US" altLang="ko-KR" sz="700" b="1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맑은 고딕" panose="020B0503020000020004" pitchFamily="50" charset="-127"/>
                  </a:rPr>
                  <a:t>〉</a:t>
                </a:r>
                <a:endParaRPr lang="ko-KR" altLang="en-US" sz="7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endParaRPr>
              </a:p>
            </p:txBody>
          </p:sp>
          <p:sp>
            <p:nvSpPr>
              <p:cNvPr id="778" name="TextBox 777">
                <a:extLst>
                  <a:ext uri="{FF2B5EF4-FFF2-40B4-BE49-F238E27FC236}">
                    <a16:creationId xmlns="" xmlns:a16="http://schemas.microsoft.com/office/drawing/2014/main" id="{0C96C875-C47F-4F5B-B4C1-F9D666A7BD9D}"/>
                  </a:ext>
                </a:extLst>
              </p:cNvPr>
              <p:cNvSpPr txBox="1"/>
              <p:nvPr/>
            </p:nvSpPr>
            <p:spPr>
              <a:xfrm>
                <a:off x="4968164" y="5439857"/>
                <a:ext cx="622534" cy="195814"/>
              </a:xfrm>
              <a:prstGeom prst="rect">
                <a:avLst/>
              </a:prstGeom>
              <a:noFill/>
              <a:ln w="3175" cap="flat" cmpd="sng" algn="ctr">
                <a:noFill/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txBody>
              <a:bodyPr vert="horz" wrap="none" lIns="36000" tIns="36000" rIns="36000" bIns="36000" numCol="1" rtlCol="0" anchor="ctr" anchorCtr="0" compatLnSpc="1">
                <a:prstTxWarp prst="textNoShape">
                  <a:avLst/>
                </a:prstTxWarp>
                <a:spAutoFit/>
              </a:bodyPr>
              <a:lstStyle/>
              <a:p>
                <a:r>
                  <a:rPr lang="ko-KR" altLang="en-US" sz="800" b="1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맑은 고딕" panose="020B0503020000020004" pitchFamily="50" charset="-127"/>
                  </a:rPr>
                  <a:t>관련 검색어</a:t>
                </a:r>
                <a:endParaRPr lang="en-US" altLang="ko-KR" sz="800" b="1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endParaRPr>
              </a:p>
            </p:txBody>
          </p:sp>
          <p:sp>
            <p:nvSpPr>
              <p:cNvPr id="779" name="TextBox 778">
                <a:extLst>
                  <a:ext uri="{FF2B5EF4-FFF2-40B4-BE49-F238E27FC236}">
                    <a16:creationId xmlns="" xmlns:a16="http://schemas.microsoft.com/office/drawing/2014/main" id="{0C96C875-C47F-4F5B-B4C1-F9D666A7BD9D}"/>
                  </a:ext>
                </a:extLst>
              </p:cNvPr>
              <p:cNvSpPr txBox="1"/>
              <p:nvPr/>
            </p:nvSpPr>
            <p:spPr>
              <a:xfrm>
                <a:off x="4968162" y="5702596"/>
                <a:ext cx="360000" cy="216000"/>
              </a:xfrm>
              <a:prstGeom prst="roundRect">
                <a:avLst>
                  <a:gd name="adj" fmla="val 50000"/>
                </a:avLst>
              </a:prstGeom>
              <a:solidFill>
                <a:schemeClr val="bg1">
                  <a:lumMod val="95000"/>
                </a:schemeClr>
              </a:solidFill>
              <a:ln w="3175" cap="flat" cmpd="sng" algn="ctr">
                <a:noFill/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txBody>
              <a:bodyPr vert="horz" wrap="none" lIns="36000" tIns="36000" rIns="36000" bIns="36000" numCol="1" rtlCol="0" anchor="ctr" anchorCtr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en-US" altLang="ko-KR" sz="700" smtClean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맑은 고딕" panose="020B0503020000020004" pitchFamily="50" charset="-127"/>
                  </a:rPr>
                  <a:t>25FW</a:t>
                </a:r>
                <a:endParaRPr lang="ko-KR" altLang="en-US" sz="7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맑은 고딕" panose="020B0503020000020004" pitchFamily="50" charset="-127"/>
                </a:endParaRPr>
              </a:p>
            </p:txBody>
          </p:sp>
          <p:sp>
            <p:nvSpPr>
              <p:cNvPr id="780" name="TextBox 779">
                <a:extLst>
                  <a:ext uri="{FF2B5EF4-FFF2-40B4-BE49-F238E27FC236}">
                    <a16:creationId xmlns="" xmlns:a16="http://schemas.microsoft.com/office/drawing/2014/main" id="{0C96C875-C47F-4F5B-B4C1-F9D666A7BD9D}"/>
                  </a:ext>
                </a:extLst>
              </p:cNvPr>
              <p:cNvSpPr txBox="1"/>
              <p:nvPr/>
            </p:nvSpPr>
            <p:spPr>
              <a:xfrm>
                <a:off x="5401000" y="5702596"/>
                <a:ext cx="576000" cy="216000"/>
              </a:xfrm>
              <a:prstGeom prst="roundRect">
                <a:avLst>
                  <a:gd name="adj" fmla="val 50000"/>
                </a:avLst>
              </a:prstGeom>
              <a:solidFill>
                <a:schemeClr val="bg1">
                  <a:lumMod val="95000"/>
                </a:schemeClr>
              </a:solidFill>
              <a:ln w="3175" cap="flat" cmpd="sng" algn="ctr">
                <a:noFill/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txBody>
              <a:bodyPr vert="horz" wrap="none" lIns="36000" tIns="36000" rIns="36000" bIns="36000" numCol="1" rtlCol="0" anchor="ctr" anchorCtr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ko-KR" altLang="en-US" sz="700" smtClean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맑은 고딕" panose="020B0503020000020004" pitchFamily="50" charset="-127"/>
                  </a:rPr>
                  <a:t>위켄드세일</a:t>
                </a:r>
                <a:endParaRPr lang="ko-KR" altLang="en-US" sz="7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맑은 고딕" panose="020B0503020000020004" pitchFamily="50" charset="-127"/>
                </a:endParaRPr>
              </a:p>
            </p:txBody>
          </p:sp>
          <p:sp>
            <p:nvSpPr>
              <p:cNvPr id="781" name="TextBox 780">
                <a:extLst>
                  <a:ext uri="{FF2B5EF4-FFF2-40B4-BE49-F238E27FC236}">
                    <a16:creationId xmlns="" xmlns:a16="http://schemas.microsoft.com/office/drawing/2014/main" id="{0C96C875-C47F-4F5B-B4C1-F9D666A7BD9D}"/>
                  </a:ext>
                </a:extLst>
              </p:cNvPr>
              <p:cNvSpPr txBox="1"/>
              <p:nvPr/>
            </p:nvSpPr>
            <p:spPr>
              <a:xfrm>
                <a:off x="6047508" y="5702596"/>
                <a:ext cx="504000" cy="216000"/>
              </a:xfrm>
              <a:prstGeom prst="roundRect">
                <a:avLst>
                  <a:gd name="adj" fmla="val 50000"/>
                </a:avLst>
              </a:prstGeom>
              <a:solidFill>
                <a:schemeClr val="bg1">
                  <a:lumMod val="95000"/>
                </a:schemeClr>
              </a:solidFill>
              <a:ln w="3175" cap="flat" cmpd="sng" algn="ctr">
                <a:noFill/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txBody>
              <a:bodyPr vert="horz" wrap="none" lIns="36000" tIns="36000" rIns="36000" bIns="36000" numCol="1" rtlCol="0" anchor="ctr" anchorCtr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ko-KR" altLang="en-US" sz="700" smtClean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맑은 고딕" panose="020B0503020000020004" pitchFamily="50" charset="-127"/>
                  </a:rPr>
                  <a:t>선물포장</a:t>
                </a:r>
                <a:endParaRPr lang="ko-KR" altLang="en-US" sz="7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맑은 고딕" panose="020B0503020000020004" pitchFamily="50" charset="-127"/>
                </a:endParaRPr>
              </a:p>
            </p:txBody>
          </p:sp>
          <p:grpSp>
            <p:nvGrpSpPr>
              <p:cNvPr id="782" name="그룹 781"/>
              <p:cNvGrpSpPr/>
              <p:nvPr/>
            </p:nvGrpSpPr>
            <p:grpSpPr>
              <a:xfrm>
                <a:off x="4824187" y="5892774"/>
                <a:ext cx="2879531" cy="504000"/>
                <a:chOff x="4824187" y="5892774"/>
                <a:chExt cx="2879531" cy="504000"/>
              </a:xfrm>
            </p:grpSpPr>
            <p:sp>
              <p:nvSpPr>
                <p:cNvPr id="783" name="직사각형 782">
                  <a:extLst>
                    <a:ext uri="{FF2B5EF4-FFF2-40B4-BE49-F238E27FC236}">
                      <a16:creationId xmlns:a16="http://schemas.microsoft.com/office/drawing/2014/main" xmlns="" id="{19FD5FA0-B111-4EF7-BC86-418441928DD3}"/>
                    </a:ext>
                  </a:extLst>
                </p:cNvPr>
                <p:cNvSpPr/>
                <p:nvPr/>
              </p:nvSpPr>
              <p:spPr>
                <a:xfrm>
                  <a:off x="4824187" y="5892774"/>
                  <a:ext cx="2879531" cy="504000"/>
                </a:xfrm>
                <a:prstGeom prst="rect">
                  <a:avLst/>
                </a:prstGeom>
                <a:solidFill>
                  <a:schemeClr val="bg1"/>
                </a:solidFill>
                <a:ln w="3175"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700"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맑은 고딕" panose="020B0503020000020004" pitchFamily="50" charset="-127"/>
                  </a:endParaRPr>
                </a:p>
              </p:txBody>
            </p:sp>
            <p:sp>
              <p:nvSpPr>
                <p:cNvPr id="784" name="모서리가 둥근 직사각형 783">
                  <a:extLst>
                    <a:ext uri="{FF2B5EF4-FFF2-40B4-BE49-F238E27FC236}">
                      <a16:creationId xmlns="" xmlns:a16="http://schemas.microsoft.com/office/drawing/2014/main" id="{19FD5FA0-B111-4EF7-BC86-418441928DD3}"/>
                    </a:ext>
                  </a:extLst>
                </p:cNvPr>
                <p:cNvSpPr/>
                <p:nvPr/>
              </p:nvSpPr>
              <p:spPr>
                <a:xfrm>
                  <a:off x="6477456" y="5964803"/>
                  <a:ext cx="1153187" cy="359942"/>
                </a:xfrm>
                <a:prstGeom prst="roundRect">
                  <a:avLst>
                    <a:gd name="adj" fmla="val 9391"/>
                  </a:avLst>
                </a:prstGeom>
                <a:solidFill>
                  <a:schemeClr val="tx1">
                    <a:lumMod val="75000"/>
                    <a:lumOff val="25000"/>
                  </a:schemeClr>
                </a:solidFill>
                <a:ln w="3175">
                  <a:solidFill>
                    <a:schemeClr val="tx1">
                      <a:lumMod val="75000"/>
                      <a:lumOff val="2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ko-KR" altLang="en-US" sz="700" smtClean="0">
                      <a:solidFill>
                        <a:schemeClr val="bg1"/>
                      </a:solidFill>
                      <a:latin typeface="맑은 고딕" panose="020B0503020000020004" pitchFamily="50" charset="-127"/>
                    </a:rPr>
                    <a:t>구매하기</a:t>
                  </a:r>
                  <a:endParaRPr lang="ko-KR" altLang="en-US" sz="700">
                    <a:solidFill>
                      <a:schemeClr val="bg1"/>
                    </a:solidFill>
                    <a:latin typeface="맑은 고딕" panose="020B0503020000020004" pitchFamily="50" charset="-127"/>
                  </a:endParaRPr>
                </a:p>
              </p:txBody>
            </p:sp>
            <p:sp>
              <p:nvSpPr>
                <p:cNvPr id="785" name="모서리가 둥근 직사각형 784">
                  <a:extLst>
                    <a:ext uri="{FF2B5EF4-FFF2-40B4-BE49-F238E27FC236}">
                      <a16:creationId xmlns="" xmlns:a16="http://schemas.microsoft.com/office/drawing/2014/main" id="{19FD5FA0-B111-4EF7-BC86-418441928DD3}"/>
                    </a:ext>
                  </a:extLst>
                </p:cNvPr>
                <p:cNvSpPr/>
                <p:nvPr/>
              </p:nvSpPr>
              <p:spPr>
                <a:xfrm>
                  <a:off x="4895277" y="5964803"/>
                  <a:ext cx="360000" cy="359942"/>
                </a:xfrm>
                <a:prstGeom prst="roundRect">
                  <a:avLst>
                    <a:gd name="adj" fmla="val 9391"/>
                  </a:avLst>
                </a:prstGeom>
                <a:solidFill>
                  <a:schemeClr val="bg1"/>
                </a:solidFill>
                <a:ln w="3175">
                  <a:solidFill>
                    <a:schemeClr val="tx1">
                      <a:lumMod val="75000"/>
                      <a:lumOff val="2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700" b="1">
                    <a:solidFill>
                      <a:srgbClr val="DC2832"/>
                    </a:solidFill>
                    <a:latin typeface="맑은 고딕" panose="020B0503020000020004" pitchFamily="50" charset="-127"/>
                  </a:endParaRPr>
                </a:p>
              </p:txBody>
            </p:sp>
            <p:grpSp>
              <p:nvGrpSpPr>
                <p:cNvPr id="786" name="그룹 785"/>
                <p:cNvGrpSpPr/>
                <p:nvPr/>
              </p:nvGrpSpPr>
              <p:grpSpPr>
                <a:xfrm>
                  <a:off x="4996540" y="6026179"/>
                  <a:ext cx="157474" cy="237190"/>
                  <a:chOff x="5491883" y="6027689"/>
                  <a:chExt cx="157474" cy="237190"/>
                </a:xfrm>
              </p:grpSpPr>
              <p:sp>
                <p:nvSpPr>
                  <p:cNvPr id="789" name="Like"/>
                  <p:cNvSpPr>
                    <a:spLocks noChangeAspect="1" noEditPoints="1"/>
                  </p:cNvSpPr>
                  <p:nvPr/>
                </p:nvSpPr>
                <p:spPr bwMode="auto">
                  <a:xfrm>
                    <a:off x="5491883" y="6027689"/>
                    <a:ext cx="157474" cy="157474"/>
                  </a:xfrm>
                  <a:custGeom>
                    <a:avLst/>
                    <a:gdLst>
                      <a:gd name="T0" fmla="*/ 174 w 614"/>
                      <a:gd name="T1" fmla="*/ 0 h 538"/>
                      <a:gd name="T2" fmla="*/ 0 w 614"/>
                      <a:gd name="T3" fmla="*/ 174 h 538"/>
                      <a:gd name="T4" fmla="*/ 299 w 614"/>
                      <a:gd name="T5" fmla="*/ 531 h 538"/>
                      <a:gd name="T6" fmla="*/ 307 w 614"/>
                      <a:gd name="T7" fmla="*/ 538 h 538"/>
                      <a:gd name="T8" fmla="*/ 315 w 614"/>
                      <a:gd name="T9" fmla="*/ 531 h 538"/>
                      <a:gd name="T10" fmla="*/ 614 w 614"/>
                      <a:gd name="T11" fmla="*/ 174 h 538"/>
                      <a:gd name="T12" fmla="*/ 440 w 614"/>
                      <a:gd name="T13" fmla="*/ 0 h 538"/>
                      <a:gd name="T14" fmla="*/ 307 w 614"/>
                      <a:gd name="T15" fmla="*/ 65 h 538"/>
                      <a:gd name="T16" fmla="*/ 174 w 614"/>
                      <a:gd name="T17" fmla="*/ 0 h 538"/>
                      <a:gd name="T18" fmla="*/ 174 w 614"/>
                      <a:gd name="T19" fmla="*/ 27 h 538"/>
                      <a:gd name="T20" fmla="*/ 296 w 614"/>
                      <a:gd name="T21" fmla="*/ 93 h 538"/>
                      <a:gd name="T22" fmla="*/ 307 w 614"/>
                      <a:gd name="T23" fmla="*/ 110 h 538"/>
                      <a:gd name="T24" fmla="*/ 318 w 614"/>
                      <a:gd name="T25" fmla="*/ 93 h 538"/>
                      <a:gd name="T26" fmla="*/ 440 w 614"/>
                      <a:gd name="T27" fmla="*/ 27 h 538"/>
                      <a:gd name="T28" fmla="*/ 587 w 614"/>
                      <a:gd name="T29" fmla="*/ 174 h 538"/>
                      <a:gd name="T30" fmla="*/ 307 w 614"/>
                      <a:gd name="T31" fmla="*/ 504 h 538"/>
                      <a:gd name="T32" fmla="*/ 27 w 614"/>
                      <a:gd name="T33" fmla="*/ 174 h 538"/>
                      <a:gd name="T34" fmla="*/ 174 w 614"/>
                      <a:gd name="T35" fmla="*/ 27 h 53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</a:cxnLst>
                    <a:rect l="0" t="0" r="r" b="b"/>
                    <a:pathLst>
                      <a:path w="614" h="538">
                        <a:moveTo>
                          <a:pt x="174" y="0"/>
                        </a:moveTo>
                        <a:cubicBezTo>
                          <a:pt x="78" y="0"/>
                          <a:pt x="0" y="78"/>
                          <a:pt x="0" y="174"/>
                        </a:cubicBezTo>
                        <a:cubicBezTo>
                          <a:pt x="0" y="371"/>
                          <a:pt x="223" y="468"/>
                          <a:pt x="299" y="531"/>
                        </a:cubicBezTo>
                        <a:lnTo>
                          <a:pt x="307" y="538"/>
                        </a:lnTo>
                        <a:lnTo>
                          <a:pt x="315" y="531"/>
                        </a:lnTo>
                        <a:cubicBezTo>
                          <a:pt x="391" y="468"/>
                          <a:pt x="614" y="371"/>
                          <a:pt x="614" y="174"/>
                        </a:cubicBezTo>
                        <a:cubicBezTo>
                          <a:pt x="614" y="78"/>
                          <a:pt x="536" y="0"/>
                          <a:pt x="440" y="0"/>
                        </a:cubicBezTo>
                        <a:cubicBezTo>
                          <a:pt x="386" y="0"/>
                          <a:pt x="339" y="26"/>
                          <a:pt x="307" y="65"/>
                        </a:cubicBezTo>
                        <a:cubicBezTo>
                          <a:pt x="275" y="26"/>
                          <a:pt x="228" y="0"/>
                          <a:pt x="174" y="0"/>
                        </a:cubicBezTo>
                        <a:close/>
                        <a:moveTo>
                          <a:pt x="174" y="27"/>
                        </a:moveTo>
                        <a:cubicBezTo>
                          <a:pt x="225" y="27"/>
                          <a:pt x="269" y="53"/>
                          <a:pt x="296" y="93"/>
                        </a:cubicBezTo>
                        <a:lnTo>
                          <a:pt x="307" y="110"/>
                        </a:lnTo>
                        <a:lnTo>
                          <a:pt x="318" y="93"/>
                        </a:lnTo>
                        <a:cubicBezTo>
                          <a:pt x="344" y="53"/>
                          <a:pt x="389" y="27"/>
                          <a:pt x="440" y="27"/>
                        </a:cubicBezTo>
                        <a:cubicBezTo>
                          <a:pt x="521" y="27"/>
                          <a:pt x="587" y="93"/>
                          <a:pt x="587" y="174"/>
                        </a:cubicBezTo>
                        <a:cubicBezTo>
                          <a:pt x="587" y="346"/>
                          <a:pt x="395" y="435"/>
                          <a:pt x="307" y="504"/>
                        </a:cubicBezTo>
                        <a:cubicBezTo>
                          <a:pt x="219" y="435"/>
                          <a:pt x="27" y="346"/>
                          <a:pt x="27" y="174"/>
                        </a:cubicBezTo>
                        <a:cubicBezTo>
                          <a:pt x="27" y="93"/>
                          <a:pt x="92" y="27"/>
                          <a:pt x="174" y="27"/>
                        </a:cubicBezTo>
                        <a:close/>
                      </a:path>
                    </a:pathLst>
                  </a:custGeom>
                  <a:solidFill>
                    <a:srgbClr val="5F5F5F"/>
                  </a:soli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>
                    <a:defPPr>
                      <a:defRPr lang="en-US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endParaRPr lang="en-US" sz="800">
                      <a:latin typeface="Segoe UI" panose="020B0502040204020203" pitchFamily="34" charset="0"/>
                      <a:cs typeface="Segoe UI" panose="020B0502040204020203" pitchFamily="34" charset="0"/>
                    </a:endParaRPr>
                  </a:p>
                </p:txBody>
              </p:sp>
              <p:sp>
                <p:nvSpPr>
                  <p:cNvPr id="790" name="TextBox 789"/>
                  <p:cNvSpPr txBox="1"/>
                  <p:nvPr/>
                </p:nvSpPr>
                <p:spPr>
                  <a:xfrm>
                    <a:off x="5535354" y="6187935"/>
                    <a:ext cx="70532" cy="76944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 anchor="ctr">
                    <a:spAutoFit/>
                  </a:bodyPr>
                  <a:lstStyle/>
                  <a:p>
                    <a:r>
                      <a:rPr lang="en-US" altLang="ko-KR" sz="50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rPr>
                      <a:t>54</a:t>
                    </a:r>
                    <a:endParaRPr lang="ko-KR" altLang="en-US" sz="500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맑은 고딕" panose="020B0503020000020004" pitchFamily="50" charset="-127"/>
                      <a:ea typeface="맑은 고딕" panose="020B0503020000020004" pitchFamily="50" charset="-127"/>
                    </a:endParaRPr>
                  </a:p>
                </p:txBody>
              </p:sp>
            </p:grpSp>
            <p:sp>
              <p:nvSpPr>
                <p:cNvPr id="787" name="모서리가 둥근 직사각형 786">
                  <a:extLst>
                    <a:ext uri="{FF2B5EF4-FFF2-40B4-BE49-F238E27FC236}">
                      <a16:creationId xmlns="" xmlns:a16="http://schemas.microsoft.com/office/drawing/2014/main" id="{19FD5FA0-B111-4EF7-BC86-418441928DD3}"/>
                    </a:ext>
                  </a:extLst>
                </p:cNvPr>
                <p:cNvSpPr/>
                <p:nvPr/>
              </p:nvSpPr>
              <p:spPr>
                <a:xfrm>
                  <a:off x="5326367" y="5964803"/>
                  <a:ext cx="1080000" cy="359942"/>
                </a:xfrm>
                <a:prstGeom prst="roundRect">
                  <a:avLst>
                    <a:gd name="adj" fmla="val 9391"/>
                  </a:avLst>
                </a:prstGeom>
                <a:solidFill>
                  <a:schemeClr val="bg1"/>
                </a:solidFill>
                <a:ln w="3175">
                  <a:solidFill>
                    <a:schemeClr val="tx1">
                      <a:lumMod val="75000"/>
                      <a:lumOff val="2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180000" tIns="0" rIns="0" bIns="0" rtlCol="0" anchor="ctr"/>
                <a:lstStyle/>
                <a:p>
                  <a:pPr algn="ctr"/>
                  <a:r>
                    <a:rPr lang="ko-KR" altLang="en-US" sz="700" b="1" smtClean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맑은 고딕" panose="020B0503020000020004" pitchFamily="50" charset="-127"/>
                    </a:rPr>
                    <a:t>선물하기</a:t>
                  </a:r>
                  <a:endParaRPr lang="ko-KR" altLang="en-US" sz="700" b="1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맑은 고딕" panose="020B0503020000020004" pitchFamily="50" charset="-127"/>
                  </a:endParaRPr>
                </a:p>
              </p:txBody>
            </p:sp>
            <p:sp>
              <p:nvSpPr>
                <p:cNvPr id="788" name="Gift"/>
                <p:cNvSpPr>
                  <a:spLocks noChangeAspect="1" noEditPoints="1"/>
                </p:cNvSpPr>
                <p:nvPr/>
              </p:nvSpPr>
              <p:spPr bwMode="auto">
                <a:xfrm>
                  <a:off x="5582428" y="6072774"/>
                  <a:ext cx="142545" cy="144000"/>
                </a:xfrm>
                <a:custGeom>
                  <a:avLst/>
                  <a:gdLst>
                    <a:gd name="T0" fmla="*/ 95 w 640"/>
                    <a:gd name="T1" fmla="*/ 23 h 640"/>
                    <a:gd name="T2" fmla="*/ 124 w 640"/>
                    <a:gd name="T3" fmla="*/ 147 h 640"/>
                    <a:gd name="T4" fmla="*/ 0 w 640"/>
                    <a:gd name="T5" fmla="*/ 160 h 640"/>
                    <a:gd name="T6" fmla="*/ 27 w 640"/>
                    <a:gd name="T7" fmla="*/ 307 h 640"/>
                    <a:gd name="T8" fmla="*/ 614 w 640"/>
                    <a:gd name="T9" fmla="*/ 640 h 640"/>
                    <a:gd name="T10" fmla="*/ 640 w 640"/>
                    <a:gd name="T11" fmla="*/ 307 h 640"/>
                    <a:gd name="T12" fmla="*/ 492 w 640"/>
                    <a:gd name="T13" fmla="*/ 160 h 640"/>
                    <a:gd name="T14" fmla="*/ 560 w 640"/>
                    <a:gd name="T15" fmla="*/ 67 h 640"/>
                    <a:gd name="T16" fmla="*/ 489 w 640"/>
                    <a:gd name="T17" fmla="*/ 0 h 640"/>
                    <a:gd name="T18" fmla="*/ 387 w 640"/>
                    <a:gd name="T19" fmla="*/ 80 h 640"/>
                    <a:gd name="T20" fmla="*/ 320 w 640"/>
                    <a:gd name="T21" fmla="*/ 147 h 640"/>
                    <a:gd name="T22" fmla="*/ 254 w 640"/>
                    <a:gd name="T23" fmla="*/ 80 h 640"/>
                    <a:gd name="T24" fmla="*/ 151 w 640"/>
                    <a:gd name="T25" fmla="*/ 0 h 640"/>
                    <a:gd name="T26" fmla="*/ 197 w 640"/>
                    <a:gd name="T27" fmla="*/ 46 h 640"/>
                    <a:gd name="T28" fmla="*/ 265 w 640"/>
                    <a:gd name="T29" fmla="*/ 146 h 640"/>
                    <a:gd name="T30" fmla="*/ 214 w 640"/>
                    <a:gd name="T31" fmla="*/ 147 h 640"/>
                    <a:gd name="T32" fmla="*/ 107 w 640"/>
                    <a:gd name="T33" fmla="*/ 67 h 640"/>
                    <a:gd name="T34" fmla="*/ 151 w 640"/>
                    <a:gd name="T35" fmla="*/ 27 h 640"/>
                    <a:gd name="T36" fmla="*/ 525 w 640"/>
                    <a:gd name="T37" fmla="*/ 40 h 640"/>
                    <a:gd name="T38" fmla="*/ 501 w 640"/>
                    <a:gd name="T39" fmla="*/ 125 h 640"/>
                    <a:gd name="T40" fmla="*/ 375 w 640"/>
                    <a:gd name="T41" fmla="*/ 147 h 640"/>
                    <a:gd name="T42" fmla="*/ 410 w 640"/>
                    <a:gd name="T43" fmla="*/ 94 h 640"/>
                    <a:gd name="T44" fmla="*/ 489 w 640"/>
                    <a:gd name="T45" fmla="*/ 27 h 640"/>
                    <a:gd name="T46" fmla="*/ 240 w 640"/>
                    <a:gd name="T47" fmla="*/ 187 h 640"/>
                    <a:gd name="T48" fmla="*/ 27 w 640"/>
                    <a:gd name="T49" fmla="*/ 280 h 640"/>
                    <a:gd name="T50" fmla="*/ 267 w 640"/>
                    <a:gd name="T51" fmla="*/ 187 h 640"/>
                    <a:gd name="T52" fmla="*/ 374 w 640"/>
                    <a:gd name="T53" fmla="*/ 614 h 640"/>
                    <a:gd name="T54" fmla="*/ 267 w 640"/>
                    <a:gd name="T55" fmla="*/ 187 h 640"/>
                    <a:gd name="T56" fmla="*/ 614 w 640"/>
                    <a:gd name="T57" fmla="*/ 187 h 640"/>
                    <a:gd name="T58" fmla="*/ 400 w 640"/>
                    <a:gd name="T59" fmla="*/ 280 h 640"/>
                    <a:gd name="T60" fmla="*/ 54 w 640"/>
                    <a:gd name="T61" fmla="*/ 307 h 640"/>
                    <a:gd name="T62" fmla="*/ 240 w 640"/>
                    <a:gd name="T63" fmla="*/ 614 h 640"/>
                    <a:gd name="T64" fmla="*/ 54 w 640"/>
                    <a:gd name="T65" fmla="*/ 307 h 640"/>
                    <a:gd name="T66" fmla="*/ 587 w 640"/>
                    <a:gd name="T67" fmla="*/ 307 h 640"/>
                    <a:gd name="T68" fmla="*/ 400 w 640"/>
                    <a:gd name="T69" fmla="*/ 614 h 64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</a:cxnLst>
                  <a:rect l="0" t="0" r="r" b="b"/>
                  <a:pathLst>
                    <a:path w="640" h="640">
                      <a:moveTo>
                        <a:pt x="151" y="0"/>
                      </a:moveTo>
                      <a:cubicBezTo>
                        <a:pt x="126" y="0"/>
                        <a:pt x="106" y="9"/>
                        <a:pt x="95" y="23"/>
                      </a:cubicBezTo>
                      <a:cubicBezTo>
                        <a:pt x="84" y="36"/>
                        <a:pt x="80" y="53"/>
                        <a:pt x="80" y="67"/>
                      </a:cubicBezTo>
                      <a:cubicBezTo>
                        <a:pt x="80" y="101"/>
                        <a:pt x="99" y="129"/>
                        <a:pt x="124" y="147"/>
                      </a:cubicBezTo>
                      <a:cubicBezTo>
                        <a:pt x="132" y="152"/>
                        <a:pt x="140" y="157"/>
                        <a:pt x="149" y="160"/>
                      </a:cubicBezTo>
                      <a:lnTo>
                        <a:pt x="0" y="160"/>
                      </a:lnTo>
                      <a:lnTo>
                        <a:pt x="0" y="307"/>
                      </a:lnTo>
                      <a:lnTo>
                        <a:pt x="27" y="307"/>
                      </a:lnTo>
                      <a:lnTo>
                        <a:pt x="27" y="640"/>
                      </a:lnTo>
                      <a:lnTo>
                        <a:pt x="614" y="640"/>
                      </a:lnTo>
                      <a:lnTo>
                        <a:pt x="614" y="307"/>
                      </a:lnTo>
                      <a:lnTo>
                        <a:pt x="640" y="307"/>
                      </a:lnTo>
                      <a:lnTo>
                        <a:pt x="640" y="160"/>
                      </a:lnTo>
                      <a:lnTo>
                        <a:pt x="492" y="160"/>
                      </a:lnTo>
                      <a:cubicBezTo>
                        <a:pt x="501" y="157"/>
                        <a:pt x="509" y="152"/>
                        <a:pt x="517" y="147"/>
                      </a:cubicBezTo>
                      <a:cubicBezTo>
                        <a:pt x="542" y="129"/>
                        <a:pt x="560" y="101"/>
                        <a:pt x="560" y="67"/>
                      </a:cubicBezTo>
                      <a:cubicBezTo>
                        <a:pt x="560" y="53"/>
                        <a:pt x="557" y="36"/>
                        <a:pt x="546" y="23"/>
                      </a:cubicBezTo>
                      <a:cubicBezTo>
                        <a:pt x="534" y="9"/>
                        <a:pt x="515" y="0"/>
                        <a:pt x="489" y="0"/>
                      </a:cubicBezTo>
                      <a:cubicBezTo>
                        <a:pt x="463" y="0"/>
                        <a:pt x="442" y="12"/>
                        <a:pt x="425" y="27"/>
                      </a:cubicBezTo>
                      <a:cubicBezTo>
                        <a:pt x="409" y="43"/>
                        <a:pt x="398" y="62"/>
                        <a:pt x="387" y="80"/>
                      </a:cubicBezTo>
                      <a:cubicBezTo>
                        <a:pt x="376" y="99"/>
                        <a:pt x="366" y="117"/>
                        <a:pt x="356" y="129"/>
                      </a:cubicBezTo>
                      <a:cubicBezTo>
                        <a:pt x="345" y="141"/>
                        <a:pt x="335" y="147"/>
                        <a:pt x="320" y="147"/>
                      </a:cubicBezTo>
                      <a:cubicBezTo>
                        <a:pt x="306" y="147"/>
                        <a:pt x="296" y="141"/>
                        <a:pt x="285" y="129"/>
                      </a:cubicBezTo>
                      <a:cubicBezTo>
                        <a:pt x="274" y="117"/>
                        <a:pt x="265" y="99"/>
                        <a:pt x="254" y="80"/>
                      </a:cubicBezTo>
                      <a:cubicBezTo>
                        <a:pt x="243" y="62"/>
                        <a:pt x="231" y="43"/>
                        <a:pt x="215" y="27"/>
                      </a:cubicBezTo>
                      <a:cubicBezTo>
                        <a:pt x="199" y="12"/>
                        <a:pt x="178" y="0"/>
                        <a:pt x="151" y="0"/>
                      </a:cubicBezTo>
                      <a:close/>
                      <a:moveTo>
                        <a:pt x="151" y="27"/>
                      </a:moveTo>
                      <a:cubicBezTo>
                        <a:pt x="171" y="27"/>
                        <a:pt x="184" y="34"/>
                        <a:pt x="197" y="46"/>
                      </a:cubicBezTo>
                      <a:cubicBezTo>
                        <a:pt x="209" y="58"/>
                        <a:pt x="220" y="76"/>
                        <a:pt x="231" y="94"/>
                      </a:cubicBezTo>
                      <a:cubicBezTo>
                        <a:pt x="241" y="112"/>
                        <a:pt x="252" y="131"/>
                        <a:pt x="265" y="146"/>
                      </a:cubicBezTo>
                      <a:cubicBezTo>
                        <a:pt x="266" y="147"/>
                        <a:pt x="266" y="147"/>
                        <a:pt x="266" y="147"/>
                      </a:cubicBezTo>
                      <a:lnTo>
                        <a:pt x="214" y="147"/>
                      </a:lnTo>
                      <a:cubicBezTo>
                        <a:pt x="187" y="147"/>
                        <a:pt x="159" y="139"/>
                        <a:pt x="139" y="125"/>
                      </a:cubicBezTo>
                      <a:cubicBezTo>
                        <a:pt x="119" y="111"/>
                        <a:pt x="107" y="92"/>
                        <a:pt x="107" y="67"/>
                      </a:cubicBezTo>
                      <a:cubicBezTo>
                        <a:pt x="107" y="57"/>
                        <a:pt x="110" y="47"/>
                        <a:pt x="116" y="40"/>
                      </a:cubicBezTo>
                      <a:cubicBezTo>
                        <a:pt x="121" y="33"/>
                        <a:pt x="131" y="27"/>
                        <a:pt x="151" y="27"/>
                      </a:cubicBezTo>
                      <a:close/>
                      <a:moveTo>
                        <a:pt x="489" y="27"/>
                      </a:moveTo>
                      <a:cubicBezTo>
                        <a:pt x="510" y="27"/>
                        <a:pt x="519" y="33"/>
                        <a:pt x="525" y="40"/>
                      </a:cubicBezTo>
                      <a:cubicBezTo>
                        <a:pt x="531" y="47"/>
                        <a:pt x="534" y="57"/>
                        <a:pt x="534" y="67"/>
                      </a:cubicBezTo>
                      <a:cubicBezTo>
                        <a:pt x="534" y="92"/>
                        <a:pt x="521" y="111"/>
                        <a:pt x="501" y="125"/>
                      </a:cubicBezTo>
                      <a:cubicBezTo>
                        <a:pt x="482" y="139"/>
                        <a:pt x="454" y="147"/>
                        <a:pt x="427" y="147"/>
                      </a:cubicBezTo>
                      <a:lnTo>
                        <a:pt x="375" y="147"/>
                      </a:lnTo>
                      <a:cubicBezTo>
                        <a:pt x="375" y="147"/>
                        <a:pt x="375" y="147"/>
                        <a:pt x="376" y="146"/>
                      </a:cubicBezTo>
                      <a:cubicBezTo>
                        <a:pt x="389" y="131"/>
                        <a:pt x="399" y="112"/>
                        <a:pt x="410" y="94"/>
                      </a:cubicBezTo>
                      <a:cubicBezTo>
                        <a:pt x="421" y="76"/>
                        <a:pt x="431" y="58"/>
                        <a:pt x="444" y="46"/>
                      </a:cubicBezTo>
                      <a:cubicBezTo>
                        <a:pt x="456" y="34"/>
                        <a:pt x="470" y="27"/>
                        <a:pt x="489" y="27"/>
                      </a:cubicBezTo>
                      <a:close/>
                      <a:moveTo>
                        <a:pt x="27" y="187"/>
                      </a:moveTo>
                      <a:lnTo>
                        <a:pt x="240" y="187"/>
                      </a:lnTo>
                      <a:lnTo>
                        <a:pt x="240" y="280"/>
                      </a:lnTo>
                      <a:lnTo>
                        <a:pt x="27" y="280"/>
                      </a:lnTo>
                      <a:lnTo>
                        <a:pt x="27" y="187"/>
                      </a:lnTo>
                      <a:close/>
                      <a:moveTo>
                        <a:pt x="267" y="187"/>
                      </a:moveTo>
                      <a:lnTo>
                        <a:pt x="374" y="187"/>
                      </a:lnTo>
                      <a:cubicBezTo>
                        <a:pt x="374" y="329"/>
                        <a:pt x="374" y="471"/>
                        <a:pt x="374" y="614"/>
                      </a:cubicBezTo>
                      <a:lnTo>
                        <a:pt x="267" y="614"/>
                      </a:lnTo>
                      <a:cubicBezTo>
                        <a:pt x="267" y="471"/>
                        <a:pt x="267" y="329"/>
                        <a:pt x="267" y="187"/>
                      </a:cubicBezTo>
                      <a:close/>
                      <a:moveTo>
                        <a:pt x="400" y="187"/>
                      </a:moveTo>
                      <a:lnTo>
                        <a:pt x="614" y="187"/>
                      </a:lnTo>
                      <a:lnTo>
                        <a:pt x="614" y="280"/>
                      </a:lnTo>
                      <a:lnTo>
                        <a:pt x="400" y="280"/>
                      </a:lnTo>
                      <a:lnTo>
                        <a:pt x="400" y="187"/>
                      </a:lnTo>
                      <a:close/>
                      <a:moveTo>
                        <a:pt x="54" y="307"/>
                      </a:moveTo>
                      <a:lnTo>
                        <a:pt x="240" y="307"/>
                      </a:lnTo>
                      <a:lnTo>
                        <a:pt x="240" y="614"/>
                      </a:lnTo>
                      <a:lnTo>
                        <a:pt x="54" y="614"/>
                      </a:lnTo>
                      <a:lnTo>
                        <a:pt x="54" y="307"/>
                      </a:lnTo>
                      <a:close/>
                      <a:moveTo>
                        <a:pt x="400" y="307"/>
                      </a:moveTo>
                      <a:lnTo>
                        <a:pt x="587" y="307"/>
                      </a:lnTo>
                      <a:lnTo>
                        <a:pt x="587" y="614"/>
                      </a:lnTo>
                      <a:lnTo>
                        <a:pt x="400" y="614"/>
                      </a:lnTo>
                      <a:lnTo>
                        <a:pt x="400" y="307"/>
                      </a:lnTo>
                      <a:close/>
                    </a:path>
                  </a:pathLst>
                </a:custGeom>
                <a:solidFill>
                  <a:srgbClr val="5F5F5F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en-US" sz="900" dirty="0">
                    <a:latin typeface="Segoe UI" panose="020B0502040204020203" pitchFamily="34" charset="0"/>
                    <a:cs typeface="Segoe UI" panose="020B0502040204020203" pitchFamily="34" charset="0"/>
                  </a:endParaRPr>
                </a:p>
              </p:txBody>
            </p:sp>
          </p:grpSp>
        </p:grpSp>
        <p:sp>
          <p:nvSpPr>
            <p:cNvPr id="684" name="직사각형 683"/>
            <p:cNvSpPr/>
            <p:nvPr/>
          </p:nvSpPr>
          <p:spPr>
            <a:xfrm>
              <a:off x="4824696" y="709700"/>
              <a:ext cx="2880000" cy="5688023"/>
            </a:xfrm>
            <a:prstGeom prst="rect">
              <a:avLst/>
            </a:prstGeom>
            <a:solidFill>
              <a:schemeClr val="tx1">
                <a:lumMod val="75000"/>
                <a:lumOff val="25000"/>
                <a:alpha val="50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685" name="직사각형 684"/>
            <p:cNvSpPr/>
            <p:nvPr/>
          </p:nvSpPr>
          <p:spPr>
            <a:xfrm>
              <a:off x="4824696" y="2293366"/>
              <a:ext cx="2880000" cy="4104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686" name="Delete"/>
            <p:cNvSpPr>
              <a:spLocks noChangeAspect="1"/>
            </p:cNvSpPr>
            <p:nvPr/>
          </p:nvSpPr>
          <p:spPr bwMode="auto">
            <a:xfrm>
              <a:off x="7416985" y="4242053"/>
              <a:ext cx="143992" cy="143991"/>
            </a:xfrm>
            <a:custGeom>
              <a:avLst/>
              <a:gdLst>
                <a:gd name="T0" fmla="*/ 3 w 77"/>
                <a:gd name="T1" fmla="*/ 0 h 77"/>
                <a:gd name="T2" fmla="*/ 0 w 77"/>
                <a:gd name="T3" fmla="*/ 3 h 77"/>
                <a:gd name="T4" fmla="*/ 36 w 77"/>
                <a:gd name="T5" fmla="*/ 38 h 77"/>
                <a:gd name="T6" fmla="*/ 0 w 77"/>
                <a:gd name="T7" fmla="*/ 74 h 77"/>
                <a:gd name="T8" fmla="*/ 3 w 77"/>
                <a:gd name="T9" fmla="*/ 77 h 77"/>
                <a:gd name="T10" fmla="*/ 39 w 77"/>
                <a:gd name="T11" fmla="*/ 41 h 77"/>
                <a:gd name="T12" fmla="*/ 74 w 77"/>
                <a:gd name="T13" fmla="*/ 77 h 77"/>
                <a:gd name="T14" fmla="*/ 77 w 77"/>
                <a:gd name="T15" fmla="*/ 74 h 77"/>
                <a:gd name="T16" fmla="*/ 42 w 77"/>
                <a:gd name="T17" fmla="*/ 38 h 77"/>
                <a:gd name="T18" fmla="*/ 77 w 77"/>
                <a:gd name="T19" fmla="*/ 3 h 77"/>
                <a:gd name="T20" fmla="*/ 74 w 77"/>
                <a:gd name="T21" fmla="*/ 0 h 77"/>
                <a:gd name="T22" fmla="*/ 39 w 77"/>
                <a:gd name="T23" fmla="*/ 35 h 77"/>
                <a:gd name="T24" fmla="*/ 3 w 77"/>
                <a:gd name="T25" fmla="*/ 0 h 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7" h="77">
                  <a:moveTo>
                    <a:pt x="3" y="0"/>
                  </a:moveTo>
                  <a:lnTo>
                    <a:pt x="0" y="3"/>
                  </a:lnTo>
                  <a:lnTo>
                    <a:pt x="36" y="38"/>
                  </a:lnTo>
                  <a:lnTo>
                    <a:pt x="0" y="74"/>
                  </a:lnTo>
                  <a:lnTo>
                    <a:pt x="3" y="77"/>
                  </a:lnTo>
                  <a:lnTo>
                    <a:pt x="39" y="41"/>
                  </a:lnTo>
                  <a:lnTo>
                    <a:pt x="74" y="77"/>
                  </a:lnTo>
                  <a:lnTo>
                    <a:pt x="77" y="74"/>
                  </a:lnTo>
                  <a:lnTo>
                    <a:pt x="42" y="38"/>
                  </a:lnTo>
                  <a:lnTo>
                    <a:pt x="77" y="3"/>
                  </a:lnTo>
                  <a:lnTo>
                    <a:pt x="74" y="0"/>
                  </a:lnTo>
                  <a:lnTo>
                    <a:pt x="39" y="35"/>
                  </a:lnTo>
                  <a:lnTo>
                    <a:pt x="3" y="0"/>
                  </a:lnTo>
                  <a:close/>
                </a:path>
              </a:pathLst>
            </a:custGeom>
            <a:solidFill>
              <a:srgbClr val="5F5F5F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80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687" name="TextBox 686">
              <a:extLst>
                <a:ext uri="{FF2B5EF4-FFF2-40B4-BE49-F238E27FC236}">
                  <a16:creationId xmlns="" xmlns:a16="http://schemas.microsoft.com/office/drawing/2014/main" id="{0C96C875-C47F-4F5B-B4C1-F9D666A7BD9D}"/>
                </a:ext>
              </a:extLst>
            </p:cNvPr>
            <p:cNvSpPr txBox="1"/>
            <p:nvPr/>
          </p:nvSpPr>
          <p:spPr>
            <a:xfrm>
              <a:off x="4968415" y="2453740"/>
              <a:ext cx="463836" cy="180425"/>
            </a:xfrm>
            <a:prstGeom prst="rect">
              <a:avLst/>
            </a:prstGeom>
            <a:noFill/>
            <a:ln w="3175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none" lIns="36000" tIns="36000" rIns="36000" bIns="36000" numCol="1" rtlCol="0" anchor="ctr" anchorCtr="0" compatLnSpc="1">
              <a:prstTxWarp prst="textNoShape">
                <a:avLst/>
              </a:prstTxWarp>
              <a:spAutoFit/>
            </a:bodyPr>
            <a:lstStyle/>
            <a:p>
              <a:r>
                <a:rPr lang="ko-KR" altLang="en-US" sz="700" b="1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컬러</a:t>
              </a:r>
              <a:r>
                <a:rPr lang="ko-KR" altLang="en-US" sz="70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 블랙</a:t>
              </a:r>
              <a:endParaRPr lang="ko-KR" altLang="en-US" sz="7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688" name="모서리가 둥근 직사각형 687"/>
            <p:cNvSpPr/>
            <p:nvPr/>
          </p:nvSpPr>
          <p:spPr>
            <a:xfrm>
              <a:off x="4968415" y="2653350"/>
              <a:ext cx="432000" cy="539912"/>
            </a:xfrm>
            <a:prstGeom prst="roundRect">
              <a:avLst>
                <a:gd name="adj" fmla="val 11375"/>
              </a:avLst>
            </a:prstGeom>
            <a:pattFill prst="openDmnd">
              <a:fgClr>
                <a:schemeClr val="bg1">
                  <a:lumMod val="85000"/>
                </a:schemeClr>
              </a:fgClr>
              <a:bgClr>
                <a:schemeClr val="bg1"/>
              </a:bgClr>
            </a:patt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60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PROD</a:t>
              </a:r>
            </a:p>
            <a:p>
              <a:pPr algn="ctr"/>
              <a:r>
                <a:rPr lang="en-US" altLang="ko-KR" sz="60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IMG</a:t>
              </a:r>
              <a:endParaRPr lang="ko-KR" altLang="en-US" sz="6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689" name="모서리가 둥근 직사각형 688"/>
            <p:cNvSpPr/>
            <p:nvPr/>
          </p:nvSpPr>
          <p:spPr>
            <a:xfrm>
              <a:off x="5472836" y="2653350"/>
              <a:ext cx="432000" cy="539912"/>
            </a:xfrm>
            <a:prstGeom prst="roundRect">
              <a:avLst>
                <a:gd name="adj" fmla="val 11375"/>
              </a:avLst>
            </a:prstGeom>
            <a:pattFill prst="openDmnd">
              <a:fgClr>
                <a:schemeClr val="bg1">
                  <a:lumMod val="85000"/>
                </a:schemeClr>
              </a:fgClr>
              <a:bgClr>
                <a:schemeClr val="bg1"/>
              </a:bgClr>
            </a:patt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60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PROD</a:t>
              </a:r>
            </a:p>
            <a:p>
              <a:pPr algn="ctr"/>
              <a:r>
                <a:rPr lang="en-US" altLang="ko-KR" sz="60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IMG</a:t>
              </a:r>
              <a:endParaRPr lang="ko-KR" altLang="en-US" sz="6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690" name="TextBox 689">
              <a:extLst>
                <a:ext uri="{FF2B5EF4-FFF2-40B4-BE49-F238E27FC236}">
                  <a16:creationId xmlns="" xmlns:a16="http://schemas.microsoft.com/office/drawing/2014/main" id="{0C96C875-C47F-4F5B-B4C1-F9D666A7BD9D}"/>
                </a:ext>
              </a:extLst>
            </p:cNvPr>
            <p:cNvSpPr txBox="1"/>
            <p:nvPr/>
          </p:nvSpPr>
          <p:spPr>
            <a:xfrm>
              <a:off x="4968415" y="3282961"/>
              <a:ext cx="342008" cy="180425"/>
            </a:xfrm>
            <a:prstGeom prst="rect">
              <a:avLst/>
            </a:prstGeom>
            <a:noFill/>
            <a:ln w="3175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none" lIns="36000" tIns="36000" rIns="36000" bIns="36000" numCol="1" rtlCol="0" anchor="ctr" anchorCtr="0" compatLnSpc="1">
              <a:prstTxWarp prst="textNoShape">
                <a:avLst/>
              </a:prstTxWarp>
              <a:spAutoFit/>
            </a:bodyPr>
            <a:lstStyle/>
            <a:p>
              <a:r>
                <a:rPr lang="ko-KR" altLang="en-US" sz="700" b="1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사이즈</a:t>
              </a:r>
              <a:endParaRPr lang="ko-KR" altLang="en-US" sz="7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691" name="모서리가 둥근 직사각형 690"/>
            <p:cNvSpPr/>
            <p:nvPr/>
          </p:nvSpPr>
          <p:spPr>
            <a:xfrm>
              <a:off x="4968415" y="3482095"/>
              <a:ext cx="359942" cy="288000"/>
            </a:xfrm>
            <a:prstGeom prst="roundRect">
              <a:avLst>
                <a:gd name="adj" fmla="val 11375"/>
              </a:avLst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80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95</a:t>
              </a:r>
              <a:endParaRPr lang="ko-KR" altLang="en-US" sz="8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692" name="모서리가 둥근 직사각형 691"/>
            <p:cNvSpPr/>
            <p:nvPr/>
          </p:nvSpPr>
          <p:spPr>
            <a:xfrm>
              <a:off x="5401281" y="3482095"/>
              <a:ext cx="359942" cy="288000"/>
            </a:xfrm>
            <a:prstGeom prst="roundRect">
              <a:avLst>
                <a:gd name="adj" fmla="val 11375"/>
              </a:avLst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80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100</a:t>
              </a:r>
              <a:endParaRPr lang="ko-KR" altLang="en-US" sz="8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693" name="모서리가 둥근 직사각형 692"/>
            <p:cNvSpPr/>
            <p:nvPr/>
          </p:nvSpPr>
          <p:spPr>
            <a:xfrm>
              <a:off x="5833016" y="3482095"/>
              <a:ext cx="359942" cy="288000"/>
            </a:xfrm>
            <a:prstGeom prst="roundRect">
              <a:avLst>
                <a:gd name="adj" fmla="val 11375"/>
              </a:avLst>
            </a:prstGeom>
            <a:solidFill>
              <a:schemeClr val="accent1">
                <a:lumMod val="20000"/>
                <a:lumOff val="80000"/>
              </a:schemeClr>
            </a:solidFill>
            <a:ln w="31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80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105</a:t>
              </a:r>
              <a:endParaRPr lang="ko-KR" altLang="en-US" sz="8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694" name="모서리가 둥근 직사각형 693"/>
            <p:cNvSpPr/>
            <p:nvPr/>
          </p:nvSpPr>
          <p:spPr>
            <a:xfrm>
              <a:off x="6263692" y="3482095"/>
              <a:ext cx="359942" cy="288000"/>
            </a:xfrm>
            <a:prstGeom prst="roundRect">
              <a:avLst>
                <a:gd name="adj" fmla="val 11375"/>
              </a:avLst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80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110</a:t>
              </a:r>
              <a:endParaRPr lang="ko-KR" altLang="en-US" sz="8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695" name="모서리가 둥근 직사각형 694"/>
            <p:cNvSpPr/>
            <p:nvPr/>
          </p:nvSpPr>
          <p:spPr>
            <a:xfrm>
              <a:off x="6696361" y="3482095"/>
              <a:ext cx="359942" cy="288000"/>
            </a:xfrm>
            <a:prstGeom prst="roundRect">
              <a:avLst>
                <a:gd name="adj" fmla="val 11375"/>
              </a:avLst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80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115</a:t>
              </a:r>
              <a:endParaRPr lang="ko-KR" altLang="en-US" sz="8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696" name="모서리가 둥근 직사각형 695"/>
            <p:cNvSpPr/>
            <p:nvPr/>
          </p:nvSpPr>
          <p:spPr>
            <a:xfrm>
              <a:off x="7128884" y="3482095"/>
              <a:ext cx="359942" cy="288000"/>
            </a:xfrm>
            <a:prstGeom prst="roundRect">
              <a:avLst>
                <a:gd name="adj" fmla="val 11375"/>
              </a:avLst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800" strike="sngStrike" smtClean="0">
                  <a:solidFill>
                    <a:schemeClr val="bg1">
                      <a:lumMod val="75000"/>
                    </a:schemeClr>
                  </a:solidFill>
                  <a:latin typeface="맑은 고딕" panose="020B0503020000020004" pitchFamily="50" charset="-127"/>
                </a:rPr>
                <a:t>120</a:t>
              </a:r>
              <a:endParaRPr lang="ko-KR" altLang="en-US" sz="800" strike="sngStrike">
                <a:solidFill>
                  <a:schemeClr val="bg1">
                    <a:lumMod val="75000"/>
                  </a:schemeClr>
                </a:solidFill>
                <a:latin typeface="맑은 고딕" panose="020B0503020000020004" pitchFamily="50" charset="-127"/>
              </a:endParaRPr>
            </a:p>
          </p:txBody>
        </p:sp>
        <p:grpSp>
          <p:nvGrpSpPr>
            <p:cNvPr id="697" name="그룹 696"/>
            <p:cNvGrpSpPr/>
            <p:nvPr/>
          </p:nvGrpSpPr>
          <p:grpSpPr>
            <a:xfrm>
              <a:off x="7343583" y="3445386"/>
              <a:ext cx="179970" cy="179970"/>
              <a:chOff x="7589341" y="3009028"/>
              <a:chExt cx="180000" cy="180000"/>
            </a:xfrm>
          </p:grpSpPr>
          <p:sp>
            <p:nvSpPr>
              <p:cNvPr id="723" name="타원 722"/>
              <p:cNvSpPr/>
              <p:nvPr/>
            </p:nvSpPr>
            <p:spPr>
              <a:xfrm>
                <a:off x="7589341" y="3009028"/>
                <a:ext cx="180000" cy="180000"/>
              </a:xfrm>
              <a:prstGeom prst="ellipse">
                <a:avLst/>
              </a:prstGeom>
              <a:solidFill>
                <a:schemeClr val="bg1"/>
              </a:solidFill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ko-KR" altLang="en-US" sz="500" b="1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  <p:grpSp>
            <p:nvGrpSpPr>
              <p:cNvPr id="724" name="그룹 723"/>
              <p:cNvGrpSpPr/>
              <p:nvPr/>
            </p:nvGrpSpPr>
            <p:grpSpPr>
              <a:xfrm>
                <a:off x="7625341" y="3045028"/>
                <a:ext cx="108000" cy="108000"/>
                <a:chOff x="531806" y="1604594"/>
                <a:chExt cx="180000" cy="180738"/>
              </a:xfrm>
            </p:grpSpPr>
            <p:grpSp>
              <p:nvGrpSpPr>
                <p:cNvPr id="725" name="그룹 724"/>
                <p:cNvGrpSpPr/>
                <p:nvPr/>
              </p:nvGrpSpPr>
              <p:grpSpPr>
                <a:xfrm>
                  <a:off x="549806" y="1604594"/>
                  <a:ext cx="144000" cy="180738"/>
                  <a:chOff x="691953" y="1723346"/>
                  <a:chExt cx="144000" cy="180738"/>
                </a:xfrm>
                <a:solidFill>
                  <a:schemeClr val="bg1"/>
                </a:solidFill>
              </p:grpSpPr>
              <p:sp>
                <p:nvSpPr>
                  <p:cNvPr id="727" name="양쪽 모서리가 둥근 사각형 726"/>
                  <p:cNvSpPr/>
                  <p:nvPr/>
                </p:nvSpPr>
                <p:spPr>
                  <a:xfrm>
                    <a:off x="700953" y="1723346"/>
                    <a:ext cx="126000" cy="126000"/>
                  </a:xfrm>
                  <a:prstGeom prst="round2SameRect">
                    <a:avLst>
                      <a:gd name="adj1" fmla="val 50000"/>
                      <a:gd name="adj2" fmla="val 0"/>
                    </a:avLst>
                  </a:prstGeom>
                  <a:grpFill/>
                  <a:ln w="3175">
                    <a:solidFill>
                      <a:srgbClr val="DC283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 sz="70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맑은 고딕" panose="020B0503020000020004" pitchFamily="50" charset="-127"/>
                      <a:ea typeface="맑은 고딕" panose="020B0503020000020004" pitchFamily="50" charset="-127"/>
                    </a:endParaRPr>
                  </a:p>
                </p:txBody>
              </p:sp>
              <p:sp>
                <p:nvSpPr>
                  <p:cNvPr id="728" name="타원 727"/>
                  <p:cNvSpPr/>
                  <p:nvPr/>
                </p:nvSpPr>
                <p:spPr>
                  <a:xfrm>
                    <a:off x="736953" y="1850084"/>
                    <a:ext cx="54000" cy="54000"/>
                  </a:xfrm>
                  <a:prstGeom prst="ellipse">
                    <a:avLst/>
                  </a:prstGeom>
                  <a:grpFill/>
                  <a:ln w="3175">
                    <a:solidFill>
                      <a:srgbClr val="DC283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 sz="70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맑은 고딕" panose="020B0503020000020004" pitchFamily="50" charset="-127"/>
                      <a:ea typeface="맑은 고딕" panose="020B0503020000020004" pitchFamily="50" charset="-127"/>
                    </a:endParaRPr>
                  </a:p>
                </p:txBody>
              </p:sp>
              <p:sp>
                <p:nvSpPr>
                  <p:cNvPr id="729" name="직사각형 728"/>
                  <p:cNvSpPr/>
                  <p:nvPr/>
                </p:nvSpPr>
                <p:spPr>
                  <a:xfrm>
                    <a:off x="691953" y="1811453"/>
                    <a:ext cx="144000" cy="18000"/>
                  </a:xfrm>
                  <a:prstGeom prst="rect">
                    <a:avLst/>
                  </a:prstGeom>
                  <a:grpFill/>
                  <a:ln w="3175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 sz="70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맑은 고딕" panose="020B0503020000020004" pitchFamily="50" charset="-127"/>
                      <a:ea typeface="맑은 고딕" panose="020B0503020000020004" pitchFamily="50" charset="-127"/>
                    </a:endParaRPr>
                  </a:p>
                </p:txBody>
              </p:sp>
              <p:sp>
                <p:nvSpPr>
                  <p:cNvPr id="730" name="직사각형 729"/>
                  <p:cNvSpPr/>
                  <p:nvPr/>
                </p:nvSpPr>
                <p:spPr>
                  <a:xfrm>
                    <a:off x="691953" y="1859609"/>
                    <a:ext cx="144000" cy="18000"/>
                  </a:xfrm>
                  <a:prstGeom prst="rect">
                    <a:avLst/>
                  </a:prstGeom>
                  <a:grpFill/>
                  <a:ln w="3175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 sz="70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맑은 고딕" panose="020B0503020000020004" pitchFamily="50" charset="-127"/>
                      <a:ea typeface="맑은 고딕" panose="020B0503020000020004" pitchFamily="50" charset="-127"/>
                    </a:endParaRPr>
                  </a:p>
                </p:txBody>
              </p:sp>
              <p:sp>
                <p:nvSpPr>
                  <p:cNvPr id="731" name="직사각형 730"/>
                  <p:cNvSpPr/>
                  <p:nvPr/>
                </p:nvSpPr>
                <p:spPr>
                  <a:xfrm>
                    <a:off x="691953" y="1832609"/>
                    <a:ext cx="144000" cy="25200"/>
                  </a:xfrm>
                  <a:prstGeom prst="rect">
                    <a:avLst/>
                  </a:prstGeom>
                  <a:grpFill/>
                  <a:ln w="3175">
                    <a:solidFill>
                      <a:srgbClr val="DC283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 sz="70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맑은 고딕" panose="020B0503020000020004" pitchFamily="50" charset="-127"/>
                      <a:ea typeface="맑은 고딕" panose="020B0503020000020004" pitchFamily="50" charset="-127"/>
                    </a:endParaRPr>
                  </a:p>
                </p:txBody>
              </p:sp>
            </p:grpSp>
            <p:sp>
              <p:nvSpPr>
                <p:cNvPr id="726" name="직사각형 725"/>
                <p:cNvSpPr/>
                <p:nvPr/>
              </p:nvSpPr>
              <p:spPr>
                <a:xfrm>
                  <a:off x="531806" y="1604594"/>
                  <a:ext cx="180000" cy="180000"/>
                </a:xfrm>
                <a:prstGeom prst="rect">
                  <a:avLst/>
                </a:prstGeom>
                <a:noFill/>
                <a:ln w="3175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7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endParaRPr>
                </a:p>
              </p:txBody>
            </p:sp>
          </p:grpSp>
        </p:grpSp>
        <p:sp>
          <p:nvSpPr>
            <p:cNvPr id="698" name="TextBox 697">
              <a:extLst>
                <a:ext uri="{FF2B5EF4-FFF2-40B4-BE49-F238E27FC236}">
                  <a16:creationId xmlns="" xmlns:a16="http://schemas.microsoft.com/office/drawing/2014/main" id="{0C96C875-C47F-4F5B-B4C1-F9D666A7BD9D}"/>
                </a:ext>
              </a:extLst>
            </p:cNvPr>
            <p:cNvSpPr txBox="1"/>
            <p:nvPr/>
          </p:nvSpPr>
          <p:spPr>
            <a:xfrm>
              <a:off x="6958298" y="3282962"/>
              <a:ext cx="601695" cy="180425"/>
            </a:xfrm>
            <a:prstGeom prst="rect">
              <a:avLst/>
            </a:prstGeom>
            <a:noFill/>
            <a:ln w="3175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none" lIns="36000" tIns="36000" rIns="36000" bIns="36000" numCol="1" rtlCol="0" anchor="ctr" anchorCtr="0" compatLnSpc="1">
              <a:prstTxWarp prst="textNoShape">
                <a:avLst/>
              </a:prstTxWarp>
              <a:spAutoFit/>
            </a:bodyPr>
            <a:lstStyle/>
            <a:p>
              <a:pPr algn="r"/>
              <a:r>
                <a:rPr lang="ko-KR" altLang="en-US" sz="70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사이즈안내 </a:t>
              </a:r>
              <a:r>
                <a:rPr lang="en-US" altLang="ko-KR" sz="70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〉</a:t>
              </a:r>
              <a:endParaRPr lang="ko-KR" altLang="en-US" sz="7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699" name="타원 698"/>
            <p:cNvSpPr/>
            <p:nvPr/>
          </p:nvSpPr>
          <p:spPr>
            <a:xfrm>
              <a:off x="5238357" y="3536095"/>
              <a:ext cx="36000" cy="36000"/>
            </a:xfrm>
            <a:prstGeom prst="ellipse">
              <a:avLst/>
            </a:prstGeom>
            <a:solidFill>
              <a:srgbClr val="C00000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8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700" name="TextBox 699"/>
            <p:cNvSpPr txBox="1"/>
            <p:nvPr/>
          </p:nvSpPr>
          <p:spPr>
            <a:xfrm>
              <a:off x="5022800" y="3841259"/>
              <a:ext cx="250068" cy="76944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r>
                <a:rPr lang="en-US" altLang="ko-KR" sz="500" smtClean="0">
                  <a:solidFill>
                    <a:schemeClr val="bg1">
                      <a:lumMod val="50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3</a:t>
              </a:r>
              <a:r>
                <a:rPr lang="ko-KR" altLang="en-US" sz="500" smtClean="0">
                  <a:solidFill>
                    <a:schemeClr val="bg1">
                      <a:lumMod val="50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개 남음</a:t>
              </a:r>
              <a:endParaRPr lang="ko-KR" altLang="en-US" sz="500" dirty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cxnSp>
          <p:nvCxnSpPr>
            <p:cNvPr id="701" name="직선 연결선 700"/>
            <p:cNvCxnSpPr/>
            <p:nvPr/>
          </p:nvCxnSpPr>
          <p:spPr>
            <a:xfrm>
              <a:off x="4968415" y="4093722"/>
              <a:ext cx="2591578" cy="0"/>
            </a:xfrm>
            <a:prstGeom prst="line">
              <a:avLst/>
            </a:prstGeom>
            <a:ln w="31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702" name="그룹 701"/>
            <p:cNvGrpSpPr/>
            <p:nvPr/>
          </p:nvGrpSpPr>
          <p:grpSpPr>
            <a:xfrm>
              <a:off x="5833016" y="3808670"/>
              <a:ext cx="431047" cy="215060"/>
              <a:chOff x="9792952" y="3338758"/>
              <a:chExt cx="431047" cy="215060"/>
            </a:xfrm>
          </p:grpSpPr>
          <p:sp>
            <p:nvSpPr>
              <p:cNvPr id="721" name="직사각형 720"/>
              <p:cNvSpPr/>
              <p:nvPr/>
            </p:nvSpPr>
            <p:spPr>
              <a:xfrm>
                <a:off x="9792952" y="3373818"/>
                <a:ext cx="360000" cy="18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5">
                      <a:lumMod val="75000"/>
                    </a:schemeClr>
                  </a:gs>
                  <a:gs pos="50000">
                    <a:schemeClr val="accent5"/>
                  </a:gs>
                  <a:gs pos="100000">
                    <a:schemeClr val="accent5">
                      <a:lumMod val="60000"/>
                      <a:lumOff val="40000"/>
                    </a:schemeClr>
                  </a:gs>
                </a:gsLst>
                <a:lin ang="0" scaled="1"/>
                <a:tileRect/>
              </a:gradFill>
              <a:ln w="31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ko-KR" altLang="en-US" sz="600" smtClean="0">
                    <a:solidFill>
                      <a:schemeClr val="bg1"/>
                    </a:solidFill>
                    <a:latin typeface="맑은 고딕" panose="020B0503020000020004" pitchFamily="50" charset="-127"/>
                  </a:rPr>
                  <a:t>매장배송</a:t>
                </a:r>
                <a:endParaRPr lang="ko-KR" altLang="en-US" sz="600">
                  <a:solidFill>
                    <a:schemeClr val="bg1"/>
                  </a:solidFill>
                  <a:latin typeface="맑은 고딕" panose="020B0503020000020004" pitchFamily="50" charset="-127"/>
                </a:endParaRPr>
              </a:p>
            </p:txBody>
          </p:sp>
          <p:sp>
            <p:nvSpPr>
              <p:cNvPr id="722" name="타원 721"/>
              <p:cNvSpPr/>
              <p:nvPr/>
            </p:nvSpPr>
            <p:spPr>
              <a:xfrm>
                <a:off x="10080022" y="3338758"/>
                <a:ext cx="143977" cy="143976"/>
              </a:xfrm>
              <a:prstGeom prst="ellipse">
                <a:avLst/>
              </a:prstGeom>
              <a:solidFill>
                <a:schemeClr val="bg1"/>
              </a:solidFill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700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?</a:t>
                </a:r>
                <a:endParaRPr lang="ko-KR" altLang="en-US" sz="70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</p:grpSp>
        <p:sp>
          <p:nvSpPr>
            <p:cNvPr id="703" name="모서리가 둥근 직사각형 702"/>
            <p:cNvSpPr/>
            <p:nvPr/>
          </p:nvSpPr>
          <p:spPr>
            <a:xfrm>
              <a:off x="6084725" y="2364982"/>
              <a:ext cx="359942" cy="36000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8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ko-KR" altLang="en-US" sz="8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704" name="직사각형 703">
              <a:extLst>
                <a:ext uri="{FF2B5EF4-FFF2-40B4-BE49-F238E27FC236}">
                  <a16:creationId xmlns:a16="http://schemas.microsoft.com/office/drawing/2014/main" xmlns="" id="{19FD5FA0-B111-4EF7-BC86-418441928DD3}"/>
                </a:ext>
              </a:extLst>
            </p:cNvPr>
            <p:cNvSpPr/>
            <p:nvPr/>
          </p:nvSpPr>
          <p:spPr>
            <a:xfrm>
              <a:off x="4968415" y="4242053"/>
              <a:ext cx="360000" cy="432000"/>
            </a:xfrm>
            <a:prstGeom prst="rect">
              <a:avLst/>
            </a:prstGeom>
            <a:pattFill prst="openDmnd">
              <a:fgClr>
                <a:schemeClr val="bg1">
                  <a:lumMod val="85000"/>
                </a:schemeClr>
              </a:fgClr>
              <a:bgClr>
                <a:schemeClr val="bg1"/>
              </a:bgClr>
            </a:patt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ko-KR" altLang="en-US" sz="6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705" name="TextBox 704">
              <a:extLst>
                <a:ext uri="{FF2B5EF4-FFF2-40B4-BE49-F238E27FC236}">
                  <a16:creationId xmlns="" xmlns:a16="http://schemas.microsoft.com/office/drawing/2014/main" id="{0C96C875-C47F-4F5B-B4C1-F9D666A7BD9D}"/>
                </a:ext>
              </a:extLst>
            </p:cNvPr>
            <p:cNvSpPr txBox="1"/>
            <p:nvPr/>
          </p:nvSpPr>
          <p:spPr>
            <a:xfrm>
              <a:off x="5328272" y="4242052"/>
              <a:ext cx="2088000" cy="216000"/>
            </a:xfrm>
            <a:prstGeom prst="rect">
              <a:avLst/>
            </a:prstGeom>
            <a:noFill/>
            <a:ln w="3175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square" lIns="72000" tIns="36000" rIns="72000" bIns="36000" numCol="1" rtlCol="0" anchor="ctr" anchorCtr="0" compatLnSpc="1">
              <a:prstTxWarp prst="textNoShape">
                <a:avLst/>
              </a:prstTxWarp>
              <a:spAutoFit/>
            </a:bodyPr>
            <a:lstStyle/>
            <a:p>
              <a:r>
                <a:rPr lang="en-US" altLang="ko-KR" sz="70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[</a:t>
              </a:r>
              <a:r>
                <a:rPr lang="ko-KR" altLang="en-US" sz="70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시즌오프</a:t>
              </a:r>
              <a:r>
                <a:rPr lang="en-US" altLang="ko-KR" sz="70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][</a:t>
              </a:r>
              <a:r>
                <a:rPr lang="ko-KR" altLang="en-US" sz="70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인기급상승</a:t>
              </a:r>
              <a:r>
                <a:rPr lang="en-US" altLang="ko-KR" sz="70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] </a:t>
              </a:r>
              <a:r>
                <a:rPr lang="ko-KR" altLang="en-US" sz="70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다이아 패턴 구스 다운 점퍼 블랙</a:t>
              </a:r>
            </a:p>
          </p:txBody>
        </p:sp>
        <p:sp>
          <p:nvSpPr>
            <p:cNvPr id="706" name="TextBox 705">
              <a:extLst>
                <a:ext uri="{FF2B5EF4-FFF2-40B4-BE49-F238E27FC236}">
                  <a16:creationId xmlns="" xmlns:a16="http://schemas.microsoft.com/office/drawing/2014/main" id="{0C96C875-C47F-4F5B-B4C1-F9D666A7BD9D}"/>
                </a:ext>
              </a:extLst>
            </p:cNvPr>
            <p:cNvSpPr txBox="1"/>
            <p:nvPr/>
          </p:nvSpPr>
          <p:spPr>
            <a:xfrm>
              <a:off x="5328272" y="4493628"/>
              <a:ext cx="2088000" cy="180425"/>
            </a:xfrm>
            <a:prstGeom prst="rect">
              <a:avLst/>
            </a:prstGeom>
            <a:noFill/>
            <a:ln w="3175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square" lIns="72000" tIns="36000" rIns="72000" bIns="36000" numCol="1" rtlCol="0" anchor="ctr" anchorCtr="0" compatLnSpc="1">
              <a:prstTxWarp prst="textNoShape">
                <a:avLst/>
              </a:prstTxWarp>
              <a:spAutoFit/>
            </a:bodyPr>
            <a:lstStyle/>
            <a:p>
              <a:r>
                <a:rPr lang="en-US" altLang="ko-KR" sz="700" smtClean="0">
                  <a:solidFill>
                    <a:schemeClr val="tx1">
                      <a:lumMod val="50000"/>
                      <a:lumOff val="50000"/>
                    </a:schemeClr>
                  </a:solidFill>
                  <a:latin typeface="맑은 고딕" panose="020B0503020000020004" pitchFamily="50" charset="-127"/>
                </a:rPr>
                <a:t>105</a:t>
              </a:r>
              <a:endParaRPr lang="ko-KR" altLang="en-US" sz="700">
                <a:solidFill>
                  <a:schemeClr val="tx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707" name="직사각형 706"/>
            <p:cNvSpPr/>
            <p:nvPr/>
          </p:nvSpPr>
          <p:spPr>
            <a:xfrm>
              <a:off x="4968954" y="4819715"/>
              <a:ext cx="216000" cy="216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50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─</a:t>
              </a:r>
              <a:endParaRPr lang="ko-KR" altLang="en-US" sz="5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708" name="직사각형 707"/>
            <p:cNvSpPr/>
            <p:nvPr/>
          </p:nvSpPr>
          <p:spPr>
            <a:xfrm>
              <a:off x="5184565" y="4819715"/>
              <a:ext cx="288000" cy="216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70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2</a:t>
              </a:r>
              <a:endParaRPr lang="ko-KR" altLang="en-US" sz="7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709" name="직사각형 708"/>
            <p:cNvSpPr/>
            <p:nvPr/>
          </p:nvSpPr>
          <p:spPr>
            <a:xfrm>
              <a:off x="5472581" y="4819715"/>
              <a:ext cx="216000" cy="216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noAutofit/>
            </a:bodyPr>
            <a:lstStyle/>
            <a:p>
              <a:pPr algn="ctr"/>
              <a:r>
                <a:rPr lang="ko-KR" altLang="en-US" sz="600" b="1">
                  <a:solidFill>
                    <a:schemeClr val="bg1">
                      <a:lumMod val="75000"/>
                    </a:schemeClr>
                  </a:solidFill>
                  <a:latin typeface="맑은 고딕" panose="020B0503020000020004" pitchFamily="50" charset="-127"/>
                </a:rPr>
                <a:t>┼</a:t>
              </a:r>
              <a:endParaRPr lang="ko-KR" altLang="en-US" sz="600" b="1">
                <a:solidFill>
                  <a:schemeClr val="bg1">
                    <a:lumMod val="75000"/>
                  </a:schemeClr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710" name="TextBox 709">
              <a:extLst>
                <a:ext uri="{FF2B5EF4-FFF2-40B4-BE49-F238E27FC236}">
                  <a16:creationId xmlns="" xmlns:a16="http://schemas.microsoft.com/office/drawing/2014/main" id="{0C96C875-C47F-4F5B-B4C1-F9D666A7BD9D}"/>
                </a:ext>
              </a:extLst>
            </p:cNvPr>
            <p:cNvSpPr txBox="1"/>
            <p:nvPr/>
          </p:nvSpPr>
          <p:spPr>
            <a:xfrm>
              <a:off x="6928876" y="4829809"/>
              <a:ext cx="631117" cy="195814"/>
            </a:xfrm>
            <a:prstGeom prst="rect">
              <a:avLst/>
            </a:prstGeom>
            <a:noFill/>
            <a:ln w="3175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none" lIns="108000" tIns="36000" rIns="36000" bIns="36000" numCol="1" rtlCol="0" anchor="ctr" anchorCtr="0" compatLnSpc="1">
              <a:prstTxWarp prst="textNoShape">
                <a:avLst/>
              </a:prstTxWarp>
              <a:spAutoFit/>
            </a:bodyPr>
            <a:lstStyle/>
            <a:p>
              <a:r>
                <a:rPr lang="en-US" altLang="ko-KR" sz="80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433,300</a:t>
              </a:r>
              <a:r>
                <a:rPr lang="ko-KR" altLang="en-US" sz="80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원</a:t>
              </a:r>
              <a:endParaRPr lang="en-US" altLang="ko-KR" sz="8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endParaRPr>
            </a:p>
          </p:txBody>
        </p:sp>
        <p:cxnSp>
          <p:nvCxnSpPr>
            <p:cNvPr id="711" name="직선 연결선 710"/>
            <p:cNvCxnSpPr/>
            <p:nvPr/>
          </p:nvCxnSpPr>
          <p:spPr>
            <a:xfrm>
              <a:off x="4968415" y="5467834"/>
              <a:ext cx="2591578" cy="0"/>
            </a:xfrm>
            <a:prstGeom prst="line">
              <a:avLst/>
            </a:prstGeom>
            <a:ln w="31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12" name="TextBox 711">
              <a:extLst>
                <a:ext uri="{FF2B5EF4-FFF2-40B4-BE49-F238E27FC236}">
                  <a16:creationId xmlns="" xmlns:a16="http://schemas.microsoft.com/office/drawing/2014/main" id="{0C96C875-C47F-4F5B-B4C1-F9D666A7BD9D}"/>
                </a:ext>
              </a:extLst>
            </p:cNvPr>
            <p:cNvSpPr txBox="1"/>
            <p:nvPr/>
          </p:nvSpPr>
          <p:spPr>
            <a:xfrm>
              <a:off x="6249203" y="5567994"/>
              <a:ext cx="1310790" cy="226591"/>
            </a:xfrm>
            <a:prstGeom prst="rect">
              <a:avLst/>
            </a:prstGeom>
            <a:noFill/>
            <a:ln w="3175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none" lIns="108000" tIns="36000" rIns="36000" bIns="36000" numCol="1" rtlCol="0" anchor="ctr" anchorCtr="0" compatLnSpc="1">
              <a:prstTxWarp prst="textNoShape">
                <a:avLst/>
              </a:prstTxWarp>
              <a:spAutoFit/>
            </a:bodyPr>
            <a:lstStyle/>
            <a:p>
              <a:pPr algn="r"/>
              <a:r>
                <a:rPr lang="ko-KR" altLang="en-US" sz="80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총 상품금액 </a:t>
              </a:r>
              <a:r>
                <a:rPr lang="en-US" altLang="ko-KR" sz="1000" b="1" smtClean="0">
                  <a:solidFill>
                    <a:srgbClr val="C00000"/>
                  </a:solidFill>
                  <a:latin typeface="맑은 고딕" panose="020B0503020000020004" pitchFamily="50" charset="-127"/>
                </a:rPr>
                <a:t>433,300</a:t>
              </a:r>
              <a:r>
                <a:rPr lang="ko-KR" altLang="en-US" sz="80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원</a:t>
              </a:r>
              <a:endParaRPr lang="en-US" altLang="ko-KR" sz="8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713" name="TextBox 712">
              <a:extLst>
                <a:ext uri="{FF2B5EF4-FFF2-40B4-BE49-F238E27FC236}">
                  <a16:creationId xmlns="" xmlns:a16="http://schemas.microsoft.com/office/drawing/2014/main" id="{0C96C875-C47F-4F5B-B4C1-F9D666A7BD9D}"/>
                </a:ext>
              </a:extLst>
            </p:cNvPr>
            <p:cNvSpPr txBox="1"/>
            <p:nvPr/>
          </p:nvSpPr>
          <p:spPr>
            <a:xfrm>
              <a:off x="4968415" y="5591077"/>
              <a:ext cx="496464" cy="180425"/>
            </a:xfrm>
            <a:prstGeom prst="rect">
              <a:avLst/>
            </a:prstGeom>
            <a:noFill/>
            <a:ln w="3175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none" lIns="108000" tIns="36000" rIns="36000" bIns="36000" numCol="1" rtlCol="0" anchor="ctr" anchorCtr="0" compatLnSpc="1">
              <a:prstTxWarp prst="textNoShape">
                <a:avLst/>
              </a:prstTxWarp>
              <a:spAutoFit/>
            </a:bodyPr>
            <a:lstStyle/>
            <a:p>
              <a:r>
                <a:rPr lang="en-US" altLang="ko-KR" sz="70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1</a:t>
              </a:r>
              <a:r>
                <a:rPr lang="ko-KR" altLang="en-US" sz="70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개 선택</a:t>
              </a:r>
              <a:endParaRPr lang="en-US" altLang="ko-KR" sz="7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714" name="직사각형 713">
              <a:extLst>
                <a:ext uri="{FF2B5EF4-FFF2-40B4-BE49-F238E27FC236}">
                  <a16:creationId xmlns:a16="http://schemas.microsoft.com/office/drawing/2014/main" xmlns="" id="{19FD5FA0-B111-4EF7-BC86-418441928DD3}"/>
                </a:ext>
              </a:extLst>
            </p:cNvPr>
            <p:cNvSpPr/>
            <p:nvPr/>
          </p:nvSpPr>
          <p:spPr>
            <a:xfrm>
              <a:off x="4824696" y="5893723"/>
              <a:ext cx="2879531" cy="504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700"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715" name="모서리가 둥근 직사각형 714">
              <a:extLst>
                <a:ext uri="{FF2B5EF4-FFF2-40B4-BE49-F238E27FC236}">
                  <a16:creationId xmlns="" xmlns:a16="http://schemas.microsoft.com/office/drawing/2014/main" id="{19FD5FA0-B111-4EF7-BC86-418441928DD3}"/>
                </a:ext>
              </a:extLst>
            </p:cNvPr>
            <p:cNvSpPr/>
            <p:nvPr/>
          </p:nvSpPr>
          <p:spPr>
            <a:xfrm>
              <a:off x="6768461" y="5964803"/>
              <a:ext cx="864000" cy="359942"/>
            </a:xfrm>
            <a:prstGeom prst="roundRect">
              <a:avLst>
                <a:gd name="adj" fmla="val 9391"/>
              </a:avLst>
            </a:prstGeom>
            <a:solidFill>
              <a:schemeClr val="tx1">
                <a:lumMod val="75000"/>
                <a:lumOff val="25000"/>
              </a:schemeClr>
            </a:solidFill>
            <a:ln w="31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700" b="1" smtClean="0">
                  <a:solidFill>
                    <a:schemeClr val="bg1"/>
                  </a:solidFill>
                  <a:latin typeface="맑은 고딕" panose="020B0503020000020004" pitchFamily="50" charset="-127"/>
                </a:rPr>
                <a:t>바로구매</a:t>
              </a:r>
              <a:endParaRPr lang="ko-KR" altLang="en-US" sz="700" b="1">
                <a:solidFill>
                  <a:schemeClr val="bg1"/>
                </a:solidFill>
                <a:latin typeface="맑은 고딕" panose="020B0503020000020004" pitchFamily="50" charset="-127"/>
              </a:endParaRPr>
            </a:p>
          </p:txBody>
        </p:sp>
        <p:grpSp>
          <p:nvGrpSpPr>
            <p:cNvPr id="716" name="그룹 715"/>
            <p:cNvGrpSpPr/>
            <p:nvPr/>
          </p:nvGrpSpPr>
          <p:grpSpPr>
            <a:xfrm>
              <a:off x="4896461" y="5964803"/>
              <a:ext cx="864000" cy="359942"/>
              <a:chOff x="4896696" y="5964803"/>
              <a:chExt cx="864000" cy="359942"/>
            </a:xfrm>
          </p:grpSpPr>
          <p:sp>
            <p:nvSpPr>
              <p:cNvPr id="719" name="모서리가 둥근 직사각형 718">
                <a:extLst>
                  <a:ext uri="{FF2B5EF4-FFF2-40B4-BE49-F238E27FC236}">
                    <a16:creationId xmlns="" xmlns:a16="http://schemas.microsoft.com/office/drawing/2014/main" id="{19FD5FA0-B111-4EF7-BC86-418441928DD3}"/>
                  </a:ext>
                </a:extLst>
              </p:cNvPr>
              <p:cNvSpPr/>
              <p:nvPr/>
            </p:nvSpPr>
            <p:spPr>
              <a:xfrm>
                <a:off x="4896696" y="5964803"/>
                <a:ext cx="864000" cy="359942"/>
              </a:xfrm>
              <a:prstGeom prst="roundRect">
                <a:avLst>
                  <a:gd name="adj" fmla="val 9391"/>
                </a:avLst>
              </a:prstGeom>
              <a:solidFill>
                <a:schemeClr val="bg1"/>
              </a:solidFill>
              <a:ln w="3175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80000" tIns="0" rIns="0" bIns="0" rtlCol="0" anchor="ctr"/>
              <a:lstStyle/>
              <a:p>
                <a:pPr algn="ctr"/>
                <a:r>
                  <a:rPr lang="ko-KR" altLang="en-US" sz="700" b="1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맑은 고딕" panose="020B0503020000020004" pitchFamily="50" charset="-127"/>
                  </a:rPr>
                  <a:t>선물하기</a:t>
                </a:r>
                <a:endParaRPr lang="ko-KR" altLang="en-US" sz="700" b="1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endParaRPr>
              </a:p>
            </p:txBody>
          </p:sp>
          <p:sp>
            <p:nvSpPr>
              <p:cNvPr id="720" name="Gift"/>
              <p:cNvSpPr>
                <a:spLocks noChangeAspect="1" noEditPoints="1"/>
              </p:cNvSpPr>
              <p:nvPr/>
            </p:nvSpPr>
            <p:spPr bwMode="auto">
              <a:xfrm>
                <a:off x="5052958" y="6072774"/>
                <a:ext cx="142545" cy="144000"/>
              </a:xfrm>
              <a:custGeom>
                <a:avLst/>
                <a:gdLst>
                  <a:gd name="T0" fmla="*/ 95 w 640"/>
                  <a:gd name="T1" fmla="*/ 23 h 640"/>
                  <a:gd name="T2" fmla="*/ 124 w 640"/>
                  <a:gd name="T3" fmla="*/ 147 h 640"/>
                  <a:gd name="T4" fmla="*/ 0 w 640"/>
                  <a:gd name="T5" fmla="*/ 160 h 640"/>
                  <a:gd name="T6" fmla="*/ 27 w 640"/>
                  <a:gd name="T7" fmla="*/ 307 h 640"/>
                  <a:gd name="T8" fmla="*/ 614 w 640"/>
                  <a:gd name="T9" fmla="*/ 640 h 640"/>
                  <a:gd name="T10" fmla="*/ 640 w 640"/>
                  <a:gd name="T11" fmla="*/ 307 h 640"/>
                  <a:gd name="T12" fmla="*/ 492 w 640"/>
                  <a:gd name="T13" fmla="*/ 160 h 640"/>
                  <a:gd name="T14" fmla="*/ 560 w 640"/>
                  <a:gd name="T15" fmla="*/ 67 h 640"/>
                  <a:gd name="T16" fmla="*/ 489 w 640"/>
                  <a:gd name="T17" fmla="*/ 0 h 640"/>
                  <a:gd name="T18" fmla="*/ 387 w 640"/>
                  <a:gd name="T19" fmla="*/ 80 h 640"/>
                  <a:gd name="T20" fmla="*/ 320 w 640"/>
                  <a:gd name="T21" fmla="*/ 147 h 640"/>
                  <a:gd name="T22" fmla="*/ 254 w 640"/>
                  <a:gd name="T23" fmla="*/ 80 h 640"/>
                  <a:gd name="T24" fmla="*/ 151 w 640"/>
                  <a:gd name="T25" fmla="*/ 0 h 640"/>
                  <a:gd name="T26" fmla="*/ 197 w 640"/>
                  <a:gd name="T27" fmla="*/ 46 h 640"/>
                  <a:gd name="T28" fmla="*/ 265 w 640"/>
                  <a:gd name="T29" fmla="*/ 146 h 640"/>
                  <a:gd name="T30" fmla="*/ 214 w 640"/>
                  <a:gd name="T31" fmla="*/ 147 h 640"/>
                  <a:gd name="T32" fmla="*/ 107 w 640"/>
                  <a:gd name="T33" fmla="*/ 67 h 640"/>
                  <a:gd name="T34" fmla="*/ 151 w 640"/>
                  <a:gd name="T35" fmla="*/ 27 h 640"/>
                  <a:gd name="T36" fmla="*/ 525 w 640"/>
                  <a:gd name="T37" fmla="*/ 40 h 640"/>
                  <a:gd name="T38" fmla="*/ 501 w 640"/>
                  <a:gd name="T39" fmla="*/ 125 h 640"/>
                  <a:gd name="T40" fmla="*/ 375 w 640"/>
                  <a:gd name="T41" fmla="*/ 147 h 640"/>
                  <a:gd name="T42" fmla="*/ 410 w 640"/>
                  <a:gd name="T43" fmla="*/ 94 h 640"/>
                  <a:gd name="T44" fmla="*/ 489 w 640"/>
                  <a:gd name="T45" fmla="*/ 27 h 640"/>
                  <a:gd name="T46" fmla="*/ 240 w 640"/>
                  <a:gd name="T47" fmla="*/ 187 h 640"/>
                  <a:gd name="T48" fmla="*/ 27 w 640"/>
                  <a:gd name="T49" fmla="*/ 280 h 640"/>
                  <a:gd name="T50" fmla="*/ 267 w 640"/>
                  <a:gd name="T51" fmla="*/ 187 h 640"/>
                  <a:gd name="T52" fmla="*/ 374 w 640"/>
                  <a:gd name="T53" fmla="*/ 614 h 640"/>
                  <a:gd name="T54" fmla="*/ 267 w 640"/>
                  <a:gd name="T55" fmla="*/ 187 h 640"/>
                  <a:gd name="T56" fmla="*/ 614 w 640"/>
                  <a:gd name="T57" fmla="*/ 187 h 640"/>
                  <a:gd name="T58" fmla="*/ 400 w 640"/>
                  <a:gd name="T59" fmla="*/ 280 h 640"/>
                  <a:gd name="T60" fmla="*/ 54 w 640"/>
                  <a:gd name="T61" fmla="*/ 307 h 640"/>
                  <a:gd name="T62" fmla="*/ 240 w 640"/>
                  <a:gd name="T63" fmla="*/ 614 h 640"/>
                  <a:gd name="T64" fmla="*/ 54 w 640"/>
                  <a:gd name="T65" fmla="*/ 307 h 640"/>
                  <a:gd name="T66" fmla="*/ 587 w 640"/>
                  <a:gd name="T67" fmla="*/ 307 h 640"/>
                  <a:gd name="T68" fmla="*/ 400 w 640"/>
                  <a:gd name="T69" fmla="*/ 614 h 6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</a:cxnLst>
                <a:rect l="0" t="0" r="r" b="b"/>
                <a:pathLst>
                  <a:path w="640" h="640">
                    <a:moveTo>
                      <a:pt x="151" y="0"/>
                    </a:moveTo>
                    <a:cubicBezTo>
                      <a:pt x="126" y="0"/>
                      <a:pt x="106" y="9"/>
                      <a:pt x="95" y="23"/>
                    </a:cubicBezTo>
                    <a:cubicBezTo>
                      <a:pt x="84" y="36"/>
                      <a:pt x="80" y="53"/>
                      <a:pt x="80" y="67"/>
                    </a:cubicBezTo>
                    <a:cubicBezTo>
                      <a:pt x="80" y="101"/>
                      <a:pt x="99" y="129"/>
                      <a:pt x="124" y="147"/>
                    </a:cubicBezTo>
                    <a:cubicBezTo>
                      <a:pt x="132" y="152"/>
                      <a:pt x="140" y="157"/>
                      <a:pt x="149" y="160"/>
                    </a:cubicBezTo>
                    <a:lnTo>
                      <a:pt x="0" y="160"/>
                    </a:lnTo>
                    <a:lnTo>
                      <a:pt x="0" y="307"/>
                    </a:lnTo>
                    <a:lnTo>
                      <a:pt x="27" y="307"/>
                    </a:lnTo>
                    <a:lnTo>
                      <a:pt x="27" y="640"/>
                    </a:lnTo>
                    <a:lnTo>
                      <a:pt x="614" y="640"/>
                    </a:lnTo>
                    <a:lnTo>
                      <a:pt x="614" y="307"/>
                    </a:lnTo>
                    <a:lnTo>
                      <a:pt x="640" y="307"/>
                    </a:lnTo>
                    <a:lnTo>
                      <a:pt x="640" y="160"/>
                    </a:lnTo>
                    <a:lnTo>
                      <a:pt x="492" y="160"/>
                    </a:lnTo>
                    <a:cubicBezTo>
                      <a:pt x="501" y="157"/>
                      <a:pt x="509" y="152"/>
                      <a:pt x="517" y="147"/>
                    </a:cubicBezTo>
                    <a:cubicBezTo>
                      <a:pt x="542" y="129"/>
                      <a:pt x="560" y="101"/>
                      <a:pt x="560" y="67"/>
                    </a:cubicBezTo>
                    <a:cubicBezTo>
                      <a:pt x="560" y="53"/>
                      <a:pt x="557" y="36"/>
                      <a:pt x="546" y="23"/>
                    </a:cubicBezTo>
                    <a:cubicBezTo>
                      <a:pt x="534" y="9"/>
                      <a:pt x="515" y="0"/>
                      <a:pt x="489" y="0"/>
                    </a:cubicBezTo>
                    <a:cubicBezTo>
                      <a:pt x="463" y="0"/>
                      <a:pt x="442" y="12"/>
                      <a:pt x="425" y="27"/>
                    </a:cubicBezTo>
                    <a:cubicBezTo>
                      <a:pt x="409" y="43"/>
                      <a:pt x="398" y="62"/>
                      <a:pt x="387" y="80"/>
                    </a:cubicBezTo>
                    <a:cubicBezTo>
                      <a:pt x="376" y="99"/>
                      <a:pt x="366" y="117"/>
                      <a:pt x="356" y="129"/>
                    </a:cubicBezTo>
                    <a:cubicBezTo>
                      <a:pt x="345" y="141"/>
                      <a:pt x="335" y="147"/>
                      <a:pt x="320" y="147"/>
                    </a:cubicBezTo>
                    <a:cubicBezTo>
                      <a:pt x="306" y="147"/>
                      <a:pt x="296" y="141"/>
                      <a:pt x="285" y="129"/>
                    </a:cubicBezTo>
                    <a:cubicBezTo>
                      <a:pt x="274" y="117"/>
                      <a:pt x="265" y="99"/>
                      <a:pt x="254" y="80"/>
                    </a:cubicBezTo>
                    <a:cubicBezTo>
                      <a:pt x="243" y="62"/>
                      <a:pt x="231" y="43"/>
                      <a:pt x="215" y="27"/>
                    </a:cubicBezTo>
                    <a:cubicBezTo>
                      <a:pt x="199" y="12"/>
                      <a:pt x="178" y="0"/>
                      <a:pt x="151" y="0"/>
                    </a:cubicBezTo>
                    <a:close/>
                    <a:moveTo>
                      <a:pt x="151" y="27"/>
                    </a:moveTo>
                    <a:cubicBezTo>
                      <a:pt x="171" y="27"/>
                      <a:pt x="184" y="34"/>
                      <a:pt x="197" y="46"/>
                    </a:cubicBezTo>
                    <a:cubicBezTo>
                      <a:pt x="209" y="58"/>
                      <a:pt x="220" y="76"/>
                      <a:pt x="231" y="94"/>
                    </a:cubicBezTo>
                    <a:cubicBezTo>
                      <a:pt x="241" y="112"/>
                      <a:pt x="252" y="131"/>
                      <a:pt x="265" y="146"/>
                    </a:cubicBezTo>
                    <a:cubicBezTo>
                      <a:pt x="266" y="147"/>
                      <a:pt x="266" y="147"/>
                      <a:pt x="266" y="147"/>
                    </a:cubicBezTo>
                    <a:lnTo>
                      <a:pt x="214" y="147"/>
                    </a:lnTo>
                    <a:cubicBezTo>
                      <a:pt x="187" y="147"/>
                      <a:pt x="159" y="139"/>
                      <a:pt x="139" y="125"/>
                    </a:cubicBezTo>
                    <a:cubicBezTo>
                      <a:pt x="119" y="111"/>
                      <a:pt x="107" y="92"/>
                      <a:pt x="107" y="67"/>
                    </a:cubicBezTo>
                    <a:cubicBezTo>
                      <a:pt x="107" y="57"/>
                      <a:pt x="110" y="47"/>
                      <a:pt x="116" y="40"/>
                    </a:cubicBezTo>
                    <a:cubicBezTo>
                      <a:pt x="121" y="33"/>
                      <a:pt x="131" y="27"/>
                      <a:pt x="151" y="27"/>
                    </a:cubicBezTo>
                    <a:close/>
                    <a:moveTo>
                      <a:pt x="489" y="27"/>
                    </a:moveTo>
                    <a:cubicBezTo>
                      <a:pt x="510" y="27"/>
                      <a:pt x="519" y="33"/>
                      <a:pt x="525" y="40"/>
                    </a:cubicBezTo>
                    <a:cubicBezTo>
                      <a:pt x="531" y="47"/>
                      <a:pt x="534" y="57"/>
                      <a:pt x="534" y="67"/>
                    </a:cubicBezTo>
                    <a:cubicBezTo>
                      <a:pt x="534" y="92"/>
                      <a:pt x="521" y="111"/>
                      <a:pt x="501" y="125"/>
                    </a:cubicBezTo>
                    <a:cubicBezTo>
                      <a:pt x="482" y="139"/>
                      <a:pt x="454" y="147"/>
                      <a:pt x="427" y="147"/>
                    </a:cubicBezTo>
                    <a:lnTo>
                      <a:pt x="375" y="147"/>
                    </a:lnTo>
                    <a:cubicBezTo>
                      <a:pt x="375" y="147"/>
                      <a:pt x="375" y="147"/>
                      <a:pt x="376" y="146"/>
                    </a:cubicBezTo>
                    <a:cubicBezTo>
                      <a:pt x="389" y="131"/>
                      <a:pt x="399" y="112"/>
                      <a:pt x="410" y="94"/>
                    </a:cubicBezTo>
                    <a:cubicBezTo>
                      <a:pt x="421" y="76"/>
                      <a:pt x="431" y="58"/>
                      <a:pt x="444" y="46"/>
                    </a:cubicBezTo>
                    <a:cubicBezTo>
                      <a:pt x="456" y="34"/>
                      <a:pt x="470" y="27"/>
                      <a:pt x="489" y="27"/>
                    </a:cubicBezTo>
                    <a:close/>
                    <a:moveTo>
                      <a:pt x="27" y="187"/>
                    </a:moveTo>
                    <a:lnTo>
                      <a:pt x="240" y="187"/>
                    </a:lnTo>
                    <a:lnTo>
                      <a:pt x="240" y="280"/>
                    </a:lnTo>
                    <a:lnTo>
                      <a:pt x="27" y="280"/>
                    </a:lnTo>
                    <a:lnTo>
                      <a:pt x="27" y="187"/>
                    </a:lnTo>
                    <a:close/>
                    <a:moveTo>
                      <a:pt x="267" y="187"/>
                    </a:moveTo>
                    <a:lnTo>
                      <a:pt x="374" y="187"/>
                    </a:lnTo>
                    <a:cubicBezTo>
                      <a:pt x="374" y="329"/>
                      <a:pt x="374" y="471"/>
                      <a:pt x="374" y="614"/>
                    </a:cubicBezTo>
                    <a:lnTo>
                      <a:pt x="267" y="614"/>
                    </a:lnTo>
                    <a:cubicBezTo>
                      <a:pt x="267" y="471"/>
                      <a:pt x="267" y="329"/>
                      <a:pt x="267" y="187"/>
                    </a:cubicBezTo>
                    <a:close/>
                    <a:moveTo>
                      <a:pt x="400" y="187"/>
                    </a:moveTo>
                    <a:lnTo>
                      <a:pt x="614" y="187"/>
                    </a:lnTo>
                    <a:lnTo>
                      <a:pt x="614" y="280"/>
                    </a:lnTo>
                    <a:lnTo>
                      <a:pt x="400" y="280"/>
                    </a:lnTo>
                    <a:lnTo>
                      <a:pt x="400" y="187"/>
                    </a:lnTo>
                    <a:close/>
                    <a:moveTo>
                      <a:pt x="54" y="307"/>
                    </a:moveTo>
                    <a:lnTo>
                      <a:pt x="240" y="307"/>
                    </a:lnTo>
                    <a:lnTo>
                      <a:pt x="240" y="614"/>
                    </a:lnTo>
                    <a:lnTo>
                      <a:pt x="54" y="614"/>
                    </a:lnTo>
                    <a:lnTo>
                      <a:pt x="54" y="307"/>
                    </a:lnTo>
                    <a:close/>
                    <a:moveTo>
                      <a:pt x="400" y="307"/>
                    </a:moveTo>
                    <a:lnTo>
                      <a:pt x="587" y="307"/>
                    </a:lnTo>
                    <a:lnTo>
                      <a:pt x="587" y="614"/>
                    </a:lnTo>
                    <a:lnTo>
                      <a:pt x="400" y="614"/>
                    </a:lnTo>
                    <a:lnTo>
                      <a:pt x="400" y="307"/>
                    </a:lnTo>
                    <a:close/>
                  </a:path>
                </a:pathLst>
              </a:custGeom>
              <a:solidFill>
                <a:srgbClr val="5F5F5F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sz="900" dirty="0"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p:grpSp>
        <p:sp>
          <p:nvSpPr>
            <p:cNvPr id="717" name="모서리가 둥근 직사각형 716">
              <a:extLst>
                <a:ext uri="{FF2B5EF4-FFF2-40B4-BE49-F238E27FC236}">
                  <a16:creationId xmlns="" xmlns:a16="http://schemas.microsoft.com/office/drawing/2014/main" id="{19FD5FA0-B111-4EF7-BC86-418441928DD3}"/>
                </a:ext>
              </a:extLst>
            </p:cNvPr>
            <p:cNvSpPr/>
            <p:nvPr/>
          </p:nvSpPr>
          <p:spPr>
            <a:xfrm>
              <a:off x="5832461" y="5964803"/>
              <a:ext cx="864000" cy="359942"/>
            </a:xfrm>
            <a:prstGeom prst="roundRect">
              <a:avLst>
                <a:gd name="adj" fmla="val 9391"/>
              </a:avLst>
            </a:prstGeom>
            <a:solidFill>
              <a:schemeClr val="bg1"/>
            </a:solidFill>
            <a:ln w="31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700" b="1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쇼핑백</a:t>
              </a:r>
              <a:endParaRPr lang="ko-KR" altLang="en-US" sz="700" b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718" name="TextBox 717">
              <a:extLst>
                <a:ext uri="{FF2B5EF4-FFF2-40B4-BE49-F238E27FC236}">
                  <a16:creationId xmlns="" xmlns:a16="http://schemas.microsoft.com/office/drawing/2014/main" id="{0C96C875-C47F-4F5B-B4C1-F9D666A7BD9D}"/>
                </a:ext>
              </a:extLst>
            </p:cNvPr>
            <p:cNvSpPr txBox="1"/>
            <p:nvPr/>
          </p:nvSpPr>
          <p:spPr>
            <a:xfrm>
              <a:off x="4968611" y="5191154"/>
              <a:ext cx="2251185" cy="180425"/>
            </a:xfrm>
            <a:prstGeom prst="rect">
              <a:avLst/>
            </a:prstGeom>
            <a:noFill/>
            <a:ln w="3175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none" lIns="36000" tIns="36000" rIns="36000" bIns="36000" numCol="1" rtlCol="0" anchor="ctr" anchorCtr="0" compatLnSpc="1">
              <a:prstTxWarp prst="textNoShape">
                <a:avLst/>
              </a:prstTxWarp>
              <a:spAutoFit/>
            </a:bodyPr>
            <a:lstStyle/>
            <a:p>
              <a:r>
                <a:rPr lang="ko-KR" altLang="en-US" sz="700" b="1" smtClean="0">
                  <a:solidFill>
                    <a:srgbClr val="0070C0"/>
                  </a:solidFill>
                  <a:latin typeface="맑은 고딕" panose="020B0503020000020004" pitchFamily="50" charset="-127"/>
                </a:rPr>
                <a:t>매장상품 배송</a:t>
              </a:r>
              <a:r>
                <a:rPr lang="ko-KR" altLang="en-US" sz="700" b="1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 </a:t>
              </a:r>
              <a:r>
                <a:rPr lang="ko-KR" altLang="en-US" sz="70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서비스는 평균</a:t>
              </a:r>
              <a:r>
                <a:rPr lang="ko-KR" altLang="en-US" sz="700" b="1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 </a:t>
              </a:r>
              <a:r>
                <a:rPr lang="en-US" altLang="ko-KR" sz="700" b="1">
                  <a:solidFill>
                    <a:srgbClr val="0070C0"/>
                  </a:solidFill>
                  <a:latin typeface="맑은 고딕" panose="020B0503020000020004" pitchFamily="50" charset="-127"/>
                </a:rPr>
                <a:t>5~7</a:t>
              </a:r>
              <a:r>
                <a:rPr lang="en-US" altLang="ko-KR" sz="700" b="1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 </a:t>
              </a:r>
              <a:r>
                <a:rPr lang="ko-KR" altLang="en-US" sz="70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영업일 소요됩니다</a:t>
              </a:r>
              <a:r>
                <a:rPr lang="en-US" altLang="ko-KR" sz="70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.</a:t>
              </a:r>
              <a:endParaRPr lang="en-US" altLang="ko-KR" sz="7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endParaRPr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xmlns="" id="{C5E486F5-93A1-4316-A9AE-8F2FB1C3263A}"/>
              </a:ext>
            </a:extLst>
          </p:cNvPr>
          <p:cNvSpPr txBox="1"/>
          <p:nvPr/>
        </p:nvSpPr>
        <p:spPr>
          <a:xfrm>
            <a:off x="94" y="102705"/>
            <a:ext cx="1842721" cy="226591"/>
          </a:xfrm>
          <a:prstGeom prst="rect">
            <a:avLst/>
          </a:prstGeom>
          <a:noFill/>
        </p:spPr>
        <p:txBody>
          <a:bodyPr wrap="none" lIns="360000" tIns="36000" rIns="360000" bIns="36000" rtlCol="0" anchor="ctr">
            <a:spAutoFit/>
          </a:bodyPr>
          <a:lstStyle/>
          <a:p>
            <a:r>
              <a:rPr lang="ko-KR" altLang="en-US" sz="1000" b="1">
                <a:solidFill>
                  <a:schemeClr val="bg1"/>
                </a:solidFill>
                <a:latin typeface="맑은 고딕" panose="020B0503020000020004" pitchFamily="50" charset="-127"/>
              </a:rPr>
              <a:t>온오프 재고 효율화</a:t>
            </a:r>
            <a:endParaRPr lang="en-US" altLang="ko-KR" sz="1000" b="1">
              <a:solidFill>
                <a:schemeClr val="bg1"/>
              </a:solidFill>
              <a:latin typeface="맑은 고딕" panose="020B0503020000020004" pitchFamily="50" charset="-127"/>
            </a:endParaRPr>
          </a:p>
        </p:txBody>
      </p:sp>
      <p:graphicFrame>
        <p:nvGraphicFramePr>
          <p:cNvPr id="231" name="표 23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73023504"/>
              </p:ext>
            </p:extLst>
          </p:nvPr>
        </p:nvGraphicFramePr>
        <p:xfrm>
          <a:off x="325247" y="2376070"/>
          <a:ext cx="3240000" cy="1440000"/>
        </p:xfrm>
        <a:graphic>
          <a:graphicData uri="http://schemas.openxmlformats.org/drawingml/2006/table">
            <a:tbl>
              <a:tblPr firstRow="1" bandRow="1">
                <a:effectLst>
                  <a:outerShdw blurRad="25400" dist="25400" dir="2700000" algn="tl" rotWithShape="0">
                    <a:schemeClr val="tx1">
                      <a:lumMod val="75000"/>
                      <a:lumOff val="25000"/>
                      <a:alpha val="50000"/>
                    </a:schemeClr>
                  </a:outerShdw>
                </a:effectLst>
                <a:tableStyleId>{5C22544A-7EE6-4342-B048-85BDC9FD1C3A}</a:tableStyleId>
              </a:tblPr>
              <a:tblGrid>
                <a:gridCol w="1080000"/>
                <a:gridCol w="540000"/>
                <a:gridCol w="540000"/>
                <a:gridCol w="540000"/>
                <a:gridCol w="540000"/>
              </a:tblGrid>
              <a:tr h="2880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창고</a:t>
                      </a:r>
                      <a:endParaRPr lang="ko-KR" altLang="en-US" sz="70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CASE 1</a:t>
                      </a:r>
                      <a:endParaRPr lang="ko-KR" altLang="en-US" sz="70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21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smtClean="0">
                          <a:latin typeface="맑은 고딕" panose="020B0503020000020004" pitchFamily="50" charset="-127"/>
                          <a:ea typeface="+mn-ea"/>
                        </a:rPr>
                        <a:t>CASE 2</a:t>
                      </a:r>
                      <a:endParaRPr lang="ko-KR" altLang="en-US" sz="700" smtClean="0"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CASE</a:t>
                      </a:r>
                      <a:r>
                        <a:rPr lang="en-US" altLang="ko-KR" sz="700" baseline="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3</a:t>
                      </a:r>
                      <a:endParaRPr lang="ko-KR" altLang="en-US" sz="70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CASE 4</a:t>
                      </a:r>
                      <a:endParaRPr lang="ko-KR" altLang="en-US" sz="70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온라인 재고</a:t>
                      </a:r>
                      <a:endParaRPr lang="ko-KR" altLang="en-US" sz="70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●</a:t>
                      </a:r>
                      <a:endParaRPr lang="ko-KR" altLang="en-US" sz="70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●</a:t>
                      </a:r>
                      <a:endParaRPr lang="ko-KR" altLang="en-US" sz="70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직송매장 재고</a:t>
                      </a:r>
                      <a:endParaRPr lang="ko-KR" altLang="en-US" sz="70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●</a:t>
                      </a:r>
                      <a:endParaRPr lang="ko-KR" altLang="en-US" sz="70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●</a:t>
                      </a:r>
                      <a:endParaRPr lang="ko-KR" altLang="en-US" sz="70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비직송매장 재고</a:t>
                      </a:r>
                      <a:endParaRPr lang="ko-KR" altLang="en-US" sz="70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●</a:t>
                      </a:r>
                      <a:endParaRPr lang="ko-KR" altLang="en-US" sz="70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●</a:t>
                      </a:r>
                      <a:endParaRPr lang="ko-KR" altLang="en-US" sz="70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매장상품배송 표현</a:t>
                      </a:r>
                      <a:endParaRPr lang="ko-KR" altLang="en-US" sz="70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smtClean="0">
                          <a:latin typeface="맑은 고딕" panose="020B0503020000020004" pitchFamily="50" charset="-127"/>
                          <a:ea typeface="+mn-ea"/>
                        </a:rPr>
                        <a:t>Ⅹ</a:t>
                      </a:r>
                      <a:endParaRPr lang="ko-KR" altLang="en-US" sz="70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smtClean="0">
                          <a:latin typeface="맑은 고딕" panose="020B0503020000020004" pitchFamily="50" charset="-127"/>
                          <a:ea typeface="+mn-ea"/>
                        </a:rPr>
                        <a:t>Ⅹ</a:t>
                      </a:r>
                      <a:endParaRPr lang="ko-KR" altLang="en-US" sz="70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smtClean="0">
                          <a:latin typeface="맑은 고딕" panose="020B0503020000020004" pitchFamily="50" charset="-127"/>
                          <a:ea typeface="+mn-ea"/>
                        </a:rPr>
                        <a:t>●</a:t>
                      </a:r>
                      <a:endParaRPr lang="ko-KR" altLang="en-US" sz="70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품절</a:t>
                      </a:r>
                      <a:endParaRPr lang="ko-KR" altLang="en-US" sz="70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298" name="직사각형 297">
            <a:extLst>
              <a:ext uri="{FF2B5EF4-FFF2-40B4-BE49-F238E27FC236}">
                <a16:creationId xmlns:a16="http://schemas.microsoft.com/office/drawing/2014/main" xmlns="" id="{19FD5FA0-B111-4EF7-BC86-418441928DD3}"/>
              </a:ext>
            </a:extLst>
          </p:cNvPr>
          <p:cNvSpPr/>
          <p:nvPr/>
        </p:nvSpPr>
        <p:spPr>
          <a:xfrm>
            <a:off x="5544375" y="1069930"/>
            <a:ext cx="2879531" cy="360000"/>
          </a:xfrm>
          <a:prstGeom prst="rect">
            <a:avLst/>
          </a:prstGeom>
          <a:pattFill prst="openDmnd">
            <a:fgClr>
              <a:schemeClr val="bg1">
                <a:lumMod val="85000"/>
              </a:schemeClr>
            </a:fgClr>
            <a:bgClr>
              <a:schemeClr val="bg1"/>
            </a:bgClr>
          </a:patt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ko-KR" altLang="en-US" sz="60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299" name="직사각형 298">
            <a:extLst>
              <a:ext uri="{FF2B5EF4-FFF2-40B4-BE49-F238E27FC236}">
                <a16:creationId xmlns="" xmlns:a16="http://schemas.microsoft.com/office/drawing/2014/main" id="{F9776C3A-3D6C-4965-9DA5-D76F1E6E1639}"/>
              </a:ext>
            </a:extLst>
          </p:cNvPr>
          <p:cNvSpPr/>
          <p:nvPr/>
        </p:nvSpPr>
        <p:spPr>
          <a:xfrm>
            <a:off x="5544375" y="710781"/>
            <a:ext cx="2879531" cy="5687074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700">
              <a:solidFill>
                <a:prstClr val="black">
                  <a:lumMod val="75000"/>
                  <a:lumOff val="25000"/>
                </a:prst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300" name="직사각형 299">
            <a:extLst>
              <a:ext uri="{FF2B5EF4-FFF2-40B4-BE49-F238E27FC236}">
                <a16:creationId xmlns:a16="http://schemas.microsoft.com/office/drawing/2014/main" xmlns="" id="{19FD5FA0-B111-4EF7-BC86-418441928DD3}"/>
              </a:ext>
            </a:extLst>
          </p:cNvPr>
          <p:cNvSpPr/>
          <p:nvPr/>
        </p:nvSpPr>
        <p:spPr>
          <a:xfrm>
            <a:off x="5544375" y="710781"/>
            <a:ext cx="2879531" cy="360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700">
              <a:solidFill>
                <a:prstClr val="black">
                  <a:lumMod val="75000"/>
                  <a:lumOff val="25000"/>
                </a:prstClr>
              </a:solidFill>
              <a:latin typeface="맑은 고딕" panose="020B0503020000020004" pitchFamily="50" charset="-127"/>
            </a:endParaRPr>
          </a:p>
        </p:txBody>
      </p:sp>
      <p:pic>
        <p:nvPicPr>
          <p:cNvPr id="305" name="Picture 2" descr="https://img.lfmall.co.kr/file/WAS/display/lf2022/mobile/gnb_fnb_sp.png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00" t="38037" r="84922" b="38044"/>
          <a:stretch/>
        </p:blipFill>
        <p:spPr bwMode="auto">
          <a:xfrm>
            <a:off x="5688352" y="800796"/>
            <a:ext cx="181562" cy="1799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306" name="그룹 305"/>
          <p:cNvGrpSpPr/>
          <p:nvPr/>
        </p:nvGrpSpPr>
        <p:grpSpPr>
          <a:xfrm>
            <a:off x="7783909" y="800796"/>
            <a:ext cx="179971" cy="179971"/>
            <a:chOff x="3851495" y="6190100"/>
            <a:chExt cx="180000" cy="180000"/>
          </a:xfrm>
        </p:grpSpPr>
        <p:sp>
          <p:nvSpPr>
            <p:cNvPr id="339" name="직사각형 338"/>
            <p:cNvSpPr/>
            <p:nvPr/>
          </p:nvSpPr>
          <p:spPr>
            <a:xfrm>
              <a:off x="3851495" y="6190100"/>
              <a:ext cx="180000" cy="180000"/>
            </a:xfrm>
            <a:prstGeom prst="rect">
              <a:avLst/>
            </a:prstGeom>
            <a:no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7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340" name="오각형 339"/>
            <p:cNvSpPr/>
            <p:nvPr/>
          </p:nvSpPr>
          <p:spPr>
            <a:xfrm rot="16200000">
              <a:off x="3869495" y="6217101"/>
              <a:ext cx="144000" cy="126000"/>
            </a:xfrm>
            <a:prstGeom prst="homePlate">
              <a:avLst/>
            </a:prstGeom>
            <a:grpFill/>
            <a:ln w="952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7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cxnSp>
          <p:nvCxnSpPr>
            <p:cNvPr id="341" name="직선 연결선 340"/>
            <p:cNvCxnSpPr/>
            <p:nvPr/>
          </p:nvCxnSpPr>
          <p:spPr>
            <a:xfrm>
              <a:off x="3860495" y="6282659"/>
              <a:ext cx="162000" cy="0"/>
            </a:xfrm>
            <a:prstGeom prst="line">
              <a:avLst/>
            </a:prstGeom>
            <a:ln w="952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2" name="직선 연결선 341"/>
            <p:cNvCxnSpPr/>
            <p:nvPr/>
          </p:nvCxnSpPr>
          <p:spPr>
            <a:xfrm rot="5400000">
              <a:off x="3923495" y="6348290"/>
              <a:ext cx="36000" cy="0"/>
            </a:xfrm>
            <a:prstGeom prst="line">
              <a:avLst/>
            </a:prstGeom>
            <a:ln w="952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07" name="그룹 306"/>
          <p:cNvGrpSpPr/>
          <p:nvPr/>
        </p:nvGrpSpPr>
        <p:grpSpPr>
          <a:xfrm>
            <a:off x="7486527" y="800796"/>
            <a:ext cx="179971" cy="179971"/>
            <a:chOff x="1007189" y="1604594"/>
            <a:chExt cx="180000" cy="180000"/>
          </a:xfrm>
        </p:grpSpPr>
        <p:sp>
          <p:nvSpPr>
            <p:cNvPr id="335" name="직사각형 334"/>
            <p:cNvSpPr/>
            <p:nvPr/>
          </p:nvSpPr>
          <p:spPr>
            <a:xfrm>
              <a:off x="1007189" y="1604594"/>
              <a:ext cx="180000" cy="180000"/>
            </a:xfrm>
            <a:prstGeom prst="rect">
              <a:avLst/>
            </a:prstGeom>
            <a:no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7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grpSp>
          <p:nvGrpSpPr>
            <p:cNvPr id="336" name="그룹 335"/>
            <p:cNvGrpSpPr/>
            <p:nvPr/>
          </p:nvGrpSpPr>
          <p:grpSpPr>
            <a:xfrm>
              <a:off x="1007190" y="1604594"/>
              <a:ext cx="179999" cy="180000"/>
              <a:chOff x="774028" y="1604594"/>
              <a:chExt cx="179999" cy="180000"/>
            </a:xfrm>
          </p:grpSpPr>
          <p:sp>
            <p:nvSpPr>
              <p:cNvPr id="337" name="타원 336"/>
              <p:cNvSpPr/>
              <p:nvPr/>
            </p:nvSpPr>
            <p:spPr>
              <a:xfrm>
                <a:off x="774028" y="1604594"/>
                <a:ext cx="126000" cy="126000"/>
              </a:xfrm>
              <a:prstGeom prst="ellipse">
                <a:avLst/>
              </a:prstGeom>
              <a:noFill/>
              <a:ln w="9525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70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  <p:cxnSp>
            <p:nvCxnSpPr>
              <p:cNvPr id="338" name="직선 연결선 337"/>
              <p:cNvCxnSpPr/>
              <p:nvPr/>
            </p:nvCxnSpPr>
            <p:spPr>
              <a:xfrm>
                <a:off x="900027" y="1730594"/>
                <a:ext cx="54000" cy="54000"/>
              </a:xfrm>
              <a:prstGeom prst="line">
                <a:avLst/>
              </a:prstGeom>
              <a:solidFill>
                <a:schemeClr val="bg1"/>
              </a:solidFill>
              <a:ln w="9525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</p:grpSp>
      <p:grpSp>
        <p:nvGrpSpPr>
          <p:cNvPr id="308" name="그룹 307"/>
          <p:cNvGrpSpPr/>
          <p:nvPr/>
        </p:nvGrpSpPr>
        <p:grpSpPr>
          <a:xfrm>
            <a:off x="8063770" y="800796"/>
            <a:ext cx="179971" cy="179971"/>
            <a:chOff x="3342086" y="1590527"/>
            <a:chExt cx="180000" cy="180000"/>
          </a:xfrm>
        </p:grpSpPr>
        <p:sp>
          <p:nvSpPr>
            <p:cNvPr id="329" name="직사각형 328"/>
            <p:cNvSpPr/>
            <p:nvPr/>
          </p:nvSpPr>
          <p:spPr>
            <a:xfrm>
              <a:off x="3342086" y="1590527"/>
              <a:ext cx="180000" cy="180000"/>
            </a:xfrm>
            <a:prstGeom prst="rect">
              <a:avLst/>
            </a:prstGeom>
            <a:no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7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330" name="사다리꼴 329"/>
            <p:cNvSpPr/>
            <p:nvPr/>
          </p:nvSpPr>
          <p:spPr>
            <a:xfrm>
              <a:off x="3359831" y="1633195"/>
              <a:ext cx="144000" cy="126000"/>
            </a:xfrm>
            <a:prstGeom prst="trapezoid">
              <a:avLst>
                <a:gd name="adj" fmla="val 8369"/>
              </a:avLst>
            </a:prstGeom>
            <a:noFill/>
            <a:ln w="952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7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331" name="양쪽 모서리가 둥근 사각형 330"/>
            <p:cNvSpPr/>
            <p:nvPr/>
          </p:nvSpPr>
          <p:spPr>
            <a:xfrm>
              <a:off x="3395831" y="1601860"/>
              <a:ext cx="72000" cy="72000"/>
            </a:xfrm>
            <a:prstGeom prst="round2SameRect">
              <a:avLst>
                <a:gd name="adj1" fmla="val 50000"/>
                <a:gd name="adj2" fmla="val 0"/>
              </a:avLst>
            </a:prstGeom>
            <a:noFill/>
            <a:ln w="952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7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grpSp>
          <p:nvGrpSpPr>
            <p:cNvPr id="332" name="그룹 331"/>
            <p:cNvGrpSpPr/>
            <p:nvPr/>
          </p:nvGrpSpPr>
          <p:grpSpPr>
            <a:xfrm>
              <a:off x="3386831" y="1626527"/>
              <a:ext cx="90000" cy="66383"/>
              <a:chOff x="3386831" y="1626527"/>
              <a:chExt cx="90000" cy="66383"/>
            </a:xfrm>
          </p:grpSpPr>
          <p:sp>
            <p:nvSpPr>
              <p:cNvPr id="333" name="직사각형 332"/>
              <p:cNvSpPr/>
              <p:nvPr/>
            </p:nvSpPr>
            <p:spPr>
              <a:xfrm>
                <a:off x="3423086" y="1626527"/>
                <a:ext cx="18000" cy="36000"/>
              </a:xfrm>
              <a:prstGeom prst="rect">
                <a:avLst/>
              </a:prstGeom>
              <a:solidFill>
                <a:schemeClr val="bg1"/>
              </a:solidFill>
              <a:ln w="31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70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  <p:sp>
            <p:nvSpPr>
              <p:cNvPr id="334" name="직사각형 333"/>
              <p:cNvSpPr/>
              <p:nvPr/>
            </p:nvSpPr>
            <p:spPr>
              <a:xfrm>
                <a:off x="3386831" y="1656910"/>
                <a:ext cx="90000" cy="36000"/>
              </a:xfrm>
              <a:prstGeom prst="rect">
                <a:avLst/>
              </a:prstGeom>
              <a:solidFill>
                <a:schemeClr val="bg1"/>
              </a:solidFill>
              <a:ln w="31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70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</p:grpSp>
      </p:grpSp>
      <p:sp>
        <p:nvSpPr>
          <p:cNvPr id="309" name="타원 308"/>
          <p:cNvSpPr/>
          <p:nvPr/>
        </p:nvSpPr>
        <p:spPr>
          <a:xfrm>
            <a:off x="8171947" y="836790"/>
            <a:ext cx="107982" cy="107982"/>
          </a:xfrm>
          <a:prstGeom prst="ellipse">
            <a:avLst/>
          </a:prstGeom>
          <a:solidFill>
            <a:srgbClr val="DC2832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500" b="1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7</a:t>
            </a:r>
            <a:endParaRPr lang="ko-KR" altLang="en-US" sz="500" b="1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12" name="TextBox 311">
            <a:extLst>
              <a:ext uri="{FF2B5EF4-FFF2-40B4-BE49-F238E27FC236}">
                <a16:creationId xmlns="" xmlns:a16="http://schemas.microsoft.com/office/drawing/2014/main" id="{0C96C875-C47F-4F5B-B4C1-F9D666A7BD9D}"/>
              </a:ext>
            </a:extLst>
          </p:cNvPr>
          <p:cNvSpPr txBox="1"/>
          <p:nvPr/>
        </p:nvSpPr>
        <p:spPr>
          <a:xfrm>
            <a:off x="5688351" y="1508422"/>
            <a:ext cx="731538" cy="165036"/>
          </a:xfrm>
          <a:prstGeom prst="rect">
            <a:avLst/>
          </a:prstGeom>
          <a:noFill/>
          <a:ln w="317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36000" tIns="36000" rIns="36000" bIns="36000" numCol="1" rtlCol="0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altLang="ko-KR" sz="600" b="1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DAKS MEN 〉 </a:t>
            </a:r>
            <a:r>
              <a:rPr lang="ko-KR" altLang="en-US" sz="600" u="sng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코트</a:t>
            </a:r>
            <a:endParaRPr lang="ko-KR" altLang="en-US" sz="600" u="sng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314" name="TextBox 313">
            <a:extLst>
              <a:ext uri="{FF2B5EF4-FFF2-40B4-BE49-F238E27FC236}">
                <a16:creationId xmlns="" xmlns:a16="http://schemas.microsoft.com/office/drawing/2014/main" id="{0C96C875-C47F-4F5B-B4C1-F9D666A7BD9D}"/>
              </a:ext>
            </a:extLst>
          </p:cNvPr>
          <p:cNvSpPr txBox="1"/>
          <p:nvPr/>
        </p:nvSpPr>
        <p:spPr>
          <a:xfrm>
            <a:off x="5688351" y="1698100"/>
            <a:ext cx="2159648" cy="468000"/>
          </a:xfrm>
          <a:prstGeom prst="rect">
            <a:avLst/>
          </a:prstGeom>
          <a:noFill/>
          <a:ln w="317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square" lIns="36000" tIns="36000" rIns="36000" bIns="36000" numCol="1" rtlCol="0" anchor="t" anchorCtr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8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[23FW] [LF</a:t>
            </a:r>
            <a:r>
              <a:rPr lang="ko-KR" altLang="en-US" sz="8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몰단독</a:t>
            </a:r>
            <a:r>
              <a:rPr lang="en-US" altLang="ko-KR" sz="8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][HEAT] </a:t>
            </a:r>
            <a:r>
              <a:rPr lang="ko-KR" altLang="en-US" sz="8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시그니처 헤비 구스다운 네이비 머플러 </a:t>
            </a:r>
            <a:r>
              <a:rPr lang="en-US" altLang="ko-KR" sz="8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Set </a:t>
            </a:r>
            <a:r>
              <a:rPr lang="ko-KR" altLang="en-US" sz="8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점퍼</a:t>
            </a:r>
            <a:endParaRPr lang="en-US" altLang="ko-KR" sz="800" smtClean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315" name="Share"/>
          <p:cNvSpPr>
            <a:spLocks noChangeAspect="1" noEditPoints="1"/>
          </p:cNvSpPr>
          <p:nvPr/>
        </p:nvSpPr>
        <p:spPr bwMode="auto">
          <a:xfrm>
            <a:off x="8099959" y="1500953"/>
            <a:ext cx="179971" cy="179971"/>
          </a:xfrm>
          <a:custGeom>
            <a:avLst/>
            <a:gdLst>
              <a:gd name="T0" fmla="*/ 533 w 666"/>
              <a:gd name="T1" fmla="*/ 0 h 667"/>
              <a:gd name="T2" fmla="*/ 400 w 666"/>
              <a:gd name="T3" fmla="*/ 132 h 667"/>
              <a:gd name="T4" fmla="*/ 212 w 666"/>
              <a:gd name="T5" fmla="*/ 226 h 667"/>
              <a:gd name="T6" fmla="*/ 133 w 666"/>
              <a:gd name="T7" fmla="*/ 200 h 667"/>
              <a:gd name="T8" fmla="*/ 0 w 666"/>
              <a:gd name="T9" fmla="*/ 333 h 667"/>
              <a:gd name="T10" fmla="*/ 133 w 666"/>
              <a:gd name="T11" fmla="*/ 467 h 667"/>
              <a:gd name="T12" fmla="*/ 212 w 666"/>
              <a:gd name="T13" fmla="*/ 441 h 667"/>
              <a:gd name="T14" fmla="*/ 400 w 666"/>
              <a:gd name="T15" fmla="*/ 535 h 667"/>
              <a:gd name="T16" fmla="*/ 533 w 666"/>
              <a:gd name="T17" fmla="*/ 667 h 667"/>
              <a:gd name="T18" fmla="*/ 666 w 666"/>
              <a:gd name="T19" fmla="*/ 533 h 667"/>
              <a:gd name="T20" fmla="*/ 533 w 666"/>
              <a:gd name="T21" fmla="*/ 400 h 667"/>
              <a:gd name="T22" fmla="*/ 457 w 666"/>
              <a:gd name="T23" fmla="*/ 424 h 667"/>
              <a:gd name="T24" fmla="*/ 275 w 666"/>
              <a:gd name="T25" fmla="*/ 333 h 667"/>
              <a:gd name="T26" fmla="*/ 457 w 666"/>
              <a:gd name="T27" fmla="*/ 242 h 667"/>
              <a:gd name="T28" fmla="*/ 533 w 666"/>
              <a:gd name="T29" fmla="*/ 267 h 667"/>
              <a:gd name="T30" fmla="*/ 666 w 666"/>
              <a:gd name="T31" fmla="*/ 133 h 667"/>
              <a:gd name="T32" fmla="*/ 533 w 666"/>
              <a:gd name="T33" fmla="*/ 0 h 667"/>
              <a:gd name="T34" fmla="*/ 533 w 666"/>
              <a:gd name="T35" fmla="*/ 27 h 667"/>
              <a:gd name="T36" fmla="*/ 640 w 666"/>
              <a:gd name="T37" fmla="*/ 133 h 667"/>
              <a:gd name="T38" fmla="*/ 533 w 666"/>
              <a:gd name="T39" fmla="*/ 240 h 667"/>
              <a:gd name="T40" fmla="*/ 472 w 666"/>
              <a:gd name="T41" fmla="*/ 221 h 667"/>
              <a:gd name="T42" fmla="*/ 426 w 666"/>
              <a:gd name="T43" fmla="*/ 133 h 667"/>
              <a:gd name="T44" fmla="*/ 533 w 666"/>
              <a:gd name="T45" fmla="*/ 27 h 667"/>
              <a:gd name="T46" fmla="*/ 403 w 666"/>
              <a:gd name="T47" fmla="*/ 160 h 667"/>
              <a:gd name="T48" fmla="*/ 435 w 666"/>
              <a:gd name="T49" fmla="*/ 223 h 667"/>
              <a:gd name="T50" fmla="*/ 264 w 666"/>
              <a:gd name="T51" fmla="*/ 309 h 667"/>
              <a:gd name="T52" fmla="*/ 233 w 666"/>
              <a:gd name="T53" fmla="*/ 245 h 667"/>
              <a:gd name="T54" fmla="*/ 403 w 666"/>
              <a:gd name="T55" fmla="*/ 160 h 667"/>
              <a:gd name="T56" fmla="*/ 133 w 666"/>
              <a:gd name="T57" fmla="*/ 227 h 667"/>
              <a:gd name="T58" fmla="*/ 198 w 666"/>
              <a:gd name="T59" fmla="*/ 249 h 667"/>
              <a:gd name="T60" fmla="*/ 239 w 666"/>
              <a:gd name="T61" fmla="*/ 325 h 667"/>
              <a:gd name="T62" fmla="*/ 200 w 666"/>
              <a:gd name="T63" fmla="*/ 416 h 667"/>
              <a:gd name="T64" fmla="*/ 133 w 666"/>
              <a:gd name="T65" fmla="*/ 440 h 667"/>
              <a:gd name="T66" fmla="*/ 26 w 666"/>
              <a:gd name="T67" fmla="*/ 333 h 667"/>
              <a:gd name="T68" fmla="*/ 133 w 666"/>
              <a:gd name="T69" fmla="*/ 227 h 667"/>
              <a:gd name="T70" fmla="*/ 264 w 666"/>
              <a:gd name="T71" fmla="*/ 357 h 667"/>
              <a:gd name="T72" fmla="*/ 435 w 666"/>
              <a:gd name="T73" fmla="*/ 443 h 667"/>
              <a:gd name="T74" fmla="*/ 403 w 666"/>
              <a:gd name="T75" fmla="*/ 507 h 667"/>
              <a:gd name="T76" fmla="*/ 233 w 666"/>
              <a:gd name="T77" fmla="*/ 422 h 667"/>
              <a:gd name="T78" fmla="*/ 264 w 666"/>
              <a:gd name="T79" fmla="*/ 357 h 667"/>
              <a:gd name="T80" fmla="*/ 533 w 666"/>
              <a:gd name="T81" fmla="*/ 427 h 667"/>
              <a:gd name="T82" fmla="*/ 640 w 666"/>
              <a:gd name="T83" fmla="*/ 533 h 667"/>
              <a:gd name="T84" fmla="*/ 533 w 666"/>
              <a:gd name="T85" fmla="*/ 640 h 667"/>
              <a:gd name="T86" fmla="*/ 426 w 666"/>
              <a:gd name="T87" fmla="*/ 533 h 667"/>
              <a:gd name="T88" fmla="*/ 469 w 666"/>
              <a:gd name="T89" fmla="*/ 448 h 667"/>
              <a:gd name="T90" fmla="*/ 533 w 666"/>
              <a:gd name="T91" fmla="*/ 427 h 66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</a:cxnLst>
            <a:rect l="0" t="0" r="r" b="b"/>
            <a:pathLst>
              <a:path w="666" h="667">
                <a:moveTo>
                  <a:pt x="533" y="0"/>
                </a:moveTo>
                <a:cubicBezTo>
                  <a:pt x="460" y="0"/>
                  <a:pt x="400" y="59"/>
                  <a:pt x="400" y="132"/>
                </a:cubicBezTo>
                <a:lnTo>
                  <a:pt x="212" y="226"/>
                </a:lnTo>
                <a:cubicBezTo>
                  <a:pt x="190" y="210"/>
                  <a:pt x="162" y="200"/>
                  <a:pt x="133" y="200"/>
                </a:cubicBezTo>
                <a:cubicBezTo>
                  <a:pt x="59" y="200"/>
                  <a:pt x="0" y="260"/>
                  <a:pt x="0" y="333"/>
                </a:cubicBezTo>
                <a:cubicBezTo>
                  <a:pt x="0" y="407"/>
                  <a:pt x="59" y="467"/>
                  <a:pt x="133" y="467"/>
                </a:cubicBezTo>
                <a:cubicBezTo>
                  <a:pt x="162" y="467"/>
                  <a:pt x="190" y="457"/>
                  <a:pt x="212" y="441"/>
                </a:cubicBezTo>
                <a:lnTo>
                  <a:pt x="400" y="535"/>
                </a:lnTo>
                <a:cubicBezTo>
                  <a:pt x="400" y="608"/>
                  <a:pt x="460" y="667"/>
                  <a:pt x="533" y="667"/>
                </a:cubicBezTo>
                <a:cubicBezTo>
                  <a:pt x="606" y="667"/>
                  <a:pt x="666" y="607"/>
                  <a:pt x="666" y="533"/>
                </a:cubicBezTo>
                <a:cubicBezTo>
                  <a:pt x="666" y="460"/>
                  <a:pt x="606" y="400"/>
                  <a:pt x="533" y="400"/>
                </a:cubicBezTo>
                <a:cubicBezTo>
                  <a:pt x="505" y="400"/>
                  <a:pt x="478" y="409"/>
                  <a:pt x="457" y="424"/>
                </a:cubicBezTo>
                <a:lnTo>
                  <a:pt x="275" y="333"/>
                </a:lnTo>
                <a:lnTo>
                  <a:pt x="457" y="242"/>
                </a:lnTo>
                <a:cubicBezTo>
                  <a:pt x="478" y="258"/>
                  <a:pt x="505" y="267"/>
                  <a:pt x="533" y="267"/>
                </a:cubicBezTo>
                <a:cubicBezTo>
                  <a:pt x="606" y="267"/>
                  <a:pt x="666" y="207"/>
                  <a:pt x="666" y="133"/>
                </a:cubicBezTo>
                <a:cubicBezTo>
                  <a:pt x="666" y="60"/>
                  <a:pt x="606" y="0"/>
                  <a:pt x="533" y="0"/>
                </a:cubicBezTo>
                <a:close/>
                <a:moveTo>
                  <a:pt x="533" y="27"/>
                </a:moveTo>
                <a:cubicBezTo>
                  <a:pt x="592" y="27"/>
                  <a:pt x="640" y="74"/>
                  <a:pt x="640" y="133"/>
                </a:cubicBezTo>
                <a:cubicBezTo>
                  <a:pt x="640" y="192"/>
                  <a:pt x="592" y="240"/>
                  <a:pt x="533" y="240"/>
                </a:cubicBezTo>
                <a:cubicBezTo>
                  <a:pt x="510" y="240"/>
                  <a:pt x="489" y="233"/>
                  <a:pt x="472" y="221"/>
                </a:cubicBezTo>
                <a:cubicBezTo>
                  <a:pt x="442" y="198"/>
                  <a:pt x="428" y="163"/>
                  <a:pt x="426" y="133"/>
                </a:cubicBezTo>
                <a:cubicBezTo>
                  <a:pt x="426" y="74"/>
                  <a:pt x="474" y="27"/>
                  <a:pt x="533" y="27"/>
                </a:cubicBezTo>
                <a:close/>
                <a:moveTo>
                  <a:pt x="403" y="160"/>
                </a:moveTo>
                <a:cubicBezTo>
                  <a:pt x="407" y="184"/>
                  <a:pt x="419" y="206"/>
                  <a:pt x="435" y="223"/>
                </a:cubicBezTo>
                <a:lnTo>
                  <a:pt x="264" y="309"/>
                </a:lnTo>
                <a:cubicBezTo>
                  <a:pt x="259" y="285"/>
                  <a:pt x="248" y="263"/>
                  <a:pt x="233" y="245"/>
                </a:cubicBezTo>
                <a:lnTo>
                  <a:pt x="403" y="160"/>
                </a:lnTo>
                <a:close/>
                <a:moveTo>
                  <a:pt x="133" y="227"/>
                </a:moveTo>
                <a:cubicBezTo>
                  <a:pt x="158" y="227"/>
                  <a:pt x="180" y="235"/>
                  <a:pt x="198" y="249"/>
                </a:cubicBezTo>
                <a:cubicBezTo>
                  <a:pt x="225" y="268"/>
                  <a:pt x="237" y="300"/>
                  <a:pt x="239" y="325"/>
                </a:cubicBezTo>
                <a:cubicBezTo>
                  <a:pt x="238" y="361"/>
                  <a:pt x="239" y="379"/>
                  <a:pt x="200" y="416"/>
                </a:cubicBezTo>
                <a:cubicBezTo>
                  <a:pt x="182" y="431"/>
                  <a:pt x="158" y="440"/>
                  <a:pt x="133" y="440"/>
                </a:cubicBezTo>
                <a:cubicBezTo>
                  <a:pt x="74" y="440"/>
                  <a:pt x="26" y="392"/>
                  <a:pt x="26" y="333"/>
                </a:cubicBezTo>
                <a:cubicBezTo>
                  <a:pt x="26" y="274"/>
                  <a:pt x="74" y="227"/>
                  <a:pt x="133" y="227"/>
                </a:cubicBezTo>
                <a:close/>
                <a:moveTo>
                  <a:pt x="264" y="357"/>
                </a:moveTo>
                <a:lnTo>
                  <a:pt x="435" y="443"/>
                </a:lnTo>
                <a:cubicBezTo>
                  <a:pt x="419" y="461"/>
                  <a:pt x="407" y="482"/>
                  <a:pt x="403" y="507"/>
                </a:cubicBezTo>
                <a:lnTo>
                  <a:pt x="233" y="422"/>
                </a:lnTo>
                <a:cubicBezTo>
                  <a:pt x="248" y="404"/>
                  <a:pt x="259" y="382"/>
                  <a:pt x="264" y="357"/>
                </a:cubicBezTo>
                <a:close/>
                <a:moveTo>
                  <a:pt x="533" y="427"/>
                </a:moveTo>
                <a:cubicBezTo>
                  <a:pt x="592" y="427"/>
                  <a:pt x="640" y="474"/>
                  <a:pt x="640" y="533"/>
                </a:cubicBezTo>
                <a:cubicBezTo>
                  <a:pt x="640" y="592"/>
                  <a:pt x="592" y="640"/>
                  <a:pt x="533" y="640"/>
                </a:cubicBezTo>
                <a:cubicBezTo>
                  <a:pt x="474" y="640"/>
                  <a:pt x="426" y="592"/>
                  <a:pt x="426" y="533"/>
                </a:cubicBezTo>
                <a:cubicBezTo>
                  <a:pt x="430" y="495"/>
                  <a:pt x="442" y="468"/>
                  <a:pt x="469" y="448"/>
                </a:cubicBezTo>
                <a:cubicBezTo>
                  <a:pt x="487" y="435"/>
                  <a:pt x="509" y="427"/>
                  <a:pt x="533" y="427"/>
                </a:cubicBezTo>
                <a:close/>
              </a:path>
            </a:pathLst>
          </a:custGeom>
          <a:solidFill>
            <a:srgbClr val="5F5F5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80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18" name="TextBox 317">
            <a:extLst>
              <a:ext uri="{FF2B5EF4-FFF2-40B4-BE49-F238E27FC236}">
                <a16:creationId xmlns="" xmlns:a16="http://schemas.microsoft.com/office/drawing/2014/main" id="{0C96C875-C47F-4F5B-B4C1-F9D666A7BD9D}"/>
              </a:ext>
            </a:extLst>
          </p:cNvPr>
          <p:cNvSpPr txBox="1"/>
          <p:nvPr/>
        </p:nvSpPr>
        <p:spPr>
          <a:xfrm>
            <a:off x="5688351" y="3442628"/>
            <a:ext cx="321169" cy="180425"/>
          </a:xfrm>
          <a:prstGeom prst="rect">
            <a:avLst/>
          </a:prstGeom>
          <a:noFill/>
          <a:ln w="317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36000" tIns="36000" rIns="36000" bIns="36000" numCol="1" rtlCol="0" anchor="ctr" anchorCtr="0" compatLnSpc="1">
            <a:prstTxWarp prst="textNoShape">
              <a:avLst/>
            </a:prstTxWarp>
            <a:spAutoFit/>
          </a:bodyPr>
          <a:lstStyle/>
          <a:p>
            <a:r>
              <a:rPr lang="ko-KR" altLang="en-US" sz="700" b="1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★ </a:t>
            </a:r>
            <a:r>
              <a:rPr lang="en-US" altLang="ko-KR" sz="700" b="1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4.7</a:t>
            </a:r>
            <a:endParaRPr lang="ko-KR" altLang="en-US" sz="700" b="1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</a:endParaRPr>
          </a:p>
        </p:txBody>
      </p:sp>
      <p:grpSp>
        <p:nvGrpSpPr>
          <p:cNvPr id="15" name="그룹 14"/>
          <p:cNvGrpSpPr/>
          <p:nvPr/>
        </p:nvGrpSpPr>
        <p:grpSpPr>
          <a:xfrm>
            <a:off x="5688352" y="2581027"/>
            <a:ext cx="1045357" cy="211203"/>
            <a:chOff x="5463507" y="2581027"/>
            <a:chExt cx="1045357" cy="211203"/>
          </a:xfrm>
        </p:grpSpPr>
        <p:sp>
          <p:nvSpPr>
            <p:cNvPr id="321" name="TextBox 320">
              <a:extLst>
                <a:ext uri="{FF2B5EF4-FFF2-40B4-BE49-F238E27FC236}">
                  <a16:creationId xmlns="" xmlns:a16="http://schemas.microsoft.com/office/drawing/2014/main" id="{0C96C875-C47F-4F5B-B4C1-F9D666A7BD9D}"/>
                </a:ext>
              </a:extLst>
            </p:cNvPr>
            <p:cNvSpPr txBox="1"/>
            <p:nvPr/>
          </p:nvSpPr>
          <p:spPr>
            <a:xfrm>
              <a:off x="5463507" y="2581027"/>
              <a:ext cx="898249" cy="211203"/>
            </a:xfrm>
            <a:prstGeom prst="rect">
              <a:avLst/>
            </a:prstGeom>
            <a:noFill/>
            <a:ln w="3175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none" lIns="36000" tIns="36000" rIns="36000" bIns="36000" numCol="1" rtlCol="0" anchor="ctr" anchorCtr="0" compatLnSpc="1">
              <a:prstTxWarp prst="textNoShape">
                <a:avLst/>
              </a:prstTxWarp>
              <a:spAutoFit/>
            </a:bodyPr>
            <a:lstStyle/>
            <a:p>
              <a:r>
                <a:rPr lang="en-US" altLang="ko-KR" sz="900" b="1" smtClean="0">
                  <a:solidFill>
                    <a:srgbClr val="DC2832"/>
                  </a:solidFill>
                  <a:latin typeface="맑은 고딕" panose="020B0503020000020004" pitchFamily="50" charset="-127"/>
                </a:rPr>
                <a:t>46%</a:t>
              </a:r>
              <a:r>
                <a:rPr lang="en-US" altLang="ko-KR" sz="90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 </a:t>
              </a:r>
              <a:r>
                <a:rPr lang="en-US" altLang="ko-KR" sz="900" b="1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390,910</a:t>
              </a:r>
              <a:r>
                <a:rPr lang="ko-KR" altLang="en-US" sz="900" b="1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원</a:t>
              </a:r>
              <a:endParaRPr lang="en-US" altLang="ko-KR" sz="900" b="1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322" name="타원 321"/>
            <p:cNvSpPr/>
            <p:nvPr/>
          </p:nvSpPr>
          <p:spPr>
            <a:xfrm>
              <a:off x="6364888" y="2614640"/>
              <a:ext cx="143976" cy="143976"/>
            </a:xfrm>
            <a:prstGeom prst="ellips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70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?</a:t>
              </a:r>
              <a:endParaRPr lang="ko-KR" altLang="en-US" sz="7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sp>
        <p:nvSpPr>
          <p:cNvPr id="366" name="TextBox 365">
            <a:extLst>
              <a:ext uri="{FF2B5EF4-FFF2-40B4-BE49-F238E27FC236}">
                <a16:creationId xmlns="" xmlns:a16="http://schemas.microsoft.com/office/drawing/2014/main" id="{0C96C875-C47F-4F5B-B4C1-F9D666A7BD9D}"/>
              </a:ext>
            </a:extLst>
          </p:cNvPr>
          <p:cNvSpPr txBox="1"/>
          <p:nvPr/>
        </p:nvSpPr>
        <p:spPr>
          <a:xfrm>
            <a:off x="5688351" y="4072374"/>
            <a:ext cx="553604" cy="180425"/>
          </a:xfrm>
          <a:prstGeom prst="rect">
            <a:avLst/>
          </a:prstGeom>
          <a:noFill/>
          <a:ln w="317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36000" tIns="36000" rIns="36000" bIns="36000" numCol="1" rtlCol="0" anchor="ctr" anchorCtr="0" compatLnSpc="1">
            <a:prstTxWarp prst="textNoShape">
              <a:avLst/>
            </a:prstTxWarp>
            <a:spAutoFit/>
          </a:bodyPr>
          <a:lstStyle/>
          <a:p>
            <a:r>
              <a:rPr lang="ko-KR" altLang="en-US" sz="700" b="1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컬러</a:t>
            </a:r>
            <a:r>
              <a:rPr lang="ko-KR" altLang="en-US" sz="7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 세피아</a:t>
            </a:r>
            <a:endParaRPr lang="ko-KR" altLang="en-US" sz="7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391" name="직사각형 390"/>
          <p:cNvSpPr/>
          <p:nvPr/>
        </p:nvSpPr>
        <p:spPr>
          <a:xfrm>
            <a:off x="5725648" y="2184100"/>
            <a:ext cx="504000" cy="144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6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마케팅뱃지</a:t>
            </a:r>
            <a:endParaRPr lang="ko-KR" altLang="en-US" sz="60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96" name="TextBox 395">
            <a:extLst>
              <a:ext uri="{FF2B5EF4-FFF2-40B4-BE49-F238E27FC236}">
                <a16:creationId xmlns="" xmlns:a16="http://schemas.microsoft.com/office/drawing/2014/main" id="{0C96C875-C47F-4F5B-B4C1-F9D666A7BD9D}"/>
              </a:ext>
            </a:extLst>
          </p:cNvPr>
          <p:cNvSpPr txBox="1"/>
          <p:nvPr/>
        </p:nvSpPr>
        <p:spPr>
          <a:xfrm>
            <a:off x="5688352" y="2399234"/>
            <a:ext cx="479866" cy="180425"/>
          </a:xfrm>
          <a:prstGeom prst="rect">
            <a:avLst/>
          </a:prstGeom>
          <a:noFill/>
          <a:ln w="317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36000" tIns="36000" rIns="36000" bIns="36000" numCol="1" rtlCol="0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altLang="ko-KR" sz="700" strike="sngStrike">
                <a:solidFill>
                  <a:schemeClr val="bg1">
                    <a:lumMod val="75000"/>
                  </a:schemeClr>
                </a:solidFill>
                <a:latin typeface="맑은 고딕" panose="020B0503020000020004" pitchFamily="50" charset="-127"/>
              </a:rPr>
              <a:t>730,000</a:t>
            </a:r>
            <a:r>
              <a:rPr lang="ko-KR" altLang="en-US" sz="700" strike="sngStrike">
                <a:solidFill>
                  <a:schemeClr val="bg1">
                    <a:lumMod val="75000"/>
                  </a:schemeClr>
                </a:solidFill>
                <a:latin typeface="맑은 고딕" panose="020B0503020000020004" pitchFamily="50" charset="-127"/>
              </a:rPr>
              <a:t>원</a:t>
            </a:r>
            <a:endParaRPr lang="en-US" altLang="ko-KR" sz="700" b="1" smtClean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</a:endParaRPr>
          </a:p>
        </p:txBody>
      </p:sp>
      <p:grpSp>
        <p:nvGrpSpPr>
          <p:cNvPr id="6" name="그룹 5"/>
          <p:cNvGrpSpPr/>
          <p:nvPr/>
        </p:nvGrpSpPr>
        <p:grpSpPr>
          <a:xfrm>
            <a:off x="7559930" y="2399659"/>
            <a:ext cx="720000" cy="288000"/>
            <a:chOff x="6328107" y="2228276"/>
            <a:chExt cx="720000" cy="288000"/>
          </a:xfrm>
        </p:grpSpPr>
        <p:sp>
          <p:nvSpPr>
            <p:cNvPr id="180" name="모서리가 둥근 직사각형 179"/>
            <p:cNvSpPr/>
            <p:nvPr/>
          </p:nvSpPr>
          <p:spPr>
            <a:xfrm>
              <a:off x="6328107" y="2228276"/>
              <a:ext cx="720000" cy="288000"/>
            </a:xfrm>
            <a:prstGeom prst="roundRect">
              <a:avLst>
                <a:gd name="adj" fmla="val 5422"/>
              </a:avLst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144000" bIns="0" rtlCol="0" anchor="ctr"/>
            <a:lstStyle/>
            <a:p>
              <a:pPr algn="ctr"/>
              <a:r>
                <a:rPr lang="ko-KR" altLang="en-US" sz="70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혜택받기</a:t>
              </a:r>
              <a:endParaRPr lang="ko-KR" altLang="en-US" sz="7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endParaRPr>
            </a:p>
          </p:txBody>
        </p:sp>
        <p:grpSp>
          <p:nvGrpSpPr>
            <p:cNvPr id="5" name="그룹 4"/>
            <p:cNvGrpSpPr/>
            <p:nvPr/>
          </p:nvGrpSpPr>
          <p:grpSpPr>
            <a:xfrm>
              <a:off x="6848754" y="2327276"/>
              <a:ext cx="90000" cy="90000"/>
              <a:chOff x="6816269" y="2336064"/>
              <a:chExt cx="90000" cy="90000"/>
            </a:xfrm>
          </p:grpSpPr>
          <p:sp>
            <p:nvSpPr>
              <p:cNvPr id="181" name="Arrow Down"/>
              <p:cNvSpPr>
                <a:spLocks noChangeAspect="1"/>
              </p:cNvSpPr>
              <p:nvPr/>
            </p:nvSpPr>
            <p:spPr bwMode="auto">
              <a:xfrm>
                <a:off x="6828945" y="2336064"/>
                <a:ext cx="64649" cy="90000"/>
              </a:xfrm>
              <a:custGeom>
                <a:avLst/>
                <a:gdLst>
                  <a:gd name="T0" fmla="*/ 163 w 331"/>
                  <a:gd name="T1" fmla="*/ 0 h 458"/>
                  <a:gd name="T2" fmla="*/ 150 w 331"/>
                  <a:gd name="T3" fmla="*/ 14 h 458"/>
                  <a:gd name="T4" fmla="*/ 150 w 331"/>
                  <a:gd name="T5" fmla="*/ 407 h 458"/>
                  <a:gd name="T6" fmla="*/ 28 w 331"/>
                  <a:gd name="T7" fmla="*/ 285 h 458"/>
                  <a:gd name="T8" fmla="*/ 18 w 331"/>
                  <a:gd name="T9" fmla="*/ 281 h 458"/>
                  <a:gd name="T10" fmla="*/ 9 w 331"/>
                  <a:gd name="T11" fmla="*/ 304 h 458"/>
                  <a:gd name="T12" fmla="*/ 164 w 331"/>
                  <a:gd name="T13" fmla="*/ 458 h 458"/>
                  <a:gd name="T14" fmla="*/ 318 w 331"/>
                  <a:gd name="T15" fmla="*/ 304 h 458"/>
                  <a:gd name="T16" fmla="*/ 299 w 331"/>
                  <a:gd name="T17" fmla="*/ 285 h 458"/>
                  <a:gd name="T18" fmla="*/ 177 w 331"/>
                  <a:gd name="T19" fmla="*/ 407 h 458"/>
                  <a:gd name="T20" fmla="*/ 177 w 331"/>
                  <a:gd name="T21" fmla="*/ 14 h 458"/>
                  <a:gd name="T22" fmla="*/ 163 w 331"/>
                  <a:gd name="T23" fmla="*/ 0 h 4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331" h="458">
                    <a:moveTo>
                      <a:pt x="163" y="0"/>
                    </a:moveTo>
                    <a:cubicBezTo>
                      <a:pt x="156" y="0"/>
                      <a:pt x="150" y="6"/>
                      <a:pt x="150" y="14"/>
                    </a:cubicBezTo>
                    <a:lnTo>
                      <a:pt x="150" y="407"/>
                    </a:lnTo>
                    <a:lnTo>
                      <a:pt x="28" y="285"/>
                    </a:lnTo>
                    <a:cubicBezTo>
                      <a:pt x="25" y="282"/>
                      <a:pt x="22" y="281"/>
                      <a:pt x="18" y="281"/>
                    </a:cubicBezTo>
                    <a:cubicBezTo>
                      <a:pt x="6" y="281"/>
                      <a:pt x="0" y="295"/>
                      <a:pt x="9" y="304"/>
                    </a:cubicBezTo>
                    <a:lnTo>
                      <a:pt x="164" y="458"/>
                    </a:lnTo>
                    <a:lnTo>
                      <a:pt x="318" y="304"/>
                    </a:lnTo>
                    <a:cubicBezTo>
                      <a:pt x="331" y="291"/>
                      <a:pt x="312" y="272"/>
                      <a:pt x="299" y="285"/>
                    </a:cubicBezTo>
                    <a:lnTo>
                      <a:pt x="177" y="407"/>
                    </a:lnTo>
                    <a:lnTo>
                      <a:pt x="177" y="14"/>
                    </a:lnTo>
                    <a:cubicBezTo>
                      <a:pt x="177" y="6"/>
                      <a:pt x="171" y="0"/>
                      <a:pt x="163" y="0"/>
                    </a:cubicBezTo>
                    <a:close/>
                  </a:path>
                </a:pathLst>
              </a:custGeom>
              <a:solidFill>
                <a:srgbClr val="5F5F5F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sz="900"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cxnSp>
            <p:nvCxnSpPr>
              <p:cNvPr id="3" name="직선 연결선 2"/>
              <p:cNvCxnSpPr/>
              <p:nvPr/>
            </p:nvCxnSpPr>
            <p:spPr>
              <a:xfrm>
                <a:off x="6816269" y="2426064"/>
                <a:ext cx="90000" cy="0"/>
              </a:xfrm>
              <a:prstGeom prst="line">
                <a:avLst/>
              </a:prstGeom>
              <a:ln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cxnSp>
        <p:nvCxnSpPr>
          <p:cNvPr id="8" name="직선 연결선 7"/>
          <p:cNvCxnSpPr/>
          <p:nvPr/>
        </p:nvCxnSpPr>
        <p:spPr>
          <a:xfrm>
            <a:off x="5688351" y="2866134"/>
            <a:ext cx="2591578" cy="0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1" name="TextBox 200">
            <a:extLst>
              <a:ext uri="{FF2B5EF4-FFF2-40B4-BE49-F238E27FC236}">
                <a16:creationId xmlns="" xmlns:a16="http://schemas.microsoft.com/office/drawing/2014/main" id="{0C96C875-C47F-4F5B-B4C1-F9D666A7BD9D}"/>
              </a:ext>
            </a:extLst>
          </p:cNvPr>
          <p:cNvSpPr txBox="1"/>
          <p:nvPr/>
        </p:nvSpPr>
        <p:spPr>
          <a:xfrm>
            <a:off x="5688352" y="2937770"/>
            <a:ext cx="938325" cy="180425"/>
          </a:xfrm>
          <a:prstGeom prst="rect">
            <a:avLst/>
          </a:prstGeom>
          <a:noFill/>
          <a:ln w="317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36000" tIns="36000" rIns="36000" bIns="36000" numCol="1" rtlCol="0" anchor="ctr" anchorCtr="0" compatLnSpc="1">
            <a:prstTxWarp prst="textNoShape">
              <a:avLst/>
            </a:prstTxWarp>
            <a:spAutoFit/>
          </a:bodyPr>
          <a:lstStyle/>
          <a:p>
            <a:r>
              <a:rPr lang="ko-KR" altLang="en-US" sz="600" b="1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최대 혜택가</a:t>
            </a:r>
            <a:r>
              <a:rPr lang="ko-KR" altLang="en-US" sz="700" b="1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 </a:t>
            </a:r>
            <a:r>
              <a:rPr lang="en-US" altLang="ko-KR" sz="700" b="1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390,910</a:t>
            </a:r>
            <a:r>
              <a:rPr lang="ko-KR" altLang="en-US" sz="600" b="1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원</a:t>
            </a:r>
            <a:endParaRPr lang="en-US" altLang="ko-KR" sz="700" b="1" smtClean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203" name="TextBox 202">
            <a:extLst>
              <a:ext uri="{FF2B5EF4-FFF2-40B4-BE49-F238E27FC236}">
                <a16:creationId xmlns="" xmlns:a16="http://schemas.microsoft.com/office/drawing/2014/main" id="{0C96C875-C47F-4F5B-B4C1-F9D666A7BD9D}"/>
              </a:ext>
            </a:extLst>
          </p:cNvPr>
          <p:cNvSpPr txBox="1"/>
          <p:nvPr/>
        </p:nvSpPr>
        <p:spPr>
          <a:xfrm>
            <a:off x="5688352" y="3118848"/>
            <a:ext cx="909004" cy="180425"/>
          </a:xfrm>
          <a:prstGeom prst="rect">
            <a:avLst/>
          </a:prstGeom>
          <a:noFill/>
          <a:ln w="317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180000" tIns="36000" rIns="36000" bIns="36000" numCol="1" rtlCol="0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altLang="ko-KR" sz="7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3,900M </a:t>
            </a:r>
            <a:r>
              <a:rPr lang="ko-KR" altLang="en-US" sz="7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적립예정</a:t>
            </a:r>
            <a:endParaRPr lang="en-US" altLang="ko-KR" sz="700" smtClean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13" name="타원 12"/>
          <p:cNvSpPr/>
          <p:nvPr/>
        </p:nvSpPr>
        <p:spPr>
          <a:xfrm>
            <a:off x="5688352" y="3137060"/>
            <a:ext cx="144000" cy="144000"/>
          </a:xfrm>
          <a:prstGeom prst="ellipse">
            <a:avLst/>
          </a:prstGeom>
          <a:solidFill>
            <a:schemeClr val="tx1">
              <a:lumMod val="75000"/>
              <a:lumOff val="2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B</a:t>
            </a:r>
            <a:endParaRPr lang="ko-KR" altLang="en-US" sz="80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07" name="타원 206"/>
          <p:cNvSpPr/>
          <p:nvPr/>
        </p:nvSpPr>
        <p:spPr>
          <a:xfrm>
            <a:off x="6599069" y="3137072"/>
            <a:ext cx="143977" cy="143976"/>
          </a:xfrm>
          <a:prstGeom prst="ellips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7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?</a:t>
            </a:r>
            <a:endParaRPr lang="ko-KR" altLang="en-US" sz="70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08" name="Chevron Down"/>
          <p:cNvSpPr>
            <a:spLocks noChangeAspect="1"/>
          </p:cNvSpPr>
          <p:nvPr/>
        </p:nvSpPr>
        <p:spPr bwMode="auto">
          <a:xfrm>
            <a:off x="8135929" y="3079174"/>
            <a:ext cx="144000" cy="79121"/>
          </a:xfrm>
          <a:custGeom>
            <a:avLst/>
            <a:gdLst>
              <a:gd name="T0" fmla="*/ 594 w 594"/>
              <a:gd name="T1" fmla="*/ 27 h 324"/>
              <a:gd name="T2" fmla="*/ 566 w 594"/>
              <a:gd name="T3" fmla="*/ 0 h 324"/>
              <a:gd name="T4" fmla="*/ 297 w 594"/>
              <a:gd name="T5" fmla="*/ 268 h 324"/>
              <a:gd name="T6" fmla="*/ 28 w 594"/>
              <a:gd name="T7" fmla="*/ 0 h 324"/>
              <a:gd name="T8" fmla="*/ 0 w 594"/>
              <a:gd name="T9" fmla="*/ 27 h 324"/>
              <a:gd name="T10" fmla="*/ 297 w 594"/>
              <a:gd name="T11" fmla="*/ 324 h 324"/>
              <a:gd name="T12" fmla="*/ 594 w 594"/>
              <a:gd name="T13" fmla="*/ 27 h 3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594" h="324">
                <a:moveTo>
                  <a:pt x="594" y="27"/>
                </a:moveTo>
                <a:lnTo>
                  <a:pt x="566" y="0"/>
                </a:lnTo>
                <a:lnTo>
                  <a:pt x="297" y="268"/>
                </a:lnTo>
                <a:lnTo>
                  <a:pt x="28" y="0"/>
                </a:lnTo>
                <a:lnTo>
                  <a:pt x="0" y="27"/>
                </a:lnTo>
                <a:lnTo>
                  <a:pt x="297" y="324"/>
                </a:lnTo>
                <a:lnTo>
                  <a:pt x="594" y="27"/>
                </a:lnTo>
                <a:close/>
              </a:path>
            </a:pathLst>
          </a:custGeom>
          <a:solidFill>
            <a:srgbClr val="5F5F5F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90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cxnSp>
        <p:nvCxnSpPr>
          <p:cNvPr id="211" name="직선 연결선 210"/>
          <p:cNvCxnSpPr/>
          <p:nvPr/>
        </p:nvCxnSpPr>
        <p:spPr>
          <a:xfrm>
            <a:off x="5688351" y="3371016"/>
            <a:ext cx="2591578" cy="0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8" name="TextBox 217">
            <a:extLst>
              <a:ext uri="{FF2B5EF4-FFF2-40B4-BE49-F238E27FC236}">
                <a16:creationId xmlns="" xmlns:a16="http://schemas.microsoft.com/office/drawing/2014/main" id="{0C96C875-C47F-4F5B-B4C1-F9D666A7BD9D}"/>
              </a:ext>
            </a:extLst>
          </p:cNvPr>
          <p:cNvSpPr txBox="1"/>
          <p:nvPr/>
        </p:nvSpPr>
        <p:spPr>
          <a:xfrm>
            <a:off x="6010049" y="3442628"/>
            <a:ext cx="383686" cy="180425"/>
          </a:xfrm>
          <a:prstGeom prst="rect">
            <a:avLst/>
          </a:prstGeom>
          <a:noFill/>
          <a:ln w="317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36000" tIns="36000" rIns="36000" bIns="36000" numCol="1" rtlCol="0" anchor="ctr" anchorCtr="0" compatLnSpc="1">
            <a:prstTxWarp prst="textNoShape">
              <a:avLst/>
            </a:prstTxWarp>
            <a:spAutoFit/>
          </a:bodyPr>
          <a:lstStyle/>
          <a:p>
            <a:r>
              <a:rPr lang="ko-KR" altLang="en-US" sz="700" u="sng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리뷰 </a:t>
            </a:r>
            <a:r>
              <a:rPr lang="en-US" altLang="ko-KR" sz="700" u="sng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12</a:t>
            </a:r>
            <a:endParaRPr lang="ko-KR" altLang="en-US" sz="700" u="sng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</a:endParaRPr>
          </a:p>
        </p:txBody>
      </p:sp>
      <p:grpSp>
        <p:nvGrpSpPr>
          <p:cNvPr id="17" name="그룹 16"/>
          <p:cNvGrpSpPr/>
          <p:nvPr/>
        </p:nvGrpSpPr>
        <p:grpSpPr>
          <a:xfrm>
            <a:off x="6469448" y="3442840"/>
            <a:ext cx="180000" cy="180000"/>
            <a:chOff x="6244603" y="3442840"/>
            <a:chExt cx="180000" cy="180000"/>
          </a:xfrm>
        </p:grpSpPr>
        <p:sp>
          <p:nvSpPr>
            <p:cNvPr id="219" name="직사각형 218">
              <a:extLst>
                <a:ext uri="{FF2B5EF4-FFF2-40B4-BE49-F238E27FC236}">
                  <a16:creationId xmlns:a16="http://schemas.microsoft.com/office/drawing/2014/main" xmlns="" id="{19FD5FA0-B111-4EF7-BC86-418441928DD3}"/>
                </a:ext>
              </a:extLst>
            </p:cNvPr>
            <p:cNvSpPr/>
            <p:nvPr/>
          </p:nvSpPr>
          <p:spPr>
            <a:xfrm>
              <a:off x="6244603" y="3442840"/>
              <a:ext cx="180000" cy="180000"/>
            </a:xfrm>
            <a:prstGeom prst="rect">
              <a:avLst/>
            </a:prstGeom>
            <a:pattFill prst="openDmnd">
              <a:fgClr>
                <a:schemeClr val="bg1">
                  <a:lumMod val="85000"/>
                </a:schemeClr>
              </a:fgClr>
              <a:bgClr>
                <a:schemeClr val="bg1"/>
              </a:bgClr>
            </a:patt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ko-KR" altLang="en-US" sz="6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220" name="직사각형 219">
              <a:extLst>
                <a:ext uri="{FF2B5EF4-FFF2-40B4-BE49-F238E27FC236}">
                  <a16:creationId xmlns:a16="http://schemas.microsoft.com/office/drawing/2014/main" xmlns="" id="{19FD5FA0-B111-4EF7-BC86-418441928DD3}"/>
                </a:ext>
              </a:extLst>
            </p:cNvPr>
            <p:cNvSpPr/>
            <p:nvPr/>
          </p:nvSpPr>
          <p:spPr>
            <a:xfrm>
              <a:off x="6244603" y="3442840"/>
              <a:ext cx="180000" cy="180000"/>
            </a:xfrm>
            <a:prstGeom prst="rect">
              <a:avLst/>
            </a:prstGeom>
            <a:solidFill>
              <a:schemeClr val="tx1">
                <a:lumMod val="75000"/>
                <a:lumOff val="25000"/>
                <a:alpha val="50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600" smtClean="0">
                  <a:solidFill>
                    <a:schemeClr val="bg1"/>
                  </a:solidFill>
                  <a:latin typeface="맑은 고딕" panose="020B0503020000020004" pitchFamily="50" charset="-127"/>
                </a:rPr>
                <a:t>┼</a:t>
              </a:r>
              <a:endParaRPr lang="ko-KR" altLang="en-US" sz="600">
                <a:solidFill>
                  <a:schemeClr val="bg1"/>
                </a:solidFill>
                <a:latin typeface="맑은 고딕" panose="020B0503020000020004" pitchFamily="50" charset="-127"/>
              </a:endParaRPr>
            </a:p>
          </p:txBody>
        </p:sp>
      </p:grpSp>
      <p:sp>
        <p:nvSpPr>
          <p:cNvPr id="222" name="TextBox 221">
            <a:extLst>
              <a:ext uri="{FF2B5EF4-FFF2-40B4-BE49-F238E27FC236}">
                <a16:creationId xmlns="" xmlns:a16="http://schemas.microsoft.com/office/drawing/2014/main" id="{0C96C875-C47F-4F5B-B4C1-F9D666A7BD9D}"/>
              </a:ext>
            </a:extLst>
          </p:cNvPr>
          <p:cNvSpPr txBox="1"/>
          <p:nvPr/>
        </p:nvSpPr>
        <p:spPr>
          <a:xfrm>
            <a:off x="7768003" y="3442628"/>
            <a:ext cx="511926" cy="180425"/>
          </a:xfrm>
          <a:prstGeom prst="rect">
            <a:avLst/>
          </a:prstGeom>
          <a:noFill/>
          <a:ln w="317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36000" tIns="36000" rIns="36000" bIns="36000" numCol="1" rtlCol="0" anchor="ctr" anchorCtr="0" compatLnSpc="1">
            <a:prstTxWarp prst="textNoShape">
              <a:avLst/>
            </a:prstTxWarp>
            <a:spAutoFit/>
          </a:bodyPr>
          <a:lstStyle/>
          <a:p>
            <a:pPr algn="r"/>
            <a:r>
              <a:rPr lang="ko-KR" altLang="en-US" sz="7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전체보기 </a:t>
            </a:r>
            <a:r>
              <a:rPr lang="en-US" altLang="ko-KR" sz="7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〉</a:t>
            </a:r>
            <a:endParaRPr lang="ko-KR" altLang="en-US" sz="7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</a:endParaRPr>
          </a:p>
        </p:txBody>
      </p:sp>
      <p:cxnSp>
        <p:nvCxnSpPr>
          <p:cNvPr id="223" name="직선 연결선 222"/>
          <p:cNvCxnSpPr/>
          <p:nvPr/>
        </p:nvCxnSpPr>
        <p:spPr>
          <a:xfrm>
            <a:off x="5688351" y="3695918"/>
            <a:ext cx="2591578" cy="0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5" name="TextBox 224">
            <a:extLst>
              <a:ext uri="{FF2B5EF4-FFF2-40B4-BE49-F238E27FC236}">
                <a16:creationId xmlns="" xmlns:a16="http://schemas.microsoft.com/office/drawing/2014/main" id="{0C96C875-C47F-4F5B-B4C1-F9D666A7BD9D}"/>
              </a:ext>
            </a:extLst>
          </p:cNvPr>
          <p:cNvSpPr txBox="1"/>
          <p:nvPr/>
        </p:nvSpPr>
        <p:spPr>
          <a:xfrm>
            <a:off x="5688352" y="3778116"/>
            <a:ext cx="519941" cy="195814"/>
          </a:xfrm>
          <a:prstGeom prst="rect">
            <a:avLst/>
          </a:prstGeom>
          <a:noFill/>
          <a:ln w="317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36000" tIns="36000" rIns="36000" bIns="36000" numCol="1" rtlCol="0" anchor="ctr" anchorCtr="0" compatLnSpc="1">
            <a:prstTxWarp prst="textNoShape">
              <a:avLst/>
            </a:prstTxWarp>
            <a:spAutoFit/>
          </a:bodyPr>
          <a:lstStyle/>
          <a:p>
            <a:r>
              <a:rPr lang="ko-KR" altLang="en-US" sz="800" b="1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옵션 선택</a:t>
            </a:r>
            <a:endParaRPr lang="en-US" altLang="ko-KR" sz="800" b="1" smtClean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367" name="모서리가 둥근 직사각형 366"/>
          <p:cNvSpPr/>
          <p:nvPr/>
        </p:nvSpPr>
        <p:spPr>
          <a:xfrm>
            <a:off x="5688351" y="4271984"/>
            <a:ext cx="432000" cy="539912"/>
          </a:xfrm>
          <a:prstGeom prst="roundRect">
            <a:avLst>
              <a:gd name="adj" fmla="val 11375"/>
            </a:avLst>
          </a:prstGeom>
          <a:pattFill prst="openDmnd">
            <a:fgClr>
              <a:schemeClr val="bg1">
                <a:lumMod val="85000"/>
              </a:schemeClr>
            </a:fgClr>
            <a:bgClr>
              <a:schemeClr val="bg1"/>
            </a:bgClr>
          </a:patt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6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PROD</a:t>
            </a:r>
          </a:p>
          <a:p>
            <a:pPr algn="ctr"/>
            <a:r>
              <a:rPr lang="en-US" altLang="ko-KR" sz="6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IMG</a:t>
            </a:r>
            <a:endParaRPr lang="ko-KR" altLang="en-US" sz="60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368" name="모서리가 둥근 직사각형 367"/>
          <p:cNvSpPr/>
          <p:nvPr/>
        </p:nvSpPr>
        <p:spPr>
          <a:xfrm>
            <a:off x="6192772" y="4271984"/>
            <a:ext cx="432000" cy="539912"/>
          </a:xfrm>
          <a:prstGeom prst="roundRect">
            <a:avLst>
              <a:gd name="adj" fmla="val 11375"/>
            </a:avLst>
          </a:prstGeom>
          <a:pattFill prst="openDmnd">
            <a:fgClr>
              <a:schemeClr val="bg1">
                <a:lumMod val="85000"/>
              </a:schemeClr>
            </a:fgClr>
            <a:bgClr>
              <a:schemeClr val="bg1"/>
            </a:bgClr>
          </a:patt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6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PROD</a:t>
            </a:r>
          </a:p>
          <a:p>
            <a:pPr algn="ctr"/>
            <a:r>
              <a:rPr lang="en-US" altLang="ko-KR" sz="6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IMG</a:t>
            </a:r>
            <a:endParaRPr lang="ko-KR" altLang="en-US" sz="60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369" name="TextBox 368">
            <a:extLst>
              <a:ext uri="{FF2B5EF4-FFF2-40B4-BE49-F238E27FC236}">
                <a16:creationId xmlns="" xmlns:a16="http://schemas.microsoft.com/office/drawing/2014/main" id="{0C96C875-C47F-4F5B-B4C1-F9D666A7BD9D}"/>
              </a:ext>
            </a:extLst>
          </p:cNvPr>
          <p:cNvSpPr txBox="1"/>
          <p:nvPr/>
        </p:nvSpPr>
        <p:spPr>
          <a:xfrm>
            <a:off x="5688351" y="4901595"/>
            <a:ext cx="342008" cy="180425"/>
          </a:xfrm>
          <a:prstGeom prst="rect">
            <a:avLst/>
          </a:prstGeom>
          <a:noFill/>
          <a:ln w="317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36000" tIns="36000" rIns="36000" bIns="36000" numCol="1" rtlCol="0" anchor="ctr" anchorCtr="0" compatLnSpc="1">
            <a:prstTxWarp prst="textNoShape">
              <a:avLst/>
            </a:prstTxWarp>
            <a:spAutoFit/>
          </a:bodyPr>
          <a:lstStyle/>
          <a:p>
            <a:r>
              <a:rPr lang="ko-KR" altLang="en-US" sz="700" b="1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사이즈</a:t>
            </a:r>
            <a:endParaRPr lang="ko-KR" altLang="en-US" sz="700" b="1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370" name="모서리가 둥근 직사각형 369"/>
          <p:cNvSpPr/>
          <p:nvPr/>
        </p:nvSpPr>
        <p:spPr>
          <a:xfrm>
            <a:off x="5688351" y="5100729"/>
            <a:ext cx="359942" cy="288000"/>
          </a:xfrm>
          <a:prstGeom prst="roundRect">
            <a:avLst>
              <a:gd name="adj" fmla="val 11375"/>
            </a:avLst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8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95</a:t>
            </a:r>
            <a:endParaRPr lang="ko-KR" altLang="en-US" sz="80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371" name="모서리가 둥근 직사각형 370"/>
          <p:cNvSpPr/>
          <p:nvPr/>
        </p:nvSpPr>
        <p:spPr>
          <a:xfrm>
            <a:off x="6121217" y="5100729"/>
            <a:ext cx="359942" cy="288000"/>
          </a:xfrm>
          <a:prstGeom prst="roundRect">
            <a:avLst>
              <a:gd name="adj" fmla="val 11375"/>
            </a:avLst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8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100</a:t>
            </a:r>
            <a:endParaRPr lang="ko-KR" altLang="en-US" sz="80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372" name="모서리가 둥근 직사각형 371"/>
          <p:cNvSpPr/>
          <p:nvPr/>
        </p:nvSpPr>
        <p:spPr>
          <a:xfrm>
            <a:off x="6552952" y="5100729"/>
            <a:ext cx="359942" cy="288000"/>
          </a:xfrm>
          <a:prstGeom prst="roundRect">
            <a:avLst>
              <a:gd name="adj" fmla="val 11375"/>
            </a:avLst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8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105</a:t>
            </a:r>
            <a:endParaRPr lang="ko-KR" altLang="en-US" sz="80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373" name="모서리가 둥근 직사각형 372"/>
          <p:cNvSpPr/>
          <p:nvPr/>
        </p:nvSpPr>
        <p:spPr>
          <a:xfrm>
            <a:off x="6983628" y="5100729"/>
            <a:ext cx="359942" cy="288000"/>
          </a:xfrm>
          <a:prstGeom prst="roundRect">
            <a:avLst>
              <a:gd name="adj" fmla="val 11375"/>
            </a:avLst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8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110</a:t>
            </a:r>
            <a:endParaRPr lang="ko-KR" altLang="en-US" sz="80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374" name="모서리가 둥근 직사각형 373"/>
          <p:cNvSpPr/>
          <p:nvPr/>
        </p:nvSpPr>
        <p:spPr>
          <a:xfrm>
            <a:off x="7416297" y="5100729"/>
            <a:ext cx="359942" cy="288000"/>
          </a:xfrm>
          <a:prstGeom prst="roundRect">
            <a:avLst>
              <a:gd name="adj" fmla="val 11375"/>
            </a:avLst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8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115</a:t>
            </a:r>
            <a:endParaRPr lang="ko-KR" altLang="en-US" sz="80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375" name="모서리가 둥근 직사각형 374"/>
          <p:cNvSpPr/>
          <p:nvPr/>
        </p:nvSpPr>
        <p:spPr>
          <a:xfrm>
            <a:off x="7848820" y="5100729"/>
            <a:ext cx="359942" cy="288000"/>
          </a:xfrm>
          <a:prstGeom prst="roundRect">
            <a:avLst>
              <a:gd name="adj" fmla="val 11375"/>
            </a:avLst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800" strike="sngStrike" smtClean="0">
                <a:solidFill>
                  <a:schemeClr val="bg1">
                    <a:lumMod val="75000"/>
                  </a:schemeClr>
                </a:solidFill>
                <a:latin typeface="맑은 고딕" panose="020B0503020000020004" pitchFamily="50" charset="-127"/>
              </a:rPr>
              <a:t>120</a:t>
            </a:r>
            <a:endParaRPr lang="ko-KR" altLang="en-US" sz="800" strike="sngStrike">
              <a:solidFill>
                <a:schemeClr val="bg1">
                  <a:lumMod val="75000"/>
                </a:schemeClr>
              </a:solidFill>
              <a:latin typeface="맑은 고딕" panose="020B0503020000020004" pitchFamily="50" charset="-127"/>
            </a:endParaRPr>
          </a:p>
        </p:txBody>
      </p:sp>
      <p:grpSp>
        <p:nvGrpSpPr>
          <p:cNvPr id="376" name="그룹 375"/>
          <p:cNvGrpSpPr/>
          <p:nvPr/>
        </p:nvGrpSpPr>
        <p:grpSpPr>
          <a:xfrm>
            <a:off x="8063519" y="5064020"/>
            <a:ext cx="179970" cy="179970"/>
            <a:chOff x="7589341" y="3009028"/>
            <a:chExt cx="180000" cy="180000"/>
          </a:xfrm>
        </p:grpSpPr>
        <p:sp>
          <p:nvSpPr>
            <p:cNvPr id="377" name="타원 376"/>
            <p:cNvSpPr/>
            <p:nvPr/>
          </p:nvSpPr>
          <p:spPr>
            <a:xfrm>
              <a:off x="7589341" y="3009028"/>
              <a:ext cx="180000" cy="180000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ko-KR" altLang="en-US" sz="5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grpSp>
          <p:nvGrpSpPr>
            <p:cNvPr id="378" name="그룹 377"/>
            <p:cNvGrpSpPr/>
            <p:nvPr/>
          </p:nvGrpSpPr>
          <p:grpSpPr>
            <a:xfrm>
              <a:off x="7625341" y="3045028"/>
              <a:ext cx="108000" cy="108000"/>
              <a:chOff x="531806" y="1604594"/>
              <a:chExt cx="180000" cy="180738"/>
            </a:xfrm>
          </p:grpSpPr>
          <p:grpSp>
            <p:nvGrpSpPr>
              <p:cNvPr id="379" name="그룹 378"/>
              <p:cNvGrpSpPr/>
              <p:nvPr/>
            </p:nvGrpSpPr>
            <p:grpSpPr>
              <a:xfrm>
                <a:off x="549806" y="1604594"/>
                <a:ext cx="144000" cy="180738"/>
                <a:chOff x="691953" y="1723346"/>
                <a:chExt cx="144000" cy="180738"/>
              </a:xfrm>
              <a:solidFill>
                <a:schemeClr val="bg1"/>
              </a:solidFill>
            </p:grpSpPr>
            <p:sp>
              <p:nvSpPr>
                <p:cNvPr id="381" name="양쪽 모서리가 둥근 사각형 380"/>
                <p:cNvSpPr/>
                <p:nvPr/>
              </p:nvSpPr>
              <p:spPr>
                <a:xfrm>
                  <a:off x="700953" y="1723346"/>
                  <a:ext cx="126000" cy="126000"/>
                </a:xfrm>
                <a:prstGeom prst="round2SameRect">
                  <a:avLst>
                    <a:gd name="adj1" fmla="val 50000"/>
                    <a:gd name="adj2" fmla="val 0"/>
                  </a:avLst>
                </a:prstGeom>
                <a:grpFill/>
                <a:ln w="3175">
                  <a:solidFill>
                    <a:srgbClr val="DC283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7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endParaRPr>
                </a:p>
              </p:txBody>
            </p:sp>
            <p:sp>
              <p:nvSpPr>
                <p:cNvPr id="382" name="타원 381"/>
                <p:cNvSpPr/>
                <p:nvPr/>
              </p:nvSpPr>
              <p:spPr>
                <a:xfrm>
                  <a:off x="736953" y="1850084"/>
                  <a:ext cx="54000" cy="54000"/>
                </a:xfrm>
                <a:prstGeom prst="ellipse">
                  <a:avLst/>
                </a:prstGeom>
                <a:grpFill/>
                <a:ln w="3175">
                  <a:solidFill>
                    <a:srgbClr val="DC283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7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endParaRPr>
                </a:p>
              </p:txBody>
            </p:sp>
            <p:sp>
              <p:nvSpPr>
                <p:cNvPr id="383" name="직사각형 382"/>
                <p:cNvSpPr/>
                <p:nvPr/>
              </p:nvSpPr>
              <p:spPr>
                <a:xfrm>
                  <a:off x="691953" y="1811453"/>
                  <a:ext cx="144000" cy="18000"/>
                </a:xfrm>
                <a:prstGeom prst="rect">
                  <a:avLst/>
                </a:prstGeom>
                <a:grpFill/>
                <a:ln w="3175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7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endParaRPr>
                </a:p>
              </p:txBody>
            </p:sp>
            <p:sp>
              <p:nvSpPr>
                <p:cNvPr id="384" name="직사각형 383"/>
                <p:cNvSpPr/>
                <p:nvPr/>
              </p:nvSpPr>
              <p:spPr>
                <a:xfrm>
                  <a:off x="691953" y="1859609"/>
                  <a:ext cx="144000" cy="18000"/>
                </a:xfrm>
                <a:prstGeom prst="rect">
                  <a:avLst/>
                </a:prstGeom>
                <a:grpFill/>
                <a:ln w="3175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7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endParaRPr>
                </a:p>
              </p:txBody>
            </p:sp>
            <p:sp>
              <p:nvSpPr>
                <p:cNvPr id="385" name="직사각형 384"/>
                <p:cNvSpPr/>
                <p:nvPr/>
              </p:nvSpPr>
              <p:spPr>
                <a:xfrm>
                  <a:off x="691953" y="1832609"/>
                  <a:ext cx="144000" cy="25200"/>
                </a:xfrm>
                <a:prstGeom prst="rect">
                  <a:avLst/>
                </a:prstGeom>
                <a:grpFill/>
                <a:ln w="3175">
                  <a:solidFill>
                    <a:srgbClr val="DC283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7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endParaRPr>
                </a:p>
              </p:txBody>
            </p:sp>
          </p:grpSp>
          <p:sp>
            <p:nvSpPr>
              <p:cNvPr id="380" name="직사각형 379"/>
              <p:cNvSpPr/>
              <p:nvPr/>
            </p:nvSpPr>
            <p:spPr>
              <a:xfrm>
                <a:off x="531806" y="1604594"/>
                <a:ext cx="180000" cy="180000"/>
              </a:xfrm>
              <a:prstGeom prst="rect">
                <a:avLst/>
              </a:prstGeom>
              <a:noFill/>
              <a:ln w="31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70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</p:grpSp>
      </p:grpSp>
      <p:sp>
        <p:nvSpPr>
          <p:cNvPr id="232" name="TextBox 231">
            <a:extLst>
              <a:ext uri="{FF2B5EF4-FFF2-40B4-BE49-F238E27FC236}">
                <a16:creationId xmlns="" xmlns:a16="http://schemas.microsoft.com/office/drawing/2014/main" id="{0C96C875-C47F-4F5B-B4C1-F9D666A7BD9D}"/>
              </a:ext>
            </a:extLst>
          </p:cNvPr>
          <p:cNvSpPr txBox="1"/>
          <p:nvPr/>
        </p:nvSpPr>
        <p:spPr>
          <a:xfrm>
            <a:off x="7678234" y="4901596"/>
            <a:ext cx="601695" cy="180425"/>
          </a:xfrm>
          <a:prstGeom prst="rect">
            <a:avLst/>
          </a:prstGeom>
          <a:noFill/>
          <a:ln w="317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36000" tIns="36000" rIns="36000" bIns="36000" numCol="1" rtlCol="0" anchor="ctr" anchorCtr="0" compatLnSpc="1">
            <a:prstTxWarp prst="textNoShape">
              <a:avLst/>
            </a:prstTxWarp>
            <a:spAutoFit/>
          </a:bodyPr>
          <a:lstStyle/>
          <a:p>
            <a:pPr algn="r"/>
            <a:r>
              <a:rPr lang="ko-KR" altLang="en-US" sz="7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사이즈안내 </a:t>
            </a:r>
            <a:r>
              <a:rPr lang="en-US" altLang="ko-KR" sz="7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〉</a:t>
            </a:r>
            <a:endParaRPr lang="ko-KR" altLang="en-US" sz="7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20" name="타원 19"/>
          <p:cNvSpPr/>
          <p:nvPr/>
        </p:nvSpPr>
        <p:spPr>
          <a:xfrm>
            <a:off x="5958293" y="5154729"/>
            <a:ext cx="36000" cy="36000"/>
          </a:xfrm>
          <a:prstGeom prst="ellipse">
            <a:avLst/>
          </a:prstGeom>
          <a:solidFill>
            <a:srgbClr val="C0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5742736" y="5459893"/>
            <a:ext cx="250068" cy="76944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r>
              <a:rPr lang="en-US" altLang="ko-KR" sz="500" smtClean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3</a:t>
            </a:r>
            <a:r>
              <a:rPr lang="ko-KR" altLang="en-US" sz="500" smtClean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개 남음</a:t>
            </a:r>
            <a:endParaRPr lang="ko-KR" altLang="en-US" sz="500" dirty="0">
              <a:solidFill>
                <a:schemeClr val="bg1">
                  <a:lumMod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237" name="직선 연결선 236"/>
          <p:cNvCxnSpPr/>
          <p:nvPr/>
        </p:nvCxnSpPr>
        <p:spPr>
          <a:xfrm>
            <a:off x="5688351" y="5714152"/>
            <a:ext cx="2591578" cy="0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9" name="TextBox 238">
            <a:extLst>
              <a:ext uri="{FF2B5EF4-FFF2-40B4-BE49-F238E27FC236}">
                <a16:creationId xmlns="" xmlns:a16="http://schemas.microsoft.com/office/drawing/2014/main" id="{0C96C875-C47F-4F5B-B4C1-F9D666A7BD9D}"/>
              </a:ext>
            </a:extLst>
          </p:cNvPr>
          <p:cNvSpPr txBox="1"/>
          <p:nvPr/>
        </p:nvSpPr>
        <p:spPr>
          <a:xfrm>
            <a:off x="5688352" y="5796026"/>
            <a:ext cx="901456" cy="195814"/>
          </a:xfrm>
          <a:prstGeom prst="rect">
            <a:avLst/>
          </a:prstGeom>
          <a:noFill/>
          <a:ln w="317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36000" tIns="36000" rIns="36000" bIns="36000" numCol="1" rtlCol="0" anchor="ctr" anchorCtr="0" compatLnSpc="1">
            <a:prstTxWarp prst="textNoShape">
              <a:avLst/>
            </a:prstTxWarp>
            <a:spAutoFit/>
          </a:bodyPr>
          <a:lstStyle/>
          <a:p>
            <a:r>
              <a:rPr lang="ko-KR" altLang="en-US" sz="800" b="1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배송 및 혜택 안내</a:t>
            </a:r>
            <a:endParaRPr lang="en-US" altLang="ko-KR" sz="800" b="1" smtClean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241" name="직사각형 240">
            <a:extLst>
              <a:ext uri="{FF2B5EF4-FFF2-40B4-BE49-F238E27FC236}">
                <a16:creationId xmlns:a16="http://schemas.microsoft.com/office/drawing/2014/main" xmlns="" id="{19FD5FA0-B111-4EF7-BC86-418441928DD3}"/>
              </a:ext>
            </a:extLst>
          </p:cNvPr>
          <p:cNvSpPr/>
          <p:nvPr/>
        </p:nvSpPr>
        <p:spPr>
          <a:xfrm>
            <a:off x="5544375" y="5893855"/>
            <a:ext cx="2879531" cy="504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700">
              <a:solidFill>
                <a:prstClr val="black">
                  <a:lumMod val="75000"/>
                  <a:lumOff val="25000"/>
                </a:prst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352" name="모서리가 둥근 직사각형 351">
            <a:extLst>
              <a:ext uri="{FF2B5EF4-FFF2-40B4-BE49-F238E27FC236}">
                <a16:creationId xmlns="" xmlns:a16="http://schemas.microsoft.com/office/drawing/2014/main" id="{19FD5FA0-B111-4EF7-BC86-418441928DD3}"/>
              </a:ext>
            </a:extLst>
          </p:cNvPr>
          <p:cNvSpPr/>
          <p:nvPr/>
        </p:nvSpPr>
        <p:spPr>
          <a:xfrm>
            <a:off x="6046555" y="5965884"/>
            <a:ext cx="2304277" cy="359942"/>
          </a:xfrm>
          <a:prstGeom prst="roundRect">
            <a:avLst>
              <a:gd name="adj" fmla="val 9391"/>
            </a:avLst>
          </a:prstGeom>
          <a:solidFill>
            <a:schemeClr val="tx1">
              <a:lumMod val="75000"/>
              <a:lumOff val="25000"/>
            </a:schemeClr>
          </a:solidFill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700" smtClean="0">
                <a:solidFill>
                  <a:schemeClr val="bg1"/>
                </a:solidFill>
                <a:latin typeface="맑은 고딕" panose="020B0503020000020004" pitchFamily="50" charset="-127"/>
              </a:rPr>
              <a:t>구매하기</a:t>
            </a:r>
            <a:endParaRPr lang="ko-KR" altLang="en-US" sz="700">
              <a:solidFill>
                <a:schemeClr val="bg1"/>
              </a:solidFill>
              <a:latin typeface="맑은 고딕" panose="020B0503020000020004" pitchFamily="50" charset="-127"/>
            </a:endParaRPr>
          </a:p>
        </p:txBody>
      </p:sp>
      <p:sp>
        <p:nvSpPr>
          <p:cNvPr id="354" name="모서리가 둥근 직사각형 353">
            <a:extLst>
              <a:ext uri="{FF2B5EF4-FFF2-40B4-BE49-F238E27FC236}">
                <a16:creationId xmlns="" xmlns:a16="http://schemas.microsoft.com/office/drawing/2014/main" id="{19FD5FA0-B111-4EF7-BC86-418441928DD3}"/>
              </a:ext>
            </a:extLst>
          </p:cNvPr>
          <p:cNvSpPr/>
          <p:nvPr/>
        </p:nvSpPr>
        <p:spPr>
          <a:xfrm>
            <a:off x="5615465" y="5965884"/>
            <a:ext cx="360000" cy="359942"/>
          </a:xfrm>
          <a:prstGeom prst="roundRect">
            <a:avLst>
              <a:gd name="adj" fmla="val 9391"/>
            </a:avLst>
          </a:prstGeom>
          <a:solidFill>
            <a:schemeClr val="bg1"/>
          </a:solidFill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700" b="1">
              <a:solidFill>
                <a:srgbClr val="DC2832"/>
              </a:solidFill>
              <a:latin typeface="맑은 고딕" panose="020B0503020000020004" pitchFamily="50" charset="-127"/>
            </a:endParaRPr>
          </a:p>
        </p:txBody>
      </p:sp>
      <p:grpSp>
        <p:nvGrpSpPr>
          <p:cNvPr id="27" name="그룹 26"/>
          <p:cNvGrpSpPr/>
          <p:nvPr/>
        </p:nvGrpSpPr>
        <p:grpSpPr>
          <a:xfrm>
            <a:off x="5716728" y="6027260"/>
            <a:ext cx="157474" cy="237190"/>
            <a:chOff x="5491883" y="6027689"/>
            <a:chExt cx="157474" cy="237190"/>
          </a:xfrm>
        </p:grpSpPr>
        <p:sp>
          <p:nvSpPr>
            <p:cNvPr id="399" name="Like"/>
            <p:cNvSpPr>
              <a:spLocks noChangeAspect="1" noEditPoints="1"/>
            </p:cNvSpPr>
            <p:nvPr/>
          </p:nvSpPr>
          <p:spPr bwMode="auto">
            <a:xfrm>
              <a:off x="5491883" y="6027689"/>
              <a:ext cx="157474" cy="157474"/>
            </a:xfrm>
            <a:custGeom>
              <a:avLst/>
              <a:gdLst>
                <a:gd name="T0" fmla="*/ 174 w 614"/>
                <a:gd name="T1" fmla="*/ 0 h 538"/>
                <a:gd name="T2" fmla="*/ 0 w 614"/>
                <a:gd name="T3" fmla="*/ 174 h 538"/>
                <a:gd name="T4" fmla="*/ 299 w 614"/>
                <a:gd name="T5" fmla="*/ 531 h 538"/>
                <a:gd name="T6" fmla="*/ 307 w 614"/>
                <a:gd name="T7" fmla="*/ 538 h 538"/>
                <a:gd name="T8" fmla="*/ 315 w 614"/>
                <a:gd name="T9" fmla="*/ 531 h 538"/>
                <a:gd name="T10" fmla="*/ 614 w 614"/>
                <a:gd name="T11" fmla="*/ 174 h 538"/>
                <a:gd name="T12" fmla="*/ 440 w 614"/>
                <a:gd name="T13" fmla="*/ 0 h 538"/>
                <a:gd name="T14" fmla="*/ 307 w 614"/>
                <a:gd name="T15" fmla="*/ 65 h 538"/>
                <a:gd name="T16" fmla="*/ 174 w 614"/>
                <a:gd name="T17" fmla="*/ 0 h 538"/>
                <a:gd name="T18" fmla="*/ 174 w 614"/>
                <a:gd name="T19" fmla="*/ 27 h 538"/>
                <a:gd name="T20" fmla="*/ 296 w 614"/>
                <a:gd name="T21" fmla="*/ 93 h 538"/>
                <a:gd name="T22" fmla="*/ 307 w 614"/>
                <a:gd name="T23" fmla="*/ 110 h 538"/>
                <a:gd name="T24" fmla="*/ 318 w 614"/>
                <a:gd name="T25" fmla="*/ 93 h 538"/>
                <a:gd name="T26" fmla="*/ 440 w 614"/>
                <a:gd name="T27" fmla="*/ 27 h 538"/>
                <a:gd name="T28" fmla="*/ 587 w 614"/>
                <a:gd name="T29" fmla="*/ 174 h 538"/>
                <a:gd name="T30" fmla="*/ 307 w 614"/>
                <a:gd name="T31" fmla="*/ 504 h 538"/>
                <a:gd name="T32" fmla="*/ 27 w 614"/>
                <a:gd name="T33" fmla="*/ 174 h 538"/>
                <a:gd name="T34" fmla="*/ 174 w 614"/>
                <a:gd name="T35" fmla="*/ 27 h 5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614" h="538">
                  <a:moveTo>
                    <a:pt x="174" y="0"/>
                  </a:moveTo>
                  <a:cubicBezTo>
                    <a:pt x="78" y="0"/>
                    <a:pt x="0" y="78"/>
                    <a:pt x="0" y="174"/>
                  </a:cubicBezTo>
                  <a:cubicBezTo>
                    <a:pt x="0" y="371"/>
                    <a:pt x="223" y="468"/>
                    <a:pt x="299" y="531"/>
                  </a:cubicBezTo>
                  <a:lnTo>
                    <a:pt x="307" y="538"/>
                  </a:lnTo>
                  <a:lnTo>
                    <a:pt x="315" y="531"/>
                  </a:lnTo>
                  <a:cubicBezTo>
                    <a:pt x="391" y="468"/>
                    <a:pt x="614" y="371"/>
                    <a:pt x="614" y="174"/>
                  </a:cubicBezTo>
                  <a:cubicBezTo>
                    <a:pt x="614" y="78"/>
                    <a:pt x="536" y="0"/>
                    <a:pt x="440" y="0"/>
                  </a:cubicBezTo>
                  <a:cubicBezTo>
                    <a:pt x="386" y="0"/>
                    <a:pt x="339" y="26"/>
                    <a:pt x="307" y="65"/>
                  </a:cubicBezTo>
                  <a:cubicBezTo>
                    <a:pt x="275" y="26"/>
                    <a:pt x="228" y="0"/>
                    <a:pt x="174" y="0"/>
                  </a:cubicBezTo>
                  <a:close/>
                  <a:moveTo>
                    <a:pt x="174" y="27"/>
                  </a:moveTo>
                  <a:cubicBezTo>
                    <a:pt x="225" y="27"/>
                    <a:pt x="269" y="53"/>
                    <a:pt x="296" y="93"/>
                  </a:cubicBezTo>
                  <a:lnTo>
                    <a:pt x="307" y="110"/>
                  </a:lnTo>
                  <a:lnTo>
                    <a:pt x="318" y="93"/>
                  </a:lnTo>
                  <a:cubicBezTo>
                    <a:pt x="344" y="53"/>
                    <a:pt x="389" y="27"/>
                    <a:pt x="440" y="27"/>
                  </a:cubicBezTo>
                  <a:cubicBezTo>
                    <a:pt x="521" y="27"/>
                    <a:pt x="587" y="93"/>
                    <a:pt x="587" y="174"/>
                  </a:cubicBezTo>
                  <a:cubicBezTo>
                    <a:pt x="587" y="346"/>
                    <a:pt x="395" y="435"/>
                    <a:pt x="307" y="504"/>
                  </a:cubicBezTo>
                  <a:cubicBezTo>
                    <a:pt x="219" y="435"/>
                    <a:pt x="27" y="346"/>
                    <a:pt x="27" y="174"/>
                  </a:cubicBezTo>
                  <a:cubicBezTo>
                    <a:pt x="27" y="93"/>
                    <a:pt x="92" y="27"/>
                    <a:pt x="174" y="27"/>
                  </a:cubicBezTo>
                  <a:close/>
                </a:path>
              </a:pathLst>
            </a:custGeom>
            <a:solidFill>
              <a:srgbClr val="5F5F5F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80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5535354" y="6187935"/>
              <a:ext cx="70532" cy="76944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r>
                <a:rPr lang="en-US" altLang="ko-KR" sz="50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54</a:t>
              </a:r>
              <a:endParaRPr lang="ko-KR" altLang="en-US" sz="5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sp>
        <p:nvSpPr>
          <p:cNvPr id="288" name="TextBox 287"/>
          <p:cNvSpPr txBox="1"/>
          <p:nvPr/>
        </p:nvSpPr>
        <p:spPr>
          <a:xfrm>
            <a:off x="325247" y="2096991"/>
            <a:ext cx="2111723" cy="195814"/>
          </a:xfrm>
          <a:prstGeom prst="rect">
            <a:avLst/>
          </a:prstGeom>
          <a:noFill/>
        </p:spPr>
        <p:txBody>
          <a:bodyPr wrap="none" lIns="36000" tIns="36000" rIns="36000" bIns="36000" rtlCol="0" anchor="ctr">
            <a:spAutoFit/>
          </a:bodyPr>
          <a:lstStyle/>
          <a:p>
            <a:r>
              <a:rPr lang="ko-KR" altLang="en-US" sz="800" b="1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상품 內 옵션 단위 재고 상황에 따른 케이스</a:t>
            </a:r>
            <a:endParaRPr lang="ko-KR" altLang="en-US" sz="800" b="1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08" name="모서리가 둥근 직사각형 407"/>
          <p:cNvSpPr/>
          <p:nvPr/>
        </p:nvSpPr>
        <p:spPr>
          <a:xfrm>
            <a:off x="323906" y="755999"/>
            <a:ext cx="2088000" cy="360000"/>
          </a:xfrm>
          <a:prstGeom prst="roundRect">
            <a:avLst/>
          </a:prstGeom>
          <a:solidFill>
            <a:schemeClr val="tx1">
              <a:lumMod val="65000"/>
              <a:lumOff val="35000"/>
            </a:schemeClr>
          </a:solidFill>
          <a:ln w="381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0" tIns="36000" rIns="36000" bIns="36000" rtlCol="0" anchor="ctr"/>
          <a:lstStyle/>
          <a:p>
            <a:r>
              <a:rPr lang="ko-KR" altLang="en-US" sz="900" b="1" smtClean="0">
                <a:solidFill>
                  <a:schemeClr val="bg1"/>
                </a:solidFill>
                <a:latin typeface="맑은 고딕" panose="020B0503020000020004" pitchFamily="50" charset="-127"/>
              </a:rPr>
              <a:t>매장상품배송 </a:t>
            </a:r>
            <a:r>
              <a:rPr lang="ko-KR" altLang="en-US" sz="900" b="1">
                <a:solidFill>
                  <a:schemeClr val="bg1"/>
                </a:solidFill>
                <a:latin typeface="맑은 고딕" panose="020B0503020000020004" pitchFamily="50" charset="-127"/>
              </a:rPr>
              <a:t>표현 정책</a:t>
            </a:r>
          </a:p>
        </p:txBody>
      </p:sp>
      <p:sp>
        <p:nvSpPr>
          <p:cNvPr id="409" name="모서리가 둥근 직사각형 408"/>
          <p:cNvSpPr/>
          <p:nvPr/>
        </p:nvSpPr>
        <p:spPr>
          <a:xfrm>
            <a:off x="323906" y="1295999"/>
            <a:ext cx="1368000" cy="36000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381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36000" rIns="180000" bIns="36000" rtlCol="0" anchor="ctr"/>
          <a:lstStyle/>
          <a:p>
            <a:r>
              <a:rPr lang="en-US" altLang="ko-KR" sz="900" b="1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2. </a:t>
            </a:r>
            <a:r>
              <a:rPr lang="ko-KR" altLang="en-US" sz="900" b="1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상품 상세</a:t>
            </a:r>
            <a:r>
              <a:rPr lang="en-US" altLang="ko-KR" sz="900" b="1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 </a:t>
            </a:r>
            <a:r>
              <a:rPr lang="ko-KR" altLang="en-US" sz="900" b="1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화면</a:t>
            </a:r>
            <a:endParaRPr lang="ko-KR" altLang="en-US" sz="900" b="1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417" name="직사각형 416"/>
          <p:cNvSpPr/>
          <p:nvPr/>
        </p:nvSpPr>
        <p:spPr>
          <a:xfrm>
            <a:off x="6552952" y="5462364"/>
            <a:ext cx="360000" cy="180000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75000"/>
                </a:schemeClr>
              </a:gs>
              <a:gs pos="50000">
                <a:schemeClr val="accent5"/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0" scaled="1"/>
            <a:tileRect/>
          </a:gra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600">
                <a:solidFill>
                  <a:schemeClr val="bg1"/>
                </a:solidFill>
                <a:latin typeface="맑은 고딕" panose="020B0503020000020004" pitchFamily="50" charset="-127"/>
              </a:rPr>
              <a:t>매장배송</a:t>
            </a:r>
            <a:endParaRPr lang="ko-KR" altLang="en-US" sz="600">
              <a:solidFill>
                <a:schemeClr val="bg1"/>
              </a:solidFill>
              <a:latin typeface="맑은 고딕" panose="020B0503020000020004" pitchFamily="50" charset="-127"/>
            </a:endParaRPr>
          </a:p>
        </p:txBody>
      </p:sp>
      <p:sp>
        <p:nvSpPr>
          <p:cNvPr id="16" name="모서리가 둥근 직사각형 15"/>
          <p:cNvSpPr/>
          <p:nvPr/>
        </p:nvSpPr>
        <p:spPr>
          <a:xfrm>
            <a:off x="6481159" y="5064019"/>
            <a:ext cx="504359" cy="612000"/>
          </a:xfrm>
          <a:prstGeom prst="roundRect">
            <a:avLst/>
          </a:prstGeom>
          <a:noFill/>
          <a:ln w="12700">
            <a:solidFill>
              <a:schemeClr val="accent2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240" name="표 23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48526023"/>
              </p:ext>
            </p:extLst>
          </p:nvPr>
        </p:nvGraphicFramePr>
        <p:xfrm>
          <a:off x="325247" y="4536070"/>
          <a:ext cx="1620000" cy="864000"/>
        </p:xfrm>
        <a:graphic>
          <a:graphicData uri="http://schemas.openxmlformats.org/drawingml/2006/table">
            <a:tbl>
              <a:tblPr firstRow="1" bandRow="1">
                <a:effectLst>
                  <a:outerShdw blurRad="25400" dist="25400" dir="2700000" algn="tl" rotWithShape="0">
                    <a:schemeClr val="tx1">
                      <a:lumMod val="75000"/>
                      <a:lumOff val="25000"/>
                      <a:alpha val="50000"/>
                    </a:schemeClr>
                  </a:outerShdw>
                </a:effectLst>
                <a:tableStyleId>{5C22544A-7EE6-4342-B048-85BDC9FD1C3A}</a:tableStyleId>
              </a:tblPr>
              <a:tblGrid>
                <a:gridCol w="1080000"/>
                <a:gridCol w="540000"/>
              </a:tblGrid>
              <a:tr h="2880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창고</a:t>
                      </a:r>
                      <a:endParaRPr lang="ko-KR" altLang="en-US" sz="70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재고</a:t>
                      </a:r>
                      <a:endParaRPr lang="ko-KR" altLang="en-US" sz="70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온라인 재고</a:t>
                      </a:r>
                      <a:endParaRPr lang="ko-KR" altLang="en-US" sz="70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  <a:endParaRPr lang="ko-KR" altLang="en-US" sz="70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비직송매장 재고</a:t>
                      </a:r>
                      <a:endParaRPr lang="ko-KR" altLang="en-US" sz="70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  <a:endParaRPr lang="ko-KR" altLang="en-US" sz="70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242" name="TextBox 241"/>
          <p:cNvSpPr txBox="1"/>
          <p:nvPr/>
        </p:nvSpPr>
        <p:spPr>
          <a:xfrm>
            <a:off x="325247" y="4258163"/>
            <a:ext cx="3297945" cy="195814"/>
          </a:xfrm>
          <a:prstGeom prst="rect">
            <a:avLst/>
          </a:prstGeom>
          <a:noFill/>
        </p:spPr>
        <p:txBody>
          <a:bodyPr wrap="none" lIns="36000" tIns="36000" rIns="36000" bIns="36000" rtlCol="0" anchor="ctr">
            <a:spAutoFit/>
          </a:bodyPr>
          <a:lstStyle/>
          <a:p>
            <a:r>
              <a:rPr lang="ko-KR" altLang="en-US" sz="800" b="1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비직송매장 재고는 </a:t>
            </a:r>
            <a:r>
              <a:rPr lang="en-US" altLang="ko-KR" sz="800" b="1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‘</a:t>
            </a:r>
            <a:r>
              <a:rPr lang="ko-KR" altLang="en-US" sz="800" b="1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동일 매장</a:t>
            </a:r>
            <a:r>
              <a:rPr lang="en-US" altLang="ko-KR" sz="800" b="1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’ </a:t>
            </a:r>
            <a:r>
              <a:rPr lang="ko-KR" altLang="en-US" sz="800" b="1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기준으로 주문가능한 수량만 선택 가능</a:t>
            </a:r>
            <a:endParaRPr lang="ko-KR" altLang="en-US" sz="800" b="1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10" name="구부러진 연결선 9"/>
          <p:cNvCxnSpPr>
            <a:stCxn id="240" idx="2"/>
            <a:endCxn id="709" idx="2"/>
          </p:cNvCxnSpPr>
          <p:nvPr/>
        </p:nvCxnSpPr>
        <p:spPr>
          <a:xfrm rot="5400000" flipH="1" flipV="1">
            <a:off x="5155685" y="1015276"/>
            <a:ext cx="364355" cy="8405233"/>
          </a:xfrm>
          <a:prstGeom prst="curvedConnector3">
            <a:avLst>
              <a:gd name="adj1" fmla="val -113958"/>
            </a:avLst>
          </a:prstGeom>
          <a:ln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774507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xmlns="" id="{C5E486F5-93A1-4316-A9AE-8F2FB1C3263A}"/>
              </a:ext>
            </a:extLst>
          </p:cNvPr>
          <p:cNvSpPr txBox="1"/>
          <p:nvPr/>
        </p:nvSpPr>
        <p:spPr>
          <a:xfrm>
            <a:off x="94" y="102705"/>
            <a:ext cx="1842721" cy="226591"/>
          </a:xfrm>
          <a:prstGeom prst="rect">
            <a:avLst/>
          </a:prstGeom>
          <a:noFill/>
        </p:spPr>
        <p:txBody>
          <a:bodyPr wrap="none" lIns="360000" tIns="36000" rIns="360000" bIns="36000" rtlCol="0" anchor="ctr">
            <a:spAutoFit/>
          </a:bodyPr>
          <a:lstStyle/>
          <a:p>
            <a:r>
              <a:rPr lang="ko-KR" altLang="en-US" sz="1000" b="1">
                <a:solidFill>
                  <a:schemeClr val="bg1"/>
                </a:solidFill>
                <a:latin typeface="맑은 고딕" panose="020B0503020000020004" pitchFamily="50" charset="-127"/>
              </a:rPr>
              <a:t>온오프 재고 효율화</a:t>
            </a:r>
            <a:endParaRPr lang="en-US" altLang="ko-KR" sz="1000" b="1">
              <a:solidFill>
                <a:schemeClr val="bg1"/>
              </a:solidFill>
              <a:latin typeface="맑은 고딕" panose="020B0503020000020004" pitchFamily="50" charset="-127"/>
            </a:endParaRPr>
          </a:p>
        </p:txBody>
      </p:sp>
      <p:sp>
        <p:nvSpPr>
          <p:cNvPr id="287" name="직사각형 286">
            <a:extLst>
              <a:ext uri="{FF2B5EF4-FFF2-40B4-BE49-F238E27FC236}">
                <a16:creationId xmlns:a16="http://schemas.microsoft.com/office/drawing/2014/main" xmlns="" id="{19FD5FA0-B111-4EF7-BC86-418441928DD3}"/>
              </a:ext>
            </a:extLst>
          </p:cNvPr>
          <p:cNvSpPr/>
          <p:nvPr/>
        </p:nvSpPr>
        <p:spPr>
          <a:xfrm>
            <a:off x="5544697" y="710779"/>
            <a:ext cx="2879209" cy="359774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700">
              <a:solidFill>
                <a:prstClr val="black">
                  <a:lumMod val="75000"/>
                  <a:lumOff val="25000"/>
                </a:prst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288" name="TextBox 287">
            <a:extLst>
              <a:ext uri="{FF2B5EF4-FFF2-40B4-BE49-F238E27FC236}">
                <a16:creationId xmlns="" xmlns:a16="http://schemas.microsoft.com/office/drawing/2014/main" id="{0C96C875-C47F-4F5B-B4C1-F9D666A7BD9D}"/>
              </a:ext>
            </a:extLst>
          </p:cNvPr>
          <p:cNvSpPr txBox="1"/>
          <p:nvPr/>
        </p:nvSpPr>
        <p:spPr>
          <a:xfrm>
            <a:off x="5941090" y="778491"/>
            <a:ext cx="600848" cy="223647"/>
          </a:xfrm>
          <a:prstGeom prst="rect">
            <a:avLst/>
          </a:prstGeom>
          <a:noFill/>
          <a:ln w="317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108000" tIns="36000" rIns="108000" bIns="36000" numCol="1" rtlCol="0" anchor="ctr" anchorCtr="0" compatLnSpc="1">
            <a:prstTxWarp prst="textNoShape">
              <a:avLst/>
            </a:prstTxWarp>
            <a:spAutoFit/>
          </a:bodyPr>
          <a:lstStyle/>
          <a:p>
            <a:r>
              <a:rPr lang="ko-KR" altLang="en-US" sz="800" b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쇼핑백</a:t>
            </a:r>
            <a:endParaRPr lang="ko-KR" altLang="en-US" sz="800" b="1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</a:endParaRPr>
          </a:p>
        </p:txBody>
      </p:sp>
      <p:pic>
        <p:nvPicPr>
          <p:cNvPr id="289" name="Picture 2" descr="https://img.lfmall.co.kr/file/WAS/display/lf2022/mobile/gnb_fnb_sp.png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00" t="38037" r="84922" b="38044"/>
          <a:stretch/>
        </p:blipFill>
        <p:spPr bwMode="auto">
          <a:xfrm>
            <a:off x="5688657" y="800722"/>
            <a:ext cx="181542" cy="1798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90" name="그룹 289"/>
          <p:cNvGrpSpPr/>
          <p:nvPr/>
        </p:nvGrpSpPr>
        <p:grpSpPr>
          <a:xfrm>
            <a:off x="8062622" y="800722"/>
            <a:ext cx="179951" cy="179887"/>
            <a:chOff x="3851495" y="6190100"/>
            <a:chExt cx="180000" cy="180000"/>
          </a:xfrm>
        </p:grpSpPr>
        <p:sp>
          <p:nvSpPr>
            <p:cNvPr id="523" name="직사각형 522"/>
            <p:cNvSpPr/>
            <p:nvPr/>
          </p:nvSpPr>
          <p:spPr>
            <a:xfrm>
              <a:off x="3851495" y="6190100"/>
              <a:ext cx="180000" cy="180000"/>
            </a:xfrm>
            <a:prstGeom prst="rect">
              <a:avLst/>
            </a:prstGeom>
            <a:no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700"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524" name="오각형 523"/>
            <p:cNvSpPr/>
            <p:nvPr/>
          </p:nvSpPr>
          <p:spPr>
            <a:xfrm rot="16200000">
              <a:off x="3869495" y="6217101"/>
              <a:ext cx="144000" cy="126000"/>
            </a:xfrm>
            <a:prstGeom prst="homePlate">
              <a:avLst/>
            </a:prstGeom>
            <a:grpFill/>
            <a:ln w="952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700"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</a:endParaRPr>
            </a:p>
          </p:txBody>
        </p:sp>
        <p:cxnSp>
          <p:nvCxnSpPr>
            <p:cNvPr id="525" name="직선 연결선 524"/>
            <p:cNvCxnSpPr/>
            <p:nvPr/>
          </p:nvCxnSpPr>
          <p:spPr>
            <a:xfrm>
              <a:off x="3860495" y="6282659"/>
              <a:ext cx="162000" cy="0"/>
            </a:xfrm>
            <a:prstGeom prst="line">
              <a:avLst/>
            </a:prstGeom>
            <a:ln w="952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6" name="직선 연결선 525"/>
            <p:cNvCxnSpPr/>
            <p:nvPr/>
          </p:nvCxnSpPr>
          <p:spPr>
            <a:xfrm rot="5400000">
              <a:off x="3923495" y="6348290"/>
              <a:ext cx="36000" cy="0"/>
            </a:xfrm>
            <a:prstGeom prst="line">
              <a:avLst/>
            </a:prstGeom>
            <a:ln w="952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91" name="직사각형 290">
            <a:extLst>
              <a:ext uri="{FF2B5EF4-FFF2-40B4-BE49-F238E27FC236}">
                <a16:creationId xmlns:a16="http://schemas.microsoft.com/office/drawing/2014/main" xmlns="" id="{19FD5FA0-B111-4EF7-BC86-418441928DD3}"/>
              </a:ext>
            </a:extLst>
          </p:cNvPr>
          <p:cNvSpPr/>
          <p:nvPr/>
        </p:nvSpPr>
        <p:spPr>
          <a:xfrm>
            <a:off x="5544697" y="1790294"/>
            <a:ext cx="2879209" cy="2410484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700">
              <a:solidFill>
                <a:prstClr val="black">
                  <a:lumMod val="75000"/>
                  <a:lumOff val="25000"/>
                </a:prst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292" name="직사각형 291">
            <a:extLst>
              <a:ext uri="{FF2B5EF4-FFF2-40B4-BE49-F238E27FC236}">
                <a16:creationId xmlns:a16="http://schemas.microsoft.com/office/drawing/2014/main" xmlns="" id="{19FD5FA0-B111-4EF7-BC86-418441928DD3}"/>
              </a:ext>
            </a:extLst>
          </p:cNvPr>
          <p:cNvSpPr/>
          <p:nvPr/>
        </p:nvSpPr>
        <p:spPr>
          <a:xfrm>
            <a:off x="5544697" y="1071754"/>
            <a:ext cx="2879209" cy="359774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700">
              <a:solidFill>
                <a:prstClr val="black">
                  <a:lumMod val="75000"/>
                  <a:lumOff val="25000"/>
                </a:prst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293" name="TextBox 292"/>
          <p:cNvSpPr txBox="1"/>
          <p:nvPr/>
        </p:nvSpPr>
        <p:spPr>
          <a:xfrm>
            <a:off x="5738574" y="1137396"/>
            <a:ext cx="547985" cy="22849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ko-KR" altLang="en-US" sz="700" b="1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일반</a:t>
            </a:r>
            <a:r>
              <a:rPr lang="en-US" altLang="ko-KR" sz="700" b="1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(4)</a:t>
            </a:r>
            <a:endParaRPr lang="ko-KR" altLang="en-US" sz="700" b="1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94" name="TextBox 293"/>
          <p:cNvSpPr txBox="1"/>
          <p:nvPr/>
        </p:nvSpPr>
        <p:spPr>
          <a:xfrm>
            <a:off x="6614156" y="1137396"/>
            <a:ext cx="740293" cy="22849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ko-KR" altLang="en-US" sz="700" smtClean="0">
                <a:solidFill>
                  <a:schemeClr val="tx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구매대행</a:t>
            </a:r>
            <a:r>
              <a:rPr lang="en-US" altLang="ko-KR" sz="700" smtClean="0">
                <a:solidFill>
                  <a:schemeClr val="tx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(0)</a:t>
            </a:r>
            <a:endParaRPr lang="ko-KR" altLang="en-US" sz="700" dirty="0">
              <a:solidFill>
                <a:schemeClr val="tx1">
                  <a:lumMod val="50000"/>
                  <a:lumOff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95" name="TextBox 294"/>
          <p:cNvSpPr txBox="1"/>
          <p:nvPr/>
        </p:nvSpPr>
        <p:spPr>
          <a:xfrm>
            <a:off x="7637170" y="1137396"/>
            <a:ext cx="637729" cy="22849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ko-KR" altLang="en-US" sz="700" smtClean="0">
                <a:solidFill>
                  <a:schemeClr val="tx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패밀리</a:t>
            </a:r>
            <a:r>
              <a:rPr lang="en-US" altLang="ko-KR" sz="700" smtClean="0">
                <a:solidFill>
                  <a:schemeClr val="tx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(1)</a:t>
            </a:r>
            <a:endParaRPr lang="ko-KR" altLang="en-US" sz="700" dirty="0">
              <a:solidFill>
                <a:schemeClr val="tx1">
                  <a:lumMod val="50000"/>
                  <a:lumOff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96" name="직사각형 295">
            <a:extLst>
              <a:ext uri="{FF2B5EF4-FFF2-40B4-BE49-F238E27FC236}">
                <a16:creationId xmlns:a16="http://schemas.microsoft.com/office/drawing/2014/main" xmlns="" id="{19FD5FA0-B111-4EF7-BC86-418441928DD3}"/>
              </a:ext>
            </a:extLst>
          </p:cNvPr>
          <p:cNvSpPr/>
          <p:nvPr/>
        </p:nvSpPr>
        <p:spPr>
          <a:xfrm>
            <a:off x="5544697" y="1430856"/>
            <a:ext cx="2879209" cy="359774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700">
              <a:solidFill>
                <a:prstClr val="black">
                  <a:lumMod val="75000"/>
                  <a:lumOff val="25000"/>
                </a:prstClr>
              </a:solidFill>
              <a:latin typeface="맑은 고딕" panose="020B0503020000020004" pitchFamily="50" charset="-127"/>
            </a:endParaRPr>
          </a:p>
        </p:txBody>
      </p:sp>
      <p:cxnSp>
        <p:nvCxnSpPr>
          <p:cNvPr id="297" name="직선 연결선 296"/>
          <p:cNvCxnSpPr/>
          <p:nvPr/>
        </p:nvCxnSpPr>
        <p:spPr>
          <a:xfrm>
            <a:off x="5544696" y="1431528"/>
            <a:ext cx="935743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01" name="그룹 300"/>
          <p:cNvGrpSpPr/>
          <p:nvPr/>
        </p:nvGrpSpPr>
        <p:grpSpPr>
          <a:xfrm>
            <a:off x="5723375" y="1507708"/>
            <a:ext cx="958455" cy="206070"/>
            <a:chOff x="323906" y="5645204"/>
            <a:chExt cx="958718" cy="206200"/>
          </a:xfrm>
        </p:grpSpPr>
        <p:sp>
          <p:nvSpPr>
            <p:cNvPr id="520" name="사각형: 둥근 모서리 393">
              <a:extLst>
                <a:ext uri="{FF2B5EF4-FFF2-40B4-BE49-F238E27FC236}">
                  <a16:creationId xmlns="" xmlns:a16="http://schemas.microsoft.com/office/drawing/2014/main" id="{64F9493E-5C70-429B-84F6-3004F8930EFB}"/>
                </a:ext>
              </a:extLst>
            </p:cNvPr>
            <p:cNvSpPr/>
            <p:nvPr/>
          </p:nvSpPr>
          <p:spPr bwMode="auto">
            <a:xfrm>
              <a:off x="323906" y="5658304"/>
              <a:ext cx="180000" cy="180000"/>
            </a:xfrm>
            <a:prstGeom prst="roundRect">
              <a:avLst/>
            </a:prstGeom>
            <a:solidFill>
              <a:schemeClr val="bg1"/>
            </a:solidFill>
            <a:ln w="3175" cap="flat" cmpd="sng" algn="ctr">
              <a:solidFill>
                <a:schemeClr val="bg1">
                  <a:lumMod val="7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>
              <a:innerShdw blurRad="12700" dist="12700" dir="13500000">
                <a:schemeClr val="tx1">
                  <a:lumMod val="75000"/>
                  <a:lumOff val="25000"/>
                  <a:alpha val="30000"/>
                </a:schemeClr>
              </a:innerShdw>
            </a:effectLst>
          </p:spPr>
          <p:txBody>
  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fontAlgn="base" latinLnBrk="0">
                <a:spcBef>
                  <a:spcPct val="0"/>
                </a:spcBef>
                <a:spcAft>
                  <a:spcPct val="0"/>
                </a:spcAft>
              </a:pPr>
              <a:endParaRPr kumimoji="1" lang="ko-KR" altLang="en-US" sz="600" b="1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521" name="Accept"/>
            <p:cNvSpPr>
              <a:spLocks noChangeAspect="1"/>
            </p:cNvSpPr>
            <p:nvPr/>
          </p:nvSpPr>
          <p:spPr bwMode="auto">
            <a:xfrm>
              <a:off x="363202" y="5703304"/>
              <a:ext cx="101409" cy="90000"/>
            </a:xfrm>
            <a:custGeom>
              <a:avLst/>
              <a:gdLst>
                <a:gd name="T0" fmla="*/ 504 w 525"/>
                <a:gd name="T1" fmla="*/ 3 h 467"/>
                <a:gd name="T2" fmla="*/ 495 w 525"/>
                <a:gd name="T3" fmla="*/ 9 h 467"/>
                <a:gd name="T4" fmla="*/ 223 w 525"/>
                <a:gd name="T5" fmla="*/ 431 h 467"/>
                <a:gd name="T6" fmla="*/ 35 w 525"/>
                <a:gd name="T7" fmla="*/ 262 h 467"/>
                <a:gd name="T8" fmla="*/ 18 w 525"/>
                <a:gd name="T9" fmla="*/ 282 h 467"/>
                <a:gd name="T10" fmla="*/ 217 w 525"/>
                <a:gd name="T11" fmla="*/ 462 h 467"/>
                <a:gd name="T12" fmla="*/ 237 w 525"/>
                <a:gd name="T13" fmla="*/ 459 h 467"/>
                <a:gd name="T14" fmla="*/ 518 w 525"/>
                <a:gd name="T15" fmla="*/ 23 h 467"/>
                <a:gd name="T16" fmla="*/ 504 w 525"/>
                <a:gd name="T17" fmla="*/ 3 h 4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25" h="467">
                  <a:moveTo>
                    <a:pt x="504" y="3"/>
                  </a:moveTo>
                  <a:cubicBezTo>
                    <a:pt x="500" y="3"/>
                    <a:pt x="497" y="6"/>
                    <a:pt x="495" y="9"/>
                  </a:cubicBezTo>
                  <a:lnTo>
                    <a:pt x="223" y="431"/>
                  </a:lnTo>
                  <a:lnTo>
                    <a:pt x="35" y="262"/>
                  </a:lnTo>
                  <a:cubicBezTo>
                    <a:pt x="22" y="245"/>
                    <a:pt x="0" y="271"/>
                    <a:pt x="18" y="282"/>
                  </a:cubicBezTo>
                  <a:lnTo>
                    <a:pt x="217" y="462"/>
                  </a:lnTo>
                  <a:cubicBezTo>
                    <a:pt x="223" y="467"/>
                    <a:pt x="232" y="466"/>
                    <a:pt x="237" y="459"/>
                  </a:cubicBezTo>
                  <a:lnTo>
                    <a:pt x="518" y="23"/>
                  </a:lnTo>
                  <a:cubicBezTo>
                    <a:pt x="525" y="13"/>
                    <a:pt x="515" y="0"/>
                    <a:pt x="504" y="3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914400" latinLnBrk="0"/>
              <a:endParaRPr lang="en-US" sz="80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522" name="TextBox 521">
              <a:extLst>
                <a:ext uri="{FF2B5EF4-FFF2-40B4-BE49-F238E27FC236}">
                  <a16:creationId xmlns="" xmlns:a16="http://schemas.microsoft.com/office/drawing/2014/main" id="{0C96C875-C47F-4F5B-B4C1-F9D666A7BD9D}"/>
                </a:ext>
              </a:extLst>
            </p:cNvPr>
            <p:cNvSpPr txBox="1"/>
            <p:nvPr/>
          </p:nvSpPr>
          <p:spPr>
            <a:xfrm>
              <a:off x="503906" y="5645204"/>
              <a:ext cx="778718" cy="206200"/>
            </a:xfrm>
            <a:prstGeom prst="rect">
              <a:avLst/>
            </a:prstGeom>
            <a:noFill/>
            <a:ln w="3175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none" lIns="108000" tIns="36000" rIns="108000" bIns="36000" numCol="1" rtlCol="0" anchor="ctr" anchorCtr="0" compatLnSpc="1">
              <a:prstTxWarp prst="textNoShape">
                <a:avLst/>
              </a:prstTxWarp>
              <a:spAutoFit/>
            </a:bodyPr>
            <a:lstStyle>
              <a:defPPr>
                <a:defRPr lang="ko-KR"/>
              </a:defPPr>
              <a:lvl1pPr>
                <a:defRPr sz="800">
                  <a:solidFill>
                    <a:prstClr val="black">
                      <a:lumMod val="75000"/>
                      <a:lumOff val="25000"/>
                    </a:prstClr>
                  </a:solidFill>
                  <a:latin typeface="맑은 고딕" panose="020B0503020000020004" pitchFamily="50" charset="-127"/>
                </a:defRPr>
              </a:lvl1pPr>
            </a:lstStyle>
            <a:p>
              <a:r>
                <a:rPr lang="ko-KR" altLang="en-US" sz="700" smtClean="0"/>
                <a:t>선택상품</a:t>
              </a:r>
              <a:r>
                <a:rPr lang="en-US" altLang="ko-KR" sz="700" smtClean="0"/>
                <a:t>(1)</a:t>
              </a:r>
              <a:endParaRPr lang="ko-KR" altLang="en-US" sz="700" dirty="0"/>
            </a:p>
          </p:txBody>
        </p:sp>
      </p:grpSp>
      <p:sp>
        <p:nvSpPr>
          <p:cNvPr id="302" name="모서리가 둥근 직사각형 301">
            <a:extLst>
              <a:ext uri="{FF2B5EF4-FFF2-40B4-BE49-F238E27FC236}">
                <a16:creationId xmlns="" xmlns:a16="http://schemas.microsoft.com/office/drawing/2014/main" id="{19FD5FA0-B111-4EF7-BC86-418441928DD3}"/>
              </a:ext>
            </a:extLst>
          </p:cNvPr>
          <p:cNvSpPr/>
          <p:nvPr/>
        </p:nvSpPr>
        <p:spPr>
          <a:xfrm>
            <a:off x="7881634" y="1502811"/>
            <a:ext cx="359901" cy="215864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noAutofit/>
          </a:bodyPr>
          <a:lstStyle/>
          <a:p>
            <a:pPr algn="ctr"/>
            <a:r>
              <a:rPr lang="ko-KR" altLang="en-US" sz="700" smtClean="0"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</a:rPr>
              <a:t>삭제</a:t>
            </a:r>
            <a:endParaRPr lang="ko-KR" altLang="en-US" sz="700">
              <a:solidFill>
                <a:prstClr val="black">
                  <a:lumMod val="75000"/>
                  <a:lumOff val="25000"/>
                </a:prst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303" name="모서리가 둥근 직사각형 302">
            <a:extLst>
              <a:ext uri="{FF2B5EF4-FFF2-40B4-BE49-F238E27FC236}">
                <a16:creationId xmlns="" xmlns:a16="http://schemas.microsoft.com/office/drawing/2014/main" id="{19FD5FA0-B111-4EF7-BC86-418441928DD3}"/>
              </a:ext>
            </a:extLst>
          </p:cNvPr>
          <p:cNvSpPr/>
          <p:nvPr/>
        </p:nvSpPr>
        <p:spPr>
          <a:xfrm>
            <a:off x="7017871" y="1502811"/>
            <a:ext cx="791782" cy="215864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noAutofit/>
          </a:bodyPr>
          <a:lstStyle/>
          <a:p>
            <a:pPr algn="ctr"/>
            <a:r>
              <a:rPr lang="ko-KR" altLang="en-US" sz="700" smtClean="0"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</a:rPr>
              <a:t>패밀리 쇼핑백</a:t>
            </a:r>
            <a:endParaRPr lang="ko-KR" altLang="en-US" sz="700">
              <a:solidFill>
                <a:prstClr val="black">
                  <a:lumMod val="75000"/>
                  <a:lumOff val="25000"/>
                </a:prst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516" name="사각형: 둥근 모서리 393">
            <a:extLst>
              <a:ext uri="{FF2B5EF4-FFF2-40B4-BE49-F238E27FC236}">
                <a16:creationId xmlns="" xmlns:a16="http://schemas.microsoft.com/office/drawing/2014/main" id="{64F9493E-5C70-429B-84F6-3004F8930EFB}"/>
              </a:ext>
            </a:extLst>
          </p:cNvPr>
          <p:cNvSpPr/>
          <p:nvPr/>
        </p:nvSpPr>
        <p:spPr bwMode="auto">
          <a:xfrm>
            <a:off x="5723375" y="1934808"/>
            <a:ext cx="179951" cy="179887"/>
          </a:xfrm>
          <a:prstGeom prst="roundRect">
            <a:avLst/>
          </a:prstGeom>
          <a:solidFill>
            <a:schemeClr val="bg1"/>
          </a:solidFill>
          <a:ln w="3175" cap="flat" cmpd="sng" algn="ctr">
            <a:solidFill>
              <a:schemeClr val="bg1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>
            <a:innerShdw blurRad="12700" dist="12700" dir="13500000">
              <a:schemeClr val="tx1">
                <a:lumMod val="75000"/>
                <a:lumOff val="25000"/>
                <a:alpha val="30000"/>
              </a:schemeClr>
            </a:innerShdw>
          </a:effectLst>
        </p:spPr>
        <p:txBody>
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fontAlgn="base" latinLnBrk="0">
              <a:spcBef>
                <a:spcPct val="0"/>
              </a:spcBef>
              <a:spcAft>
                <a:spcPct val="0"/>
              </a:spcAft>
            </a:pPr>
            <a:endParaRPr kumimoji="1" lang="ko-KR" altLang="en-US" sz="600" b="1" kern="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517" name="Accept"/>
          <p:cNvSpPr>
            <a:spLocks noChangeAspect="1"/>
          </p:cNvSpPr>
          <p:nvPr/>
        </p:nvSpPr>
        <p:spPr bwMode="auto">
          <a:xfrm>
            <a:off x="5762660" y="1979780"/>
            <a:ext cx="101381" cy="89943"/>
          </a:xfrm>
          <a:custGeom>
            <a:avLst/>
            <a:gdLst>
              <a:gd name="T0" fmla="*/ 504 w 525"/>
              <a:gd name="T1" fmla="*/ 3 h 467"/>
              <a:gd name="T2" fmla="*/ 495 w 525"/>
              <a:gd name="T3" fmla="*/ 9 h 467"/>
              <a:gd name="T4" fmla="*/ 223 w 525"/>
              <a:gd name="T5" fmla="*/ 431 h 467"/>
              <a:gd name="T6" fmla="*/ 35 w 525"/>
              <a:gd name="T7" fmla="*/ 262 h 467"/>
              <a:gd name="T8" fmla="*/ 18 w 525"/>
              <a:gd name="T9" fmla="*/ 282 h 467"/>
              <a:gd name="T10" fmla="*/ 217 w 525"/>
              <a:gd name="T11" fmla="*/ 462 h 467"/>
              <a:gd name="T12" fmla="*/ 237 w 525"/>
              <a:gd name="T13" fmla="*/ 459 h 467"/>
              <a:gd name="T14" fmla="*/ 518 w 525"/>
              <a:gd name="T15" fmla="*/ 23 h 467"/>
              <a:gd name="T16" fmla="*/ 504 w 525"/>
              <a:gd name="T17" fmla="*/ 3 h 46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525" h="467">
                <a:moveTo>
                  <a:pt x="504" y="3"/>
                </a:moveTo>
                <a:cubicBezTo>
                  <a:pt x="500" y="3"/>
                  <a:pt x="497" y="6"/>
                  <a:pt x="495" y="9"/>
                </a:cubicBezTo>
                <a:lnTo>
                  <a:pt x="223" y="431"/>
                </a:lnTo>
                <a:lnTo>
                  <a:pt x="35" y="262"/>
                </a:lnTo>
                <a:cubicBezTo>
                  <a:pt x="22" y="245"/>
                  <a:pt x="0" y="271"/>
                  <a:pt x="18" y="282"/>
                </a:cubicBezTo>
                <a:lnTo>
                  <a:pt x="217" y="462"/>
                </a:lnTo>
                <a:cubicBezTo>
                  <a:pt x="223" y="467"/>
                  <a:pt x="232" y="466"/>
                  <a:pt x="237" y="459"/>
                </a:cubicBezTo>
                <a:lnTo>
                  <a:pt x="518" y="23"/>
                </a:lnTo>
                <a:cubicBezTo>
                  <a:pt x="525" y="13"/>
                  <a:pt x="515" y="0"/>
                  <a:pt x="504" y="3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defTabSz="914400" latinLnBrk="0"/>
            <a:endParaRPr lang="en-US" sz="80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18" name="TextBox 517">
            <a:extLst>
              <a:ext uri="{FF2B5EF4-FFF2-40B4-BE49-F238E27FC236}">
                <a16:creationId xmlns="" xmlns:a16="http://schemas.microsoft.com/office/drawing/2014/main" id="{0C96C875-C47F-4F5B-B4C1-F9D666A7BD9D}"/>
              </a:ext>
            </a:extLst>
          </p:cNvPr>
          <p:cNvSpPr txBox="1"/>
          <p:nvPr/>
        </p:nvSpPr>
        <p:spPr>
          <a:xfrm>
            <a:off x="5903326" y="1934539"/>
            <a:ext cx="564358" cy="180426"/>
          </a:xfrm>
          <a:prstGeom prst="rect">
            <a:avLst/>
          </a:prstGeom>
          <a:noFill/>
          <a:ln w="317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108000" tIns="36000" rIns="108000" bIns="36000" numCol="1" rtlCol="0" anchor="ctr" anchorCtr="0" compatLnSpc="1">
            <a:prstTxWarp prst="textNoShape">
              <a:avLst/>
            </a:prstTxWarp>
            <a:spAutoFit/>
          </a:bodyPr>
          <a:lstStyle>
            <a:defPPr>
              <a:defRPr lang="ko-KR"/>
            </a:defPPr>
            <a:lvl1pPr>
              <a:defRPr sz="800"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</a:defRPr>
            </a:lvl1pPr>
          </a:lstStyle>
          <a:p>
            <a:r>
              <a:rPr lang="en-US" altLang="ko-KR" sz="700" b="1" smtClean="0"/>
              <a:t>HAZZYS</a:t>
            </a:r>
          </a:p>
        </p:txBody>
      </p:sp>
      <p:sp>
        <p:nvSpPr>
          <p:cNvPr id="311" name="Delete"/>
          <p:cNvSpPr>
            <a:spLocks noChangeAspect="1"/>
          </p:cNvSpPr>
          <p:nvPr/>
        </p:nvSpPr>
        <p:spPr bwMode="auto">
          <a:xfrm>
            <a:off x="8133564" y="2060895"/>
            <a:ext cx="107971" cy="107932"/>
          </a:xfrm>
          <a:custGeom>
            <a:avLst/>
            <a:gdLst>
              <a:gd name="T0" fmla="*/ 3 w 77"/>
              <a:gd name="T1" fmla="*/ 0 h 77"/>
              <a:gd name="T2" fmla="*/ 0 w 77"/>
              <a:gd name="T3" fmla="*/ 3 h 77"/>
              <a:gd name="T4" fmla="*/ 36 w 77"/>
              <a:gd name="T5" fmla="*/ 38 h 77"/>
              <a:gd name="T6" fmla="*/ 0 w 77"/>
              <a:gd name="T7" fmla="*/ 74 h 77"/>
              <a:gd name="T8" fmla="*/ 3 w 77"/>
              <a:gd name="T9" fmla="*/ 77 h 77"/>
              <a:gd name="T10" fmla="*/ 39 w 77"/>
              <a:gd name="T11" fmla="*/ 41 h 77"/>
              <a:gd name="T12" fmla="*/ 74 w 77"/>
              <a:gd name="T13" fmla="*/ 77 h 77"/>
              <a:gd name="T14" fmla="*/ 77 w 77"/>
              <a:gd name="T15" fmla="*/ 74 h 77"/>
              <a:gd name="T16" fmla="*/ 42 w 77"/>
              <a:gd name="T17" fmla="*/ 38 h 77"/>
              <a:gd name="T18" fmla="*/ 77 w 77"/>
              <a:gd name="T19" fmla="*/ 3 h 77"/>
              <a:gd name="T20" fmla="*/ 74 w 77"/>
              <a:gd name="T21" fmla="*/ 0 h 77"/>
              <a:gd name="T22" fmla="*/ 39 w 77"/>
              <a:gd name="T23" fmla="*/ 35 h 77"/>
              <a:gd name="T24" fmla="*/ 3 w 77"/>
              <a:gd name="T25" fmla="*/ 0 h 7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77" h="77">
                <a:moveTo>
                  <a:pt x="3" y="0"/>
                </a:moveTo>
                <a:lnTo>
                  <a:pt x="0" y="3"/>
                </a:lnTo>
                <a:lnTo>
                  <a:pt x="36" y="38"/>
                </a:lnTo>
                <a:lnTo>
                  <a:pt x="0" y="74"/>
                </a:lnTo>
                <a:lnTo>
                  <a:pt x="3" y="77"/>
                </a:lnTo>
                <a:lnTo>
                  <a:pt x="39" y="41"/>
                </a:lnTo>
                <a:lnTo>
                  <a:pt x="74" y="77"/>
                </a:lnTo>
                <a:lnTo>
                  <a:pt x="77" y="74"/>
                </a:lnTo>
                <a:lnTo>
                  <a:pt x="42" y="38"/>
                </a:lnTo>
                <a:lnTo>
                  <a:pt x="77" y="3"/>
                </a:lnTo>
                <a:lnTo>
                  <a:pt x="74" y="0"/>
                </a:lnTo>
                <a:lnTo>
                  <a:pt x="39" y="35"/>
                </a:lnTo>
                <a:lnTo>
                  <a:pt x="3" y="0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800">
              <a:solidFill>
                <a:prstClr val="black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13" name="모서리가 둥근 직사각형 312">
            <a:extLst>
              <a:ext uri="{FF2B5EF4-FFF2-40B4-BE49-F238E27FC236}">
                <a16:creationId xmlns="" xmlns:a16="http://schemas.microsoft.com/office/drawing/2014/main" id="{19FD5FA0-B111-4EF7-BC86-418441928DD3}"/>
              </a:ext>
            </a:extLst>
          </p:cNvPr>
          <p:cNvSpPr/>
          <p:nvPr/>
        </p:nvSpPr>
        <p:spPr>
          <a:xfrm>
            <a:off x="5723500" y="3729050"/>
            <a:ext cx="1223664" cy="28781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noAutofit/>
          </a:bodyPr>
          <a:lstStyle/>
          <a:p>
            <a:pPr algn="ctr"/>
            <a:r>
              <a:rPr lang="ko-KR" altLang="en-US" sz="700" smtClean="0"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</a:rPr>
              <a:t>옵션</a:t>
            </a:r>
            <a:r>
              <a:rPr lang="en-US" altLang="ko-KR" sz="700" smtClean="0"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</a:rPr>
              <a:t>/</a:t>
            </a:r>
            <a:r>
              <a:rPr lang="ko-KR" altLang="en-US" sz="700" smtClean="0"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</a:rPr>
              <a:t>수량 변경</a:t>
            </a:r>
            <a:endParaRPr lang="ko-KR" altLang="en-US" sz="700">
              <a:solidFill>
                <a:prstClr val="black">
                  <a:lumMod val="75000"/>
                  <a:lumOff val="25000"/>
                </a:prst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316" name="모서리가 둥근 직사각형 315">
            <a:extLst>
              <a:ext uri="{FF2B5EF4-FFF2-40B4-BE49-F238E27FC236}">
                <a16:creationId xmlns="" xmlns:a16="http://schemas.microsoft.com/office/drawing/2014/main" id="{19FD5FA0-B111-4EF7-BC86-418441928DD3}"/>
              </a:ext>
            </a:extLst>
          </p:cNvPr>
          <p:cNvSpPr/>
          <p:nvPr/>
        </p:nvSpPr>
        <p:spPr>
          <a:xfrm>
            <a:off x="7020292" y="3729050"/>
            <a:ext cx="1223664" cy="28781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noAutofit/>
          </a:bodyPr>
          <a:lstStyle/>
          <a:p>
            <a:pPr algn="ctr"/>
            <a:r>
              <a:rPr lang="ko-KR" altLang="en-US" sz="700" smtClean="0"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</a:rPr>
              <a:t>바로구매</a:t>
            </a:r>
            <a:endParaRPr lang="ko-KR" altLang="en-US" sz="700">
              <a:solidFill>
                <a:prstClr val="black">
                  <a:lumMod val="75000"/>
                  <a:lumOff val="25000"/>
                </a:prst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317" name="직사각형 316">
            <a:extLst>
              <a:ext uri="{FF2B5EF4-FFF2-40B4-BE49-F238E27FC236}">
                <a16:creationId xmlns="" xmlns:a16="http://schemas.microsoft.com/office/drawing/2014/main" id="{8392E679-C745-496E-8916-C656AE57791E}"/>
              </a:ext>
            </a:extLst>
          </p:cNvPr>
          <p:cNvSpPr/>
          <p:nvPr/>
        </p:nvSpPr>
        <p:spPr>
          <a:xfrm>
            <a:off x="5544697" y="4200778"/>
            <a:ext cx="2879209" cy="359774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700" smtClean="0"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</a:rPr>
              <a:t>169,570</a:t>
            </a:r>
            <a:r>
              <a:rPr lang="ko-KR" altLang="en-US" sz="700" smtClean="0"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</a:rPr>
              <a:t>원 </a:t>
            </a:r>
            <a:r>
              <a:rPr lang="en-US" altLang="ko-KR" sz="700" smtClean="0"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</a:rPr>
              <a:t>+ </a:t>
            </a:r>
            <a:r>
              <a:rPr lang="ko-KR" altLang="en-US" sz="700" smtClean="0"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</a:rPr>
              <a:t>배송비 무료 </a:t>
            </a:r>
            <a:r>
              <a:rPr lang="en-US" altLang="ko-KR" sz="700" smtClean="0"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</a:rPr>
              <a:t>+ </a:t>
            </a:r>
            <a:r>
              <a:rPr lang="ko-KR" altLang="en-US" sz="700" smtClean="0"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</a:rPr>
              <a:t>선물포장 </a:t>
            </a:r>
            <a:r>
              <a:rPr lang="en-US" altLang="ko-KR" sz="700" smtClean="0"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</a:rPr>
              <a:t>= </a:t>
            </a:r>
            <a:r>
              <a:rPr lang="en-US" altLang="ko-KR" sz="700" b="1" smtClean="0"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</a:rPr>
              <a:t>392,910</a:t>
            </a:r>
            <a:r>
              <a:rPr lang="ko-KR" altLang="en-US" sz="700" b="1" smtClean="0"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</a:rPr>
              <a:t>원</a:t>
            </a:r>
            <a:endParaRPr lang="ko-KR" altLang="en-US" sz="700" b="1" dirty="0">
              <a:solidFill>
                <a:prstClr val="black">
                  <a:lumMod val="75000"/>
                  <a:lumOff val="25000"/>
                </a:prst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320" name="직사각형 319">
            <a:extLst>
              <a:ext uri="{FF2B5EF4-FFF2-40B4-BE49-F238E27FC236}">
                <a16:creationId xmlns="" xmlns:a16="http://schemas.microsoft.com/office/drawing/2014/main" id="{8392E679-C745-496E-8916-C656AE57791E}"/>
              </a:ext>
            </a:extLst>
          </p:cNvPr>
          <p:cNvSpPr/>
          <p:nvPr/>
        </p:nvSpPr>
        <p:spPr>
          <a:xfrm>
            <a:off x="5544697" y="4562762"/>
            <a:ext cx="2879209" cy="71955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700" dirty="0">
              <a:solidFill>
                <a:prstClr val="black">
                  <a:lumMod val="75000"/>
                  <a:lumOff val="25000"/>
                </a:prst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323" name="직사각형 322">
            <a:extLst>
              <a:ext uri="{FF2B5EF4-FFF2-40B4-BE49-F238E27FC236}">
                <a16:creationId xmlns="" xmlns:a16="http://schemas.microsoft.com/office/drawing/2014/main" id="{8392E679-C745-496E-8916-C656AE57791E}"/>
              </a:ext>
            </a:extLst>
          </p:cNvPr>
          <p:cNvSpPr/>
          <p:nvPr/>
        </p:nvSpPr>
        <p:spPr>
          <a:xfrm>
            <a:off x="5725920" y="4778626"/>
            <a:ext cx="2519308" cy="503683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3175"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36000" rIns="108000" bIns="36000" rtlCol="0" anchor="ctr"/>
          <a:lstStyle/>
          <a:p>
            <a:pPr>
              <a:lnSpc>
                <a:spcPct val="150000"/>
              </a:lnSpc>
            </a:pPr>
            <a:r>
              <a:rPr lang="ko-KR" altLang="en-US" sz="700" b="1" smtClean="0"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</a:rPr>
              <a:t>카드할인 </a:t>
            </a:r>
            <a:r>
              <a:rPr lang="ko-KR" altLang="en-US" sz="700" b="1" smtClean="0">
                <a:solidFill>
                  <a:srgbClr val="DC2832"/>
                </a:solidFill>
                <a:latin typeface="맑은 고딕" panose="020B0503020000020004" pitchFamily="50" charset="-127"/>
              </a:rPr>
              <a:t>최대 </a:t>
            </a:r>
            <a:r>
              <a:rPr lang="en-US" altLang="ko-KR" sz="700" b="1" smtClean="0">
                <a:solidFill>
                  <a:srgbClr val="DC2832"/>
                </a:solidFill>
                <a:latin typeface="맑은 고딕" panose="020B0503020000020004" pitchFamily="50" charset="-127"/>
              </a:rPr>
              <a:t>20,000</a:t>
            </a:r>
            <a:r>
              <a:rPr lang="ko-KR" altLang="en-US" sz="700" b="1" smtClean="0">
                <a:solidFill>
                  <a:srgbClr val="DC2832"/>
                </a:solidFill>
                <a:latin typeface="맑은 고딕" panose="020B0503020000020004" pitchFamily="50" charset="-127"/>
              </a:rPr>
              <a:t>원</a:t>
            </a:r>
            <a:endParaRPr lang="en-US" altLang="ko-KR" sz="700" b="1" smtClean="0">
              <a:solidFill>
                <a:srgbClr val="DC2832"/>
              </a:solidFill>
              <a:latin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700" smtClean="0">
                <a:solidFill>
                  <a:schemeClr val="tx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</a:rPr>
              <a:t>다양한 카드혜택 바로 확인해보세요</a:t>
            </a:r>
            <a:r>
              <a:rPr lang="en-US" altLang="ko-KR" sz="700" smtClean="0">
                <a:solidFill>
                  <a:schemeClr val="tx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</a:rPr>
              <a:t>!</a:t>
            </a:r>
            <a:endParaRPr lang="ko-KR" altLang="en-US" sz="700" dirty="0">
              <a:solidFill>
                <a:schemeClr val="tx1">
                  <a:lumMod val="50000"/>
                  <a:lumOff val="50000"/>
                </a:schemeClr>
              </a:solidFill>
              <a:latin typeface="맑은 고딕" panose="020B0503020000020004" pitchFamily="50" charset="-127"/>
            </a:endParaRPr>
          </a:p>
        </p:txBody>
      </p:sp>
      <p:grpSp>
        <p:nvGrpSpPr>
          <p:cNvPr id="324" name="그룹 323"/>
          <p:cNvGrpSpPr/>
          <p:nvPr/>
        </p:nvGrpSpPr>
        <p:grpSpPr>
          <a:xfrm>
            <a:off x="7867252" y="4940524"/>
            <a:ext cx="251931" cy="179887"/>
            <a:chOff x="288914" y="2382816"/>
            <a:chExt cx="252000" cy="180000"/>
          </a:xfrm>
        </p:grpSpPr>
        <p:sp>
          <p:nvSpPr>
            <p:cNvPr id="452" name="직사각형 451"/>
            <p:cNvSpPr/>
            <p:nvPr/>
          </p:nvSpPr>
          <p:spPr>
            <a:xfrm>
              <a:off x="302314" y="2382816"/>
              <a:ext cx="216000" cy="180000"/>
            </a:xfrm>
            <a:prstGeom prst="rect">
              <a:avLst/>
            </a:prstGeom>
            <a:noFill/>
            <a:ln w="952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7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cxnSp>
          <p:nvCxnSpPr>
            <p:cNvPr id="453" name="직선 연결선 452"/>
            <p:cNvCxnSpPr/>
            <p:nvPr/>
          </p:nvCxnSpPr>
          <p:spPr>
            <a:xfrm>
              <a:off x="302314" y="2418816"/>
              <a:ext cx="216000" cy="0"/>
            </a:xfrm>
            <a:prstGeom prst="line">
              <a:avLst/>
            </a:prstGeom>
            <a:solidFill>
              <a:schemeClr val="bg1"/>
            </a:solidFill>
            <a:ln w="952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454" name="직선 연결선 453"/>
            <p:cNvCxnSpPr/>
            <p:nvPr/>
          </p:nvCxnSpPr>
          <p:spPr>
            <a:xfrm>
              <a:off x="288914" y="2472816"/>
              <a:ext cx="252000" cy="0"/>
            </a:xfrm>
            <a:prstGeom prst="line">
              <a:avLst/>
            </a:prstGeom>
            <a:ln w="12700">
              <a:solidFill>
                <a:schemeClr val="accent2">
                  <a:lumMod val="20000"/>
                  <a:lumOff val="8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455" name="그룹 454"/>
            <p:cNvGrpSpPr/>
            <p:nvPr/>
          </p:nvGrpSpPr>
          <p:grpSpPr>
            <a:xfrm>
              <a:off x="409834" y="2490816"/>
              <a:ext cx="72480" cy="36000"/>
              <a:chOff x="5062373" y="2490816"/>
              <a:chExt cx="72480" cy="36000"/>
            </a:xfrm>
          </p:grpSpPr>
          <p:sp>
            <p:nvSpPr>
              <p:cNvPr id="510" name="타원 509"/>
              <p:cNvSpPr/>
              <p:nvPr/>
            </p:nvSpPr>
            <p:spPr>
              <a:xfrm>
                <a:off x="5062373" y="2490816"/>
                <a:ext cx="36000" cy="36000"/>
              </a:xfrm>
              <a:prstGeom prst="ellipse">
                <a:avLst/>
              </a:prstGeom>
              <a:noFill/>
              <a:ln w="9525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70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  <p:sp>
            <p:nvSpPr>
              <p:cNvPr id="511" name="타원 510"/>
              <p:cNvSpPr/>
              <p:nvPr/>
            </p:nvSpPr>
            <p:spPr>
              <a:xfrm>
                <a:off x="5098853" y="2490816"/>
                <a:ext cx="36000" cy="36000"/>
              </a:xfrm>
              <a:prstGeom prst="ellipse">
                <a:avLst/>
              </a:prstGeom>
              <a:noFill/>
              <a:ln w="9525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70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</p:grpSp>
        <p:cxnSp>
          <p:nvCxnSpPr>
            <p:cNvPr id="508" name="직선 연결선 507"/>
            <p:cNvCxnSpPr/>
            <p:nvPr/>
          </p:nvCxnSpPr>
          <p:spPr>
            <a:xfrm>
              <a:off x="338314" y="2490816"/>
              <a:ext cx="54000" cy="0"/>
            </a:xfrm>
            <a:prstGeom prst="line">
              <a:avLst/>
            </a:prstGeom>
            <a:solidFill>
              <a:schemeClr val="bg1"/>
            </a:solidFill>
            <a:ln w="952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509" name="직선 연결선 508"/>
            <p:cNvCxnSpPr/>
            <p:nvPr/>
          </p:nvCxnSpPr>
          <p:spPr>
            <a:xfrm>
              <a:off x="338314" y="2526816"/>
              <a:ext cx="36000" cy="0"/>
            </a:xfrm>
            <a:prstGeom prst="line">
              <a:avLst/>
            </a:prstGeom>
            <a:solidFill>
              <a:schemeClr val="bg1"/>
            </a:solidFill>
            <a:ln w="952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325" name="모서리가 둥근 직사각형 324">
            <a:extLst>
              <a:ext uri="{FF2B5EF4-FFF2-40B4-BE49-F238E27FC236}">
                <a16:creationId xmlns:a16="http://schemas.microsoft.com/office/drawing/2014/main" xmlns="" id="{8392E679-C745-496E-8916-C656AE57791E}"/>
              </a:ext>
            </a:extLst>
          </p:cNvPr>
          <p:cNvSpPr/>
          <p:nvPr/>
        </p:nvSpPr>
        <p:spPr>
          <a:xfrm>
            <a:off x="5724648" y="5427390"/>
            <a:ext cx="2519308" cy="971389"/>
          </a:xfrm>
          <a:prstGeom prst="roundRect">
            <a:avLst>
              <a:gd name="adj" fmla="val 4683"/>
            </a:avLst>
          </a:prstGeom>
          <a:solidFill>
            <a:schemeClr val="bg1">
              <a:lumMod val="9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36000" rIns="108000" bIns="36000" rtlCol="0" anchor="ctr"/>
          <a:lstStyle/>
          <a:p>
            <a:endParaRPr lang="ko-KR" altLang="en-US" sz="700" b="1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326" name="TextBox 325">
            <a:extLst>
              <a:ext uri="{FF2B5EF4-FFF2-40B4-BE49-F238E27FC236}">
                <a16:creationId xmlns:a16="http://schemas.microsoft.com/office/drawing/2014/main" xmlns="" id="{0C96C875-C47F-4F5B-B4C1-F9D666A7BD9D}"/>
              </a:ext>
            </a:extLst>
          </p:cNvPr>
          <p:cNvSpPr txBox="1"/>
          <p:nvPr/>
        </p:nvSpPr>
        <p:spPr>
          <a:xfrm>
            <a:off x="5724648" y="5509561"/>
            <a:ext cx="778504" cy="206070"/>
          </a:xfrm>
          <a:prstGeom prst="rect">
            <a:avLst/>
          </a:prstGeom>
          <a:noFill/>
          <a:ln w="317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108000" tIns="36000" rIns="108000" bIns="36000" numCol="1" rtlCol="0" anchor="t" anchorCtr="0" compatLnSpc="1">
            <a:prstTxWarp prst="textNoShape">
              <a:avLst/>
            </a:prstTxWarp>
            <a:spAutoFit/>
          </a:bodyPr>
          <a:lstStyle/>
          <a:p>
            <a:r>
              <a:rPr lang="ko-KR" altLang="en-US" sz="7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상품금액</a:t>
            </a:r>
            <a:r>
              <a:rPr lang="en-US" altLang="ko-KR" sz="7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(1)</a:t>
            </a:r>
            <a:endParaRPr lang="ko-KR" altLang="en-US" sz="7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327" name="TextBox 326">
            <a:extLst>
              <a:ext uri="{FF2B5EF4-FFF2-40B4-BE49-F238E27FC236}">
                <a16:creationId xmlns:a16="http://schemas.microsoft.com/office/drawing/2014/main" xmlns="" id="{0C96C875-C47F-4F5B-B4C1-F9D666A7BD9D}"/>
              </a:ext>
            </a:extLst>
          </p:cNvPr>
          <p:cNvSpPr txBox="1"/>
          <p:nvPr/>
        </p:nvSpPr>
        <p:spPr>
          <a:xfrm>
            <a:off x="7529555" y="5509561"/>
            <a:ext cx="714401" cy="206070"/>
          </a:xfrm>
          <a:prstGeom prst="rect">
            <a:avLst/>
          </a:prstGeom>
          <a:noFill/>
          <a:ln w="317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108000" tIns="36000" rIns="108000" bIns="36000" numCol="1" rtlCol="0" anchor="t" anchorCtr="0" compatLnSpc="1">
            <a:prstTxWarp prst="textNoShape">
              <a:avLst/>
            </a:prstTxWarp>
            <a:spAutoFit/>
          </a:bodyPr>
          <a:lstStyle/>
          <a:p>
            <a:pPr algn="r"/>
            <a:r>
              <a:rPr lang="en-US" altLang="ko-KR" sz="7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500,000</a:t>
            </a:r>
            <a:r>
              <a:rPr lang="ko-KR" altLang="en-US" sz="7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원</a:t>
            </a:r>
            <a:endParaRPr lang="ko-KR" altLang="en-US" sz="7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328" name="TextBox 327">
            <a:extLst>
              <a:ext uri="{FF2B5EF4-FFF2-40B4-BE49-F238E27FC236}">
                <a16:creationId xmlns:a16="http://schemas.microsoft.com/office/drawing/2014/main" xmlns="" id="{0C96C875-C47F-4F5B-B4C1-F9D666A7BD9D}"/>
              </a:ext>
            </a:extLst>
          </p:cNvPr>
          <p:cNvSpPr txBox="1"/>
          <p:nvPr/>
        </p:nvSpPr>
        <p:spPr>
          <a:xfrm>
            <a:off x="5724648" y="5725377"/>
            <a:ext cx="937843" cy="206070"/>
          </a:xfrm>
          <a:prstGeom prst="rect">
            <a:avLst/>
          </a:prstGeom>
          <a:noFill/>
          <a:ln w="317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108000" tIns="36000" rIns="108000" bIns="36000" numCol="1" rtlCol="0" anchor="t" anchorCtr="0" compatLnSpc="1">
            <a:prstTxWarp prst="textNoShape">
              <a:avLst/>
            </a:prstTxWarp>
            <a:spAutoFit/>
          </a:bodyPr>
          <a:lstStyle/>
          <a:p>
            <a:r>
              <a:rPr lang="ko-KR" altLang="en-US" sz="7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상품 할인 금액</a:t>
            </a:r>
            <a:endParaRPr lang="ko-KR" altLang="en-US" sz="7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343" name="TextBox 342">
            <a:extLst>
              <a:ext uri="{FF2B5EF4-FFF2-40B4-BE49-F238E27FC236}">
                <a16:creationId xmlns:a16="http://schemas.microsoft.com/office/drawing/2014/main" xmlns="" id="{0C96C875-C47F-4F5B-B4C1-F9D666A7BD9D}"/>
              </a:ext>
            </a:extLst>
          </p:cNvPr>
          <p:cNvSpPr txBox="1"/>
          <p:nvPr/>
        </p:nvSpPr>
        <p:spPr>
          <a:xfrm>
            <a:off x="7544207" y="5725377"/>
            <a:ext cx="699749" cy="206070"/>
          </a:xfrm>
          <a:prstGeom prst="rect">
            <a:avLst/>
          </a:prstGeom>
          <a:noFill/>
          <a:ln w="317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108000" tIns="36000" rIns="108000" bIns="36000" numCol="1" rtlCol="0" anchor="t" anchorCtr="0" compatLnSpc="1">
            <a:prstTxWarp prst="textNoShape">
              <a:avLst/>
            </a:prstTxWarp>
            <a:spAutoFit/>
          </a:bodyPr>
          <a:lstStyle/>
          <a:p>
            <a:pPr algn="r"/>
            <a:r>
              <a:rPr lang="en-US" altLang="ko-KR" sz="7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-40,430</a:t>
            </a:r>
            <a:r>
              <a:rPr lang="ko-KR" altLang="en-US" sz="7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원</a:t>
            </a:r>
            <a:endParaRPr lang="ko-KR" altLang="en-US" sz="7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</a:endParaRPr>
          </a:p>
        </p:txBody>
      </p:sp>
      <p:grpSp>
        <p:nvGrpSpPr>
          <p:cNvPr id="344" name="그룹 343"/>
          <p:cNvGrpSpPr/>
          <p:nvPr/>
        </p:nvGrpSpPr>
        <p:grpSpPr>
          <a:xfrm>
            <a:off x="5724648" y="5941195"/>
            <a:ext cx="2519308" cy="206070"/>
            <a:chOff x="323906" y="3957409"/>
            <a:chExt cx="2520000" cy="206200"/>
          </a:xfrm>
        </p:grpSpPr>
        <p:sp>
          <p:nvSpPr>
            <p:cNvPr id="450" name="TextBox 449">
              <a:extLst>
                <a:ext uri="{FF2B5EF4-FFF2-40B4-BE49-F238E27FC236}">
                  <a16:creationId xmlns:a16="http://schemas.microsoft.com/office/drawing/2014/main" xmlns="" id="{0C96C875-C47F-4F5B-B4C1-F9D666A7BD9D}"/>
                </a:ext>
              </a:extLst>
            </p:cNvPr>
            <p:cNvSpPr txBox="1"/>
            <p:nvPr/>
          </p:nvSpPr>
          <p:spPr>
            <a:xfrm>
              <a:off x="323906" y="3957409"/>
              <a:ext cx="557045" cy="206200"/>
            </a:xfrm>
            <a:prstGeom prst="rect">
              <a:avLst/>
            </a:prstGeom>
            <a:noFill/>
            <a:ln w="3175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none" lIns="108000" tIns="36000" rIns="108000" bIns="3600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r>
                <a:rPr lang="ko-KR" altLang="en-US" sz="70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배송비</a:t>
              </a:r>
              <a:endParaRPr lang="ko-KR" altLang="en-US" sz="7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451" name="TextBox 450">
              <a:extLst>
                <a:ext uri="{FF2B5EF4-FFF2-40B4-BE49-F238E27FC236}">
                  <a16:creationId xmlns:a16="http://schemas.microsoft.com/office/drawing/2014/main" xmlns="" id="{0C96C875-C47F-4F5B-B4C1-F9D666A7BD9D}"/>
                </a:ext>
              </a:extLst>
            </p:cNvPr>
            <p:cNvSpPr txBox="1"/>
            <p:nvPr/>
          </p:nvSpPr>
          <p:spPr>
            <a:xfrm>
              <a:off x="2389452" y="3957409"/>
              <a:ext cx="454454" cy="206200"/>
            </a:xfrm>
            <a:prstGeom prst="rect">
              <a:avLst/>
            </a:prstGeom>
            <a:noFill/>
            <a:ln w="3175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none" lIns="108000" tIns="36000" rIns="108000" bIns="3600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algn="r"/>
              <a:r>
                <a:rPr lang="ko-KR" altLang="en-US" sz="70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무료</a:t>
              </a:r>
              <a:endParaRPr lang="ko-KR" altLang="en-US" sz="7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endParaRPr>
            </a:p>
          </p:txBody>
        </p:sp>
      </p:grpSp>
      <p:grpSp>
        <p:nvGrpSpPr>
          <p:cNvPr id="345" name="그룹 344"/>
          <p:cNvGrpSpPr/>
          <p:nvPr/>
        </p:nvGrpSpPr>
        <p:grpSpPr>
          <a:xfrm>
            <a:off x="5724648" y="6157012"/>
            <a:ext cx="2519308" cy="206070"/>
            <a:chOff x="323906" y="3957409"/>
            <a:chExt cx="2520000" cy="206200"/>
          </a:xfrm>
        </p:grpSpPr>
        <p:sp>
          <p:nvSpPr>
            <p:cNvPr id="404" name="TextBox 403">
              <a:extLst>
                <a:ext uri="{FF2B5EF4-FFF2-40B4-BE49-F238E27FC236}">
                  <a16:creationId xmlns:a16="http://schemas.microsoft.com/office/drawing/2014/main" xmlns="" id="{0C96C875-C47F-4F5B-B4C1-F9D666A7BD9D}"/>
                </a:ext>
              </a:extLst>
            </p:cNvPr>
            <p:cNvSpPr txBox="1"/>
            <p:nvPr/>
          </p:nvSpPr>
          <p:spPr>
            <a:xfrm>
              <a:off x="323906" y="3957409"/>
              <a:ext cx="557045" cy="206200"/>
            </a:xfrm>
            <a:prstGeom prst="rect">
              <a:avLst/>
            </a:prstGeom>
            <a:noFill/>
            <a:ln w="3175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none" lIns="108000" tIns="36000" rIns="108000" bIns="3600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r>
                <a:rPr lang="ko-KR" altLang="en-US" sz="70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배송비</a:t>
              </a:r>
              <a:endParaRPr lang="ko-KR" altLang="en-US" sz="7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405" name="TextBox 404">
              <a:extLst>
                <a:ext uri="{FF2B5EF4-FFF2-40B4-BE49-F238E27FC236}">
                  <a16:creationId xmlns:a16="http://schemas.microsoft.com/office/drawing/2014/main" xmlns="" id="{0C96C875-C47F-4F5B-B4C1-F9D666A7BD9D}"/>
                </a:ext>
              </a:extLst>
            </p:cNvPr>
            <p:cNvSpPr txBox="1"/>
            <p:nvPr/>
          </p:nvSpPr>
          <p:spPr>
            <a:xfrm>
              <a:off x="2389452" y="3957409"/>
              <a:ext cx="454454" cy="206200"/>
            </a:xfrm>
            <a:prstGeom prst="rect">
              <a:avLst/>
            </a:prstGeom>
            <a:noFill/>
            <a:ln w="3175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none" lIns="108000" tIns="36000" rIns="108000" bIns="3600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algn="r"/>
              <a:r>
                <a:rPr lang="ko-KR" altLang="en-US" sz="70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무료</a:t>
              </a:r>
              <a:endParaRPr lang="ko-KR" altLang="en-US" sz="7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endParaRPr>
            </a:p>
          </p:txBody>
        </p:sp>
      </p:grpSp>
      <p:grpSp>
        <p:nvGrpSpPr>
          <p:cNvPr id="346" name="그룹 345"/>
          <p:cNvGrpSpPr/>
          <p:nvPr/>
        </p:nvGrpSpPr>
        <p:grpSpPr>
          <a:xfrm>
            <a:off x="5544697" y="5819566"/>
            <a:ext cx="2879209" cy="575638"/>
            <a:chOff x="143906" y="5821700"/>
            <a:chExt cx="2880000" cy="576000"/>
          </a:xfrm>
        </p:grpSpPr>
        <p:sp>
          <p:nvSpPr>
            <p:cNvPr id="388" name="직사각형 387">
              <a:extLst>
                <a:ext uri="{FF2B5EF4-FFF2-40B4-BE49-F238E27FC236}">
                  <a16:creationId xmlns:a16="http://schemas.microsoft.com/office/drawing/2014/main" xmlns="" id="{19FD5FA0-B111-4EF7-BC86-418441928DD3}"/>
                </a:ext>
              </a:extLst>
            </p:cNvPr>
            <p:cNvSpPr/>
            <p:nvPr/>
          </p:nvSpPr>
          <p:spPr>
            <a:xfrm>
              <a:off x="143906" y="5821700"/>
              <a:ext cx="2880000" cy="576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  <a:effectLst>
              <a:outerShdw blurRad="12700" dist="25400" dir="16200000" rotWithShape="0">
                <a:schemeClr val="bg1">
                  <a:lumMod val="75000"/>
                  <a:alpha val="5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700"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</a:endParaRPr>
            </a:p>
          </p:txBody>
        </p:sp>
        <p:grpSp>
          <p:nvGrpSpPr>
            <p:cNvPr id="389" name="그룹 388"/>
            <p:cNvGrpSpPr/>
            <p:nvPr/>
          </p:nvGrpSpPr>
          <p:grpSpPr>
            <a:xfrm>
              <a:off x="215008" y="5929700"/>
              <a:ext cx="360000" cy="360000"/>
              <a:chOff x="215008" y="5929700"/>
              <a:chExt cx="360000" cy="360000"/>
            </a:xfrm>
          </p:grpSpPr>
          <p:sp>
            <p:nvSpPr>
              <p:cNvPr id="400" name="모서리가 둥근 직사각형 399">
                <a:extLst>
                  <a:ext uri="{FF2B5EF4-FFF2-40B4-BE49-F238E27FC236}">
                    <a16:creationId xmlns:a16="http://schemas.microsoft.com/office/drawing/2014/main" xmlns="" id="{19FD5FA0-B111-4EF7-BC86-418441928DD3}"/>
                  </a:ext>
                </a:extLst>
              </p:cNvPr>
              <p:cNvSpPr/>
              <p:nvPr/>
            </p:nvSpPr>
            <p:spPr>
              <a:xfrm>
                <a:off x="215008" y="5929700"/>
                <a:ext cx="360000" cy="360000"/>
              </a:xfrm>
              <a:prstGeom prst="roundRect">
                <a:avLst>
                  <a:gd name="adj" fmla="val 9391"/>
                </a:avLst>
              </a:prstGeom>
              <a:solidFill>
                <a:schemeClr val="bg1"/>
              </a:solidFill>
              <a:ln w="3175">
                <a:solidFill>
                  <a:srgbClr val="DC283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700">
                  <a:solidFill>
                    <a:prstClr val="black">
                      <a:lumMod val="75000"/>
                      <a:lumOff val="25000"/>
                    </a:prstClr>
                  </a:solidFill>
                  <a:latin typeface="맑은 고딕" panose="020B0503020000020004" pitchFamily="50" charset="-127"/>
                </a:endParaRPr>
              </a:p>
            </p:txBody>
          </p:sp>
          <p:pic>
            <p:nvPicPr>
              <p:cNvPr id="403" name="Picture 6" descr="https://img.lfmall.co.kr/file/WAS/display/lf2022/mobile/gnb_fnb_sp.png"/>
              <p:cNvPicPr>
                <a:picLocks noChangeAspect="1" noChangeArrowheads="1"/>
              </p:cNvPicPr>
              <p:nvPr/>
            </p:nvPicPr>
            <p:blipFill rotWithShape="1">
              <a:blip r:embed="rId3" cstate="print">
                <a:duotone>
                  <a:schemeClr val="accent2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4">
                        <a14:imgEffect>
                          <a14:saturation sat="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62909" t="71189" r="22740" b="4892"/>
              <a:stretch/>
            </p:blipFill>
            <p:spPr bwMode="auto">
              <a:xfrm>
                <a:off x="287376" y="6002068"/>
                <a:ext cx="215265" cy="215265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sp>
          <p:nvSpPr>
            <p:cNvPr id="395" name="모서리가 둥근 직사각형 394">
              <a:extLst>
                <a:ext uri="{FF2B5EF4-FFF2-40B4-BE49-F238E27FC236}">
                  <a16:creationId xmlns:a16="http://schemas.microsoft.com/office/drawing/2014/main" xmlns="" id="{19FD5FA0-B111-4EF7-BC86-418441928DD3}"/>
                </a:ext>
              </a:extLst>
            </p:cNvPr>
            <p:cNvSpPr/>
            <p:nvPr/>
          </p:nvSpPr>
          <p:spPr>
            <a:xfrm>
              <a:off x="646821" y="5929700"/>
              <a:ext cx="2304000" cy="360000"/>
            </a:xfrm>
            <a:prstGeom prst="roundRect">
              <a:avLst>
                <a:gd name="adj" fmla="val 9391"/>
              </a:avLst>
            </a:prstGeom>
            <a:solidFill>
              <a:srgbClr val="DC2832"/>
            </a:solidFill>
            <a:ln w="3175">
              <a:solidFill>
                <a:srgbClr val="DC283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700" b="1" smtClean="0">
                  <a:solidFill>
                    <a:schemeClr val="bg1"/>
                  </a:solidFill>
                  <a:latin typeface="맑은 고딕" panose="020B0503020000020004" pitchFamily="50" charset="-127"/>
                </a:rPr>
                <a:t>총 </a:t>
              </a:r>
              <a:r>
                <a:rPr lang="en-US" altLang="ko-KR" sz="700" b="1" smtClean="0">
                  <a:solidFill>
                    <a:schemeClr val="bg1"/>
                  </a:solidFill>
                  <a:latin typeface="맑은 고딕" panose="020B0503020000020004" pitchFamily="50" charset="-127"/>
                </a:rPr>
                <a:t>1</a:t>
              </a:r>
              <a:r>
                <a:rPr lang="ko-KR" altLang="en-US" sz="700" b="1" smtClean="0">
                  <a:solidFill>
                    <a:schemeClr val="bg1"/>
                  </a:solidFill>
                  <a:latin typeface="맑은 고딕" panose="020B0503020000020004" pitchFamily="50" charset="-127"/>
                </a:rPr>
                <a:t>개 │ </a:t>
              </a:r>
              <a:r>
                <a:rPr lang="en-US" altLang="ko-KR" sz="700" b="1" smtClean="0">
                  <a:solidFill>
                    <a:schemeClr val="bg1"/>
                  </a:solidFill>
                  <a:latin typeface="맑은 고딕" panose="020B0503020000020004" pitchFamily="50" charset="-127"/>
                </a:rPr>
                <a:t>390,910</a:t>
              </a:r>
              <a:r>
                <a:rPr lang="ko-KR" altLang="en-US" sz="700" b="1" smtClean="0">
                  <a:solidFill>
                    <a:schemeClr val="bg1"/>
                  </a:solidFill>
                  <a:latin typeface="맑은 고딕" panose="020B0503020000020004" pitchFamily="50" charset="-127"/>
                </a:rPr>
                <a:t>원 주문하기</a:t>
              </a:r>
              <a:endParaRPr lang="ko-KR" altLang="en-US" sz="700" b="1">
                <a:solidFill>
                  <a:schemeClr val="bg1"/>
                </a:solidFill>
                <a:latin typeface="맑은 고딕" panose="020B0503020000020004" pitchFamily="50" charset="-127"/>
              </a:endParaRPr>
            </a:p>
          </p:txBody>
        </p:sp>
      </p:grpSp>
      <p:sp>
        <p:nvSpPr>
          <p:cNvPr id="347" name="직사각형 346">
            <a:extLst>
              <a:ext uri="{FF2B5EF4-FFF2-40B4-BE49-F238E27FC236}">
                <a16:creationId xmlns:a16="http://schemas.microsoft.com/office/drawing/2014/main" xmlns="" id="{F9776C3A-3D6C-4965-9DA5-D76F1E6E1639}"/>
              </a:ext>
            </a:extLst>
          </p:cNvPr>
          <p:cNvSpPr/>
          <p:nvPr/>
        </p:nvSpPr>
        <p:spPr>
          <a:xfrm>
            <a:off x="5544697" y="710779"/>
            <a:ext cx="2879209" cy="5684425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700">
              <a:solidFill>
                <a:prstClr val="black">
                  <a:lumMod val="75000"/>
                  <a:lumOff val="25000"/>
                </a:prst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350" name="타원 349"/>
          <p:cNvSpPr/>
          <p:nvPr/>
        </p:nvSpPr>
        <p:spPr>
          <a:xfrm>
            <a:off x="7102919" y="6150808"/>
            <a:ext cx="35990" cy="35977"/>
          </a:xfrm>
          <a:prstGeom prst="ellipse">
            <a:avLst/>
          </a:prstGeom>
          <a:solidFill>
            <a:srgbClr val="DC2832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7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28" name="모서리가 둥근 직사각형 127"/>
          <p:cNvSpPr/>
          <p:nvPr/>
        </p:nvSpPr>
        <p:spPr>
          <a:xfrm>
            <a:off x="323906" y="755999"/>
            <a:ext cx="2088000" cy="360000"/>
          </a:xfrm>
          <a:prstGeom prst="roundRect">
            <a:avLst/>
          </a:prstGeom>
          <a:solidFill>
            <a:schemeClr val="tx1">
              <a:lumMod val="65000"/>
              <a:lumOff val="35000"/>
            </a:schemeClr>
          </a:solidFill>
          <a:ln w="381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0" tIns="36000" rIns="36000" bIns="36000" rtlCol="0" anchor="ctr"/>
          <a:lstStyle/>
          <a:p>
            <a:r>
              <a:rPr lang="ko-KR" altLang="en-US" sz="900" b="1" smtClean="0">
                <a:solidFill>
                  <a:schemeClr val="bg1"/>
                </a:solidFill>
                <a:latin typeface="맑은 고딕" panose="020B0503020000020004" pitchFamily="50" charset="-127"/>
              </a:rPr>
              <a:t>매장상품배송 </a:t>
            </a:r>
            <a:r>
              <a:rPr lang="ko-KR" altLang="en-US" sz="900" b="1">
                <a:solidFill>
                  <a:schemeClr val="bg1"/>
                </a:solidFill>
                <a:latin typeface="맑은 고딕" panose="020B0503020000020004" pitchFamily="50" charset="-127"/>
              </a:rPr>
              <a:t>표현 정책</a:t>
            </a:r>
          </a:p>
        </p:txBody>
      </p:sp>
      <p:sp>
        <p:nvSpPr>
          <p:cNvPr id="129" name="모서리가 둥근 직사각형 128"/>
          <p:cNvSpPr/>
          <p:nvPr/>
        </p:nvSpPr>
        <p:spPr>
          <a:xfrm>
            <a:off x="323906" y="1295999"/>
            <a:ext cx="1656000" cy="36000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381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36000" rIns="180000" bIns="36000" rtlCol="0" anchor="ctr"/>
          <a:lstStyle/>
          <a:p>
            <a:r>
              <a:rPr lang="en-US" altLang="ko-KR" sz="900" b="1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3. </a:t>
            </a:r>
            <a:r>
              <a:rPr lang="ko-KR" altLang="en-US" sz="900" b="1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쇼핑백</a:t>
            </a:r>
            <a:r>
              <a:rPr lang="en-US" altLang="ko-KR" sz="900" b="1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/</a:t>
            </a:r>
            <a:r>
              <a:rPr lang="ko-KR" altLang="en-US" sz="900" b="1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주문서</a:t>
            </a:r>
            <a:r>
              <a:rPr lang="en-US" altLang="ko-KR" sz="900" b="1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 </a:t>
            </a:r>
            <a:r>
              <a:rPr lang="ko-KR" altLang="en-US" sz="900" b="1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화면</a:t>
            </a:r>
            <a:endParaRPr lang="ko-KR" altLang="en-US" sz="900" b="1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519" name="TextBox 518">
            <a:extLst>
              <a:ext uri="{FF2B5EF4-FFF2-40B4-BE49-F238E27FC236}">
                <a16:creationId xmlns="" xmlns:a16="http://schemas.microsoft.com/office/drawing/2014/main" id="{0C96C875-C47F-4F5B-B4C1-F9D666A7BD9D}"/>
              </a:ext>
            </a:extLst>
          </p:cNvPr>
          <p:cNvSpPr txBox="1"/>
          <p:nvPr/>
        </p:nvSpPr>
        <p:spPr>
          <a:xfrm>
            <a:off x="5903326" y="2115183"/>
            <a:ext cx="1963780" cy="180426"/>
          </a:xfrm>
          <a:prstGeom prst="rect">
            <a:avLst/>
          </a:prstGeom>
          <a:noFill/>
          <a:ln w="317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108000" tIns="36000" rIns="108000" bIns="36000" numCol="1" rtlCol="0" anchor="ctr" anchorCtr="0" compatLnSpc="1">
            <a:prstTxWarp prst="textNoShape">
              <a:avLst/>
            </a:prstTxWarp>
            <a:spAutoFit/>
          </a:bodyPr>
          <a:lstStyle>
            <a:defPPr>
              <a:defRPr lang="ko-KR"/>
            </a:defPPr>
            <a:lvl1pPr>
              <a:defRPr sz="800"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</a:defRPr>
            </a:lvl1pPr>
          </a:lstStyle>
          <a:p>
            <a:r>
              <a:rPr lang="en-US" altLang="ko-KR" sz="700">
                <a:solidFill>
                  <a:schemeClr val="tx1">
                    <a:lumMod val="50000"/>
                    <a:lumOff val="50000"/>
                  </a:schemeClr>
                </a:solidFill>
              </a:rPr>
              <a:t>[LF</a:t>
            </a:r>
            <a:r>
              <a:rPr lang="ko-KR" altLang="en-US" sz="700">
                <a:solidFill>
                  <a:schemeClr val="tx1">
                    <a:lumMod val="50000"/>
                    <a:lumOff val="50000"/>
                  </a:schemeClr>
                </a:solidFill>
              </a:rPr>
              <a:t>몰단독</a:t>
            </a:r>
            <a:r>
              <a:rPr lang="en-US" altLang="ko-KR" sz="700">
                <a:solidFill>
                  <a:schemeClr val="tx1">
                    <a:lumMod val="50000"/>
                    <a:lumOff val="50000"/>
                  </a:schemeClr>
                </a:solidFill>
              </a:rPr>
              <a:t>][HEAT] </a:t>
            </a:r>
            <a:r>
              <a:rPr lang="ko-KR" altLang="en-US" sz="700">
                <a:solidFill>
                  <a:schemeClr val="tx1">
                    <a:lumMod val="50000"/>
                    <a:lumOff val="50000"/>
                  </a:schemeClr>
                </a:solidFill>
              </a:rPr>
              <a:t>시그니처 헤비 </a:t>
            </a:r>
            <a:r>
              <a:rPr lang="ko-KR" altLang="en-US" sz="70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구스다운</a:t>
            </a:r>
            <a:r>
              <a:rPr lang="en-US" altLang="ko-KR" sz="70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…</a:t>
            </a:r>
          </a:p>
        </p:txBody>
      </p:sp>
      <p:sp>
        <p:nvSpPr>
          <p:cNvPr id="310" name="직사각형 309">
            <a:extLst>
              <a:ext uri="{FF2B5EF4-FFF2-40B4-BE49-F238E27FC236}">
                <a16:creationId xmlns="" xmlns:a16="http://schemas.microsoft.com/office/drawing/2014/main" id="{8392E679-C745-496E-8916-C656AE57791E}"/>
              </a:ext>
            </a:extLst>
          </p:cNvPr>
          <p:cNvSpPr/>
          <p:nvPr/>
        </p:nvSpPr>
        <p:spPr>
          <a:xfrm>
            <a:off x="5723500" y="2372037"/>
            <a:ext cx="719802" cy="899434"/>
          </a:xfrm>
          <a:prstGeom prst="rect">
            <a:avLst/>
          </a:prstGeom>
          <a:pattFill prst="openDmnd">
            <a:fgClr>
              <a:schemeClr val="bg1">
                <a:lumMod val="75000"/>
              </a:schemeClr>
            </a:fgClr>
            <a:bgClr>
              <a:schemeClr val="bg1"/>
            </a:bgClr>
          </a:patt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7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PROD</a:t>
            </a:r>
          </a:p>
          <a:p>
            <a:pPr algn="ctr"/>
            <a:r>
              <a:rPr lang="en-US" altLang="ko-KR" sz="7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IMG</a:t>
            </a:r>
            <a:endParaRPr lang="ko-KR" altLang="en-US" sz="7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51" name="TextBox 350">
            <a:extLst>
              <a:ext uri="{FF2B5EF4-FFF2-40B4-BE49-F238E27FC236}">
                <a16:creationId xmlns="" xmlns:a16="http://schemas.microsoft.com/office/drawing/2014/main" id="{0C96C875-C47F-4F5B-B4C1-F9D666A7BD9D}"/>
              </a:ext>
            </a:extLst>
          </p:cNvPr>
          <p:cNvSpPr txBox="1"/>
          <p:nvPr/>
        </p:nvSpPr>
        <p:spPr>
          <a:xfrm>
            <a:off x="6443302" y="2372037"/>
            <a:ext cx="1011104" cy="206071"/>
          </a:xfrm>
          <a:prstGeom prst="rect">
            <a:avLst/>
          </a:prstGeom>
          <a:noFill/>
          <a:ln w="317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108000" tIns="36000" rIns="108000" bIns="36000" numCol="1" rtlCol="0" anchor="ctr" anchorCtr="0" compatLnSpc="1">
            <a:prstTxWarp prst="textNoShape">
              <a:avLst/>
            </a:prstTxWarp>
            <a:spAutoFit/>
          </a:bodyPr>
          <a:lstStyle>
            <a:defPPr>
              <a:defRPr lang="ko-KR"/>
            </a:defPPr>
            <a:lvl1pPr>
              <a:defRPr sz="800"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</a:defRPr>
            </a:lvl1pPr>
          </a:lstStyle>
          <a:p>
            <a:r>
              <a:rPr lang="ko-KR" altLang="en-US" sz="70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크림 </a:t>
            </a:r>
            <a:r>
              <a:rPr lang="en-US" altLang="ko-KR" sz="70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/ 100 / 1</a:t>
            </a:r>
            <a:r>
              <a:rPr lang="ko-KR" altLang="en-US" sz="70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개</a:t>
            </a:r>
            <a:endParaRPr lang="ko-KR" altLang="en-US" sz="7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353" name="사각형: 둥근 모서리 393">
            <a:extLst>
              <a:ext uri="{FF2B5EF4-FFF2-40B4-BE49-F238E27FC236}">
                <a16:creationId xmlns="" xmlns:a16="http://schemas.microsoft.com/office/drawing/2014/main" id="{64F9493E-5C70-429B-84F6-3004F8930EFB}"/>
              </a:ext>
            </a:extLst>
          </p:cNvPr>
          <p:cNvSpPr/>
          <p:nvPr/>
        </p:nvSpPr>
        <p:spPr bwMode="auto">
          <a:xfrm>
            <a:off x="7601218" y="2589550"/>
            <a:ext cx="143960" cy="143910"/>
          </a:xfrm>
          <a:prstGeom prst="ellipse">
            <a:avLst/>
          </a:prstGeom>
          <a:solidFill>
            <a:schemeClr val="bg1"/>
          </a:solidFill>
          <a:ln w="3175" cap="flat" cmpd="sng" algn="ctr">
            <a:solidFill>
              <a:schemeClr val="bg1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fontAlgn="base" latinLnBrk="0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600" b="1" kern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?</a:t>
            </a:r>
            <a:endParaRPr kumimoji="1" lang="ko-KR" altLang="en-US" sz="600" b="1" kern="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355" name="TextBox 354">
            <a:extLst>
              <a:ext uri="{FF2B5EF4-FFF2-40B4-BE49-F238E27FC236}">
                <a16:creationId xmlns:a16="http://schemas.microsoft.com/office/drawing/2014/main" xmlns="" id="{0C96C875-C47F-4F5B-B4C1-F9D666A7BD9D}"/>
              </a:ext>
            </a:extLst>
          </p:cNvPr>
          <p:cNvSpPr txBox="1"/>
          <p:nvPr/>
        </p:nvSpPr>
        <p:spPr>
          <a:xfrm>
            <a:off x="6445934" y="2571293"/>
            <a:ext cx="1020646" cy="180425"/>
          </a:xfrm>
          <a:prstGeom prst="rect">
            <a:avLst/>
          </a:prstGeom>
          <a:noFill/>
          <a:ln w="317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108000" tIns="36000" rIns="36000" bIns="36000" numCol="1" rtlCol="0" anchor="t" anchorCtr="0" compatLnSpc="1">
            <a:prstTxWarp prst="textNoShape">
              <a:avLst/>
            </a:prstTxWarp>
            <a:spAutoFit/>
          </a:bodyPr>
          <a:lstStyle/>
          <a:p>
            <a:r>
              <a:rPr lang="en-US" altLang="ko-KR" sz="700" b="1" strike="sngStrike" smtClean="0">
                <a:solidFill>
                  <a:schemeClr val="bg1">
                    <a:lumMod val="75000"/>
                  </a:schemeClr>
                </a:solidFill>
                <a:latin typeface="맑은 고딕" panose="020B0503020000020004" pitchFamily="50" charset="-127"/>
              </a:rPr>
              <a:t>500,000</a:t>
            </a:r>
            <a:r>
              <a:rPr lang="ko-KR" altLang="en-US" sz="700" b="1" strike="sngStrike">
                <a:solidFill>
                  <a:schemeClr val="bg1">
                    <a:lumMod val="75000"/>
                  </a:schemeClr>
                </a:solidFill>
                <a:latin typeface="맑은 고딕" panose="020B0503020000020004" pitchFamily="50" charset="-127"/>
              </a:rPr>
              <a:t>원</a:t>
            </a:r>
            <a:r>
              <a:rPr lang="ko-KR" altLang="en-US" sz="700" b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 </a:t>
            </a:r>
            <a:r>
              <a:rPr lang="en-US" altLang="ko-KR" sz="700" b="1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390,910</a:t>
            </a:r>
            <a:r>
              <a:rPr lang="ko-KR" altLang="en-US" sz="700" b="1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원</a:t>
            </a:r>
            <a:endParaRPr lang="en-US" altLang="ko-KR" sz="700" b="1" smtClean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356" name="TextBox 355">
            <a:extLst>
              <a:ext uri="{FF2B5EF4-FFF2-40B4-BE49-F238E27FC236}">
                <a16:creationId xmlns="" xmlns:a16="http://schemas.microsoft.com/office/drawing/2014/main" id="{0C96C875-C47F-4F5B-B4C1-F9D666A7BD9D}"/>
              </a:ext>
            </a:extLst>
          </p:cNvPr>
          <p:cNvSpPr txBox="1"/>
          <p:nvPr/>
        </p:nvSpPr>
        <p:spPr>
          <a:xfrm>
            <a:off x="6443302" y="2764130"/>
            <a:ext cx="923192" cy="188495"/>
          </a:xfrm>
          <a:prstGeom prst="rect">
            <a:avLst/>
          </a:prstGeom>
          <a:noFill/>
          <a:ln w="317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108000" tIns="36000" rIns="108000" bIns="36000" numCol="1" rtlCol="0" anchor="ctr" anchorCtr="0" compatLnSpc="1">
            <a:prstTxWarp prst="textNoShape">
              <a:avLst/>
            </a:prstTxWarp>
            <a:spAutoFit/>
          </a:bodyPr>
          <a:lstStyle>
            <a:defPPr>
              <a:defRPr lang="ko-KR"/>
            </a:defPPr>
            <a:lvl1pPr>
              <a:defRPr sz="800"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</a:defRPr>
            </a:lvl1pPr>
          </a:lstStyle>
          <a:p>
            <a:r>
              <a:rPr lang="en-US" altLang="ko-KR" sz="60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6,390M </a:t>
            </a:r>
            <a:r>
              <a:rPr lang="ko-KR" altLang="en-US" sz="60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적립예정</a:t>
            </a:r>
            <a:endParaRPr lang="ko-KR" altLang="en-US" sz="6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357" name="TextBox 356">
            <a:extLst>
              <a:ext uri="{FF2B5EF4-FFF2-40B4-BE49-F238E27FC236}">
                <a16:creationId xmlns="" xmlns:a16="http://schemas.microsoft.com/office/drawing/2014/main" id="{0C96C875-C47F-4F5B-B4C1-F9D666A7BD9D}"/>
              </a:ext>
            </a:extLst>
          </p:cNvPr>
          <p:cNvSpPr txBox="1"/>
          <p:nvPr/>
        </p:nvSpPr>
        <p:spPr>
          <a:xfrm>
            <a:off x="6443302" y="2959555"/>
            <a:ext cx="1673422" cy="180425"/>
          </a:xfrm>
          <a:prstGeom prst="rect">
            <a:avLst/>
          </a:prstGeom>
          <a:noFill/>
          <a:ln w="317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792000" tIns="36000" rIns="108000" bIns="36000" numCol="1" rtlCol="0" anchor="ctr" anchorCtr="0" compatLnSpc="1">
            <a:prstTxWarp prst="textNoShape">
              <a:avLst/>
            </a:prstTxWarp>
            <a:spAutoFit/>
          </a:bodyPr>
          <a:lstStyle>
            <a:defPPr>
              <a:defRPr lang="ko-KR"/>
            </a:defPPr>
            <a:lvl1pPr>
              <a:defRPr sz="800"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</a:defRPr>
            </a:lvl1pPr>
          </a:lstStyle>
          <a:p>
            <a:r>
              <a:rPr lang="ko-KR" altLang="en-US" sz="70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평균 배송일 </a:t>
            </a:r>
            <a:r>
              <a:rPr lang="en-US" altLang="ko-KR" sz="700" smtClean="0">
                <a:solidFill>
                  <a:srgbClr val="C00000"/>
                </a:solidFill>
              </a:rPr>
              <a:t>5~7</a:t>
            </a:r>
            <a:r>
              <a:rPr lang="ko-KR" altLang="en-US" sz="70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일</a:t>
            </a:r>
            <a:endParaRPr lang="ko-KR" altLang="en-US" sz="7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527" name="직사각형 526"/>
          <p:cNvSpPr/>
          <p:nvPr/>
        </p:nvSpPr>
        <p:spPr>
          <a:xfrm>
            <a:off x="6551272" y="2977767"/>
            <a:ext cx="576000" cy="144000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75000"/>
                </a:schemeClr>
              </a:gs>
              <a:gs pos="50000">
                <a:schemeClr val="accent5"/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0" scaled="1"/>
            <a:tileRect/>
          </a:gra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60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매장상품배송</a:t>
            </a:r>
            <a:endParaRPr lang="ko-KR" altLang="en-US" sz="60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0562" y="1925074"/>
            <a:ext cx="2115413" cy="4320000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615388" y="1925074"/>
            <a:ext cx="2115413" cy="4320000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  <p:grpSp>
        <p:nvGrpSpPr>
          <p:cNvPr id="196" name="그룹 195"/>
          <p:cNvGrpSpPr/>
          <p:nvPr/>
        </p:nvGrpSpPr>
        <p:grpSpPr>
          <a:xfrm>
            <a:off x="8785717" y="710779"/>
            <a:ext cx="2879460" cy="5688000"/>
            <a:chOff x="144128" y="710779"/>
            <a:chExt cx="2879460" cy="5688000"/>
          </a:xfrm>
        </p:grpSpPr>
        <p:sp>
          <p:nvSpPr>
            <p:cNvPr id="197" name="직사각형 196">
              <a:extLst>
                <a:ext uri="{FF2B5EF4-FFF2-40B4-BE49-F238E27FC236}">
                  <a16:creationId xmlns:a16="http://schemas.microsoft.com/office/drawing/2014/main" xmlns="" id="{F9776C3A-3D6C-4965-9DA5-D76F1E6E1639}"/>
                </a:ext>
              </a:extLst>
            </p:cNvPr>
            <p:cNvSpPr/>
            <p:nvPr/>
          </p:nvSpPr>
          <p:spPr>
            <a:xfrm>
              <a:off x="145399" y="710779"/>
              <a:ext cx="2878189" cy="5687999"/>
            </a:xfrm>
            <a:prstGeom prst="rect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700"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198" name="직사각형 197">
              <a:extLst>
                <a:ext uri="{FF2B5EF4-FFF2-40B4-BE49-F238E27FC236}">
                  <a16:creationId xmlns:a16="http://schemas.microsoft.com/office/drawing/2014/main" xmlns="" id="{19FD5FA0-B111-4EF7-BC86-418441928DD3}"/>
                </a:ext>
              </a:extLst>
            </p:cNvPr>
            <p:cNvSpPr/>
            <p:nvPr/>
          </p:nvSpPr>
          <p:spPr>
            <a:xfrm>
              <a:off x="145399" y="710779"/>
              <a:ext cx="2878189" cy="360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700"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199" name="TextBox 198">
              <a:extLst>
                <a:ext uri="{FF2B5EF4-FFF2-40B4-BE49-F238E27FC236}">
                  <a16:creationId xmlns:a16="http://schemas.microsoft.com/office/drawing/2014/main" xmlns="" id="{0C96C875-C47F-4F5B-B4C1-F9D666A7BD9D}"/>
                </a:ext>
              </a:extLst>
            </p:cNvPr>
            <p:cNvSpPr txBox="1"/>
            <p:nvPr/>
          </p:nvSpPr>
          <p:spPr>
            <a:xfrm>
              <a:off x="542924" y="778511"/>
              <a:ext cx="600755" cy="223832"/>
            </a:xfrm>
            <a:prstGeom prst="rect">
              <a:avLst/>
            </a:prstGeom>
            <a:noFill/>
            <a:ln w="3175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none" lIns="108000" tIns="36000" rIns="108000" bIns="36000" numCol="1" rtlCol="0" anchor="ctr" anchorCtr="0" compatLnSpc="1">
              <a:prstTxWarp prst="textNoShape">
                <a:avLst/>
              </a:prstTxWarp>
              <a:spAutoFit/>
            </a:bodyPr>
            <a:lstStyle/>
            <a:p>
              <a:r>
                <a:rPr lang="ko-KR" altLang="en-US" sz="800" b="1" smtClean="0">
                  <a:solidFill>
                    <a:prstClr val="black">
                      <a:lumMod val="75000"/>
                      <a:lumOff val="25000"/>
                    </a:prstClr>
                  </a:solidFill>
                  <a:latin typeface="맑은 고딕" panose="020B0503020000020004" pitchFamily="50" charset="-127"/>
                </a:rPr>
                <a:t>주문서</a:t>
              </a:r>
              <a:endParaRPr lang="ko-KR" altLang="en-US" sz="800" b="1" dirty="0"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</a:endParaRPr>
            </a:p>
          </p:txBody>
        </p:sp>
        <p:pic>
          <p:nvPicPr>
            <p:cNvPr id="200" name="Picture 2" descr="https://img.lfmall.co.kr/file/WAS/display/lf2022/mobile/gnb_fnb_sp.png"/>
            <p:cNvPicPr>
              <a:picLocks noChangeAspect="1" noChangeArrowheads="1"/>
            </p:cNvPicPr>
            <p:nvPr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00" t="38037" r="84922" b="38044"/>
            <a:stretch/>
          </p:blipFill>
          <p:spPr bwMode="auto">
            <a:xfrm>
              <a:off x="290581" y="800779"/>
              <a:ext cx="181478" cy="18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01" name="직사각형 200">
              <a:extLst>
                <a:ext uri="{FF2B5EF4-FFF2-40B4-BE49-F238E27FC236}">
                  <a16:creationId xmlns:a16="http://schemas.microsoft.com/office/drawing/2014/main" xmlns="" id="{8392E679-C745-496E-8916-C656AE57791E}"/>
                </a:ext>
              </a:extLst>
            </p:cNvPr>
            <p:cNvSpPr/>
            <p:nvPr/>
          </p:nvSpPr>
          <p:spPr>
            <a:xfrm>
              <a:off x="144128" y="1070779"/>
              <a:ext cx="2878189" cy="720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700" dirty="0"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202" name="TextBox 201">
              <a:extLst>
                <a:ext uri="{FF2B5EF4-FFF2-40B4-BE49-F238E27FC236}">
                  <a16:creationId xmlns:a16="http://schemas.microsoft.com/office/drawing/2014/main" xmlns="" id="{0C96C875-C47F-4F5B-B4C1-F9D666A7BD9D}"/>
                </a:ext>
              </a:extLst>
            </p:cNvPr>
            <p:cNvSpPr txBox="1"/>
            <p:nvPr/>
          </p:nvSpPr>
          <p:spPr>
            <a:xfrm>
              <a:off x="324015" y="1204502"/>
              <a:ext cx="2069927" cy="206241"/>
            </a:xfrm>
            <a:prstGeom prst="rect">
              <a:avLst/>
            </a:prstGeom>
            <a:noFill/>
            <a:ln w="3175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none" lIns="36000" tIns="36000" rIns="36000" bIns="36000" numCol="1" rtlCol="0" anchor="ctr" anchorCtr="0" compatLnSpc="1">
              <a:prstTxWarp prst="textNoShape">
                <a:avLst/>
              </a:prstTxWarp>
              <a:spAutoFit/>
            </a:bodyPr>
            <a:lstStyle/>
            <a:p>
              <a:r>
                <a:rPr lang="en-US" altLang="ko-KR" sz="700" smtClean="0">
                  <a:solidFill>
                    <a:prstClr val="black">
                      <a:lumMod val="75000"/>
                      <a:lumOff val="25000"/>
                    </a:prstClr>
                  </a:solidFill>
                  <a:latin typeface="맑은 고딕" panose="020B0503020000020004" pitchFamily="50" charset="-127"/>
                </a:rPr>
                <a:t>(06017) </a:t>
              </a:r>
              <a:r>
                <a:rPr lang="ko-KR" altLang="en-US" sz="700" smtClean="0">
                  <a:solidFill>
                    <a:prstClr val="black">
                      <a:lumMod val="75000"/>
                      <a:lumOff val="25000"/>
                    </a:prstClr>
                  </a:solidFill>
                  <a:latin typeface="맑은 고딕" panose="020B0503020000020004" pitchFamily="50" charset="-127"/>
                </a:rPr>
                <a:t>서울특별시 강남구 언주로 </a:t>
              </a:r>
              <a:r>
                <a:rPr lang="en-US" altLang="ko-KR" sz="700" smtClean="0">
                  <a:solidFill>
                    <a:prstClr val="black">
                      <a:lumMod val="75000"/>
                      <a:lumOff val="25000"/>
                    </a:prstClr>
                  </a:solidFill>
                  <a:latin typeface="맑은 고딕" panose="020B0503020000020004" pitchFamily="50" charset="-127"/>
                </a:rPr>
                <a:t>872 6</a:t>
              </a:r>
              <a:r>
                <a:rPr lang="ko-KR" altLang="en-US" sz="700" smtClean="0">
                  <a:solidFill>
                    <a:prstClr val="black">
                      <a:lumMod val="75000"/>
                      <a:lumOff val="25000"/>
                    </a:prstClr>
                  </a:solidFill>
                  <a:latin typeface="맑은 고딕" panose="020B0503020000020004" pitchFamily="50" charset="-127"/>
                </a:rPr>
                <a:t>층</a:t>
              </a:r>
              <a:endParaRPr lang="ko-KR" altLang="en-US" sz="700" dirty="0"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203" name="TextBox 202">
              <a:extLst>
                <a:ext uri="{FF2B5EF4-FFF2-40B4-BE49-F238E27FC236}">
                  <a16:creationId xmlns:a16="http://schemas.microsoft.com/office/drawing/2014/main" xmlns="" id="{0C96C875-C47F-4F5B-B4C1-F9D666A7BD9D}"/>
                </a:ext>
              </a:extLst>
            </p:cNvPr>
            <p:cNvSpPr txBox="1"/>
            <p:nvPr/>
          </p:nvSpPr>
          <p:spPr>
            <a:xfrm>
              <a:off x="324015" y="1491846"/>
              <a:ext cx="698344" cy="206241"/>
            </a:xfrm>
            <a:prstGeom prst="rect">
              <a:avLst/>
            </a:prstGeom>
            <a:noFill/>
            <a:ln w="3175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none" lIns="36000" tIns="36000" rIns="36000" bIns="36000" numCol="1" rtlCol="0" anchor="ctr" anchorCtr="0" compatLnSpc="1">
              <a:prstTxWarp prst="textNoShape">
                <a:avLst/>
              </a:prstTxWarp>
              <a:spAutoFit/>
            </a:bodyPr>
            <a:lstStyle/>
            <a:p>
              <a:r>
                <a:rPr lang="ko-KR" altLang="en-US" sz="700" smtClean="0">
                  <a:solidFill>
                    <a:prstClr val="black">
                      <a:lumMod val="75000"/>
                      <a:lumOff val="25000"/>
                    </a:prstClr>
                  </a:solidFill>
                  <a:latin typeface="맑은 고딕" panose="020B0503020000020004" pitchFamily="50" charset="-127"/>
                </a:rPr>
                <a:t>배송요청사항</a:t>
              </a:r>
              <a:endParaRPr lang="ko-KR" altLang="en-US" sz="700" dirty="0"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204" name="모서리가 둥근 직사각형 203">
              <a:extLst>
                <a:ext uri="{FF2B5EF4-FFF2-40B4-BE49-F238E27FC236}">
                  <a16:creationId xmlns:a16="http://schemas.microsoft.com/office/drawing/2014/main" xmlns="" id="{19FD5FA0-B111-4EF7-BC86-418441928DD3}"/>
                </a:ext>
              </a:extLst>
            </p:cNvPr>
            <p:cNvSpPr/>
            <p:nvPr/>
          </p:nvSpPr>
          <p:spPr>
            <a:xfrm>
              <a:off x="324015" y="1738246"/>
              <a:ext cx="2518415" cy="288000"/>
            </a:xfrm>
            <a:prstGeom prst="roundRect">
              <a:avLst/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108000" tIns="36000" rIns="108000" bIns="36000" rtlCol="0" anchor="ctr">
              <a:noAutofit/>
            </a:bodyPr>
            <a:lstStyle/>
            <a:p>
              <a:r>
                <a:rPr lang="ko-KR" altLang="en-US" sz="700" smtClean="0">
                  <a:solidFill>
                    <a:prstClr val="black">
                      <a:lumMod val="75000"/>
                      <a:lumOff val="25000"/>
                    </a:prstClr>
                  </a:solidFill>
                  <a:latin typeface="맑은 고딕" panose="020B0503020000020004" pitchFamily="50" charset="-127"/>
                </a:rPr>
                <a:t>배송 장소를 선택해주세요</a:t>
              </a:r>
              <a:r>
                <a:rPr lang="en-US" altLang="ko-KR" sz="700" smtClean="0">
                  <a:solidFill>
                    <a:prstClr val="black">
                      <a:lumMod val="75000"/>
                      <a:lumOff val="25000"/>
                    </a:prstClr>
                  </a:solidFill>
                  <a:latin typeface="맑은 고딕" panose="020B0503020000020004" pitchFamily="50" charset="-127"/>
                </a:rPr>
                <a:t>(</a:t>
              </a:r>
              <a:r>
                <a:rPr lang="ko-KR" altLang="en-US" sz="700" smtClean="0">
                  <a:solidFill>
                    <a:prstClr val="black">
                      <a:lumMod val="75000"/>
                      <a:lumOff val="25000"/>
                    </a:prstClr>
                  </a:solidFill>
                  <a:latin typeface="맑은 고딕" panose="020B0503020000020004" pitchFamily="50" charset="-127"/>
                </a:rPr>
                <a:t>선택</a:t>
              </a:r>
              <a:r>
                <a:rPr lang="en-US" altLang="ko-KR" sz="700" smtClean="0">
                  <a:solidFill>
                    <a:prstClr val="black">
                      <a:lumMod val="75000"/>
                      <a:lumOff val="25000"/>
                    </a:prstClr>
                  </a:solidFill>
                  <a:latin typeface="맑은 고딕" panose="020B0503020000020004" pitchFamily="50" charset="-127"/>
                </a:rPr>
                <a:t>)</a:t>
              </a:r>
              <a:endParaRPr lang="ko-KR" altLang="en-US" sz="700"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205" name="Chevron Down"/>
            <p:cNvSpPr>
              <a:spLocks noChangeAspect="1"/>
            </p:cNvSpPr>
            <p:nvPr/>
          </p:nvSpPr>
          <p:spPr bwMode="auto">
            <a:xfrm>
              <a:off x="2661355" y="1865783"/>
              <a:ext cx="107932" cy="59341"/>
            </a:xfrm>
            <a:custGeom>
              <a:avLst/>
              <a:gdLst>
                <a:gd name="T0" fmla="*/ 594 w 594"/>
                <a:gd name="T1" fmla="*/ 27 h 324"/>
                <a:gd name="T2" fmla="*/ 566 w 594"/>
                <a:gd name="T3" fmla="*/ 0 h 324"/>
                <a:gd name="T4" fmla="*/ 297 w 594"/>
                <a:gd name="T5" fmla="*/ 268 h 324"/>
                <a:gd name="T6" fmla="*/ 28 w 594"/>
                <a:gd name="T7" fmla="*/ 0 h 324"/>
                <a:gd name="T8" fmla="*/ 0 w 594"/>
                <a:gd name="T9" fmla="*/ 27 h 324"/>
                <a:gd name="T10" fmla="*/ 297 w 594"/>
                <a:gd name="T11" fmla="*/ 324 h 324"/>
                <a:gd name="T12" fmla="*/ 594 w 594"/>
                <a:gd name="T13" fmla="*/ 27 h 3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94" h="324">
                  <a:moveTo>
                    <a:pt x="594" y="27"/>
                  </a:moveTo>
                  <a:lnTo>
                    <a:pt x="566" y="0"/>
                  </a:lnTo>
                  <a:lnTo>
                    <a:pt x="297" y="268"/>
                  </a:lnTo>
                  <a:lnTo>
                    <a:pt x="28" y="0"/>
                  </a:lnTo>
                  <a:lnTo>
                    <a:pt x="0" y="27"/>
                  </a:lnTo>
                  <a:lnTo>
                    <a:pt x="297" y="324"/>
                  </a:lnTo>
                  <a:lnTo>
                    <a:pt x="594" y="27"/>
                  </a:lnTo>
                  <a:close/>
                </a:path>
              </a:pathLst>
            </a:custGeom>
            <a:solidFill>
              <a:srgbClr val="5F5F5F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80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206" name="직사각형 205">
              <a:extLst>
                <a:ext uri="{FF2B5EF4-FFF2-40B4-BE49-F238E27FC236}">
                  <a16:creationId xmlns:a16="http://schemas.microsoft.com/office/drawing/2014/main" xmlns="" id="{8392E679-C745-496E-8916-C656AE57791E}"/>
                </a:ext>
              </a:extLst>
            </p:cNvPr>
            <p:cNvSpPr/>
            <p:nvPr/>
          </p:nvSpPr>
          <p:spPr>
            <a:xfrm>
              <a:off x="144128" y="2135855"/>
              <a:ext cx="2878189" cy="720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700" dirty="0"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207" name="TextBox 206">
              <a:extLst>
                <a:ext uri="{FF2B5EF4-FFF2-40B4-BE49-F238E27FC236}">
                  <a16:creationId xmlns:a16="http://schemas.microsoft.com/office/drawing/2014/main" xmlns="" id="{0C96C875-C47F-4F5B-B4C1-F9D666A7BD9D}"/>
                </a:ext>
              </a:extLst>
            </p:cNvPr>
            <p:cNvSpPr txBox="1"/>
            <p:nvPr/>
          </p:nvSpPr>
          <p:spPr>
            <a:xfrm>
              <a:off x="324015" y="2311436"/>
              <a:ext cx="551846" cy="223832"/>
            </a:xfrm>
            <a:prstGeom prst="rect">
              <a:avLst/>
            </a:prstGeom>
            <a:noFill/>
            <a:ln w="3175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none" lIns="36000" tIns="36000" rIns="36000" bIns="36000" numCol="1" rtlCol="0" anchor="ctr" anchorCtr="0" compatLnSpc="1">
              <a:prstTxWarp prst="textNoShape">
                <a:avLst/>
              </a:prstTxWarp>
              <a:spAutoFit/>
            </a:bodyPr>
            <a:lstStyle/>
            <a:p>
              <a:r>
                <a:rPr lang="ko-KR" altLang="en-US" sz="800" b="1" smtClean="0">
                  <a:solidFill>
                    <a:prstClr val="black">
                      <a:lumMod val="75000"/>
                      <a:lumOff val="25000"/>
                    </a:prstClr>
                  </a:solidFill>
                  <a:latin typeface="맑은 고딕" panose="020B0503020000020004" pitchFamily="50" charset="-127"/>
                </a:rPr>
                <a:t>주문상품</a:t>
              </a:r>
              <a:endParaRPr lang="ko-KR" altLang="en-US" sz="800" b="1" dirty="0"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</a:endParaRPr>
            </a:p>
          </p:txBody>
        </p:sp>
        <p:grpSp>
          <p:nvGrpSpPr>
            <p:cNvPr id="208" name="그룹 207"/>
            <p:cNvGrpSpPr/>
            <p:nvPr/>
          </p:nvGrpSpPr>
          <p:grpSpPr>
            <a:xfrm>
              <a:off x="145399" y="5822779"/>
              <a:ext cx="2878189" cy="576000"/>
              <a:chOff x="9036562" y="5821701"/>
              <a:chExt cx="2880000" cy="576000"/>
            </a:xfrm>
          </p:grpSpPr>
          <p:sp>
            <p:nvSpPr>
              <p:cNvPr id="238" name="직사각형 237">
                <a:extLst>
                  <a:ext uri="{FF2B5EF4-FFF2-40B4-BE49-F238E27FC236}">
                    <a16:creationId xmlns="" xmlns:a16="http://schemas.microsoft.com/office/drawing/2014/main" id="{19FD5FA0-B111-4EF7-BC86-418441928DD3}"/>
                  </a:ext>
                </a:extLst>
              </p:cNvPr>
              <p:cNvSpPr/>
              <p:nvPr/>
            </p:nvSpPr>
            <p:spPr>
              <a:xfrm>
                <a:off x="9036562" y="5821701"/>
                <a:ext cx="2880000" cy="576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chemeClr val="bg1">
                    <a:lumMod val="75000"/>
                  </a:schemeClr>
                </a:solidFill>
              </a:ln>
              <a:effectLst>
                <a:outerShdw blurRad="12700" dist="12700" dir="16200000" rotWithShape="0">
                  <a:schemeClr val="bg1">
                    <a:lumMod val="75000"/>
                    <a:alpha val="5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700">
                  <a:solidFill>
                    <a:prstClr val="black">
                      <a:lumMod val="75000"/>
                      <a:lumOff val="25000"/>
                    </a:prstClr>
                  </a:solidFill>
                  <a:latin typeface="맑은 고딕" panose="020B0503020000020004" pitchFamily="50" charset="-127"/>
                </a:endParaRPr>
              </a:p>
            </p:txBody>
          </p:sp>
          <p:sp>
            <p:nvSpPr>
              <p:cNvPr id="239" name="모서리가 둥근 직사각형 238">
                <a:extLst>
                  <a:ext uri="{FF2B5EF4-FFF2-40B4-BE49-F238E27FC236}">
                    <a16:creationId xmlns="" xmlns:a16="http://schemas.microsoft.com/office/drawing/2014/main" id="{19FD5FA0-B111-4EF7-BC86-418441928DD3}"/>
                  </a:ext>
                </a:extLst>
              </p:cNvPr>
              <p:cNvSpPr/>
              <p:nvPr/>
            </p:nvSpPr>
            <p:spPr>
              <a:xfrm>
                <a:off x="9180562" y="5929700"/>
                <a:ext cx="2592000" cy="360000"/>
              </a:xfrm>
              <a:prstGeom prst="roundRect">
                <a:avLst>
                  <a:gd name="adj" fmla="val 9391"/>
                </a:avLst>
              </a:prstGeom>
              <a:solidFill>
                <a:schemeClr val="tx1">
                  <a:lumMod val="75000"/>
                  <a:lumOff val="25000"/>
                </a:schemeClr>
              </a:solidFill>
              <a:ln w="31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800" b="1" smtClean="0">
                    <a:solidFill>
                      <a:schemeClr val="bg1"/>
                    </a:solidFill>
                    <a:latin typeface="맑은 고딕" panose="020B0503020000020004" pitchFamily="50" charset="-127"/>
                  </a:rPr>
                  <a:t>392,910</a:t>
                </a:r>
                <a:r>
                  <a:rPr lang="ko-KR" altLang="en-US" sz="800" b="1" smtClean="0">
                    <a:solidFill>
                      <a:schemeClr val="bg1"/>
                    </a:solidFill>
                    <a:latin typeface="맑은 고딕" panose="020B0503020000020004" pitchFamily="50" charset="-127"/>
                  </a:rPr>
                  <a:t>원 결제하기</a:t>
                </a:r>
                <a:endParaRPr lang="ko-KR" altLang="en-US" sz="800" b="1">
                  <a:solidFill>
                    <a:schemeClr val="bg1"/>
                  </a:solidFill>
                  <a:latin typeface="맑은 고딕" panose="020B0503020000020004" pitchFamily="50" charset="-127"/>
                </a:endParaRPr>
              </a:p>
            </p:txBody>
          </p:sp>
        </p:grpSp>
        <p:sp>
          <p:nvSpPr>
            <p:cNvPr id="209" name="직사각형 208">
              <a:extLst>
                <a:ext uri="{FF2B5EF4-FFF2-40B4-BE49-F238E27FC236}">
                  <a16:creationId xmlns:a16="http://schemas.microsoft.com/office/drawing/2014/main" xmlns="" id="{8392E679-C745-496E-8916-C656AE57791E}"/>
                </a:ext>
              </a:extLst>
            </p:cNvPr>
            <p:cNvSpPr/>
            <p:nvPr/>
          </p:nvSpPr>
          <p:spPr>
            <a:xfrm>
              <a:off x="324015" y="2639641"/>
              <a:ext cx="719547" cy="900000"/>
            </a:xfrm>
            <a:prstGeom prst="rect">
              <a:avLst/>
            </a:prstGeom>
            <a:pattFill prst="openDmnd">
              <a:fgClr>
                <a:schemeClr val="bg1">
                  <a:lumMod val="75000"/>
                </a:schemeClr>
              </a:fgClr>
              <a:bgClr>
                <a:schemeClr val="bg1"/>
              </a:bgClr>
            </a:patt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700" smtClean="0">
                  <a:solidFill>
                    <a:prstClr val="black">
                      <a:lumMod val="75000"/>
                      <a:lumOff val="25000"/>
                    </a:prstClr>
                  </a:solidFill>
                  <a:latin typeface="맑은 고딕" panose="020B0503020000020004" pitchFamily="50" charset="-127"/>
                </a:rPr>
                <a:t>PROD</a:t>
              </a:r>
            </a:p>
            <a:p>
              <a:pPr algn="ctr"/>
              <a:r>
                <a:rPr lang="en-US" altLang="ko-KR" sz="700" smtClean="0">
                  <a:solidFill>
                    <a:prstClr val="black">
                      <a:lumMod val="75000"/>
                      <a:lumOff val="25000"/>
                    </a:prstClr>
                  </a:solidFill>
                  <a:latin typeface="맑은 고딕" panose="020B0503020000020004" pitchFamily="50" charset="-127"/>
                </a:rPr>
                <a:t>IMG</a:t>
              </a:r>
              <a:endParaRPr lang="ko-KR" altLang="en-US" sz="700" dirty="0"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210" name="TextBox 209">
              <a:extLst>
                <a:ext uri="{FF2B5EF4-FFF2-40B4-BE49-F238E27FC236}">
                  <a16:creationId xmlns:a16="http://schemas.microsoft.com/office/drawing/2014/main" xmlns="" id="{0C96C875-C47F-4F5B-B4C1-F9D666A7BD9D}"/>
                </a:ext>
              </a:extLst>
            </p:cNvPr>
            <p:cNvSpPr txBox="1"/>
            <p:nvPr/>
          </p:nvSpPr>
          <p:spPr>
            <a:xfrm>
              <a:off x="1046193" y="2639641"/>
              <a:ext cx="1800000" cy="553998"/>
            </a:xfrm>
            <a:prstGeom prst="rect">
              <a:avLst/>
            </a:prstGeom>
            <a:noFill/>
            <a:ln w="3175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square" lIns="108000" tIns="0" rIns="108000" bIns="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ko-KR" sz="600" b="1" smtClean="0">
                  <a:solidFill>
                    <a:prstClr val="black">
                      <a:lumMod val="75000"/>
                      <a:lumOff val="25000"/>
                    </a:prstClr>
                  </a:solidFill>
                  <a:latin typeface="맑은 고딕" panose="020B0503020000020004" pitchFamily="50" charset="-127"/>
                </a:rPr>
                <a:t>HAZZYS</a:t>
              </a:r>
            </a:p>
            <a:p>
              <a:pPr>
                <a:lnSpc>
                  <a:spcPct val="150000"/>
                </a:lnSpc>
              </a:pPr>
              <a:r>
                <a:rPr lang="en-US" altLang="ko-KR" sz="600">
                  <a:solidFill>
                    <a:prstClr val="black">
                      <a:lumMod val="75000"/>
                      <a:lumOff val="25000"/>
                    </a:prstClr>
                  </a:solidFill>
                  <a:latin typeface="맑은 고딕" panose="020B0503020000020004" pitchFamily="50" charset="-127"/>
                </a:rPr>
                <a:t>[</a:t>
              </a:r>
              <a:r>
                <a:rPr lang="ko-KR" altLang="en-US" sz="600">
                  <a:solidFill>
                    <a:prstClr val="black">
                      <a:lumMod val="75000"/>
                      <a:lumOff val="25000"/>
                    </a:prstClr>
                  </a:solidFill>
                  <a:latin typeface="맑은 고딕" panose="020B0503020000020004" pitchFamily="50" charset="-127"/>
                </a:rPr>
                <a:t>시즌오프</a:t>
              </a:r>
              <a:r>
                <a:rPr lang="en-US" altLang="ko-KR" sz="600">
                  <a:solidFill>
                    <a:prstClr val="black">
                      <a:lumMod val="75000"/>
                      <a:lumOff val="25000"/>
                    </a:prstClr>
                  </a:solidFill>
                  <a:latin typeface="맑은 고딕" panose="020B0503020000020004" pitchFamily="50" charset="-127"/>
                </a:rPr>
                <a:t>][</a:t>
              </a:r>
              <a:r>
                <a:rPr lang="ko-KR" altLang="en-US" sz="600">
                  <a:solidFill>
                    <a:prstClr val="black">
                      <a:lumMod val="75000"/>
                      <a:lumOff val="25000"/>
                    </a:prstClr>
                  </a:solidFill>
                  <a:latin typeface="맑은 고딕" panose="020B0503020000020004" pitchFamily="50" charset="-127"/>
                </a:rPr>
                <a:t>인기급상승</a:t>
              </a:r>
              <a:r>
                <a:rPr lang="en-US" altLang="ko-KR" sz="600">
                  <a:solidFill>
                    <a:prstClr val="black">
                      <a:lumMod val="75000"/>
                      <a:lumOff val="25000"/>
                    </a:prstClr>
                  </a:solidFill>
                  <a:latin typeface="맑은 고딕" panose="020B0503020000020004" pitchFamily="50" charset="-127"/>
                </a:rPr>
                <a:t>] </a:t>
              </a:r>
              <a:r>
                <a:rPr lang="ko-KR" altLang="en-US" sz="600">
                  <a:solidFill>
                    <a:prstClr val="black">
                      <a:lumMod val="75000"/>
                      <a:lumOff val="25000"/>
                    </a:prstClr>
                  </a:solidFill>
                  <a:latin typeface="맑은 고딕" panose="020B0503020000020004" pitchFamily="50" charset="-127"/>
                </a:rPr>
                <a:t>다이아 패턴 구스 </a:t>
              </a:r>
              <a:r>
                <a:rPr lang="ko-KR" altLang="en-US" sz="600" smtClean="0">
                  <a:solidFill>
                    <a:prstClr val="black">
                      <a:lumMod val="75000"/>
                      <a:lumOff val="25000"/>
                    </a:prstClr>
                  </a:solidFill>
                  <a:latin typeface="맑은 고딕" panose="020B0503020000020004" pitchFamily="50" charset="-127"/>
                </a:rPr>
                <a:t>다운 </a:t>
              </a:r>
              <a:r>
                <a:rPr lang="ko-KR" altLang="en-US" sz="600">
                  <a:solidFill>
                    <a:prstClr val="black">
                      <a:lumMod val="75000"/>
                      <a:lumOff val="25000"/>
                    </a:prstClr>
                  </a:solidFill>
                  <a:latin typeface="맑은 고딕" panose="020B0503020000020004" pitchFamily="50" charset="-127"/>
                </a:rPr>
                <a:t>점퍼 블랙</a:t>
              </a:r>
            </a:p>
            <a:p>
              <a:pPr>
                <a:lnSpc>
                  <a:spcPct val="150000"/>
                </a:lnSpc>
              </a:pPr>
              <a:r>
                <a:rPr lang="ko-KR" altLang="en-US" sz="600">
                  <a:solidFill>
                    <a:schemeClr val="tx1">
                      <a:lumMod val="50000"/>
                      <a:lumOff val="50000"/>
                    </a:schemeClr>
                  </a:solidFill>
                  <a:latin typeface="맑은 고딕" panose="020B0503020000020004" pitchFamily="50" charset="-127"/>
                </a:rPr>
                <a:t>진한 브라운 </a:t>
              </a:r>
              <a:r>
                <a:rPr lang="en-US" altLang="ko-KR" sz="600">
                  <a:solidFill>
                    <a:schemeClr val="tx1">
                      <a:lumMod val="50000"/>
                      <a:lumOff val="50000"/>
                    </a:schemeClr>
                  </a:solidFill>
                  <a:latin typeface="맑은 고딕" panose="020B0503020000020004" pitchFamily="50" charset="-127"/>
                </a:rPr>
                <a:t>/ </a:t>
              </a:r>
              <a:r>
                <a:rPr lang="en-US" altLang="ko-KR" sz="600" smtClean="0">
                  <a:solidFill>
                    <a:schemeClr val="tx1">
                      <a:lumMod val="50000"/>
                      <a:lumOff val="50000"/>
                    </a:schemeClr>
                  </a:solidFill>
                  <a:latin typeface="맑은 고딕" panose="020B0503020000020004" pitchFamily="50" charset="-127"/>
                </a:rPr>
                <a:t>00S </a:t>
              </a:r>
              <a:r>
                <a:rPr lang="en-US" altLang="ko-KR" sz="600">
                  <a:solidFill>
                    <a:schemeClr val="tx1">
                      <a:lumMod val="50000"/>
                      <a:lumOff val="50000"/>
                    </a:schemeClr>
                  </a:solidFill>
                  <a:latin typeface="맑은 고딕" panose="020B0503020000020004" pitchFamily="50" charset="-127"/>
                </a:rPr>
                <a:t>/ 1</a:t>
              </a:r>
              <a:r>
                <a:rPr lang="ko-KR" altLang="en-US" sz="600" smtClean="0">
                  <a:solidFill>
                    <a:schemeClr val="tx1">
                      <a:lumMod val="50000"/>
                      <a:lumOff val="50000"/>
                    </a:schemeClr>
                  </a:solidFill>
                  <a:latin typeface="맑은 고딕" panose="020B0503020000020004" pitchFamily="50" charset="-127"/>
                </a:rPr>
                <a:t>개</a:t>
              </a:r>
              <a:endParaRPr lang="ko-KR" altLang="en-US" sz="600">
                <a:solidFill>
                  <a:schemeClr val="tx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211" name="직사각형 210">
              <a:extLst>
                <a:ext uri="{FF2B5EF4-FFF2-40B4-BE49-F238E27FC236}">
                  <a16:creationId xmlns:a16="http://schemas.microsoft.com/office/drawing/2014/main" xmlns="" id="{8392E679-C745-496E-8916-C656AE57791E}"/>
                </a:ext>
              </a:extLst>
            </p:cNvPr>
            <p:cNvSpPr/>
            <p:nvPr/>
          </p:nvSpPr>
          <p:spPr>
            <a:xfrm>
              <a:off x="144128" y="5697186"/>
              <a:ext cx="2878189" cy="720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700" dirty="0"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212" name="사각형: 둥근 모서리 393">
              <a:extLst>
                <a:ext uri="{FF2B5EF4-FFF2-40B4-BE49-F238E27FC236}">
                  <a16:creationId xmlns="" xmlns:a16="http://schemas.microsoft.com/office/drawing/2014/main" id="{64F9493E-5C70-429B-84F6-3004F8930EFB}"/>
                </a:ext>
              </a:extLst>
            </p:cNvPr>
            <p:cNvSpPr/>
            <p:nvPr/>
          </p:nvSpPr>
          <p:spPr bwMode="auto">
            <a:xfrm>
              <a:off x="2068835" y="3250665"/>
              <a:ext cx="143909" cy="144000"/>
            </a:xfrm>
            <a:prstGeom prst="ellipse">
              <a:avLst/>
            </a:prstGeom>
            <a:solidFill>
              <a:schemeClr val="bg1"/>
            </a:solidFill>
            <a:ln w="3175" cap="flat" cmpd="sng" algn="ctr">
              <a:solidFill>
                <a:schemeClr val="bg1">
                  <a:lumMod val="7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fontAlgn="base" latinLnBrk="0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ko-KR" sz="600" b="1" kern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?</a:t>
              </a:r>
              <a:endParaRPr kumimoji="1" lang="ko-KR" altLang="en-US" sz="600" b="1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213" name="TextBox 212">
              <a:extLst>
                <a:ext uri="{FF2B5EF4-FFF2-40B4-BE49-F238E27FC236}">
                  <a16:creationId xmlns:a16="http://schemas.microsoft.com/office/drawing/2014/main" xmlns="" id="{0C96C875-C47F-4F5B-B4C1-F9D666A7BD9D}"/>
                </a:ext>
              </a:extLst>
            </p:cNvPr>
            <p:cNvSpPr txBox="1"/>
            <p:nvPr/>
          </p:nvSpPr>
          <p:spPr>
            <a:xfrm>
              <a:off x="1046318" y="3232453"/>
              <a:ext cx="1020646" cy="180425"/>
            </a:xfrm>
            <a:prstGeom prst="rect">
              <a:avLst/>
            </a:prstGeom>
            <a:noFill/>
            <a:ln w="3175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none" lIns="108000" tIns="36000" rIns="36000" bIns="3600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r>
                <a:rPr lang="en-US" altLang="ko-KR" sz="700" b="1" strike="sngStrike">
                  <a:solidFill>
                    <a:schemeClr val="bg1">
                      <a:lumMod val="75000"/>
                    </a:schemeClr>
                  </a:solidFill>
                  <a:latin typeface="맑은 고딕" panose="020B0503020000020004" pitchFamily="50" charset="-127"/>
                </a:rPr>
                <a:t>500,000</a:t>
              </a:r>
              <a:r>
                <a:rPr lang="ko-KR" altLang="en-US" sz="700" b="1" strike="sngStrike">
                  <a:solidFill>
                    <a:schemeClr val="bg1">
                      <a:lumMod val="75000"/>
                    </a:schemeClr>
                  </a:solidFill>
                  <a:latin typeface="맑은 고딕" panose="020B0503020000020004" pitchFamily="50" charset="-127"/>
                </a:rPr>
                <a:t>원</a:t>
              </a:r>
              <a:r>
                <a:rPr lang="ko-KR" altLang="en-US" sz="700" b="1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 </a:t>
              </a:r>
              <a:r>
                <a:rPr lang="en-US" altLang="ko-KR" sz="700" b="1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390,910</a:t>
              </a:r>
              <a:r>
                <a:rPr lang="ko-KR" altLang="en-US" sz="700" b="1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원</a:t>
              </a:r>
              <a:endParaRPr lang="en-US" altLang="ko-KR" sz="700" b="1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214" name="TextBox 213">
              <a:extLst>
                <a:ext uri="{FF2B5EF4-FFF2-40B4-BE49-F238E27FC236}">
                  <a16:creationId xmlns="" xmlns:a16="http://schemas.microsoft.com/office/drawing/2014/main" id="{0C96C875-C47F-4F5B-B4C1-F9D666A7BD9D}"/>
                </a:ext>
              </a:extLst>
            </p:cNvPr>
            <p:cNvSpPr txBox="1"/>
            <p:nvPr/>
          </p:nvSpPr>
          <p:spPr>
            <a:xfrm>
              <a:off x="1046318" y="3430240"/>
              <a:ext cx="1678230" cy="180425"/>
            </a:xfrm>
            <a:prstGeom prst="rect">
              <a:avLst/>
            </a:prstGeom>
            <a:noFill/>
            <a:ln w="3175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none" lIns="756000" tIns="36000" rIns="108000" bIns="36000" numCol="1" rtlCol="0" anchor="ctr" anchorCtr="0" compatLnSpc="1">
              <a:prstTxWarp prst="textNoShape">
                <a:avLst/>
              </a:prstTxWarp>
              <a:spAutoFit/>
            </a:bodyPr>
            <a:lstStyle>
              <a:defPPr>
                <a:defRPr lang="ko-KR"/>
              </a:defPPr>
              <a:lvl1pPr>
                <a:defRPr sz="800">
                  <a:solidFill>
                    <a:prstClr val="black">
                      <a:lumMod val="75000"/>
                      <a:lumOff val="25000"/>
                    </a:prstClr>
                  </a:solidFill>
                  <a:latin typeface="맑은 고딕" panose="020B0503020000020004" pitchFamily="50" charset="-127"/>
                </a:defRPr>
              </a:lvl1pPr>
            </a:lstStyle>
            <a:p>
              <a:r>
                <a:rPr lang="en-US" altLang="ko-KR" sz="700" smtClean="0">
                  <a:solidFill>
                    <a:srgbClr val="C00000"/>
                  </a:solidFill>
                </a:rPr>
                <a:t>01/14(</a:t>
              </a:r>
              <a:r>
                <a:rPr lang="ko-KR" altLang="en-US" sz="700" smtClean="0">
                  <a:solidFill>
                    <a:srgbClr val="C00000"/>
                  </a:solidFill>
                </a:rPr>
                <a:t>수</a:t>
              </a:r>
              <a:r>
                <a:rPr lang="en-US" altLang="ko-KR" sz="700" smtClean="0">
                  <a:solidFill>
                    <a:srgbClr val="C00000"/>
                  </a:solidFill>
                </a:rPr>
                <a:t>)</a:t>
              </a:r>
              <a:r>
                <a:rPr lang="en-US" altLang="ko-KR" sz="700" smtClean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 </a:t>
              </a:r>
              <a:r>
                <a:rPr lang="ko-KR" altLang="en-US" sz="700" smtClean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도착예정</a:t>
              </a:r>
              <a:endParaRPr lang="ko-KR" altLang="en-US" sz="700" dirty="0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</p:txBody>
        </p:sp>
        <p:sp>
          <p:nvSpPr>
            <p:cNvPr id="215" name="직사각형 214"/>
            <p:cNvSpPr/>
            <p:nvPr/>
          </p:nvSpPr>
          <p:spPr>
            <a:xfrm>
              <a:off x="1154288" y="3448452"/>
              <a:ext cx="576000" cy="144000"/>
            </a:xfrm>
            <a:prstGeom prst="rect">
              <a:avLst/>
            </a:prstGeom>
            <a:gradFill flip="none" rotWithShape="1">
              <a:gsLst>
                <a:gs pos="0">
                  <a:schemeClr val="accent5">
                    <a:lumMod val="75000"/>
                  </a:schemeClr>
                </a:gs>
                <a:gs pos="50000">
                  <a:schemeClr val="accent5"/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0" scaled="1"/>
              <a:tileRect/>
            </a:gra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600" smtClean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매장상품배송</a:t>
              </a:r>
              <a:endParaRPr lang="ko-KR" altLang="en-US" sz="60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cxnSp>
          <p:nvCxnSpPr>
            <p:cNvPr id="216" name="직선 연결선 215"/>
            <p:cNvCxnSpPr/>
            <p:nvPr/>
          </p:nvCxnSpPr>
          <p:spPr>
            <a:xfrm>
              <a:off x="145399" y="3682452"/>
              <a:ext cx="2878189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217" name="TextBox 216">
              <a:extLst>
                <a:ext uri="{FF2B5EF4-FFF2-40B4-BE49-F238E27FC236}">
                  <a16:creationId xmlns:a16="http://schemas.microsoft.com/office/drawing/2014/main" xmlns="" id="{0C96C875-C47F-4F5B-B4C1-F9D666A7BD9D}"/>
                </a:ext>
              </a:extLst>
            </p:cNvPr>
            <p:cNvSpPr txBox="1"/>
            <p:nvPr/>
          </p:nvSpPr>
          <p:spPr>
            <a:xfrm>
              <a:off x="324015" y="5124201"/>
              <a:ext cx="534773" cy="206241"/>
            </a:xfrm>
            <a:prstGeom prst="rect">
              <a:avLst/>
            </a:prstGeom>
            <a:noFill/>
            <a:ln w="3175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none" lIns="36000" tIns="36000" rIns="72000" bIns="36000" numCol="1" rtlCol="0" anchor="ctr" anchorCtr="0" compatLnSpc="1">
              <a:prstTxWarp prst="textNoShape">
                <a:avLst/>
              </a:prstTxWarp>
              <a:spAutoFit/>
            </a:bodyPr>
            <a:lstStyle/>
            <a:p>
              <a:r>
                <a:rPr lang="ko-KR" altLang="en-US" sz="700" b="1" smtClean="0">
                  <a:solidFill>
                    <a:prstClr val="black">
                      <a:lumMod val="75000"/>
                      <a:lumOff val="25000"/>
                    </a:prstClr>
                  </a:solidFill>
                  <a:latin typeface="맑은 고딕" panose="020B0503020000020004" pitchFamily="50" charset="-127"/>
                </a:rPr>
                <a:t>쿠폰혜택</a:t>
              </a:r>
              <a:endParaRPr lang="ko-KR" altLang="en-US" sz="700" b="1" dirty="0"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</a:endParaRPr>
            </a:p>
          </p:txBody>
        </p:sp>
        <p:grpSp>
          <p:nvGrpSpPr>
            <p:cNvPr id="218" name="그룹 217"/>
            <p:cNvGrpSpPr/>
            <p:nvPr/>
          </p:nvGrpSpPr>
          <p:grpSpPr>
            <a:xfrm>
              <a:off x="1104163" y="5132996"/>
              <a:ext cx="1754179" cy="188651"/>
              <a:chOff x="10008237" y="4450079"/>
              <a:chExt cx="1755283" cy="188651"/>
            </a:xfrm>
          </p:grpSpPr>
          <p:sp>
            <p:nvSpPr>
              <p:cNvPr id="236" name="타원 235"/>
              <p:cNvSpPr/>
              <p:nvPr/>
            </p:nvSpPr>
            <p:spPr>
              <a:xfrm>
                <a:off x="10008237" y="4472404"/>
                <a:ext cx="144000" cy="144000"/>
              </a:xfrm>
              <a:prstGeom prst="ellipse">
                <a:avLst/>
              </a:prstGeom>
              <a:solidFill>
                <a:schemeClr val="bg1"/>
              </a:solidFill>
              <a:ln w="3175">
                <a:solidFill>
                  <a:srgbClr val="DC283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700" smtClean="0">
                    <a:solidFill>
                      <a:srgbClr val="DC2832"/>
                    </a:solidFill>
                    <a:latin typeface="맑은 고딕" panose="020B0503020000020004" pitchFamily="50" charset="-127"/>
                  </a:rPr>
                  <a:t>!</a:t>
                </a:r>
                <a:endParaRPr lang="ko-KR" altLang="en-US" sz="700" dirty="0">
                  <a:solidFill>
                    <a:srgbClr val="DC2832"/>
                  </a:solidFill>
                  <a:latin typeface="맑은 고딕" panose="020B0503020000020004" pitchFamily="50" charset="-127"/>
                </a:endParaRPr>
              </a:p>
            </p:txBody>
          </p:sp>
          <p:sp>
            <p:nvSpPr>
              <p:cNvPr id="237" name="TextBox 236">
                <a:extLst>
                  <a:ext uri="{FF2B5EF4-FFF2-40B4-BE49-F238E27FC236}">
                    <a16:creationId xmlns:a16="http://schemas.microsoft.com/office/drawing/2014/main" xmlns="" id="{0C96C875-C47F-4F5B-B4C1-F9D666A7BD9D}"/>
                  </a:ext>
                </a:extLst>
              </p:cNvPr>
              <p:cNvSpPr txBox="1"/>
              <p:nvPr/>
            </p:nvSpPr>
            <p:spPr>
              <a:xfrm>
                <a:off x="10154048" y="4450079"/>
                <a:ext cx="1609472" cy="188651"/>
              </a:xfrm>
              <a:prstGeom prst="rect">
                <a:avLst/>
              </a:prstGeom>
              <a:noFill/>
              <a:ln w="3175" cap="flat" cmpd="sng" algn="ctr">
                <a:noFill/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txBody>
              <a:bodyPr vert="horz" wrap="none" lIns="36000" tIns="36000" rIns="36000" bIns="36000" numCol="1" rtlCol="0" anchor="ctr" anchorCtr="0" compatLnSpc="1">
                <a:prstTxWarp prst="textNoShape">
                  <a:avLst/>
                </a:prstTxWarp>
                <a:spAutoFit/>
              </a:bodyPr>
              <a:lstStyle/>
              <a:p>
                <a:r>
                  <a:rPr lang="ko-KR" altLang="en-US" sz="600" smtClean="0">
                    <a:solidFill>
                      <a:srgbClr val="DC2832"/>
                    </a:solidFill>
                    <a:latin typeface="맑은 고딕" panose="020B0503020000020004" pitchFamily="50" charset="-127"/>
                  </a:rPr>
                  <a:t>추가 혜택 확인 후 직접 적용해 주세요</a:t>
                </a:r>
                <a:r>
                  <a:rPr lang="en-US" altLang="ko-KR" sz="600" smtClean="0">
                    <a:solidFill>
                      <a:srgbClr val="DC2832"/>
                    </a:solidFill>
                    <a:latin typeface="맑은 고딕" panose="020B0503020000020004" pitchFamily="50" charset="-127"/>
                  </a:rPr>
                  <a:t>.</a:t>
                </a:r>
                <a:endParaRPr lang="ko-KR" altLang="en-US" sz="600" dirty="0">
                  <a:solidFill>
                    <a:srgbClr val="DC2832"/>
                  </a:solidFill>
                  <a:latin typeface="맑은 고딕" panose="020B0503020000020004" pitchFamily="50" charset="-127"/>
                </a:endParaRPr>
              </a:p>
            </p:txBody>
          </p:sp>
        </p:grpSp>
        <p:sp>
          <p:nvSpPr>
            <p:cNvPr id="219" name="TextBox 218">
              <a:extLst>
                <a:ext uri="{FF2B5EF4-FFF2-40B4-BE49-F238E27FC236}">
                  <a16:creationId xmlns:a16="http://schemas.microsoft.com/office/drawing/2014/main" xmlns="" id="{0C96C875-C47F-4F5B-B4C1-F9D666A7BD9D}"/>
                </a:ext>
              </a:extLst>
            </p:cNvPr>
            <p:cNvSpPr txBox="1"/>
            <p:nvPr/>
          </p:nvSpPr>
          <p:spPr>
            <a:xfrm>
              <a:off x="324015" y="5411407"/>
              <a:ext cx="529872" cy="206241"/>
            </a:xfrm>
            <a:prstGeom prst="rect">
              <a:avLst/>
            </a:prstGeom>
            <a:noFill/>
            <a:ln w="3175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none" lIns="36000" tIns="36000" rIns="36000" bIns="36000" numCol="1" rtlCol="0" anchor="ctr" anchorCtr="0" compatLnSpc="1">
              <a:prstTxWarp prst="textNoShape">
                <a:avLst/>
              </a:prstTxWarp>
              <a:spAutoFit/>
            </a:bodyPr>
            <a:lstStyle/>
            <a:p>
              <a:r>
                <a:rPr lang="ko-KR" altLang="en-US" sz="700" smtClean="0">
                  <a:solidFill>
                    <a:prstClr val="black">
                      <a:lumMod val="75000"/>
                      <a:lumOff val="25000"/>
                    </a:prstClr>
                  </a:solidFill>
                  <a:latin typeface="맑은 고딕" panose="020B0503020000020004" pitchFamily="50" charset="-127"/>
                </a:rPr>
                <a:t>할인 쿠폰</a:t>
              </a:r>
              <a:endParaRPr lang="ko-KR" altLang="en-US" sz="700" dirty="0"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220" name="모서리가 둥근 직사각형 219">
              <a:extLst>
                <a:ext uri="{FF2B5EF4-FFF2-40B4-BE49-F238E27FC236}">
                  <a16:creationId xmlns:a16="http://schemas.microsoft.com/office/drawing/2014/main" xmlns="" id="{19FD5FA0-B111-4EF7-BC86-418441928DD3}"/>
                </a:ext>
              </a:extLst>
            </p:cNvPr>
            <p:cNvSpPr/>
            <p:nvPr/>
          </p:nvSpPr>
          <p:spPr>
            <a:xfrm>
              <a:off x="2482656" y="5370528"/>
              <a:ext cx="359774" cy="252000"/>
            </a:xfrm>
            <a:prstGeom prst="roundRect">
              <a:avLst/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>
              <a:noAutofit/>
            </a:bodyPr>
            <a:lstStyle/>
            <a:p>
              <a:pPr algn="ctr"/>
              <a:r>
                <a:rPr lang="ko-KR" altLang="en-US" sz="700" smtClean="0">
                  <a:solidFill>
                    <a:prstClr val="black">
                      <a:lumMod val="75000"/>
                      <a:lumOff val="25000"/>
                    </a:prstClr>
                  </a:solidFill>
                  <a:latin typeface="맑은 고딕" panose="020B0503020000020004" pitchFamily="50" charset="-127"/>
                </a:rPr>
                <a:t>변경</a:t>
              </a:r>
              <a:endParaRPr lang="ko-KR" altLang="en-US" sz="700"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221" name="TextBox 220">
              <a:extLst>
                <a:ext uri="{FF2B5EF4-FFF2-40B4-BE49-F238E27FC236}">
                  <a16:creationId xmlns:a16="http://schemas.microsoft.com/office/drawing/2014/main" xmlns="" id="{0C96C875-C47F-4F5B-B4C1-F9D666A7BD9D}"/>
                </a:ext>
              </a:extLst>
            </p:cNvPr>
            <p:cNvSpPr txBox="1"/>
            <p:nvPr/>
          </p:nvSpPr>
          <p:spPr>
            <a:xfrm>
              <a:off x="1725902" y="5411407"/>
              <a:ext cx="756410" cy="206241"/>
            </a:xfrm>
            <a:prstGeom prst="rect">
              <a:avLst/>
            </a:prstGeom>
            <a:noFill/>
            <a:ln w="3175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none" lIns="108000" tIns="36000" rIns="108000" bIns="36000" numCol="1" rtlCol="0" anchor="ctr" anchorCtr="0" compatLnSpc="1">
              <a:prstTxWarp prst="textNoShape">
                <a:avLst/>
              </a:prstTxWarp>
              <a:spAutoFit/>
            </a:bodyPr>
            <a:lstStyle/>
            <a:p>
              <a:pPr algn="r"/>
              <a:r>
                <a:rPr lang="en-US" altLang="ko-KR" sz="700" smtClean="0">
                  <a:solidFill>
                    <a:prstClr val="black">
                      <a:lumMod val="75000"/>
                      <a:lumOff val="25000"/>
                    </a:prstClr>
                  </a:solidFill>
                  <a:latin typeface="맑은 고딕" panose="020B0503020000020004" pitchFamily="50" charset="-127"/>
                </a:rPr>
                <a:t>-109,090</a:t>
              </a:r>
              <a:r>
                <a:rPr lang="ko-KR" altLang="en-US" sz="700" smtClean="0">
                  <a:solidFill>
                    <a:prstClr val="black">
                      <a:lumMod val="75000"/>
                      <a:lumOff val="25000"/>
                    </a:prstClr>
                  </a:solidFill>
                  <a:latin typeface="맑은 고딕" panose="020B0503020000020004" pitchFamily="50" charset="-127"/>
                </a:rPr>
                <a:t>원</a:t>
              </a:r>
              <a:endParaRPr lang="ko-KR" altLang="en-US" sz="700" dirty="0"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</a:endParaRPr>
            </a:p>
          </p:txBody>
        </p:sp>
        <p:cxnSp>
          <p:nvCxnSpPr>
            <p:cNvPr id="222" name="직선 연결선 221"/>
            <p:cNvCxnSpPr/>
            <p:nvPr/>
          </p:nvCxnSpPr>
          <p:spPr>
            <a:xfrm>
              <a:off x="145399" y="5047929"/>
              <a:ext cx="2878189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223" name="직사각형 222">
              <a:extLst>
                <a:ext uri="{FF2B5EF4-FFF2-40B4-BE49-F238E27FC236}">
                  <a16:creationId xmlns:a16="http://schemas.microsoft.com/office/drawing/2014/main" xmlns="" id="{8392E679-C745-496E-8916-C656AE57791E}"/>
                </a:ext>
              </a:extLst>
            </p:cNvPr>
            <p:cNvSpPr/>
            <p:nvPr/>
          </p:nvSpPr>
          <p:spPr>
            <a:xfrm>
              <a:off x="324015" y="3825263"/>
              <a:ext cx="719547" cy="900000"/>
            </a:xfrm>
            <a:prstGeom prst="rect">
              <a:avLst/>
            </a:prstGeom>
            <a:pattFill prst="openDmnd">
              <a:fgClr>
                <a:schemeClr val="bg1">
                  <a:lumMod val="75000"/>
                </a:schemeClr>
              </a:fgClr>
              <a:bgClr>
                <a:schemeClr val="bg1"/>
              </a:bgClr>
            </a:patt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700" smtClean="0">
                  <a:solidFill>
                    <a:prstClr val="black">
                      <a:lumMod val="75000"/>
                      <a:lumOff val="25000"/>
                    </a:prstClr>
                  </a:solidFill>
                  <a:latin typeface="맑은 고딕" panose="020B0503020000020004" pitchFamily="50" charset="-127"/>
                </a:rPr>
                <a:t>PROD</a:t>
              </a:r>
            </a:p>
            <a:p>
              <a:pPr algn="ctr"/>
              <a:r>
                <a:rPr lang="en-US" altLang="ko-KR" sz="700" smtClean="0">
                  <a:solidFill>
                    <a:prstClr val="black">
                      <a:lumMod val="75000"/>
                      <a:lumOff val="25000"/>
                    </a:prstClr>
                  </a:solidFill>
                  <a:latin typeface="맑은 고딕" panose="020B0503020000020004" pitchFamily="50" charset="-127"/>
                </a:rPr>
                <a:t>IMG</a:t>
              </a:r>
              <a:endParaRPr lang="ko-KR" altLang="en-US" sz="700" dirty="0"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224" name="TextBox 223">
              <a:extLst>
                <a:ext uri="{FF2B5EF4-FFF2-40B4-BE49-F238E27FC236}">
                  <a16:creationId xmlns:a16="http://schemas.microsoft.com/office/drawing/2014/main" xmlns="" id="{0C96C875-C47F-4F5B-B4C1-F9D666A7BD9D}"/>
                </a:ext>
              </a:extLst>
            </p:cNvPr>
            <p:cNvSpPr txBox="1"/>
            <p:nvPr/>
          </p:nvSpPr>
          <p:spPr>
            <a:xfrm>
              <a:off x="1046193" y="3825263"/>
              <a:ext cx="1800000" cy="553998"/>
            </a:xfrm>
            <a:prstGeom prst="rect">
              <a:avLst/>
            </a:prstGeom>
            <a:noFill/>
            <a:ln w="3175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square" lIns="108000" tIns="0" rIns="108000" bIns="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ko-KR" sz="600" b="1">
                  <a:solidFill>
                    <a:prstClr val="black">
                      <a:lumMod val="75000"/>
                      <a:lumOff val="25000"/>
                    </a:prstClr>
                  </a:solidFill>
                  <a:latin typeface="맑은 고딕" panose="020B0503020000020004" pitchFamily="50" charset="-127"/>
                </a:rPr>
                <a:t>JILLSTUART NEW YORK WOMEN</a:t>
              </a:r>
              <a:endParaRPr lang="en-US" altLang="ko-KR" sz="600" b="1" smtClean="0"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</a:endParaRPr>
            </a:p>
            <a:p>
              <a:pPr>
                <a:lnSpc>
                  <a:spcPct val="150000"/>
                </a:lnSpc>
              </a:pPr>
              <a:r>
                <a:rPr lang="en-US" altLang="ko-KR" sz="600" smtClean="0">
                  <a:solidFill>
                    <a:prstClr val="black">
                      <a:lumMod val="75000"/>
                      <a:lumOff val="25000"/>
                    </a:prstClr>
                  </a:solidFill>
                  <a:latin typeface="맑은 고딕" panose="020B0503020000020004" pitchFamily="50" charset="-127"/>
                </a:rPr>
                <a:t>[25FW] [</a:t>
              </a:r>
              <a:r>
                <a:rPr lang="ko-KR" altLang="en-US" sz="600">
                  <a:solidFill>
                    <a:prstClr val="black">
                      <a:lumMod val="75000"/>
                      <a:lumOff val="25000"/>
                    </a:prstClr>
                  </a:solidFill>
                  <a:latin typeface="맑은 고딕" panose="020B0503020000020004" pitchFamily="50" charset="-127"/>
                </a:rPr>
                <a:t>시즌오프</a:t>
              </a:r>
              <a:r>
                <a:rPr lang="en-US" altLang="ko-KR" sz="600">
                  <a:solidFill>
                    <a:prstClr val="black">
                      <a:lumMod val="75000"/>
                      <a:lumOff val="25000"/>
                    </a:prstClr>
                  </a:solidFill>
                  <a:latin typeface="맑은 고딕" panose="020B0503020000020004" pitchFamily="50" charset="-127"/>
                </a:rPr>
                <a:t>]</a:t>
              </a:r>
              <a:r>
                <a:rPr lang="ko-KR" altLang="en-US" sz="600">
                  <a:solidFill>
                    <a:prstClr val="black">
                      <a:lumMod val="75000"/>
                      <a:lumOff val="25000"/>
                    </a:prstClr>
                  </a:solidFill>
                  <a:latin typeface="맑은 고딕" panose="020B0503020000020004" pitchFamily="50" charset="-127"/>
                </a:rPr>
                <a:t>브라운 </a:t>
              </a:r>
              <a:r>
                <a:rPr lang="en-US" altLang="ko-KR" sz="600">
                  <a:solidFill>
                    <a:prstClr val="black">
                      <a:lumMod val="75000"/>
                      <a:lumOff val="25000"/>
                    </a:prstClr>
                  </a:solidFill>
                  <a:latin typeface="맑은 고딕" panose="020B0503020000020004" pitchFamily="50" charset="-127"/>
                </a:rPr>
                <a:t>Faux </a:t>
              </a:r>
              <a:r>
                <a:rPr lang="ko-KR" altLang="en-US" sz="600">
                  <a:solidFill>
                    <a:prstClr val="black">
                      <a:lumMod val="75000"/>
                      <a:lumOff val="25000"/>
                    </a:prstClr>
                  </a:solidFill>
                  <a:latin typeface="맑은 고딕" panose="020B0503020000020004" pitchFamily="50" charset="-127"/>
                </a:rPr>
                <a:t>페이크퍼 포켓 후드 밍크 무스탕 </a:t>
              </a:r>
              <a:r>
                <a:rPr lang="ko-KR" altLang="en-US" sz="600" smtClean="0">
                  <a:solidFill>
                    <a:prstClr val="black">
                      <a:lumMod val="75000"/>
                      <a:lumOff val="25000"/>
                    </a:prstClr>
                  </a:solidFill>
                  <a:latin typeface="맑은 고딕" panose="020B0503020000020004" pitchFamily="50" charset="-127"/>
                </a:rPr>
                <a:t>점퍼</a:t>
              </a:r>
              <a:endParaRPr lang="en-US" altLang="ko-KR" sz="600" smtClean="0"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600" smtClean="0">
                  <a:solidFill>
                    <a:schemeClr val="tx1">
                      <a:lumMod val="50000"/>
                      <a:lumOff val="50000"/>
                    </a:schemeClr>
                  </a:solidFill>
                  <a:latin typeface="맑은 고딕" panose="020B0503020000020004" pitchFamily="50" charset="-127"/>
                </a:rPr>
                <a:t>크림 </a:t>
              </a:r>
              <a:r>
                <a:rPr lang="en-US" altLang="ko-KR" sz="600" smtClean="0">
                  <a:solidFill>
                    <a:schemeClr val="tx1">
                      <a:lumMod val="50000"/>
                      <a:lumOff val="50000"/>
                    </a:schemeClr>
                  </a:solidFill>
                  <a:latin typeface="맑은 고딕" panose="020B0503020000020004" pitchFamily="50" charset="-127"/>
                </a:rPr>
                <a:t>/ 100 / 1</a:t>
              </a:r>
              <a:r>
                <a:rPr lang="ko-KR" altLang="en-US" sz="600" smtClean="0">
                  <a:solidFill>
                    <a:schemeClr val="tx1">
                      <a:lumMod val="50000"/>
                      <a:lumOff val="50000"/>
                    </a:schemeClr>
                  </a:solidFill>
                  <a:latin typeface="맑은 고딕" panose="020B0503020000020004" pitchFamily="50" charset="-127"/>
                </a:rPr>
                <a:t>개</a:t>
              </a:r>
              <a:endParaRPr lang="ko-KR" altLang="en-US" sz="600">
                <a:solidFill>
                  <a:schemeClr val="tx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225" name="사각형: 둥근 모서리 393">
              <a:extLst>
                <a:ext uri="{FF2B5EF4-FFF2-40B4-BE49-F238E27FC236}">
                  <a16:creationId xmlns="" xmlns:a16="http://schemas.microsoft.com/office/drawing/2014/main" id="{64F9493E-5C70-429B-84F6-3004F8930EFB}"/>
                </a:ext>
              </a:extLst>
            </p:cNvPr>
            <p:cNvSpPr/>
            <p:nvPr/>
          </p:nvSpPr>
          <p:spPr bwMode="auto">
            <a:xfrm>
              <a:off x="2068835" y="4436287"/>
              <a:ext cx="143909" cy="144000"/>
            </a:xfrm>
            <a:prstGeom prst="ellipse">
              <a:avLst/>
            </a:prstGeom>
            <a:solidFill>
              <a:schemeClr val="bg1"/>
            </a:solidFill>
            <a:ln w="3175" cap="flat" cmpd="sng" algn="ctr">
              <a:solidFill>
                <a:schemeClr val="bg1">
                  <a:lumMod val="7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fontAlgn="base" latinLnBrk="0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ko-KR" sz="600" b="1" kern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?</a:t>
              </a:r>
              <a:endParaRPr kumimoji="1" lang="ko-KR" altLang="en-US" sz="600" b="1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226" name="TextBox 225">
              <a:extLst>
                <a:ext uri="{FF2B5EF4-FFF2-40B4-BE49-F238E27FC236}">
                  <a16:creationId xmlns:a16="http://schemas.microsoft.com/office/drawing/2014/main" xmlns="" id="{0C96C875-C47F-4F5B-B4C1-F9D666A7BD9D}"/>
                </a:ext>
              </a:extLst>
            </p:cNvPr>
            <p:cNvSpPr txBox="1"/>
            <p:nvPr/>
          </p:nvSpPr>
          <p:spPr>
            <a:xfrm>
              <a:off x="1046318" y="4418075"/>
              <a:ext cx="1020646" cy="180425"/>
            </a:xfrm>
            <a:prstGeom prst="rect">
              <a:avLst/>
            </a:prstGeom>
            <a:noFill/>
            <a:ln w="3175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none" lIns="108000" tIns="36000" rIns="36000" bIns="3600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r>
                <a:rPr lang="en-US" altLang="ko-KR" sz="700" b="1" strike="sngStrike">
                  <a:solidFill>
                    <a:schemeClr val="bg1">
                      <a:lumMod val="75000"/>
                    </a:schemeClr>
                  </a:solidFill>
                  <a:latin typeface="맑은 고딕" panose="020B0503020000020004" pitchFamily="50" charset="-127"/>
                </a:rPr>
                <a:t>500,000</a:t>
              </a:r>
              <a:r>
                <a:rPr lang="ko-KR" altLang="en-US" sz="700" b="1" strike="sngStrike">
                  <a:solidFill>
                    <a:schemeClr val="bg1">
                      <a:lumMod val="75000"/>
                    </a:schemeClr>
                  </a:solidFill>
                  <a:latin typeface="맑은 고딕" panose="020B0503020000020004" pitchFamily="50" charset="-127"/>
                </a:rPr>
                <a:t>원</a:t>
              </a:r>
              <a:r>
                <a:rPr lang="ko-KR" altLang="en-US" sz="700" b="1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 </a:t>
              </a:r>
              <a:r>
                <a:rPr lang="en-US" altLang="ko-KR" sz="700" b="1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390,910</a:t>
              </a:r>
              <a:r>
                <a:rPr lang="ko-KR" altLang="en-US" sz="700" b="1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원</a:t>
              </a:r>
              <a:endParaRPr lang="en-US" altLang="ko-KR" sz="700" b="1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endParaRPr>
            </a:p>
          </p:txBody>
        </p:sp>
        <p:grpSp>
          <p:nvGrpSpPr>
            <p:cNvPr id="227" name="그룹 226"/>
            <p:cNvGrpSpPr/>
            <p:nvPr/>
          </p:nvGrpSpPr>
          <p:grpSpPr>
            <a:xfrm>
              <a:off x="1151755" y="4778998"/>
              <a:ext cx="430965" cy="107722"/>
              <a:chOff x="5616187" y="3122638"/>
              <a:chExt cx="430965" cy="107722"/>
            </a:xfrm>
          </p:grpSpPr>
          <p:grpSp>
            <p:nvGrpSpPr>
              <p:cNvPr id="229" name="그룹 228"/>
              <p:cNvGrpSpPr/>
              <p:nvPr/>
            </p:nvGrpSpPr>
            <p:grpSpPr>
              <a:xfrm>
                <a:off x="5616187" y="3140468"/>
                <a:ext cx="126000" cy="72000"/>
                <a:chOff x="4549384" y="3972353"/>
                <a:chExt cx="180000" cy="108000"/>
              </a:xfrm>
            </p:grpSpPr>
            <p:sp>
              <p:nvSpPr>
                <p:cNvPr id="231" name="직사각형 230"/>
                <p:cNvSpPr/>
                <p:nvPr/>
              </p:nvSpPr>
              <p:spPr>
                <a:xfrm>
                  <a:off x="4549384" y="3972353"/>
                  <a:ext cx="35644" cy="108000"/>
                </a:xfrm>
                <a:prstGeom prst="rect">
                  <a:avLst/>
                </a:prstGeom>
                <a:solidFill>
                  <a:schemeClr val="tx1">
                    <a:lumMod val="75000"/>
                    <a:lumOff val="25000"/>
                  </a:schemeClr>
                </a:solidFill>
                <a:ln w="3175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endParaRPr>
                </a:p>
              </p:txBody>
            </p:sp>
            <p:sp>
              <p:nvSpPr>
                <p:cNvPr id="232" name="타원 231"/>
                <p:cNvSpPr/>
                <p:nvPr/>
              </p:nvSpPr>
              <p:spPr>
                <a:xfrm>
                  <a:off x="4595721" y="4044353"/>
                  <a:ext cx="35644" cy="36000"/>
                </a:xfrm>
                <a:prstGeom prst="ellipse">
                  <a:avLst/>
                </a:prstGeom>
                <a:solidFill>
                  <a:schemeClr val="tx1">
                    <a:lumMod val="75000"/>
                    <a:lumOff val="25000"/>
                  </a:schemeClr>
                </a:solidFill>
                <a:ln w="3175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endParaRPr>
                </a:p>
              </p:txBody>
            </p:sp>
            <p:sp>
              <p:nvSpPr>
                <p:cNvPr id="233" name="직사각형 232"/>
                <p:cNvSpPr/>
                <p:nvPr/>
              </p:nvSpPr>
              <p:spPr>
                <a:xfrm>
                  <a:off x="4647404" y="3972353"/>
                  <a:ext cx="35644" cy="108000"/>
                </a:xfrm>
                <a:prstGeom prst="rect">
                  <a:avLst/>
                </a:prstGeom>
                <a:solidFill>
                  <a:schemeClr val="tx1">
                    <a:lumMod val="75000"/>
                    <a:lumOff val="25000"/>
                  </a:schemeClr>
                </a:solidFill>
                <a:ln w="3175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endParaRPr>
                </a:p>
              </p:txBody>
            </p:sp>
            <p:sp>
              <p:nvSpPr>
                <p:cNvPr id="234" name="타원 233"/>
                <p:cNvSpPr/>
                <p:nvPr/>
              </p:nvSpPr>
              <p:spPr>
                <a:xfrm>
                  <a:off x="4693740" y="3972353"/>
                  <a:ext cx="35644" cy="36000"/>
                </a:xfrm>
                <a:prstGeom prst="ellipse">
                  <a:avLst/>
                </a:prstGeom>
                <a:solidFill>
                  <a:schemeClr val="tx1">
                    <a:lumMod val="75000"/>
                    <a:lumOff val="25000"/>
                  </a:schemeClr>
                </a:solidFill>
                <a:ln w="3175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endParaRPr>
                </a:p>
              </p:txBody>
            </p:sp>
            <p:sp>
              <p:nvSpPr>
                <p:cNvPr id="235" name="타원 234"/>
                <p:cNvSpPr/>
                <p:nvPr/>
              </p:nvSpPr>
              <p:spPr>
                <a:xfrm>
                  <a:off x="4693740" y="4026353"/>
                  <a:ext cx="35644" cy="36000"/>
                </a:xfrm>
                <a:prstGeom prst="ellipse">
                  <a:avLst/>
                </a:prstGeom>
                <a:solidFill>
                  <a:schemeClr val="tx1">
                    <a:lumMod val="75000"/>
                    <a:lumOff val="25000"/>
                  </a:schemeClr>
                </a:solidFill>
                <a:ln w="3175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endParaRPr>
                </a:p>
              </p:txBody>
            </p:sp>
          </p:grpSp>
          <p:sp>
            <p:nvSpPr>
              <p:cNvPr id="230" name="TextBox 229"/>
              <p:cNvSpPr txBox="1"/>
              <p:nvPr/>
            </p:nvSpPr>
            <p:spPr>
              <a:xfrm>
                <a:off x="5777848" y="3122638"/>
                <a:ext cx="269304" cy="107722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spAutoFit/>
              </a:bodyPr>
              <a:lstStyle/>
              <a:p>
                <a:r>
                  <a:rPr lang="ko-KR" altLang="en-US" sz="700" smtClean="0">
                    <a:solidFill>
                      <a:srgbClr val="C00000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슝배송</a:t>
                </a:r>
                <a:endParaRPr lang="ko-KR" altLang="en-US" sz="700" dirty="0">
                  <a:solidFill>
                    <a:srgbClr val="C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</p:grpSp>
        <p:sp>
          <p:nvSpPr>
            <p:cNvPr id="228" name="TextBox 227">
              <a:extLst>
                <a:ext uri="{FF2B5EF4-FFF2-40B4-BE49-F238E27FC236}">
                  <a16:creationId xmlns="" xmlns:a16="http://schemas.microsoft.com/office/drawing/2014/main" id="{0C96C875-C47F-4F5B-B4C1-F9D666A7BD9D}"/>
                </a:ext>
              </a:extLst>
            </p:cNvPr>
            <p:cNvSpPr txBox="1"/>
            <p:nvPr/>
          </p:nvSpPr>
          <p:spPr>
            <a:xfrm>
              <a:off x="1043785" y="4634214"/>
              <a:ext cx="1405935" cy="107722"/>
            </a:xfrm>
            <a:prstGeom prst="rect">
              <a:avLst/>
            </a:prstGeom>
            <a:noFill/>
            <a:ln w="3175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none" lIns="108000" tIns="0" rIns="108000" bIns="0" numCol="1" rtlCol="0" anchor="ctr" anchorCtr="0" compatLnSpc="1">
              <a:prstTxWarp prst="textNoShape">
                <a:avLst/>
              </a:prstTxWarp>
              <a:spAutoFit/>
            </a:bodyPr>
            <a:lstStyle>
              <a:defPPr>
                <a:defRPr lang="ko-KR"/>
              </a:defPPr>
              <a:lvl1pPr>
                <a:defRPr sz="800">
                  <a:solidFill>
                    <a:prstClr val="black">
                      <a:lumMod val="75000"/>
                      <a:lumOff val="25000"/>
                    </a:prstClr>
                  </a:solidFill>
                  <a:latin typeface="맑은 고딕" panose="020B0503020000020004" pitchFamily="50" charset="-127"/>
                </a:defRPr>
              </a:lvl1pPr>
            </a:lstStyle>
            <a:p>
              <a:r>
                <a:rPr lang="en-US" altLang="ko-KR" sz="700" smtClean="0">
                  <a:solidFill>
                    <a:srgbClr val="C00000"/>
                  </a:solidFill>
                </a:rPr>
                <a:t>01/08(</a:t>
              </a:r>
              <a:r>
                <a:rPr lang="ko-KR" altLang="en-US" sz="700" smtClean="0">
                  <a:solidFill>
                    <a:srgbClr val="C00000"/>
                  </a:solidFill>
                </a:rPr>
                <a:t>목</a:t>
              </a:r>
              <a:r>
                <a:rPr lang="en-US" altLang="ko-KR" sz="700" smtClean="0">
                  <a:solidFill>
                    <a:srgbClr val="C00000"/>
                  </a:solidFill>
                </a:rPr>
                <a:t>)</a:t>
              </a:r>
              <a:r>
                <a:rPr lang="en-US" altLang="ko-KR" sz="700" smtClean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 </a:t>
              </a:r>
              <a:r>
                <a:rPr lang="ko-KR" altLang="en-US" sz="700" smtClean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이내 도착확률 </a:t>
              </a:r>
              <a:r>
                <a:rPr lang="en-US" altLang="ko-KR" sz="700" smtClean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92%</a:t>
              </a:r>
              <a:endParaRPr lang="ko-KR" altLang="en-US" sz="700" dirty="0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1847163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사각형: 둥근 모서리 58">
            <a:extLst>
              <a:ext uri="{FF2B5EF4-FFF2-40B4-BE49-F238E27FC236}">
                <a16:creationId xmlns:a16="http://schemas.microsoft.com/office/drawing/2014/main" xmlns="" id="{4B1AE831-C7F5-48DF-9C41-71EEE05E6078}"/>
              </a:ext>
            </a:extLst>
          </p:cNvPr>
          <p:cNvSpPr/>
          <p:nvPr/>
        </p:nvSpPr>
        <p:spPr bwMode="auto">
          <a:xfrm>
            <a:off x="4139681" y="755999"/>
            <a:ext cx="792000" cy="792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28575" cap="flat" cmpd="sng" algn="ctr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  <a:effectLst>
            <a:outerShdw blurRad="25400" dist="12700" dir="2700000" algn="tl" rotWithShape="0">
              <a:prstClr val="black">
                <a:alpha val="60000"/>
              </a:prstClr>
            </a:outerShdw>
          </a:effectLst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87313" indent="-87313" algn="ctr" defTabSz="914400" fontAlgn="base" latinLnBrk="0">
              <a:lnSpc>
                <a:spcPct val="110000"/>
              </a:lnSpc>
              <a:spcBef>
                <a:spcPct val="25000"/>
              </a:spcBef>
              <a:spcAft>
                <a:spcPct val="0"/>
              </a:spcAft>
              <a:defRPr/>
            </a:pPr>
            <a:r>
              <a:rPr kumimoji="1" lang="ko-KR" altLang="en-US" sz="800" b="1" kern="0" smtClean="0">
                <a:solidFill>
                  <a:srgbClr val="000000">
                    <a:lumMod val="75000"/>
                    <a:lumOff val="25000"/>
                  </a:srgbClr>
                </a:solidFill>
                <a:latin typeface="맑은 고딕" panose="020B0503020000020004" pitchFamily="50" charset="-127"/>
              </a:rPr>
              <a:t>결제완료</a:t>
            </a:r>
            <a:endParaRPr kumimoji="1" lang="ko-KR" altLang="en-US" sz="800" b="1" kern="0">
              <a:solidFill>
                <a:srgbClr val="000000">
                  <a:lumMod val="75000"/>
                  <a:lumOff val="25000"/>
                </a:srgb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3" name="사각형: 둥근 모서리 58">
            <a:extLst>
              <a:ext uri="{FF2B5EF4-FFF2-40B4-BE49-F238E27FC236}">
                <a16:creationId xmlns:a16="http://schemas.microsoft.com/office/drawing/2014/main" xmlns="" id="{DDAECA3C-3785-4BD6-8F85-A9301E7DC8F5}"/>
              </a:ext>
            </a:extLst>
          </p:cNvPr>
          <p:cNvSpPr/>
          <p:nvPr/>
        </p:nvSpPr>
        <p:spPr bwMode="auto">
          <a:xfrm>
            <a:off x="6443757" y="755999"/>
            <a:ext cx="792000" cy="792000"/>
          </a:xfrm>
          <a:prstGeom prst="ellipse">
            <a:avLst/>
          </a:prstGeom>
          <a:solidFill>
            <a:schemeClr val="bg1">
              <a:lumMod val="85000"/>
            </a:schemeClr>
          </a:solidFill>
          <a:ln w="28575" cap="flat" cmpd="sng" algn="ctr">
            <a:solidFill>
              <a:schemeClr val="bg1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>
            <a:outerShdw blurRad="25400" dist="12700" dir="2700000" algn="tl" rotWithShape="0">
              <a:prstClr val="black">
                <a:alpha val="60000"/>
              </a:prstClr>
            </a:outerShdw>
          </a:effectLst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87313" indent="-87313" algn="ctr" defTabSz="914400" fontAlgn="base" latinLnBrk="0">
              <a:lnSpc>
                <a:spcPct val="110000"/>
              </a:lnSpc>
              <a:spcBef>
                <a:spcPct val="25000"/>
              </a:spcBef>
              <a:spcAft>
                <a:spcPct val="0"/>
              </a:spcAft>
              <a:defRPr/>
            </a:pPr>
            <a:r>
              <a:rPr kumimoji="1" lang="ko-KR" altLang="en-US" sz="800" b="1" kern="0" smtClean="0">
                <a:solidFill>
                  <a:srgbClr val="000000">
                    <a:lumMod val="75000"/>
                    <a:lumOff val="25000"/>
                  </a:srgbClr>
                </a:solidFill>
                <a:latin typeface="맑은 고딕" panose="020B0503020000020004" pitchFamily="50" charset="-127"/>
              </a:rPr>
              <a:t>상품준비중</a:t>
            </a:r>
            <a:endParaRPr kumimoji="1" lang="ko-KR" altLang="en-US" sz="800" b="1" kern="0">
              <a:solidFill>
                <a:srgbClr val="000000">
                  <a:lumMod val="75000"/>
                  <a:lumOff val="25000"/>
                </a:srgb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4" name="사각형: 둥근 모서리 58">
            <a:extLst>
              <a:ext uri="{FF2B5EF4-FFF2-40B4-BE49-F238E27FC236}">
                <a16:creationId xmlns:a16="http://schemas.microsoft.com/office/drawing/2014/main" xmlns="" id="{229474D4-B0DE-4341-AEE4-87B7BA151B82}"/>
              </a:ext>
            </a:extLst>
          </p:cNvPr>
          <p:cNvSpPr/>
          <p:nvPr/>
        </p:nvSpPr>
        <p:spPr bwMode="auto">
          <a:xfrm>
            <a:off x="8747833" y="755999"/>
            <a:ext cx="792000" cy="792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28575" cap="flat" cmpd="sng" algn="ctr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  <a:effectLst>
            <a:outerShdw blurRad="25400" dist="12700" dir="2700000" algn="tl" rotWithShape="0">
              <a:prstClr val="black">
                <a:alpha val="60000"/>
              </a:prstClr>
            </a:outerShdw>
          </a:effectLst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87313" indent="-87313" algn="ctr" defTabSz="914400" fontAlgn="base" latinLnBrk="0">
              <a:lnSpc>
                <a:spcPct val="110000"/>
              </a:lnSpc>
              <a:spcBef>
                <a:spcPct val="25000"/>
              </a:spcBef>
              <a:spcAft>
                <a:spcPct val="0"/>
              </a:spcAft>
            </a:pPr>
            <a:r>
              <a:rPr kumimoji="1" lang="ko-KR" altLang="en-US" sz="800" b="1" kern="0">
                <a:solidFill>
                  <a:srgbClr val="000000">
                    <a:lumMod val="75000"/>
                    <a:lumOff val="25000"/>
                  </a:srgbClr>
                </a:solidFill>
                <a:latin typeface="맑은 고딕" panose="020B0503020000020004" pitchFamily="50" charset="-127"/>
              </a:rPr>
              <a:t>배송중</a:t>
            </a:r>
          </a:p>
        </p:txBody>
      </p:sp>
      <p:sp>
        <p:nvSpPr>
          <p:cNvPr id="5" name="사각형: 둥근 모서리 58">
            <a:extLst>
              <a:ext uri="{FF2B5EF4-FFF2-40B4-BE49-F238E27FC236}">
                <a16:creationId xmlns:a16="http://schemas.microsoft.com/office/drawing/2014/main" xmlns="" id="{0BB2CC08-66F6-4141-B53C-6BBD8A9B242D}"/>
              </a:ext>
            </a:extLst>
          </p:cNvPr>
          <p:cNvSpPr/>
          <p:nvPr/>
        </p:nvSpPr>
        <p:spPr bwMode="auto">
          <a:xfrm>
            <a:off x="11051906" y="755999"/>
            <a:ext cx="792000" cy="792000"/>
          </a:xfrm>
          <a:prstGeom prst="ellipse">
            <a:avLst/>
          </a:prstGeom>
          <a:solidFill>
            <a:schemeClr val="bg1">
              <a:lumMod val="85000"/>
            </a:schemeClr>
          </a:solidFill>
          <a:ln w="28575" cap="flat" cmpd="sng" algn="ctr">
            <a:solidFill>
              <a:schemeClr val="bg1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>
            <a:outerShdw blurRad="25400" dist="12700" dir="2700000" algn="tl" rotWithShape="0">
              <a:prstClr val="black">
                <a:alpha val="60000"/>
              </a:prstClr>
            </a:outerShdw>
          </a:effectLst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87313" indent="-87313" algn="ctr" defTabSz="914400" fontAlgn="base" latinLnBrk="0">
              <a:lnSpc>
                <a:spcPct val="110000"/>
              </a:lnSpc>
              <a:spcBef>
                <a:spcPct val="25000"/>
              </a:spcBef>
              <a:spcAft>
                <a:spcPct val="0"/>
              </a:spcAft>
            </a:pPr>
            <a:r>
              <a:rPr kumimoji="1" lang="ko-KR" altLang="en-US" sz="800" b="1" kern="0">
                <a:solidFill>
                  <a:srgbClr val="000000">
                    <a:lumMod val="75000"/>
                    <a:lumOff val="25000"/>
                  </a:srgbClr>
                </a:solidFill>
                <a:latin typeface="맑은 고딕" panose="020B0503020000020004" pitchFamily="50" charset="-127"/>
              </a:rPr>
              <a:t>배송완료</a:t>
            </a:r>
          </a:p>
        </p:txBody>
      </p:sp>
      <p:sp>
        <p:nvSpPr>
          <p:cNvPr id="6" name="화살표: 갈매기형 수장 20">
            <a:extLst>
              <a:ext uri="{FF2B5EF4-FFF2-40B4-BE49-F238E27FC236}">
                <a16:creationId xmlns:a16="http://schemas.microsoft.com/office/drawing/2014/main" xmlns="" id="{7CFA0ECF-07F7-40B0-9073-45AD52A8D9A6}"/>
              </a:ext>
            </a:extLst>
          </p:cNvPr>
          <p:cNvSpPr/>
          <p:nvPr/>
        </p:nvSpPr>
        <p:spPr>
          <a:xfrm>
            <a:off x="3347643" y="1007999"/>
            <a:ext cx="72000" cy="288000"/>
          </a:xfrm>
          <a:prstGeom prst="chevron">
            <a:avLst/>
          </a:prstGeom>
          <a:solidFill>
            <a:schemeClr val="bg1">
              <a:lumMod val="7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ko-KR" altLang="en-US" sz="80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" name="화살표: 갈매기형 수장 318">
            <a:extLst>
              <a:ext uri="{FF2B5EF4-FFF2-40B4-BE49-F238E27FC236}">
                <a16:creationId xmlns:a16="http://schemas.microsoft.com/office/drawing/2014/main" xmlns="" id="{570D02C9-7B83-43FC-A116-79487AF5461F}"/>
              </a:ext>
            </a:extLst>
          </p:cNvPr>
          <p:cNvSpPr/>
          <p:nvPr/>
        </p:nvSpPr>
        <p:spPr>
          <a:xfrm>
            <a:off x="5651719" y="1007999"/>
            <a:ext cx="72000" cy="288000"/>
          </a:xfrm>
          <a:prstGeom prst="chevron">
            <a:avLst/>
          </a:prstGeom>
          <a:solidFill>
            <a:schemeClr val="bg1">
              <a:lumMod val="7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ko-KR" altLang="en-US" sz="80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" name="화살표: 갈매기형 수장 322">
            <a:extLst>
              <a:ext uri="{FF2B5EF4-FFF2-40B4-BE49-F238E27FC236}">
                <a16:creationId xmlns:a16="http://schemas.microsoft.com/office/drawing/2014/main" xmlns="" id="{7B9218FB-5A4C-49D5-B02C-C174BF311484}"/>
              </a:ext>
            </a:extLst>
          </p:cNvPr>
          <p:cNvSpPr/>
          <p:nvPr/>
        </p:nvSpPr>
        <p:spPr>
          <a:xfrm>
            <a:off x="7955795" y="1007999"/>
            <a:ext cx="72000" cy="288000"/>
          </a:xfrm>
          <a:prstGeom prst="chevron">
            <a:avLst/>
          </a:prstGeom>
          <a:solidFill>
            <a:schemeClr val="bg1">
              <a:lumMod val="7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ko-KR" altLang="en-US" sz="80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" name="화살표: 갈매기형 수장 324">
            <a:extLst>
              <a:ext uri="{FF2B5EF4-FFF2-40B4-BE49-F238E27FC236}">
                <a16:creationId xmlns:a16="http://schemas.microsoft.com/office/drawing/2014/main" xmlns="" id="{4A68C065-F479-4D74-AA4C-BA41854BFE61}"/>
              </a:ext>
            </a:extLst>
          </p:cNvPr>
          <p:cNvSpPr/>
          <p:nvPr/>
        </p:nvSpPr>
        <p:spPr>
          <a:xfrm>
            <a:off x="10259871" y="1007999"/>
            <a:ext cx="72000" cy="288000"/>
          </a:xfrm>
          <a:prstGeom prst="chevron">
            <a:avLst/>
          </a:prstGeom>
          <a:solidFill>
            <a:schemeClr val="bg1">
              <a:lumMod val="7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ko-KR" altLang="en-US" sz="80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" name="사각형: 둥근 모서리 58">
            <a:extLst>
              <a:ext uri="{FF2B5EF4-FFF2-40B4-BE49-F238E27FC236}">
                <a16:creationId xmlns:a16="http://schemas.microsoft.com/office/drawing/2014/main" xmlns="" id="{19156197-8D15-4363-8C21-0580641E1FD2}"/>
              </a:ext>
            </a:extLst>
          </p:cNvPr>
          <p:cNvSpPr/>
          <p:nvPr/>
        </p:nvSpPr>
        <p:spPr bwMode="auto">
          <a:xfrm>
            <a:off x="1835605" y="755999"/>
            <a:ext cx="792000" cy="792000"/>
          </a:xfrm>
          <a:prstGeom prst="ellipse">
            <a:avLst/>
          </a:prstGeom>
          <a:solidFill>
            <a:schemeClr val="bg1">
              <a:lumMod val="85000"/>
            </a:schemeClr>
          </a:solidFill>
          <a:ln w="28575" cap="flat" cmpd="sng" algn="ctr">
            <a:solidFill>
              <a:schemeClr val="bg1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>
            <a:outerShdw blurRad="25400" dist="12700" dir="2700000" algn="tl" rotWithShape="0">
              <a:prstClr val="black">
                <a:alpha val="60000"/>
              </a:prstClr>
            </a:outerShdw>
          </a:effectLst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87313" indent="-87313" algn="ctr" defTabSz="914400" fontAlgn="base" latinLnBrk="0">
              <a:lnSpc>
                <a:spcPct val="110000"/>
              </a:lnSpc>
              <a:spcBef>
                <a:spcPct val="25000"/>
              </a:spcBef>
              <a:spcAft>
                <a:spcPct val="0"/>
              </a:spcAft>
            </a:pPr>
            <a:r>
              <a:rPr kumimoji="1" lang="ko-KR" altLang="en-US" sz="800" b="1" kern="0">
                <a:solidFill>
                  <a:srgbClr val="000000">
                    <a:lumMod val="75000"/>
                    <a:lumOff val="25000"/>
                  </a:srgbClr>
                </a:solidFill>
                <a:latin typeface="맑은 고딕" panose="020B0503020000020004" pitchFamily="50" charset="-127"/>
              </a:rPr>
              <a:t>입금대기</a:t>
            </a:r>
          </a:p>
        </p:txBody>
      </p:sp>
      <p:sp>
        <p:nvSpPr>
          <p:cNvPr id="11" name="모서리가 둥근 직사각형 10"/>
          <p:cNvSpPr/>
          <p:nvPr/>
        </p:nvSpPr>
        <p:spPr>
          <a:xfrm>
            <a:off x="323567" y="756414"/>
            <a:ext cx="792000" cy="792000"/>
          </a:xfrm>
          <a:prstGeom prst="roundRect">
            <a:avLst/>
          </a:prstGeom>
          <a:solidFill>
            <a:schemeClr val="tx1">
              <a:lumMod val="75000"/>
              <a:lumOff val="2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ko-KR" altLang="en-US" sz="1000" b="1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알림톡</a:t>
            </a:r>
            <a:endParaRPr lang="en-US" altLang="ko-KR" sz="1000" b="1" smtClean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ctr">
              <a:lnSpc>
                <a:spcPct val="150000"/>
              </a:lnSpc>
            </a:pPr>
            <a:r>
              <a:rPr lang="ko-KR" altLang="en-US" sz="1000" b="1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개선안</a:t>
            </a:r>
            <a:endParaRPr lang="ko-KR" altLang="en-US" sz="1000" b="1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12" name="꺾인 연결선 11"/>
          <p:cNvCxnSpPr>
            <a:stCxn id="4" idx="4"/>
            <a:endCxn id="16" idx="0"/>
          </p:cNvCxnSpPr>
          <p:nvPr/>
        </p:nvCxnSpPr>
        <p:spPr>
          <a:xfrm rot="5400000">
            <a:off x="8424563" y="1187455"/>
            <a:ext cx="358726" cy="1079815"/>
          </a:xfrm>
          <a:prstGeom prst="bentConnector3">
            <a:avLst>
              <a:gd name="adj1" fmla="val 50000"/>
            </a:avLst>
          </a:prstGeom>
          <a:solidFill>
            <a:schemeClr val="accent4">
              <a:lumMod val="20000"/>
              <a:lumOff val="80000"/>
            </a:schemeClr>
          </a:solidFill>
          <a:ln w="28575" cap="flat" cmpd="sng" algn="ctr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  <a:effectLst>
            <a:outerShdw blurRad="25400" dist="12700" dir="2700000" algn="tl" rotWithShape="0">
              <a:prstClr val="black">
                <a:alpha val="60000"/>
              </a:prstClr>
            </a:outerShdw>
          </a:effectLst>
        </p:spPr>
      </p:cxnSp>
      <p:cxnSp>
        <p:nvCxnSpPr>
          <p:cNvPr id="13" name="꺾인 연결선 12"/>
          <p:cNvCxnSpPr>
            <a:stCxn id="4" idx="4"/>
            <a:endCxn id="21" idx="0"/>
          </p:cNvCxnSpPr>
          <p:nvPr/>
        </p:nvCxnSpPr>
        <p:spPr>
          <a:xfrm rot="16200000" flipH="1">
            <a:off x="9504562" y="1187269"/>
            <a:ext cx="358726" cy="1080185"/>
          </a:xfrm>
          <a:prstGeom prst="bentConnector3">
            <a:avLst>
              <a:gd name="adj1" fmla="val 50000"/>
            </a:avLst>
          </a:prstGeom>
          <a:solidFill>
            <a:schemeClr val="accent4">
              <a:lumMod val="20000"/>
              <a:lumOff val="80000"/>
            </a:schemeClr>
          </a:solidFill>
          <a:ln w="28575" cap="flat" cmpd="sng" algn="ctr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  <a:effectLst>
            <a:outerShdw blurRad="25400" dist="12700" dir="2700000" algn="tl" rotWithShape="0">
              <a:prstClr val="black">
                <a:alpha val="60000"/>
              </a:prstClr>
            </a:outerShdw>
          </a:effectLst>
        </p:spPr>
      </p:cxnSp>
      <p:grpSp>
        <p:nvGrpSpPr>
          <p:cNvPr id="14" name="그룹 13"/>
          <p:cNvGrpSpPr/>
          <p:nvPr/>
        </p:nvGrpSpPr>
        <p:grpSpPr>
          <a:xfrm>
            <a:off x="7164018" y="1906725"/>
            <a:ext cx="1800000" cy="3385274"/>
            <a:chOff x="6947380" y="1906725"/>
            <a:chExt cx="1800000" cy="3385274"/>
          </a:xfrm>
        </p:grpSpPr>
        <p:grpSp>
          <p:nvGrpSpPr>
            <p:cNvPr id="15" name="그룹 14"/>
            <p:cNvGrpSpPr/>
            <p:nvPr/>
          </p:nvGrpSpPr>
          <p:grpSpPr>
            <a:xfrm>
              <a:off x="6947380" y="2339999"/>
              <a:ext cx="1800000" cy="2952000"/>
              <a:chOff x="3968496" y="4374000"/>
              <a:chExt cx="1800000" cy="2952000"/>
            </a:xfrm>
          </p:grpSpPr>
          <p:sp>
            <p:nvSpPr>
              <p:cNvPr id="17" name="모서리가 둥근 직사각형 16"/>
              <p:cNvSpPr/>
              <p:nvPr/>
            </p:nvSpPr>
            <p:spPr>
              <a:xfrm>
                <a:off x="3968496" y="4374000"/>
                <a:ext cx="1800000" cy="2952000"/>
              </a:xfrm>
              <a:prstGeom prst="roundRect">
                <a:avLst>
                  <a:gd name="adj" fmla="val 1004"/>
                </a:avLst>
              </a:prstGeom>
              <a:solidFill>
                <a:schemeClr val="bg1"/>
              </a:solidFill>
              <a:ln w="3175">
                <a:solidFill>
                  <a:schemeClr val="bg1">
                    <a:lumMod val="75000"/>
                  </a:schemeClr>
                </a:solidFill>
              </a:ln>
              <a:effectLst>
                <a:outerShdw blurRad="12700" dist="12700" dir="2700000" algn="tl" rotWithShape="0">
                  <a:schemeClr val="tx1">
                    <a:lumMod val="50000"/>
                    <a:lumOff val="50000"/>
                    <a:alpha val="5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08000" tIns="360000" rIns="36000" bIns="36000" rtlCol="0" anchor="t"/>
              <a:lstStyle/>
              <a:p>
                <a:r>
                  <a:rPr lang="en-US" altLang="ko-KR" sz="800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맑은 고딕" panose="020B0503020000020004" pitchFamily="50" charset="-127"/>
                  </a:rPr>
                  <a:t>[</a:t>
                </a:r>
                <a:r>
                  <a:rPr lang="en-US" altLang="ko-KR" sz="8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맑은 고딕" panose="020B0503020000020004" pitchFamily="50" charset="-127"/>
                  </a:rPr>
                  <a:t>LFmall] </a:t>
                </a:r>
                <a:r>
                  <a:rPr lang="ko-KR" altLang="en-US" sz="8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맑은 고딕" panose="020B0503020000020004" pitchFamily="50" charset="-127"/>
                  </a:rPr>
                  <a:t>주문상품 배송 시작 </a:t>
                </a:r>
                <a:r>
                  <a:rPr lang="ko-KR" altLang="en-US" sz="800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맑은 고딕" panose="020B0503020000020004" pitchFamily="50" charset="-127"/>
                  </a:rPr>
                  <a:t>안내</a:t>
                </a:r>
                <a:endParaRPr lang="en-US" altLang="ko-KR" sz="80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endParaRPr>
              </a:p>
              <a:p>
                <a:endParaRPr lang="en-US" altLang="ko-KR" sz="80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endParaRPr>
              </a:p>
              <a:p>
                <a:r>
                  <a:rPr lang="ko-KR" altLang="en-US" sz="800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맑은 고딕" panose="020B0503020000020004" pitchFamily="50" charset="-127"/>
                  </a:rPr>
                  <a:t>▶ </a:t>
                </a:r>
                <a:r>
                  <a:rPr lang="ko-KR" altLang="en-US" sz="8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맑은 고딕" panose="020B0503020000020004" pitchFamily="50" charset="-127"/>
                  </a:rPr>
                  <a:t>도착예정일 </a:t>
                </a:r>
                <a:r>
                  <a:rPr lang="en-US" altLang="ko-KR" sz="8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맑은 고딕" panose="020B0503020000020004" pitchFamily="50" charset="-127"/>
                  </a:rPr>
                  <a:t>: #{00/00</a:t>
                </a:r>
                <a:r>
                  <a:rPr lang="ko-KR" altLang="en-US" sz="8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맑은 고딕" panose="020B0503020000020004" pitchFamily="50" charset="-127"/>
                  </a:rPr>
                  <a:t>일</a:t>
                </a:r>
                <a:r>
                  <a:rPr lang="en-US" altLang="ko-KR" sz="8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맑은 고딕" panose="020B0503020000020004" pitchFamily="50" charset="-127"/>
                  </a:rPr>
                  <a:t>(</a:t>
                </a:r>
                <a:r>
                  <a:rPr lang="ko-KR" altLang="en-US" sz="8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맑은 고딕" panose="020B0503020000020004" pitchFamily="50" charset="-127"/>
                  </a:rPr>
                  <a:t>요일</a:t>
                </a:r>
                <a:r>
                  <a:rPr lang="en-US" altLang="ko-KR" sz="800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맑은 고딕" panose="020B0503020000020004" pitchFamily="50" charset="-127"/>
                  </a:rPr>
                  <a:t>)}</a:t>
                </a:r>
              </a:p>
              <a:p>
                <a:r>
                  <a:rPr lang="en-US" altLang="ko-KR" sz="800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맑은 고딕" panose="020B0503020000020004" pitchFamily="50" charset="-127"/>
                  </a:rPr>
                  <a:t>▶ </a:t>
                </a:r>
                <a:r>
                  <a:rPr lang="ko-KR" altLang="en-US" sz="8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맑은 고딕" panose="020B0503020000020004" pitchFamily="50" charset="-127"/>
                  </a:rPr>
                  <a:t>상품명 </a:t>
                </a:r>
                <a:r>
                  <a:rPr lang="en-US" altLang="ko-KR" sz="8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맑은 고딕" panose="020B0503020000020004" pitchFamily="50" charset="-127"/>
                  </a:rPr>
                  <a:t>: #{</a:t>
                </a:r>
                <a:r>
                  <a:rPr lang="ko-KR" altLang="en-US" sz="8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맑은 고딕" panose="020B0503020000020004" pitchFamily="50" charset="-127"/>
                  </a:rPr>
                  <a:t>상품명</a:t>
                </a:r>
                <a:r>
                  <a:rPr lang="en-US" altLang="ko-KR" sz="8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맑은 고딕" panose="020B0503020000020004" pitchFamily="50" charset="-127"/>
                  </a:rPr>
                  <a:t>} #{</a:t>
                </a:r>
                <a:r>
                  <a:rPr lang="ko-KR" altLang="en-US" sz="8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맑은 고딕" panose="020B0503020000020004" pitchFamily="50" charset="-127"/>
                  </a:rPr>
                  <a:t>포함 주문수량 건</a:t>
                </a:r>
                <a:r>
                  <a:rPr lang="en-US" altLang="ko-KR" sz="800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맑은 고딕" panose="020B0503020000020004" pitchFamily="50" charset="-127"/>
                  </a:rPr>
                  <a:t>}</a:t>
                </a:r>
              </a:p>
              <a:p>
                <a:r>
                  <a:rPr lang="en-US" altLang="ko-KR" sz="800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맑은 고딕" panose="020B0503020000020004" pitchFamily="50" charset="-127"/>
                  </a:rPr>
                  <a:t>▶ </a:t>
                </a:r>
                <a:r>
                  <a:rPr lang="ko-KR" altLang="en-US" sz="8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맑은 고딕" panose="020B0503020000020004" pitchFamily="50" charset="-127"/>
                  </a:rPr>
                  <a:t>주문번호 </a:t>
                </a:r>
                <a:r>
                  <a:rPr lang="en-US" altLang="ko-KR" sz="8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맑은 고딕" panose="020B0503020000020004" pitchFamily="50" charset="-127"/>
                  </a:rPr>
                  <a:t>: #{</a:t>
                </a:r>
                <a:r>
                  <a:rPr lang="ko-KR" altLang="en-US" sz="8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맑은 고딕" panose="020B0503020000020004" pitchFamily="50" charset="-127"/>
                  </a:rPr>
                  <a:t>주문번호</a:t>
                </a:r>
                <a:r>
                  <a:rPr lang="en-US" altLang="ko-KR" sz="800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맑은 고딕" panose="020B0503020000020004" pitchFamily="50" charset="-127"/>
                  </a:rPr>
                  <a:t>}</a:t>
                </a:r>
              </a:p>
              <a:p>
                <a:endParaRPr lang="en-US" altLang="ko-KR" sz="80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endParaRPr>
              </a:p>
              <a:p>
                <a:r>
                  <a:rPr lang="en-US" altLang="ko-KR" sz="800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맑은 고딕" panose="020B0503020000020004" pitchFamily="50" charset="-127"/>
                  </a:rPr>
                  <a:t>▶ </a:t>
                </a:r>
                <a:r>
                  <a:rPr lang="ko-KR" altLang="en-US" sz="8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맑은 고딕" panose="020B0503020000020004" pitchFamily="50" charset="-127"/>
                  </a:rPr>
                  <a:t>배송정보 </a:t>
                </a:r>
                <a:r>
                  <a:rPr lang="en-US" altLang="ko-KR" sz="8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맑은 고딕" panose="020B0503020000020004" pitchFamily="50" charset="-127"/>
                  </a:rPr>
                  <a:t>: #{</a:t>
                </a:r>
                <a:r>
                  <a:rPr lang="ko-KR" altLang="en-US" sz="8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맑은 고딕" panose="020B0503020000020004" pitchFamily="50" charset="-127"/>
                  </a:rPr>
                  <a:t>택배업체명</a:t>
                </a:r>
                <a:r>
                  <a:rPr lang="en-US" altLang="ko-KR" sz="8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맑은 고딕" panose="020B0503020000020004" pitchFamily="50" charset="-127"/>
                  </a:rPr>
                  <a:t>} / #{</a:t>
                </a:r>
                <a:r>
                  <a:rPr lang="ko-KR" altLang="en-US" sz="8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맑은 고딕" panose="020B0503020000020004" pitchFamily="50" charset="-127"/>
                  </a:rPr>
                  <a:t>운송장번호</a:t>
                </a:r>
                <a:r>
                  <a:rPr lang="en-US" altLang="ko-KR" sz="800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맑은 고딕" panose="020B0503020000020004" pitchFamily="50" charset="-127"/>
                  </a:rPr>
                  <a:t>}</a:t>
                </a:r>
              </a:p>
              <a:p>
                <a:r>
                  <a:rPr lang="en-US" altLang="ko-KR" sz="800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맑은 고딕" panose="020B0503020000020004" pitchFamily="50" charset="-127"/>
                  </a:rPr>
                  <a:t>▶ </a:t>
                </a:r>
                <a:r>
                  <a:rPr lang="ko-KR" altLang="en-US" sz="8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맑은 고딕" panose="020B0503020000020004" pitchFamily="50" charset="-127"/>
                  </a:rPr>
                  <a:t>배송지 </a:t>
                </a:r>
                <a:r>
                  <a:rPr lang="en-US" altLang="ko-KR" sz="8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맑은 고딕" panose="020B0503020000020004" pitchFamily="50" charset="-127"/>
                  </a:rPr>
                  <a:t>: #{</a:t>
                </a:r>
                <a:r>
                  <a:rPr lang="ko-KR" altLang="en-US" sz="8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맑은 고딕" panose="020B0503020000020004" pitchFamily="50" charset="-127"/>
                  </a:rPr>
                  <a:t>배송지 중 </a:t>
                </a:r>
                <a:r>
                  <a:rPr lang="ko-KR" altLang="en-US" sz="800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맑은 고딕" panose="020B0503020000020004" pitchFamily="50" charset="-127"/>
                  </a:rPr>
                  <a:t>동까지만</a:t>
                </a:r>
                <a:r>
                  <a:rPr lang="en-US" altLang="ko-KR" sz="800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맑은 고딕" panose="020B0503020000020004" pitchFamily="50" charset="-127"/>
                  </a:rPr>
                  <a:t>} </a:t>
                </a:r>
              </a:p>
              <a:p>
                <a:endParaRPr lang="en-US" altLang="ko-KR" sz="80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endParaRPr>
              </a:p>
              <a:p>
                <a:r>
                  <a:rPr lang="ko-KR" altLang="en-US" sz="800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맑은 고딕" panose="020B0503020000020004" pitchFamily="50" charset="-127"/>
                  </a:rPr>
                  <a:t>알림톡 수신 다음날부터 택배추적 가능하며</a:t>
                </a:r>
                <a:r>
                  <a:rPr lang="en-US" altLang="ko-KR" sz="800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맑은 고딕" panose="020B0503020000020004" pitchFamily="50" charset="-127"/>
                  </a:rPr>
                  <a:t>, </a:t>
                </a:r>
                <a:r>
                  <a:rPr lang="ko-KR" altLang="en-US" sz="800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맑은 고딕" panose="020B0503020000020004" pitchFamily="50" charset="-127"/>
                  </a:rPr>
                  <a:t>안내드리는 도착예정일은 택배사 사정에 따라 일부 변경 될 수 있습니다</a:t>
                </a:r>
                <a:r>
                  <a:rPr lang="en-US" altLang="ko-KR" sz="800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맑은 고딕" panose="020B0503020000020004" pitchFamily="50" charset="-127"/>
                  </a:rPr>
                  <a:t>.</a:t>
                </a:r>
              </a:p>
              <a:p>
                <a:endParaRPr lang="en-US" altLang="ko-KR" sz="80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endParaRPr>
              </a:p>
              <a:p>
                <a:r>
                  <a:rPr lang="en-US" altLang="ko-KR" sz="800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맑은 고딕" panose="020B0503020000020004" pitchFamily="50" charset="-127"/>
                  </a:rPr>
                  <a:t>⊙ </a:t>
                </a:r>
                <a:r>
                  <a:rPr lang="ko-KR" altLang="en-US" sz="800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맑은 고딕" panose="020B0503020000020004" pitchFamily="50" charset="-127"/>
                  </a:rPr>
                  <a:t>고객센터 </a:t>
                </a:r>
                <a:r>
                  <a:rPr lang="en-US" altLang="ko-KR" sz="800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맑은 고딕" panose="020B0503020000020004" pitchFamily="50" charset="-127"/>
                  </a:rPr>
                  <a:t>: 1544-5114</a:t>
                </a:r>
              </a:p>
              <a:p>
                <a:r>
                  <a:rPr lang="en-US" altLang="ko-KR" sz="800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맑은 고딕" panose="020B0503020000020004" pitchFamily="50" charset="-127"/>
                  </a:rPr>
                  <a:t>⊙ 1:1</a:t>
                </a:r>
                <a:r>
                  <a:rPr lang="ko-KR" altLang="en-US" sz="800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맑은 고딕" panose="020B0503020000020004" pitchFamily="50" charset="-127"/>
                  </a:rPr>
                  <a:t>문의 </a:t>
                </a:r>
                <a:r>
                  <a:rPr lang="en-US" altLang="ko-KR" sz="800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맑은 고딕" panose="020B0503020000020004" pitchFamily="50" charset="-127"/>
                  </a:rPr>
                  <a:t>: #</a:t>
                </a:r>
                <a:r>
                  <a:rPr lang="en-US" altLang="ko-KR" sz="8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맑은 고딕" panose="020B0503020000020004" pitchFamily="50" charset="-127"/>
                  </a:rPr>
                  <a:t>{m.lfmall.co.kr}</a:t>
                </a:r>
              </a:p>
            </p:txBody>
          </p:sp>
          <p:sp>
            <p:nvSpPr>
              <p:cNvPr id="18" name="양쪽 모서리가 둥근 사각형 17"/>
              <p:cNvSpPr/>
              <p:nvPr/>
            </p:nvSpPr>
            <p:spPr>
              <a:xfrm>
                <a:off x="3968496" y="4374000"/>
                <a:ext cx="1800000" cy="252000"/>
              </a:xfrm>
              <a:prstGeom prst="round2SameRect">
                <a:avLst>
                  <a:gd name="adj1" fmla="val 11375"/>
                  <a:gd name="adj2" fmla="val 0"/>
                </a:avLst>
              </a:prstGeom>
              <a:solidFill>
                <a:schemeClr val="accent4">
                  <a:lumMod val="60000"/>
                  <a:lumOff val="40000"/>
                </a:schemeClr>
              </a:solidFill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08000" tIns="36000" rIns="36000" bIns="36000" rtlCol="0" anchor="ctr"/>
              <a:lstStyle/>
              <a:p>
                <a:r>
                  <a:rPr lang="ko-KR" altLang="en-US" sz="700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알림톡 도착</a:t>
                </a:r>
                <a:endParaRPr lang="ko-KR" altLang="en-US" sz="7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</p:grpSp>
        <p:sp>
          <p:nvSpPr>
            <p:cNvPr id="16" name="모서리가 둥근 직사각형 15"/>
            <p:cNvSpPr/>
            <p:nvPr/>
          </p:nvSpPr>
          <p:spPr>
            <a:xfrm>
              <a:off x="6947380" y="1906725"/>
              <a:ext cx="1800000" cy="288000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>
                <a:lnSpc>
                  <a:spcPct val="150000"/>
                </a:lnSpc>
              </a:pPr>
              <a:r>
                <a:rPr lang="ko-KR" altLang="en-US" sz="800" b="1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배송 시작 안내</a:t>
              </a:r>
              <a:endParaRPr lang="en-US" altLang="ko-KR" sz="800" b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endParaRPr>
            </a:p>
          </p:txBody>
        </p:sp>
      </p:grpSp>
      <p:grpSp>
        <p:nvGrpSpPr>
          <p:cNvPr id="19" name="그룹 18"/>
          <p:cNvGrpSpPr/>
          <p:nvPr/>
        </p:nvGrpSpPr>
        <p:grpSpPr>
          <a:xfrm>
            <a:off x="9324018" y="1906725"/>
            <a:ext cx="1800000" cy="3745274"/>
            <a:chOff x="9539833" y="1906725"/>
            <a:chExt cx="1800000" cy="3745274"/>
          </a:xfrm>
        </p:grpSpPr>
        <p:grpSp>
          <p:nvGrpSpPr>
            <p:cNvPr id="20" name="그룹 19"/>
            <p:cNvGrpSpPr/>
            <p:nvPr/>
          </p:nvGrpSpPr>
          <p:grpSpPr>
            <a:xfrm>
              <a:off x="9539833" y="2339999"/>
              <a:ext cx="1800000" cy="3312000"/>
              <a:chOff x="3968496" y="4374000"/>
              <a:chExt cx="1800000" cy="3312000"/>
            </a:xfrm>
          </p:grpSpPr>
          <p:sp>
            <p:nvSpPr>
              <p:cNvPr id="22" name="모서리가 둥근 직사각형 21"/>
              <p:cNvSpPr/>
              <p:nvPr/>
            </p:nvSpPr>
            <p:spPr>
              <a:xfrm>
                <a:off x="3968496" y="4374000"/>
                <a:ext cx="1800000" cy="3312000"/>
              </a:xfrm>
              <a:prstGeom prst="roundRect">
                <a:avLst>
                  <a:gd name="adj" fmla="val 1004"/>
                </a:avLst>
              </a:prstGeom>
              <a:solidFill>
                <a:schemeClr val="bg1"/>
              </a:solidFill>
              <a:ln w="3175">
                <a:solidFill>
                  <a:schemeClr val="bg1">
                    <a:lumMod val="75000"/>
                  </a:schemeClr>
                </a:solidFill>
              </a:ln>
              <a:effectLst>
                <a:outerShdw blurRad="12700" dist="12700" dir="2700000" algn="tl" rotWithShape="0">
                  <a:schemeClr val="tx1">
                    <a:lumMod val="50000"/>
                    <a:lumOff val="50000"/>
                    <a:alpha val="5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08000" tIns="360000" rIns="36000" bIns="36000" rtlCol="0" anchor="t"/>
              <a:lstStyle/>
              <a:p>
                <a:r>
                  <a:rPr lang="en-US" altLang="ko-KR" sz="8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맑은 고딕" panose="020B0503020000020004" pitchFamily="50" charset="-127"/>
                  </a:rPr>
                  <a:t>[LFmall] </a:t>
                </a:r>
                <a:r>
                  <a:rPr lang="ko-KR" altLang="en-US" sz="8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맑은 고딕" panose="020B0503020000020004" pitchFamily="50" charset="-127"/>
                  </a:rPr>
                  <a:t>주문상품 배송 시작 </a:t>
                </a:r>
                <a:r>
                  <a:rPr lang="ko-KR" altLang="en-US" sz="800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맑은 고딕" panose="020B0503020000020004" pitchFamily="50" charset="-127"/>
                  </a:rPr>
                  <a:t>안내</a:t>
                </a:r>
                <a:endParaRPr lang="en-US" altLang="ko-KR" sz="80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endParaRPr>
              </a:p>
              <a:p>
                <a:endParaRPr lang="en-US" altLang="ko-KR" sz="80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endParaRPr>
              </a:p>
              <a:p>
                <a:r>
                  <a:rPr lang="ko-KR" altLang="en-US" sz="8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맑은 고딕" panose="020B0503020000020004" pitchFamily="50" charset="-127"/>
                  </a:rPr>
                  <a:t>▶ </a:t>
                </a:r>
                <a:r>
                  <a:rPr lang="ko-KR" altLang="en-US" sz="800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맑은 고딕" panose="020B0503020000020004" pitchFamily="50" charset="-127"/>
                  </a:rPr>
                  <a:t>도착예정일</a:t>
                </a:r>
                <a:endParaRPr lang="en-US" altLang="ko-KR" sz="80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endParaRPr>
              </a:p>
              <a:p>
                <a:r>
                  <a:rPr lang="en-US" altLang="ko-KR" sz="8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맑은 고딕" panose="020B0503020000020004" pitchFamily="50" charset="-127"/>
                  </a:rPr>
                  <a:t> - </a:t>
                </a:r>
                <a:r>
                  <a:rPr lang="ko-KR" altLang="en-US" sz="8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맑은 고딕" panose="020B0503020000020004" pitchFamily="50" charset="-127"/>
                  </a:rPr>
                  <a:t>일반주문상품 </a:t>
                </a:r>
                <a:r>
                  <a:rPr lang="en-US" altLang="ko-KR" sz="8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맑은 고딕" panose="020B0503020000020004" pitchFamily="50" charset="-127"/>
                  </a:rPr>
                  <a:t>: #{00/00</a:t>
                </a:r>
                <a:r>
                  <a:rPr lang="ko-KR" altLang="en-US" sz="8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맑은 고딕" panose="020B0503020000020004" pitchFamily="50" charset="-127"/>
                  </a:rPr>
                  <a:t>일</a:t>
                </a:r>
                <a:r>
                  <a:rPr lang="en-US" altLang="ko-KR" sz="8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맑은 고딕" panose="020B0503020000020004" pitchFamily="50" charset="-127"/>
                  </a:rPr>
                  <a:t>(</a:t>
                </a:r>
                <a:r>
                  <a:rPr lang="ko-KR" altLang="en-US" sz="8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맑은 고딕" panose="020B0503020000020004" pitchFamily="50" charset="-127"/>
                  </a:rPr>
                  <a:t>요일</a:t>
                </a:r>
                <a:r>
                  <a:rPr lang="en-US" altLang="ko-KR" sz="8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맑은 고딕" panose="020B0503020000020004" pitchFamily="50" charset="-127"/>
                  </a:rPr>
                  <a:t>)} </a:t>
                </a:r>
                <a:br>
                  <a:rPr lang="en-US" altLang="ko-KR" sz="8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맑은 고딕" panose="020B0503020000020004" pitchFamily="50" charset="-127"/>
                  </a:rPr>
                </a:br>
                <a:r>
                  <a:rPr lang="en-US" altLang="ko-KR" sz="800" smtClean="0">
                    <a:solidFill>
                      <a:srgbClr val="C00000"/>
                    </a:solidFill>
                    <a:latin typeface="맑은 고딕" panose="020B0503020000020004" pitchFamily="50" charset="-127"/>
                  </a:rPr>
                  <a:t> </a:t>
                </a:r>
                <a:r>
                  <a:rPr lang="en-US" altLang="ko-KR" sz="800">
                    <a:solidFill>
                      <a:srgbClr val="C00000"/>
                    </a:solidFill>
                    <a:latin typeface="맑은 고딕" panose="020B0503020000020004" pitchFamily="50" charset="-127"/>
                  </a:rPr>
                  <a:t>- </a:t>
                </a:r>
                <a:r>
                  <a:rPr lang="ko-KR" altLang="en-US" sz="800" smtClean="0">
                    <a:solidFill>
                      <a:srgbClr val="C00000"/>
                    </a:solidFill>
                    <a:latin typeface="맑은 고딕" panose="020B0503020000020004" pitchFamily="50" charset="-127"/>
                  </a:rPr>
                  <a:t>매장상품배송 </a:t>
                </a:r>
                <a:r>
                  <a:rPr lang="en-US" altLang="ko-KR" sz="800">
                    <a:solidFill>
                      <a:srgbClr val="C00000"/>
                    </a:solidFill>
                    <a:latin typeface="맑은 고딕" panose="020B0503020000020004" pitchFamily="50" charset="-127"/>
                  </a:rPr>
                  <a:t>: </a:t>
                </a:r>
                <a:r>
                  <a:rPr lang="ko-KR" altLang="en-US" sz="800">
                    <a:solidFill>
                      <a:srgbClr val="C00000"/>
                    </a:solidFill>
                    <a:latin typeface="맑은 고딕" panose="020B0503020000020004" pitchFamily="50" charset="-127"/>
                  </a:rPr>
                  <a:t>평균</a:t>
                </a:r>
                <a:r>
                  <a:rPr lang="en-US" altLang="ko-KR" sz="800">
                    <a:solidFill>
                      <a:srgbClr val="C00000"/>
                    </a:solidFill>
                    <a:latin typeface="맑은 고딕" panose="020B0503020000020004" pitchFamily="50" charset="-127"/>
                  </a:rPr>
                  <a:t>#{</a:t>
                </a:r>
                <a:r>
                  <a:rPr lang="ko-KR" altLang="en-US" sz="800">
                    <a:solidFill>
                      <a:srgbClr val="C00000"/>
                    </a:solidFill>
                    <a:latin typeface="맑은 고딕" panose="020B0503020000020004" pitchFamily="50" charset="-127"/>
                  </a:rPr>
                  <a:t>예정일</a:t>
                </a:r>
                <a:r>
                  <a:rPr lang="en-US" altLang="ko-KR" sz="800">
                    <a:solidFill>
                      <a:srgbClr val="C00000"/>
                    </a:solidFill>
                    <a:latin typeface="맑은 고딕" panose="020B0503020000020004" pitchFamily="50" charset="-127"/>
                  </a:rPr>
                  <a:t>} </a:t>
                </a:r>
                <a:r>
                  <a:rPr lang="ko-KR" altLang="en-US" sz="800">
                    <a:solidFill>
                      <a:srgbClr val="C00000"/>
                    </a:solidFill>
                    <a:latin typeface="맑은 고딕" panose="020B0503020000020004" pitchFamily="50" charset="-127"/>
                  </a:rPr>
                  <a:t>예상</a:t>
                </a:r>
                <a:endParaRPr lang="en-US" altLang="ko-KR" sz="80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endParaRPr>
              </a:p>
              <a:p>
                <a:r>
                  <a:rPr lang="en-US" altLang="ko-KR" sz="8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맑은 고딕" panose="020B0503020000020004" pitchFamily="50" charset="-127"/>
                  </a:rPr>
                  <a:t>▶ </a:t>
                </a:r>
                <a:r>
                  <a:rPr lang="ko-KR" altLang="en-US" sz="8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맑은 고딕" panose="020B0503020000020004" pitchFamily="50" charset="-127"/>
                  </a:rPr>
                  <a:t>상품명 </a:t>
                </a:r>
                <a:r>
                  <a:rPr lang="en-US" altLang="ko-KR" sz="8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맑은 고딕" panose="020B0503020000020004" pitchFamily="50" charset="-127"/>
                  </a:rPr>
                  <a:t>: #{</a:t>
                </a:r>
                <a:r>
                  <a:rPr lang="ko-KR" altLang="en-US" sz="8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맑은 고딕" panose="020B0503020000020004" pitchFamily="50" charset="-127"/>
                  </a:rPr>
                  <a:t>상품명</a:t>
                </a:r>
                <a:r>
                  <a:rPr lang="en-US" altLang="ko-KR" sz="8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맑은 고딕" panose="020B0503020000020004" pitchFamily="50" charset="-127"/>
                  </a:rPr>
                  <a:t>} #{</a:t>
                </a:r>
                <a:r>
                  <a:rPr lang="ko-KR" altLang="en-US" sz="8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맑은 고딕" panose="020B0503020000020004" pitchFamily="50" charset="-127"/>
                  </a:rPr>
                  <a:t>포함 주문수량 건</a:t>
                </a:r>
                <a:r>
                  <a:rPr lang="en-US" altLang="ko-KR" sz="8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맑은 고딕" panose="020B0503020000020004" pitchFamily="50" charset="-127"/>
                  </a:rPr>
                  <a:t>}</a:t>
                </a:r>
              </a:p>
              <a:p>
                <a:r>
                  <a:rPr lang="en-US" altLang="ko-KR" sz="8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맑은 고딕" panose="020B0503020000020004" pitchFamily="50" charset="-127"/>
                  </a:rPr>
                  <a:t>▶ </a:t>
                </a:r>
                <a:r>
                  <a:rPr lang="ko-KR" altLang="en-US" sz="8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맑은 고딕" panose="020B0503020000020004" pitchFamily="50" charset="-127"/>
                  </a:rPr>
                  <a:t>주문번호 </a:t>
                </a:r>
                <a:r>
                  <a:rPr lang="en-US" altLang="ko-KR" sz="8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맑은 고딕" panose="020B0503020000020004" pitchFamily="50" charset="-127"/>
                  </a:rPr>
                  <a:t>: #{</a:t>
                </a:r>
                <a:r>
                  <a:rPr lang="ko-KR" altLang="en-US" sz="8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맑은 고딕" panose="020B0503020000020004" pitchFamily="50" charset="-127"/>
                  </a:rPr>
                  <a:t>주문번호</a:t>
                </a:r>
                <a:r>
                  <a:rPr lang="en-US" altLang="ko-KR" sz="8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맑은 고딕" panose="020B0503020000020004" pitchFamily="50" charset="-127"/>
                  </a:rPr>
                  <a:t>}</a:t>
                </a:r>
              </a:p>
              <a:p>
                <a:endParaRPr lang="en-US" altLang="ko-KR" sz="80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endParaRPr>
              </a:p>
              <a:p>
                <a:r>
                  <a:rPr lang="en-US" altLang="ko-KR" sz="8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맑은 고딕" panose="020B0503020000020004" pitchFamily="50" charset="-127"/>
                  </a:rPr>
                  <a:t>▶ </a:t>
                </a:r>
                <a:r>
                  <a:rPr lang="ko-KR" altLang="en-US" sz="8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맑은 고딕" panose="020B0503020000020004" pitchFamily="50" charset="-127"/>
                  </a:rPr>
                  <a:t>배송정보 </a:t>
                </a:r>
                <a:r>
                  <a:rPr lang="en-US" altLang="ko-KR" sz="8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맑은 고딕" panose="020B0503020000020004" pitchFamily="50" charset="-127"/>
                  </a:rPr>
                  <a:t>: #{</a:t>
                </a:r>
                <a:r>
                  <a:rPr lang="ko-KR" altLang="en-US" sz="8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맑은 고딕" panose="020B0503020000020004" pitchFamily="50" charset="-127"/>
                  </a:rPr>
                  <a:t>택배업체명</a:t>
                </a:r>
                <a:r>
                  <a:rPr lang="en-US" altLang="ko-KR" sz="8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맑은 고딕" panose="020B0503020000020004" pitchFamily="50" charset="-127"/>
                  </a:rPr>
                  <a:t>} / #{</a:t>
                </a:r>
                <a:r>
                  <a:rPr lang="ko-KR" altLang="en-US" sz="8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맑은 고딕" panose="020B0503020000020004" pitchFamily="50" charset="-127"/>
                  </a:rPr>
                  <a:t>운송장번호</a:t>
                </a:r>
                <a:r>
                  <a:rPr lang="en-US" altLang="ko-KR" sz="8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맑은 고딕" panose="020B0503020000020004" pitchFamily="50" charset="-127"/>
                  </a:rPr>
                  <a:t>}</a:t>
                </a:r>
              </a:p>
              <a:p>
                <a:r>
                  <a:rPr lang="en-US" altLang="ko-KR" sz="8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맑은 고딕" panose="020B0503020000020004" pitchFamily="50" charset="-127"/>
                  </a:rPr>
                  <a:t>▶ </a:t>
                </a:r>
                <a:r>
                  <a:rPr lang="ko-KR" altLang="en-US" sz="8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맑은 고딕" panose="020B0503020000020004" pitchFamily="50" charset="-127"/>
                  </a:rPr>
                  <a:t>배송지 </a:t>
                </a:r>
                <a:r>
                  <a:rPr lang="en-US" altLang="ko-KR" sz="8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맑은 고딕" panose="020B0503020000020004" pitchFamily="50" charset="-127"/>
                  </a:rPr>
                  <a:t>: #{</a:t>
                </a:r>
                <a:r>
                  <a:rPr lang="ko-KR" altLang="en-US" sz="8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맑은 고딕" panose="020B0503020000020004" pitchFamily="50" charset="-127"/>
                  </a:rPr>
                  <a:t>배송지 중 동까지만</a:t>
                </a:r>
                <a:r>
                  <a:rPr lang="en-US" altLang="ko-KR" sz="8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맑은 고딕" panose="020B0503020000020004" pitchFamily="50" charset="-127"/>
                  </a:rPr>
                  <a:t>} </a:t>
                </a:r>
              </a:p>
              <a:p>
                <a:endParaRPr lang="en-US" altLang="ko-KR" sz="80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endParaRPr>
              </a:p>
              <a:p>
                <a:r>
                  <a:rPr lang="ko-KR" altLang="en-US" sz="800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맑은 고딕" panose="020B0503020000020004" pitchFamily="50" charset="-127"/>
                  </a:rPr>
                  <a:t>알림톡 수신 다음날부터 택배추적 가능하며</a:t>
                </a:r>
                <a:r>
                  <a:rPr lang="en-US" altLang="ko-KR" sz="800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맑은 고딕" panose="020B0503020000020004" pitchFamily="50" charset="-127"/>
                  </a:rPr>
                  <a:t>, </a:t>
                </a:r>
                <a:r>
                  <a:rPr lang="ko-KR" altLang="en-US" sz="800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맑은 고딕" panose="020B0503020000020004" pitchFamily="50" charset="-127"/>
                  </a:rPr>
                  <a:t>안내드리는 도착예정일은 택배사 사정에 따라 일부 변경 될 수 있습니다</a:t>
                </a:r>
                <a:r>
                  <a:rPr lang="en-US" altLang="ko-KR" sz="800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맑은 고딕" panose="020B0503020000020004" pitchFamily="50" charset="-127"/>
                  </a:rPr>
                  <a:t>.</a:t>
                </a:r>
              </a:p>
              <a:p>
                <a:endParaRPr lang="en-US" altLang="ko-KR" sz="80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endParaRPr>
              </a:p>
              <a:p>
                <a:r>
                  <a:rPr lang="en-US" altLang="ko-KR" sz="800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맑은 고딕" panose="020B0503020000020004" pitchFamily="50" charset="-127"/>
                  </a:rPr>
                  <a:t>⊙ </a:t>
                </a:r>
                <a:r>
                  <a:rPr lang="ko-KR" altLang="en-US" sz="8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맑은 고딕" panose="020B0503020000020004" pitchFamily="50" charset="-127"/>
                  </a:rPr>
                  <a:t>고객센터 </a:t>
                </a:r>
                <a:r>
                  <a:rPr lang="en-US" altLang="ko-KR" sz="8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맑은 고딕" panose="020B0503020000020004" pitchFamily="50" charset="-127"/>
                  </a:rPr>
                  <a:t>: 1544-5114</a:t>
                </a:r>
              </a:p>
              <a:p>
                <a:r>
                  <a:rPr lang="en-US" altLang="ko-KR" sz="8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맑은 고딕" panose="020B0503020000020004" pitchFamily="50" charset="-127"/>
                  </a:rPr>
                  <a:t>⊙ 1:1</a:t>
                </a:r>
                <a:r>
                  <a:rPr lang="ko-KR" altLang="en-US" sz="8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맑은 고딕" panose="020B0503020000020004" pitchFamily="50" charset="-127"/>
                  </a:rPr>
                  <a:t>문의 </a:t>
                </a:r>
                <a:r>
                  <a:rPr lang="en-US" altLang="ko-KR" sz="8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맑은 고딕" panose="020B0503020000020004" pitchFamily="50" charset="-127"/>
                  </a:rPr>
                  <a:t>: #{m.lfmall.co.kr}</a:t>
                </a:r>
              </a:p>
            </p:txBody>
          </p:sp>
          <p:sp>
            <p:nvSpPr>
              <p:cNvPr id="23" name="양쪽 모서리가 둥근 사각형 22"/>
              <p:cNvSpPr/>
              <p:nvPr/>
            </p:nvSpPr>
            <p:spPr>
              <a:xfrm>
                <a:off x="3968496" y="4374000"/>
                <a:ext cx="1800000" cy="252000"/>
              </a:xfrm>
              <a:prstGeom prst="round2SameRect">
                <a:avLst>
                  <a:gd name="adj1" fmla="val 11375"/>
                  <a:gd name="adj2" fmla="val 0"/>
                </a:avLst>
              </a:prstGeom>
              <a:solidFill>
                <a:schemeClr val="accent4">
                  <a:lumMod val="60000"/>
                  <a:lumOff val="40000"/>
                </a:schemeClr>
              </a:solidFill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08000" tIns="36000" rIns="36000" bIns="36000" rtlCol="0" anchor="ctr"/>
              <a:lstStyle/>
              <a:p>
                <a:r>
                  <a:rPr lang="ko-KR" altLang="en-US" sz="700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알림톡 도착</a:t>
                </a:r>
                <a:endParaRPr lang="ko-KR" altLang="en-US" sz="7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</p:grpSp>
        <p:sp>
          <p:nvSpPr>
            <p:cNvPr id="21" name="모서리가 둥근 직사각형 20"/>
            <p:cNvSpPr/>
            <p:nvPr/>
          </p:nvSpPr>
          <p:spPr>
            <a:xfrm>
              <a:off x="9539833" y="1906725"/>
              <a:ext cx="1800000" cy="288000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>
                <a:lnSpc>
                  <a:spcPct val="150000"/>
                </a:lnSpc>
              </a:pPr>
              <a:r>
                <a:rPr lang="ko-KR" altLang="en-US" sz="800" b="1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배송 시작 </a:t>
              </a:r>
              <a:r>
                <a:rPr lang="ko-KR" altLang="en-US" sz="800" b="1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안내 </a:t>
              </a:r>
              <a:r>
                <a:rPr lang="en-US" altLang="ko-KR" sz="800" b="1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(</a:t>
              </a:r>
              <a:r>
                <a:rPr lang="ko-KR" altLang="en-US" sz="800" b="1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매장상품배송</a:t>
              </a:r>
              <a:r>
                <a:rPr lang="en-US" altLang="ko-KR" sz="800" b="1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)</a:t>
              </a:r>
              <a:endParaRPr lang="en-US" altLang="ko-KR" sz="800" b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endParaRPr>
            </a:p>
          </p:txBody>
        </p:sp>
      </p:grpSp>
      <p:grpSp>
        <p:nvGrpSpPr>
          <p:cNvPr id="24" name="그룹 23"/>
          <p:cNvGrpSpPr/>
          <p:nvPr/>
        </p:nvGrpSpPr>
        <p:grpSpPr>
          <a:xfrm>
            <a:off x="2555869" y="2339999"/>
            <a:ext cx="1800000" cy="2592000"/>
            <a:chOff x="3968496" y="4374000"/>
            <a:chExt cx="1800000" cy="2592000"/>
          </a:xfrm>
        </p:grpSpPr>
        <p:sp>
          <p:nvSpPr>
            <p:cNvPr id="25" name="모서리가 둥근 직사각형 24"/>
            <p:cNvSpPr/>
            <p:nvPr/>
          </p:nvSpPr>
          <p:spPr>
            <a:xfrm>
              <a:off x="3968496" y="4374000"/>
              <a:ext cx="1800000" cy="2592000"/>
            </a:xfrm>
            <a:prstGeom prst="roundRect">
              <a:avLst>
                <a:gd name="adj" fmla="val 1004"/>
              </a:avLst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  <a:effectLst>
              <a:outerShdw blurRad="12700" dist="12700" dir="2700000" algn="tl" rotWithShape="0">
                <a:schemeClr val="tx1">
                  <a:lumMod val="50000"/>
                  <a:lumOff val="50000"/>
                  <a:alpha val="5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360000" rIns="36000" bIns="36000" rtlCol="0" anchor="t"/>
            <a:lstStyle/>
            <a:p>
              <a:r>
                <a:rPr lang="en-US" altLang="ko-KR" sz="80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[LFmall] </a:t>
              </a:r>
              <a:r>
                <a:rPr lang="ko-KR" altLang="en-US" sz="80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주문완료 안내</a:t>
              </a:r>
            </a:p>
            <a:p>
              <a:endParaRPr lang="ko-KR" altLang="en-US" sz="8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endParaRPr>
            </a:p>
            <a:p>
              <a:r>
                <a:rPr lang="ko-KR" altLang="en-US" sz="80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▶</a:t>
              </a:r>
              <a:r>
                <a:rPr lang="ko-KR" altLang="en-US" sz="80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도착예정일 </a:t>
              </a:r>
              <a:r>
                <a:rPr lang="en-US" altLang="ko-KR" sz="80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: </a:t>
              </a:r>
              <a:r>
                <a:rPr lang="en-US" altLang="ko-KR" sz="80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#{00/00</a:t>
              </a:r>
              <a:r>
                <a:rPr lang="ko-KR" altLang="en-US" sz="80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일</a:t>
              </a:r>
              <a:r>
                <a:rPr lang="en-US" altLang="ko-KR" sz="80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(</a:t>
              </a:r>
              <a:r>
                <a:rPr lang="ko-KR" altLang="en-US" sz="80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요일</a:t>
              </a:r>
              <a:r>
                <a:rPr lang="en-US" altLang="ko-KR" sz="80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)}</a:t>
              </a:r>
            </a:p>
            <a:p>
              <a:r>
                <a:rPr lang="en-US" altLang="ko-KR" sz="80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▶</a:t>
              </a:r>
              <a:r>
                <a:rPr lang="ko-KR" altLang="en-US" sz="80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배송지 </a:t>
              </a:r>
              <a:r>
                <a:rPr lang="en-US" altLang="ko-KR" sz="80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: </a:t>
              </a:r>
              <a:r>
                <a:rPr lang="en-US" altLang="ko-KR" sz="80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#{</a:t>
              </a:r>
              <a:r>
                <a:rPr lang="ko-KR" altLang="en-US" sz="80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배송주소</a:t>
              </a:r>
              <a:r>
                <a:rPr lang="en-US" altLang="ko-KR" sz="80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}</a:t>
              </a:r>
            </a:p>
            <a:p>
              <a:endParaRPr lang="en-US" altLang="ko-KR" sz="8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endParaRPr>
            </a:p>
            <a:p>
              <a:r>
                <a:rPr lang="en-US" altLang="ko-KR" sz="80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▶</a:t>
              </a:r>
              <a:r>
                <a:rPr lang="ko-KR" altLang="en-US" sz="80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상품명 </a:t>
              </a:r>
              <a:r>
                <a:rPr lang="en-US" altLang="ko-KR" sz="80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: </a:t>
              </a:r>
              <a:r>
                <a:rPr lang="en-US" altLang="ko-KR" sz="80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#{</a:t>
              </a:r>
              <a:r>
                <a:rPr lang="ko-KR" altLang="en-US" sz="80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상품명</a:t>
              </a:r>
              <a:r>
                <a:rPr lang="en-US" altLang="ko-KR" sz="80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}/#{</a:t>
              </a:r>
              <a:r>
                <a:rPr lang="ko-KR" altLang="en-US" sz="80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사이즈</a:t>
              </a:r>
              <a:r>
                <a:rPr lang="en-US" altLang="ko-KR" sz="80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}  #{</a:t>
              </a:r>
              <a:r>
                <a:rPr lang="ko-KR" altLang="en-US" sz="80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주문수량</a:t>
              </a:r>
              <a:r>
                <a:rPr lang="en-US" altLang="ko-KR" sz="80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}</a:t>
              </a:r>
              <a:r>
                <a:rPr lang="ko-KR" altLang="en-US" sz="80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건</a:t>
              </a:r>
            </a:p>
            <a:p>
              <a:r>
                <a:rPr lang="ko-KR" altLang="en-US" sz="80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▶주문번호 </a:t>
              </a:r>
              <a:r>
                <a:rPr lang="en-US" altLang="ko-KR" sz="80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: #{</a:t>
              </a:r>
              <a:r>
                <a:rPr lang="ko-KR" altLang="en-US" sz="80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주문번호</a:t>
              </a:r>
              <a:r>
                <a:rPr lang="en-US" altLang="ko-KR" sz="80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}</a:t>
              </a:r>
            </a:p>
            <a:p>
              <a:r>
                <a:rPr lang="en-US" altLang="ko-KR" sz="80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▶</a:t>
              </a:r>
              <a:r>
                <a:rPr lang="ko-KR" altLang="en-US" sz="80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결제금액 </a:t>
              </a:r>
              <a:r>
                <a:rPr lang="en-US" altLang="ko-KR" sz="80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: #{</a:t>
              </a:r>
              <a:r>
                <a:rPr lang="ko-KR" altLang="en-US" sz="80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실결제금액</a:t>
              </a:r>
              <a:r>
                <a:rPr lang="en-US" altLang="ko-KR" sz="80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}</a:t>
              </a:r>
              <a:r>
                <a:rPr lang="ko-KR" altLang="en-US" sz="80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원</a:t>
              </a:r>
            </a:p>
            <a:p>
              <a:endParaRPr lang="ko-KR" altLang="en-US" sz="8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endParaRPr>
            </a:p>
            <a:p>
              <a:r>
                <a:rPr lang="ko-KR" altLang="en-US" sz="80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안내드리는 도착예정일은 택배사 사정에 따라 </a:t>
              </a:r>
              <a:r>
                <a:rPr lang="ko-KR" altLang="en-US" sz="80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일부 변경 </a:t>
              </a:r>
              <a:r>
                <a:rPr lang="ko-KR" altLang="en-US" sz="80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될 수 있습니다</a:t>
              </a:r>
              <a:r>
                <a:rPr lang="en-US" altLang="ko-KR" sz="80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. </a:t>
              </a:r>
              <a:endParaRPr lang="en-US" altLang="ko-KR" sz="8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endParaRPr>
            </a:p>
            <a:p>
              <a:endParaRPr lang="en-US" altLang="ko-KR" sz="8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endParaRPr>
            </a:p>
            <a:p>
              <a:r>
                <a:rPr lang="en-US" altLang="ko-KR" sz="80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⊙ </a:t>
              </a:r>
              <a:r>
                <a:rPr lang="ko-KR" altLang="en-US" sz="80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고객센터 </a:t>
              </a:r>
              <a:r>
                <a:rPr lang="en-US" altLang="ko-KR" sz="80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: 1544-5114</a:t>
              </a:r>
            </a:p>
            <a:p>
              <a:r>
                <a:rPr lang="en-US" altLang="ko-KR" sz="80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⊙ 1:1</a:t>
              </a:r>
              <a:r>
                <a:rPr lang="ko-KR" altLang="en-US" sz="80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문의 </a:t>
              </a:r>
              <a:r>
                <a:rPr lang="en-US" altLang="ko-KR" sz="80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: #{m.lfmall.co.kr</a:t>
              </a:r>
              <a:r>
                <a:rPr lang="en-US" altLang="ko-KR" sz="80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}</a:t>
              </a:r>
              <a:endParaRPr lang="en-US" altLang="ko-KR" sz="8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26" name="양쪽 모서리가 둥근 사각형 25"/>
            <p:cNvSpPr/>
            <p:nvPr/>
          </p:nvSpPr>
          <p:spPr>
            <a:xfrm>
              <a:off x="3968496" y="4374000"/>
              <a:ext cx="1800000" cy="252000"/>
            </a:xfrm>
            <a:prstGeom prst="round2SameRect">
              <a:avLst>
                <a:gd name="adj1" fmla="val 11375"/>
                <a:gd name="adj2" fmla="val 0"/>
              </a:avLst>
            </a:prstGeom>
            <a:solidFill>
              <a:schemeClr val="accent4">
                <a:lumMod val="60000"/>
                <a:lumOff val="40000"/>
              </a:schemeClr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36000" rIns="36000" bIns="36000" rtlCol="0" anchor="ctr"/>
            <a:lstStyle/>
            <a:p>
              <a:r>
                <a:rPr lang="ko-KR" altLang="en-US" sz="70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알림톡 도착</a:t>
              </a:r>
              <a:endParaRPr lang="ko-KR" altLang="en-US" sz="7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sp>
        <p:nvSpPr>
          <p:cNvPr id="27" name="모서리가 둥근 직사각형 26"/>
          <p:cNvSpPr/>
          <p:nvPr/>
        </p:nvSpPr>
        <p:spPr>
          <a:xfrm>
            <a:off x="2555869" y="1906725"/>
            <a:ext cx="1800000" cy="288000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>
              <a:lnSpc>
                <a:spcPct val="150000"/>
              </a:lnSpc>
            </a:pPr>
            <a:r>
              <a:rPr lang="ko-KR" altLang="en-US" sz="800" b="1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주문완료 안내 </a:t>
            </a:r>
            <a:r>
              <a:rPr lang="en-US" altLang="ko-KR" sz="800" b="1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(</a:t>
            </a:r>
            <a:r>
              <a:rPr lang="ko-KR" altLang="en-US" sz="800" b="1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기본</a:t>
            </a:r>
            <a:r>
              <a:rPr lang="en-US" altLang="ko-KR" sz="800" b="1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)</a:t>
            </a:r>
            <a:endParaRPr lang="en-US" altLang="ko-KR" sz="800" b="1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</a:endParaRPr>
          </a:p>
        </p:txBody>
      </p:sp>
      <p:grpSp>
        <p:nvGrpSpPr>
          <p:cNvPr id="29" name="그룹 28"/>
          <p:cNvGrpSpPr/>
          <p:nvPr/>
        </p:nvGrpSpPr>
        <p:grpSpPr>
          <a:xfrm>
            <a:off x="4715869" y="2339999"/>
            <a:ext cx="1800000" cy="3744000"/>
            <a:chOff x="3968496" y="4374000"/>
            <a:chExt cx="1800000" cy="3744000"/>
          </a:xfrm>
        </p:grpSpPr>
        <p:sp>
          <p:nvSpPr>
            <p:cNvPr id="31" name="모서리가 둥근 직사각형 30"/>
            <p:cNvSpPr/>
            <p:nvPr/>
          </p:nvSpPr>
          <p:spPr>
            <a:xfrm>
              <a:off x="3968496" y="4374000"/>
              <a:ext cx="1800000" cy="3744000"/>
            </a:xfrm>
            <a:prstGeom prst="roundRect">
              <a:avLst>
                <a:gd name="adj" fmla="val 1004"/>
              </a:avLst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  <a:effectLst>
              <a:outerShdw blurRad="12700" dist="12700" dir="2700000" algn="tl" rotWithShape="0">
                <a:schemeClr val="tx1">
                  <a:lumMod val="50000"/>
                  <a:lumOff val="50000"/>
                  <a:alpha val="5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360000" rIns="36000" bIns="36000" rtlCol="0" anchor="t"/>
            <a:lstStyle/>
            <a:p>
              <a:r>
                <a:rPr lang="en-US" altLang="ko-KR" sz="80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[LFmall] </a:t>
              </a:r>
              <a:r>
                <a:rPr lang="ko-KR" altLang="en-US" sz="80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주문완료 안내</a:t>
              </a:r>
            </a:p>
            <a:p>
              <a:endParaRPr lang="en-US" altLang="ko-KR" sz="8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endParaRPr>
            </a:p>
            <a:p>
              <a:r>
                <a:rPr lang="ko-KR" altLang="en-US" sz="80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오프라인 매장에서 재고를 찾아 보내 드리는 매장배송 상품으로</a:t>
              </a:r>
              <a:r>
                <a:rPr lang="en-US" altLang="ko-KR" sz="80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, </a:t>
              </a:r>
              <a:r>
                <a:rPr lang="ko-KR" altLang="en-US" sz="80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배송은 영업일 기준 </a:t>
              </a:r>
              <a:r>
                <a:rPr lang="en-US" altLang="ko-KR" sz="80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5~7</a:t>
              </a:r>
              <a:r>
                <a:rPr lang="ko-KR" altLang="en-US" sz="80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일 소요 될 예정입니다</a:t>
              </a:r>
              <a:r>
                <a:rPr lang="en-US" altLang="ko-KR" sz="80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. </a:t>
              </a:r>
              <a:endParaRPr lang="en-US" altLang="ko-KR" sz="8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endParaRPr>
            </a:p>
            <a:p>
              <a:endParaRPr lang="ko-KR" altLang="en-US" sz="8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endParaRPr>
            </a:p>
            <a:p>
              <a:r>
                <a:rPr lang="ko-KR" altLang="en-US" sz="80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▶</a:t>
              </a:r>
              <a:r>
                <a:rPr lang="ko-KR" altLang="en-US" sz="80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도착예정일</a:t>
              </a:r>
              <a:r>
                <a:rPr lang="en-US" altLang="ko-KR" sz="80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/>
              </a:r>
              <a:br>
                <a:rPr lang="en-US" altLang="ko-KR" sz="80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</a:br>
              <a:r>
                <a:rPr lang="en-US" altLang="ko-KR" sz="80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  - </a:t>
              </a:r>
              <a:r>
                <a:rPr lang="ko-KR" altLang="en-US" sz="80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일반주문상품 </a:t>
              </a:r>
              <a:r>
                <a:rPr lang="en-US" altLang="ko-KR" sz="80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: </a:t>
              </a:r>
              <a:r>
                <a:rPr lang="en-US" altLang="ko-KR" sz="80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#{00/00</a:t>
              </a:r>
              <a:r>
                <a:rPr lang="ko-KR" altLang="en-US" sz="80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일</a:t>
              </a:r>
              <a:r>
                <a:rPr lang="en-US" altLang="ko-KR" sz="80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(</a:t>
              </a:r>
              <a:r>
                <a:rPr lang="ko-KR" altLang="en-US" sz="80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요일</a:t>
              </a:r>
              <a:r>
                <a:rPr lang="en-US" altLang="ko-KR" sz="80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)} </a:t>
              </a:r>
              <a:r>
                <a:rPr lang="en-US" altLang="ko-KR" sz="80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/>
              </a:r>
              <a:br>
                <a:rPr lang="en-US" altLang="ko-KR" sz="80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</a:br>
              <a:r>
                <a:rPr lang="en-US" altLang="ko-KR" sz="800" smtClean="0">
                  <a:solidFill>
                    <a:srgbClr val="C00000"/>
                  </a:solidFill>
                  <a:latin typeface="맑은 고딕" panose="020B0503020000020004" pitchFamily="50" charset="-127"/>
                </a:rPr>
                <a:t>  - </a:t>
              </a:r>
              <a:r>
                <a:rPr lang="ko-KR" altLang="en-US" sz="800" smtClean="0">
                  <a:solidFill>
                    <a:srgbClr val="C00000"/>
                  </a:solidFill>
                  <a:latin typeface="맑은 고딕" panose="020B0503020000020004" pitchFamily="50" charset="-127"/>
                </a:rPr>
                <a:t>매장상품배송 </a:t>
              </a:r>
              <a:r>
                <a:rPr lang="en-US" altLang="ko-KR" sz="800" smtClean="0">
                  <a:solidFill>
                    <a:srgbClr val="C00000"/>
                  </a:solidFill>
                  <a:latin typeface="맑은 고딕" panose="020B0503020000020004" pitchFamily="50" charset="-127"/>
                </a:rPr>
                <a:t>: </a:t>
              </a:r>
              <a:r>
                <a:rPr lang="ko-KR" altLang="en-US" sz="800" smtClean="0">
                  <a:solidFill>
                    <a:srgbClr val="C00000"/>
                  </a:solidFill>
                  <a:latin typeface="맑은 고딕" panose="020B0503020000020004" pitchFamily="50" charset="-127"/>
                </a:rPr>
                <a:t>평균</a:t>
              </a:r>
              <a:r>
                <a:rPr lang="en-US" altLang="ko-KR" sz="800" smtClean="0">
                  <a:solidFill>
                    <a:srgbClr val="C00000"/>
                  </a:solidFill>
                  <a:latin typeface="맑은 고딕" panose="020B0503020000020004" pitchFamily="50" charset="-127"/>
                </a:rPr>
                <a:t>#{</a:t>
              </a:r>
              <a:r>
                <a:rPr lang="ko-KR" altLang="en-US" sz="800" smtClean="0">
                  <a:solidFill>
                    <a:srgbClr val="C00000"/>
                  </a:solidFill>
                  <a:latin typeface="맑은 고딕" panose="020B0503020000020004" pitchFamily="50" charset="-127"/>
                </a:rPr>
                <a:t>예정일</a:t>
              </a:r>
              <a:r>
                <a:rPr lang="en-US" altLang="ko-KR" sz="800" smtClean="0">
                  <a:solidFill>
                    <a:srgbClr val="C00000"/>
                  </a:solidFill>
                  <a:latin typeface="맑은 고딕" panose="020B0503020000020004" pitchFamily="50" charset="-127"/>
                </a:rPr>
                <a:t>} </a:t>
              </a:r>
              <a:r>
                <a:rPr lang="ko-KR" altLang="en-US" sz="800" smtClean="0">
                  <a:solidFill>
                    <a:srgbClr val="C00000"/>
                  </a:solidFill>
                  <a:latin typeface="맑은 고딕" panose="020B0503020000020004" pitchFamily="50" charset="-127"/>
                </a:rPr>
                <a:t>예상</a:t>
              </a:r>
              <a:endParaRPr lang="en-US" altLang="ko-KR" sz="800">
                <a:solidFill>
                  <a:srgbClr val="C00000"/>
                </a:solidFill>
                <a:latin typeface="맑은 고딕" panose="020B0503020000020004" pitchFamily="50" charset="-127"/>
              </a:endParaRPr>
            </a:p>
            <a:p>
              <a:r>
                <a:rPr lang="en-US" altLang="ko-KR" sz="80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▶</a:t>
              </a:r>
              <a:r>
                <a:rPr lang="ko-KR" altLang="en-US" sz="80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배송지 </a:t>
              </a:r>
              <a:r>
                <a:rPr lang="en-US" altLang="ko-KR" sz="80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: </a:t>
              </a:r>
              <a:r>
                <a:rPr lang="en-US" altLang="ko-KR" sz="80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#{</a:t>
              </a:r>
              <a:r>
                <a:rPr lang="ko-KR" altLang="en-US" sz="80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배송주소</a:t>
              </a:r>
              <a:r>
                <a:rPr lang="en-US" altLang="ko-KR" sz="80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}</a:t>
              </a:r>
            </a:p>
            <a:p>
              <a:endParaRPr lang="en-US" altLang="ko-KR" sz="8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endParaRPr>
            </a:p>
            <a:p>
              <a:r>
                <a:rPr lang="en-US" altLang="ko-KR" sz="80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▶</a:t>
              </a:r>
              <a:r>
                <a:rPr lang="ko-KR" altLang="en-US" sz="80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상품명</a:t>
              </a:r>
              <a:r>
                <a:rPr lang="en-US" altLang="ko-KR" sz="80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: #{</a:t>
              </a:r>
              <a:r>
                <a:rPr lang="ko-KR" altLang="en-US" sz="80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상품명</a:t>
              </a:r>
              <a:r>
                <a:rPr lang="en-US" altLang="ko-KR" sz="80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}/#{</a:t>
              </a:r>
              <a:r>
                <a:rPr lang="ko-KR" altLang="en-US" sz="80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사이즈</a:t>
              </a:r>
              <a:r>
                <a:rPr lang="en-US" altLang="ko-KR" sz="80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}  #{</a:t>
              </a:r>
              <a:r>
                <a:rPr lang="ko-KR" altLang="en-US" sz="80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주문수량</a:t>
              </a:r>
              <a:r>
                <a:rPr lang="en-US" altLang="ko-KR" sz="80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}</a:t>
              </a:r>
              <a:r>
                <a:rPr lang="ko-KR" altLang="en-US" sz="80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건</a:t>
              </a:r>
            </a:p>
            <a:p>
              <a:r>
                <a:rPr lang="ko-KR" altLang="en-US" sz="80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▶주문번호 </a:t>
              </a:r>
              <a:r>
                <a:rPr lang="en-US" altLang="ko-KR" sz="80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: #{</a:t>
              </a:r>
              <a:r>
                <a:rPr lang="ko-KR" altLang="en-US" sz="80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주문번호</a:t>
              </a:r>
              <a:r>
                <a:rPr lang="en-US" altLang="ko-KR" sz="80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}</a:t>
              </a:r>
            </a:p>
            <a:p>
              <a:r>
                <a:rPr lang="en-US" altLang="ko-KR" sz="80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▶</a:t>
              </a:r>
              <a:r>
                <a:rPr lang="ko-KR" altLang="en-US" sz="80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결제금액 </a:t>
              </a:r>
              <a:r>
                <a:rPr lang="en-US" altLang="ko-KR" sz="80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: #{</a:t>
              </a:r>
              <a:r>
                <a:rPr lang="ko-KR" altLang="en-US" sz="80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실결제금액</a:t>
              </a:r>
              <a:r>
                <a:rPr lang="en-US" altLang="ko-KR" sz="80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}</a:t>
              </a:r>
              <a:r>
                <a:rPr lang="ko-KR" altLang="en-US" sz="80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원</a:t>
              </a:r>
            </a:p>
            <a:p>
              <a:endParaRPr lang="ko-KR" altLang="en-US" sz="8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endParaRPr>
            </a:p>
            <a:p>
              <a:r>
                <a:rPr lang="en-US" altLang="ko-KR" sz="80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※ </a:t>
              </a:r>
              <a:r>
                <a:rPr lang="ko-KR" altLang="en-US" sz="80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실시간 매장 재고 </a:t>
              </a:r>
              <a:r>
                <a:rPr lang="ko-KR" altLang="en-US" sz="80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변동으로 </a:t>
              </a:r>
              <a:r>
                <a:rPr lang="ko-KR" altLang="en-US" sz="80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부득이하게 품절될 </a:t>
              </a:r>
              <a:r>
                <a:rPr lang="ko-KR" altLang="en-US" sz="80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수 있으며</a:t>
              </a:r>
              <a:r>
                <a:rPr lang="en-US" altLang="ko-KR" sz="80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, </a:t>
              </a:r>
              <a:r>
                <a:rPr lang="ko-KR" altLang="en-US" sz="80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품절 시 알림톡으로 다시 </a:t>
              </a:r>
              <a:r>
                <a:rPr lang="ko-KR" altLang="en-US" sz="80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안내드리겠습니다</a:t>
              </a:r>
              <a:r>
                <a:rPr lang="en-US" altLang="ko-KR" sz="80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.</a:t>
              </a:r>
            </a:p>
            <a:p>
              <a:endParaRPr lang="en-US" altLang="ko-KR" sz="8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endParaRPr>
            </a:p>
            <a:p>
              <a:r>
                <a:rPr lang="en-US" altLang="ko-KR" sz="80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⊙ </a:t>
              </a:r>
              <a:r>
                <a:rPr lang="ko-KR" altLang="en-US" sz="80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고객센터 </a:t>
              </a:r>
              <a:r>
                <a:rPr lang="en-US" altLang="ko-KR" sz="80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: 1544-5114</a:t>
              </a:r>
            </a:p>
            <a:p>
              <a:r>
                <a:rPr lang="en-US" altLang="ko-KR" sz="80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⊙ 1:1</a:t>
              </a:r>
              <a:r>
                <a:rPr lang="ko-KR" altLang="en-US" sz="80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문의 </a:t>
              </a:r>
              <a:r>
                <a:rPr lang="en-US" altLang="ko-KR" sz="80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: #{m.lfmall.co.kr}</a:t>
              </a:r>
            </a:p>
          </p:txBody>
        </p:sp>
        <p:sp>
          <p:nvSpPr>
            <p:cNvPr id="32" name="양쪽 모서리가 둥근 사각형 31"/>
            <p:cNvSpPr/>
            <p:nvPr/>
          </p:nvSpPr>
          <p:spPr>
            <a:xfrm>
              <a:off x="3968496" y="4374000"/>
              <a:ext cx="1800000" cy="252000"/>
            </a:xfrm>
            <a:prstGeom prst="round2SameRect">
              <a:avLst>
                <a:gd name="adj1" fmla="val 11375"/>
                <a:gd name="adj2" fmla="val 0"/>
              </a:avLst>
            </a:prstGeom>
            <a:solidFill>
              <a:schemeClr val="accent4">
                <a:lumMod val="60000"/>
                <a:lumOff val="40000"/>
              </a:schemeClr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36000" rIns="36000" bIns="36000" rtlCol="0" anchor="ctr"/>
            <a:lstStyle/>
            <a:p>
              <a:r>
                <a:rPr lang="ko-KR" altLang="en-US" sz="70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알림톡 도착</a:t>
              </a:r>
              <a:endParaRPr lang="ko-KR" altLang="en-US" sz="7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sp>
        <p:nvSpPr>
          <p:cNvPr id="30" name="모서리가 둥근 직사각형 29"/>
          <p:cNvSpPr/>
          <p:nvPr/>
        </p:nvSpPr>
        <p:spPr>
          <a:xfrm>
            <a:off x="4715869" y="1906725"/>
            <a:ext cx="1800000" cy="288000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>
              <a:lnSpc>
                <a:spcPct val="150000"/>
              </a:lnSpc>
            </a:pPr>
            <a:r>
              <a:rPr lang="ko-KR" altLang="en-US" sz="800" b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주문완료 안내 </a:t>
            </a:r>
            <a:r>
              <a:rPr lang="en-US" altLang="ko-KR" sz="800" b="1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(</a:t>
            </a:r>
            <a:r>
              <a:rPr lang="ko-KR" altLang="en-US" sz="800" b="1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매장상품배송</a:t>
            </a:r>
            <a:r>
              <a:rPr lang="en-US" altLang="ko-KR" sz="800" b="1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)</a:t>
            </a:r>
            <a:endParaRPr lang="en-US" altLang="ko-KR" sz="800" b="1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</a:endParaRPr>
          </a:p>
        </p:txBody>
      </p:sp>
      <p:cxnSp>
        <p:nvCxnSpPr>
          <p:cNvPr id="33" name="꺾인 연결선 32"/>
          <p:cNvCxnSpPr>
            <a:stCxn id="2" idx="4"/>
            <a:endCxn id="27" idx="0"/>
          </p:cNvCxnSpPr>
          <p:nvPr/>
        </p:nvCxnSpPr>
        <p:spPr>
          <a:xfrm rot="5400000">
            <a:off x="3816412" y="1187456"/>
            <a:ext cx="358726" cy="1079812"/>
          </a:xfrm>
          <a:prstGeom prst="bentConnector3">
            <a:avLst>
              <a:gd name="adj1" fmla="val 50000"/>
            </a:avLst>
          </a:prstGeom>
          <a:solidFill>
            <a:schemeClr val="accent4">
              <a:lumMod val="20000"/>
              <a:lumOff val="80000"/>
            </a:schemeClr>
          </a:solidFill>
          <a:ln w="28575" cap="flat" cmpd="sng" algn="ctr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  <a:effectLst>
            <a:outerShdw blurRad="25400" dist="12700" dir="2700000" algn="tl" rotWithShape="0">
              <a:prstClr val="black">
                <a:alpha val="60000"/>
              </a:prstClr>
            </a:outerShdw>
          </a:effectLst>
        </p:spPr>
      </p:cxnSp>
      <p:cxnSp>
        <p:nvCxnSpPr>
          <p:cNvPr id="34" name="꺾인 연결선 33"/>
          <p:cNvCxnSpPr>
            <a:stCxn id="2" idx="4"/>
            <a:endCxn id="30" idx="0"/>
          </p:cNvCxnSpPr>
          <p:nvPr/>
        </p:nvCxnSpPr>
        <p:spPr>
          <a:xfrm rot="16200000" flipH="1">
            <a:off x="4896412" y="1187268"/>
            <a:ext cx="358726" cy="1080188"/>
          </a:xfrm>
          <a:prstGeom prst="bentConnector3">
            <a:avLst>
              <a:gd name="adj1" fmla="val 50000"/>
            </a:avLst>
          </a:prstGeom>
          <a:solidFill>
            <a:schemeClr val="accent4">
              <a:lumMod val="20000"/>
              <a:lumOff val="80000"/>
            </a:schemeClr>
          </a:solidFill>
          <a:ln w="28575" cap="flat" cmpd="sng" algn="ctr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  <a:effectLst>
            <a:outerShdw blurRad="25400" dist="12700" dir="2700000" algn="tl" rotWithShape="0">
              <a:prstClr val="black">
                <a:alpha val="60000"/>
              </a:prstClr>
            </a:outerShdw>
          </a:effectLst>
        </p:spPr>
      </p:cxnSp>
      <p:sp>
        <p:nvSpPr>
          <p:cNvPr id="36" name="모서리가 둥근 직사각형 35"/>
          <p:cNvSpPr/>
          <p:nvPr/>
        </p:nvSpPr>
        <p:spPr>
          <a:xfrm>
            <a:off x="2627605" y="4643999"/>
            <a:ext cx="1656000" cy="216000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>
              <a:lnSpc>
                <a:spcPct val="150000"/>
              </a:lnSpc>
            </a:pPr>
            <a:r>
              <a:rPr lang="ko-KR" altLang="en-US" sz="7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주문 내역 확인</a:t>
            </a:r>
            <a:endParaRPr lang="en-US" altLang="ko-KR" sz="70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38" name="모서리가 둥근 직사각형 37"/>
          <p:cNvSpPr/>
          <p:nvPr/>
        </p:nvSpPr>
        <p:spPr>
          <a:xfrm>
            <a:off x="7235754" y="5003999"/>
            <a:ext cx="1656000" cy="216000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>
              <a:lnSpc>
                <a:spcPct val="150000"/>
              </a:lnSpc>
            </a:pPr>
            <a:r>
              <a:rPr lang="ko-KR" altLang="en-US" sz="7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주문 내역 확인</a:t>
            </a:r>
            <a:endParaRPr lang="en-US" altLang="ko-KR" sz="70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39" name="모서리가 둥근 직사각형 38"/>
          <p:cNvSpPr/>
          <p:nvPr/>
        </p:nvSpPr>
        <p:spPr>
          <a:xfrm>
            <a:off x="9395754" y="5363999"/>
            <a:ext cx="1656000" cy="216000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>
              <a:lnSpc>
                <a:spcPct val="150000"/>
              </a:lnSpc>
            </a:pPr>
            <a:r>
              <a:rPr lang="ko-KR" altLang="en-US" sz="7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주문 내역 확인</a:t>
            </a:r>
            <a:endParaRPr lang="en-US" altLang="ko-KR" sz="70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xmlns="" id="{48023800-1C54-47BB-8E6D-1EF4C2BCA9A9}"/>
              </a:ext>
            </a:extLst>
          </p:cNvPr>
          <p:cNvSpPr txBox="1"/>
          <p:nvPr/>
        </p:nvSpPr>
        <p:spPr>
          <a:xfrm>
            <a:off x="94" y="102704"/>
            <a:ext cx="1842721" cy="226591"/>
          </a:xfrm>
          <a:prstGeom prst="rect">
            <a:avLst/>
          </a:prstGeom>
          <a:noFill/>
        </p:spPr>
        <p:txBody>
          <a:bodyPr wrap="none" lIns="360000" tIns="36000" rIns="360000" bIns="36000" rtlCol="0" anchor="ctr">
            <a:spAutoFit/>
          </a:bodyPr>
          <a:lstStyle/>
          <a:p>
            <a:r>
              <a:rPr lang="ko-KR" altLang="en-US" sz="1000" b="1">
                <a:solidFill>
                  <a:schemeClr val="bg1"/>
                </a:solidFill>
                <a:latin typeface="맑은 고딕" panose="020B0503020000020004" pitchFamily="50" charset="-127"/>
              </a:rPr>
              <a:t>온오프 재고 효율화</a:t>
            </a:r>
            <a:endParaRPr lang="en-US" altLang="ko-KR" sz="1000" b="1">
              <a:solidFill>
                <a:schemeClr val="bg1"/>
              </a:solidFill>
              <a:latin typeface="맑은 고딕" panose="020B0503020000020004" pitchFamily="50" charset="-127"/>
            </a:endParaRPr>
          </a:p>
        </p:txBody>
      </p:sp>
      <p:grpSp>
        <p:nvGrpSpPr>
          <p:cNvPr id="41" name="그룹 40"/>
          <p:cNvGrpSpPr/>
          <p:nvPr/>
        </p:nvGrpSpPr>
        <p:grpSpPr>
          <a:xfrm>
            <a:off x="4787605" y="5795999"/>
            <a:ext cx="1656000" cy="288000"/>
            <a:chOff x="4787605" y="5832039"/>
            <a:chExt cx="1656000" cy="288000"/>
          </a:xfrm>
        </p:grpSpPr>
        <p:sp>
          <p:nvSpPr>
            <p:cNvPr id="37" name="모서리가 둥근 직사각형 36"/>
            <p:cNvSpPr/>
            <p:nvPr/>
          </p:nvSpPr>
          <p:spPr>
            <a:xfrm>
              <a:off x="4787605" y="5832039"/>
              <a:ext cx="1656000" cy="216000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>
                <a:lnSpc>
                  <a:spcPct val="150000"/>
                </a:lnSpc>
              </a:pPr>
              <a:r>
                <a:rPr lang="ko-KR" altLang="en-US" sz="70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주문 내역 확인</a:t>
              </a:r>
              <a:endParaRPr lang="en-US" altLang="ko-KR" sz="7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35" name="직사각형 34"/>
            <p:cNvSpPr/>
            <p:nvPr/>
          </p:nvSpPr>
          <p:spPr>
            <a:xfrm>
              <a:off x="5633710" y="6048039"/>
              <a:ext cx="108017" cy="72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8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grpSp>
        <p:nvGrpSpPr>
          <p:cNvPr id="50" name="그룹 49"/>
          <p:cNvGrpSpPr/>
          <p:nvPr/>
        </p:nvGrpSpPr>
        <p:grpSpPr>
          <a:xfrm>
            <a:off x="213465" y="2636158"/>
            <a:ext cx="4795471" cy="3794648"/>
            <a:chOff x="6054235" y="1175515"/>
            <a:chExt cx="4795471" cy="3794648"/>
          </a:xfrm>
        </p:grpSpPr>
        <p:sp>
          <p:nvSpPr>
            <p:cNvPr id="46" name="직사각형 45">
              <a:extLst>
                <a:ext uri="{FF2B5EF4-FFF2-40B4-BE49-F238E27FC236}">
                  <a16:creationId xmlns="" xmlns:a16="http://schemas.microsoft.com/office/drawing/2014/main" id="{A29D5A29-5348-3833-8F1F-EFFFE778D897}"/>
                </a:ext>
              </a:extLst>
            </p:cNvPr>
            <p:cNvSpPr/>
            <p:nvPr/>
          </p:nvSpPr>
          <p:spPr>
            <a:xfrm>
              <a:off x="6054235" y="1406347"/>
              <a:ext cx="2209014" cy="3552515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>
                <a:lnSpc>
                  <a:spcPts val="1200"/>
                </a:lnSpc>
              </a:pPr>
              <a:r>
                <a:rPr lang="en-US" altLang="ko-KR" sz="8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[CXM</a:t>
              </a:r>
              <a:r>
                <a:rPr lang="ko-KR" altLang="en-US" sz="8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검토 회신</a:t>
              </a:r>
              <a:r>
                <a:rPr lang="en-US" altLang="ko-KR" sz="8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]</a:t>
              </a:r>
            </a:p>
            <a:p>
              <a:pPr>
                <a:lnSpc>
                  <a:spcPts val="1200"/>
                </a:lnSpc>
              </a:pPr>
              <a:endParaRPr lang="en-US" altLang="ko-KR" sz="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>
                <a:lnSpc>
                  <a:spcPts val="1200"/>
                </a:lnSpc>
              </a:pPr>
              <a:r>
                <a:rPr lang="en-US" altLang="ko-KR" sz="8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[</a:t>
              </a:r>
              <a:r>
                <a:rPr lang="en-US" altLang="ko-KR" sz="800" b="1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LFmall</a:t>
              </a:r>
              <a:r>
                <a:rPr lang="en-US" altLang="ko-KR" sz="8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] </a:t>
              </a:r>
              <a:r>
                <a:rPr lang="ko-KR" altLang="en-US" sz="8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주문완료 안내</a:t>
              </a:r>
            </a:p>
            <a:p>
              <a:pPr>
                <a:lnSpc>
                  <a:spcPts val="1200"/>
                </a:lnSpc>
              </a:pPr>
              <a:endParaRPr lang="ko-KR" altLang="en-US" sz="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>
                <a:lnSpc>
                  <a:spcPts val="1200"/>
                </a:lnSpc>
              </a:pPr>
              <a:r>
                <a:rPr lang="ko-KR" altLang="en-US" sz="8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오프라인 매장에서 재고를 찾아 보내 </a:t>
              </a:r>
              <a:r>
                <a:rPr lang="ko-KR" altLang="en-US" sz="800" b="1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드리는 </a:t>
              </a:r>
              <a:r>
                <a:rPr lang="ko-KR" altLang="en-US" sz="800" b="1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매장배송 </a:t>
              </a:r>
              <a:r>
                <a:rPr lang="ko-KR" altLang="en-US" sz="8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상품으로</a:t>
              </a:r>
              <a:r>
                <a:rPr lang="en-US" altLang="ko-KR" sz="8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8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배송은 영업일 기준 </a:t>
              </a:r>
              <a:r>
                <a:rPr lang="en-US" altLang="ko-KR" sz="8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5~7</a:t>
              </a:r>
              <a:r>
                <a:rPr lang="ko-KR" altLang="en-US" sz="8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일 소요 될 예정입니다</a:t>
              </a:r>
              <a:r>
                <a:rPr lang="en-US" altLang="ko-KR" sz="8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. </a:t>
              </a:r>
              <a:br>
                <a:rPr lang="en-US" altLang="ko-KR" sz="8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</a:br>
              <a:endParaRPr lang="en-US" altLang="ko-KR" sz="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>
                <a:lnSpc>
                  <a:spcPts val="1200"/>
                </a:lnSpc>
              </a:pPr>
              <a:r>
                <a:rPr lang="en-US" altLang="ko-KR" sz="8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▶</a:t>
              </a:r>
              <a:r>
                <a:rPr lang="ko-KR" altLang="en-US" sz="8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도착예정일</a:t>
              </a:r>
              <a:r>
                <a:rPr lang="en-US" altLang="ko-KR" sz="8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: </a:t>
              </a:r>
            </a:p>
            <a:p>
              <a:pPr>
                <a:lnSpc>
                  <a:spcPts val="1200"/>
                </a:lnSpc>
              </a:pPr>
              <a:r>
                <a:rPr lang="en-US" altLang="ko-KR" sz="8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▶</a:t>
              </a:r>
              <a:r>
                <a:rPr lang="ko-KR" altLang="en-US" sz="8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배송지</a:t>
              </a:r>
              <a:r>
                <a:rPr lang="en-US" altLang="ko-KR" sz="8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: </a:t>
              </a:r>
            </a:p>
            <a:p>
              <a:pPr>
                <a:lnSpc>
                  <a:spcPts val="1200"/>
                </a:lnSpc>
              </a:pPr>
              <a:endParaRPr lang="en-US" altLang="ko-KR" sz="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>
                <a:lnSpc>
                  <a:spcPts val="1200"/>
                </a:lnSpc>
              </a:pPr>
              <a:r>
                <a:rPr lang="en-US" altLang="ko-KR" sz="8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▶</a:t>
              </a:r>
              <a:r>
                <a:rPr lang="ko-KR" altLang="en-US" sz="8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상품명</a:t>
              </a:r>
              <a:r>
                <a:rPr lang="en-US" altLang="ko-KR" sz="8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:</a:t>
              </a:r>
              <a:endParaRPr lang="ko-KR" altLang="en-US" sz="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>
                <a:lnSpc>
                  <a:spcPts val="1200"/>
                </a:lnSpc>
              </a:pPr>
              <a:r>
                <a:rPr lang="ko-KR" altLang="en-US" sz="8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▶주문번호</a:t>
              </a:r>
              <a:r>
                <a:rPr lang="en-US" altLang="ko-KR" sz="8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: </a:t>
              </a:r>
              <a:br>
                <a:rPr lang="en-US" altLang="ko-KR" sz="8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</a:br>
              <a:r>
                <a:rPr lang="en-US" altLang="ko-KR" sz="8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▶</a:t>
              </a:r>
              <a:r>
                <a:rPr lang="ko-KR" altLang="en-US" sz="8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결제금액</a:t>
              </a:r>
              <a:r>
                <a:rPr lang="en-US" altLang="ko-KR" sz="8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:</a:t>
              </a:r>
            </a:p>
            <a:p>
              <a:pPr>
                <a:lnSpc>
                  <a:spcPts val="1200"/>
                </a:lnSpc>
              </a:pPr>
              <a:endParaRPr lang="en-US" altLang="ko-KR" sz="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>
                <a:lnSpc>
                  <a:spcPts val="1200"/>
                </a:lnSpc>
              </a:pPr>
              <a:r>
                <a:rPr lang="en-US" altLang="ko-KR" sz="800" b="1" dirty="0">
                  <a:solidFill>
                    <a:schemeClr val="tx1">
                      <a:lumMod val="75000"/>
                      <a:lumOff val="25000"/>
                    </a:schemeClr>
                  </a:solidFill>
                  <a:ea typeface="+mn-lt"/>
                  <a:cs typeface="+mn-lt"/>
                </a:rPr>
                <a:t>※ </a:t>
              </a:r>
              <a:r>
                <a:rPr lang="en-US" altLang="ko-KR" sz="800" b="1" dirty="0" err="1">
                  <a:solidFill>
                    <a:schemeClr val="tx1">
                      <a:lumMod val="75000"/>
                      <a:lumOff val="25000"/>
                    </a:schemeClr>
                  </a:solidFill>
                  <a:ea typeface="+mn-lt"/>
                  <a:cs typeface="+mn-lt"/>
                </a:rPr>
                <a:t>실시간</a:t>
              </a:r>
              <a:r>
                <a:rPr lang="en-US" altLang="ko-KR" sz="800" b="1" dirty="0">
                  <a:solidFill>
                    <a:schemeClr val="tx1">
                      <a:lumMod val="75000"/>
                      <a:lumOff val="25000"/>
                    </a:schemeClr>
                  </a:solidFill>
                  <a:ea typeface="+mn-lt"/>
                  <a:cs typeface="+mn-lt"/>
                </a:rPr>
                <a:t> </a:t>
              </a:r>
              <a:r>
                <a:rPr lang="en-US" altLang="ko-KR" sz="800" b="1" dirty="0" err="1">
                  <a:solidFill>
                    <a:schemeClr val="tx1">
                      <a:lumMod val="75000"/>
                      <a:lumOff val="25000"/>
                    </a:schemeClr>
                  </a:solidFill>
                  <a:ea typeface="+mn-lt"/>
                  <a:cs typeface="+mn-lt"/>
                </a:rPr>
                <a:t>매장</a:t>
              </a:r>
              <a:r>
                <a:rPr lang="en-US" altLang="ko-KR" sz="800" b="1" dirty="0">
                  <a:solidFill>
                    <a:schemeClr val="tx1">
                      <a:lumMod val="75000"/>
                      <a:lumOff val="25000"/>
                    </a:schemeClr>
                  </a:solidFill>
                  <a:ea typeface="+mn-lt"/>
                  <a:cs typeface="+mn-lt"/>
                </a:rPr>
                <a:t> </a:t>
              </a:r>
              <a:r>
                <a:rPr lang="en-US" altLang="ko-KR" sz="800" b="1" dirty="0" err="1">
                  <a:solidFill>
                    <a:schemeClr val="tx1">
                      <a:lumMod val="75000"/>
                      <a:lumOff val="25000"/>
                    </a:schemeClr>
                  </a:solidFill>
                  <a:ea typeface="+mn-lt"/>
                  <a:cs typeface="+mn-lt"/>
                </a:rPr>
                <a:t>재고</a:t>
              </a:r>
              <a:r>
                <a:rPr lang="en-US" altLang="ko-KR" sz="800" b="1" dirty="0">
                  <a:solidFill>
                    <a:schemeClr val="tx1">
                      <a:lumMod val="75000"/>
                      <a:lumOff val="25000"/>
                    </a:schemeClr>
                  </a:solidFill>
                  <a:ea typeface="+mn-lt"/>
                  <a:cs typeface="+mn-lt"/>
                </a:rPr>
                <a:t> </a:t>
              </a:r>
              <a:r>
                <a:rPr lang="en-US" altLang="ko-KR" sz="800" b="1" dirty="0" err="1">
                  <a:solidFill>
                    <a:schemeClr val="tx1">
                      <a:lumMod val="75000"/>
                      <a:lumOff val="25000"/>
                    </a:schemeClr>
                  </a:solidFill>
                  <a:ea typeface="+mn-lt"/>
                  <a:cs typeface="+mn-lt"/>
                </a:rPr>
                <a:t>변동으로</a:t>
              </a:r>
              <a:r>
                <a:rPr lang="en-US" altLang="ko-KR" sz="800" b="1" dirty="0">
                  <a:solidFill>
                    <a:schemeClr val="tx1">
                      <a:lumMod val="75000"/>
                      <a:lumOff val="25000"/>
                    </a:schemeClr>
                  </a:solidFill>
                  <a:ea typeface="+mn-lt"/>
                  <a:cs typeface="+mn-lt"/>
                </a:rPr>
                <a:t> </a:t>
              </a:r>
              <a:r>
                <a:rPr lang="ko-KR" altLang="en-US" sz="800" b="1" dirty="0">
                  <a:solidFill>
                    <a:schemeClr val="tx1">
                      <a:lumMod val="75000"/>
                      <a:lumOff val="25000"/>
                    </a:schemeClr>
                  </a:solidFill>
                  <a:ea typeface="+mn-lt"/>
                  <a:cs typeface="+mn-lt"/>
                </a:rPr>
                <a:t>부득이하게</a:t>
              </a:r>
            </a:p>
            <a:p>
              <a:pPr>
                <a:lnSpc>
                  <a:spcPts val="1200"/>
                </a:lnSpc>
              </a:pPr>
              <a:r>
                <a:rPr lang="en-US" altLang="ko-KR" sz="800" b="1" dirty="0" err="1">
                  <a:solidFill>
                    <a:schemeClr val="tx1">
                      <a:lumMod val="75000"/>
                      <a:lumOff val="25000"/>
                    </a:schemeClr>
                  </a:solidFill>
                  <a:ea typeface="+mn-lt"/>
                  <a:cs typeface="+mn-lt"/>
                </a:rPr>
                <a:t>품절될</a:t>
              </a:r>
              <a:r>
                <a:rPr lang="en-US" altLang="ko-KR" sz="800" b="1" dirty="0">
                  <a:solidFill>
                    <a:schemeClr val="tx1">
                      <a:lumMod val="75000"/>
                      <a:lumOff val="25000"/>
                    </a:schemeClr>
                  </a:solidFill>
                  <a:ea typeface="+mn-lt"/>
                  <a:cs typeface="+mn-lt"/>
                </a:rPr>
                <a:t> 수 </a:t>
              </a:r>
              <a:r>
                <a:rPr lang="en-US" altLang="ko-KR" sz="800" b="1" dirty="0" err="1">
                  <a:solidFill>
                    <a:schemeClr val="tx1">
                      <a:lumMod val="75000"/>
                      <a:lumOff val="25000"/>
                    </a:schemeClr>
                  </a:solidFill>
                  <a:ea typeface="+mn-lt"/>
                  <a:cs typeface="+mn-lt"/>
                </a:rPr>
                <a:t>있으며</a:t>
              </a:r>
              <a:r>
                <a:rPr lang="en-US" altLang="ko-KR" sz="800" b="1" dirty="0">
                  <a:solidFill>
                    <a:schemeClr val="tx1">
                      <a:lumMod val="75000"/>
                      <a:lumOff val="25000"/>
                    </a:schemeClr>
                  </a:solidFill>
                  <a:ea typeface="+mn-lt"/>
                  <a:cs typeface="+mn-lt"/>
                </a:rPr>
                <a:t>, </a:t>
              </a:r>
              <a:r>
                <a:rPr lang="en-US" altLang="ko-KR" sz="800" b="1" dirty="0" err="1">
                  <a:solidFill>
                    <a:schemeClr val="tx1">
                      <a:lumMod val="75000"/>
                      <a:lumOff val="25000"/>
                    </a:schemeClr>
                  </a:solidFill>
                  <a:ea typeface="+mn-lt"/>
                  <a:cs typeface="+mn-lt"/>
                </a:rPr>
                <a:t>품절</a:t>
              </a:r>
              <a:r>
                <a:rPr lang="en-US" altLang="ko-KR" sz="800" b="1" dirty="0">
                  <a:solidFill>
                    <a:schemeClr val="tx1">
                      <a:lumMod val="75000"/>
                      <a:lumOff val="25000"/>
                    </a:schemeClr>
                  </a:solidFill>
                  <a:ea typeface="+mn-lt"/>
                  <a:cs typeface="+mn-lt"/>
                </a:rPr>
                <a:t> 시 </a:t>
              </a:r>
              <a:r>
                <a:rPr lang="en-US" altLang="ko-KR" sz="800" b="1" dirty="0" err="1">
                  <a:solidFill>
                    <a:schemeClr val="tx1">
                      <a:lumMod val="75000"/>
                      <a:lumOff val="25000"/>
                    </a:schemeClr>
                  </a:solidFill>
                  <a:ea typeface="+mn-lt"/>
                  <a:cs typeface="+mn-lt"/>
                </a:rPr>
                <a:t>알림톡으로</a:t>
              </a:r>
              <a:r>
                <a:rPr lang="en-US" altLang="ko-KR" sz="800" b="1" dirty="0">
                  <a:solidFill>
                    <a:schemeClr val="tx1">
                      <a:lumMod val="75000"/>
                      <a:lumOff val="25000"/>
                    </a:schemeClr>
                  </a:solidFill>
                  <a:ea typeface="+mn-lt"/>
                  <a:cs typeface="+mn-lt"/>
                </a:rPr>
                <a:t> </a:t>
              </a:r>
              <a:r>
                <a:rPr lang="en-US" altLang="ko-KR" sz="800" b="1" dirty="0" err="1">
                  <a:solidFill>
                    <a:schemeClr val="tx1">
                      <a:lumMod val="75000"/>
                      <a:lumOff val="25000"/>
                    </a:schemeClr>
                  </a:solidFill>
                  <a:ea typeface="+mn-lt"/>
                  <a:cs typeface="+mn-lt"/>
                </a:rPr>
                <a:t>다시</a:t>
              </a:r>
              <a:r>
                <a:rPr lang="en-US" altLang="ko-KR" sz="800" b="1" dirty="0">
                  <a:solidFill>
                    <a:schemeClr val="tx1">
                      <a:lumMod val="75000"/>
                      <a:lumOff val="25000"/>
                    </a:schemeClr>
                  </a:solidFill>
                  <a:ea typeface="+mn-lt"/>
                  <a:cs typeface="+mn-lt"/>
                </a:rPr>
                <a:t> </a:t>
              </a:r>
              <a:r>
                <a:rPr lang="en-US" altLang="ko-KR" sz="800" b="1" dirty="0" err="1">
                  <a:solidFill>
                    <a:schemeClr val="tx1">
                      <a:lumMod val="75000"/>
                      <a:lumOff val="25000"/>
                    </a:schemeClr>
                  </a:solidFill>
                  <a:ea typeface="+mn-lt"/>
                  <a:cs typeface="+mn-lt"/>
                </a:rPr>
                <a:t>안내드리겠습니다</a:t>
              </a:r>
              <a:r>
                <a:rPr lang="en-US" altLang="ko-KR" sz="800" b="1" dirty="0">
                  <a:solidFill>
                    <a:schemeClr val="tx1">
                      <a:lumMod val="75000"/>
                      <a:lumOff val="25000"/>
                    </a:schemeClr>
                  </a:solidFill>
                  <a:ea typeface="+mn-lt"/>
                  <a:cs typeface="+mn-lt"/>
                </a:rPr>
                <a:t>.</a:t>
              </a:r>
              <a:endPara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ea typeface="맑은 고딕"/>
              </a:endParaRPr>
            </a:p>
            <a:p>
              <a:pPr>
                <a:lnSpc>
                  <a:spcPts val="1200"/>
                </a:lnSpc>
              </a:pPr>
              <a:endParaRPr lang="en-US" altLang="ko-KR" sz="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>
                <a:lnSpc>
                  <a:spcPts val="1200"/>
                </a:lnSpc>
              </a:pPr>
              <a:r>
                <a:rPr lang="ko-KR" altLang="en-US" sz="8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⊙ 고객센터 </a:t>
              </a:r>
              <a:r>
                <a:rPr lang="en-US" altLang="ko-KR" sz="8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: 1544-5114</a:t>
              </a:r>
            </a:p>
            <a:p>
              <a:pPr>
                <a:lnSpc>
                  <a:spcPts val="1200"/>
                </a:lnSpc>
              </a:pPr>
              <a:r>
                <a:rPr lang="en-US" altLang="ko-KR" sz="8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⊙ 1:1</a:t>
              </a:r>
              <a:r>
                <a:rPr lang="ko-KR" altLang="en-US" sz="8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문의 </a:t>
              </a:r>
              <a:r>
                <a:rPr lang="en-US" altLang="ko-KR" sz="8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:</a:t>
              </a:r>
            </a:p>
          </p:txBody>
        </p:sp>
        <p:sp>
          <p:nvSpPr>
            <p:cNvPr id="47" name="직사각형 46">
              <a:extLst>
                <a:ext uri="{FF2B5EF4-FFF2-40B4-BE49-F238E27FC236}">
                  <a16:creationId xmlns="" xmlns:a16="http://schemas.microsoft.com/office/drawing/2014/main" id="{E1949378-3C00-8A92-FBED-A0279F750B78}"/>
                </a:ext>
              </a:extLst>
            </p:cNvPr>
            <p:cNvSpPr/>
            <p:nvPr/>
          </p:nvSpPr>
          <p:spPr>
            <a:xfrm>
              <a:off x="8639907" y="1417648"/>
              <a:ext cx="2209014" cy="3552515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>
                <a:lnSpc>
                  <a:spcPts val="1200"/>
                </a:lnSpc>
              </a:pPr>
              <a:r>
                <a:rPr lang="en-US" altLang="ko-KR" sz="8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[CXM</a:t>
              </a:r>
              <a:r>
                <a:rPr lang="ko-KR" altLang="en-US" sz="8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검토 회신</a:t>
              </a:r>
              <a:r>
                <a:rPr lang="en-US" altLang="ko-KR" sz="8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]</a:t>
              </a:r>
            </a:p>
            <a:p>
              <a:pPr>
                <a:lnSpc>
                  <a:spcPts val="1200"/>
                </a:lnSpc>
              </a:pPr>
              <a:endParaRPr lang="en-US" altLang="ko-KR" sz="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>
                <a:lnSpc>
                  <a:spcPts val="1200"/>
                </a:lnSpc>
              </a:pPr>
              <a:r>
                <a:rPr lang="en-US" altLang="ko-KR" sz="8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[</a:t>
              </a:r>
              <a:r>
                <a:rPr lang="en-US" altLang="ko-KR" sz="800" b="1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LFmall</a:t>
              </a:r>
              <a:r>
                <a:rPr lang="en-US" altLang="ko-KR" sz="8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] </a:t>
              </a:r>
              <a:r>
                <a:rPr lang="ko-KR" altLang="en-US" sz="8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주문완료 안내</a:t>
              </a:r>
            </a:p>
            <a:p>
              <a:pPr>
                <a:lnSpc>
                  <a:spcPts val="1200"/>
                </a:lnSpc>
              </a:pPr>
              <a:endParaRPr lang="ko-KR" altLang="en-US" sz="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>
                <a:lnSpc>
                  <a:spcPts val="1200"/>
                </a:lnSpc>
              </a:pPr>
              <a:r>
                <a:rPr lang="ko-KR" altLang="en-US" sz="8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오프라인 매장에서 재고를 찾아 보내 드리는 매장배송 상품으로</a:t>
              </a:r>
              <a:r>
                <a:rPr lang="en-US" altLang="ko-KR" sz="8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8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배송은 영업일 기준 </a:t>
              </a:r>
              <a:r>
                <a:rPr lang="en-US" altLang="ko-KR" sz="8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5~7</a:t>
              </a:r>
              <a:r>
                <a:rPr lang="ko-KR" altLang="en-US" sz="8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일 소요 될 예정입니다</a:t>
              </a:r>
              <a:r>
                <a:rPr lang="en-US" altLang="ko-KR" sz="8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. </a:t>
              </a:r>
              <a:br>
                <a:rPr lang="en-US" altLang="ko-KR" sz="8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</a:br>
              <a:endParaRPr lang="en-US" altLang="ko-KR" sz="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>
                <a:lnSpc>
                  <a:spcPts val="1200"/>
                </a:lnSpc>
              </a:pPr>
              <a:r>
                <a:rPr lang="en-US" altLang="ko-KR" sz="8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▶</a:t>
              </a:r>
              <a:r>
                <a:rPr lang="ko-KR" altLang="en-US" sz="8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도착예정일</a:t>
              </a:r>
              <a:r>
                <a:rPr lang="en-US" altLang="ko-KR" sz="8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: </a:t>
              </a:r>
            </a:p>
            <a:p>
              <a:pPr>
                <a:lnSpc>
                  <a:spcPts val="1200"/>
                </a:lnSpc>
              </a:pPr>
              <a:r>
                <a:rPr lang="en-US" altLang="ko-KR" sz="8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▶</a:t>
              </a:r>
              <a:r>
                <a:rPr lang="ko-KR" altLang="en-US" sz="8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배송지</a:t>
              </a:r>
              <a:r>
                <a:rPr lang="en-US" altLang="ko-KR" sz="8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: </a:t>
              </a:r>
            </a:p>
            <a:p>
              <a:pPr>
                <a:lnSpc>
                  <a:spcPts val="1200"/>
                </a:lnSpc>
              </a:pPr>
              <a:endParaRPr lang="en-US" altLang="ko-KR" sz="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>
                <a:lnSpc>
                  <a:spcPts val="1200"/>
                </a:lnSpc>
              </a:pPr>
              <a:r>
                <a:rPr lang="en-US" altLang="ko-KR" sz="8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▶</a:t>
              </a:r>
              <a:r>
                <a:rPr lang="ko-KR" altLang="en-US" sz="8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상품명</a:t>
              </a:r>
              <a:r>
                <a:rPr lang="en-US" altLang="ko-KR" sz="8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:</a:t>
              </a:r>
              <a:endParaRPr lang="ko-KR" altLang="en-US" sz="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>
                <a:lnSpc>
                  <a:spcPts val="1200"/>
                </a:lnSpc>
              </a:pPr>
              <a:r>
                <a:rPr lang="ko-KR" altLang="en-US" sz="8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▶주문번호</a:t>
              </a:r>
              <a:r>
                <a:rPr lang="en-US" altLang="ko-KR" sz="8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: </a:t>
              </a:r>
              <a:br>
                <a:rPr lang="en-US" altLang="ko-KR" sz="8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</a:br>
              <a:endParaRPr lang="en-US" altLang="ko-KR" sz="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>
                <a:lnSpc>
                  <a:spcPts val="1200"/>
                </a:lnSpc>
              </a:pPr>
              <a:r>
                <a:rPr lang="en-US" altLang="ko-KR" sz="800" b="1" dirty="0">
                  <a:solidFill>
                    <a:schemeClr val="tx1">
                      <a:lumMod val="75000"/>
                      <a:lumOff val="25000"/>
                    </a:schemeClr>
                  </a:solidFill>
                  <a:ea typeface="+mn-lt"/>
                  <a:cs typeface="+mn-lt"/>
                </a:rPr>
                <a:t>※ </a:t>
              </a:r>
              <a:r>
                <a:rPr lang="en-US" altLang="ko-KR" sz="800" b="1" dirty="0" err="1">
                  <a:solidFill>
                    <a:schemeClr val="tx1">
                      <a:lumMod val="75000"/>
                      <a:lumOff val="25000"/>
                    </a:schemeClr>
                  </a:solidFill>
                  <a:ea typeface="+mn-lt"/>
                  <a:cs typeface="+mn-lt"/>
                </a:rPr>
                <a:t>실시간</a:t>
              </a:r>
              <a:r>
                <a:rPr lang="en-US" altLang="ko-KR" sz="800" b="1" dirty="0">
                  <a:solidFill>
                    <a:schemeClr val="tx1">
                      <a:lumMod val="75000"/>
                      <a:lumOff val="25000"/>
                    </a:schemeClr>
                  </a:solidFill>
                  <a:ea typeface="+mn-lt"/>
                  <a:cs typeface="+mn-lt"/>
                </a:rPr>
                <a:t> </a:t>
              </a:r>
              <a:r>
                <a:rPr lang="en-US" altLang="ko-KR" sz="800" b="1" dirty="0" err="1">
                  <a:solidFill>
                    <a:schemeClr val="tx1">
                      <a:lumMod val="75000"/>
                      <a:lumOff val="25000"/>
                    </a:schemeClr>
                  </a:solidFill>
                  <a:ea typeface="+mn-lt"/>
                  <a:cs typeface="+mn-lt"/>
                </a:rPr>
                <a:t>매장</a:t>
              </a:r>
              <a:r>
                <a:rPr lang="en-US" altLang="ko-KR" sz="800" b="1" dirty="0">
                  <a:solidFill>
                    <a:schemeClr val="tx1">
                      <a:lumMod val="75000"/>
                      <a:lumOff val="25000"/>
                    </a:schemeClr>
                  </a:solidFill>
                  <a:ea typeface="+mn-lt"/>
                  <a:cs typeface="+mn-lt"/>
                </a:rPr>
                <a:t> </a:t>
              </a:r>
              <a:r>
                <a:rPr lang="en-US" altLang="ko-KR" sz="800" b="1" dirty="0" err="1">
                  <a:solidFill>
                    <a:schemeClr val="tx1">
                      <a:lumMod val="75000"/>
                      <a:lumOff val="25000"/>
                    </a:schemeClr>
                  </a:solidFill>
                  <a:ea typeface="+mn-lt"/>
                  <a:cs typeface="+mn-lt"/>
                </a:rPr>
                <a:t>재고</a:t>
              </a:r>
              <a:r>
                <a:rPr lang="en-US" altLang="ko-KR" sz="800" b="1" dirty="0">
                  <a:solidFill>
                    <a:schemeClr val="tx1">
                      <a:lumMod val="75000"/>
                      <a:lumOff val="25000"/>
                    </a:schemeClr>
                  </a:solidFill>
                  <a:ea typeface="+mn-lt"/>
                  <a:cs typeface="+mn-lt"/>
                </a:rPr>
                <a:t> </a:t>
              </a:r>
              <a:r>
                <a:rPr lang="en-US" altLang="ko-KR" sz="800" b="1" dirty="0" err="1">
                  <a:solidFill>
                    <a:schemeClr val="tx1">
                      <a:lumMod val="75000"/>
                      <a:lumOff val="25000"/>
                    </a:schemeClr>
                  </a:solidFill>
                  <a:ea typeface="+mn-lt"/>
                  <a:cs typeface="+mn-lt"/>
                </a:rPr>
                <a:t>변동으로</a:t>
              </a:r>
              <a:r>
                <a:rPr lang="en-US" altLang="ko-KR" sz="800" b="1" dirty="0">
                  <a:solidFill>
                    <a:schemeClr val="tx1">
                      <a:lumMod val="75000"/>
                      <a:lumOff val="25000"/>
                    </a:schemeClr>
                  </a:solidFill>
                  <a:ea typeface="+mn-lt"/>
                  <a:cs typeface="+mn-lt"/>
                </a:rPr>
                <a:t> </a:t>
              </a:r>
              <a:r>
                <a:rPr lang="ko-KR" altLang="en-US" sz="800" b="1" dirty="0">
                  <a:solidFill>
                    <a:schemeClr val="tx1">
                      <a:lumMod val="75000"/>
                      <a:lumOff val="25000"/>
                    </a:schemeClr>
                  </a:solidFill>
                  <a:ea typeface="+mn-lt"/>
                  <a:cs typeface="+mn-lt"/>
                </a:rPr>
                <a:t>부득이하게</a:t>
              </a:r>
            </a:p>
            <a:p>
              <a:pPr>
                <a:lnSpc>
                  <a:spcPts val="1200"/>
                </a:lnSpc>
              </a:pPr>
              <a:r>
                <a:rPr lang="en-US" altLang="ko-KR" sz="800" b="1" dirty="0" err="1">
                  <a:solidFill>
                    <a:schemeClr val="tx1">
                      <a:lumMod val="75000"/>
                      <a:lumOff val="25000"/>
                    </a:schemeClr>
                  </a:solidFill>
                  <a:ea typeface="+mn-lt"/>
                  <a:cs typeface="+mn-lt"/>
                </a:rPr>
                <a:t>품절될</a:t>
              </a:r>
              <a:r>
                <a:rPr lang="en-US" altLang="ko-KR" sz="800" b="1" dirty="0">
                  <a:solidFill>
                    <a:schemeClr val="tx1">
                      <a:lumMod val="75000"/>
                      <a:lumOff val="25000"/>
                    </a:schemeClr>
                  </a:solidFill>
                  <a:ea typeface="+mn-lt"/>
                  <a:cs typeface="+mn-lt"/>
                </a:rPr>
                <a:t> 수 </a:t>
              </a:r>
              <a:r>
                <a:rPr lang="en-US" altLang="ko-KR" sz="800" b="1" dirty="0" err="1">
                  <a:solidFill>
                    <a:schemeClr val="tx1">
                      <a:lumMod val="75000"/>
                      <a:lumOff val="25000"/>
                    </a:schemeClr>
                  </a:solidFill>
                  <a:ea typeface="+mn-lt"/>
                  <a:cs typeface="+mn-lt"/>
                </a:rPr>
                <a:t>있으며</a:t>
              </a:r>
              <a:r>
                <a:rPr lang="en-US" altLang="ko-KR" sz="800" b="1" dirty="0">
                  <a:solidFill>
                    <a:schemeClr val="tx1">
                      <a:lumMod val="75000"/>
                      <a:lumOff val="25000"/>
                    </a:schemeClr>
                  </a:solidFill>
                  <a:ea typeface="+mn-lt"/>
                  <a:cs typeface="+mn-lt"/>
                </a:rPr>
                <a:t>, </a:t>
              </a:r>
              <a:r>
                <a:rPr lang="en-US" altLang="ko-KR" sz="800" b="1" dirty="0" err="1">
                  <a:solidFill>
                    <a:schemeClr val="tx1">
                      <a:lumMod val="75000"/>
                      <a:lumOff val="25000"/>
                    </a:schemeClr>
                  </a:solidFill>
                  <a:ea typeface="+mn-lt"/>
                  <a:cs typeface="+mn-lt"/>
                </a:rPr>
                <a:t>품절</a:t>
              </a:r>
              <a:r>
                <a:rPr lang="en-US" altLang="ko-KR" sz="800" b="1" dirty="0">
                  <a:solidFill>
                    <a:schemeClr val="tx1">
                      <a:lumMod val="75000"/>
                      <a:lumOff val="25000"/>
                    </a:schemeClr>
                  </a:solidFill>
                  <a:ea typeface="+mn-lt"/>
                  <a:cs typeface="+mn-lt"/>
                </a:rPr>
                <a:t> 시 </a:t>
              </a:r>
              <a:r>
                <a:rPr lang="en-US" altLang="ko-KR" sz="800" b="1" dirty="0" err="1">
                  <a:solidFill>
                    <a:schemeClr val="tx1">
                      <a:lumMod val="75000"/>
                      <a:lumOff val="25000"/>
                    </a:schemeClr>
                  </a:solidFill>
                  <a:ea typeface="+mn-lt"/>
                  <a:cs typeface="+mn-lt"/>
                </a:rPr>
                <a:t>알림톡으로</a:t>
              </a:r>
              <a:r>
                <a:rPr lang="en-US" altLang="ko-KR" sz="800" b="1" dirty="0">
                  <a:solidFill>
                    <a:schemeClr val="tx1">
                      <a:lumMod val="75000"/>
                      <a:lumOff val="25000"/>
                    </a:schemeClr>
                  </a:solidFill>
                  <a:ea typeface="+mn-lt"/>
                  <a:cs typeface="+mn-lt"/>
                </a:rPr>
                <a:t> </a:t>
              </a:r>
              <a:r>
                <a:rPr lang="en-US" altLang="ko-KR" sz="800" b="1" dirty="0" err="1">
                  <a:solidFill>
                    <a:schemeClr val="tx1">
                      <a:lumMod val="75000"/>
                      <a:lumOff val="25000"/>
                    </a:schemeClr>
                  </a:solidFill>
                  <a:ea typeface="+mn-lt"/>
                  <a:cs typeface="+mn-lt"/>
                </a:rPr>
                <a:t>다시</a:t>
              </a:r>
              <a:r>
                <a:rPr lang="en-US" altLang="ko-KR" sz="800" b="1" dirty="0">
                  <a:solidFill>
                    <a:schemeClr val="tx1">
                      <a:lumMod val="75000"/>
                      <a:lumOff val="25000"/>
                    </a:schemeClr>
                  </a:solidFill>
                  <a:ea typeface="+mn-lt"/>
                  <a:cs typeface="+mn-lt"/>
                </a:rPr>
                <a:t> </a:t>
              </a:r>
              <a:r>
                <a:rPr lang="en-US" altLang="ko-KR" sz="800" b="1" dirty="0" err="1">
                  <a:solidFill>
                    <a:schemeClr val="tx1">
                      <a:lumMod val="75000"/>
                      <a:lumOff val="25000"/>
                    </a:schemeClr>
                  </a:solidFill>
                  <a:ea typeface="+mn-lt"/>
                  <a:cs typeface="+mn-lt"/>
                </a:rPr>
                <a:t>안내드리겠습니다</a:t>
              </a:r>
              <a:r>
                <a:rPr lang="en-US" altLang="ko-KR" sz="800" b="1" dirty="0">
                  <a:solidFill>
                    <a:schemeClr val="tx1">
                      <a:lumMod val="75000"/>
                      <a:lumOff val="25000"/>
                    </a:schemeClr>
                  </a:solidFill>
                  <a:ea typeface="+mn-lt"/>
                  <a:cs typeface="+mn-lt"/>
                </a:rPr>
                <a:t>.</a:t>
              </a:r>
              <a:endPara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ea typeface="맑은 고딕"/>
              </a:endParaRPr>
            </a:p>
            <a:p>
              <a:pPr>
                <a:lnSpc>
                  <a:spcPts val="1200"/>
                </a:lnSpc>
              </a:pPr>
              <a:endParaRPr lang="en-US" altLang="ko-KR" sz="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>
                <a:lnSpc>
                  <a:spcPts val="1200"/>
                </a:lnSpc>
              </a:pPr>
              <a:r>
                <a:rPr lang="ko-KR" altLang="en-US" sz="8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⊙ 고객센터 </a:t>
              </a:r>
              <a:r>
                <a:rPr lang="en-US" altLang="ko-KR" sz="8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: 1544-5114</a:t>
              </a:r>
            </a:p>
            <a:p>
              <a:pPr>
                <a:lnSpc>
                  <a:spcPts val="1200"/>
                </a:lnSpc>
              </a:pPr>
              <a:r>
                <a:rPr lang="en-US" altLang="ko-KR" sz="8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⊙ 1:1</a:t>
              </a:r>
              <a:r>
                <a:rPr lang="ko-KR" altLang="en-US" sz="8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문의 </a:t>
              </a:r>
              <a:r>
                <a:rPr lang="en-US" altLang="ko-KR" sz="8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:</a:t>
              </a:r>
            </a:p>
          </p:txBody>
        </p:sp>
        <p:sp>
          <p:nvSpPr>
            <p:cNvPr id="48" name="TextBox 47">
              <a:extLst>
                <a:ext uri="{FF2B5EF4-FFF2-40B4-BE49-F238E27FC236}">
                  <a16:creationId xmlns="" xmlns:a16="http://schemas.microsoft.com/office/drawing/2014/main" id="{B2B4CD5E-FF7A-3AE4-6CFD-A0448590DDD7}"/>
                </a:ext>
              </a:extLst>
            </p:cNvPr>
            <p:cNvSpPr txBox="1"/>
            <p:nvPr/>
          </p:nvSpPr>
          <p:spPr>
            <a:xfrm>
              <a:off x="6415058" y="1175515"/>
              <a:ext cx="1487369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900" b="1" dirty="0">
                  <a:solidFill>
                    <a:srgbClr val="002060"/>
                  </a:solidFill>
                </a:rPr>
                <a:t>[</a:t>
              </a:r>
              <a:r>
                <a:rPr lang="ko-KR" altLang="en-US" sz="900" b="1" dirty="0">
                  <a:solidFill>
                    <a:srgbClr val="002060"/>
                  </a:solidFill>
                </a:rPr>
                <a:t>매장배송 단독 구매 시</a:t>
              </a:r>
              <a:r>
                <a:rPr lang="en-US" altLang="ko-KR" sz="900" b="1" dirty="0">
                  <a:solidFill>
                    <a:srgbClr val="002060"/>
                  </a:solidFill>
                </a:rPr>
                <a:t>]</a:t>
              </a:r>
              <a:endParaRPr lang="ko-KR" altLang="en-US" sz="900" b="1" dirty="0">
                <a:solidFill>
                  <a:srgbClr val="002060"/>
                </a:solidFill>
              </a:endParaRPr>
            </a:p>
          </p:txBody>
        </p:sp>
        <p:sp>
          <p:nvSpPr>
            <p:cNvPr id="49" name="TextBox 48">
              <a:extLst>
                <a:ext uri="{FF2B5EF4-FFF2-40B4-BE49-F238E27FC236}">
                  <a16:creationId xmlns="" xmlns:a16="http://schemas.microsoft.com/office/drawing/2014/main" id="{1E4FB53E-A3C2-4135-0976-31E6F1609FF3}"/>
                </a:ext>
              </a:extLst>
            </p:cNvPr>
            <p:cNvSpPr txBox="1"/>
            <p:nvPr/>
          </p:nvSpPr>
          <p:spPr>
            <a:xfrm>
              <a:off x="8513147" y="1175515"/>
              <a:ext cx="2336559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900" b="1" dirty="0">
                  <a:solidFill>
                    <a:srgbClr val="002060"/>
                  </a:solidFill>
                </a:rPr>
                <a:t>[</a:t>
              </a:r>
              <a:r>
                <a:rPr lang="ko-KR" altLang="en-US" sz="900" b="1" dirty="0">
                  <a:solidFill>
                    <a:srgbClr val="002060"/>
                  </a:solidFill>
                </a:rPr>
                <a:t>매장배송 포함 복수 구매 시 중복 발송용</a:t>
              </a:r>
              <a:r>
                <a:rPr lang="en-US" altLang="ko-KR" sz="900" b="1" dirty="0">
                  <a:solidFill>
                    <a:srgbClr val="002060"/>
                  </a:solidFill>
                </a:rPr>
                <a:t>]</a:t>
              </a:r>
              <a:endParaRPr lang="ko-KR" altLang="en-US" sz="900" b="1" dirty="0">
                <a:solidFill>
                  <a:srgbClr val="00206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316443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모서리가 둥근 직사각형 1"/>
          <p:cNvSpPr/>
          <p:nvPr/>
        </p:nvSpPr>
        <p:spPr>
          <a:xfrm>
            <a:off x="323906" y="755999"/>
            <a:ext cx="2808000" cy="360000"/>
          </a:xfrm>
          <a:prstGeom prst="roundRect">
            <a:avLst/>
          </a:prstGeom>
          <a:solidFill>
            <a:schemeClr val="tx1">
              <a:lumMod val="65000"/>
              <a:lumOff val="35000"/>
            </a:schemeClr>
          </a:solidFill>
          <a:ln w="381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0" tIns="36000" rIns="36000" bIns="36000" rtlCol="0" anchor="ctr"/>
          <a:lstStyle/>
          <a:p>
            <a:r>
              <a:rPr lang="ko-KR" altLang="en-US" sz="900" b="1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매장상품배송 리드타임 </a:t>
            </a:r>
            <a:r>
              <a:rPr lang="en-US" altLang="ko-KR" sz="900" b="1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 </a:t>
            </a:r>
            <a:r>
              <a:rPr lang="ko-KR" altLang="en-US" sz="900" b="1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자동결품 정책</a:t>
            </a:r>
            <a:endParaRPr lang="ko-KR" altLang="en-US" sz="900" b="1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5267694" y="1378092"/>
            <a:ext cx="1632425" cy="195814"/>
          </a:xfrm>
          <a:prstGeom prst="rect">
            <a:avLst/>
          </a:prstGeom>
          <a:noFill/>
        </p:spPr>
        <p:txBody>
          <a:bodyPr wrap="none" lIns="36000" tIns="36000" rIns="36000" bIns="36000" rtlCol="0" anchor="ctr">
            <a:spAutoFit/>
          </a:bodyPr>
          <a:lstStyle/>
          <a:p>
            <a:pPr algn="ctr"/>
            <a:r>
              <a:rPr lang="ko-KR" altLang="en-US" sz="800" b="1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이슈 없이 진행 될 경우 </a:t>
            </a:r>
            <a:r>
              <a:rPr lang="en-US" altLang="ko-KR" sz="800" b="1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D+5 </a:t>
            </a:r>
            <a:r>
              <a:rPr lang="ko-KR" altLang="en-US" sz="800" b="1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예상</a:t>
            </a:r>
            <a:endParaRPr lang="en-US" altLang="ko-KR" sz="800" b="1" smtClean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xmlns="" id="{C5E486F5-93A1-4316-A9AE-8F2FB1C3263A}"/>
              </a:ext>
            </a:extLst>
          </p:cNvPr>
          <p:cNvSpPr txBox="1"/>
          <p:nvPr/>
        </p:nvSpPr>
        <p:spPr>
          <a:xfrm>
            <a:off x="94" y="102705"/>
            <a:ext cx="1842721" cy="226591"/>
          </a:xfrm>
          <a:prstGeom prst="rect">
            <a:avLst/>
          </a:prstGeom>
          <a:noFill/>
        </p:spPr>
        <p:txBody>
          <a:bodyPr wrap="none" lIns="360000" tIns="36000" rIns="360000" bIns="36000" rtlCol="0" anchor="ctr">
            <a:spAutoFit/>
          </a:bodyPr>
          <a:lstStyle/>
          <a:p>
            <a:r>
              <a:rPr lang="ko-KR" altLang="en-US" sz="1000" b="1">
                <a:solidFill>
                  <a:schemeClr val="bg1"/>
                </a:solidFill>
                <a:latin typeface="맑은 고딕" panose="020B0503020000020004" pitchFamily="50" charset="-127"/>
              </a:rPr>
              <a:t>온오프 재고 효율화</a:t>
            </a:r>
            <a:endParaRPr lang="en-US" altLang="ko-KR" sz="1000" b="1">
              <a:solidFill>
                <a:schemeClr val="bg1"/>
              </a:solidFill>
              <a:latin typeface="맑은 고딕" panose="020B0503020000020004" pitchFamily="50" charset="-127"/>
            </a:endParaRPr>
          </a:p>
        </p:txBody>
      </p:sp>
      <p:sp>
        <p:nvSpPr>
          <p:cNvPr id="42" name="모서리가 둥근 직사각형 41"/>
          <p:cNvSpPr/>
          <p:nvPr/>
        </p:nvSpPr>
        <p:spPr>
          <a:xfrm>
            <a:off x="323906" y="1295999"/>
            <a:ext cx="1260000" cy="36000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381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36000" rIns="180000" bIns="36000" rtlCol="0" anchor="ctr"/>
          <a:lstStyle/>
          <a:p>
            <a:r>
              <a:rPr lang="ko-KR" altLang="en-US" sz="900" b="1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주문 리드 타임</a:t>
            </a:r>
            <a:endParaRPr lang="ko-KR" altLang="en-US" sz="900" b="1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99" name="직사각형 98"/>
          <p:cNvSpPr/>
          <p:nvPr/>
        </p:nvSpPr>
        <p:spPr>
          <a:xfrm>
            <a:off x="143906" y="6696538"/>
            <a:ext cx="180000" cy="144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" name="직사각형 8"/>
          <p:cNvSpPr/>
          <p:nvPr/>
        </p:nvSpPr>
        <p:spPr>
          <a:xfrm>
            <a:off x="1223906" y="1835999"/>
            <a:ext cx="2520000" cy="216000"/>
          </a:xfrm>
          <a:prstGeom prst="rect">
            <a:avLst/>
          </a:prstGeom>
          <a:solidFill>
            <a:schemeClr val="accent6">
              <a:lumMod val="5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80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D+0</a:t>
            </a:r>
            <a:endParaRPr lang="ko-KR" altLang="en-US" sz="80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7523906" y="1835999"/>
            <a:ext cx="2520000" cy="216000"/>
          </a:xfrm>
          <a:prstGeom prst="rect">
            <a:avLst/>
          </a:prstGeom>
          <a:solidFill>
            <a:schemeClr val="accent6">
              <a:lumMod val="5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80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D+4</a:t>
            </a:r>
            <a:endParaRPr lang="ko-KR" altLang="en-US" sz="80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3923906" y="1835999"/>
            <a:ext cx="1620000" cy="216000"/>
          </a:xfrm>
          <a:prstGeom prst="rect">
            <a:avLst/>
          </a:prstGeom>
          <a:solidFill>
            <a:schemeClr val="accent6">
              <a:lumMod val="5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80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D+1~2</a:t>
            </a:r>
            <a:endParaRPr lang="ko-KR" altLang="en-US" sz="80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8" name="직사각형 27"/>
          <p:cNvSpPr/>
          <p:nvPr/>
        </p:nvSpPr>
        <p:spPr>
          <a:xfrm>
            <a:off x="10223906" y="1835999"/>
            <a:ext cx="720000" cy="216000"/>
          </a:xfrm>
          <a:prstGeom prst="rect">
            <a:avLst/>
          </a:prstGeom>
          <a:solidFill>
            <a:schemeClr val="accent6">
              <a:lumMod val="5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80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D+5</a:t>
            </a:r>
            <a:endParaRPr lang="ko-KR" altLang="en-US" sz="80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46" name="직사각형 145"/>
          <p:cNvSpPr/>
          <p:nvPr/>
        </p:nvSpPr>
        <p:spPr>
          <a:xfrm>
            <a:off x="5723906" y="1835999"/>
            <a:ext cx="1620000" cy="216000"/>
          </a:xfrm>
          <a:prstGeom prst="rect">
            <a:avLst/>
          </a:prstGeom>
          <a:solidFill>
            <a:schemeClr val="accent6">
              <a:lumMod val="5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80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D+2~3</a:t>
            </a:r>
            <a:endParaRPr lang="ko-KR" altLang="en-US" sz="80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3" name="타원 42"/>
          <p:cNvSpPr/>
          <p:nvPr/>
        </p:nvSpPr>
        <p:spPr>
          <a:xfrm>
            <a:off x="323906" y="2231999"/>
            <a:ext cx="504000" cy="504000"/>
          </a:xfrm>
          <a:prstGeom prst="ellipse">
            <a:avLst/>
          </a:prstGeom>
          <a:solidFill>
            <a:schemeClr val="tx1">
              <a:lumMod val="75000"/>
              <a:lumOff val="25000"/>
            </a:schemeClr>
          </a:solidFill>
          <a:ln w="3175">
            <a:noFill/>
          </a:ln>
          <a:effectLst>
            <a:outerShdw blurRad="25400" dist="25400" dir="2700000" algn="tl" rotWithShape="0">
              <a:schemeClr val="tx1">
                <a:lumMod val="75000"/>
                <a:lumOff val="2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70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결제</a:t>
            </a:r>
            <a:endParaRPr lang="en-US" altLang="ko-KR" sz="700" smtClean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ctr"/>
            <a:r>
              <a:rPr lang="ko-KR" altLang="en-US" sz="70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완료</a:t>
            </a:r>
            <a:endParaRPr lang="ko-KR" altLang="en-US" sz="70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5" name="모서리가 둥근 직사각형 54"/>
          <p:cNvSpPr/>
          <p:nvPr/>
        </p:nvSpPr>
        <p:spPr>
          <a:xfrm>
            <a:off x="1223906" y="2303999"/>
            <a:ext cx="720000" cy="3600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3175">
            <a:solidFill>
              <a:schemeClr val="bg1">
                <a:lumMod val="75000"/>
              </a:schemeClr>
            </a:solidFill>
          </a:ln>
          <a:effectLst>
            <a:outerShdw blurRad="12700" dist="12700" dir="2700000" algn="tl" rotWithShape="0">
              <a:schemeClr val="tx1">
                <a:lumMod val="75000"/>
                <a:lumOff val="2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8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주문수집</a:t>
            </a:r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6" name="모서리가 둥근 직사각형 55"/>
          <p:cNvSpPr/>
          <p:nvPr/>
        </p:nvSpPr>
        <p:spPr>
          <a:xfrm>
            <a:off x="7523906" y="2303999"/>
            <a:ext cx="720000" cy="360000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3175">
            <a:solidFill>
              <a:schemeClr val="bg1">
                <a:lumMod val="75000"/>
              </a:schemeClr>
            </a:solidFill>
          </a:ln>
          <a:effectLst>
            <a:outerShdw blurRad="12700" dist="12700" dir="2700000" algn="tl" rotWithShape="0">
              <a:schemeClr val="tx1">
                <a:lumMod val="75000"/>
                <a:lumOff val="2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8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출고처지정</a:t>
            </a:r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7" name="모서리가 둥근 직사각형 56"/>
          <p:cNvSpPr/>
          <p:nvPr/>
        </p:nvSpPr>
        <p:spPr>
          <a:xfrm>
            <a:off x="8423906" y="2303999"/>
            <a:ext cx="720000" cy="360000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3175">
            <a:solidFill>
              <a:schemeClr val="bg1">
                <a:lumMod val="75000"/>
              </a:schemeClr>
            </a:solidFill>
          </a:ln>
          <a:effectLst>
            <a:outerShdw blurRad="12700" dist="12700" dir="2700000" algn="tl" rotWithShape="0">
              <a:schemeClr val="tx1">
                <a:lumMod val="75000"/>
                <a:lumOff val="2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8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입고확정</a:t>
            </a:r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58" name="직선 화살표 연결선 57">
            <a:extLst>
              <a:ext uri="{FF2B5EF4-FFF2-40B4-BE49-F238E27FC236}">
                <a16:creationId xmlns="" xmlns:a16="http://schemas.microsoft.com/office/drawing/2014/main" id="{3D9B20DA-AA59-4AA9-AC84-6C3B8844582A}"/>
              </a:ext>
            </a:extLst>
          </p:cNvPr>
          <p:cNvCxnSpPr>
            <a:cxnSpLocks/>
            <a:stCxn id="87" idx="3"/>
            <a:endCxn id="166" idx="1"/>
          </p:cNvCxnSpPr>
          <p:nvPr/>
        </p:nvCxnSpPr>
        <p:spPr>
          <a:xfrm>
            <a:off x="6443906" y="2483999"/>
            <a:ext cx="180000" cy="0"/>
          </a:xfrm>
          <a:prstGeom prst="straightConnector1">
            <a:avLst/>
          </a:prstGeom>
          <a:noFill/>
          <a:ln w="6350" cap="flat" cmpd="sng" algn="ctr">
            <a:solidFill>
              <a:srgbClr val="FFFFFF">
                <a:lumMod val="50000"/>
              </a:srgbClr>
            </a:solidFill>
            <a:prstDash val="solid"/>
            <a:tailEnd type="triangle"/>
          </a:ln>
          <a:effectLst/>
        </p:spPr>
      </p:cxnSp>
      <p:sp>
        <p:nvSpPr>
          <p:cNvPr id="60" name="모서리가 둥근 직사각형 59"/>
          <p:cNvSpPr/>
          <p:nvPr/>
        </p:nvSpPr>
        <p:spPr>
          <a:xfrm>
            <a:off x="9323906" y="2303999"/>
            <a:ext cx="720000" cy="360000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3175">
            <a:solidFill>
              <a:schemeClr val="bg1">
                <a:lumMod val="75000"/>
              </a:schemeClr>
            </a:solidFill>
          </a:ln>
          <a:effectLst>
            <a:outerShdw blurRad="12700" dist="12700" dir="2700000" algn="tl" rotWithShape="0">
              <a:schemeClr val="tx1">
                <a:lumMod val="75000"/>
                <a:lumOff val="2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8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출고</a:t>
            </a:r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61" name="직선 화살표 연결선 60">
            <a:extLst>
              <a:ext uri="{FF2B5EF4-FFF2-40B4-BE49-F238E27FC236}">
                <a16:creationId xmlns="" xmlns:a16="http://schemas.microsoft.com/office/drawing/2014/main" id="{3D9B20DA-AA59-4AA9-AC84-6C3B8844582A}"/>
              </a:ext>
            </a:extLst>
          </p:cNvPr>
          <p:cNvCxnSpPr>
            <a:cxnSpLocks/>
            <a:stCxn id="166" idx="3"/>
            <a:endCxn id="56" idx="1"/>
          </p:cNvCxnSpPr>
          <p:nvPr/>
        </p:nvCxnSpPr>
        <p:spPr>
          <a:xfrm>
            <a:off x="7343906" y="2483999"/>
            <a:ext cx="180000" cy="0"/>
          </a:xfrm>
          <a:prstGeom prst="straightConnector1">
            <a:avLst/>
          </a:prstGeom>
          <a:noFill/>
          <a:ln w="6350" cap="flat" cmpd="sng" algn="ctr">
            <a:solidFill>
              <a:srgbClr val="FFFFFF">
                <a:lumMod val="50000"/>
              </a:srgbClr>
            </a:solidFill>
            <a:prstDash val="solid"/>
            <a:tailEnd type="triangle"/>
          </a:ln>
          <a:effectLst/>
        </p:spPr>
      </p:cxnSp>
      <p:sp>
        <p:nvSpPr>
          <p:cNvPr id="63" name="모서리가 둥근 직사각형 62"/>
          <p:cNvSpPr/>
          <p:nvPr/>
        </p:nvSpPr>
        <p:spPr>
          <a:xfrm>
            <a:off x="10223906" y="2303999"/>
            <a:ext cx="720000" cy="3600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3175">
            <a:solidFill>
              <a:schemeClr val="bg1">
                <a:lumMod val="75000"/>
              </a:schemeClr>
            </a:solidFill>
          </a:ln>
          <a:effectLst>
            <a:outerShdw blurRad="12700" dist="12700" dir="2700000" algn="tl" rotWithShape="0">
              <a:schemeClr val="tx1">
                <a:lumMod val="75000"/>
                <a:lumOff val="2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8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배송완료</a:t>
            </a:r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64" name="직선 화살표 연결선 63">
            <a:extLst>
              <a:ext uri="{FF2B5EF4-FFF2-40B4-BE49-F238E27FC236}">
                <a16:creationId xmlns="" xmlns:a16="http://schemas.microsoft.com/office/drawing/2014/main" id="{3D9B20DA-AA59-4AA9-AC84-6C3B8844582A}"/>
              </a:ext>
            </a:extLst>
          </p:cNvPr>
          <p:cNvCxnSpPr>
            <a:cxnSpLocks/>
            <a:stCxn id="56" idx="3"/>
            <a:endCxn id="57" idx="1"/>
          </p:cNvCxnSpPr>
          <p:nvPr/>
        </p:nvCxnSpPr>
        <p:spPr>
          <a:xfrm>
            <a:off x="8243906" y="2483999"/>
            <a:ext cx="180000" cy="0"/>
          </a:xfrm>
          <a:prstGeom prst="straightConnector1">
            <a:avLst/>
          </a:prstGeom>
          <a:noFill/>
          <a:ln w="6350" cap="flat" cmpd="sng" algn="ctr">
            <a:solidFill>
              <a:srgbClr val="FFFFFF">
                <a:lumMod val="50000"/>
              </a:srgbClr>
            </a:solidFill>
            <a:prstDash val="solid"/>
            <a:tailEnd type="triangle"/>
          </a:ln>
          <a:effectLst/>
        </p:spPr>
      </p:cxnSp>
      <p:cxnSp>
        <p:nvCxnSpPr>
          <p:cNvPr id="66" name="직선 화살표 연결선 65">
            <a:extLst>
              <a:ext uri="{FF2B5EF4-FFF2-40B4-BE49-F238E27FC236}">
                <a16:creationId xmlns="" xmlns:a16="http://schemas.microsoft.com/office/drawing/2014/main" id="{3D9B20DA-AA59-4AA9-AC84-6C3B8844582A}"/>
              </a:ext>
            </a:extLst>
          </p:cNvPr>
          <p:cNvCxnSpPr>
            <a:cxnSpLocks/>
            <a:stCxn id="43" idx="6"/>
            <a:endCxn id="55" idx="1"/>
          </p:cNvCxnSpPr>
          <p:nvPr/>
        </p:nvCxnSpPr>
        <p:spPr>
          <a:xfrm>
            <a:off x="827906" y="2483999"/>
            <a:ext cx="396000" cy="0"/>
          </a:xfrm>
          <a:prstGeom prst="straightConnector1">
            <a:avLst/>
          </a:prstGeom>
          <a:noFill/>
          <a:ln w="6350" cap="flat" cmpd="sng" algn="ctr">
            <a:solidFill>
              <a:srgbClr val="FFFFFF">
                <a:lumMod val="50000"/>
              </a:srgbClr>
            </a:solidFill>
            <a:prstDash val="solid"/>
            <a:tailEnd type="triangle"/>
          </a:ln>
          <a:effectLst/>
        </p:spPr>
      </p:cxnSp>
      <p:sp>
        <p:nvSpPr>
          <p:cNvPr id="77" name="모서리가 둥근 직사각형 76"/>
          <p:cNvSpPr/>
          <p:nvPr/>
        </p:nvSpPr>
        <p:spPr>
          <a:xfrm>
            <a:off x="2123906" y="2303999"/>
            <a:ext cx="720000" cy="3600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3175">
            <a:solidFill>
              <a:schemeClr val="bg1">
                <a:lumMod val="75000"/>
              </a:schemeClr>
            </a:solidFill>
          </a:ln>
          <a:effectLst>
            <a:outerShdw blurRad="12700" dist="12700" dir="2700000" algn="tl" rotWithShape="0">
              <a:schemeClr val="tx1">
                <a:lumMod val="75000"/>
                <a:lumOff val="2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o-KR" altLang="en-US" sz="8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비직송매장</a:t>
            </a:r>
            <a:endParaRPr lang="en-US" altLang="ko-KR" sz="800" smtClean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ctr"/>
            <a:r>
              <a:rPr lang="ko-KR" altLang="en-US" sz="8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재고체크</a:t>
            </a:r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80" name="직선 화살표 연결선 79">
            <a:extLst>
              <a:ext uri="{FF2B5EF4-FFF2-40B4-BE49-F238E27FC236}">
                <a16:creationId xmlns="" xmlns:a16="http://schemas.microsoft.com/office/drawing/2014/main" id="{3D9B20DA-AA59-4AA9-AC84-6C3B8844582A}"/>
              </a:ext>
            </a:extLst>
          </p:cNvPr>
          <p:cNvCxnSpPr>
            <a:cxnSpLocks/>
            <a:stCxn id="55" idx="3"/>
            <a:endCxn id="77" idx="1"/>
          </p:cNvCxnSpPr>
          <p:nvPr/>
        </p:nvCxnSpPr>
        <p:spPr>
          <a:xfrm>
            <a:off x="1943906" y="2483999"/>
            <a:ext cx="180000" cy="0"/>
          </a:xfrm>
          <a:prstGeom prst="straightConnector1">
            <a:avLst/>
          </a:prstGeom>
          <a:noFill/>
          <a:ln w="6350" cap="flat" cmpd="sng" algn="ctr">
            <a:solidFill>
              <a:srgbClr val="FFFFFF">
                <a:lumMod val="50000"/>
              </a:srgbClr>
            </a:solidFill>
            <a:prstDash val="solid"/>
            <a:tailEnd type="triangle"/>
          </a:ln>
          <a:effectLst/>
        </p:spPr>
      </p:cxnSp>
      <p:sp>
        <p:nvSpPr>
          <p:cNvPr id="81" name="모서리가 둥근 직사각형 80"/>
          <p:cNvSpPr/>
          <p:nvPr/>
        </p:nvSpPr>
        <p:spPr>
          <a:xfrm>
            <a:off x="3023906" y="2303999"/>
            <a:ext cx="720000" cy="360000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3175">
            <a:solidFill>
              <a:schemeClr val="bg1">
                <a:lumMod val="75000"/>
              </a:schemeClr>
            </a:solidFill>
          </a:ln>
          <a:effectLst>
            <a:outerShdw blurRad="12700" dist="12700" dir="2700000" algn="tl" rotWithShape="0">
              <a:schemeClr val="tx1">
                <a:lumMod val="75000"/>
                <a:lumOff val="2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o-KR" altLang="en-US" sz="8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물량 이동</a:t>
            </a:r>
            <a:endParaRPr lang="en-US" altLang="ko-KR" sz="800" smtClean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ctr"/>
            <a:r>
              <a:rPr lang="ko-KR" altLang="en-US" sz="8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지시</a:t>
            </a:r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83" name="직선 화살표 연결선 82">
            <a:extLst>
              <a:ext uri="{FF2B5EF4-FFF2-40B4-BE49-F238E27FC236}">
                <a16:creationId xmlns="" xmlns:a16="http://schemas.microsoft.com/office/drawing/2014/main" id="{3D9B20DA-AA59-4AA9-AC84-6C3B8844582A}"/>
              </a:ext>
            </a:extLst>
          </p:cNvPr>
          <p:cNvCxnSpPr>
            <a:cxnSpLocks/>
            <a:stCxn id="77" idx="3"/>
            <a:endCxn id="81" idx="1"/>
          </p:cNvCxnSpPr>
          <p:nvPr/>
        </p:nvCxnSpPr>
        <p:spPr>
          <a:xfrm>
            <a:off x="2843906" y="2483999"/>
            <a:ext cx="180000" cy="0"/>
          </a:xfrm>
          <a:prstGeom prst="straightConnector1">
            <a:avLst/>
          </a:prstGeom>
          <a:noFill/>
          <a:ln w="6350" cap="flat" cmpd="sng" algn="ctr">
            <a:solidFill>
              <a:srgbClr val="FFFFFF">
                <a:lumMod val="50000"/>
              </a:srgbClr>
            </a:solidFill>
            <a:prstDash val="solid"/>
            <a:tailEnd type="triangle"/>
          </a:ln>
          <a:effectLst/>
        </p:spPr>
      </p:cxnSp>
      <p:sp>
        <p:nvSpPr>
          <p:cNvPr id="84" name="모서리가 둥근 직사각형 83"/>
          <p:cNvSpPr/>
          <p:nvPr/>
        </p:nvSpPr>
        <p:spPr>
          <a:xfrm>
            <a:off x="3923906" y="2303999"/>
            <a:ext cx="720000" cy="360000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3175">
            <a:solidFill>
              <a:schemeClr val="bg1">
                <a:lumMod val="75000"/>
              </a:schemeClr>
            </a:solidFill>
          </a:ln>
          <a:effectLst>
            <a:outerShdw blurRad="12700" dist="12700" dir="2700000" algn="tl" rotWithShape="0">
              <a:schemeClr val="tx1">
                <a:lumMod val="75000"/>
                <a:lumOff val="2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o-KR" altLang="en-US" sz="8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물량 이동</a:t>
            </a:r>
            <a:endParaRPr lang="en-US" altLang="ko-KR" sz="800" smtClean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ctr"/>
            <a:r>
              <a:rPr lang="ko-KR" altLang="en-US" sz="8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확인</a:t>
            </a:r>
            <a:r>
              <a:rPr lang="en-US" altLang="ko-KR" sz="8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8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승인</a:t>
            </a:r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86" name="직선 화살표 연결선 85">
            <a:extLst>
              <a:ext uri="{FF2B5EF4-FFF2-40B4-BE49-F238E27FC236}">
                <a16:creationId xmlns="" xmlns:a16="http://schemas.microsoft.com/office/drawing/2014/main" id="{3D9B20DA-AA59-4AA9-AC84-6C3B8844582A}"/>
              </a:ext>
            </a:extLst>
          </p:cNvPr>
          <p:cNvCxnSpPr>
            <a:cxnSpLocks/>
            <a:stCxn id="84" idx="3"/>
            <a:endCxn id="167" idx="1"/>
          </p:cNvCxnSpPr>
          <p:nvPr/>
        </p:nvCxnSpPr>
        <p:spPr>
          <a:xfrm>
            <a:off x="4643906" y="2483999"/>
            <a:ext cx="180000" cy="0"/>
          </a:xfrm>
          <a:prstGeom prst="straightConnector1">
            <a:avLst/>
          </a:prstGeom>
          <a:noFill/>
          <a:ln w="6350" cap="flat" cmpd="sng" algn="ctr">
            <a:solidFill>
              <a:srgbClr val="FFFFFF">
                <a:lumMod val="50000"/>
              </a:srgbClr>
            </a:solidFill>
            <a:prstDash val="solid"/>
            <a:tailEnd type="triangle"/>
          </a:ln>
          <a:effectLst/>
        </p:spPr>
      </p:cxnSp>
      <p:sp>
        <p:nvSpPr>
          <p:cNvPr id="87" name="모서리가 둥근 직사각형 86"/>
          <p:cNvSpPr/>
          <p:nvPr/>
        </p:nvSpPr>
        <p:spPr>
          <a:xfrm>
            <a:off x="5723906" y="2303999"/>
            <a:ext cx="720000" cy="3600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3175">
            <a:solidFill>
              <a:schemeClr val="bg1">
                <a:lumMod val="75000"/>
              </a:schemeClr>
            </a:solidFill>
          </a:ln>
          <a:effectLst>
            <a:outerShdw blurRad="12700" dist="12700" dir="2700000" algn="tl" rotWithShape="0">
              <a:schemeClr val="tx1">
                <a:lumMod val="75000"/>
                <a:lumOff val="2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o-KR" altLang="en-US" sz="8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매장 반품</a:t>
            </a:r>
            <a:endParaRPr lang="en-US" altLang="ko-KR" sz="800" smtClean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ctr"/>
            <a:r>
              <a:rPr lang="en-US" altLang="ko-KR" sz="8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8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수배송</a:t>
            </a:r>
            <a:r>
              <a:rPr lang="en-US" altLang="ko-KR" sz="8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89" name="직선 화살표 연결선 88">
            <a:extLst>
              <a:ext uri="{FF2B5EF4-FFF2-40B4-BE49-F238E27FC236}">
                <a16:creationId xmlns="" xmlns:a16="http://schemas.microsoft.com/office/drawing/2014/main" id="{3D9B20DA-AA59-4AA9-AC84-6C3B8844582A}"/>
              </a:ext>
            </a:extLst>
          </p:cNvPr>
          <p:cNvCxnSpPr>
            <a:cxnSpLocks/>
            <a:stCxn id="167" idx="3"/>
            <a:endCxn id="87" idx="1"/>
          </p:cNvCxnSpPr>
          <p:nvPr/>
        </p:nvCxnSpPr>
        <p:spPr>
          <a:xfrm>
            <a:off x="5543906" y="2483999"/>
            <a:ext cx="180000" cy="0"/>
          </a:xfrm>
          <a:prstGeom prst="straightConnector1">
            <a:avLst/>
          </a:prstGeom>
          <a:noFill/>
          <a:ln w="6350" cap="flat" cmpd="sng" algn="ctr">
            <a:solidFill>
              <a:srgbClr val="FFFFFF">
                <a:lumMod val="50000"/>
              </a:srgbClr>
            </a:solidFill>
            <a:prstDash val="solid"/>
            <a:tailEnd type="triangle"/>
          </a:ln>
          <a:effectLst/>
        </p:spPr>
      </p:cxnSp>
      <p:sp>
        <p:nvSpPr>
          <p:cNvPr id="166" name="다이아몬드 165"/>
          <p:cNvSpPr/>
          <p:nvPr/>
        </p:nvSpPr>
        <p:spPr>
          <a:xfrm>
            <a:off x="6623906" y="2303999"/>
            <a:ext cx="720000" cy="360000"/>
          </a:xfrm>
          <a:prstGeom prst="diamond">
            <a:avLst/>
          </a:prstGeom>
          <a:solidFill>
            <a:schemeClr val="bg1">
              <a:lumMod val="8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7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가용화</a:t>
            </a:r>
            <a:endParaRPr lang="ko-KR" altLang="en-US" sz="70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67" name="다이아몬드 166"/>
          <p:cNvSpPr/>
          <p:nvPr/>
        </p:nvSpPr>
        <p:spPr>
          <a:xfrm>
            <a:off x="4823906" y="2303999"/>
            <a:ext cx="720000" cy="360000"/>
          </a:xfrm>
          <a:prstGeom prst="diamond">
            <a:avLst/>
          </a:prstGeom>
          <a:solidFill>
            <a:schemeClr val="accent6">
              <a:lumMod val="20000"/>
              <a:lumOff val="8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7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승인</a:t>
            </a:r>
            <a:endParaRPr lang="en-US" altLang="ko-KR" sz="700" smtClean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ctr"/>
            <a:r>
              <a:rPr lang="ko-KR" altLang="en-US" sz="7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여부</a:t>
            </a:r>
            <a:endParaRPr lang="ko-KR" altLang="en-US" sz="70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215" name="직선 화살표 연결선 214">
            <a:extLst>
              <a:ext uri="{FF2B5EF4-FFF2-40B4-BE49-F238E27FC236}">
                <a16:creationId xmlns="" xmlns:a16="http://schemas.microsoft.com/office/drawing/2014/main" id="{3D9B20DA-AA59-4AA9-AC84-6C3B8844582A}"/>
              </a:ext>
            </a:extLst>
          </p:cNvPr>
          <p:cNvCxnSpPr>
            <a:cxnSpLocks/>
            <a:stCxn id="81" idx="3"/>
            <a:endCxn id="84" idx="1"/>
          </p:cNvCxnSpPr>
          <p:nvPr/>
        </p:nvCxnSpPr>
        <p:spPr>
          <a:xfrm>
            <a:off x="3743906" y="2483999"/>
            <a:ext cx="180000" cy="0"/>
          </a:xfrm>
          <a:prstGeom prst="straightConnector1">
            <a:avLst/>
          </a:prstGeom>
          <a:noFill/>
          <a:ln w="6350" cap="flat" cmpd="sng" algn="ctr">
            <a:solidFill>
              <a:srgbClr val="FFFFFF">
                <a:lumMod val="50000"/>
              </a:srgbClr>
            </a:solidFill>
            <a:prstDash val="solid"/>
            <a:tailEnd type="triangle"/>
          </a:ln>
          <a:effectLst/>
        </p:spPr>
      </p:cxnSp>
      <p:cxnSp>
        <p:nvCxnSpPr>
          <p:cNvPr id="229" name="직선 화살표 연결선 228">
            <a:extLst>
              <a:ext uri="{FF2B5EF4-FFF2-40B4-BE49-F238E27FC236}">
                <a16:creationId xmlns="" xmlns:a16="http://schemas.microsoft.com/office/drawing/2014/main" id="{3D9B20DA-AA59-4AA9-AC84-6C3B8844582A}"/>
              </a:ext>
            </a:extLst>
          </p:cNvPr>
          <p:cNvCxnSpPr>
            <a:cxnSpLocks/>
            <a:stCxn id="57" idx="3"/>
            <a:endCxn id="60" idx="1"/>
          </p:cNvCxnSpPr>
          <p:nvPr/>
        </p:nvCxnSpPr>
        <p:spPr>
          <a:xfrm>
            <a:off x="9143906" y="2483999"/>
            <a:ext cx="180000" cy="0"/>
          </a:xfrm>
          <a:prstGeom prst="straightConnector1">
            <a:avLst/>
          </a:prstGeom>
          <a:noFill/>
          <a:ln w="6350" cap="flat" cmpd="sng" algn="ctr">
            <a:solidFill>
              <a:srgbClr val="FFFFFF">
                <a:lumMod val="50000"/>
              </a:srgbClr>
            </a:solidFill>
            <a:prstDash val="solid"/>
            <a:tailEnd type="triangle"/>
          </a:ln>
          <a:effectLst/>
        </p:spPr>
      </p:cxnSp>
      <p:cxnSp>
        <p:nvCxnSpPr>
          <p:cNvPr id="232" name="직선 화살표 연결선 231">
            <a:extLst>
              <a:ext uri="{FF2B5EF4-FFF2-40B4-BE49-F238E27FC236}">
                <a16:creationId xmlns="" xmlns:a16="http://schemas.microsoft.com/office/drawing/2014/main" id="{3D9B20DA-AA59-4AA9-AC84-6C3B8844582A}"/>
              </a:ext>
            </a:extLst>
          </p:cNvPr>
          <p:cNvCxnSpPr>
            <a:cxnSpLocks/>
            <a:stCxn id="60" idx="3"/>
            <a:endCxn id="63" idx="1"/>
          </p:cNvCxnSpPr>
          <p:nvPr/>
        </p:nvCxnSpPr>
        <p:spPr>
          <a:xfrm>
            <a:off x="10043906" y="2483999"/>
            <a:ext cx="180000" cy="0"/>
          </a:xfrm>
          <a:prstGeom prst="straightConnector1">
            <a:avLst/>
          </a:prstGeom>
          <a:noFill/>
          <a:ln w="6350" cap="flat" cmpd="sng" algn="ctr">
            <a:solidFill>
              <a:srgbClr val="FFFFFF">
                <a:lumMod val="50000"/>
              </a:srgbClr>
            </a:solidFill>
            <a:prstDash val="solid"/>
            <a:tailEnd type="triangle"/>
          </a:ln>
          <a:effectLst/>
        </p:spPr>
      </p:cxnSp>
      <p:sp>
        <p:nvSpPr>
          <p:cNvPr id="243" name="아래쪽 화살표 242"/>
          <p:cNvSpPr/>
          <p:nvPr/>
        </p:nvSpPr>
        <p:spPr>
          <a:xfrm>
            <a:off x="5903906" y="2756818"/>
            <a:ext cx="360000" cy="180000"/>
          </a:xfrm>
          <a:prstGeom prst="downArrow">
            <a:avLst/>
          </a:prstGeom>
          <a:solidFill>
            <a:schemeClr val="accent4">
              <a:lumMod val="20000"/>
              <a:lumOff val="8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48" name="TextBox 247"/>
          <p:cNvSpPr txBox="1"/>
          <p:nvPr/>
        </p:nvSpPr>
        <p:spPr>
          <a:xfrm>
            <a:off x="4643906" y="3044818"/>
            <a:ext cx="2935666" cy="442035"/>
          </a:xfrm>
          <a:prstGeom prst="rect">
            <a:avLst/>
          </a:prstGeom>
          <a:noFill/>
        </p:spPr>
        <p:txBody>
          <a:bodyPr wrap="none" lIns="36000" tIns="36000" rIns="36000" bIns="36000" rtlCol="0" anchor="ctr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8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수배송 차량 </a:t>
            </a:r>
            <a:r>
              <a:rPr lang="en-US" altLang="ko-KR" sz="800" b="1" smtClean="0">
                <a:solidFill>
                  <a:schemeClr val="accent2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03~05</a:t>
            </a:r>
            <a:r>
              <a:rPr lang="ko-KR" altLang="en-US" sz="8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시 </a:t>
            </a:r>
            <a:r>
              <a:rPr lang="en-US" altLang="ko-KR" sz="8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‘</a:t>
            </a:r>
            <a:r>
              <a:rPr lang="ko-KR" altLang="en-US" sz="8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물류센터</a:t>
            </a:r>
            <a:r>
              <a:rPr lang="en-US" altLang="ko-KR" sz="8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’ </a:t>
            </a:r>
            <a:r>
              <a:rPr lang="ko-KR" altLang="en-US" sz="8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에서 출발</a:t>
            </a:r>
            <a:endParaRPr lang="en-US" altLang="ko-KR" sz="800" smtClean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8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수배송 차량 </a:t>
            </a:r>
            <a:r>
              <a:rPr lang="en-US" altLang="ko-KR" sz="800" b="1" smtClean="0">
                <a:solidFill>
                  <a:schemeClr val="accent2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05~12</a:t>
            </a:r>
            <a:r>
              <a:rPr lang="ko-KR" altLang="en-US" sz="8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시 </a:t>
            </a:r>
            <a:r>
              <a:rPr lang="en-US" altLang="ko-KR" sz="8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‘</a:t>
            </a:r>
            <a:r>
              <a:rPr lang="ko-KR" altLang="en-US" sz="8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매장</a:t>
            </a:r>
            <a:r>
              <a:rPr lang="en-US" altLang="ko-KR" sz="8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’</a:t>
            </a:r>
            <a:r>
              <a:rPr lang="ko-KR" altLang="en-US" sz="8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순방 </a:t>
            </a:r>
            <a:r>
              <a:rPr lang="en-US" altLang="ko-KR" sz="8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8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위치</a:t>
            </a:r>
            <a:r>
              <a:rPr lang="en-US" altLang="ko-KR" sz="8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8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코스에 따라 차등</a:t>
            </a:r>
            <a:r>
              <a:rPr lang="en-US" altLang="ko-KR" sz="8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3" name="표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06336952"/>
              </p:ext>
            </p:extLst>
          </p:nvPr>
        </p:nvGraphicFramePr>
        <p:xfrm>
          <a:off x="323906" y="3995731"/>
          <a:ext cx="11520000" cy="2255040"/>
        </p:xfrm>
        <a:graphic>
          <a:graphicData uri="http://schemas.openxmlformats.org/drawingml/2006/table">
            <a:tbl>
              <a:tblPr firstRow="1" bandRow="1">
                <a:effectLst>
                  <a:outerShdw blurRad="25400" dist="25400" dir="2700000" algn="tl" rotWithShape="0">
                    <a:schemeClr val="tx1">
                      <a:lumMod val="75000"/>
                      <a:lumOff val="25000"/>
                      <a:alpha val="50000"/>
                    </a:schemeClr>
                  </a:outerShdw>
                </a:effectLst>
                <a:tableStyleId>{5C22544A-7EE6-4342-B048-85BDC9FD1C3A}</a:tableStyleId>
              </a:tblPr>
              <a:tblGrid>
                <a:gridCol w="1260000"/>
                <a:gridCol w="1620000"/>
                <a:gridCol w="5220000"/>
                <a:gridCol w="3420000"/>
              </a:tblGrid>
              <a:tr h="2880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항목</a:t>
                      </a:r>
                      <a:endParaRPr lang="ko-KR" altLang="en-US" sz="80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000" marR="108000" marT="36000" marB="36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시점</a:t>
                      </a:r>
                      <a:endParaRPr lang="ko-KR" altLang="en-US" sz="80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000" marR="108000" marT="36000" marB="36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정의</a:t>
                      </a:r>
                      <a:endParaRPr lang="ko-KR" altLang="en-US" sz="80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000" marR="108000" marT="36000" marB="36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비고</a:t>
                      </a:r>
                      <a:endParaRPr lang="ko-KR" altLang="en-US" sz="80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000" marR="108000" marT="36000" marB="36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50000"/>
                      </a:schemeClr>
                    </a:solidFill>
                  </a:tcPr>
                </a:tc>
              </a:tr>
              <a:tr h="360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r>
                        <a:rPr lang="ko-KR" altLang="en-US" sz="80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차 자동결품</a:t>
                      </a:r>
                      <a:endParaRPr lang="ko-KR" altLang="en-US" sz="80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000" marR="108000" marT="36000" marB="36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물량이동지시 </a:t>
                      </a:r>
                      <a:r>
                        <a:rPr lang="en-US" altLang="ko-KR" sz="80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80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온라인 급반품</a:t>
                      </a:r>
                      <a:r>
                        <a:rPr lang="en-US" altLang="ko-KR" sz="80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 </a:t>
                      </a:r>
                      <a:endParaRPr lang="ko-KR" altLang="en-US" sz="80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000" marR="108000" marT="36000" marB="36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 latinLnBrk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80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r>
                        <a:rPr lang="ko-KR" altLang="en-US" sz="80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차 선정 비직송매장 물량이동지시</a:t>
                      </a:r>
                      <a:endParaRPr lang="en-US" altLang="ko-KR" sz="800" smtClean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171450" indent="-171450" algn="l" latinLnBrk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80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r>
                        <a:rPr lang="ko-KR" altLang="en-US" sz="80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차</a:t>
                      </a:r>
                      <a:r>
                        <a:rPr lang="ko-KR" altLang="en-US" sz="800" baseline="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지시 </a:t>
                      </a:r>
                      <a:r>
                        <a:rPr lang="en-US" altLang="ko-KR" sz="800" baseline="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Lead Time +1</a:t>
                      </a:r>
                      <a:r>
                        <a:rPr lang="ko-KR" altLang="en-US" sz="800" baseline="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영업일 </a:t>
                      </a:r>
                      <a:r>
                        <a:rPr lang="en-US" altLang="ko-KR" sz="800" baseline="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(24</a:t>
                      </a:r>
                      <a:r>
                        <a:rPr lang="ko-KR" altLang="en-US" sz="800" baseline="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시간</a:t>
                      </a:r>
                      <a:r>
                        <a:rPr lang="en-US" altLang="ko-KR" sz="800" baseline="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</a:p>
                    <a:p>
                      <a:pPr marL="171450" indent="-171450" algn="l" latinLnBrk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80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r>
                        <a:rPr lang="ko-KR" altLang="en-US" sz="80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차 지시 불이행 </a:t>
                      </a:r>
                      <a:r>
                        <a:rPr lang="en-US" altLang="ko-KR" sz="80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80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반품 미등록</a:t>
                      </a:r>
                      <a:r>
                        <a:rPr lang="en-US" altLang="ko-KR" sz="80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 </a:t>
                      </a:r>
                      <a:r>
                        <a:rPr lang="ko-KR" altLang="en-US" sz="80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시</a:t>
                      </a:r>
                      <a:r>
                        <a:rPr lang="en-US" altLang="ko-KR" sz="80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2</a:t>
                      </a:r>
                      <a:r>
                        <a:rPr lang="ko-KR" altLang="en-US" sz="80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차 선정 비직송매장 물량이동지시</a:t>
                      </a:r>
                      <a:endParaRPr lang="en-US" altLang="ko-KR" sz="800" smtClean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171450" indent="-171450" algn="l" latinLnBrk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80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  <a:r>
                        <a:rPr lang="ko-KR" altLang="en-US" sz="80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차 지시 </a:t>
                      </a:r>
                      <a:r>
                        <a:rPr lang="en-US" altLang="ko-KR" sz="80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Lead Time +1</a:t>
                      </a:r>
                      <a:r>
                        <a:rPr lang="ko-KR" altLang="en-US" sz="80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영업일 </a:t>
                      </a:r>
                      <a:r>
                        <a:rPr lang="en-US" altLang="ko-KR" sz="80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(24</a:t>
                      </a:r>
                      <a:r>
                        <a:rPr lang="ko-KR" altLang="en-US" sz="80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시간</a:t>
                      </a:r>
                      <a:r>
                        <a:rPr lang="en-US" altLang="ko-KR" sz="80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</a:p>
                    <a:p>
                      <a:pPr marL="171450" indent="-171450" algn="l" latinLnBrk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주문</a:t>
                      </a:r>
                      <a:r>
                        <a:rPr lang="en-US" altLang="ko-KR" sz="80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80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결제</a:t>
                      </a:r>
                      <a:r>
                        <a:rPr lang="en-US" altLang="ko-KR" sz="80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r>
                        <a:rPr lang="ko-KR" altLang="en-US" sz="80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시점으로부터 </a:t>
                      </a:r>
                      <a:r>
                        <a:rPr lang="en-US" altLang="ko-KR" sz="800" b="1" u="sng" smtClean="0">
                          <a:solidFill>
                            <a:srgbClr val="C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48</a:t>
                      </a:r>
                      <a:r>
                        <a:rPr lang="ko-KR" altLang="en-US" sz="800" b="1" u="sng" smtClean="0">
                          <a:solidFill>
                            <a:srgbClr val="C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시간 이내에 </a:t>
                      </a:r>
                      <a:r>
                        <a:rPr lang="en-US" altLang="ko-KR" sz="800" b="1" u="sng" smtClean="0">
                          <a:solidFill>
                            <a:srgbClr val="C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‘</a:t>
                      </a:r>
                      <a:r>
                        <a:rPr lang="ko-KR" altLang="en-US" sz="800" b="1" u="sng" smtClean="0">
                          <a:solidFill>
                            <a:srgbClr val="C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온라인 급반품</a:t>
                      </a:r>
                      <a:r>
                        <a:rPr lang="en-US" altLang="ko-KR" sz="800" b="1" u="sng" smtClean="0">
                          <a:solidFill>
                            <a:srgbClr val="C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’ </a:t>
                      </a:r>
                      <a:r>
                        <a:rPr lang="ko-KR" altLang="en-US" sz="800" b="1" u="sng" smtClean="0">
                          <a:solidFill>
                            <a:srgbClr val="C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미등록 시</a:t>
                      </a:r>
                      <a:r>
                        <a:rPr lang="en-US" altLang="ko-KR" sz="800" b="1" u="sng" baseline="0" smtClean="0">
                          <a:solidFill>
                            <a:srgbClr val="C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1</a:t>
                      </a:r>
                      <a:r>
                        <a:rPr lang="ko-KR" altLang="en-US" sz="800" b="1" u="sng" baseline="0" smtClean="0">
                          <a:solidFill>
                            <a:srgbClr val="C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차 </a:t>
                      </a:r>
                      <a:r>
                        <a:rPr lang="en-US" altLang="ko-KR" sz="800" b="1" u="sng" baseline="0" smtClean="0">
                          <a:solidFill>
                            <a:srgbClr val="C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[</a:t>
                      </a:r>
                      <a:r>
                        <a:rPr lang="ko-KR" altLang="en-US" sz="800" b="1" u="sng" baseline="0" smtClean="0">
                          <a:solidFill>
                            <a:srgbClr val="C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자동결품</a:t>
                      </a:r>
                      <a:r>
                        <a:rPr lang="en-US" altLang="ko-KR" sz="800" b="1" u="sng" baseline="0" smtClean="0">
                          <a:solidFill>
                            <a:srgbClr val="C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] </a:t>
                      </a:r>
                      <a:r>
                        <a:rPr lang="ko-KR" altLang="en-US" sz="800" b="1" u="sng" baseline="0" smtClean="0">
                          <a:solidFill>
                            <a:srgbClr val="C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대상 주문</a:t>
                      </a:r>
                      <a:r>
                        <a:rPr lang="ko-KR" altLang="en-US" sz="800" baseline="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으로 인식</a:t>
                      </a:r>
                      <a:endParaRPr lang="ko-KR" altLang="en-US" sz="80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000" marR="108000" marT="36000" marB="36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50000"/>
                        </a:lnSpc>
                      </a:pPr>
                      <a:r>
                        <a:rPr lang="ko-KR" altLang="en-US" sz="80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자동결품배치 실행 시</a:t>
                      </a:r>
                      <a:r>
                        <a:rPr lang="en-US" altLang="ko-KR" sz="80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</a:p>
                    <a:p>
                      <a:pPr algn="l" latinLnBrk="1">
                        <a:lnSpc>
                          <a:spcPct val="150000"/>
                        </a:lnSpc>
                      </a:pPr>
                      <a:r>
                        <a:rPr lang="ko-KR" altLang="en-US" sz="80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주문 자동 취소 </a:t>
                      </a:r>
                      <a:r>
                        <a:rPr lang="en-US" altLang="ko-KR" sz="80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&amp; </a:t>
                      </a:r>
                      <a:r>
                        <a:rPr lang="ko-KR" altLang="en-US" sz="80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고객 알림톡 발송</a:t>
                      </a:r>
                      <a:endParaRPr lang="en-US" altLang="ko-KR" sz="800" smtClean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algn="l" latinLnBrk="1">
                        <a:lnSpc>
                          <a:spcPct val="150000"/>
                        </a:lnSpc>
                      </a:pPr>
                      <a:r>
                        <a:rPr lang="en-US" altLang="ko-KR" sz="80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80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기존 결품로직 활용</a:t>
                      </a:r>
                      <a:r>
                        <a:rPr lang="en-US" altLang="ko-KR" sz="80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endParaRPr lang="ko-KR" altLang="en-US" sz="80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000" marR="108000" marT="36000" marB="36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60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  <a:r>
                        <a:rPr lang="ko-KR" altLang="en-US" sz="80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차 자동결품</a:t>
                      </a:r>
                      <a:endParaRPr lang="ko-KR" altLang="en-US" sz="80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000" marR="108000" marT="36000" marB="36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온라인 출고 </a:t>
                      </a:r>
                      <a:r>
                        <a:rPr lang="en-US" altLang="ko-KR" sz="80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80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검품 및 가용화</a:t>
                      </a:r>
                      <a:r>
                        <a:rPr lang="en-US" altLang="ko-KR" sz="80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endParaRPr lang="ko-KR" altLang="en-US" sz="80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000" marR="108000" marT="36000" marB="36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 latinLnBrk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매장 상품</a:t>
                      </a:r>
                      <a:r>
                        <a:rPr lang="ko-KR" altLang="en-US" sz="800" baseline="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배송 출고 처리 중</a:t>
                      </a:r>
                      <a:r>
                        <a:rPr lang="en-US" altLang="ko-KR" sz="800" baseline="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800" baseline="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가용화 불가한 경우</a:t>
                      </a:r>
                      <a:r>
                        <a:rPr lang="en-US" altLang="ko-KR" sz="800" baseline="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</a:t>
                      </a:r>
                    </a:p>
                    <a:p>
                      <a:pPr marL="171450" indent="-171450" algn="l" latinLnBrk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80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  <a:r>
                        <a:rPr lang="ko-KR" altLang="en-US" sz="80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차 </a:t>
                      </a:r>
                      <a:r>
                        <a:rPr lang="en-US" altLang="ko-KR" sz="80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[</a:t>
                      </a:r>
                      <a:r>
                        <a:rPr lang="ko-KR" altLang="en-US" sz="80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자동결품배치</a:t>
                      </a:r>
                      <a:r>
                        <a:rPr lang="en-US" altLang="ko-KR" sz="80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] </a:t>
                      </a:r>
                      <a:r>
                        <a:rPr lang="ko-KR" altLang="en-US" sz="80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대상 주문으로 인식</a:t>
                      </a:r>
                      <a:endParaRPr lang="en-US" altLang="ko-KR" sz="800" smtClean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171450" indent="-171450" algn="l" latinLnBrk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출고처 지정 후 </a:t>
                      </a:r>
                      <a:r>
                        <a:rPr lang="en-US" altLang="ko-KR" sz="80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24</a:t>
                      </a:r>
                      <a:r>
                        <a:rPr lang="ko-KR" altLang="en-US" sz="80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시간 이내 </a:t>
                      </a:r>
                      <a:r>
                        <a:rPr lang="en-US" altLang="ko-KR" sz="80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‘</a:t>
                      </a:r>
                      <a:r>
                        <a:rPr lang="ko-KR" altLang="en-US" sz="80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운송장</a:t>
                      </a:r>
                      <a:r>
                        <a:rPr lang="en-US" altLang="ko-KR" sz="80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’ </a:t>
                      </a:r>
                      <a:r>
                        <a:rPr lang="ko-KR" altLang="en-US" sz="80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미 등록 시</a:t>
                      </a:r>
                      <a:endParaRPr lang="ko-KR" altLang="en-US" sz="80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000" marR="108000" marT="36000" marB="36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 latinLnBrk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출고 과정에서 가용화 불가한 상품이 발견 될 경우</a:t>
                      </a:r>
                      <a:r>
                        <a:rPr lang="en-US" altLang="ko-KR" sz="80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0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물류혁신에서 수선실로 이관 등으로 처리 </a:t>
                      </a:r>
                      <a:r>
                        <a:rPr lang="en-US" altLang="ko-KR" sz="80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80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매장 반송하지 않음</a:t>
                      </a:r>
                      <a:r>
                        <a:rPr lang="en-US" altLang="ko-KR" sz="80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endParaRPr lang="en-US" altLang="ko-KR" sz="800" baseline="0" smtClean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171450" indent="-171450" algn="l" latinLnBrk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색상이나 사이즈 등을 오반품 한 경우에는 매장으로 반송</a:t>
                      </a:r>
                      <a:endParaRPr lang="ko-KR" altLang="en-US" sz="80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000" marR="108000" marT="36000" marB="36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60000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80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자동결품취소 보상</a:t>
                      </a:r>
                      <a:endParaRPr lang="ko-KR" altLang="en-US" sz="80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000" marR="108000" marT="36000" marB="36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80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000" marR="108000" marT="36000" marB="36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 latinLnBrk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고객</a:t>
                      </a:r>
                      <a:r>
                        <a:rPr lang="ko-KR" altLang="en-US" sz="800" baseline="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en-US" altLang="ko-KR" sz="80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2,500 </a:t>
                      </a:r>
                      <a:r>
                        <a:rPr lang="ko-KR" altLang="en-US" sz="80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마일리지 제공 </a:t>
                      </a:r>
                      <a:r>
                        <a:rPr lang="en-US" altLang="ko-KR" sz="80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80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일반 주문 자동결품취소 보상과 동일</a:t>
                      </a:r>
                      <a:r>
                        <a:rPr lang="en-US" altLang="ko-KR" sz="80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endParaRPr lang="ko-KR" altLang="en-US" sz="80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000" marR="108000" marT="36000" marB="36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000" marR="108000" marT="36000" marB="36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6" name="타원 5"/>
          <p:cNvSpPr/>
          <p:nvPr/>
        </p:nvSpPr>
        <p:spPr>
          <a:xfrm>
            <a:off x="3617906" y="2699999"/>
            <a:ext cx="432000" cy="432000"/>
          </a:xfrm>
          <a:prstGeom prst="ellipse">
            <a:avLst/>
          </a:prstGeom>
          <a:solidFill>
            <a:schemeClr val="accent2"/>
          </a:solidFill>
          <a:ln w="3175">
            <a:noFill/>
          </a:ln>
          <a:effectLst>
            <a:outerShdw blurRad="25400" dist="25400" dir="2700000" algn="tl" rotWithShape="0">
              <a:schemeClr val="tx1">
                <a:lumMod val="75000"/>
                <a:lumOff val="2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700" b="1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r>
              <a:rPr lang="ko-KR" altLang="en-US" sz="700" b="1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차</a:t>
            </a:r>
            <a:endParaRPr lang="en-US" altLang="ko-KR" sz="700" b="1" smtClean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ctr"/>
            <a:r>
              <a:rPr lang="ko-KR" altLang="en-US" sz="700" b="1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시점</a:t>
            </a:r>
            <a:endParaRPr lang="ko-KR" altLang="en-US" sz="700" b="1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3" name="타원 52"/>
          <p:cNvSpPr/>
          <p:nvPr/>
        </p:nvSpPr>
        <p:spPr>
          <a:xfrm>
            <a:off x="9017906" y="2699999"/>
            <a:ext cx="432000" cy="432000"/>
          </a:xfrm>
          <a:prstGeom prst="ellipse">
            <a:avLst/>
          </a:prstGeom>
          <a:solidFill>
            <a:schemeClr val="accent2"/>
          </a:solidFill>
          <a:ln w="3175">
            <a:noFill/>
          </a:ln>
          <a:effectLst>
            <a:outerShdw blurRad="25400" dist="25400" dir="2700000" algn="tl" rotWithShape="0">
              <a:schemeClr val="tx1">
                <a:lumMod val="75000"/>
                <a:lumOff val="2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700" b="1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r>
              <a:rPr lang="ko-KR" altLang="en-US" sz="700" b="1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차</a:t>
            </a:r>
            <a:endParaRPr lang="en-US" altLang="ko-KR" sz="700" b="1" smtClean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ctr"/>
            <a:r>
              <a:rPr lang="ko-KR" altLang="en-US" sz="700" b="1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시점</a:t>
            </a:r>
            <a:endParaRPr lang="ko-KR" altLang="en-US" sz="700" b="1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4" name="모서리가 둥근 직사각형 53"/>
          <p:cNvSpPr/>
          <p:nvPr/>
        </p:nvSpPr>
        <p:spPr>
          <a:xfrm>
            <a:off x="323906" y="3455731"/>
            <a:ext cx="1260000" cy="36000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381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36000" rIns="180000" bIns="36000" rtlCol="0" anchor="ctr"/>
          <a:lstStyle/>
          <a:p>
            <a:r>
              <a:rPr lang="ko-KR" altLang="en-US" sz="900" b="1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자동 결품 정책</a:t>
            </a:r>
            <a:endParaRPr lang="ko-KR" altLang="en-US" sz="900" b="1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0312689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TextBox 39">
            <a:extLst>
              <a:ext uri="{FF2B5EF4-FFF2-40B4-BE49-F238E27FC236}">
                <a16:creationId xmlns:a16="http://schemas.microsoft.com/office/drawing/2014/main" xmlns="" id="{48023800-1C54-47BB-8E6D-1EF4C2BCA9A9}"/>
              </a:ext>
            </a:extLst>
          </p:cNvPr>
          <p:cNvSpPr txBox="1"/>
          <p:nvPr/>
        </p:nvSpPr>
        <p:spPr>
          <a:xfrm>
            <a:off x="94" y="102704"/>
            <a:ext cx="1842721" cy="226591"/>
          </a:xfrm>
          <a:prstGeom prst="rect">
            <a:avLst/>
          </a:prstGeom>
          <a:noFill/>
        </p:spPr>
        <p:txBody>
          <a:bodyPr wrap="none" lIns="360000" tIns="36000" rIns="360000" bIns="36000" rtlCol="0" anchor="ctr">
            <a:spAutoFit/>
          </a:bodyPr>
          <a:lstStyle/>
          <a:p>
            <a:r>
              <a:rPr lang="ko-KR" altLang="en-US" sz="1000" b="1">
                <a:solidFill>
                  <a:schemeClr val="bg1"/>
                </a:solidFill>
                <a:latin typeface="맑은 고딕" panose="020B0503020000020004" pitchFamily="50" charset="-127"/>
              </a:rPr>
              <a:t>온오프 재고 효율화</a:t>
            </a:r>
            <a:endParaRPr lang="en-US" altLang="ko-KR" sz="1000" b="1">
              <a:solidFill>
                <a:schemeClr val="bg1"/>
              </a:solidFill>
              <a:latin typeface="맑은 고딕" panose="020B0503020000020004" pitchFamily="50" charset="-127"/>
            </a:endParaRPr>
          </a:p>
        </p:txBody>
      </p:sp>
      <p:sp>
        <p:nvSpPr>
          <p:cNvPr id="41" name="모서리가 둥근 직사각형 40"/>
          <p:cNvSpPr/>
          <p:nvPr/>
        </p:nvSpPr>
        <p:spPr>
          <a:xfrm>
            <a:off x="323906" y="754094"/>
            <a:ext cx="1440000" cy="360000"/>
          </a:xfrm>
          <a:prstGeom prst="roundRect">
            <a:avLst/>
          </a:prstGeom>
          <a:solidFill>
            <a:schemeClr val="tx1">
              <a:lumMod val="65000"/>
              <a:lumOff val="35000"/>
            </a:schemeClr>
          </a:solidFill>
          <a:ln w="381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0" tIns="36000" rIns="36000" bIns="36000" rtlCol="0" anchor="ctr"/>
          <a:lstStyle/>
          <a:p>
            <a:r>
              <a:rPr lang="ko-KR" altLang="en-US" sz="900" b="1" smtClean="0">
                <a:solidFill>
                  <a:schemeClr val="bg1"/>
                </a:solidFill>
                <a:latin typeface="맑은 고딕" panose="020B0503020000020004" pitchFamily="50" charset="-127"/>
              </a:rPr>
              <a:t>리소스 산출</a:t>
            </a:r>
            <a:endParaRPr lang="ko-KR" altLang="en-US" sz="900" b="1">
              <a:solidFill>
                <a:schemeClr val="bg1"/>
              </a:solidFill>
              <a:latin typeface="맑은 고딕" panose="020B0503020000020004" pitchFamily="50" charset="-127"/>
            </a:endParaRPr>
          </a:p>
        </p:txBody>
      </p:sp>
      <p:graphicFrame>
        <p:nvGraphicFramePr>
          <p:cNvPr id="35" name="표 3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20085661"/>
              </p:ext>
            </p:extLst>
          </p:nvPr>
        </p:nvGraphicFramePr>
        <p:xfrm>
          <a:off x="323906" y="1295069"/>
          <a:ext cx="11376000" cy="4464000"/>
        </p:xfrm>
        <a:graphic>
          <a:graphicData uri="http://schemas.openxmlformats.org/drawingml/2006/table">
            <a:tbl>
              <a:tblPr firstRow="1" bandRow="1">
                <a:effectLst>
                  <a:outerShdw blurRad="25400" dist="25400" dir="2700000" algn="tl" rotWithShape="0">
                    <a:schemeClr val="tx1">
                      <a:lumMod val="75000"/>
                      <a:lumOff val="25000"/>
                      <a:alpha val="50000"/>
                    </a:schemeClr>
                  </a:outerShdw>
                </a:effectLst>
                <a:tableStyleId>{5C22544A-7EE6-4342-B048-85BDC9FD1C3A}</a:tableStyleId>
              </a:tblPr>
              <a:tblGrid>
                <a:gridCol w="1224000"/>
                <a:gridCol w="1224000"/>
                <a:gridCol w="1296000"/>
                <a:gridCol w="1152000"/>
                <a:gridCol w="3600000"/>
                <a:gridCol w="1440000"/>
                <a:gridCol w="1440000"/>
              </a:tblGrid>
              <a:tr h="2880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시스템</a:t>
                      </a:r>
                      <a:endParaRPr lang="ko-KR" altLang="en-US" sz="80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000" marR="108000" marT="36000" marB="36000" anchor="ctr"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도메인</a:t>
                      </a:r>
                      <a:endParaRPr lang="ko-KR" altLang="en-US" sz="80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000" marR="108000" marT="36000" marB="36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화면</a:t>
                      </a:r>
                      <a:endParaRPr lang="ko-KR" altLang="en-US" sz="80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000" marR="108000" marT="36000" marB="36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영역</a:t>
                      </a:r>
                      <a:endParaRPr lang="ko-KR" altLang="en-US" sz="80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000" marR="108000" marT="36000" marB="36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개발내용</a:t>
                      </a:r>
                      <a:endParaRPr lang="ko-KR" altLang="en-US" sz="80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000" marR="108000" marT="36000" marB="36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예상 공수</a:t>
                      </a:r>
                      <a:endParaRPr lang="ko-KR" altLang="en-US" sz="80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000" marR="108000" marT="36000" marB="36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필수</a:t>
                      </a:r>
                      <a:r>
                        <a:rPr lang="en-US" altLang="ko-KR" sz="80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80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최소</a:t>
                      </a:r>
                      <a:r>
                        <a:rPr lang="en-US" altLang="ko-KR" sz="80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 </a:t>
                      </a:r>
                      <a:r>
                        <a:rPr lang="ko-KR" altLang="en-US" sz="80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개발 범위</a:t>
                      </a:r>
                      <a:endParaRPr lang="ko-KR" altLang="en-US" sz="80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000" marR="108000" marT="36000" marB="36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50000"/>
                      </a:schemeClr>
                    </a:solidFill>
                  </a:tcPr>
                </a:tc>
              </a:tr>
              <a:tr h="216000">
                <a:tc rowSpan="10">
                  <a:txBody>
                    <a:bodyPr/>
                    <a:lstStyle/>
                    <a:p>
                      <a:pPr algn="ctr" latinLnBrk="1"/>
                      <a:r>
                        <a:rPr lang="en-US" altLang="ko-KR" sz="80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Front-end</a:t>
                      </a:r>
                      <a:endParaRPr lang="ko-KR" altLang="en-US" sz="8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000" marR="108000" marT="0" marB="0" anchor="ctr"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검색</a:t>
                      </a:r>
                      <a:endParaRPr lang="ko-KR" altLang="en-US" sz="8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000" marR="10800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상품목록</a:t>
                      </a:r>
                      <a:endParaRPr lang="ko-KR" altLang="en-US" sz="8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000" marR="10800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000" marR="10800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비직송매장 재고 체크하여</a:t>
                      </a:r>
                      <a:r>
                        <a:rPr lang="en-US" altLang="ko-KR" sz="80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</a:t>
                      </a:r>
                      <a:r>
                        <a:rPr lang="en-US" altLang="ko-KR" sz="800" baseline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800" baseline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플래그 </a:t>
                      </a:r>
                      <a:r>
                        <a:rPr lang="en-US" altLang="ko-KR" sz="800" baseline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(Flag) </a:t>
                      </a:r>
                      <a:r>
                        <a:rPr lang="ko-KR" altLang="en-US" sz="800" baseline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표현</a:t>
                      </a:r>
                      <a:endParaRPr lang="ko-KR" altLang="en-US" sz="8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000" marR="10800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0.5 M/M</a:t>
                      </a:r>
                      <a:endParaRPr lang="ko-KR" altLang="en-US" sz="8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000" marR="10800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상품목록 제외</a:t>
                      </a:r>
                      <a:endParaRPr lang="ko-KR" altLang="en-US" sz="8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000" marR="10800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108000" marR="108000" marT="36000" marB="36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80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상품</a:t>
                      </a:r>
                      <a:endParaRPr lang="ko-KR" altLang="en-US" sz="8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000" marR="10800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80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상품상세</a:t>
                      </a:r>
                      <a:endParaRPr lang="ko-KR" altLang="en-US" sz="8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000" marR="10800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옵션선택</a:t>
                      </a:r>
                      <a:endParaRPr lang="ko-KR" altLang="en-US" sz="8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000" marR="10800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 latinLnBrk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비직송매장 재고 체크하여</a:t>
                      </a:r>
                      <a:r>
                        <a:rPr lang="en-US" altLang="ko-KR" sz="80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</a:t>
                      </a:r>
                      <a:r>
                        <a:rPr lang="en-US" altLang="ko-KR" sz="800" baseline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800" baseline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플래그 </a:t>
                      </a:r>
                      <a:r>
                        <a:rPr lang="en-US" altLang="ko-KR" sz="800" baseline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(Flag) </a:t>
                      </a:r>
                      <a:r>
                        <a:rPr lang="ko-KR" altLang="en-US" sz="800" baseline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표현</a:t>
                      </a:r>
                      <a:endParaRPr lang="en-US" altLang="ko-KR" sz="800" baseline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000" marR="10800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0.5</a:t>
                      </a:r>
                      <a:r>
                        <a:rPr lang="en-US" altLang="ko-KR" sz="800" baseline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M/M</a:t>
                      </a:r>
                      <a:endParaRPr lang="ko-KR" altLang="en-US" sz="8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000" marR="10800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●</a:t>
                      </a:r>
                      <a:endParaRPr lang="ko-KR" altLang="en-US" sz="8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000" marR="10800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108000" marR="108000" marT="36000" marB="36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80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000" marR="108000" marT="36000" marB="36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80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000" marR="108000" marT="36000" marB="36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구매핸들</a:t>
                      </a:r>
                      <a:endParaRPr lang="ko-KR" altLang="en-US" sz="8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000" marR="10800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 latinLnBrk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비직송매장 재고 체크하여</a:t>
                      </a:r>
                      <a:r>
                        <a:rPr lang="en-US" altLang="ko-KR" sz="80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</a:t>
                      </a:r>
                      <a:r>
                        <a:rPr lang="en-US" altLang="ko-KR" sz="800" baseline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800" baseline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플래그 </a:t>
                      </a:r>
                      <a:r>
                        <a:rPr lang="en-US" altLang="ko-KR" sz="800" baseline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(Flag) </a:t>
                      </a:r>
                      <a:r>
                        <a:rPr lang="ko-KR" altLang="en-US" sz="800" baseline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표현</a:t>
                      </a:r>
                      <a:endParaRPr lang="en-US" altLang="ko-KR" sz="800" baseline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000" marR="10800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0.5 M/M</a:t>
                      </a:r>
                      <a:endParaRPr lang="ko-KR" altLang="en-US" sz="8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000" marR="10800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●</a:t>
                      </a:r>
                      <a:endParaRPr lang="ko-KR" altLang="en-US" sz="8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000" marR="10800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3">
                  <a:txBody>
                    <a:bodyPr/>
                    <a:lstStyle/>
                    <a:p>
                      <a:pPr algn="ctr" latinLnBrk="1"/>
                      <a:r>
                        <a:rPr lang="ko-KR" altLang="en-US" sz="80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주문</a:t>
                      </a:r>
                      <a:endParaRPr lang="ko-KR" altLang="en-US" sz="8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000" marR="10800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원클릭</a:t>
                      </a:r>
                      <a:endParaRPr lang="ko-KR" altLang="en-US" sz="8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000" marR="10800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주문상품</a:t>
                      </a:r>
                      <a:endParaRPr lang="ko-KR" altLang="en-US" sz="8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000" marR="10800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 latinLnBrk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비직송매장 재고 체크하여</a:t>
                      </a:r>
                      <a:r>
                        <a:rPr lang="en-US" altLang="ko-KR" sz="80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,</a:t>
                      </a:r>
                      <a:r>
                        <a:rPr lang="en-US" altLang="ko-KR" sz="800" baseline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r>
                        <a:rPr lang="ko-KR" altLang="en-US" sz="800" baseline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플래그 </a:t>
                      </a:r>
                      <a:r>
                        <a:rPr lang="en-US" altLang="ko-KR" sz="800" baseline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(Flag) </a:t>
                      </a:r>
                      <a:r>
                        <a:rPr lang="ko-KR" altLang="en-US" sz="800" baseline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표현</a:t>
                      </a:r>
                      <a:endParaRPr lang="en-US" altLang="ko-KR" sz="800" baseline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000" marR="10800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0.5 M/M</a:t>
                      </a:r>
                      <a:endParaRPr lang="ko-KR" altLang="en-US" sz="8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000" marR="10800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●</a:t>
                      </a:r>
                      <a:endParaRPr lang="ko-KR" altLang="en-US" sz="8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000" marR="10800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108000" marR="108000" marT="36000" marB="36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80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000" marR="108000" marT="36000" marB="36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쇼핑백</a:t>
                      </a:r>
                      <a:endParaRPr lang="ko-KR" altLang="en-US" sz="8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000" marR="10800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주문상품</a:t>
                      </a:r>
                      <a:endParaRPr lang="ko-KR" altLang="en-US" sz="8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000" marR="10800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 latinLnBrk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비직송매장 재고 체크하여</a:t>
                      </a:r>
                      <a:r>
                        <a:rPr lang="en-US" altLang="ko-KR" sz="80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</a:t>
                      </a:r>
                      <a:r>
                        <a:rPr lang="en-US" altLang="ko-KR" sz="800" baseline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800" baseline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플래그 </a:t>
                      </a:r>
                      <a:r>
                        <a:rPr lang="en-US" altLang="ko-KR" sz="800" baseline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(Flag) </a:t>
                      </a:r>
                      <a:r>
                        <a:rPr lang="ko-KR" altLang="en-US" sz="800" baseline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표현</a:t>
                      </a:r>
                      <a:endParaRPr lang="en-US" altLang="ko-KR" sz="800" baseline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000" marR="10800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0.5 M/M</a:t>
                      </a:r>
                      <a:endParaRPr lang="ko-KR" altLang="en-US" sz="8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000" marR="10800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●</a:t>
                      </a:r>
                      <a:endParaRPr lang="ko-KR" altLang="en-US" sz="8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000" marR="10800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108000" marR="108000" marT="36000" marB="36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108000" marR="108000" marT="36000" marB="36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주문서</a:t>
                      </a:r>
                      <a:endParaRPr lang="ko-KR" altLang="en-US" sz="8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000" marR="10800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주문상품</a:t>
                      </a:r>
                      <a:endParaRPr lang="ko-KR" altLang="en-US" sz="8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000" marR="10800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 latinLnBrk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비직송매장 재고 체크하여</a:t>
                      </a:r>
                      <a:r>
                        <a:rPr lang="en-US" altLang="ko-KR" sz="80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</a:t>
                      </a:r>
                      <a:r>
                        <a:rPr lang="en-US" altLang="ko-KR" sz="800" baseline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800" baseline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플래그 </a:t>
                      </a:r>
                      <a:r>
                        <a:rPr lang="en-US" altLang="ko-KR" sz="800" baseline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(Flag) </a:t>
                      </a:r>
                      <a:r>
                        <a:rPr lang="ko-KR" altLang="en-US" sz="800" baseline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표현</a:t>
                      </a:r>
                      <a:endParaRPr lang="en-US" altLang="ko-KR" sz="800" baseline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000" marR="10800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0.5 M/M</a:t>
                      </a:r>
                      <a:endParaRPr lang="ko-KR" altLang="en-US" sz="8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000" marR="10800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●</a:t>
                      </a:r>
                      <a:endParaRPr lang="ko-KR" altLang="en-US" sz="8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000" marR="10800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108000" marR="108000" marT="36000" marB="36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80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마이페이지</a:t>
                      </a:r>
                      <a:endParaRPr lang="ko-KR" altLang="en-US" sz="8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000" marR="10800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주문목록</a:t>
                      </a:r>
                      <a:endParaRPr lang="ko-KR" altLang="en-US" sz="8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000" marR="10800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000" marR="10800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 latinLnBrk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비직송매장 재고 체크하여</a:t>
                      </a:r>
                      <a:r>
                        <a:rPr lang="en-US" altLang="ko-KR" sz="80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</a:t>
                      </a:r>
                      <a:r>
                        <a:rPr lang="en-US" altLang="ko-KR" sz="800" baseline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800" baseline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플래그 </a:t>
                      </a:r>
                      <a:r>
                        <a:rPr lang="en-US" altLang="ko-KR" sz="800" baseline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(Flag) </a:t>
                      </a:r>
                      <a:r>
                        <a:rPr lang="ko-KR" altLang="en-US" sz="800" baseline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표현</a:t>
                      </a:r>
                      <a:endParaRPr lang="en-US" altLang="ko-KR" sz="800" baseline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000" marR="10800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0.5 M/M</a:t>
                      </a:r>
                      <a:endParaRPr lang="ko-KR" altLang="en-US" sz="8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000" marR="10800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●</a:t>
                      </a:r>
                      <a:endParaRPr lang="ko-KR" altLang="en-US" sz="8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000" marR="10800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108000" marR="108000" marT="36000" marB="36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108000" marR="108000" marT="36000" marB="36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주문상세</a:t>
                      </a:r>
                      <a:endParaRPr lang="ko-KR" altLang="en-US" sz="8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000" marR="10800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000" marR="10800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 latinLnBrk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비직송매장 재고 체크하여</a:t>
                      </a:r>
                      <a:r>
                        <a:rPr lang="en-US" altLang="ko-KR" sz="80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</a:t>
                      </a:r>
                      <a:r>
                        <a:rPr lang="en-US" altLang="ko-KR" sz="800" baseline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800" baseline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플래그 </a:t>
                      </a:r>
                      <a:r>
                        <a:rPr lang="en-US" altLang="ko-KR" sz="800" baseline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(Flag) </a:t>
                      </a:r>
                      <a:r>
                        <a:rPr lang="ko-KR" altLang="en-US" sz="800" baseline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표현</a:t>
                      </a:r>
                      <a:endParaRPr lang="en-US" altLang="ko-KR" sz="800" baseline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000" marR="10800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0.5 M/M</a:t>
                      </a:r>
                      <a:endParaRPr lang="ko-KR" altLang="en-US" sz="8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000" marR="10800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●</a:t>
                      </a:r>
                      <a:endParaRPr lang="ko-KR" altLang="en-US" sz="8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000" marR="10800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108000" marR="108000" marT="36000" marB="36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80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클레임</a:t>
                      </a:r>
                      <a:endParaRPr lang="ko-KR" altLang="en-US" sz="8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000" marR="10800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취소신청</a:t>
                      </a:r>
                      <a:endParaRPr lang="ko-KR" altLang="en-US" sz="8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000" marR="10800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000" marR="10800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매장에서 물량이동 확정 시</a:t>
                      </a:r>
                      <a:r>
                        <a:rPr lang="en-US" altLang="ko-KR" sz="80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</a:t>
                      </a:r>
                      <a:r>
                        <a:rPr lang="en-US" altLang="ko-KR" sz="800" baseline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800" baseline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취소 불가 처리</a:t>
                      </a:r>
                      <a:endParaRPr lang="ko-KR" altLang="en-US" sz="8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000" marR="10800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0.5 M/M</a:t>
                      </a:r>
                      <a:endParaRPr lang="ko-KR" altLang="en-US" sz="8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000" marR="10800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클레임 제외</a:t>
                      </a:r>
                      <a:endParaRPr lang="ko-KR" altLang="en-US" sz="8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000" marR="10800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108000" marR="108000" marT="36000" marB="36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108000" marR="108000" marT="36000" marB="36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교환신청</a:t>
                      </a:r>
                      <a:endParaRPr lang="ko-KR" altLang="en-US" sz="8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000" marR="10800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000" marR="10800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교환신청 옵션이 </a:t>
                      </a:r>
                      <a:r>
                        <a:rPr lang="en-US" altLang="ko-KR" sz="80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‘</a:t>
                      </a:r>
                      <a:r>
                        <a:rPr lang="ko-KR" altLang="en-US" sz="80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비직송매장</a:t>
                      </a:r>
                      <a:r>
                        <a:rPr lang="en-US" altLang="ko-KR" sz="80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’ </a:t>
                      </a:r>
                      <a:r>
                        <a:rPr lang="ko-KR" altLang="en-US" sz="80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재고만 존재할 경우</a:t>
                      </a:r>
                      <a:r>
                        <a:rPr lang="en-US" altLang="ko-KR" sz="800" baseline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800" baseline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배송안내 개선</a:t>
                      </a:r>
                      <a:endParaRPr lang="ko-KR" altLang="en-US" sz="8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000" marR="10800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0.5 M/M</a:t>
                      </a:r>
                      <a:endParaRPr lang="ko-KR" altLang="en-US" sz="8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000" marR="10800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클레임 제외</a:t>
                      </a:r>
                      <a:endParaRPr lang="ko-KR" altLang="en-US" sz="8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000" marR="10800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  <a:tr h="216000">
                <a:tc rowSpan="3">
                  <a:txBody>
                    <a:bodyPr/>
                    <a:lstStyle/>
                    <a:p>
                      <a:pPr algn="ctr" latinLnBrk="1"/>
                      <a:r>
                        <a:rPr lang="en-US" altLang="ko-KR" sz="80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Back-end</a:t>
                      </a:r>
                      <a:endParaRPr lang="ko-KR" altLang="en-US" sz="8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000" marR="108000" marT="0" marB="0" anchor="ctr"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80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상품</a:t>
                      </a:r>
                      <a:endParaRPr lang="ko-KR" altLang="en-US" sz="8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000" marR="10800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상품 목록</a:t>
                      </a:r>
                      <a:r>
                        <a:rPr lang="en-US" altLang="ko-KR" sz="80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lang="ko-KR" altLang="en-US" sz="80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상세</a:t>
                      </a:r>
                      <a:endParaRPr lang="ko-KR" altLang="en-US" sz="8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000" marR="10800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000" marR="10800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비직송매장 재고 정보 표현</a:t>
                      </a:r>
                      <a:endParaRPr lang="ko-KR" altLang="en-US" sz="8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000" marR="10800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0.5 M/M</a:t>
                      </a:r>
                      <a:endParaRPr lang="ko-KR" altLang="en-US" sz="8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000" marR="10800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●</a:t>
                      </a:r>
                      <a:endParaRPr lang="ko-KR" altLang="en-US" sz="8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000" marR="10800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8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000" marR="10800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비직송매장 관리 </a:t>
                      </a:r>
                      <a:r>
                        <a:rPr lang="en-US" altLang="ko-KR" sz="80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80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신규</a:t>
                      </a:r>
                      <a:r>
                        <a:rPr lang="en-US" altLang="ko-KR" sz="80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endParaRPr lang="ko-KR" altLang="en-US" sz="8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000" marR="10800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000" marR="10800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비직송매장 관리 화면 신규 개발 </a:t>
                      </a:r>
                      <a:r>
                        <a:rPr lang="en-US" altLang="ko-KR" sz="80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(NBOS)</a:t>
                      </a:r>
                      <a:r>
                        <a:rPr lang="en-US" altLang="ko-KR" sz="800" baseline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80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매장관리</a:t>
                      </a:r>
                      <a:endParaRPr lang="ko-KR" altLang="en-US" sz="8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000" marR="10800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0.5 M.M</a:t>
                      </a:r>
                      <a:endParaRPr lang="ko-KR" altLang="en-US" sz="8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000" marR="10800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●</a:t>
                      </a:r>
                      <a:endParaRPr lang="ko-KR" altLang="en-US" sz="8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000" marR="10800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108000" marR="108000" marT="36000" marB="36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주문</a:t>
                      </a:r>
                      <a:endParaRPr lang="ko-KR" altLang="en-US" sz="8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000" marR="10800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주문 목록</a:t>
                      </a:r>
                      <a:r>
                        <a:rPr lang="en-US" altLang="ko-KR" sz="80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lang="ko-KR" altLang="en-US" sz="80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상세</a:t>
                      </a:r>
                      <a:endParaRPr lang="ko-KR" altLang="en-US" sz="8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000" marR="10800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000" marR="10800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주문 내용에 </a:t>
                      </a:r>
                      <a:r>
                        <a:rPr lang="en-US" altLang="ko-KR" sz="80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‘</a:t>
                      </a:r>
                      <a:r>
                        <a:rPr lang="ko-KR" altLang="en-US" sz="80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오프라인 재고</a:t>
                      </a:r>
                      <a:r>
                        <a:rPr lang="en-US" altLang="ko-KR" sz="80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’ </a:t>
                      </a:r>
                      <a:r>
                        <a:rPr lang="ko-KR" altLang="en-US" sz="80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표현</a:t>
                      </a:r>
                      <a:endParaRPr lang="ko-KR" altLang="en-US" sz="8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000" marR="10800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0.5 M/M</a:t>
                      </a:r>
                      <a:endParaRPr lang="ko-KR" altLang="en-US" sz="8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000" marR="10800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●</a:t>
                      </a:r>
                      <a:endParaRPr lang="ko-KR" altLang="en-US" sz="8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000" marR="10800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API</a:t>
                      </a:r>
                      <a:endParaRPr lang="ko-KR" altLang="en-US" sz="8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000" marR="108000" marT="0" marB="0" anchor="ctr"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검색</a:t>
                      </a:r>
                      <a:endParaRPr lang="ko-KR" altLang="en-US" sz="8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000" marR="10800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000" marR="10800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nxAPI </a:t>
                      </a:r>
                      <a:r>
                        <a:rPr lang="ko-KR" altLang="en-US" sz="80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수정</a:t>
                      </a:r>
                      <a:endParaRPr lang="ko-KR" altLang="en-US" sz="8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000" marR="10800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비직송매장 재고 응답 추가</a:t>
                      </a:r>
                      <a:endParaRPr lang="ko-KR" altLang="en-US" sz="8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000" marR="10800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0.25 M/M</a:t>
                      </a:r>
                      <a:endParaRPr lang="ko-KR" altLang="en-US" sz="8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000" marR="10800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상품목록 제외</a:t>
                      </a:r>
                      <a:endParaRPr lang="ko-KR" altLang="en-US" sz="8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000" marR="10800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  <a:tr h="216000">
                <a:tc rowSpan="3">
                  <a:txBody>
                    <a:bodyPr/>
                    <a:lstStyle/>
                    <a:p>
                      <a:pPr algn="ctr" latinLnBrk="1"/>
                      <a:r>
                        <a:rPr lang="en-US" altLang="ko-KR" sz="80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Batch</a:t>
                      </a:r>
                      <a:endParaRPr lang="ko-KR" altLang="en-US" sz="8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000" marR="108000" marT="0" marB="0" anchor="ctr"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검색</a:t>
                      </a:r>
                      <a:endParaRPr lang="ko-KR" altLang="en-US" sz="8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000" marR="10800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000" marR="10800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인덱싱 배치 수정</a:t>
                      </a:r>
                      <a:endParaRPr lang="ko-KR" altLang="en-US" sz="8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000" marR="10800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비직송매장 재고 데이터 취합 로직 추가</a:t>
                      </a:r>
                      <a:endParaRPr lang="ko-KR" altLang="en-US" sz="8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000" marR="10800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0.5</a:t>
                      </a:r>
                      <a:r>
                        <a:rPr lang="en-US" altLang="ko-KR" sz="800" baseline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M/M</a:t>
                      </a:r>
                      <a:endParaRPr lang="ko-KR" altLang="en-US" sz="8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000" marR="10800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상품목록 제외</a:t>
                      </a:r>
                      <a:endParaRPr lang="ko-KR" altLang="en-US" sz="8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000" marR="10800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80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000" marR="108000" marT="36000" marB="36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상품</a:t>
                      </a:r>
                      <a:endParaRPr lang="ko-KR" altLang="en-US" sz="8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000" marR="10800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000" marR="10800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재고동기화</a:t>
                      </a:r>
                      <a:endParaRPr lang="ko-KR" altLang="en-US" sz="8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000" marR="10800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비직송매장 재고 데이터 취합 로직 추가</a:t>
                      </a:r>
                      <a:endParaRPr lang="ko-KR" altLang="en-US" sz="8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000" marR="10800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1.5</a:t>
                      </a:r>
                      <a:r>
                        <a:rPr lang="en-US" altLang="ko-KR" sz="800" baseline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M/M</a:t>
                      </a:r>
                      <a:endParaRPr lang="ko-KR" altLang="en-US" sz="8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000" marR="10800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●</a:t>
                      </a:r>
                      <a:endParaRPr lang="ko-KR" altLang="en-US" sz="8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000" marR="10800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108000" marR="108000" marT="36000" marB="36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자동결품배치</a:t>
                      </a:r>
                      <a:endParaRPr lang="ko-KR" altLang="en-US" sz="8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000" marR="10800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000" marR="10800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000" marR="10800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비직송매장 주문 </a:t>
                      </a:r>
                      <a:r>
                        <a:rPr lang="en-US" altLang="ko-KR" sz="80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D+7</a:t>
                      </a:r>
                      <a:r>
                        <a:rPr lang="en-US" altLang="ko-KR" sz="800" baseline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(</a:t>
                      </a:r>
                      <a:r>
                        <a:rPr lang="ko-KR" altLang="en-US" sz="800" baseline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영업일 기준</a:t>
                      </a:r>
                      <a:r>
                        <a:rPr lang="en-US" altLang="ko-KR" sz="800" baseline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 </a:t>
                      </a:r>
                      <a:r>
                        <a:rPr lang="ko-KR" altLang="en-US" sz="800" baseline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결품 예외처리</a:t>
                      </a:r>
                      <a:endParaRPr lang="ko-KR" altLang="en-US" sz="8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000" marR="10800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0.5 M/M</a:t>
                      </a:r>
                      <a:endParaRPr lang="ko-KR" altLang="en-US" sz="8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000" marR="10800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●</a:t>
                      </a:r>
                      <a:endParaRPr lang="ko-KR" altLang="en-US" sz="8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000" marR="10800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알림톡</a:t>
                      </a:r>
                      <a:endParaRPr lang="ko-KR" altLang="en-US" sz="8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000" marR="108000" marT="0" marB="0" anchor="ctr"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주문</a:t>
                      </a:r>
                      <a:endParaRPr lang="ko-KR" altLang="en-US" sz="8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000" marR="10800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000" marR="10800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000" marR="10800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80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[</a:t>
                      </a:r>
                      <a:r>
                        <a:rPr lang="ko-KR" altLang="en-US" sz="80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주문 </a:t>
                      </a:r>
                      <a:r>
                        <a:rPr lang="en-US" altLang="ko-KR" sz="80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– </a:t>
                      </a:r>
                      <a:r>
                        <a:rPr lang="ko-KR" altLang="en-US" sz="80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결제완료</a:t>
                      </a:r>
                      <a:r>
                        <a:rPr lang="en-US" altLang="ko-KR" sz="80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] [</a:t>
                      </a:r>
                      <a:r>
                        <a:rPr lang="ko-KR" altLang="en-US" sz="80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배송</a:t>
                      </a:r>
                      <a:r>
                        <a:rPr lang="en-US" altLang="ko-KR" sz="800" baseline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– </a:t>
                      </a:r>
                      <a:r>
                        <a:rPr lang="ko-KR" altLang="en-US" sz="800" baseline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발송시작</a:t>
                      </a:r>
                      <a:r>
                        <a:rPr lang="en-US" altLang="ko-KR" sz="800" baseline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] </a:t>
                      </a:r>
                      <a:r>
                        <a:rPr lang="ko-KR" altLang="en-US" sz="800" baseline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알림톡 내용 분기 처리</a:t>
                      </a:r>
                      <a:endParaRPr lang="ko-KR" altLang="en-US" sz="8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000" marR="10800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0.5</a:t>
                      </a:r>
                      <a:r>
                        <a:rPr lang="en-US" altLang="ko-KR" sz="800" baseline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M/M</a:t>
                      </a:r>
                      <a:endParaRPr lang="ko-KR" altLang="en-US" sz="8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000" marR="10800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●</a:t>
                      </a:r>
                      <a:endParaRPr lang="ko-KR" altLang="en-US" sz="8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000" marR="10800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88000">
                <a:tc gridSpan="5">
                  <a:txBody>
                    <a:bodyPr/>
                    <a:lstStyle/>
                    <a:p>
                      <a:pPr algn="ctr" latinLnBrk="1"/>
                      <a:r>
                        <a:rPr lang="en-US" altLang="ko-KR" sz="800" smtClean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TTL</a:t>
                      </a:r>
                      <a:endParaRPr lang="ko-KR" altLang="en-US" sz="800">
                        <a:solidFill>
                          <a:schemeClr val="bg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000" marR="108000" marT="36000" marB="36000" anchor="ctr"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108000" marR="108000" marT="36000" marB="36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108000" marR="108000" marT="36000" marB="36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108000" marR="108000" marT="36000" marB="36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171450" indent="-171450" algn="l" latinLnBrk="1">
                        <a:buFont typeface="Arial" panose="020B0604020202020204" pitchFamily="34" charset="0"/>
                        <a:buChar char="•"/>
                      </a:pPr>
                      <a:endParaRPr lang="ko-KR" altLang="en-US" sz="800"/>
                    </a:p>
                  </a:txBody>
                  <a:tcPr marL="108000" marR="108000" marT="36000" marB="36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smtClean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전체 </a:t>
                      </a:r>
                      <a:r>
                        <a:rPr lang="en-US" altLang="ko-KR" sz="800" b="1" smtClean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9.75 M/M</a:t>
                      </a:r>
                      <a:endParaRPr lang="ko-KR" altLang="en-US" sz="800" b="1">
                        <a:solidFill>
                          <a:schemeClr val="bg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000" marR="108000" marT="36000" marB="36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smtClean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최소 범위 기준 </a:t>
                      </a:r>
                      <a:r>
                        <a:rPr lang="en-US" altLang="ko-KR" sz="800" b="1" smtClean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7.5 M/M</a:t>
                      </a:r>
                      <a:endParaRPr lang="ko-KR" altLang="en-US" sz="800" b="1">
                        <a:solidFill>
                          <a:schemeClr val="bg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000" marR="108000" marT="36000" marB="36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</a:tr>
            </a:tbl>
          </a:graphicData>
        </a:graphic>
      </p:graphicFrame>
      <p:grpSp>
        <p:nvGrpSpPr>
          <p:cNvPr id="16" name="그룹 15"/>
          <p:cNvGrpSpPr/>
          <p:nvPr/>
        </p:nvGrpSpPr>
        <p:grpSpPr>
          <a:xfrm>
            <a:off x="6768362" y="5865833"/>
            <a:ext cx="2519883" cy="432000"/>
            <a:chOff x="5303940" y="5479534"/>
            <a:chExt cx="2519883" cy="432000"/>
          </a:xfrm>
        </p:grpSpPr>
        <p:sp>
          <p:nvSpPr>
            <p:cNvPr id="5" name="모서리가 둥근 직사각형 4"/>
            <p:cNvSpPr/>
            <p:nvPr/>
          </p:nvSpPr>
          <p:spPr>
            <a:xfrm>
              <a:off x="5303940" y="5479534"/>
              <a:ext cx="720000" cy="432000"/>
            </a:xfrm>
            <a:prstGeom prst="roundRect">
              <a:avLst/>
            </a:prstGeom>
            <a:solidFill>
              <a:schemeClr val="tx1">
                <a:lumMod val="75000"/>
                <a:lumOff val="25000"/>
              </a:schemeClr>
            </a:solidFill>
            <a:ln w="3175"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800" smtClean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검색 파트</a:t>
              </a:r>
              <a:r>
                <a:rPr lang="en-US" altLang="ko-KR" sz="800" smtClean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</a:t>
              </a:r>
            </a:p>
            <a:p>
              <a:pPr algn="ctr"/>
              <a:r>
                <a:rPr lang="en-US" altLang="ko-KR" sz="800" b="1" smtClean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1.25 M/M</a:t>
              </a:r>
              <a:endParaRPr lang="ko-KR" altLang="en-US" sz="8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2" name="모서리가 둥근 직사각형 11"/>
            <p:cNvSpPr/>
            <p:nvPr/>
          </p:nvSpPr>
          <p:spPr>
            <a:xfrm>
              <a:off x="6203881" y="5479534"/>
              <a:ext cx="720000" cy="432000"/>
            </a:xfrm>
            <a:prstGeom prst="roundRect">
              <a:avLst/>
            </a:prstGeom>
            <a:solidFill>
              <a:schemeClr val="tx1">
                <a:lumMod val="75000"/>
                <a:lumOff val="25000"/>
              </a:schemeClr>
            </a:solidFill>
            <a:ln w="3175"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800" smtClean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상품 파트</a:t>
              </a:r>
              <a:r>
                <a:rPr lang="en-US" altLang="ko-KR" sz="800" smtClean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</a:t>
              </a:r>
            </a:p>
            <a:p>
              <a:pPr algn="ctr"/>
              <a:r>
                <a:rPr lang="en-US" altLang="ko-KR" sz="800" b="1" smtClean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3.5 M/M</a:t>
              </a:r>
              <a:endParaRPr lang="ko-KR" altLang="en-US" sz="8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3" name="모서리가 둥근 직사각형 12"/>
            <p:cNvSpPr/>
            <p:nvPr/>
          </p:nvSpPr>
          <p:spPr>
            <a:xfrm>
              <a:off x="7103823" y="5479534"/>
              <a:ext cx="720000" cy="432000"/>
            </a:xfrm>
            <a:prstGeom prst="roundRect">
              <a:avLst/>
            </a:prstGeom>
            <a:solidFill>
              <a:schemeClr val="tx1">
                <a:lumMod val="75000"/>
                <a:lumOff val="25000"/>
              </a:schemeClr>
            </a:solidFill>
            <a:ln w="3175"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800" smtClean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주문 파트</a:t>
              </a:r>
              <a:r>
                <a:rPr lang="en-US" altLang="ko-KR" sz="800" smtClean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</a:t>
              </a:r>
            </a:p>
            <a:p>
              <a:pPr algn="ctr"/>
              <a:r>
                <a:rPr lang="en-US" altLang="ko-KR" sz="800" b="1" smtClean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5 M/M</a:t>
              </a:r>
              <a:endParaRPr lang="ko-KR" altLang="en-US" sz="8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grpSp>
        <p:nvGrpSpPr>
          <p:cNvPr id="9" name="그룹 8"/>
          <p:cNvGrpSpPr/>
          <p:nvPr/>
        </p:nvGrpSpPr>
        <p:grpSpPr>
          <a:xfrm>
            <a:off x="9905476" y="5865833"/>
            <a:ext cx="1619942" cy="432000"/>
            <a:chOff x="6203881" y="5479534"/>
            <a:chExt cx="1619942" cy="432000"/>
          </a:xfrm>
          <a:solidFill>
            <a:schemeClr val="accent2">
              <a:lumMod val="75000"/>
            </a:schemeClr>
          </a:solidFill>
        </p:grpSpPr>
        <p:sp>
          <p:nvSpPr>
            <p:cNvPr id="11" name="모서리가 둥근 직사각형 10"/>
            <p:cNvSpPr/>
            <p:nvPr/>
          </p:nvSpPr>
          <p:spPr>
            <a:xfrm>
              <a:off x="6203881" y="5479534"/>
              <a:ext cx="720000" cy="432000"/>
            </a:xfrm>
            <a:prstGeom prst="roundRect">
              <a:avLst/>
            </a:prstGeom>
            <a:grpFill/>
            <a:ln w="3175"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800" smtClean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상품 파트</a:t>
              </a:r>
              <a:r>
                <a:rPr lang="en-US" altLang="ko-KR" sz="800" smtClean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</a:t>
              </a:r>
            </a:p>
            <a:p>
              <a:pPr algn="ctr"/>
              <a:r>
                <a:rPr lang="en-US" altLang="ko-KR" sz="800" b="1" smtClean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3.5 M/M</a:t>
              </a:r>
              <a:endParaRPr lang="ko-KR" altLang="en-US" sz="8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4" name="모서리가 둥근 직사각형 13"/>
            <p:cNvSpPr/>
            <p:nvPr/>
          </p:nvSpPr>
          <p:spPr>
            <a:xfrm>
              <a:off x="7103823" y="5479534"/>
              <a:ext cx="720000" cy="432000"/>
            </a:xfrm>
            <a:prstGeom prst="roundRect">
              <a:avLst/>
            </a:prstGeom>
            <a:grpFill/>
            <a:ln w="3175"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800" smtClean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주문 파트</a:t>
              </a:r>
              <a:r>
                <a:rPr lang="en-US" altLang="ko-KR" sz="800" smtClean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</a:t>
              </a:r>
            </a:p>
            <a:p>
              <a:pPr algn="ctr"/>
              <a:r>
                <a:rPr lang="en-US" altLang="ko-KR" sz="800" b="1" smtClean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4 M/M</a:t>
              </a:r>
              <a:endParaRPr lang="ko-KR" altLang="en-US" sz="8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sp>
        <p:nvSpPr>
          <p:cNvPr id="2" name="오른쪽 화살표 1"/>
          <p:cNvSpPr/>
          <p:nvPr/>
        </p:nvSpPr>
        <p:spPr>
          <a:xfrm>
            <a:off x="9444646" y="5973833"/>
            <a:ext cx="360000" cy="216000"/>
          </a:xfrm>
          <a:prstGeom prst="rightArrow">
            <a:avLst/>
          </a:prstGeom>
          <a:solidFill>
            <a:schemeClr val="accent2">
              <a:lumMod val="60000"/>
              <a:lumOff val="4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7628770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직사각형 270"/>
          <p:cNvSpPr/>
          <p:nvPr/>
        </p:nvSpPr>
        <p:spPr>
          <a:xfrm>
            <a:off x="3744162" y="1565703"/>
            <a:ext cx="1080000" cy="32040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127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65" name="타원 264"/>
          <p:cNvSpPr/>
          <p:nvPr/>
        </p:nvSpPr>
        <p:spPr>
          <a:xfrm>
            <a:off x="3598257" y="1423609"/>
            <a:ext cx="288000" cy="288000"/>
          </a:xfrm>
          <a:prstGeom prst="ellipse">
            <a:avLst/>
          </a:prstGeom>
          <a:solidFill>
            <a:schemeClr val="accent2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b="1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endParaRPr lang="ko-KR" altLang="en-US" sz="800" b="1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" name="모서리가 둥근 직사각형 1"/>
          <p:cNvSpPr/>
          <p:nvPr/>
        </p:nvSpPr>
        <p:spPr>
          <a:xfrm>
            <a:off x="323906" y="737711"/>
            <a:ext cx="2880000" cy="360000"/>
          </a:xfrm>
          <a:prstGeom prst="roundRect">
            <a:avLst/>
          </a:prstGeom>
          <a:solidFill>
            <a:schemeClr val="tx1">
              <a:lumMod val="65000"/>
              <a:lumOff val="35000"/>
            </a:schemeClr>
          </a:solidFill>
          <a:ln w="381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0" tIns="36000" rIns="36000" bIns="36000" rtlCol="0" anchor="ctr"/>
          <a:lstStyle/>
          <a:p>
            <a:r>
              <a:rPr lang="ko-KR" altLang="en-US" sz="900" b="1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물류혁신</a:t>
            </a:r>
            <a:r>
              <a:rPr lang="en-US" altLang="ko-KR" sz="900" b="1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BSU </a:t>
            </a:r>
            <a:r>
              <a:rPr lang="ko-KR" altLang="en-US" sz="900" b="1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업무 오퍼레이션 관련 이슈</a:t>
            </a:r>
            <a:endParaRPr lang="ko-KR" altLang="en-US" sz="900" b="1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42" name="TextBox 141">
            <a:extLst>
              <a:ext uri="{FF2B5EF4-FFF2-40B4-BE49-F238E27FC236}">
                <a16:creationId xmlns="" xmlns:a16="http://schemas.microsoft.com/office/drawing/2014/main" id="{C5E486F5-93A1-4316-A9AE-8F2FB1C3263A}"/>
              </a:ext>
            </a:extLst>
          </p:cNvPr>
          <p:cNvSpPr txBox="1"/>
          <p:nvPr/>
        </p:nvSpPr>
        <p:spPr>
          <a:xfrm>
            <a:off x="94" y="102705"/>
            <a:ext cx="1842721" cy="226591"/>
          </a:xfrm>
          <a:prstGeom prst="rect">
            <a:avLst/>
          </a:prstGeom>
          <a:noFill/>
        </p:spPr>
        <p:txBody>
          <a:bodyPr wrap="none" lIns="360000" tIns="36000" rIns="360000" bIns="36000" rtlCol="0" anchor="ctr">
            <a:spAutoFit/>
          </a:bodyPr>
          <a:lstStyle/>
          <a:p>
            <a:r>
              <a:rPr lang="ko-KR" altLang="en-US" sz="1000" b="1">
                <a:solidFill>
                  <a:schemeClr val="bg1"/>
                </a:solidFill>
                <a:latin typeface="맑은 고딕" panose="020B0503020000020004" pitchFamily="50" charset="-127"/>
              </a:rPr>
              <a:t>온오프 재고 효율화</a:t>
            </a:r>
            <a:endParaRPr lang="en-US" altLang="ko-KR" sz="1000" b="1">
              <a:solidFill>
                <a:schemeClr val="bg1"/>
              </a:solidFill>
              <a:latin typeface="맑은 고딕" panose="020B0503020000020004" pitchFamily="50" charset="-127"/>
            </a:endParaRPr>
          </a:p>
        </p:txBody>
      </p:sp>
      <p:sp>
        <p:nvSpPr>
          <p:cNvPr id="4" name="직사각형 3"/>
          <p:cNvSpPr/>
          <p:nvPr/>
        </p:nvSpPr>
        <p:spPr>
          <a:xfrm>
            <a:off x="323906" y="1385703"/>
            <a:ext cx="1440000" cy="3600000"/>
          </a:xfrm>
          <a:prstGeom prst="rect">
            <a:avLst/>
          </a:prstGeom>
          <a:pattFill prst="openDmnd">
            <a:fgClr>
              <a:schemeClr val="bg1">
                <a:lumMod val="75000"/>
              </a:schemeClr>
            </a:fgClr>
            <a:bgClr>
              <a:schemeClr val="bg1"/>
            </a:bgClr>
          </a:patt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하역장</a:t>
            </a:r>
            <a:endParaRPr lang="ko-KR" altLang="en-US" sz="1000" b="1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9" name="모서리가 둥근 직사각형 108"/>
          <p:cNvSpPr/>
          <p:nvPr/>
        </p:nvSpPr>
        <p:spPr>
          <a:xfrm>
            <a:off x="2484034" y="1673703"/>
            <a:ext cx="720000" cy="28800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b="1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반품 하차</a:t>
            </a:r>
            <a:endParaRPr lang="ko-KR" altLang="en-US" sz="800" b="1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21" name="모서리가 둥근 직사각형 120"/>
          <p:cNvSpPr/>
          <p:nvPr/>
        </p:nvSpPr>
        <p:spPr>
          <a:xfrm>
            <a:off x="3924162" y="1673703"/>
            <a:ext cx="720000" cy="28800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b="1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오픈</a:t>
            </a:r>
            <a:endParaRPr lang="ko-KR" altLang="en-US" sz="800" b="1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23" name="모서리가 둥근 직사각형 122"/>
          <p:cNvSpPr/>
          <p:nvPr/>
        </p:nvSpPr>
        <p:spPr>
          <a:xfrm>
            <a:off x="5364290" y="1673703"/>
            <a:ext cx="720000" cy="28800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b="1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반품 검수</a:t>
            </a:r>
            <a:endParaRPr lang="ko-KR" altLang="en-US" sz="800" b="1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26" name="직사각형 125"/>
          <p:cNvSpPr/>
          <p:nvPr/>
        </p:nvSpPr>
        <p:spPr>
          <a:xfrm>
            <a:off x="8244542" y="1385703"/>
            <a:ext cx="3600000" cy="3600000"/>
          </a:xfrm>
          <a:prstGeom prst="rect">
            <a:avLst/>
          </a:prstGeom>
          <a:pattFill prst="lgGrid">
            <a:fgClr>
              <a:schemeClr val="bg1">
                <a:lumMod val="75000"/>
              </a:schemeClr>
            </a:fgClr>
            <a:bgClr>
              <a:schemeClr val="bg1"/>
            </a:bgClr>
          </a:patt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창고</a:t>
            </a:r>
            <a:endParaRPr lang="ko-KR" altLang="en-US" sz="1000" b="1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37" name="모서리가 둥근 직사각형 136"/>
          <p:cNvSpPr/>
          <p:nvPr/>
        </p:nvSpPr>
        <p:spPr>
          <a:xfrm>
            <a:off x="6804418" y="1673703"/>
            <a:ext cx="720000" cy="28800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b="1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확정</a:t>
            </a:r>
            <a:endParaRPr lang="ko-KR" altLang="en-US" sz="800" b="1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12" name="Delivery"/>
          <p:cNvSpPr>
            <a:spLocks noChangeAspect="1" noEditPoints="1"/>
          </p:cNvSpPr>
          <p:nvPr/>
        </p:nvSpPr>
        <p:spPr bwMode="auto">
          <a:xfrm>
            <a:off x="699656" y="2123703"/>
            <a:ext cx="642600" cy="504000"/>
          </a:xfrm>
          <a:custGeom>
            <a:avLst/>
            <a:gdLst>
              <a:gd name="T0" fmla="*/ 0 w 667"/>
              <a:gd name="T1" fmla="*/ 147 h 520"/>
              <a:gd name="T2" fmla="*/ 27 w 667"/>
              <a:gd name="T3" fmla="*/ 414 h 520"/>
              <a:gd name="T4" fmla="*/ 95 w 667"/>
              <a:gd name="T5" fmla="*/ 454 h 520"/>
              <a:gd name="T6" fmla="*/ 252 w 667"/>
              <a:gd name="T7" fmla="*/ 454 h 520"/>
              <a:gd name="T8" fmla="*/ 401 w 667"/>
              <a:gd name="T9" fmla="*/ 444 h 520"/>
              <a:gd name="T10" fmla="*/ 520 w 667"/>
              <a:gd name="T11" fmla="*/ 520 h 520"/>
              <a:gd name="T12" fmla="*/ 627 w 667"/>
              <a:gd name="T13" fmla="*/ 454 h 520"/>
              <a:gd name="T14" fmla="*/ 667 w 667"/>
              <a:gd name="T15" fmla="*/ 286 h 520"/>
              <a:gd name="T16" fmla="*/ 590 w 667"/>
              <a:gd name="T17" fmla="*/ 154 h 520"/>
              <a:gd name="T18" fmla="*/ 427 w 667"/>
              <a:gd name="T19" fmla="*/ 120 h 520"/>
              <a:gd name="T20" fmla="*/ 413 w 667"/>
              <a:gd name="T21" fmla="*/ 93 h 520"/>
              <a:gd name="T22" fmla="*/ 260 w 667"/>
              <a:gd name="T23" fmla="*/ 54 h 520"/>
              <a:gd name="T24" fmla="*/ 147 w 667"/>
              <a:gd name="T25" fmla="*/ 27 h 520"/>
              <a:gd name="T26" fmla="*/ 147 w 667"/>
              <a:gd name="T27" fmla="*/ 267 h 520"/>
              <a:gd name="T28" fmla="*/ 147 w 667"/>
              <a:gd name="T29" fmla="*/ 27 h 520"/>
              <a:gd name="T30" fmla="*/ 133 w 667"/>
              <a:gd name="T31" fmla="*/ 54 h 520"/>
              <a:gd name="T32" fmla="*/ 126 w 667"/>
              <a:gd name="T33" fmla="*/ 147 h 520"/>
              <a:gd name="T34" fmla="*/ 97 w 667"/>
              <a:gd name="T35" fmla="*/ 178 h 520"/>
              <a:gd name="T36" fmla="*/ 145 w 667"/>
              <a:gd name="T37" fmla="*/ 168 h 520"/>
              <a:gd name="T38" fmla="*/ 168 w 667"/>
              <a:gd name="T39" fmla="*/ 147 h 520"/>
              <a:gd name="T40" fmla="*/ 160 w 667"/>
              <a:gd name="T41" fmla="*/ 54 h 520"/>
              <a:gd name="T42" fmla="*/ 277 w 667"/>
              <a:gd name="T43" fmla="*/ 80 h 520"/>
              <a:gd name="T44" fmla="*/ 387 w 667"/>
              <a:gd name="T45" fmla="*/ 93 h 520"/>
              <a:gd name="T46" fmla="*/ 375 w 667"/>
              <a:gd name="T47" fmla="*/ 427 h 520"/>
              <a:gd name="T48" fmla="*/ 173 w 667"/>
              <a:gd name="T49" fmla="*/ 360 h 520"/>
              <a:gd name="T50" fmla="*/ 67 w 667"/>
              <a:gd name="T51" fmla="*/ 427 h 520"/>
              <a:gd name="T52" fmla="*/ 53 w 667"/>
              <a:gd name="T53" fmla="*/ 260 h 520"/>
              <a:gd name="T54" fmla="*/ 293 w 667"/>
              <a:gd name="T55" fmla="*/ 147 h 520"/>
              <a:gd name="T56" fmla="*/ 427 w 667"/>
              <a:gd name="T57" fmla="*/ 147 h 520"/>
              <a:gd name="T58" fmla="*/ 569 w 667"/>
              <a:gd name="T59" fmla="*/ 171 h 520"/>
              <a:gd name="T60" fmla="*/ 507 w 667"/>
              <a:gd name="T61" fmla="*/ 174 h 520"/>
              <a:gd name="T62" fmla="*/ 467 w 667"/>
              <a:gd name="T63" fmla="*/ 267 h 520"/>
              <a:gd name="T64" fmla="*/ 507 w 667"/>
              <a:gd name="T65" fmla="*/ 307 h 520"/>
              <a:gd name="T66" fmla="*/ 640 w 667"/>
              <a:gd name="T67" fmla="*/ 414 h 520"/>
              <a:gd name="T68" fmla="*/ 599 w 667"/>
              <a:gd name="T69" fmla="*/ 427 h 520"/>
              <a:gd name="T70" fmla="*/ 441 w 667"/>
              <a:gd name="T71" fmla="*/ 427 h 520"/>
              <a:gd name="T72" fmla="*/ 413 w 667"/>
              <a:gd name="T73" fmla="*/ 414 h 520"/>
              <a:gd name="T74" fmla="*/ 427 w 667"/>
              <a:gd name="T75" fmla="*/ 147 h 520"/>
              <a:gd name="T76" fmla="*/ 591 w 667"/>
              <a:gd name="T77" fmla="*/ 200 h 520"/>
              <a:gd name="T78" fmla="*/ 638 w 667"/>
              <a:gd name="T79" fmla="*/ 280 h 520"/>
              <a:gd name="T80" fmla="*/ 493 w 667"/>
              <a:gd name="T81" fmla="*/ 267 h 520"/>
              <a:gd name="T82" fmla="*/ 507 w 667"/>
              <a:gd name="T83" fmla="*/ 200 h 520"/>
              <a:gd name="T84" fmla="*/ 227 w 667"/>
              <a:gd name="T85" fmla="*/ 440 h 520"/>
              <a:gd name="T86" fmla="*/ 120 w 667"/>
              <a:gd name="T87" fmla="*/ 440 h 520"/>
              <a:gd name="T88" fmla="*/ 520 w 667"/>
              <a:gd name="T89" fmla="*/ 387 h 520"/>
              <a:gd name="T90" fmla="*/ 520 w 667"/>
              <a:gd name="T91" fmla="*/ 494 h 520"/>
              <a:gd name="T92" fmla="*/ 520 w 667"/>
              <a:gd name="T93" fmla="*/ 387 h 52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</a:cxnLst>
            <a:rect l="0" t="0" r="r" b="b"/>
            <a:pathLst>
              <a:path w="667" h="520">
                <a:moveTo>
                  <a:pt x="147" y="0"/>
                </a:moveTo>
                <a:cubicBezTo>
                  <a:pt x="66" y="0"/>
                  <a:pt x="0" y="66"/>
                  <a:pt x="0" y="147"/>
                </a:cubicBezTo>
                <a:cubicBezTo>
                  <a:pt x="0" y="178"/>
                  <a:pt x="10" y="207"/>
                  <a:pt x="27" y="231"/>
                </a:cubicBezTo>
                <a:lnTo>
                  <a:pt x="27" y="414"/>
                </a:lnTo>
                <a:cubicBezTo>
                  <a:pt x="27" y="436"/>
                  <a:pt x="45" y="454"/>
                  <a:pt x="67" y="454"/>
                </a:cubicBezTo>
                <a:lnTo>
                  <a:pt x="95" y="454"/>
                </a:lnTo>
                <a:cubicBezTo>
                  <a:pt x="101" y="492"/>
                  <a:pt x="134" y="520"/>
                  <a:pt x="173" y="520"/>
                </a:cubicBezTo>
                <a:cubicBezTo>
                  <a:pt x="213" y="520"/>
                  <a:pt x="246" y="492"/>
                  <a:pt x="252" y="454"/>
                </a:cubicBezTo>
                <a:lnTo>
                  <a:pt x="375" y="454"/>
                </a:lnTo>
                <a:cubicBezTo>
                  <a:pt x="385" y="454"/>
                  <a:pt x="394" y="450"/>
                  <a:pt x="401" y="444"/>
                </a:cubicBezTo>
                <a:cubicBezTo>
                  <a:pt x="415" y="454"/>
                  <a:pt x="424" y="454"/>
                  <a:pt x="441" y="454"/>
                </a:cubicBezTo>
                <a:cubicBezTo>
                  <a:pt x="448" y="492"/>
                  <a:pt x="481" y="520"/>
                  <a:pt x="520" y="520"/>
                </a:cubicBezTo>
                <a:cubicBezTo>
                  <a:pt x="559" y="520"/>
                  <a:pt x="592" y="492"/>
                  <a:pt x="599" y="454"/>
                </a:cubicBezTo>
                <a:lnTo>
                  <a:pt x="627" y="454"/>
                </a:lnTo>
                <a:cubicBezTo>
                  <a:pt x="649" y="454"/>
                  <a:pt x="667" y="436"/>
                  <a:pt x="667" y="414"/>
                </a:cubicBezTo>
                <a:lnTo>
                  <a:pt x="667" y="286"/>
                </a:lnTo>
                <a:cubicBezTo>
                  <a:pt x="667" y="255"/>
                  <a:pt x="645" y="228"/>
                  <a:pt x="645" y="228"/>
                </a:cubicBezTo>
                <a:cubicBezTo>
                  <a:pt x="626" y="202"/>
                  <a:pt x="606" y="176"/>
                  <a:pt x="590" y="154"/>
                </a:cubicBezTo>
                <a:cubicBezTo>
                  <a:pt x="577" y="139"/>
                  <a:pt x="559" y="120"/>
                  <a:pt x="533" y="120"/>
                </a:cubicBezTo>
                <a:lnTo>
                  <a:pt x="427" y="120"/>
                </a:lnTo>
                <a:cubicBezTo>
                  <a:pt x="422" y="120"/>
                  <a:pt x="418" y="121"/>
                  <a:pt x="413" y="123"/>
                </a:cubicBezTo>
                <a:lnTo>
                  <a:pt x="413" y="93"/>
                </a:lnTo>
                <a:cubicBezTo>
                  <a:pt x="413" y="72"/>
                  <a:pt x="397" y="54"/>
                  <a:pt x="376" y="54"/>
                </a:cubicBezTo>
                <a:lnTo>
                  <a:pt x="260" y="54"/>
                </a:lnTo>
                <a:cubicBezTo>
                  <a:pt x="233" y="21"/>
                  <a:pt x="192" y="0"/>
                  <a:pt x="147" y="0"/>
                </a:cubicBezTo>
                <a:close/>
                <a:moveTo>
                  <a:pt x="147" y="27"/>
                </a:moveTo>
                <a:cubicBezTo>
                  <a:pt x="213" y="27"/>
                  <a:pt x="267" y="81"/>
                  <a:pt x="267" y="147"/>
                </a:cubicBezTo>
                <a:cubicBezTo>
                  <a:pt x="267" y="214"/>
                  <a:pt x="213" y="267"/>
                  <a:pt x="147" y="267"/>
                </a:cubicBezTo>
                <a:cubicBezTo>
                  <a:pt x="80" y="267"/>
                  <a:pt x="27" y="214"/>
                  <a:pt x="27" y="147"/>
                </a:cubicBezTo>
                <a:cubicBezTo>
                  <a:pt x="27" y="81"/>
                  <a:pt x="80" y="27"/>
                  <a:pt x="147" y="27"/>
                </a:cubicBezTo>
                <a:close/>
                <a:moveTo>
                  <a:pt x="146" y="40"/>
                </a:moveTo>
                <a:cubicBezTo>
                  <a:pt x="139" y="40"/>
                  <a:pt x="133" y="46"/>
                  <a:pt x="133" y="54"/>
                </a:cubicBezTo>
                <a:lnTo>
                  <a:pt x="133" y="131"/>
                </a:lnTo>
                <a:cubicBezTo>
                  <a:pt x="128" y="135"/>
                  <a:pt x="126" y="141"/>
                  <a:pt x="126" y="147"/>
                </a:cubicBezTo>
                <a:cubicBezTo>
                  <a:pt x="126" y="148"/>
                  <a:pt x="126" y="149"/>
                  <a:pt x="126" y="149"/>
                </a:cubicBezTo>
                <a:lnTo>
                  <a:pt x="97" y="178"/>
                </a:lnTo>
                <a:cubicBezTo>
                  <a:pt x="84" y="190"/>
                  <a:pt x="104" y="210"/>
                  <a:pt x="116" y="197"/>
                </a:cubicBezTo>
                <a:lnTo>
                  <a:pt x="145" y="168"/>
                </a:lnTo>
                <a:cubicBezTo>
                  <a:pt x="145" y="168"/>
                  <a:pt x="146" y="168"/>
                  <a:pt x="147" y="168"/>
                </a:cubicBezTo>
                <a:cubicBezTo>
                  <a:pt x="158" y="168"/>
                  <a:pt x="168" y="159"/>
                  <a:pt x="168" y="147"/>
                </a:cubicBezTo>
                <a:cubicBezTo>
                  <a:pt x="168" y="141"/>
                  <a:pt x="165" y="135"/>
                  <a:pt x="160" y="131"/>
                </a:cubicBezTo>
                <a:lnTo>
                  <a:pt x="160" y="54"/>
                </a:lnTo>
                <a:cubicBezTo>
                  <a:pt x="160" y="46"/>
                  <a:pt x="154" y="40"/>
                  <a:pt x="146" y="40"/>
                </a:cubicBezTo>
                <a:close/>
                <a:moveTo>
                  <a:pt x="277" y="80"/>
                </a:moveTo>
                <a:lnTo>
                  <a:pt x="376" y="80"/>
                </a:lnTo>
                <a:cubicBezTo>
                  <a:pt x="382" y="80"/>
                  <a:pt x="387" y="86"/>
                  <a:pt x="387" y="93"/>
                </a:cubicBezTo>
                <a:lnTo>
                  <a:pt x="387" y="416"/>
                </a:lnTo>
                <a:cubicBezTo>
                  <a:pt x="387" y="422"/>
                  <a:pt x="382" y="427"/>
                  <a:pt x="375" y="427"/>
                </a:cubicBezTo>
                <a:lnTo>
                  <a:pt x="252" y="427"/>
                </a:lnTo>
                <a:cubicBezTo>
                  <a:pt x="246" y="389"/>
                  <a:pt x="213" y="360"/>
                  <a:pt x="173" y="360"/>
                </a:cubicBezTo>
                <a:cubicBezTo>
                  <a:pt x="134" y="360"/>
                  <a:pt x="101" y="389"/>
                  <a:pt x="95" y="427"/>
                </a:cubicBezTo>
                <a:lnTo>
                  <a:pt x="67" y="427"/>
                </a:lnTo>
                <a:cubicBezTo>
                  <a:pt x="62" y="427"/>
                  <a:pt x="53" y="419"/>
                  <a:pt x="53" y="414"/>
                </a:cubicBezTo>
                <a:lnTo>
                  <a:pt x="53" y="260"/>
                </a:lnTo>
                <a:cubicBezTo>
                  <a:pt x="79" y="281"/>
                  <a:pt x="111" y="294"/>
                  <a:pt x="147" y="294"/>
                </a:cubicBezTo>
                <a:cubicBezTo>
                  <a:pt x="228" y="294"/>
                  <a:pt x="293" y="228"/>
                  <a:pt x="293" y="147"/>
                </a:cubicBezTo>
                <a:cubicBezTo>
                  <a:pt x="293" y="123"/>
                  <a:pt x="287" y="100"/>
                  <a:pt x="277" y="80"/>
                </a:cubicBezTo>
                <a:close/>
                <a:moveTo>
                  <a:pt x="427" y="147"/>
                </a:moveTo>
                <a:lnTo>
                  <a:pt x="533" y="147"/>
                </a:lnTo>
                <a:cubicBezTo>
                  <a:pt x="544" y="147"/>
                  <a:pt x="559" y="159"/>
                  <a:pt x="569" y="171"/>
                </a:cubicBezTo>
                <a:lnTo>
                  <a:pt x="571" y="174"/>
                </a:lnTo>
                <a:lnTo>
                  <a:pt x="507" y="174"/>
                </a:lnTo>
                <a:cubicBezTo>
                  <a:pt x="485" y="174"/>
                  <a:pt x="467" y="191"/>
                  <a:pt x="467" y="214"/>
                </a:cubicBezTo>
                <a:lnTo>
                  <a:pt x="467" y="267"/>
                </a:lnTo>
                <a:cubicBezTo>
                  <a:pt x="467" y="278"/>
                  <a:pt x="472" y="288"/>
                  <a:pt x="479" y="295"/>
                </a:cubicBezTo>
                <a:cubicBezTo>
                  <a:pt x="486" y="302"/>
                  <a:pt x="496" y="307"/>
                  <a:pt x="507" y="307"/>
                </a:cubicBezTo>
                <a:lnTo>
                  <a:pt x="640" y="307"/>
                </a:lnTo>
                <a:lnTo>
                  <a:pt x="640" y="414"/>
                </a:lnTo>
                <a:cubicBezTo>
                  <a:pt x="640" y="419"/>
                  <a:pt x="632" y="427"/>
                  <a:pt x="627" y="427"/>
                </a:cubicBezTo>
                <a:lnTo>
                  <a:pt x="599" y="427"/>
                </a:lnTo>
                <a:cubicBezTo>
                  <a:pt x="592" y="389"/>
                  <a:pt x="559" y="360"/>
                  <a:pt x="520" y="360"/>
                </a:cubicBezTo>
                <a:cubicBezTo>
                  <a:pt x="481" y="360"/>
                  <a:pt x="448" y="389"/>
                  <a:pt x="441" y="427"/>
                </a:cubicBezTo>
                <a:lnTo>
                  <a:pt x="427" y="427"/>
                </a:lnTo>
                <a:cubicBezTo>
                  <a:pt x="418" y="426"/>
                  <a:pt x="415" y="422"/>
                  <a:pt x="413" y="414"/>
                </a:cubicBezTo>
                <a:lnTo>
                  <a:pt x="413" y="160"/>
                </a:lnTo>
                <a:cubicBezTo>
                  <a:pt x="413" y="156"/>
                  <a:pt x="422" y="147"/>
                  <a:pt x="427" y="147"/>
                </a:cubicBezTo>
                <a:close/>
                <a:moveTo>
                  <a:pt x="507" y="200"/>
                </a:moveTo>
                <a:lnTo>
                  <a:pt x="591" y="200"/>
                </a:lnTo>
                <a:lnTo>
                  <a:pt x="624" y="244"/>
                </a:lnTo>
                <a:cubicBezTo>
                  <a:pt x="624" y="244"/>
                  <a:pt x="636" y="265"/>
                  <a:pt x="638" y="280"/>
                </a:cubicBezTo>
                <a:lnTo>
                  <a:pt x="507" y="280"/>
                </a:lnTo>
                <a:cubicBezTo>
                  <a:pt x="498" y="279"/>
                  <a:pt x="495" y="274"/>
                  <a:pt x="493" y="267"/>
                </a:cubicBezTo>
                <a:lnTo>
                  <a:pt x="493" y="214"/>
                </a:lnTo>
                <a:cubicBezTo>
                  <a:pt x="493" y="207"/>
                  <a:pt x="501" y="200"/>
                  <a:pt x="507" y="200"/>
                </a:cubicBezTo>
                <a:close/>
                <a:moveTo>
                  <a:pt x="173" y="387"/>
                </a:moveTo>
                <a:cubicBezTo>
                  <a:pt x="203" y="387"/>
                  <a:pt x="227" y="411"/>
                  <a:pt x="227" y="440"/>
                </a:cubicBezTo>
                <a:cubicBezTo>
                  <a:pt x="227" y="470"/>
                  <a:pt x="203" y="494"/>
                  <a:pt x="173" y="494"/>
                </a:cubicBezTo>
                <a:cubicBezTo>
                  <a:pt x="144" y="494"/>
                  <a:pt x="120" y="470"/>
                  <a:pt x="120" y="440"/>
                </a:cubicBezTo>
                <a:cubicBezTo>
                  <a:pt x="120" y="411"/>
                  <a:pt x="144" y="387"/>
                  <a:pt x="173" y="387"/>
                </a:cubicBezTo>
                <a:close/>
                <a:moveTo>
                  <a:pt x="520" y="387"/>
                </a:moveTo>
                <a:cubicBezTo>
                  <a:pt x="550" y="387"/>
                  <a:pt x="573" y="411"/>
                  <a:pt x="573" y="440"/>
                </a:cubicBezTo>
                <a:cubicBezTo>
                  <a:pt x="573" y="470"/>
                  <a:pt x="550" y="494"/>
                  <a:pt x="520" y="494"/>
                </a:cubicBezTo>
                <a:cubicBezTo>
                  <a:pt x="490" y="494"/>
                  <a:pt x="467" y="470"/>
                  <a:pt x="467" y="440"/>
                </a:cubicBezTo>
                <a:cubicBezTo>
                  <a:pt x="467" y="411"/>
                  <a:pt x="490" y="387"/>
                  <a:pt x="520" y="387"/>
                </a:cubicBezTo>
                <a:close/>
              </a:path>
            </a:pathLst>
          </a:custGeom>
          <a:solidFill>
            <a:srgbClr val="5F5F5F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90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15" name="Display"/>
          <p:cNvSpPr>
            <a:spLocks noChangeAspect="1" noEditPoints="1"/>
          </p:cNvSpPr>
          <p:nvPr/>
        </p:nvSpPr>
        <p:spPr bwMode="auto">
          <a:xfrm>
            <a:off x="6902237" y="2123703"/>
            <a:ext cx="524363" cy="504000"/>
          </a:xfrm>
          <a:custGeom>
            <a:avLst/>
            <a:gdLst>
              <a:gd name="T0" fmla="*/ 27 w 667"/>
              <a:gd name="T1" fmla="*/ 0 h 640"/>
              <a:gd name="T2" fmla="*/ 0 w 667"/>
              <a:gd name="T3" fmla="*/ 26 h 640"/>
              <a:gd name="T4" fmla="*/ 0 w 667"/>
              <a:gd name="T5" fmla="*/ 506 h 640"/>
              <a:gd name="T6" fmla="*/ 27 w 667"/>
              <a:gd name="T7" fmla="*/ 533 h 640"/>
              <a:gd name="T8" fmla="*/ 253 w 667"/>
              <a:gd name="T9" fmla="*/ 533 h 640"/>
              <a:gd name="T10" fmla="*/ 253 w 667"/>
              <a:gd name="T11" fmla="*/ 560 h 640"/>
              <a:gd name="T12" fmla="*/ 198 w 667"/>
              <a:gd name="T13" fmla="*/ 560 h 640"/>
              <a:gd name="T14" fmla="*/ 160 w 667"/>
              <a:gd name="T15" fmla="*/ 600 h 640"/>
              <a:gd name="T16" fmla="*/ 160 w 667"/>
              <a:gd name="T17" fmla="*/ 640 h 640"/>
              <a:gd name="T18" fmla="*/ 507 w 667"/>
              <a:gd name="T19" fmla="*/ 640 h 640"/>
              <a:gd name="T20" fmla="*/ 507 w 667"/>
              <a:gd name="T21" fmla="*/ 600 h 640"/>
              <a:gd name="T22" fmla="*/ 468 w 667"/>
              <a:gd name="T23" fmla="*/ 560 h 640"/>
              <a:gd name="T24" fmla="*/ 413 w 667"/>
              <a:gd name="T25" fmla="*/ 560 h 640"/>
              <a:gd name="T26" fmla="*/ 413 w 667"/>
              <a:gd name="T27" fmla="*/ 533 h 640"/>
              <a:gd name="T28" fmla="*/ 640 w 667"/>
              <a:gd name="T29" fmla="*/ 533 h 640"/>
              <a:gd name="T30" fmla="*/ 667 w 667"/>
              <a:gd name="T31" fmla="*/ 506 h 640"/>
              <a:gd name="T32" fmla="*/ 667 w 667"/>
              <a:gd name="T33" fmla="*/ 26 h 640"/>
              <a:gd name="T34" fmla="*/ 640 w 667"/>
              <a:gd name="T35" fmla="*/ 0 h 640"/>
              <a:gd name="T36" fmla="*/ 27 w 667"/>
              <a:gd name="T37" fmla="*/ 0 h 640"/>
              <a:gd name="T38" fmla="*/ 27 w 667"/>
              <a:gd name="T39" fmla="*/ 26 h 640"/>
              <a:gd name="T40" fmla="*/ 640 w 667"/>
              <a:gd name="T41" fmla="*/ 26 h 640"/>
              <a:gd name="T42" fmla="*/ 640 w 667"/>
              <a:gd name="T43" fmla="*/ 506 h 640"/>
              <a:gd name="T44" fmla="*/ 27 w 667"/>
              <a:gd name="T45" fmla="*/ 506 h 640"/>
              <a:gd name="T46" fmla="*/ 27 w 667"/>
              <a:gd name="T47" fmla="*/ 26 h 640"/>
              <a:gd name="T48" fmla="*/ 80 w 667"/>
              <a:gd name="T49" fmla="*/ 53 h 640"/>
              <a:gd name="T50" fmla="*/ 53 w 667"/>
              <a:gd name="T51" fmla="*/ 80 h 640"/>
              <a:gd name="T52" fmla="*/ 53 w 667"/>
              <a:gd name="T53" fmla="*/ 400 h 640"/>
              <a:gd name="T54" fmla="*/ 80 w 667"/>
              <a:gd name="T55" fmla="*/ 426 h 640"/>
              <a:gd name="T56" fmla="*/ 587 w 667"/>
              <a:gd name="T57" fmla="*/ 426 h 640"/>
              <a:gd name="T58" fmla="*/ 613 w 667"/>
              <a:gd name="T59" fmla="*/ 400 h 640"/>
              <a:gd name="T60" fmla="*/ 613 w 667"/>
              <a:gd name="T61" fmla="*/ 80 h 640"/>
              <a:gd name="T62" fmla="*/ 587 w 667"/>
              <a:gd name="T63" fmla="*/ 53 h 640"/>
              <a:gd name="T64" fmla="*/ 80 w 667"/>
              <a:gd name="T65" fmla="*/ 53 h 640"/>
              <a:gd name="T66" fmla="*/ 80 w 667"/>
              <a:gd name="T67" fmla="*/ 80 h 640"/>
              <a:gd name="T68" fmla="*/ 587 w 667"/>
              <a:gd name="T69" fmla="*/ 80 h 640"/>
              <a:gd name="T70" fmla="*/ 587 w 667"/>
              <a:gd name="T71" fmla="*/ 400 h 640"/>
              <a:gd name="T72" fmla="*/ 80 w 667"/>
              <a:gd name="T73" fmla="*/ 400 h 640"/>
              <a:gd name="T74" fmla="*/ 80 w 667"/>
              <a:gd name="T75" fmla="*/ 80 h 640"/>
              <a:gd name="T76" fmla="*/ 573 w 667"/>
              <a:gd name="T77" fmla="*/ 440 h 640"/>
              <a:gd name="T78" fmla="*/ 547 w 667"/>
              <a:gd name="T79" fmla="*/ 466 h 640"/>
              <a:gd name="T80" fmla="*/ 573 w 667"/>
              <a:gd name="T81" fmla="*/ 493 h 640"/>
              <a:gd name="T82" fmla="*/ 600 w 667"/>
              <a:gd name="T83" fmla="*/ 466 h 640"/>
              <a:gd name="T84" fmla="*/ 573 w 667"/>
              <a:gd name="T85" fmla="*/ 440 h 640"/>
              <a:gd name="T86" fmla="*/ 280 w 667"/>
              <a:gd name="T87" fmla="*/ 533 h 640"/>
              <a:gd name="T88" fmla="*/ 387 w 667"/>
              <a:gd name="T89" fmla="*/ 533 h 640"/>
              <a:gd name="T90" fmla="*/ 387 w 667"/>
              <a:gd name="T91" fmla="*/ 560 h 640"/>
              <a:gd name="T92" fmla="*/ 280 w 667"/>
              <a:gd name="T93" fmla="*/ 560 h 640"/>
              <a:gd name="T94" fmla="*/ 280 w 667"/>
              <a:gd name="T95" fmla="*/ 533 h 640"/>
              <a:gd name="T96" fmla="*/ 198 w 667"/>
              <a:gd name="T97" fmla="*/ 586 h 640"/>
              <a:gd name="T98" fmla="*/ 468 w 667"/>
              <a:gd name="T99" fmla="*/ 586 h 640"/>
              <a:gd name="T100" fmla="*/ 480 w 667"/>
              <a:gd name="T101" fmla="*/ 600 h 640"/>
              <a:gd name="T102" fmla="*/ 480 w 667"/>
              <a:gd name="T103" fmla="*/ 613 h 640"/>
              <a:gd name="T104" fmla="*/ 187 w 667"/>
              <a:gd name="T105" fmla="*/ 613 h 640"/>
              <a:gd name="T106" fmla="*/ 187 w 667"/>
              <a:gd name="T107" fmla="*/ 600 h 640"/>
              <a:gd name="T108" fmla="*/ 198 w 667"/>
              <a:gd name="T109" fmla="*/ 586 h 6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</a:cxnLst>
            <a:rect l="0" t="0" r="r" b="b"/>
            <a:pathLst>
              <a:path w="667" h="640">
                <a:moveTo>
                  <a:pt x="27" y="0"/>
                </a:moveTo>
                <a:cubicBezTo>
                  <a:pt x="12" y="0"/>
                  <a:pt x="0" y="12"/>
                  <a:pt x="0" y="26"/>
                </a:cubicBezTo>
                <a:lnTo>
                  <a:pt x="0" y="506"/>
                </a:lnTo>
                <a:cubicBezTo>
                  <a:pt x="0" y="521"/>
                  <a:pt x="12" y="533"/>
                  <a:pt x="27" y="533"/>
                </a:cubicBezTo>
                <a:lnTo>
                  <a:pt x="253" y="533"/>
                </a:lnTo>
                <a:lnTo>
                  <a:pt x="253" y="560"/>
                </a:lnTo>
                <a:lnTo>
                  <a:pt x="198" y="560"/>
                </a:lnTo>
                <a:cubicBezTo>
                  <a:pt x="177" y="560"/>
                  <a:pt x="160" y="578"/>
                  <a:pt x="160" y="600"/>
                </a:cubicBezTo>
                <a:lnTo>
                  <a:pt x="160" y="640"/>
                </a:lnTo>
                <a:lnTo>
                  <a:pt x="507" y="640"/>
                </a:lnTo>
                <a:lnTo>
                  <a:pt x="507" y="600"/>
                </a:lnTo>
                <a:cubicBezTo>
                  <a:pt x="507" y="578"/>
                  <a:pt x="490" y="560"/>
                  <a:pt x="468" y="560"/>
                </a:cubicBezTo>
                <a:lnTo>
                  <a:pt x="413" y="560"/>
                </a:lnTo>
                <a:lnTo>
                  <a:pt x="413" y="533"/>
                </a:lnTo>
                <a:lnTo>
                  <a:pt x="640" y="533"/>
                </a:lnTo>
                <a:cubicBezTo>
                  <a:pt x="654" y="533"/>
                  <a:pt x="667" y="521"/>
                  <a:pt x="667" y="506"/>
                </a:cubicBezTo>
                <a:lnTo>
                  <a:pt x="667" y="26"/>
                </a:lnTo>
                <a:cubicBezTo>
                  <a:pt x="667" y="12"/>
                  <a:pt x="654" y="0"/>
                  <a:pt x="640" y="0"/>
                </a:cubicBezTo>
                <a:lnTo>
                  <a:pt x="27" y="0"/>
                </a:lnTo>
                <a:close/>
                <a:moveTo>
                  <a:pt x="27" y="26"/>
                </a:moveTo>
                <a:lnTo>
                  <a:pt x="640" y="26"/>
                </a:lnTo>
                <a:lnTo>
                  <a:pt x="640" y="506"/>
                </a:lnTo>
                <a:cubicBezTo>
                  <a:pt x="435" y="506"/>
                  <a:pt x="231" y="506"/>
                  <a:pt x="27" y="506"/>
                </a:cubicBezTo>
                <a:lnTo>
                  <a:pt x="27" y="26"/>
                </a:lnTo>
                <a:close/>
                <a:moveTo>
                  <a:pt x="80" y="53"/>
                </a:moveTo>
                <a:cubicBezTo>
                  <a:pt x="65" y="53"/>
                  <a:pt x="53" y="65"/>
                  <a:pt x="53" y="80"/>
                </a:cubicBezTo>
                <a:lnTo>
                  <a:pt x="53" y="400"/>
                </a:lnTo>
                <a:cubicBezTo>
                  <a:pt x="53" y="414"/>
                  <a:pt x="65" y="426"/>
                  <a:pt x="80" y="426"/>
                </a:cubicBezTo>
                <a:lnTo>
                  <a:pt x="587" y="426"/>
                </a:lnTo>
                <a:cubicBezTo>
                  <a:pt x="601" y="426"/>
                  <a:pt x="613" y="414"/>
                  <a:pt x="613" y="400"/>
                </a:cubicBezTo>
                <a:lnTo>
                  <a:pt x="613" y="80"/>
                </a:lnTo>
                <a:cubicBezTo>
                  <a:pt x="613" y="65"/>
                  <a:pt x="601" y="53"/>
                  <a:pt x="587" y="53"/>
                </a:cubicBezTo>
                <a:lnTo>
                  <a:pt x="80" y="53"/>
                </a:lnTo>
                <a:close/>
                <a:moveTo>
                  <a:pt x="80" y="80"/>
                </a:moveTo>
                <a:lnTo>
                  <a:pt x="587" y="80"/>
                </a:lnTo>
                <a:lnTo>
                  <a:pt x="587" y="400"/>
                </a:lnTo>
                <a:lnTo>
                  <a:pt x="80" y="400"/>
                </a:lnTo>
                <a:lnTo>
                  <a:pt x="80" y="80"/>
                </a:lnTo>
                <a:close/>
                <a:moveTo>
                  <a:pt x="573" y="440"/>
                </a:moveTo>
                <a:cubicBezTo>
                  <a:pt x="558" y="440"/>
                  <a:pt x="547" y="452"/>
                  <a:pt x="547" y="466"/>
                </a:cubicBezTo>
                <a:cubicBezTo>
                  <a:pt x="547" y="481"/>
                  <a:pt x="558" y="493"/>
                  <a:pt x="573" y="493"/>
                </a:cubicBezTo>
                <a:cubicBezTo>
                  <a:pt x="588" y="493"/>
                  <a:pt x="600" y="481"/>
                  <a:pt x="600" y="466"/>
                </a:cubicBezTo>
                <a:cubicBezTo>
                  <a:pt x="600" y="452"/>
                  <a:pt x="588" y="440"/>
                  <a:pt x="573" y="440"/>
                </a:cubicBezTo>
                <a:close/>
                <a:moveTo>
                  <a:pt x="280" y="533"/>
                </a:moveTo>
                <a:lnTo>
                  <a:pt x="387" y="533"/>
                </a:lnTo>
                <a:lnTo>
                  <a:pt x="387" y="560"/>
                </a:lnTo>
                <a:lnTo>
                  <a:pt x="280" y="560"/>
                </a:lnTo>
                <a:lnTo>
                  <a:pt x="280" y="533"/>
                </a:lnTo>
                <a:close/>
                <a:moveTo>
                  <a:pt x="198" y="586"/>
                </a:moveTo>
                <a:cubicBezTo>
                  <a:pt x="288" y="587"/>
                  <a:pt x="378" y="586"/>
                  <a:pt x="468" y="586"/>
                </a:cubicBezTo>
                <a:cubicBezTo>
                  <a:pt x="474" y="586"/>
                  <a:pt x="480" y="592"/>
                  <a:pt x="480" y="600"/>
                </a:cubicBezTo>
                <a:lnTo>
                  <a:pt x="480" y="613"/>
                </a:lnTo>
                <a:lnTo>
                  <a:pt x="187" y="613"/>
                </a:lnTo>
                <a:lnTo>
                  <a:pt x="187" y="600"/>
                </a:lnTo>
                <a:cubicBezTo>
                  <a:pt x="187" y="592"/>
                  <a:pt x="192" y="586"/>
                  <a:pt x="198" y="586"/>
                </a:cubicBezTo>
                <a:close/>
              </a:path>
            </a:pathLst>
          </a:custGeom>
          <a:solidFill>
            <a:srgbClr val="5F5F5F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90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72290" y="2123703"/>
            <a:ext cx="504000" cy="504000"/>
          </a:xfrm>
          <a:prstGeom prst="rect">
            <a:avLst/>
          </a:prstGeom>
        </p:spPr>
      </p:pic>
      <p:pic>
        <p:nvPicPr>
          <p:cNvPr id="8" name="그림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92034" y="2123703"/>
            <a:ext cx="504000" cy="504000"/>
          </a:xfrm>
          <a:prstGeom prst="rect">
            <a:avLst/>
          </a:prstGeom>
        </p:spPr>
      </p:pic>
      <p:sp>
        <p:nvSpPr>
          <p:cNvPr id="9" name="오른쪽 화살표 8"/>
          <p:cNvSpPr/>
          <p:nvPr/>
        </p:nvSpPr>
        <p:spPr>
          <a:xfrm>
            <a:off x="1871017" y="2231703"/>
            <a:ext cx="288000" cy="288000"/>
          </a:xfrm>
          <a:prstGeom prst="rightArrow">
            <a:avLst/>
          </a:prstGeom>
          <a:gradFill flip="none" rotWithShape="1">
            <a:gsLst>
              <a:gs pos="0">
                <a:schemeClr val="accent5">
                  <a:tint val="66000"/>
                  <a:satMod val="160000"/>
                </a:schemeClr>
              </a:gs>
              <a:gs pos="50000">
                <a:schemeClr val="accent5">
                  <a:tint val="44500"/>
                  <a:satMod val="160000"/>
                </a:schemeClr>
              </a:gs>
              <a:gs pos="100000">
                <a:schemeClr val="accent5">
                  <a:tint val="23500"/>
                  <a:satMod val="160000"/>
                </a:schemeClr>
              </a:gs>
            </a:gsLst>
            <a:lin ang="10800000" scaled="1"/>
            <a:tileRect/>
          </a:gra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22" name="오른쪽 화살표 121"/>
          <p:cNvSpPr/>
          <p:nvPr/>
        </p:nvSpPr>
        <p:spPr>
          <a:xfrm>
            <a:off x="3420098" y="2231703"/>
            <a:ext cx="288000" cy="288000"/>
          </a:xfrm>
          <a:prstGeom prst="rightArrow">
            <a:avLst/>
          </a:prstGeom>
          <a:gradFill flip="none" rotWithShape="1">
            <a:gsLst>
              <a:gs pos="0">
                <a:schemeClr val="accent5">
                  <a:tint val="66000"/>
                  <a:satMod val="160000"/>
                </a:schemeClr>
              </a:gs>
              <a:gs pos="50000">
                <a:schemeClr val="accent5">
                  <a:tint val="44500"/>
                  <a:satMod val="160000"/>
                </a:schemeClr>
              </a:gs>
              <a:gs pos="100000">
                <a:schemeClr val="accent5">
                  <a:tint val="23500"/>
                  <a:satMod val="160000"/>
                </a:schemeClr>
              </a:gs>
            </a:gsLst>
            <a:lin ang="10800000" scaled="1"/>
            <a:tileRect/>
          </a:gra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14" name="그림 1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04542" y="2123703"/>
            <a:ext cx="504000" cy="504000"/>
          </a:xfrm>
          <a:prstGeom prst="rect">
            <a:avLst/>
          </a:prstGeom>
        </p:spPr>
      </p:pic>
      <p:pic>
        <p:nvPicPr>
          <p:cNvPr id="130" name="그림 129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92542" y="2123703"/>
            <a:ext cx="504000" cy="504000"/>
          </a:xfrm>
          <a:prstGeom prst="rect">
            <a:avLst/>
          </a:prstGeom>
        </p:spPr>
      </p:pic>
      <p:pic>
        <p:nvPicPr>
          <p:cNvPr id="131" name="그림 130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80542" y="2123703"/>
            <a:ext cx="504000" cy="504000"/>
          </a:xfrm>
          <a:prstGeom prst="rect">
            <a:avLst/>
          </a:prstGeom>
        </p:spPr>
      </p:pic>
      <p:sp>
        <p:nvSpPr>
          <p:cNvPr id="135" name="오른쪽 화살표 134"/>
          <p:cNvSpPr/>
          <p:nvPr/>
        </p:nvSpPr>
        <p:spPr>
          <a:xfrm>
            <a:off x="4860226" y="2231703"/>
            <a:ext cx="288000" cy="288000"/>
          </a:xfrm>
          <a:prstGeom prst="rightArrow">
            <a:avLst/>
          </a:prstGeom>
          <a:gradFill flip="none" rotWithShape="1">
            <a:gsLst>
              <a:gs pos="0">
                <a:schemeClr val="accent5">
                  <a:tint val="66000"/>
                  <a:satMod val="160000"/>
                </a:schemeClr>
              </a:gs>
              <a:gs pos="50000">
                <a:schemeClr val="accent5">
                  <a:tint val="44500"/>
                  <a:satMod val="160000"/>
                </a:schemeClr>
              </a:gs>
              <a:gs pos="100000">
                <a:schemeClr val="accent5">
                  <a:tint val="23500"/>
                  <a:satMod val="160000"/>
                </a:schemeClr>
              </a:gs>
            </a:gsLst>
            <a:lin ang="10800000" scaled="1"/>
            <a:tileRect/>
          </a:gra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36" name="오른쪽 화살표 135"/>
          <p:cNvSpPr/>
          <p:nvPr/>
        </p:nvSpPr>
        <p:spPr>
          <a:xfrm>
            <a:off x="6300354" y="2231703"/>
            <a:ext cx="288000" cy="288000"/>
          </a:xfrm>
          <a:prstGeom prst="rightArrow">
            <a:avLst/>
          </a:prstGeom>
          <a:gradFill flip="none" rotWithShape="1">
            <a:gsLst>
              <a:gs pos="0">
                <a:schemeClr val="accent5">
                  <a:tint val="66000"/>
                  <a:satMod val="160000"/>
                </a:schemeClr>
              </a:gs>
              <a:gs pos="50000">
                <a:schemeClr val="accent5">
                  <a:tint val="44500"/>
                  <a:satMod val="160000"/>
                </a:schemeClr>
              </a:gs>
              <a:gs pos="100000">
                <a:schemeClr val="accent5">
                  <a:tint val="23500"/>
                  <a:satMod val="160000"/>
                </a:schemeClr>
              </a:gs>
            </a:gsLst>
            <a:lin ang="10800000" scaled="1"/>
            <a:tileRect/>
          </a:gra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38" name="오른쪽 화살표 137"/>
          <p:cNvSpPr/>
          <p:nvPr/>
        </p:nvSpPr>
        <p:spPr>
          <a:xfrm>
            <a:off x="7740482" y="2231703"/>
            <a:ext cx="288000" cy="288000"/>
          </a:xfrm>
          <a:prstGeom prst="rightArrow">
            <a:avLst/>
          </a:prstGeom>
          <a:gradFill flip="none" rotWithShape="1">
            <a:gsLst>
              <a:gs pos="0">
                <a:schemeClr val="accent5">
                  <a:tint val="66000"/>
                  <a:satMod val="160000"/>
                </a:schemeClr>
              </a:gs>
              <a:gs pos="50000">
                <a:schemeClr val="accent5">
                  <a:tint val="44500"/>
                  <a:satMod val="160000"/>
                </a:schemeClr>
              </a:gs>
              <a:gs pos="100000">
                <a:schemeClr val="accent5">
                  <a:tint val="23500"/>
                  <a:satMod val="160000"/>
                </a:schemeClr>
              </a:gs>
            </a:gsLst>
            <a:lin ang="10800000" scaled="1"/>
            <a:tileRect/>
          </a:gra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18" name="그림 17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32162" y="2123703"/>
            <a:ext cx="504000" cy="504000"/>
          </a:xfrm>
          <a:prstGeom prst="rect">
            <a:avLst/>
          </a:prstGeom>
        </p:spPr>
      </p:pic>
      <p:sp>
        <p:nvSpPr>
          <p:cNvPr id="191" name="모서리가 둥근 직사각형 190"/>
          <p:cNvSpPr/>
          <p:nvPr/>
        </p:nvSpPr>
        <p:spPr>
          <a:xfrm>
            <a:off x="593906" y="1673703"/>
            <a:ext cx="900000" cy="28800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0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반품</a:t>
            </a:r>
            <a:endParaRPr lang="ko-KR" altLang="en-US" sz="800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17" name="직선 연결선 16"/>
          <p:cNvCxnSpPr/>
          <p:nvPr/>
        </p:nvCxnSpPr>
        <p:spPr>
          <a:xfrm>
            <a:off x="2124224" y="3203703"/>
            <a:ext cx="5760000" cy="0"/>
          </a:xfrm>
          <a:prstGeom prst="line">
            <a:avLst/>
          </a:prstGeom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7" name="Delivery"/>
          <p:cNvSpPr>
            <a:spLocks noChangeAspect="1" noEditPoints="1"/>
          </p:cNvSpPr>
          <p:nvPr/>
        </p:nvSpPr>
        <p:spPr bwMode="auto">
          <a:xfrm flipH="1">
            <a:off x="699656" y="4175703"/>
            <a:ext cx="642600" cy="504000"/>
          </a:xfrm>
          <a:custGeom>
            <a:avLst/>
            <a:gdLst>
              <a:gd name="T0" fmla="*/ 0 w 667"/>
              <a:gd name="T1" fmla="*/ 147 h 520"/>
              <a:gd name="T2" fmla="*/ 27 w 667"/>
              <a:gd name="T3" fmla="*/ 414 h 520"/>
              <a:gd name="T4" fmla="*/ 95 w 667"/>
              <a:gd name="T5" fmla="*/ 454 h 520"/>
              <a:gd name="T6" fmla="*/ 252 w 667"/>
              <a:gd name="T7" fmla="*/ 454 h 520"/>
              <a:gd name="T8" fmla="*/ 401 w 667"/>
              <a:gd name="T9" fmla="*/ 444 h 520"/>
              <a:gd name="T10" fmla="*/ 520 w 667"/>
              <a:gd name="T11" fmla="*/ 520 h 520"/>
              <a:gd name="T12" fmla="*/ 627 w 667"/>
              <a:gd name="T13" fmla="*/ 454 h 520"/>
              <a:gd name="T14" fmla="*/ 667 w 667"/>
              <a:gd name="T15" fmla="*/ 286 h 520"/>
              <a:gd name="T16" fmla="*/ 590 w 667"/>
              <a:gd name="T17" fmla="*/ 154 h 520"/>
              <a:gd name="T18" fmla="*/ 427 w 667"/>
              <a:gd name="T19" fmla="*/ 120 h 520"/>
              <a:gd name="T20" fmla="*/ 413 w 667"/>
              <a:gd name="T21" fmla="*/ 93 h 520"/>
              <a:gd name="T22" fmla="*/ 260 w 667"/>
              <a:gd name="T23" fmla="*/ 54 h 520"/>
              <a:gd name="T24" fmla="*/ 147 w 667"/>
              <a:gd name="T25" fmla="*/ 27 h 520"/>
              <a:gd name="T26" fmla="*/ 147 w 667"/>
              <a:gd name="T27" fmla="*/ 267 h 520"/>
              <a:gd name="T28" fmla="*/ 147 w 667"/>
              <a:gd name="T29" fmla="*/ 27 h 520"/>
              <a:gd name="T30" fmla="*/ 133 w 667"/>
              <a:gd name="T31" fmla="*/ 54 h 520"/>
              <a:gd name="T32" fmla="*/ 126 w 667"/>
              <a:gd name="T33" fmla="*/ 147 h 520"/>
              <a:gd name="T34" fmla="*/ 97 w 667"/>
              <a:gd name="T35" fmla="*/ 178 h 520"/>
              <a:gd name="T36" fmla="*/ 145 w 667"/>
              <a:gd name="T37" fmla="*/ 168 h 520"/>
              <a:gd name="T38" fmla="*/ 168 w 667"/>
              <a:gd name="T39" fmla="*/ 147 h 520"/>
              <a:gd name="T40" fmla="*/ 160 w 667"/>
              <a:gd name="T41" fmla="*/ 54 h 520"/>
              <a:gd name="T42" fmla="*/ 277 w 667"/>
              <a:gd name="T43" fmla="*/ 80 h 520"/>
              <a:gd name="T44" fmla="*/ 387 w 667"/>
              <a:gd name="T45" fmla="*/ 93 h 520"/>
              <a:gd name="T46" fmla="*/ 375 w 667"/>
              <a:gd name="T47" fmla="*/ 427 h 520"/>
              <a:gd name="T48" fmla="*/ 173 w 667"/>
              <a:gd name="T49" fmla="*/ 360 h 520"/>
              <a:gd name="T50" fmla="*/ 67 w 667"/>
              <a:gd name="T51" fmla="*/ 427 h 520"/>
              <a:gd name="T52" fmla="*/ 53 w 667"/>
              <a:gd name="T53" fmla="*/ 260 h 520"/>
              <a:gd name="T54" fmla="*/ 293 w 667"/>
              <a:gd name="T55" fmla="*/ 147 h 520"/>
              <a:gd name="T56" fmla="*/ 427 w 667"/>
              <a:gd name="T57" fmla="*/ 147 h 520"/>
              <a:gd name="T58" fmla="*/ 569 w 667"/>
              <a:gd name="T59" fmla="*/ 171 h 520"/>
              <a:gd name="T60" fmla="*/ 507 w 667"/>
              <a:gd name="T61" fmla="*/ 174 h 520"/>
              <a:gd name="T62" fmla="*/ 467 w 667"/>
              <a:gd name="T63" fmla="*/ 267 h 520"/>
              <a:gd name="T64" fmla="*/ 507 w 667"/>
              <a:gd name="T65" fmla="*/ 307 h 520"/>
              <a:gd name="T66" fmla="*/ 640 w 667"/>
              <a:gd name="T67" fmla="*/ 414 h 520"/>
              <a:gd name="T68" fmla="*/ 599 w 667"/>
              <a:gd name="T69" fmla="*/ 427 h 520"/>
              <a:gd name="T70" fmla="*/ 441 w 667"/>
              <a:gd name="T71" fmla="*/ 427 h 520"/>
              <a:gd name="T72" fmla="*/ 413 w 667"/>
              <a:gd name="T73" fmla="*/ 414 h 520"/>
              <a:gd name="T74" fmla="*/ 427 w 667"/>
              <a:gd name="T75" fmla="*/ 147 h 520"/>
              <a:gd name="T76" fmla="*/ 591 w 667"/>
              <a:gd name="T77" fmla="*/ 200 h 520"/>
              <a:gd name="T78" fmla="*/ 638 w 667"/>
              <a:gd name="T79" fmla="*/ 280 h 520"/>
              <a:gd name="T80" fmla="*/ 493 w 667"/>
              <a:gd name="T81" fmla="*/ 267 h 520"/>
              <a:gd name="T82" fmla="*/ 507 w 667"/>
              <a:gd name="T83" fmla="*/ 200 h 520"/>
              <a:gd name="T84" fmla="*/ 227 w 667"/>
              <a:gd name="T85" fmla="*/ 440 h 520"/>
              <a:gd name="T86" fmla="*/ 120 w 667"/>
              <a:gd name="T87" fmla="*/ 440 h 520"/>
              <a:gd name="T88" fmla="*/ 520 w 667"/>
              <a:gd name="T89" fmla="*/ 387 h 520"/>
              <a:gd name="T90" fmla="*/ 520 w 667"/>
              <a:gd name="T91" fmla="*/ 494 h 520"/>
              <a:gd name="T92" fmla="*/ 520 w 667"/>
              <a:gd name="T93" fmla="*/ 387 h 52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</a:cxnLst>
            <a:rect l="0" t="0" r="r" b="b"/>
            <a:pathLst>
              <a:path w="667" h="520">
                <a:moveTo>
                  <a:pt x="147" y="0"/>
                </a:moveTo>
                <a:cubicBezTo>
                  <a:pt x="66" y="0"/>
                  <a:pt x="0" y="66"/>
                  <a:pt x="0" y="147"/>
                </a:cubicBezTo>
                <a:cubicBezTo>
                  <a:pt x="0" y="178"/>
                  <a:pt x="10" y="207"/>
                  <a:pt x="27" y="231"/>
                </a:cubicBezTo>
                <a:lnTo>
                  <a:pt x="27" y="414"/>
                </a:lnTo>
                <a:cubicBezTo>
                  <a:pt x="27" y="436"/>
                  <a:pt x="45" y="454"/>
                  <a:pt x="67" y="454"/>
                </a:cubicBezTo>
                <a:lnTo>
                  <a:pt x="95" y="454"/>
                </a:lnTo>
                <a:cubicBezTo>
                  <a:pt x="101" y="492"/>
                  <a:pt x="134" y="520"/>
                  <a:pt x="173" y="520"/>
                </a:cubicBezTo>
                <a:cubicBezTo>
                  <a:pt x="213" y="520"/>
                  <a:pt x="246" y="492"/>
                  <a:pt x="252" y="454"/>
                </a:cubicBezTo>
                <a:lnTo>
                  <a:pt x="375" y="454"/>
                </a:lnTo>
                <a:cubicBezTo>
                  <a:pt x="385" y="454"/>
                  <a:pt x="394" y="450"/>
                  <a:pt x="401" y="444"/>
                </a:cubicBezTo>
                <a:cubicBezTo>
                  <a:pt x="415" y="454"/>
                  <a:pt x="424" y="454"/>
                  <a:pt x="441" y="454"/>
                </a:cubicBezTo>
                <a:cubicBezTo>
                  <a:pt x="448" y="492"/>
                  <a:pt x="481" y="520"/>
                  <a:pt x="520" y="520"/>
                </a:cubicBezTo>
                <a:cubicBezTo>
                  <a:pt x="559" y="520"/>
                  <a:pt x="592" y="492"/>
                  <a:pt x="599" y="454"/>
                </a:cubicBezTo>
                <a:lnTo>
                  <a:pt x="627" y="454"/>
                </a:lnTo>
                <a:cubicBezTo>
                  <a:pt x="649" y="454"/>
                  <a:pt x="667" y="436"/>
                  <a:pt x="667" y="414"/>
                </a:cubicBezTo>
                <a:lnTo>
                  <a:pt x="667" y="286"/>
                </a:lnTo>
                <a:cubicBezTo>
                  <a:pt x="667" y="255"/>
                  <a:pt x="645" y="228"/>
                  <a:pt x="645" y="228"/>
                </a:cubicBezTo>
                <a:cubicBezTo>
                  <a:pt x="626" y="202"/>
                  <a:pt x="606" y="176"/>
                  <a:pt x="590" y="154"/>
                </a:cubicBezTo>
                <a:cubicBezTo>
                  <a:pt x="577" y="139"/>
                  <a:pt x="559" y="120"/>
                  <a:pt x="533" y="120"/>
                </a:cubicBezTo>
                <a:lnTo>
                  <a:pt x="427" y="120"/>
                </a:lnTo>
                <a:cubicBezTo>
                  <a:pt x="422" y="120"/>
                  <a:pt x="418" y="121"/>
                  <a:pt x="413" y="123"/>
                </a:cubicBezTo>
                <a:lnTo>
                  <a:pt x="413" y="93"/>
                </a:lnTo>
                <a:cubicBezTo>
                  <a:pt x="413" y="72"/>
                  <a:pt x="397" y="54"/>
                  <a:pt x="376" y="54"/>
                </a:cubicBezTo>
                <a:lnTo>
                  <a:pt x="260" y="54"/>
                </a:lnTo>
                <a:cubicBezTo>
                  <a:pt x="233" y="21"/>
                  <a:pt x="192" y="0"/>
                  <a:pt x="147" y="0"/>
                </a:cubicBezTo>
                <a:close/>
                <a:moveTo>
                  <a:pt x="147" y="27"/>
                </a:moveTo>
                <a:cubicBezTo>
                  <a:pt x="213" y="27"/>
                  <a:pt x="267" y="81"/>
                  <a:pt x="267" y="147"/>
                </a:cubicBezTo>
                <a:cubicBezTo>
                  <a:pt x="267" y="214"/>
                  <a:pt x="213" y="267"/>
                  <a:pt x="147" y="267"/>
                </a:cubicBezTo>
                <a:cubicBezTo>
                  <a:pt x="80" y="267"/>
                  <a:pt x="27" y="214"/>
                  <a:pt x="27" y="147"/>
                </a:cubicBezTo>
                <a:cubicBezTo>
                  <a:pt x="27" y="81"/>
                  <a:pt x="80" y="27"/>
                  <a:pt x="147" y="27"/>
                </a:cubicBezTo>
                <a:close/>
                <a:moveTo>
                  <a:pt x="146" y="40"/>
                </a:moveTo>
                <a:cubicBezTo>
                  <a:pt x="139" y="40"/>
                  <a:pt x="133" y="46"/>
                  <a:pt x="133" y="54"/>
                </a:cubicBezTo>
                <a:lnTo>
                  <a:pt x="133" y="131"/>
                </a:lnTo>
                <a:cubicBezTo>
                  <a:pt x="128" y="135"/>
                  <a:pt x="126" y="141"/>
                  <a:pt x="126" y="147"/>
                </a:cubicBezTo>
                <a:cubicBezTo>
                  <a:pt x="126" y="148"/>
                  <a:pt x="126" y="149"/>
                  <a:pt x="126" y="149"/>
                </a:cubicBezTo>
                <a:lnTo>
                  <a:pt x="97" y="178"/>
                </a:lnTo>
                <a:cubicBezTo>
                  <a:pt x="84" y="190"/>
                  <a:pt x="104" y="210"/>
                  <a:pt x="116" y="197"/>
                </a:cubicBezTo>
                <a:lnTo>
                  <a:pt x="145" y="168"/>
                </a:lnTo>
                <a:cubicBezTo>
                  <a:pt x="145" y="168"/>
                  <a:pt x="146" y="168"/>
                  <a:pt x="147" y="168"/>
                </a:cubicBezTo>
                <a:cubicBezTo>
                  <a:pt x="158" y="168"/>
                  <a:pt x="168" y="159"/>
                  <a:pt x="168" y="147"/>
                </a:cubicBezTo>
                <a:cubicBezTo>
                  <a:pt x="168" y="141"/>
                  <a:pt x="165" y="135"/>
                  <a:pt x="160" y="131"/>
                </a:cubicBezTo>
                <a:lnTo>
                  <a:pt x="160" y="54"/>
                </a:lnTo>
                <a:cubicBezTo>
                  <a:pt x="160" y="46"/>
                  <a:pt x="154" y="40"/>
                  <a:pt x="146" y="40"/>
                </a:cubicBezTo>
                <a:close/>
                <a:moveTo>
                  <a:pt x="277" y="80"/>
                </a:moveTo>
                <a:lnTo>
                  <a:pt x="376" y="80"/>
                </a:lnTo>
                <a:cubicBezTo>
                  <a:pt x="382" y="80"/>
                  <a:pt x="387" y="86"/>
                  <a:pt x="387" y="93"/>
                </a:cubicBezTo>
                <a:lnTo>
                  <a:pt x="387" y="416"/>
                </a:lnTo>
                <a:cubicBezTo>
                  <a:pt x="387" y="422"/>
                  <a:pt x="382" y="427"/>
                  <a:pt x="375" y="427"/>
                </a:cubicBezTo>
                <a:lnTo>
                  <a:pt x="252" y="427"/>
                </a:lnTo>
                <a:cubicBezTo>
                  <a:pt x="246" y="389"/>
                  <a:pt x="213" y="360"/>
                  <a:pt x="173" y="360"/>
                </a:cubicBezTo>
                <a:cubicBezTo>
                  <a:pt x="134" y="360"/>
                  <a:pt x="101" y="389"/>
                  <a:pt x="95" y="427"/>
                </a:cubicBezTo>
                <a:lnTo>
                  <a:pt x="67" y="427"/>
                </a:lnTo>
                <a:cubicBezTo>
                  <a:pt x="62" y="427"/>
                  <a:pt x="53" y="419"/>
                  <a:pt x="53" y="414"/>
                </a:cubicBezTo>
                <a:lnTo>
                  <a:pt x="53" y="260"/>
                </a:lnTo>
                <a:cubicBezTo>
                  <a:pt x="79" y="281"/>
                  <a:pt x="111" y="294"/>
                  <a:pt x="147" y="294"/>
                </a:cubicBezTo>
                <a:cubicBezTo>
                  <a:pt x="228" y="294"/>
                  <a:pt x="293" y="228"/>
                  <a:pt x="293" y="147"/>
                </a:cubicBezTo>
                <a:cubicBezTo>
                  <a:pt x="293" y="123"/>
                  <a:pt x="287" y="100"/>
                  <a:pt x="277" y="80"/>
                </a:cubicBezTo>
                <a:close/>
                <a:moveTo>
                  <a:pt x="427" y="147"/>
                </a:moveTo>
                <a:lnTo>
                  <a:pt x="533" y="147"/>
                </a:lnTo>
                <a:cubicBezTo>
                  <a:pt x="544" y="147"/>
                  <a:pt x="559" y="159"/>
                  <a:pt x="569" y="171"/>
                </a:cubicBezTo>
                <a:lnTo>
                  <a:pt x="571" y="174"/>
                </a:lnTo>
                <a:lnTo>
                  <a:pt x="507" y="174"/>
                </a:lnTo>
                <a:cubicBezTo>
                  <a:pt x="485" y="174"/>
                  <a:pt x="467" y="191"/>
                  <a:pt x="467" y="214"/>
                </a:cubicBezTo>
                <a:lnTo>
                  <a:pt x="467" y="267"/>
                </a:lnTo>
                <a:cubicBezTo>
                  <a:pt x="467" y="278"/>
                  <a:pt x="472" y="288"/>
                  <a:pt x="479" y="295"/>
                </a:cubicBezTo>
                <a:cubicBezTo>
                  <a:pt x="486" y="302"/>
                  <a:pt x="496" y="307"/>
                  <a:pt x="507" y="307"/>
                </a:cubicBezTo>
                <a:lnTo>
                  <a:pt x="640" y="307"/>
                </a:lnTo>
                <a:lnTo>
                  <a:pt x="640" y="414"/>
                </a:lnTo>
                <a:cubicBezTo>
                  <a:pt x="640" y="419"/>
                  <a:pt x="632" y="427"/>
                  <a:pt x="627" y="427"/>
                </a:cubicBezTo>
                <a:lnTo>
                  <a:pt x="599" y="427"/>
                </a:lnTo>
                <a:cubicBezTo>
                  <a:pt x="592" y="389"/>
                  <a:pt x="559" y="360"/>
                  <a:pt x="520" y="360"/>
                </a:cubicBezTo>
                <a:cubicBezTo>
                  <a:pt x="481" y="360"/>
                  <a:pt x="448" y="389"/>
                  <a:pt x="441" y="427"/>
                </a:cubicBezTo>
                <a:lnTo>
                  <a:pt x="427" y="427"/>
                </a:lnTo>
                <a:cubicBezTo>
                  <a:pt x="418" y="426"/>
                  <a:pt x="415" y="422"/>
                  <a:pt x="413" y="414"/>
                </a:cubicBezTo>
                <a:lnTo>
                  <a:pt x="413" y="160"/>
                </a:lnTo>
                <a:cubicBezTo>
                  <a:pt x="413" y="156"/>
                  <a:pt x="422" y="147"/>
                  <a:pt x="427" y="147"/>
                </a:cubicBezTo>
                <a:close/>
                <a:moveTo>
                  <a:pt x="507" y="200"/>
                </a:moveTo>
                <a:lnTo>
                  <a:pt x="591" y="200"/>
                </a:lnTo>
                <a:lnTo>
                  <a:pt x="624" y="244"/>
                </a:lnTo>
                <a:cubicBezTo>
                  <a:pt x="624" y="244"/>
                  <a:pt x="636" y="265"/>
                  <a:pt x="638" y="280"/>
                </a:cubicBezTo>
                <a:lnTo>
                  <a:pt x="507" y="280"/>
                </a:lnTo>
                <a:cubicBezTo>
                  <a:pt x="498" y="279"/>
                  <a:pt x="495" y="274"/>
                  <a:pt x="493" y="267"/>
                </a:cubicBezTo>
                <a:lnTo>
                  <a:pt x="493" y="214"/>
                </a:lnTo>
                <a:cubicBezTo>
                  <a:pt x="493" y="207"/>
                  <a:pt x="501" y="200"/>
                  <a:pt x="507" y="200"/>
                </a:cubicBezTo>
                <a:close/>
                <a:moveTo>
                  <a:pt x="173" y="387"/>
                </a:moveTo>
                <a:cubicBezTo>
                  <a:pt x="203" y="387"/>
                  <a:pt x="227" y="411"/>
                  <a:pt x="227" y="440"/>
                </a:cubicBezTo>
                <a:cubicBezTo>
                  <a:pt x="227" y="470"/>
                  <a:pt x="203" y="494"/>
                  <a:pt x="173" y="494"/>
                </a:cubicBezTo>
                <a:cubicBezTo>
                  <a:pt x="144" y="494"/>
                  <a:pt x="120" y="470"/>
                  <a:pt x="120" y="440"/>
                </a:cubicBezTo>
                <a:cubicBezTo>
                  <a:pt x="120" y="411"/>
                  <a:pt x="144" y="387"/>
                  <a:pt x="173" y="387"/>
                </a:cubicBezTo>
                <a:close/>
                <a:moveTo>
                  <a:pt x="520" y="387"/>
                </a:moveTo>
                <a:cubicBezTo>
                  <a:pt x="550" y="387"/>
                  <a:pt x="573" y="411"/>
                  <a:pt x="573" y="440"/>
                </a:cubicBezTo>
                <a:cubicBezTo>
                  <a:pt x="573" y="470"/>
                  <a:pt x="550" y="494"/>
                  <a:pt x="520" y="494"/>
                </a:cubicBezTo>
                <a:cubicBezTo>
                  <a:pt x="490" y="494"/>
                  <a:pt x="467" y="470"/>
                  <a:pt x="467" y="440"/>
                </a:cubicBezTo>
                <a:cubicBezTo>
                  <a:pt x="467" y="411"/>
                  <a:pt x="490" y="387"/>
                  <a:pt x="520" y="387"/>
                </a:cubicBezTo>
                <a:close/>
              </a:path>
            </a:pathLst>
          </a:custGeom>
          <a:solidFill>
            <a:srgbClr val="5F5F5F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90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119" name="그림 11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74034" y="4175703"/>
            <a:ext cx="504000" cy="504000"/>
          </a:xfrm>
          <a:prstGeom prst="rect">
            <a:avLst/>
          </a:prstGeom>
        </p:spPr>
      </p:pic>
      <p:pic>
        <p:nvPicPr>
          <p:cNvPr id="10" name="그림 9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4014162" y="4175703"/>
            <a:ext cx="504000" cy="504000"/>
          </a:xfrm>
          <a:prstGeom prst="rect">
            <a:avLst/>
          </a:prstGeom>
        </p:spPr>
      </p:pic>
      <p:pic>
        <p:nvPicPr>
          <p:cNvPr id="15" name="그림 14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6894418" y="4175703"/>
            <a:ext cx="504000" cy="504000"/>
          </a:xfrm>
          <a:prstGeom prst="rect">
            <a:avLst/>
          </a:prstGeom>
        </p:spPr>
      </p:pic>
      <p:pic>
        <p:nvPicPr>
          <p:cNvPr id="132" name="그림 13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04542" y="4175703"/>
            <a:ext cx="504000" cy="504000"/>
          </a:xfrm>
          <a:prstGeom prst="rect">
            <a:avLst/>
          </a:prstGeom>
        </p:spPr>
      </p:pic>
      <p:pic>
        <p:nvPicPr>
          <p:cNvPr id="133" name="그림 13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92542" y="4175703"/>
            <a:ext cx="504000" cy="504000"/>
          </a:xfrm>
          <a:prstGeom prst="rect">
            <a:avLst/>
          </a:prstGeom>
        </p:spPr>
      </p:pic>
      <p:pic>
        <p:nvPicPr>
          <p:cNvPr id="134" name="그림 13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80542" y="4175703"/>
            <a:ext cx="504000" cy="504000"/>
          </a:xfrm>
          <a:prstGeom prst="rect">
            <a:avLst/>
          </a:prstGeom>
        </p:spPr>
      </p:pic>
      <p:sp>
        <p:nvSpPr>
          <p:cNvPr id="141" name="왼쪽 화살표 140"/>
          <p:cNvSpPr/>
          <p:nvPr/>
        </p:nvSpPr>
        <p:spPr>
          <a:xfrm>
            <a:off x="7769369" y="4283703"/>
            <a:ext cx="288000" cy="288000"/>
          </a:xfrm>
          <a:prstGeom prst="leftArrow">
            <a:avLst/>
          </a:prstGeom>
          <a:gradFill flip="none" rotWithShape="1">
            <a:gsLst>
              <a:gs pos="0">
                <a:schemeClr val="accent5">
                  <a:tint val="66000"/>
                  <a:satMod val="160000"/>
                </a:schemeClr>
              </a:gs>
              <a:gs pos="50000">
                <a:schemeClr val="accent5">
                  <a:tint val="44500"/>
                  <a:satMod val="160000"/>
                </a:schemeClr>
              </a:gs>
              <a:gs pos="100000">
                <a:schemeClr val="accent5">
                  <a:tint val="23500"/>
                  <a:satMod val="160000"/>
                </a:schemeClr>
              </a:gs>
            </a:gsLst>
            <a:lin ang="0" scaled="1"/>
            <a:tileRect/>
          </a:gra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43" name="왼쪽 화살표 142"/>
          <p:cNvSpPr/>
          <p:nvPr/>
        </p:nvSpPr>
        <p:spPr>
          <a:xfrm>
            <a:off x="4860226" y="4283703"/>
            <a:ext cx="288000" cy="288000"/>
          </a:xfrm>
          <a:prstGeom prst="leftArrow">
            <a:avLst/>
          </a:prstGeom>
          <a:gradFill flip="none" rotWithShape="1">
            <a:gsLst>
              <a:gs pos="0">
                <a:schemeClr val="accent5">
                  <a:tint val="66000"/>
                  <a:satMod val="160000"/>
                </a:schemeClr>
              </a:gs>
              <a:gs pos="50000">
                <a:schemeClr val="accent5">
                  <a:tint val="44500"/>
                  <a:satMod val="160000"/>
                </a:schemeClr>
              </a:gs>
              <a:gs pos="100000">
                <a:schemeClr val="accent5">
                  <a:tint val="23500"/>
                  <a:satMod val="160000"/>
                </a:schemeClr>
              </a:gs>
            </a:gsLst>
            <a:lin ang="0" scaled="1"/>
            <a:tileRect/>
          </a:gra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44" name="왼쪽 화살표 143"/>
          <p:cNvSpPr/>
          <p:nvPr/>
        </p:nvSpPr>
        <p:spPr>
          <a:xfrm>
            <a:off x="3420098" y="4283703"/>
            <a:ext cx="288000" cy="288000"/>
          </a:xfrm>
          <a:prstGeom prst="leftArrow">
            <a:avLst/>
          </a:prstGeom>
          <a:gradFill flip="none" rotWithShape="1">
            <a:gsLst>
              <a:gs pos="0">
                <a:schemeClr val="accent5">
                  <a:tint val="66000"/>
                  <a:satMod val="160000"/>
                </a:schemeClr>
              </a:gs>
              <a:gs pos="50000">
                <a:schemeClr val="accent5">
                  <a:tint val="44500"/>
                  <a:satMod val="160000"/>
                </a:schemeClr>
              </a:gs>
              <a:gs pos="100000">
                <a:schemeClr val="accent5">
                  <a:tint val="23500"/>
                  <a:satMod val="160000"/>
                </a:schemeClr>
              </a:gs>
            </a:gsLst>
            <a:lin ang="0" scaled="1"/>
            <a:tileRect/>
          </a:gra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45" name="왼쪽 화살표 144"/>
          <p:cNvSpPr/>
          <p:nvPr/>
        </p:nvSpPr>
        <p:spPr>
          <a:xfrm>
            <a:off x="1977536" y="4283703"/>
            <a:ext cx="288000" cy="288000"/>
          </a:xfrm>
          <a:prstGeom prst="leftArrow">
            <a:avLst/>
          </a:prstGeom>
          <a:gradFill flip="none" rotWithShape="1">
            <a:gsLst>
              <a:gs pos="0">
                <a:schemeClr val="accent5">
                  <a:tint val="66000"/>
                  <a:satMod val="160000"/>
                </a:schemeClr>
              </a:gs>
              <a:gs pos="50000">
                <a:schemeClr val="accent5">
                  <a:tint val="44500"/>
                  <a:satMod val="160000"/>
                </a:schemeClr>
              </a:gs>
              <a:gs pos="100000">
                <a:schemeClr val="accent5">
                  <a:tint val="23500"/>
                  <a:satMod val="160000"/>
                </a:schemeClr>
              </a:gs>
            </a:gsLst>
            <a:lin ang="0" scaled="1"/>
            <a:tileRect/>
          </a:gra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146" name="그림 14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54290" y="4175703"/>
            <a:ext cx="504000" cy="504000"/>
          </a:xfrm>
          <a:prstGeom prst="rect">
            <a:avLst/>
          </a:prstGeom>
        </p:spPr>
      </p:pic>
      <p:sp>
        <p:nvSpPr>
          <p:cNvPr id="147" name="왼쪽 화살표 146"/>
          <p:cNvSpPr/>
          <p:nvPr/>
        </p:nvSpPr>
        <p:spPr>
          <a:xfrm>
            <a:off x="6300354" y="4283703"/>
            <a:ext cx="288000" cy="288000"/>
          </a:xfrm>
          <a:prstGeom prst="leftArrow">
            <a:avLst/>
          </a:prstGeom>
          <a:gradFill flip="none" rotWithShape="1">
            <a:gsLst>
              <a:gs pos="0">
                <a:schemeClr val="accent5">
                  <a:tint val="66000"/>
                  <a:satMod val="160000"/>
                </a:schemeClr>
              </a:gs>
              <a:gs pos="50000">
                <a:schemeClr val="accent5">
                  <a:tint val="44500"/>
                  <a:satMod val="160000"/>
                </a:schemeClr>
              </a:gs>
              <a:gs pos="100000">
                <a:schemeClr val="accent5">
                  <a:tint val="23500"/>
                  <a:satMod val="160000"/>
                </a:schemeClr>
              </a:gs>
            </a:gsLst>
            <a:lin ang="0" scaled="1"/>
            <a:tileRect/>
          </a:gra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48" name="모서리가 둥근 직사각형 147"/>
          <p:cNvSpPr/>
          <p:nvPr/>
        </p:nvSpPr>
        <p:spPr>
          <a:xfrm>
            <a:off x="2484034" y="3725703"/>
            <a:ext cx="720000" cy="28800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b="1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출고 상차</a:t>
            </a:r>
            <a:endParaRPr lang="ko-KR" altLang="en-US" sz="800" b="1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49" name="모서리가 둥근 직사각형 148"/>
          <p:cNvSpPr/>
          <p:nvPr/>
        </p:nvSpPr>
        <p:spPr>
          <a:xfrm>
            <a:off x="3924162" y="3725703"/>
            <a:ext cx="720000" cy="28800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b="1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패킹</a:t>
            </a:r>
            <a:endParaRPr lang="ko-KR" altLang="en-US" sz="800" b="1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50" name="모서리가 둥근 직사각형 149"/>
          <p:cNvSpPr/>
          <p:nvPr/>
        </p:nvSpPr>
        <p:spPr>
          <a:xfrm>
            <a:off x="5364290" y="3725703"/>
            <a:ext cx="720000" cy="28800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b="1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출고 검수</a:t>
            </a:r>
            <a:endParaRPr lang="ko-KR" altLang="en-US" sz="800" b="1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51" name="모서리가 둥근 직사각형 150"/>
          <p:cNvSpPr/>
          <p:nvPr/>
        </p:nvSpPr>
        <p:spPr>
          <a:xfrm>
            <a:off x="6804418" y="3725703"/>
            <a:ext cx="720000" cy="28800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b="1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피킹</a:t>
            </a:r>
            <a:endParaRPr lang="ko-KR" altLang="en-US" sz="800" b="1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92" name="모서리가 둥근 직사각형 191"/>
          <p:cNvSpPr/>
          <p:nvPr/>
        </p:nvSpPr>
        <p:spPr>
          <a:xfrm>
            <a:off x="593906" y="3725703"/>
            <a:ext cx="900000" cy="28800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0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출고</a:t>
            </a:r>
            <a:endParaRPr lang="ko-KR" altLang="en-US" sz="800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199" name="그림 19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04542" y="3060836"/>
            <a:ext cx="504000" cy="504000"/>
          </a:xfrm>
          <a:prstGeom prst="rect">
            <a:avLst/>
          </a:prstGeom>
        </p:spPr>
      </p:pic>
      <p:pic>
        <p:nvPicPr>
          <p:cNvPr id="261" name="그림 260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80542" y="3060836"/>
            <a:ext cx="504000" cy="504000"/>
          </a:xfrm>
          <a:prstGeom prst="rect">
            <a:avLst/>
          </a:prstGeom>
        </p:spPr>
      </p:pic>
      <p:sp>
        <p:nvSpPr>
          <p:cNvPr id="262" name="TextBox 261"/>
          <p:cNvSpPr txBox="1"/>
          <p:nvPr/>
        </p:nvSpPr>
        <p:spPr>
          <a:xfrm>
            <a:off x="1525457" y="5353805"/>
            <a:ext cx="4198833" cy="557451"/>
          </a:xfrm>
          <a:prstGeom prst="rect">
            <a:avLst/>
          </a:prstGeom>
          <a:noFill/>
        </p:spPr>
        <p:txBody>
          <a:bodyPr wrap="none" lIns="36000" tIns="36000" rIns="36000" bIns="36000" rtlCol="0" anchor="ctr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050" b="1" smtClean="0">
                <a:solidFill>
                  <a:schemeClr val="accent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①</a:t>
            </a:r>
            <a:r>
              <a:rPr lang="ko-KR" altLang="en-US" sz="1050" b="1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매장에서 </a:t>
            </a:r>
            <a:r>
              <a:rPr lang="en-US" altLang="ko-KR" sz="1050" b="1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‘</a:t>
            </a:r>
            <a:r>
              <a:rPr lang="ko-KR" altLang="en-US" sz="1050" b="1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검품</a:t>
            </a:r>
            <a:r>
              <a:rPr lang="en-US" altLang="ko-KR" sz="1050" b="1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’</a:t>
            </a:r>
            <a:r>
              <a:rPr lang="ko-KR" altLang="en-US" sz="1050" b="1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하여 </a:t>
            </a:r>
            <a:r>
              <a:rPr lang="en-US" altLang="ko-KR" sz="1050" b="1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RT </a:t>
            </a:r>
            <a:r>
              <a:rPr lang="ko-KR" altLang="en-US" sz="1050" b="1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를 진행할 경우</a:t>
            </a:r>
            <a:endParaRPr lang="en-US" altLang="ko-KR" sz="1050" b="1" smtClean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050" b="1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</a:t>
            </a:r>
            <a:r>
              <a:rPr lang="ko-KR" altLang="en-US" sz="9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모든 프로세스를 거치지 않고 </a:t>
            </a:r>
            <a:r>
              <a:rPr lang="en-US" altLang="ko-KR" sz="900" u="sng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‘</a:t>
            </a:r>
            <a:r>
              <a:rPr lang="ko-KR" altLang="en-US" sz="900" u="sng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반품 오픈</a:t>
            </a:r>
            <a:r>
              <a:rPr lang="en-US" altLang="ko-KR" sz="900" u="sng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’ =&gt; ‘</a:t>
            </a:r>
            <a:r>
              <a:rPr lang="ko-KR" altLang="en-US" sz="900" u="sng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출고 패킹</a:t>
            </a:r>
            <a:r>
              <a:rPr lang="en-US" altLang="ko-KR" sz="900" u="sng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’ </a:t>
            </a:r>
            <a:r>
              <a:rPr lang="ko-KR" altLang="en-US" sz="900" u="sng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으로 바로 전달</a:t>
            </a:r>
            <a:r>
              <a:rPr lang="ko-KR" altLang="en-US" sz="9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가능</a:t>
            </a:r>
            <a:endParaRPr lang="en-US" altLang="ko-KR" sz="1050" smtClean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63" name="TextBox 262"/>
          <p:cNvSpPr txBox="1"/>
          <p:nvPr/>
        </p:nvSpPr>
        <p:spPr>
          <a:xfrm>
            <a:off x="6399881" y="5353805"/>
            <a:ext cx="4011282" cy="557451"/>
          </a:xfrm>
          <a:prstGeom prst="rect">
            <a:avLst/>
          </a:prstGeom>
          <a:noFill/>
        </p:spPr>
        <p:txBody>
          <a:bodyPr wrap="none" lIns="36000" tIns="36000" rIns="36000" bIns="36000" rtlCol="0" anchor="ctr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050" b="1" smtClean="0">
                <a:solidFill>
                  <a:schemeClr val="accent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②</a:t>
            </a:r>
            <a:r>
              <a:rPr lang="ko-KR" altLang="en-US" sz="1050" b="1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매장에서 </a:t>
            </a:r>
            <a:r>
              <a:rPr lang="en-US" altLang="ko-KR" sz="1050" b="1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‘</a:t>
            </a:r>
            <a:r>
              <a:rPr lang="ko-KR" altLang="en-US" sz="1050" b="1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검품</a:t>
            </a:r>
            <a:r>
              <a:rPr lang="en-US" altLang="ko-KR" sz="1050" b="1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’</a:t>
            </a:r>
            <a:r>
              <a:rPr lang="ko-KR" altLang="en-US" sz="1050" b="1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을 하지 않고 </a:t>
            </a:r>
            <a:r>
              <a:rPr lang="en-US" altLang="ko-KR" sz="1050" b="1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RT </a:t>
            </a:r>
            <a:r>
              <a:rPr lang="ko-KR" altLang="en-US" sz="1050" b="1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를 진행할 경우</a:t>
            </a:r>
            <a:endParaRPr lang="en-US" altLang="ko-KR" sz="1050" b="1" smtClean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050" b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50" b="1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</a:t>
            </a:r>
            <a:r>
              <a:rPr lang="ko-KR" altLang="en-US" sz="9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모든 프로세스를 거쳐야 하므로</a:t>
            </a:r>
            <a:r>
              <a:rPr lang="en-US" altLang="ko-KR" sz="9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900" u="sng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물리적인 시간 소요 </a:t>
            </a:r>
            <a:r>
              <a:rPr lang="en-US" altLang="ko-KR" sz="900" u="sng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 </a:t>
            </a:r>
            <a:r>
              <a:rPr lang="ko-KR" altLang="en-US" sz="900" u="sng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인적자원 소요</a:t>
            </a:r>
            <a:r>
              <a:rPr lang="ko-KR" altLang="en-US" sz="9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발생</a:t>
            </a:r>
            <a:endParaRPr lang="en-US" altLang="ko-KR" sz="900" smtClean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73" name="아래쪽 화살표 272"/>
          <p:cNvSpPr/>
          <p:nvPr/>
        </p:nvSpPr>
        <p:spPr>
          <a:xfrm>
            <a:off x="4140162" y="2951703"/>
            <a:ext cx="288000" cy="504000"/>
          </a:xfrm>
          <a:prstGeom prst="downArrow">
            <a:avLst/>
          </a:prstGeom>
          <a:solidFill>
            <a:schemeClr val="accent2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모서리가 둥근 직사각형 2"/>
          <p:cNvSpPr/>
          <p:nvPr/>
        </p:nvSpPr>
        <p:spPr>
          <a:xfrm>
            <a:off x="1249232" y="5183703"/>
            <a:ext cx="4751282" cy="900000"/>
          </a:xfrm>
          <a:prstGeom prst="roundRect">
            <a:avLst>
              <a:gd name="adj" fmla="val 50000"/>
            </a:avLst>
          </a:prstGeom>
          <a:noFill/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3982123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모서리가 둥근 직사각형 1"/>
          <p:cNvSpPr/>
          <p:nvPr/>
        </p:nvSpPr>
        <p:spPr>
          <a:xfrm>
            <a:off x="323906" y="737711"/>
            <a:ext cx="2880000" cy="360000"/>
          </a:xfrm>
          <a:prstGeom prst="roundRect">
            <a:avLst/>
          </a:prstGeom>
          <a:solidFill>
            <a:schemeClr val="tx1">
              <a:lumMod val="65000"/>
              <a:lumOff val="35000"/>
            </a:schemeClr>
          </a:solidFill>
          <a:ln w="381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0" tIns="36000" rIns="36000" bIns="36000" rtlCol="0" anchor="ctr"/>
          <a:lstStyle/>
          <a:p>
            <a:r>
              <a:rPr lang="en-US" altLang="ko-KR" sz="900" b="1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SAP / OMS / LFM – </a:t>
            </a:r>
            <a:r>
              <a:rPr lang="ko-KR" altLang="en-US" sz="900" b="1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데이터 연동 방안</a:t>
            </a:r>
            <a:endParaRPr lang="ko-KR" altLang="en-US" sz="900" b="1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42" name="TextBox 141">
            <a:extLst>
              <a:ext uri="{FF2B5EF4-FFF2-40B4-BE49-F238E27FC236}">
                <a16:creationId xmlns="" xmlns:a16="http://schemas.microsoft.com/office/drawing/2014/main" id="{C5E486F5-93A1-4316-A9AE-8F2FB1C3263A}"/>
              </a:ext>
            </a:extLst>
          </p:cNvPr>
          <p:cNvSpPr txBox="1"/>
          <p:nvPr/>
        </p:nvSpPr>
        <p:spPr>
          <a:xfrm>
            <a:off x="94" y="102705"/>
            <a:ext cx="1842721" cy="226591"/>
          </a:xfrm>
          <a:prstGeom prst="rect">
            <a:avLst/>
          </a:prstGeom>
          <a:noFill/>
        </p:spPr>
        <p:txBody>
          <a:bodyPr wrap="none" lIns="360000" tIns="36000" rIns="360000" bIns="36000" rtlCol="0" anchor="ctr">
            <a:spAutoFit/>
          </a:bodyPr>
          <a:lstStyle/>
          <a:p>
            <a:r>
              <a:rPr lang="ko-KR" altLang="en-US" sz="1000" b="1">
                <a:solidFill>
                  <a:schemeClr val="bg1"/>
                </a:solidFill>
                <a:latin typeface="맑은 고딕" panose="020B0503020000020004" pitchFamily="50" charset="-127"/>
              </a:rPr>
              <a:t>온오프 재고 효율화</a:t>
            </a:r>
            <a:endParaRPr lang="en-US" altLang="ko-KR" sz="1000" b="1">
              <a:solidFill>
                <a:schemeClr val="bg1"/>
              </a:solidFill>
              <a:latin typeface="맑은 고딕" panose="020B0503020000020004" pitchFamily="50" charset="-127"/>
            </a:endParaRPr>
          </a:p>
        </p:txBody>
      </p:sp>
      <p:sp>
        <p:nvSpPr>
          <p:cNvPr id="50" name="육각형 49"/>
          <p:cNvSpPr/>
          <p:nvPr/>
        </p:nvSpPr>
        <p:spPr>
          <a:xfrm>
            <a:off x="323905" y="1385711"/>
            <a:ext cx="4680000" cy="288000"/>
          </a:xfrm>
          <a:prstGeom prst="hexagon">
            <a:avLst/>
          </a:prstGeom>
          <a:solidFill>
            <a:schemeClr val="accent1">
              <a:lumMod val="50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SAP</a:t>
            </a:r>
            <a:endParaRPr lang="ko-KR" altLang="en-US" sz="1000" b="1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3" name="표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28193312"/>
              </p:ext>
            </p:extLst>
          </p:nvPr>
        </p:nvGraphicFramePr>
        <p:xfrm>
          <a:off x="323906" y="1961711"/>
          <a:ext cx="1440000" cy="194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00000"/>
                <a:gridCol w="540000"/>
              </a:tblGrid>
              <a:tr h="216000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70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ZSDT510 (</a:t>
                      </a:r>
                      <a:r>
                        <a:rPr lang="ko-KR" altLang="en-US" sz="70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전체 매장 재고</a:t>
                      </a:r>
                      <a:r>
                        <a:rPr lang="en-US" altLang="ko-KR" sz="70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endParaRPr lang="ko-KR" altLang="en-US" sz="70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80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매장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가용재고</a:t>
                      </a:r>
                      <a:endParaRPr lang="ko-KR" altLang="en-US" sz="70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현대백화점 신사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</a:t>
                      </a:r>
                      <a:endParaRPr lang="ko-KR" altLang="en-US" sz="70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갤러리아 압구정</a:t>
                      </a:r>
                      <a:endParaRPr lang="ko-KR" altLang="en-US" sz="70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</a:t>
                      </a:r>
                      <a:endParaRPr lang="ko-KR" altLang="en-US" sz="70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롯데백화점 본점</a:t>
                      </a:r>
                      <a:endParaRPr lang="ko-KR" altLang="en-US" sz="70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</a:t>
                      </a:r>
                      <a:endParaRPr lang="ko-KR" altLang="en-US" sz="70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신세계백화점 강남</a:t>
                      </a:r>
                      <a:endParaRPr lang="ko-KR" altLang="en-US" sz="70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11</a:t>
                      </a:r>
                      <a:endParaRPr lang="ko-KR" altLang="en-US" sz="70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라움이스트</a:t>
                      </a:r>
                      <a:endParaRPr lang="ko-KR" altLang="en-US" sz="70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  <a:endParaRPr lang="ko-KR" altLang="en-US" sz="70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smtClean="0">
                          <a:latin typeface="맑은 고딕" panose="020B0503020000020004" pitchFamily="50" charset="-127"/>
                          <a:ea typeface="+mn-ea"/>
                        </a:rPr>
                        <a:t>코엑스 라움</a:t>
                      </a:r>
                      <a:endParaRPr lang="ko-KR" altLang="en-US" sz="70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</a:t>
                      </a:r>
                      <a:endParaRPr lang="ko-KR" altLang="en-US" sz="70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16000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70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…</a:t>
                      </a:r>
                      <a:endParaRPr lang="ko-KR" altLang="en-US" sz="70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80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9" name="표 7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79191630"/>
              </p:ext>
            </p:extLst>
          </p:nvPr>
        </p:nvGraphicFramePr>
        <p:xfrm>
          <a:off x="3023905" y="2398575"/>
          <a:ext cx="1980000" cy="2338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00000"/>
                <a:gridCol w="540000"/>
                <a:gridCol w="540000"/>
              </a:tblGrid>
              <a:tr h="0">
                <a:tc gridSpan="3">
                  <a:txBody>
                    <a:bodyPr/>
                    <a:lstStyle/>
                    <a:p>
                      <a:pPr algn="ctr" latinLnBrk="1"/>
                      <a:r>
                        <a:rPr lang="en-US" altLang="ko-KR" sz="70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Z_SD_SHOP_STOCK_INFO</a:t>
                      </a:r>
                      <a:endParaRPr lang="ko-KR" altLang="en-US" sz="70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80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매장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매장구분</a:t>
                      </a:r>
                      <a:endParaRPr lang="ko-KR" altLang="en-US" sz="70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가용재고</a:t>
                      </a:r>
                      <a:endParaRPr lang="ko-KR" altLang="en-US" sz="70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현대백화점 신사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smtClean="0">
                          <a:latin typeface="맑은 고딕" panose="020B0503020000020004" pitchFamily="50" charset="-127"/>
                          <a:ea typeface="+mn-ea"/>
                        </a:rPr>
                        <a:t>비직송</a:t>
                      </a:r>
                      <a:endParaRPr lang="ko-KR" altLang="en-US" sz="70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</a:t>
                      </a:r>
                      <a:endParaRPr lang="ko-KR" altLang="en-US" sz="70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갤러리아 압구정</a:t>
                      </a:r>
                      <a:endParaRPr lang="ko-KR" altLang="en-US" sz="70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비직송</a:t>
                      </a:r>
                      <a:endParaRPr lang="ko-KR" altLang="en-US" sz="70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</a:t>
                      </a:r>
                      <a:endParaRPr lang="ko-KR" altLang="en-US" sz="70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롯데백화점 본점</a:t>
                      </a:r>
                      <a:endParaRPr lang="ko-KR" altLang="en-US" sz="70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smtClean="0">
                          <a:latin typeface="맑은 고딕" panose="020B0503020000020004" pitchFamily="50" charset="-127"/>
                          <a:ea typeface="+mn-ea"/>
                        </a:rPr>
                        <a:t>비직송</a:t>
                      </a:r>
                      <a:endParaRPr lang="ko-KR" altLang="en-US" sz="70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</a:t>
                      </a:r>
                      <a:endParaRPr lang="ko-KR" altLang="en-US" sz="70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신세계백화점 강남</a:t>
                      </a:r>
                      <a:endParaRPr lang="ko-KR" altLang="en-US" sz="70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비직송</a:t>
                      </a:r>
                      <a:endParaRPr lang="ko-KR" altLang="en-US" sz="70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</a:t>
                      </a:r>
                      <a:endParaRPr lang="ko-KR" altLang="en-US" sz="70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16000">
                <a:tc gridSpan="3">
                  <a:txBody>
                    <a:bodyPr/>
                    <a:lstStyle/>
                    <a:p>
                      <a:pPr algn="ctr" latinLnBrk="1"/>
                      <a:r>
                        <a:rPr lang="en-US" altLang="ko-KR" sz="70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…</a:t>
                      </a:r>
                      <a:endParaRPr lang="ko-KR" altLang="en-US" sz="70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80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80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marL="0" marR="0" lvl="0" indent="0" algn="ctr" defTabSz="9121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smtClean="0">
                          <a:latin typeface="맑은 고딕" panose="020B0503020000020004" pitchFamily="50" charset="-127"/>
                          <a:ea typeface="+mn-ea"/>
                        </a:rPr>
                        <a:t>안산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물류</a:t>
                      </a:r>
                      <a:endParaRPr lang="ko-KR" altLang="en-US" sz="70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</a:t>
                      </a:r>
                      <a:endParaRPr lang="ko-KR" altLang="en-US" sz="70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안산 쇼핑몰 가용</a:t>
                      </a:r>
                      <a:endParaRPr lang="ko-KR" altLang="en-US" sz="70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smtClean="0">
                          <a:latin typeface="맑은 고딕" panose="020B0503020000020004" pitchFamily="50" charset="-127"/>
                          <a:ea typeface="+mn-ea"/>
                        </a:rPr>
                        <a:t>물류</a:t>
                      </a:r>
                      <a:endParaRPr lang="ko-KR" altLang="en-US" sz="70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</a:t>
                      </a:r>
                      <a:endParaRPr lang="ko-KR" altLang="en-US" sz="70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smtClean="0">
                          <a:latin typeface="맑은 고딕" panose="020B0503020000020004" pitchFamily="50" charset="-127"/>
                          <a:ea typeface="+mn-ea"/>
                        </a:rPr>
                        <a:t>이동중 재고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smtClean="0">
                          <a:latin typeface="맑은 고딕" panose="020B0503020000020004" pitchFamily="50" charset="-127"/>
                          <a:ea typeface="+mn-ea"/>
                        </a:rPr>
                        <a:t>물류</a:t>
                      </a:r>
                      <a:endParaRPr lang="ko-KR" altLang="en-US" sz="70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</a:t>
                      </a:r>
                      <a:endParaRPr lang="ko-KR" altLang="en-US" sz="70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smtClean="0">
                          <a:latin typeface="맑은 고딕" panose="020B0503020000020004" pitchFamily="50" charset="-127"/>
                          <a:ea typeface="+mn-ea"/>
                        </a:rPr>
                        <a:t>안산 쇼핑몰 반품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직송매장</a:t>
                      </a:r>
                      <a:endParaRPr lang="ko-KR" altLang="en-US" sz="70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  <a:endParaRPr lang="ko-KR" altLang="en-US" sz="70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pSp>
        <p:nvGrpSpPr>
          <p:cNvPr id="103" name="그룹 102"/>
          <p:cNvGrpSpPr/>
          <p:nvPr/>
        </p:nvGrpSpPr>
        <p:grpSpPr>
          <a:xfrm>
            <a:off x="5260903" y="3113610"/>
            <a:ext cx="386324" cy="763513"/>
            <a:chOff x="4786456" y="3113610"/>
            <a:chExt cx="386324" cy="763513"/>
          </a:xfrm>
        </p:grpSpPr>
        <p:sp>
          <p:nvSpPr>
            <p:cNvPr id="81" name="TextBox 80"/>
            <p:cNvSpPr txBox="1"/>
            <p:nvPr/>
          </p:nvSpPr>
          <p:spPr>
            <a:xfrm>
              <a:off x="4799618" y="3113610"/>
              <a:ext cx="360000" cy="180000"/>
            </a:xfrm>
            <a:prstGeom prst="rightArrow">
              <a:avLst/>
            </a:prstGeom>
            <a:solidFill>
              <a:schemeClr val="accent2">
                <a:lumMod val="20000"/>
                <a:lumOff val="80000"/>
              </a:schemeClr>
            </a:solidFill>
          </p:spPr>
          <p:txBody>
            <a:bodyPr wrap="none" lIns="0" tIns="0" rIns="0" bIns="0" rtlCol="0" anchor="ctr">
              <a:noAutofit/>
            </a:bodyPr>
            <a:lstStyle/>
            <a:p>
              <a:pPr algn="ctr"/>
              <a:endParaRPr lang="ko-KR" altLang="en-US" sz="7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82" name="Mind Map"/>
            <p:cNvSpPr>
              <a:spLocks noChangeAspect="1" noEditPoints="1"/>
            </p:cNvSpPr>
            <p:nvPr/>
          </p:nvSpPr>
          <p:spPr bwMode="auto">
            <a:xfrm>
              <a:off x="4801367" y="3365567"/>
              <a:ext cx="356502" cy="360000"/>
            </a:xfrm>
            <a:custGeom>
              <a:avLst/>
              <a:gdLst>
                <a:gd name="T0" fmla="*/ 0 w 667"/>
                <a:gd name="T1" fmla="*/ 80 h 666"/>
                <a:gd name="T2" fmla="*/ 126 w 667"/>
                <a:gd name="T3" fmla="*/ 145 h 666"/>
                <a:gd name="T4" fmla="*/ 200 w 667"/>
                <a:gd name="T5" fmla="*/ 333 h 666"/>
                <a:gd name="T6" fmla="*/ 134 w 667"/>
                <a:gd name="T7" fmla="*/ 474 h 666"/>
                <a:gd name="T8" fmla="*/ 0 w 667"/>
                <a:gd name="T9" fmla="*/ 533 h 666"/>
                <a:gd name="T10" fmla="*/ 160 w 667"/>
                <a:gd name="T11" fmla="*/ 533 h 666"/>
                <a:gd name="T12" fmla="*/ 238 w 667"/>
                <a:gd name="T13" fmla="*/ 426 h 666"/>
                <a:gd name="T14" fmla="*/ 383 w 667"/>
                <a:gd name="T15" fmla="*/ 457 h 666"/>
                <a:gd name="T16" fmla="*/ 387 w 667"/>
                <a:gd name="T17" fmla="*/ 586 h 666"/>
                <a:gd name="T18" fmla="*/ 547 w 667"/>
                <a:gd name="T19" fmla="*/ 586 h 666"/>
                <a:gd name="T20" fmla="*/ 442 w 667"/>
                <a:gd name="T21" fmla="*/ 510 h 666"/>
                <a:gd name="T22" fmla="*/ 460 w 667"/>
                <a:gd name="T23" fmla="*/ 373 h 666"/>
                <a:gd name="T24" fmla="*/ 507 w 667"/>
                <a:gd name="T25" fmla="*/ 386 h 666"/>
                <a:gd name="T26" fmla="*/ 667 w 667"/>
                <a:gd name="T27" fmla="*/ 386 h 666"/>
                <a:gd name="T28" fmla="*/ 512 w 667"/>
                <a:gd name="T29" fmla="*/ 357 h 666"/>
                <a:gd name="T30" fmla="*/ 467 w 667"/>
                <a:gd name="T31" fmla="*/ 333 h 666"/>
                <a:gd name="T32" fmla="*/ 412 w 667"/>
                <a:gd name="T33" fmla="*/ 158 h 666"/>
                <a:gd name="T34" fmla="*/ 507 w 667"/>
                <a:gd name="T35" fmla="*/ 80 h 666"/>
                <a:gd name="T36" fmla="*/ 347 w 667"/>
                <a:gd name="T37" fmla="*/ 80 h 666"/>
                <a:gd name="T38" fmla="*/ 367 w 667"/>
                <a:gd name="T39" fmla="*/ 204 h 666"/>
                <a:gd name="T40" fmla="*/ 249 w 667"/>
                <a:gd name="T41" fmla="*/ 230 h 666"/>
                <a:gd name="T42" fmla="*/ 160 w 667"/>
                <a:gd name="T43" fmla="*/ 80 h 666"/>
                <a:gd name="T44" fmla="*/ 80 w 667"/>
                <a:gd name="T45" fmla="*/ 26 h 666"/>
                <a:gd name="T46" fmla="*/ 80 w 667"/>
                <a:gd name="T47" fmla="*/ 133 h 666"/>
                <a:gd name="T48" fmla="*/ 80 w 667"/>
                <a:gd name="T49" fmla="*/ 26 h 666"/>
                <a:gd name="T50" fmla="*/ 480 w 667"/>
                <a:gd name="T51" fmla="*/ 80 h 666"/>
                <a:gd name="T52" fmla="*/ 373 w 667"/>
                <a:gd name="T53" fmla="*/ 80 h 666"/>
                <a:gd name="T54" fmla="*/ 333 w 667"/>
                <a:gd name="T55" fmla="*/ 226 h 666"/>
                <a:gd name="T56" fmla="*/ 333 w 667"/>
                <a:gd name="T57" fmla="*/ 440 h 666"/>
                <a:gd name="T58" fmla="*/ 257 w 667"/>
                <a:gd name="T59" fmla="*/ 259 h 666"/>
                <a:gd name="T60" fmla="*/ 333 w 667"/>
                <a:gd name="T61" fmla="*/ 226 h 666"/>
                <a:gd name="T62" fmla="*/ 640 w 667"/>
                <a:gd name="T63" fmla="*/ 386 h 666"/>
                <a:gd name="T64" fmla="*/ 533 w 667"/>
                <a:gd name="T65" fmla="*/ 386 h 666"/>
                <a:gd name="T66" fmla="*/ 80 w 667"/>
                <a:gd name="T67" fmla="*/ 480 h 666"/>
                <a:gd name="T68" fmla="*/ 80 w 667"/>
                <a:gd name="T69" fmla="*/ 586 h 666"/>
                <a:gd name="T70" fmla="*/ 80 w 667"/>
                <a:gd name="T71" fmla="*/ 480 h 666"/>
                <a:gd name="T72" fmla="*/ 520 w 667"/>
                <a:gd name="T73" fmla="*/ 586 h 666"/>
                <a:gd name="T74" fmla="*/ 413 w 667"/>
                <a:gd name="T75" fmla="*/ 586 h 6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667" h="666">
                  <a:moveTo>
                    <a:pt x="80" y="0"/>
                  </a:moveTo>
                  <a:cubicBezTo>
                    <a:pt x="36" y="0"/>
                    <a:pt x="0" y="36"/>
                    <a:pt x="0" y="80"/>
                  </a:cubicBezTo>
                  <a:cubicBezTo>
                    <a:pt x="0" y="124"/>
                    <a:pt x="36" y="160"/>
                    <a:pt x="80" y="160"/>
                  </a:cubicBezTo>
                  <a:cubicBezTo>
                    <a:pt x="97" y="160"/>
                    <a:pt x="113" y="154"/>
                    <a:pt x="126" y="145"/>
                  </a:cubicBezTo>
                  <a:lnTo>
                    <a:pt x="230" y="249"/>
                  </a:lnTo>
                  <a:cubicBezTo>
                    <a:pt x="211" y="272"/>
                    <a:pt x="200" y="301"/>
                    <a:pt x="200" y="333"/>
                  </a:cubicBezTo>
                  <a:cubicBezTo>
                    <a:pt x="200" y="359"/>
                    <a:pt x="208" y="384"/>
                    <a:pt x="221" y="405"/>
                  </a:cubicBezTo>
                  <a:lnTo>
                    <a:pt x="134" y="474"/>
                  </a:lnTo>
                  <a:cubicBezTo>
                    <a:pt x="119" y="461"/>
                    <a:pt x="101" y="453"/>
                    <a:pt x="80" y="453"/>
                  </a:cubicBezTo>
                  <a:cubicBezTo>
                    <a:pt x="36" y="453"/>
                    <a:pt x="0" y="489"/>
                    <a:pt x="0" y="533"/>
                  </a:cubicBezTo>
                  <a:cubicBezTo>
                    <a:pt x="0" y="577"/>
                    <a:pt x="36" y="613"/>
                    <a:pt x="80" y="613"/>
                  </a:cubicBezTo>
                  <a:cubicBezTo>
                    <a:pt x="124" y="613"/>
                    <a:pt x="160" y="577"/>
                    <a:pt x="160" y="533"/>
                  </a:cubicBezTo>
                  <a:cubicBezTo>
                    <a:pt x="160" y="519"/>
                    <a:pt x="157" y="506"/>
                    <a:pt x="150" y="495"/>
                  </a:cubicBezTo>
                  <a:lnTo>
                    <a:pt x="238" y="426"/>
                  </a:lnTo>
                  <a:cubicBezTo>
                    <a:pt x="262" y="451"/>
                    <a:pt x="296" y="466"/>
                    <a:pt x="333" y="466"/>
                  </a:cubicBezTo>
                  <a:cubicBezTo>
                    <a:pt x="351" y="466"/>
                    <a:pt x="368" y="463"/>
                    <a:pt x="383" y="457"/>
                  </a:cubicBezTo>
                  <a:lnTo>
                    <a:pt x="418" y="523"/>
                  </a:lnTo>
                  <a:cubicBezTo>
                    <a:pt x="399" y="537"/>
                    <a:pt x="387" y="560"/>
                    <a:pt x="387" y="586"/>
                  </a:cubicBezTo>
                  <a:cubicBezTo>
                    <a:pt x="387" y="630"/>
                    <a:pt x="423" y="666"/>
                    <a:pt x="467" y="666"/>
                  </a:cubicBezTo>
                  <a:cubicBezTo>
                    <a:pt x="511" y="666"/>
                    <a:pt x="547" y="630"/>
                    <a:pt x="547" y="586"/>
                  </a:cubicBezTo>
                  <a:cubicBezTo>
                    <a:pt x="547" y="542"/>
                    <a:pt x="511" y="506"/>
                    <a:pt x="467" y="506"/>
                  </a:cubicBezTo>
                  <a:cubicBezTo>
                    <a:pt x="458" y="506"/>
                    <a:pt x="450" y="508"/>
                    <a:pt x="442" y="510"/>
                  </a:cubicBezTo>
                  <a:lnTo>
                    <a:pt x="407" y="444"/>
                  </a:lnTo>
                  <a:cubicBezTo>
                    <a:pt x="432" y="427"/>
                    <a:pt x="451" y="403"/>
                    <a:pt x="460" y="373"/>
                  </a:cubicBezTo>
                  <a:lnTo>
                    <a:pt x="507" y="383"/>
                  </a:lnTo>
                  <a:cubicBezTo>
                    <a:pt x="507" y="384"/>
                    <a:pt x="507" y="385"/>
                    <a:pt x="507" y="386"/>
                  </a:cubicBezTo>
                  <a:cubicBezTo>
                    <a:pt x="507" y="430"/>
                    <a:pt x="543" y="466"/>
                    <a:pt x="587" y="466"/>
                  </a:cubicBezTo>
                  <a:cubicBezTo>
                    <a:pt x="631" y="466"/>
                    <a:pt x="667" y="430"/>
                    <a:pt x="667" y="386"/>
                  </a:cubicBezTo>
                  <a:cubicBezTo>
                    <a:pt x="667" y="342"/>
                    <a:pt x="631" y="306"/>
                    <a:pt x="587" y="306"/>
                  </a:cubicBezTo>
                  <a:cubicBezTo>
                    <a:pt x="553" y="306"/>
                    <a:pt x="524" y="327"/>
                    <a:pt x="512" y="357"/>
                  </a:cubicBezTo>
                  <a:lnTo>
                    <a:pt x="466" y="347"/>
                  </a:lnTo>
                  <a:cubicBezTo>
                    <a:pt x="467" y="343"/>
                    <a:pt x="467" y="338"/>
                    <a:pt x="467" y="333"/>
                  </a:cubicBezTo>
                  <a:cubicBezTo>
                    <a:pt x="467" y="280"/>
                    <a:pt x="436" y="235"/>
                    <a:pt x="392" y="213"/>
                  </a:cubicBezTo>
                  <a:lnTo>
                    <a:pt x="412" y="158"/>
                  </a:lnTo>
                  <a:cubicBezTo>
                    <a:pt x="417" y="159"/>
                    <a:pt x="422" y="160"/>
                    <a:pt x="427" y="160"/>
                  </a:cubicBezTo>
                  <a:cubicBezTo>
                    <a:pt x="471" y="160"/>
                    <a:pt x="507" y="124"/>
                    <a:pt x="507" y="80"/>
                  </a:cubicBezTo>
                  <a:cubicBezTo>
                    <a:pt x="507" y="36"/>
                    <a:pt x="471" y="0"/>
                    <a:pt x="427" y="0"/>
                  </a:cubicBezTo>
                  <a:cubicBezTo>
                    <a:pt x="383" y="0"/>
                    <a:pt x="347" y="36"/>
                    <a:pt x="347" y="80"/>
                  </a:cubicBezTo>
                  <a:cubicBezTo>
                    <a:pt x="347" y="109"/>
                    <a:pt x="363" y="135"/>
                    <a:pt x="387" y="149"/>
                  </a:cubicBezTo>
                  <a:lnTo>
                    <a:pt x="367" y="204"/>
                  </a:lnTo>
                  <a:cubicBezTo>
                    <a:pt x="356" y="201"/>
                    <a:pt x="345" y="200"/>
                    <a:pt x="333" y="200"/>
                  </a:cubicBezTo>
                  <a:cubicBezTo>
                    <a:pt x="302" y="200"/>
                    <a:pt x="272" y="211"/>
                    <a:pt x="249" y="230"/>
                  </a:cubicBezTo>
                  <a:lnTo>
                    <a:pt x="145" y="126"/>
                  </a:lnTo>
                  <a:cubicBezTo>
                    <a:pt x="155" y="113"/>
                    <a:pt x="160" y="97"/>
                    <a:pt x="160" y="80"/>
                  </a:cubicBezTo>
                  <a:cubicBezTo>
                    <a:pt x="160" y="36"/>
                    <a:pt x="124" y="0"/>
                    <a:pt x="80" y="0"/>
                  </a:cubicBezTo>
                  <a:close/>
                  <a:moveTo>
                    <a:pt x="80" y="26"/>
                  </a:moveTo>
                  <a:cubicBezTo>
                    <a:pt x="110" y="26"/>
                    <a:pt x="133" y="50"/>
                    <a:pt x="133" y="80"/>
                  </a:cubicBezTo>
                  <a:cubicBezTo>
                    <a:pt x="133" y="109"/>
                    <a:pt x="110" y="133"/>
                    <a:pt x="80" y="133"/>
                  </a:cubicBezTo>
                  <a:cubicBezTo>
                    <a:pt x="51" y="133"/>
                    <a:pt x="27" y="109"/>
                    <a:pt x="27" y="80"/>
                  </a:cubicBezTo>
                  <a:cubicBezTo>
                    <a:pt x="27" y="50"/>
                    <a:pt x="51" y="26"/>
                    <a:pt x="80" y="26"/>
                  </a:cubicBezTo>
                  <a:close/>
                  <a:moveTo>
                    <a:pt x="427" y="26"/>
                  </a:moveTo>
                  <a:cubicBezTo>
                    <a:pt x="456" y="26"/>
                    <a:pt x="480" y="50"/>
                    <a:pt x="480" y="80"/>
                  </a:cubicBezTo>
                  <a:cubicBezTo>
                    <a:pt x="480" y="109"/>
                    <a:pt x="456" y="133"/>
                    <a:pt x="427" y="133"/>
                  </a:cubicBezTo>
                  <a:cubicBezTo>
                    <a:pt x="397" y="133"/>
                    <a:pt x="373" y="109"/>
                    <a:pt x="373" y="80"/>
                  </a:cubicBezTo>
                  <a:cubicBezTo>
                    <a:pt x="373" y="50"/>
                    <a:pt x="397" y="26"/>
                    <a:pt x="427" y="26"/>
                  </a:cubicBezTo>
                  <a:close/>
                  <a:moveTo>
                    <a:pt x="333" y="226"/>
                  </a:moveTo>
                  <a:cubicBezTo>
                    <a:pt x="393" y="226"/>
                    <a:pt x="440" y="274"/>
                    <a:pt x="440" y="333"/>
                  </a:cubicBezTo>
                  <a:cubicBezTo>
                    <a:pt x="440" y="392"/>
                    <a:pt x="393" y="440"/>
                    <a:pt x="333" y="440"/>
                  </a:cubicBezTo>
                  <a:cubicBezTo>
                    <a:pt x="274" y="440"/>
                    <a:pt x="227" y="392"/>
                    <a:pt x="227" y="333"/>
                  </a:cubicBezTo>
                  <a:cubicBezTo>
                    <a:pt x="227" y="304"/>
                    <a:pt x="238" y="278"/>
                    <a:pt x="257" y="259"/>
                  </a:cubicBezTo>
                  <a:cubicBezTo>
                    <a:pt x="258" y="258"/>
                    <a:pt x="259" y="257"/>
                    <a:pt x="259" y="256"/>
                  </a:cubicBezTo>
                  <a:cubicBezTo>
                    <a:pt x="278" y="238"/>
                    <a:pt x="305" y="226"/>
                    <a:pt x="333" y="226"/>
                  </a:cubicBezTo>
                  <a:close/>
                  <a:moveTo>
                    <a:pt x="587" y="333"/>
                  </a:moveTo>
                  <a:cubicBezTo>
                    <a:pt x="616" y="333"/>
                    <a:pt x="640" y="357"/>
                    <a:pt x="640" y="386"/>
                  </a:cubicBezTo>
                  <a:cubicBezTo>
                    <a:pt x="640" y="416"/>
                    <a:pt x="616" y="440"/>
                    <a:pt x="587" y="440"/>
                  </a:cubicBezTo>
                  <a:cubicBezTo>
                    <a:pt x="557" y="440"/>
                    <a:pt x="533" y="416"/>
                    <a:pt x="533" y="386"/>
                  </a:cubicBezTo>
                  <a:cubicBezTo>
                    <a:pt x="533" y="357"/>
                    <a:pt x="557" y="333"/>
                    <a:pt x="587" y="333"/>
                  </a:cubicBezTo>
                  <a:close/>
                  <a:moveTo>
                    <a:pt x="80" y="480"/>
                  </a:moveTo>
                  <a:cubicBezTo>
                    <a:pt x="110" y="480"/>
                    <a:pt x="133" y="503"/>
                    <a:pt x="133" y="533"/>
                  </a:cubicBezTo>
                  <a:cubicBezTo>
                    <a:pt x="133" y="563"/>
                    <a:pt x="110" y="586"/>
                    <a:pt x="80" y="586"/>
                  </a:cubicBezTo>
                  <a:cubicBezTo>
                    <a:pt x="51" y="586"/>
                    <a:pt x="27" y="563"/>
                    <a:pt x="27" y="533"/>
                  </a:cubicBezTo>
                  <a:cubicBezTo>
                    <a:pt x="27" y="503"/>
                    <a:pt x="51" y="480"/>
                    <a:pt x="80" y="480"/>
                  </a:cubicBezTo>
                  <a:close/>
                  <a:moveTo>
                    <a:pt x="467" y="533"/>
                  </a:moveTo>
                  <a:cubicBezTo>
                    <a:pt x="496" y="533"/>
                    <a:pt x="520" y="557"/>
                    <a:pt x="520" y="586"/>
                  </a:cubicBezTo>
                  <a:cubicBezTo>
                    <a:pt x="520" y="616"/>
                    <a:pt x="496" y="640"/>
                    <a:pt x="467" y="640"/>
                  </a:cubicBezTo>
                  <a:cubicBezTo>
                    <a:pt x="437" y="640"/>
                    <a:pt x="413" y="616"/>
                    <a:pt x="413" y="586"/>
                  </a:cubicBezTo>
                  <a:cubicBezTo>
                    <a:pt x="413" y="557"/>
                    <a:pt x="437" y="533"/>
                    <a:pt x="467" y="533"/>
                  </a:cubicBezTo>
                  <a:close/>
                </a:path>
              </a:pathLst>
            </a:custGeom>
            <a:solidFill>
              <a:srgbClr val="5F5F5F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86" name="TextBox 85"/>
            <p:cNvSpPr txBox="1"/>
            <p:nvPr/>
          </p:nvSpPr>
          <p:spPr>
            <a:xfrm>
              <a:off x="4786456" y="3754012"/>
              <a:ext cx="386324" cy="123111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algn="ctr"/>
              <a:r>
                <a:rPr lang="en-US" altLang="ko-KR" sz="80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DB LINK</a:t>
              </a:r>
            </a:p>
          </p:txBody>
        </p:sp>
      </p:grpSp>
      <p:sp>
        <p:nvSpPr>
          <p:cNvPr id="23" name="모서리가 둥근 직사각형 22"/>
          <p:cNvSpPr/>
          <p:nvPr/>
        </p:nvSpPr>
        <p:spPr>
          <a:xfrm>
            <a:off x="1223906" y="2176303"/>
            <a:ext cx="540000" cy="1080000"/>
          </a:xfrm>
          <a:prstGeom prst="roundRect">
            <a:avLst>
              <a:gd name="adj" fmla="val 3689"/>
            </a:avLst>
          </a:prstGeom>
          <a:solidFill>
            <a:schemeClr val="accent4">
              <a:alpha val="20000"/>
            </a:schemeClr>
          </a:solidFill>
          <a:ln w="317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 b="1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8" name="모서리가 둥근 직사각형 87"/>
          <p:cNvSpPr/>
          <p:nvPr/>
        </p:nvSpPr>
        <p:spPr>
          <a:xfrm>
            <a:off x="4463905" y="2577990"/>
            <a:ext cx="540000" cy="2159265"/>
          </a:xfrm>
          <a:prstGeom prst="roundRect">
            <a:avLst>
              <a:gd name="adj" fmla="val 3689"/>
            </a:avLst>
          </a:prstGeom>
          <a:solidFill>
            <a:schemeClr val="accent4">
              <a:alpha val="20000"/>
            </a:schemeClr>
          </a:solidFill>
          <a:ln w="317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 b="1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9" name="아래쪽 화살표 28"/>
          <p:cNvSpPr/>
          <p:nvPr/>
        </p:nvSpPr>
        <p:spPr>
          <a:xfrm>
            <a:off x="10404542" y="5164248"/>
            <a:ext cx="1440000" cy="432000"/>
          </a:xfrm>
          <a:prstGeom prst="downArrow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ko-KR" altLang="en-US" sz="7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물량이동지시</a:t>
            </a:r>
            <a:endParaRPr lang="en-US" altLang="ko-KR" sz="700" smtClean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ctr"/>
            <a:r>
              <a:rPr lang="en-US" altLang="ko-KR" sz="7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en-US" altLang="ko-KR" sz="7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RT)</a:t>
            </a:r>
            <a:endParaRPr lang="ko-KR" altLang="en-US" sz="70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30" name="그룹 29"/>
          <p:cNvGrpSpPr/>
          <p:nvPr/>
        </p:nvGrpSpPr>
        <p:grpSpPr>
          <a:xfrm>
            <a:off x="10937268" y="5766778"/>
            <a:ext cx="374548" cy="511556"/>
            <a:chOff x="11085135" y="3900381"/>
            <a:chExt cx="374548" cy="511556"/>
          </a:xfrm>
        </p:grpSpPr>
        <p:sp>
          <p:nvSpPr>
            <p:cNvPr id="107" name="TextBox 106"/>
            <p:cNvSpPr txBox="1"/>
            <p:nvPr/>
          </p:nvSpPr>
          <p:spPr>
            <a:xfrm>
              <a:off x="11174626" y="4288826"/>
              <a:ext cx="195567" cy="123111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algn="ctr"/>
              <a:r>
                <a:rPr lang="en-US" altLang="ko-KR" sz="80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POS</a:t>
              </a:r>
              <a:endPara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08" name="Display"/>
            <p:cNvSpPr>
              <a:spLocks noChangeAspect="1" noEditPoints="1"/>
            </p:cNvSpPr>
            <p:nvPr/>
          </p:nvSpPr>
          <p:spPr bwMode="auto">
            <a:xfrm>
              <a:off x="11085135" y="3900381"/>
              <a:ext cx="374548" cy="360000"/>
            </a:xfrm>
            <a:custGeom>
              <a:avLst/>
              <a:gdLst>
                <a:gd name="T0" fmla="*/ 27 w 667"/>
                <a:gd name="T1" fmla="*/ 0 h 640"/>
                <a:gd name="T2" fmla="*/ 0 w 667"/>
                <a:gd name="T3" fmla="*/ 26 h 640"/>
                <a:gd name="T4" fmla="*/ 0 w 667"/>
                <a:gd name="T5" fmla="*/ 506 h 640"/>
                <a:gd name="T6" fmla="*/ 27 w 667"/>
                <a:gd name="T7" fmla="*/ 533 h 640"/>
                <a:gd name="T8" fmla="*/ 253 w 667"/>
                <a:gd name="T9" fmla="*/ 533 h 640"/>
                <a:gd name="T10" fmla="*/ 253 w 667"/>
                <a:gd name="T11" fmla="*/ 560 h 640"/>
                <a:gd name="T12" fmla="*/ 198 w 667"/>
                <a:gd name="T13" fmla="*/ 560 h 640"/>
                <a:gd name="T14" fmla="*/ 160 w 667"/>
                <a:gd name="T15" fmla="*/ 600 h 640"/>
                <a:gd name="T16" fmla="*/ 160 w 667"/>
                <a:gd name="T17" fmla="*/ 640 h 640"/>
                <a:gd name="T18" fmla="*/ 507 w 667"/>
                <a:gd name="T19" fmla="*/ 640 h 640"/>
                <a:gd name="T20" fmla="*/ 507 w 667"/>
                <a:gd name="T21" fmla="*/ 600 h 640"/>
                <a:gd name="T22" fmla="*/ 468 w 667"/>
                <a:gd name="T23" fmla="*/ 560 h 640"/>
                <a:gd name="T24" fmla="*/ 413 w 667"/>
                <a:gd name="T25" fmla="*/ 560 h 640"/>
                <a:gd name="T26" fmla="*/ 413 w 667"/>
                <a:gd name="T27" fmla="*/ 533 h 640"/>
                <a:gd name="T28" fmla="*/ 640 w 667"/>
                <a:gd name="T29" fmla="*/ 533 h 640"/>
                <a:gd name="T30" fmla="*/ 667 w 667"/>
                <a:gd name="T31" fmla="*/ 506 h 640"/>
                <a:gd name="T32" fmla="*/ 667 w 667"/>
                <a:gd name="T33" fmla="*/ 26 h 640"/>
                <a:gd name="T34" fmla="*/ 640 w 667"/>
                <a:gd name="T35" fmla="*/ 0 h 640"/>
                <a:gd name="T36" fmla="*/ 27 w 667"/>
                <a:gd name="T37" fmla="*/ 0 h 640"/>
                <a:gd name="T38" fmla="*/ 27 w 667"/>
                <a:gd name="T39" fmla="*/ 26 h 640"/>
                <a:gd name="T40" fmla="*/ 640 w 667"/>
                <a:gd name="T41" fmla="*/ 26 h 640"/>
                <a:gd name="T42" fmla="*/ 640 w 667"/>
                <a:gd name="T43" fmla="*/ 506 h 640"/>
                <a:gd name="T44" fmla="*/ 27 w 667"/>
                <a:gd name="T45" fmla="*/ 506 h 640"/>
                <a:gd name="T46" fmla="*/ 27 w 667"/>
                <a:gd name="T47" fmla="*/ 26 h 640"/>
                <a:gd name="T48" fmla="*/ 80 w 667"/>
                <a:gd name="T49" fmla="*/ 53 h 640"/>
                <a:gd name="T50" fmla="*/ 53 w 667"/>
                <a:gd name="T51" fmla="*/ 80 h 640"/>
                <a:gd name="T52" fmla="*/ 53 w 667"/>
                <a:gd name="T53" fmla="*/ 400 h 640"/>
                <a:gd name="T54" fmla="*/ 80 w 667"/>
                <a:gd name="T55" fmla="*/ 426 h 640"/>
                <a:gd name="T56" fmla="*/ 587 w 667"/>
                <a:gd name="T57" fmla="*/ 426 h 640"/>
                <a:gd name="T58" fmla="*/ 613 w 667"/>
                <a:gd name="T59" fmla="*/ 400 h 640"/>
                <a:gd name="T60" fmla="*/ 613 w 667"/>
                <a:gd name="T61" fmla="*/ 80 h 640"/>
                <a:gd name="T62" fmla="*/ 587 w 667"/>
                <a:gd name="T63" fmla="*/ 53 h 640"/>
                <a:gd name="T64" fmla="*/ 80 w 667"/>
                <a:gd name="T65" fmla="*/ 53 h 640"/>
                <a:gd name="T66" fmla="*/ 80 w 667"/>
                <a:gd name="T67" fmla="*/ 80 h 640"/>
                <a:gd name="T68" fmla="*/ 587 w 667"/>
                <a:gd name="T69" fmla="*/ 80 h 640"/>
                <a:gd name="T70" fmla="*/ 587 w 667"/>
                <a:gd name="T71" fmla="*/ 400 h 640"/>
                <a:gd name="T72" fmla="*/ 80 w 667"/>
                <a:gd name="T73" fmla="*/ 400 h 640"/>
                <a:gd name="T74" fmla="*/ 80 w 667"/>
                <a:gd name="T75" fmla="*/ 80 h 640"/>
                <a:gd name="T76" fmla="*/ 573 w 667"/>
                <a:gd name="T77" fmla="*/ 440 h 640"/>
                <a:gd name="T78" fmla="*/ 547 w 667"/>
                <a:gd name="T79" fmla="*/ 466 h 640"/>
                <a:gd name="T80" fmla="*/ 573 w 667"/>
                <a:gd name="T81" fmla="*/ 493 h 640"/>
                <a:gd name="T82" fmla="*/ 600 w 667"/>
                <a:gd name="T83" fmla="*/ 466 h 640"/>
                <a:gd name="T84" fmla="*/ 573 w 667"/>
                <a:gd name="T85" fmla="*/ 440 h 640"/>
                <a:gd name="T86" fmla="*/ 280 w 667"/>
                <a:gd name="T87" fmla="*/ 533 h 640"/>
                <a:gd name="T88" fmla="*/ 387 w 667"/>
                <a:gd name="T89" fmla="*/ 533 h 640"/>
                <a:gd name="T90" fmla="*/ 387 w 667"/>
                <a:gd name="T91" fmla="*/ 560 h 640"/>
                <a:gd name="T92" fmla="*/ 280 w 667"/>
                <a:gd name="T93" fmla="*/ 560 h 640"/>
                <a:gd name="T94" fmla="*/ 280 w 667"/>
                <a:gd name="T95" fmla="*/ 533 h 640"/>
                <a:gd name="T96" fmla="*/ 198 w 667"/>
                <a:gd name="T97" fmla="*/ 586 h 640"/>
                <a:gd name="T98" fmla="*/ 468 w 667"/>
                <a:gd name="T99" fmla="*/ 586 h 640"/>
                <a:gd name="T100" fmla="*/ 480 w 667"/>
                <a:gd name="T101" fmla="*/ 600 h 640"/>
                <a:gd name="T102" fmla="*/ 480 w 667"/>
                <a:gd name="T103" fmla="*/ 613 h 640"/>
                <a:gd name="T104" fmla="*/ 187 w 667"/>
                <a:gd name="T105" fmla="*/ 613 h 640"/>
                <a:gd name="T106" fmla="*/ 187 w 667"/>
                <a:gd name="T107" fmla="*/ 600 h 640"/>
                <a:gd name="T108" fmla="*/ 198 w 667"/>
                <a:gd name="T109" fmla="*/ 586 h 6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667" h="640">
                  <a:moveTo>
                    <a:pt x="27" y="0"/>
                  </a:moveTo>
                  <a:cubicBezTo>
                    <a:pt x="12" y="0"/>
                    <a:pt x="0" y="12"/>
                    <a:pt x="0" y="26"/>
                  </a:cubicBezTo>
                  <a:lnTo>
                    <a:pt x="0" y="506"/>
                  </a:lnTo>
                  <a:cubicBezTo>
                    <a:pt x="0" y="521"/>
                    <a:pt x="12" y="533"/>
                    <a:pt x="27" y="533"/>
                  </a:cubicBezTo>
                  <a:lnTo>
                    <a:pt x="253" y="533"/>
                  </a:lnTo>
                  <a:lnTo>
                    <a:pt x="253" y="560"/>
                  </a:lnTo>
                  <a:lnTo>
                    <a:pt x="198" y="560"/>
                  </a:lnTo>
                  <a:cubicBezTo>
                    <a:pt x="177" y="560"/>
                    <a:pt x="160" y="578"/>
                    <a:pt x="160" y="600"/>
                  </a:cubicBezTo>
                  <a:lnTo>
                    <a:pt x="160" y="640"/>
                  </a:lnTo>
                  <a:lnTo>
                    <a:pt x="507" y="640"/>
                  </a:lnTo>
                  <a:lnTo>
                    <a:pt x="507" y="600"/>
                  </a:lnTo>
                  <a:cubicBezTo>
                    <a:pt x="507" y="578"/>
                    <a:pt x="490" y="560"/>
                    <a:pt x="468" y="560"/>
                  </a:cubicBezTo>
                  <a:lnTo>
                    <a:pt x="413" y="560"/>
                  </a:lnTo>
                  <a:lnTo>
                    <a:pt x="413" y="533"/>
                  </a:lnTo>
                  <a:lnTo>
                    <a:pt x="640" y="533"/>
                  </a:lnTo>
                  <a:cubicBezTo>
                    <a:pt x="654" y="533"/>
                    <a:pt x="667" y="521"/>
                    <a:pt x="667" y="506"/>
                  </a:cubicBezTo>
                  <a:lnTo>
                    <a:pt x="667" y="26"/>
                  </a:lnTo>
                  <a:cubicBezTo>
                    <a:pt x="667" y="12"/>
                    <a:pt x="654" y="0"/>
                    <a:pt x="640" y="0"/>
                  </a:cubicBezTo>
                  <a:lnTo>
                    <a:pt x="27" y="0"/>
                  </a:lnTo>
                  <a:close/>
                  <a:moveTo>
                    <a:pt x="27" y="26"/>
                  </a:moveTo>
                  <a:lnTo>
                    <a:pt x="640" y="26"/>
                  </a:lnTo>
                  <a:lnTo>
                    <a:pt x="640" y="506"/>
                  </a:lnTo>
                  <a:cubicBezTo>
                    <a:pt x="435" y="506"/>
                    <a:pt x="231" y="506"/>
                    <a:pt x="27" y="506"/>
                  </a:cubicBezTo>
                  <a:lnTo>
                    <a:pt x="27" y="26"/>
                  </a:lnTo>
                  <a:close/>
                  <a:moveTo>
                    <a:pt x="80" y="53"/>
                  </a:moveTo>
                  <a:cubicBezTo>
                    <a:pt x="65" y="53"/>
                    <a:pt x="53" y="65"/>
                    <a:pt x="53" y="80"/>
                  </a:cubicBezTo>
                  <a:lnTo>
                    <a:pt x="53" y="400"/>
                  </a:lnTo>
                  <a:cubicBezTo>
                    <a:pt x="53" y="414"/>
                    <a:pt x="65" y="426"/>
                    <a:pt x="80" y="426"/>
                  </a:cubicBezTo>
                  <a:lnTo>
                    <a:pt x="587" y="426"/>
                  </a:lnTo>
                  <a:cubicBezTo>
                    <a:pt x="601" y="426"/>
                    <a:pt x="613" y="414"/>
                    <a:pt x="613" y="400"/>
                  </a:cubicBezTo>
                  <a:lnTo>
                    <a:pt x="613" y="80"/>
                  </a:lnTo>
                  <a:cubicBezTo>
                    <a:pt x="613" y="65"/>
                    <a:pt x="601" y="53"/>
                    <a:pt x="587" y="53"/>
                  </a:cubicBezTo>
                  <a:lnTo>
                    <a:pt x="80" y="53"/>
                  </a:lnTo>
                  <a:close/>
                  <a:moveTo>
                    <a:pt x="80" y="80"/>
                  </a:moveTo>
                  <a:lnTo>
                    <a:pt x="587" y="80"/>
                  </a:lnTo>
                  <a:lnTo>
                    <a:pt x="587" y="400"/>
                  </a:lnTo>
                  <a:lnTo>
                    <a:pt x="80" y="400"/>
                  </a:lnTo>
                  <a:lnTo>
                    <a:pt x="80" y="80"/>
                  </a:lnTo>
                  <a:close/>
                  <a:moveTo>
                    <a:pt x="573" y="440"/>
                  </a:moveTo>
                  <a:cubicBezTo>
                    <a:pt x="558" y="440"/>
                    <a:pt x="547" y="452"/>
                    <a:pt x="547" y="466"/>
                  </a:cubicBezTo>
                  <a:cubicBezTo>
                    <a:pt x="547" y="481"/>
                    <a:pt x="558" y="493"/>
                    <a:pt x="573" y="493"/>
                  </a:cubicBezTo>
                  <a:cubicBezTo>
                    <a:pt x="588" y="493"/>
                    <a:pt x="600" y="481"/>
                    <a:pt x="600" y="466"/>
                  </a:cubicBezTo>
                  <a:cubicBezTo>
                    <a:pt x="600" y="452"/>
                    <a:pt x="588" y="440"/>
                    <a:pt x="573" y="440"/>
                  </a:cubicBezTo>
                  <a:close/>
                  <a:moveTo>
                    <a:pt x="280" y="533"/>
                  </a:moveTo>
                  <a:lnTo>
                    <a:pt x="387" y="533"/>
                  </a:lnTo>
                  <a:lnTo>
                    <a:pt x="387" y="560"/>
                  </a:lnTo>
                  <a:lnTo>
                    <a:pt x="280" y="560"/>
                  </a:lnTo>
                  <a:lnTo>
                    <a:pt x="280" y="533"/>
                  </a:lnTo>
                  <a:close/>
                  <a:moveTo>
                    <a:pt x="198" y="586"/>
                  </a:moveTo>
                  <a:cubicBezTo>
                    <a:pt x="288" y="587"/>
                    <a:pt x="378" y="586"/>
                    <a:pt x="468" y="586"/>
                  </a:cubicBezTo>
                  <a:cubicBezTo>
                    <a:pt x="474" y="586"/>
                    <a:pt x="480" y="592"/>
                    <a:pt x="480" y="600"/>
                  </a:cubicBezTo>
                  <a:lnTo>
                    <a:pt x="480" y="613"/>
                  </a:lnTo>
                  <a:lnTo>
                    <a:pt x="187" y="613"/>
                  </a:lnTo>
                  <a:lnTo>
                    <a:pt x="187" y="600"/>
                  </a:lnTo>
                  <a:cubicBezTo>
                    <a:pt x="187" y="592"/>
                    <a:pt x="192" y="586"/>
                    <a:pt x="198" y="586"/>
                  </a:cubicBezTo>
                  <a:close/>
                </a:path>
              </a:pathLst>
            </a:custGeom>
            <a:solidFill>
              <a:srgbClr val="5F5F5F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sp>
        <p:nvSpPr>
          <p:cNvPr id="111" name="육각형 110"/>
          <p:cNvSpPr/>
          <p:nvPr/>
        </p:nvSpPr>
        <p:spPr>
          <a:xfrm>
            <a:off x="5904224" y="1385711"/>
            <a:ext cx="3599999" cy="288000"/>
          </a:xfrm>
          <a:prstGeom prst="hexagon">
            <a:avLst/>
          </a:prstGeom>
          <a:solidFill>
            <a:schemeClr val="accent1">
              <a:lumMod val="50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LFmall</a:t>
            </a:r>
            <a:endParaRPr lang="ko-KR" altLang="en-US" sz="1000" b="1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116" name="표 11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89562523"/>
              </p:ext>
            </p:extLst>
          </p:nvPr>
        </p:nvGraphicFramePr>
        <p:xfrm>
          <a:off x="323906" y="4265711"/>
          <a:ext cx="1440000" cy="172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00000"/>
                <a:gridCol w="540000"/>
              </a:tblGrid>
              <a:tr h="216000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700" smtClean="0">
                          <a:latin typeface="맑은 고딕" panose="020B0503020000020004" pitchFamily="50" charset="-127"/>
                          <a:ea typeface="+mn-ea"/>
                        </a:rPr>
                        <a:t>ZSTOCK_STORE3 (</a:t>
                      </a:r>
                      <a:r>
                        <a:rPr lang="ko-KR" altLang="en-US" sz="70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창고 재고</a:t>
                      </a:r>
                      <a:r>
                        <a:rPr lang="en-US" altLang="ko-KR" sz="70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endParaRPr lang="ko-KR" altLang="en-US" sz="70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80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매장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가용재고</a:t>
                      </a:r>
                      <a:endParaRPr lang="ko-KR" altLang="en-US" sz="70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marL="0" marR="0" lvl="0" indent="0" algn="ctr" defTabSz="9121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smtClean="0">
                          <a:latin typeface="맑은 고딕" panose="020B0503020000020004" pitchFamily="50" charset="-127"/>
                          <a:ea typeface="+mn-ea"/>
                        </a:rPr>
                        <a:t>안산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</a:t>
                      </a:r>
                      <a:endParaRPr lang="ko-KR" altLang="en-US" sz="70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안산 쇼핑몰 가용</a:t>
                      </a:r>
                      <a:endParaRPr lang="ko-KR" altLang="en-US" sz="70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</a:t>
                      </a:r>
                      <a:endParaRPr lang="ko-KR" altLang="en-US" sz="70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smtClean="0">
                          <a:latin typeface="맑은 고딕" panose="020B0503020000020004" pitchFamily="50" charset="-127"/>
                          <a:ea typeface="+mn-ea"/>
                        </a:rPr>
                        <a:t>이동중 재고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</a:t>
                      </a:r>
                      <a:endParaRPr lang="ko-KR" altLang="en-US" sz="70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smtClean="0">
                          <a:latin typeface="맑은 고딕" panose="020B0503020000020004" pitchFamily="50" charset="-127"/>
                          <a:ea typeface="+mn-ea"/>
                        </a:rPr>
                        <a:t>안산 쇼핑몰 반품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  <a:endParaRPr lang="ko-KR" altLang="en-US" sz="70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smtClean="0">
                          <a:latin typeface="맑은 고딕" panose="020B0503020000020004" pitchFamily="50" charset="-127"/>
                          <a:ea typeface="+mn-ea"/>
                        </a:rPr>
                        <a:t>안산</a:t>
                      </a:r>
                      <a:r>
                        <a:rPr lang="en-US" altLang="ko-KR" sz="700" smtClean="0">
                          <a:latin typeface="맑은 고딕" panose="020B0503020000020004" pitchFamily="50" charset="-127"/>
                          <a:ea typeface="+mn-ea"/>
                        </a:rPr>
                        <a:t>3</a:t>
                      </a:r>
                      <a:r>
                        <a:rPr lang="ko-KR" altLang="en-US" sz="700" smtClean="0">
                          <a:latin typeface="맑은 고딕" panose="020B0503020000020004" pitchFamily="50" charset="-127"/>
                          <a:ea typeface="+mn-ea"/>
                        </a:rPr>
                        <a:t>차</a:t>
                      </a:r>
                      <a:r>
                        <a:rPr lang="ko-KR" altLang="en-US" sz="700" baseline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en-US" altLang="ko-KR" sz="700" baseline="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700" baseline="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아울렛</a:t>
                      </a:r>
                      <a:r>
                        <a:rPr lang="en-US" altLang="ko-KR" sz="700" baseline="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endParaRPr lang="ko-KR" altLang="en-US" sz="700" smtClean="0"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endParaRPr lang="ko-KR" altLang="en-US" sz="70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16000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70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…</a:t>
                      </a:r>
                      <a:endParaRPr lang="ko-KR" altLang="en-US" sz="70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80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51" name="모서리가 둥근 직사각형 50"/>
          <p:cNvSpPr/>
          <p:nvPr/>
        </p:nvSpPr>
        <p:spPr>
          <a:xfrm>
            <a:off x="1223906" y="4481710"/>
            <a:ext cx="540000" cy="1294349"/>
          </a:xfrm>
          <a:prstGeom prst="roundRect">
            <a:avLst>
              <a:gd name="adj" fmla="val 3689"/>
            </a:avLst>
          </a:prstGeom>
          <a:solidFill>
            <a:schemeClr val="accent4">
              <a:alpha val="20000"/>
            </a:schemeClr>
          </a:solidFill>
          <a:ln w="317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 b="1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20" name="꺾인 연결선 19"/>
          <p:cNvCxnSpPr>
            <a:stCxn id="23" idx="3"/>
            <a:endCxn id="79" idx="1"/>
          </p:cNvCxnSpPr>
          <p:nvPr/>
        </p:nvCxnSpPr>
        <p:spPr>
          <a:xfrm>
            <a:off x="1763906" y="2716303"/>
            <a:ext cx="1259999" cy="851612"/>
          </a:xfrm>
          <a:prstGeom prst="bentConnector3">
            <a:avLst/>
          </a:prstGeom>
          <a:ln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꺾인 연결선 54"/>
          <p:cNvCxnSpPr>
            <a:stCxn id="51" idx="3"/>
            <a:endCxn id="79" idx="1"/>
          </p:cNvCxnSpPr>
          <p:nvPr/>
        </p:nvCxnSpPr>
        <p:spPr>
          <a:xfrm flipV="1">
            <a:off x="1763906" y="3567915"/>
            <a:ext cx="1259999" cy="1560970"/>
          </a:xfrm>
          <a:prstGeom prst="bentConnector3">
            <a:avLst/>
          </a:prstGeom>
          <a:ln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8" name="표 5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35005483"/>
              </p:ext>
            </p:extLst>
          </p:nvPr>
        </p:nvGraphicFramePr>
        <p:xfrm>
          <a:off x="5904543" y="1961695"/>
          <a:ext cx="1440000" cy="2338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00000"/>
                <a:gridCol w="540000"/>
              </a:tblGrid>
              <a:tr h="0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700" smtClean="0">
                          <a:latin typeface="맑은 고딕" panose="020B0503020000020004" pitchFamily="50" charset="-127"/>
                          <a:ea typeface="+mn-ea"/>
                        </a:rPr>
                        <a:t>STB_STOCK_RES_BASE</a:t>
                      </a:r>
                      <a:endParaRPr lang="ko-KR" altLang="en-US" sz="700"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80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매장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재고</a:t>
                      </a:r>
                      <a:endParaRPr lang="ko-KR" altLang="en-US" sz="70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현대백화점 신사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</a:t>
                      </a:r>
                      <a:endParaRPr lang="ko-KR" altLang="en-US" sz="70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갤러리아 압구정</a:t>
                      </a:r>
                      <a:endParaRPr lang="ko-KR" altLang="en-US" sz="70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</a:t>
                      </a:r>
                      <a:endParaRPr lang="ko-KR" altLang="en-US" sz="70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롯데백화점 본점</a:t>
                      </a:r>
                      <a:endParaRPr lang="ko-KR" altLang="en-US" sz="70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</a:t>
                      </a:r>
                      <a:endParaRPr lang="ko-KR" altLang="en-US" sz="70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신세계백화점 강남</a:t>
                      </a:r>
                      <a:endParaRPr lang="ko-KR" altLang="en-US" sz="70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</a:t>
                      </a:r>
                      <a:endParaRPr lang="ko-KR" altLang="en-US" sz="70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16000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70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…</a:t>
                      </a:r>
                      <a:endParaRPr lang="ko-KR" altLang="en-US" sz="70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80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marL="0" marR="0" lvl="0" indent="0" algn="ctr" defTabSz="9121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smtClean="0">
                          <a:latin typeface="맑은 고딕" panose="020B0503020000020004" pitchFamily="50" charset="-127"/>
                          <a:ea typeface="+mn-ea"/>
                        </a:rPr>
                        <a:t>안산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</a:t>
                      </a:r>
                      <a:endParaRPr lang="ko-KR" altLang="en-US" sz="70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안산 쇼핑몰 가용</a:t>
                      </a:r>
                      <a:endParaRPr lang="ko-KR" altLang="en-US" sz="70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</a:t>
                      </a:r>
                      <a:endParaRPr lang="ko-KR" altLang="en-US" sz="70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smtClean="0">
                          <a:latin typeface="맑은 고딕" panose="020B0503020000020004" pitchFamily="50" charset="-127"/>
                          <a:ea typeface="+mn-ea"/>
                        </a:rPr>
                        <a:t>이동중 재고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</a:t>
                      </a:r>
                      <a:endParaRPr lang="ko-KR" altLang="en-US" sz="70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smtClean="0">
                          <a:latin typeface="맑은 고딕" panose="020B0503020000020004" pitchFamily="50" charset="-127"/>
                          <a:ea typeface="+mn-ea"/>
                        </a:rPr>
                        <a:t>안산 쇼핑몰 반품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  <a:endParaRPr lang="ko-KR" altLang="en-US" sz="70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9" name="표 5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05149249"/>
              </p:ext>
            </p:extLst>
          </p:nvPr>
        </p:nvGraphicFramePr>
        <p:xfrm>
          <a:off x="5904543" y="4661969"/>
          <a:ext cx="1440000" cy="1258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00000"/>
                <a:gridCol w="540000"/>
              </a:tblGrid>
              <a:tr h="0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700" smtClean="0">
                          <a:latin typeface="맑은 고딕" panose="020B0503020000020004" pitchFamily="50" charset="-127"/>
                          <a:ea typeface="+mn-ea"/>
                        </a:rPr>
                        <a:t>STB_DELIVERY_LOC</a:t>
                      </a:r>
                      <a:endParaRPr lang="ko-KR" altLang="en-US" sz="700"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anchor="ctr"/>
                </a:tc>
              </a:tr>
              <a:tr h="2160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매장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매장구분</a:t>
                      </a:r>
                      <a:endParaRPr lang="ko-KR" altLang="en-US" sz="70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현대백화점 신사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비직송</a:t>
                      </a:r>
                      <a:endParaRPr lang="ko-KR" altLang="en-US" sz="70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갤러리아 압구정</a:t>
                      </a:r>
                      <a:endParaRPr lang="ko-KR" altLang="en-US" sz="70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비직송</a:t>
                      </a:r>
                      <a:endParaRPr lang="ko-KR" altLang="en-US" sz="70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롯데백화점 본점</a:t>
                      </a:r>
                      <a:endParaRPr lang="ko-KR" altLang="en-US" sz="70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smtClean="0">
                          <a:latin typeface="맑은 고딕" panose="020B0503020000020004" pitchFamily="50" charset="-127"/>
                          <a:ea typeface="+mn-ea"/>
                        </a:rPr>
                        <a:t>비직송</a:t>
                      </a:r>
                      <a:endParaRPr lang="ko-KR" altLang="en-US" sz="70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신세계백화점 강남</a:t>
                      </a:r>
                      <a:endParaRPr lang="ko-KR" altLang="en-US" sz="70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비직송</a:t>
                      </a:r>
                      <a:endParaRPr lang="ko-KR" altLang="en-US" sz="70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2" name="표 6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5372116"/>
              </p:ext>
            </p:extLst>
          </p:nvPr>
        </p:nvGraphicFramePr>
        <p:xfrm>
          <a:off x="8424543" y="3260056"/>
          <a:ext cx="1080000" cy="172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0000"/>
                <a:gridCol w="540000"/>
              </a:tblGrid>
              <a:tr h="216000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700" smtClean="0">
                          <a:latin typeface="맑은 고딕" panose="020B0503020000020004" pitchFamily="50" charset="-127"/>
                          <a:ea typeface="+mn-ea"/>
                        </a:rPr>
                        <a:t>STB_ORDER_PROD</a:t>
                      </a:r>
                      <a:endParaRPr lang="ko-KR" altLang="en-US" sz="700"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80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주문번호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smtClean="0">
                          <a:latin typeface="맑은 고딕" panose="020B0503020000020004" pitchFamily="50" charset="-127"/>
                          <a:ea typeface="+mn-ea"/>
                        </a:rPr>
                        <a:t>123456789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상품코드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ABCD9876</a:t>
                      </a:r>
                      <a:endParaRPr lang="ko-KR" altLang="en-US" sz="70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사이즈코드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100</a:t>
                      </a:r>
                      <a:endParaRPr lang="ko-KR" altLang="en-US" sz="70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주문수량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endParaRPr lang="ko-KR" altLang="en-US" sz="70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주문금액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123,400</a:t>
                      </a:r>
                      <a:endParaRPr lang="ko-KR" altLang="en-US" sz="70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16000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70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…</a:t>
                      </a:r>
                      <a:endParaRPr lang="ko-KR" altLang="en-US" sz="700" smtClean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70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재고구분</a:t>
                      </a:r>
                      <a:endParaRPr lang="en-US" altLang="ko-KR" sz="700" smtClean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40</a:t>
                      </a:r>
                      <a:endParaRPr lang="ko-KR" altLang="en-US" sz="70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67" name="모서리가 둥근 직사각형 66"/>
          <p:cNvSpPr/>
          <p:nvPr/>
        </p:nvSpPr>
        <p:spPr>
          <a:xfrm>
            <a:off x="6804543" y="2353917"/>
            <a:ext cx="540000" cy="864000"/>
          </a:xfrm>
          <a:prstGeom prst="roundRect">
            <a:avLst>
              <a:gd name="adj" fmla="val 3689"/>
            </a:avLst>
          </a:prstGeom>
          <a:solidFill>
            <a:schemeClr val="accent4">
              <a:alpha val="20000"/>
            </a:schemeClr>
          </a:solidFill>
          <a:ln w="317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 b="1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68" name="꺾인 연결선 67"/>
          <p:cNvCxnSpPr>
            <a:stCxn id="67" idx="3"/>
            <a:endCxn id="57" idx="1"/>
          </p:cNvCxnSpPr>
          <p:nvPr/>
        </p:nvCxnSpPr>
        <p:spPr>
          <a:xfrm>
            <a:off x="7344543" y="2785917"/>
            <a:ext cx="1080000" cy="147778"/>
          </a:xfrm>
          <a:prstGeom prst="bentConnector3">
            <a:avLst>
              <a:gd name="adj1" fmla="val 50000"/>
            </a:avLst>
          </a:prstGeom>
          <a:ln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2003550" y="3242010"/>
            <a:ext cx="792000" cy="216000"/>
          </a:xfrm>
          <a:prstGeom prst="homePlate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ko-KR" altLang="en-US" sz="7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특정 재고 </a:t>
            </a:r>
            <a:r>
              <a:rPr lang="en-US" altLang="ko-KR" sz="7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</a:t>
            </a:r>
            <a:r>
              <a:rPr lang="en-US" altLang="ko-KR" sz="7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OCK</a:t>
            </a:r>
            <a:endParaRPr lang="ko-KR" altLang="en-US" sz="7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9" name="모서리가 둥근 직사각형 98"/>
          <p:cNvSpPr/>
          <p:nvPr/>
        </p:nvSpPr>
        <p:spPr>
          <a:xfrm>
            <a:off x="3922594" y="2577990"/>
            <a:ext cx="540000" cy="2159265"/>
          </a:xfrm>
          <a:prstGeom prst="roundRect">
            <a:avLst>
              <a:gd name="adj" fmla="val 3689"/>
            </a:avLst>
          </a:prstGeom>
          <a:solidFill>
            <a:schemeClr val="accent5">
              <a:alpha val="20000"/>
            </a:schemeClr>
          </a:solidFill>
          <a:ln w="3175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 b="1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0" name="모서리가 둥근 직사각형 99"/>
          <p:cNvSpPr/>
          <p:nvPr/>
        </p:nvSpPr>
        <p:spPr>
          <a:xfrm>
            <a:off x="6804543" y="5056649"/>
            <a:ext cx="540000" cy="864000"/>
          </a:xfrm>
          <a:prstGeom prst="roundRect">
            <a:avLst>
              <a:gd name="adj" fmla="val 3689"/>
            </a:avLst>
          </a:prstGeom>
          <a:solidFill>
            <a:schemeClr val="accent5">
              <a:alpha val="20000"/>
            </a:schemeClr>
          </a:solidFill>
          <a:ln w="3175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 b="1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95" name="직선 화살표 연결선 94"/>
          <p:cNvCxnSpPr>
            <a:stCxn id="67" idx="2"/>
            <a:endCxn id="100" idx="0"/>
          </p:cNvCxnSpPr>
          <p:nvPr/>
        </p:nvCxnSpPr>
        <p:spPr>
          <a:xfrm>
            <a:off x="7074543" y="3217917"/>
            <a:ext cx="0" cy="1838732"/>
          </a:xfrm>
          <a:prstGeom prst="straightConnector1">
            <a:avLst/>
          </a:prstGeom>
          <a:ln>
            <a:solidFill>
              <a:schemeClr val="accent2"/>
            </a:solidFill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4" name="그룹 103"/>
          <p:cNvGrpSpPr/>
          <p:nvPr/>
        </p:nvGrpSpPr>
        <p:grpSpPr>
          <a:xfrm>
            <a:off x="9864543" y="3636726"/>
            <a:ext cx="360000" cy="763513"/>
            <a:chOff x="10644488" y="3113610"/>
            <a:chExt cx="360000" cy="763513"/>
          </a:xfrm>
        </p:grpSpPr>
        <p:sp>
          <p:nvSpPr>
            <p:cNvPr id="94" name="TextBox 93"/>
            <p:cNvSpPr txBox="1"/>
            <p:nvPr/>
          </p:nvSpPr>
          <p:spPr>
            <a:xfrm>
              <a:off x="10664188" y="3754012"/>
              <a:ext cx="320601" cy="123111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algn="ctr"/>
              <a:r>
                <a:rPr lang="en-US" altLang="ko-KR" sz="80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BATCH</a:t>
              </a:r>
              <a:endParaRPr lang="en-US" altLang="ko-KR" sz="8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97" name="Satellite Dish"/>
            <p:cNvSpPr>
              <a:spLocks noChangeAspect="1" noEditPoints="1"/>
            </p:cNvSpPr>
            <p:nvPr/>
          </p:nvSpPr>
          <p:spPr bwMode="auto">
            <a:xfrm>
              <a:off x="10660369" y="3365567"/>
              <a:ext cx="328238" cy="360000"/>
            </a:xfrm>
            <a:custGeom>
              <a:avLst/>
              <a:gdLst>
                <a:gd name="T0" fmla="*/ 358 w 605"/>
                <a:gd name="T1" fmla="*/ 27 h 667"/>
                <a:gd name="T2" fmla="*/ 605 w 605"/>
                <a:gd name="T3" fmla="*/ 247 h 667"/>
                <a:gd name="T4" fmla="*/ 358 w 605"/>
                <a:gd name="T5" fmla="*/ 92 h 667"/>
                <a:gd name="T6" fmla="*/ 483 w 605"/>
                <a:gd name="T7" fmla="*/ 247 h 667"/>
                <a:gd name="T8" fmla="*/ 358 w 605"/>
                <a:gd name="T9" fmla="*/ 92 h 667"/>
                <a:gd name="T10" fmla="*/ 126 w 605"/>
                <a:gd name="T11" fmla="*/ 108 h 667"/>
                <a:gd name="T12" fmla="*/ 6 w 605"/>
                <a:gd name="T13" fmla="*/ 281 h 667"/>
                <a:gd name="T14" fmla="*/ 5 w 605"/>
                <a:gd name="T15" fmla="*/ 654 h 667"/>
                <a:gd name="T16" fmla="*/ 338 w 605"/>
                <a:gd name="T17" fmla="*/ 667 h 667"/>
                <a:gd name="T18" fmla="*/ 337 w 605"/>
                <a:gd name="T19" fmla="*/ 582 h 667"/>
                <a:gd name="T20" fmla="*/ 479 w 605"/>
                <a:gd name="T21" fmla="*/ 410 h 667"/>
                <a:gd name="T22" fmla="*/ 418 w 605"/>
                <a:gd name="T23" fmla="*/ 247 h 667"/>
                <a:gd name="T24" fmla="*/ 330 w 605"/>
                <a:gd name="T25" fmla="*/ 194 h 667"/>
                <a:gd name="T26" fmla="*/ 141 w 605"/>
                <a:gd name="T27" fmla="*/ 107 h 667"/>
                <a:gd name="T28" fmla="*/ 183 w 605"/>
                <a:gd name="T29" fmla="*/ 140 h 667"/>
                <a:gd name="T30" fmla="*/ 298 w 605"/>
                <a:gd name="T31" fmla="*/ 247 h 667"/>
                <a:gd name="T32" fmla="*/ 222 w 605"/>
                <a:gd name="T33" fmla="*/ 293 h 667"/>
                <a:gd name="T34" fmla="*/ 320 w 605"/>
                <a:gd name="T35" fmla="*/ 292 h 667"/>
                <a:gd name="T36" fmla="*/ 325 w 605"/>
                <a:gd name="T37" fmla="*/ 377 h 667"/>
                <a:gd name="T38" fmla="*/ 358 w 605"/>
                <a:gd name="T39" fmla="*/ 307 h 667"/>
                <a:gd name="T40" fmla="*/ 453 w 605"/>
                <a:gd name="T41" fmla="*/ 417 h 667"/>
                <a:gd name="T42" fmla="*/ 340 w 605"/>
                <a:gd name="T43" fmla="*/ 507 h 667"/>
                <a:gd name="T44" fmla="*/ 90 w 605"/>
                <a:gd name="T45" fmla="*/ 253 h 667"/>
                <a:gd name="T46" fmla="*/ 142 w 605"/>
                <a:gd name="T47" fmla="*/ 134 h 667"/>
                <a:gd name="T48" fmla="*/ 65 w 605"/>
                <a:gd name="T49" fmla="*/ 262 h 667"/>
                <a:gd name="T50" fmla="*/ 331 w 605"/>
                <a:gd name="T51" fmla="*/ 532 h 667"/>
                <a:gd name="T52" fmla="*/ 306 w 605"/>
                <a:gd name="T53" fmla="*/ 560 h 667"/>
                <a:gd name="T54" fmla="*/ 33 w 605"/>
                <a:gd name="T55" fmla="*/ 284 h 667"/>
                <a:gd name="T56" fmla="*/ 358 w 605"/>
                <a:gd name="T57" fmla="*/ 214 h 667"/>
                <a:gd name="T58" fmla="*/ 358 w 605"/>
                <a:gd name="T59" fmla="*/ 280 h 667"/>
                <a:gd name="T60" fmla="*/ 325 w 605"/>
                <a:gd name="T61" fmla="*/ 247 h 667"/>
                <a:gd name="T62" fmla="*/ 94 w 605"/>
                <a:gd name="T63" fmla="*/ 503 h 667"/>
                <a:gd name="T64" fmla="*/ 322 w 605"/>
                <a:gd name="T65" fmla="*/ 640 h 667"/>
                <a:gd name="T66" fmla="*/ 94 w 605"/>
                <a:gd name="T67" fmla="*/ 503 h 6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605" h="667">
                  <a:moveTo>
                    <a:pt x="358" y="0"/>
                  </a:moveTo>
                  <a:cubicBezTo>
                    <a:pt x="340" y="0"/>
                    <a:pt x="340" y="27"/>
                    <a:pt x="358" y="27"/>
                  </a:cubicBezTo>
                  <a:cubicBezTo>
                    <a:pt x="480" y="27"/>
                    <a:pt x="578" y="125"/>
                    <a:pt x="578" y="247"/>
                  </a:cubicBezTo>
                  <a:cubicBezTo>
                    <a:pt x="578" y="265"/>
                    <a:pt x="605" y="265"/>
                    <a:pt x="605" y="247"/>
                  </a:cubicBezTo>
                  <a:cubicBezTo>
                    <a:pt x="605" y="111"/>
                    <a:pt x="495" y="0"/>
                    <a:pt x="358" y="0"/>
                  </a:cubicBezTo>
                  <a:close/>
                  <a:moveTo>
                    <a:pt x="358" y="92"/>
                  </a:moveTo>
                  <a:cubicBezTo>
                    <a:pt x="337" y="91"/>
                    <a:pt x="337" y="123"/>
                    <a:pt x="358" y="123"/>
                  </a:cubicBezTo>
                  <a:cubicBezTo>
                    <a:pt x="427" y="123"/>
                    <a:pt x="483" y="178"/>
                    <a:pt x="483" y="247"/>
                  </a:cubicBezTo>
                  <a:cubicBezTo>
                    <a:pt x="482" y="269"/>
                    <a:pt x="515" y="269"/>
                    <a:pt x="514" y="247"/>
                  </a:cubicBezTo>
                  <a:cubicBezTo>
                    <a:pt x="514" y="161"/>
                    <a:pt x="444" y="92"/>
                    <a:pt x="358" y="92"/>
                  </a:cubicBezTo>
                  <a:close/>
                  <a:moveTo>
                    <a:pt x="141" y="107"/>
                  </a:moveTo>
                  <a:cubicBezTo>
                    <a:pt x="136" y="107"/>
                    <a:pt x="131" y="107"/>
                    <a:pt x="126" y="108"/>
                  </a:cubicBezTo>
                  <a:cubicBezTo>
                    <a:pt x="104" y="113"/>
                    <a:pt x="87" y="121"/>
                    <a:pt x="73" y="134"/>
                  </a:cubicBezTo>
                  <a:cubicBezTo>
                    <a:pt x="46" y="162"/>
                    <a:pt x="14" y="215"/>
                    <a:pt x="6" y="281"/>
                  </a:cubicBezTo>
                  <a:cubicBezTo>
                    <a:pt x="0" y="342"/>
                    <a:pt x="16" y="414"/>
                    <a:pt x="76" y="483"/>
                  </a:cubicBezTo>
                  <a:cubicBezTo>
                    <a:pt x="33" y="534"/>
                    <a:pt x="5" y="604"/>
                    <a:pt x="5" y="654"/>
                  </a:cubicBezTo>
                  <a:cubicBezTo>
                    <a:pt x="5" y="661"/>
                    <a:pt x="11" y="667"/>
                    <a:pt x="18" y="667"/>
                  </a:cubicBezTo>
                  <a:lnTo>
                    <a:pt x="338" y="667"/>
                  </a:lnTo>
                  <a:cubicBezTo>
                    <a:pt x="346" y="667"/>
                    <a:pt x="352" y="661"/>
                    <a:pt x="352" y="654"/>
                  </a:cubicBezTo>
                  <a:cubicBezTo>
                    <a:pt x="352" y="632"/>
                    <a:pt x="346" y="608"/>
                    <a:pt x="337" y="582"/>
                  </a:cubicBezTo>
                  <a:cubicBezTo>
                    <a:pt x="391" y="572"/>
                    <a:pt x="434" y="548"/>
                    <a:pt x="459" y="523"/>
                  </a:cubicBezTo>
                  <a:cubicBezTo>
                    <a:pt x="487" y="496"/>
                    <a:pt x="487" y="445"/>
                    <a:pt x="479" y="410"/>
                  </a:cubicBezTo>
                  <a:cubicBezTo>
                    <a:pt x="469" y="369"/>
                    <a:pt x="445" y="323"/>
                    <a:pt x="410" y="277"/>
                  </a:cubicBezTo>
                  <a:cubicBezTo>
                    <a:pt x="415" y="269"/>
                    <a:pt x="418" y="258"/>
                    <a:pt x="418" y="247"/>
                  </a:cubicBezTo>
                  <a:cubicBezTo>
                    <a:pt x="418" y="214"/>
                    <a:pt x="391" y="187"/>
                    <a:pt x="358" y="187"/>
                  </a:cubicBezTo>
                  <a:cubicBezTo>
                    <a:pt x="348" y="187"/>
                    <a:pt x="339" y="190"/>
                    <a:pt x="330" y="194"/>
                  </a:cubicBezTo>
                  <a:cubicBezTo>
                    <a:pt x="283" y="155"/>
                    <a:pt x="234" y="127"/>
                    <a:pt x="190" y="114"/>
                  </a:cubicBezTo>
                  <a:cubicBezTo>
                    <a:pt x="173" y="110"/>
                    <a:pt x="157" y="107"/>
                    <a:pt x="141" y="107"/>
                  </a:cubicBezTo>
                  <a:close/>
                  <a:moveTo>
                    <a:pt x="142" y="134"/>
                  </a:moveTo>
                  <a:cubicBezTo>
                    <a:pt x="154" y="134"/>
                    <a:pt x="168" y="136"/>
                    <a:pt x="183" y="140"/>
                  </a:cubicBezTo>
                  <a:cubicBezTo>
                    <a:pt x="221" y="151"/>
                    <a:pt x="266" y="176"/>
                    <a:pt x="310" y="212"/>
                  </a:cubicBezTo>
                  <a:cubicBezTo>
                    <a:pt x="303" y="222"/>
                    <a:pt x="298" y="234"/>
                    <a:pt x="298" y="247"/>
                  </a:cubicBezTo>
                  <a:cubicBezTo>
                    <a:pt x="271" y="254"/>
                    <a:pt x="243" y="261"/>
                    <a:pt x="215" y="267"/>
                  </a:cubicBezTo>
                  <a:cubicBezTo>
                    <a:pt x="197" y="271"/>
                    <a:pt x="204" y="299"/>
                    <a:pt x="222" y="293"/>
                  </a:cubicBezTo>
                  <a:lnTo>
                    <a:pt x="305" y="273"/>
                  </a:lnTo>
                  <a:cubicBezTo>
                    <a:pt x="308" y="281"/>
                    <a:pt x="313" y="287"/>
                    <a:pt x="320" y="292"/>
                  </a:cubicBezTo>
                  <a:lnTo>
                    <a:pt x="299" y="370"/>
                  </a:lnTo>
                  <a:cubicBezTo>
                    <a:pt x="294" y="388"/>
                    <a:pt x="320" y="394"/>
                    <a:pt x="325" y="377"/>
                  </a:cubicBezTo>
                  <a:lnTo>
                    <a:pt x="344" y="305"/>
                  </a:lnTo>
                  <a:cubicBezTo>
                    <a:pt x="348" y="306"/>
                    <a:pt x="353" y="307"/>
                    <a:pt x="358" y="307"/>
                  </a:cubicBezTo>
                  <a:cubicBezTo>
                    <a:pt x="370" y="307"/>
                    <a:pt x="382" y="303"/>
                    <a:pt x="391" y="297"/>
                  </a:cubicBezTo>
                  <a:cubicBezTo>
                    <a:pt x="423" y="339"/>
                    <a:pt x="444" y="381"/>
                    <a:pt x="453" y="417"/>
                  </a:cubicBezTo>
                  <a:cubicBezTo>
                    <a:pt x="463" y="456"/>
                    <a:pt x="459" y="485"/>
                    <a:pt x="442" y="502"/>
                  </a:cubicBezTo>
                  <a:cubicBezTo>
                    <a:pt x="423" y="521"/>
                    <a:pt x="387" y="524"/>
                    <a:pt x="340" y="507"/>
                  </a:cubicBezTo>
                  <a:cubicBezTo>
                    <a:pt x="294" y="491"/>
                    <a:pt x="239" y="455"/>
                    <a:pt x="190" y="405"/>
                  </a:cubicBezTo>
                  <a:cubicBezTo>
                    <a:pt x="141" y="355"/>
                    <a:pt x="106" y="300"/>
                    <a:pt x="90" y="253"/>
                  </a:cubicBezTo>
                  <a:cubicBezTo>
                    <a:pt x="73" y="206"/>
                    <a:pt x="76" y="169"/>
                    <a:pt x="95" y="150"/>
                  </a:cubicBezTo>
                  <a:cubicBezTo>
                    <a:pt x="106" y="139"/>
                    <a:pt x="122" y="134"/>
                    <a:pt x="142" y="134"/>
                  </a:cubicBezTo>
                  <a:close/>
                  <a:moveTo>
                    <a:pt x="53" y="212"/>
                  </a:moveTo>
                  <a:cubicBezTo>
                    <a:pt x="55" y="228"/>
                    <a:pt x="59" y="245"/>
                    <a:pt x="65" y="262"/>
                  </a:cubicBezTo>
                  <a:cubicBezTo>
                    <a:pt x="83" y="314"/>
                    <a:pt x="119" y="372"/>
                    <a:pt x="171" y="424"/>
                  </a:cubicBezTo>
                  <a:cubicBezTo>
                    <a:pt x="223" y="476"/>
                    <a:pt x="280" y="514"/>
                    <a:pt x="331" y="532"/>
                  </a:cubicBezTo>
                  <a:cubicBezTo>
                    <a:pt x="347" y="538"/>
                    <a:pt x="362" y="541"/>
                    <a:pt x="376" y="543"/>
                  </a:cubicBezTo>
                  <a:cubicBezTo>
                    <a:pt x="355" y="551"/>
                    <a:pt x="331" y="557"/>
                    <a:pt x="306" y="560"/>
                  </a:cubicBezTo>
                  <a:cubicBezTo>
                    <a:pt x="246" y="565"/>
                    <a:pt x="176" y="548"/>
                    <a:pt x="112" y="484"/>
                  </a:cubicBezTo>
                  <a:cubicBezTo>
                    <a:pt x="42" y="413"/>
                    <a:pt x="27" y="343"/>
                    <a:pt x="33" y="284"/>
                  </a:cubicBezTo>
                  <a:cubicBezTo>
                    <a:pt x="36" y="257"/>
                    <a:pt x="44" y="233"/>
                    <a:pt x="53" y="212"/>
                  </a:cubicBezTo>
                  <a:close/>
                  <a:moveTo>
                    <a:pt x="358" y="214"/>
                  </a:moveTo>
                  <a:cubicBezTo>
                    <a:pt x="377" y="214"/>
                    <a:pt x="392" y="229"/>
                    <a:pt x="392" y="247"/>
                  </a:cubicBezTo>
                  <a:cubicBezTo>
                    <a:pt x="392" y="266"/>
                    <a:pt x="377" y="280"/>
                    <a:pt x="358" y="280"/>
                  </a:cubicBezTo>
                  <a:cubicBezTo>
                    <a:pt x="350" y="280"/>
                    <a:pt x="345" y="277"/>
                    <a:pt x="339" y="274"/>
                  </a:cubicBezTo>
                  <a:cubicBezTo>
                    <a:pt x="330" y="268"/>
                    <a:pt x="325" y="258"/>
                    <a:pt x="325" y="247"/>
                  </a:cubicBezTo>
                  <a:cubicBezTo>
                    <a:pt x="325" y="229"/>
                    <a:pt x="340" y="214"/>
                    <a:pt x="358" y="214"/>
                  </a:cubicBezTo>
                  <a:close/>
                  <a:moveTo>
                    <a:pt x="94" y="503"/>
                  </a:moveTo>
                  <a:cubicBezTo>
                    <a:pt x="144" y="551"/>
                    <a:pt x="222" y="590"/>
                    <a:pt x="310" y="586"/>
                  </a:cubicBezTo>
                  <a:cubicBezTo>
                    <a:pt x="317" y="604"/>
                    <a:pt x="320" y="624"/>
                    <a:pt x="322" y="640"/>
                  </a:cubicBezTo>
                  <a:lnTo>
                    <a:pt x="34" y="640"/>
                  </a:lnTo>
                  <a:cubicBezTo>
                    <a:pt x="38" y="601"/>
                    <a:pt x="60" y="544"/>
                    <a:pt x="94" y="503"/>
                  </a:cubicBezTo>
                  <a:close/>
                </a:path>
              </a:pathLst>
            </a:custGeom>
            <a:solidFill>
              <a:srgbClr val="5F5F5F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14" name="TextBox 113"/>
            <p:cNvSpPr txBox="1"/>
            <p:nvPr/>
          </p:nvSpPr>
          <p:spPr>
            <a:xfrm>
              <a:off x="10644488" y="3113610"/>
              <a:ext cx="360000" cy="180000"/>
            </a:xfrm>
            <a:prstGeom prst="rightArrow">
              <a:avLst/>
            </a:prstGeom>
            <a:solidFill>
              <a:schemeClr val="accent2">
                <a:lumMod val="20000"/>
                <a:lumOff val="80000"/>
              </a:schemeClr>
            </a:solidFill>
          </p:spPr>
          <p:txBody>
            <a:bodyPr wrap="none" lIns="0" tIns="0" rIns="0" bIns="0" rtlCol="0" anchor="ctr">
              <a:noAutofit/>
            </a:bodyPr>
            <a:lstStyle/>
            <a:p>
              <a:pPr algn="ctr"/>
              <a:endParaRPr lang="ko-KR" altLang="en-US" sz="7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sp>
        <p:nvSpPr>
          <p:cNvPr id="119" name="모서리가 둥근 직사각형 118"/>
          <p:cNvSpPr/>
          <p:nvPr/>
        </p:nvSpPr>
        <p:spPr>
          <a:xfrm>
            <a:off x="8424543" y="4772056"/>
            <a:ext cx="1080000" cy="216000"/>
          </a:xfrm>
          <a:prstGeom prst="roundRect">
            <a:avLst>
              <a:gd name="adj" fmla="val 3689"/>
            </a:avLst>
          </a:prstGeom>
          <a:solidFill>
            <a:schemeClr val="accent2">
              <a:alpha val="20000"/>
            </a:schemeClr>
          </a:solidFill>
          <a:ln w="317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 b="1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122" name="표 12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79224216"/>
              </p:ext>
            </p:extLst>
          </p:nvPr>
        </p:nvGraphicFramePr>
        <p:xfrm>
          <a:off x="10584542" y="3260056"/>
          <a:ext cx="1080000" cy="172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0000"/>
                <a:gridCol w="540000"/>
              </a:tblGrid>
              <a:tr h="216000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700" smtClean="0">
                          <a:latin typeface="맑은 고딕" panose="020B0503020000020004" pitchFamily="50" charset="-127"/>
                          <a:ea typeface="+mn-ea"/>
                        </a:rPr>
                        <a:t>OMS DB</a:t>
                      </a:r>
                      <a:endParaRPr lang="ko-KR" altLang="en-US" sz="700"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80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주문번호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smtClean="0">
                          <a:latin typeface="맑은 고딕" panose="020B0503020000020004" pitchFamily="50" charset="-127"/>
                          <a:ea typeface="+mn-ea"/>
                        </a:rPr>
                        <a:t>123456789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상품코드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ABCD9876</a:t>
                      </a:r>
                      <a:endParaRPr lang="ko-KR" altLang="en-US" sz="70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사이즈코드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100</a:t>
                      </a:r>
                      <a:endParaRPr lang="ko-KR" altLang="en-US" sz="70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주문수량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endParaRPr lang="ko-KR" altLang="en-US" sz="70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주문금액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123,400</a:t>
                      </a:r>
                      <a:endParaRPr lang="ko-KR" altLang="en-US" sz="70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16000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70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…</a:t>
                      </a:r>
                      <a:endParaRPr lang="ko-KR" altLang="en-US" sz="700" smtClean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70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재고구분</a:t>
                      </a:r>
                      <a:endParaRPr lang="en-US" altLang="ko-KR" sz="700" smtClean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40</a:t>
                      </a:r>
                      <a:endParaRPr lang="ko-KR" altLang="en-US" sz="70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123" name="모서리가 둥근 직사각형 122"/>
          <p:cNvSpPr/>
          <p:nvPr/>
        </p:nvSpPr>
        <p:spPr>
          <a:xfrm>
            <a:off x="10584542" y="4772056"/>
            <a:ext cx="1080000" cy="216000"/>
          </a:xfrm>
          <a:prstGeom prst="roundRect">
            <a:avLst>
              <a:gd name="adj" fmla="val 3689"/>
            </a:avLst>
          </a:prstGeom>
          <a:solidFill>
            <a:schemeClr val="accent2">
              <a:alpha val="20000"/>
            </a:schemeClr>
          </a:solidFill>
          <a:ln w="317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 b="1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24" name="육각형 123"/>
          <p:cNvSpPr/>
          <p:nvPr/>
        </p:nvSpPr>
        <p:spPr>
          <a:xfrm>
            <a:off x="10404542" y="1385711"/>
            <a:ext cx="1440000" cy="288000"/>
          </a:xfrm>
          <a:prstGeom prst="hexagon">
            <a:avLst/>
          </a:prstGeom>
          <a:solidFill>
            <a:schemeClr val="accent1">
              <a:lumMod val="50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OMS</a:t>
            </a:r>
            <a:endParaRPr lang="ko-KR" altLang="en-US" sz="1000" b="1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46" name="꺾인 연결선 45"/>
          <p:cNvCxnSpPr>
            <a:stCxn id="100" idx="3"/>
            <a:endCxn id="57" idx="1"/>
          </p:cNvCxnSpPr>
          <p:nvPr/>
        </p:nvCxnSpPr>
        <p:spPr>
          <a:xfrm flipV="1">
            <a:off x="7344543" y="2933695"/>
            <a:ext cx="1080000" cy="2554954"/>
          </a:xfrm>
          <a:prstGeom prst="bentConnector3">
            <a:avLst>
              <a:gd name="adj1" fmla="val 50000"/>
            </a:avLst>
          </a:prstGeom>
          <a:ln>
            <a:solidFill>
              <a:schemeClr val="accent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6" name="표 5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51140917"/>
              </p:ext>
            </p:extLst>
          </p:nvPr>
        </p:nvGraphicFramePr>
        <p:xfrm>
          <a:off x="8424543" y="1961695"/>
          <a:ext cx="1080000" cy="108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0000"/>
                <a:gridCol w="540000"/>
              </a:tblGrid>
              <a:tr h="216000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700" smtClean="0">
                          <a:latin typeface="맑은 고딕" panose="020B0503020000020004" pitchFamily="50" charset="-127"/>
                          <a:ea typeface="+mn-ea"/>
                        </a:rPr>
                        <a:t>STB_STOCK</a:t>
                      </a:r>
                      <a:endParaRPr lang="ko-KR" altLang="en-US" sz="700"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80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상품코드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ABCD9876</a:t>
                      </a:r>
                      <a:endParaRPr lang="ko-KR" altLang="en-US" sz="70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사이즈코드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100</a:t>
                      </a:r>
                      <a:endParaRPr lang="ko-KR" altLang="en-US" sz="70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재고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12</a:t>
                      </a:r>
                      <a:endParaRPr lang="ko-KR" altLang="en-US" sz="70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비직송재고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smtClean="0">
                          <a:solidFill>
                            <a:srgbClr val="C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  <a:endParaRPr lang="ko-KR" altLang="en-US" sz="700">
                        <a:solidFill>
                          <a:srgbClr val="C0000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57" name="모서리가 둥근 직사각형 56"/>
          <p:cNvSpPr/>
          <p:nvPr/>
        </p:nvSpPr>
        <p:spPr>
          <a:xfrm>
            <a:off x="8424543" y="2825695"/>
            <a:ext cx="1080000" cy="216000"/>
          </a:xfrm>
          <a:prstGeom prst="roundRect">
            <a:avLst>
              <a:gd name="adj" fmla="val 3689"/>
            </a:avLst>
          </a:prstGeom>
          <a:solidFill>
            <a:schemeClr val="accent2">
              <a:alpha val="20000"/>
            </a:schemeClr>
          </a:solidFill>
          <a:ln w="317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 b="1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63" name="직선 화살표 연결선 62"/>
          <p:cNvCxnSpPr>
            <a:stCxn id="56" idx="2"/>
            <a:endCxn id="119" idx="0"/>
          </p:cNvCxnSpPr>
          <p:nvPr/>
        </p:nvCxnSpPr>
        <p:spPr>
          <a:xfrm>
            <a:off x="8964543" y="3041695"/>
            <a:ext cx="0" cy="1730361"/>
          </a:xfrm>
          <a:prstGeom prst="straightConnector1">
            <a:avLst/>
          </a:prstGeom>
          <a:ln>
            <a:solidFill>
              <a:schemeClr val="accent2"/>
            </a:solidFill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구부러진 연결선 23"/>
          <p:cNvCxnSpPr>
            <a:stCxn id="119" idx="2"/>
            <a:endCxn id="88" idx="2"/>
          </p:cNvCxnSpPr>
          <p:nvPr/>
        </p:nvCxnSpPr>
        <p:spPr>
          <a:xfrm rot="5400000" flipH="1">
            <a:off x="6723823" y="2747337"/>
            <a:ext cx="250801" cy="4230638"/>
          </a:xfrm>
          <a:prstGeom prst="curvedConnector3">
            <a:avLst>
              <a:gd name="adj1" fmla="val -517814"/>
            </a:avLst>
          </a:prstGeom>
          <a:ln>
            <a:solidFill>
              <a:srgbClr val="CC99FF"/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6254092" y="6216476"/>
            <a:ext cx="1247705" cy="195814"/>
          </a:xfrm>
          <a:prstGeom prst="rect">
            <a:avLst/>
          </a:prstGeom>
          <a:solidFill>
            <a:srgbClr val="CCCCFF"/>
          </a:solidFill>
        </p:spPr>
        <p:txBody>
          <a:bodyPr wrap="none" lIns="36000" tIns="36000" rIns="36000" bIns="36000" rtlCol="0" anchor="ctr">
            <a:spAutoFit/>
          </a:bodyPr>
          <a:lstStyle/>
          <a:p>
            <a:r>
              <a:rPr lang="ko-KR" altLang="en-US" sz="8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비직송 실시간 재고 </a:t>
            </a:r>
            <a:r>
              <a:rPr lang="en-US" altLang="ko-KR" sz="8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(RFC)</a:t>
            </a:r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3" name="TextBox 82"/>
          <p:cNvSpPr txBox="1"/>
          <p:nvPr/>
        </p:nvSpPr>
        <p:spPr>
          <a:xfrm>
            <a:off x="2003550" y="3459915"/>
            <a:ext cx="792000" cy="216000"/>
          </a:xfrm>
          <a:prstGeom prst="homePlate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ko-KR" altLang="en-US" sz="7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비가용 </a:t>
            </a:r>
            <a:r>
              <a:rPr lang="en-US" altLang="ko-KR" sz="7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BIN </a:t>
            </a:r>
            <a:r>
              <a:rPr lang="ko-KR" altLang="en-US" sz="7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예외</a:t>
            </a:r>
            <a:endParaRPr lang="ko-KR" altLang="en-US" sz="7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5" name="TextBox 84"/>
          <p:cNvSpPr txBox="1"/>
          <p:nvPr/>
        </p:nvSpPr>
        <p:spPr>
          <a:xfrm>
            <a:off x="2003550" y="3679312"/>
            <a:ext cx="792000" cy="216000"/>
          </a:xfrm>
          <a:prstGeom prst="homePlate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altLang="ko-KR" sz="7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ZUSEYN=X </a:t>
            </a:r>
            <a:r>
              <a:rPr lang="ko-KR" altLang="en-US" sz="7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처리</a:t>
            </a:r>
            <a:endParaRPr lang="ko-KR" altLang="en-US" sz="7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0267726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모서리가 둥근 직사각형 1"/>
          <p:cNvSpPr/>
          <p:nvPr/>
        </p:nvSpPr>
        <p:spPr>
          <a:xfrm>
            <a:off x="323906" y="737711"/>
            <a:ext cx="2232000" cy="360000"/>
          </a:xfrm>
          <a:prstGeom prst="roundRect">
            <a:avLst/>
          </a:prstGeom>
          <a:solidFill>
            <a:schemeClr val="tx1">
              <a:lumMod val="65000"/>
              <a:lumOff val="35000"/>
            </a:schemeClr>
          </a:solidFill>
          <a:ln w="381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0" tIns="36000" rIns="36000" bIns="36000" rtlCol="0" anchor="ctr"/>
          <a:lstStyle/>
          <a:p>
            <a:r>
              <a:rPr lang="ko-KR" altLang="en-US" sz="900" b="1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현업 </a:t>
            </a:r>
            <a:r>
              <a:rPr lang="en-US" altLang="ko-KR" sz="900" b="1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(e-</a:t>
            </a:r>
            <a:r>
              <a:rPr lang="ko-KR" altLang="en-US" sz="900" b="1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영업</a:t>
            </a:r>
            <a:r>
              <a:rPr lang="en-US" altLang="ko-KR" sz="900" b="1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 </a:t>
            </a:r>
            <a:r>
              <a:rPr lang="ko-KR" altLang="en-US" sz="900" b="1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정책 결정 사항</a:t>
            </a:r>
            <a:endParaRPr lang="ko-KR" altLang="en-US" sz="900" b="1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42" name="TextBox 141">
            <a:extLst>
              <a:ext uri="{FF2B5EF4-FFF2-40B4-BE49-F238E27FC236}">
                <a16:creationId xmlns="" xmlns:a16="http://schemas.microsoft.com/office/drawing/2014/main" id="{C5E486F5-93A1-4316-A9AE-8F2FB1C3263A}"/>
              </a:ext>
            </a:extLst>
          </p:cNvPr>
          <p:cNvSpPr txBox="1"/>
          <p:nvPr/>
        </p:nvSpPr>
        <p:spPr>
          <a:xfrm>
            <a:off x="94" y="102705"/>
            <a:ext cx="1842721" cy="226591"/>
          </a:xfrm>
          <a:prstGeom prst="rect">
            <a:avLst/>
          </a:prstGeom>
          <a:noFill/>
        </p:spPr>
        <p:txBody>
          <a:bodyPr wrap="none" lIns="360000" tIns="36000" rIns="360000" bIns="36000" rtlCol="0" anchor="ctr">
            <a:spAutoFit/>
          </a:bodyPr>
          <a:lstStyle/>
          <a:p>
            <a:r>
              <a:rPr lang="ko-KR" altLang="en-US" sz="1000" b="1">
                <a:solidFill>
                  <a:schemeClr val="bg1"/>
                </a:solidFill>
                <a:latin typeface="맑은 고딕" panose="020B0503020000020004" pitchFamily="50" charset="-127"/>
              </a:rPr>
              <a:t>온오프 재고 효율화</a:t>
            </a:r>
            <a:endParaRPr lang="en-US" altLang="ko-KR" sz="1000" b="1">
              <a:solidFill>
                <a:schemeClr val="bg1"/>
              </a:solidFill>
              <a:latin typeface="맑은 고딕" panose="020B0503020000020004" pitchFamily="50" charset="-127"/>
            </a:endParaRPr>
          </a:p>
        </p:txBody>
      </p:sp>
      <p:sp>
        <p:nvSpPr>
          <p:cNvPr id="50" name="모서리가 둥근 직사각형 49"/>
          <p:cNvSpPr/>
          <p:nvPr/>
        </p:nvSpPr>
        <p:spPr>
          <a:xfrm>
            <a:off x="323905" y="1385711"/>
            <a:ext cx="2880000" cy="288000"/>
          </a:xfrm>
          <a:prstGeom prst="roundRect">
            <a:avLst>
              <a:gd name="adj" fmla="val 50000"/>
            </a:avLst>
          </a:prstGeom>
          <a:solidFill>
            <a:schemeClr val="accent1">
              <a:lumMod val="50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0" tIns="36000" rIns="36000" bIns="36000" rtlCol="0" anchor="ctr"/>
          <a:lstStyle/>
          <a:p>
            <a:r>
              <a:rPr lang="ko-KR" altLang="en-US" sz="800" b="1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대상 브랜드 </a:t>
            </a:r>
            <a:r>
              <a:rPr lang="en-US" altLang="ko-KR" sz="800" b="1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 </a:t>
            </a:r>
            <a:r>
              <a:rPr lang="ko-KR" altLang="en-US" sz="800" b="1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상품 관리 여부</a:t>
            </a:r>
            <a:endParaRPr lang="ko-KR" altLang="en-US" sz="800" b="1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타원 3"/>
          <p:cNvSpPr/>
          <p:nvPr/>
        </p:nvSpPr>
        <p:spPr>
          <a:xfrm>
            <a:off x="323905" y="1385711"/>
            <a:ext cx="288000" cy="288000"/>
          </a:xfrm>
          <a:prstGeom prst="ellipse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b="1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endParaRPr lang="ko-KR" altLang="en-US" sz="800" b="1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65281" y="2010676"/>
            <a:ext cx="3653812" cy="1003727"/>
          </a:xfrm>
          <a:prstGeom prst="rect">
            <a:avLst/>
          </a:prstGeom>
          <a:noFill/>
        </p:spPr>
        <p:txBody>
          <a:bodyPr wrap="none" lIns="36000" tIns="36000" rIns="36000" bIns="36000" rtlCol="0" anchor="ctr">
            <a:spAutoFit/>
          </a:bodyPr>
          <a:lstStyle/>
          <a:p>
            <a:r>
              <a:rPr lang="ko-KR" altLang="en-US" sz="8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온오프 재고 연동 대상 브랜드 </a:t>
            </a:r>
            <a:r>
              <a:rPr lang="en-US" altLang="ko-KR" sz="8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&amp; </a:t>
            </a:r>
            <a:r>
              <a:rPr lang="ko-KR" altLang="en-US" sz="8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상품이 자주 변경 될 경우</a:t>
            </a:r>
            <a:endParaRPr lang="en-US" altLang="ko-KR" sz="800" smtClean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900" b="1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NBOS </a:t>
            </a:r>
            <a:r>
              <a:rPr lang="ko-KR" altLang="en-US" sz="900" b="1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관리 기능 개발 필요 </a:t>
            </a:r>
            <a:r>
              <a:rPr lang="en-US" altLang="ko-KR" sz="900" b="1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900" b="1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브랜드</a:t>
            </a:r>
            <a:r>
              <a:rPr lang="en-US" altLang="ko-KR" sz="900" b="1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900" b="1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상품을 지정 </a:t>
            </a:r>
            <a:r>
              <a:rPr lang="en-US" altLang="ko-KR" sz="900" b="1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 </a:t>
            </a:r>
            <a:r>
              <a:rPr lang="ko-KR" altLang="en-US" sz="900" b="1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해제 해주는 기능</a:t>
            </a:r>
            <a:r>
              <a:rPr lang="en-US" altLang="ko-KR" sz="900" b="1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</a:p>
          <a:p>
            <a:pPr>
              <a:lnSpc>
                <a:spcPct val="150000"/>
              </a:lnSpc>
            </a:pPr>
            <a:endParaRPr lang="en-US" altLang="ko-KR" sz="900" b="1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8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온오프 재고 연동 대상 브랜드 </a:t>
            </a:r>
            <a:r>
              <a:rPr lang="en-US" altLang="ko-KR" sz="8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&amp; </a:t>
            </a:r>
            <a:r>
              <a:rPr lang="ko-KR" altLang="en-US" sz="8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상품이 고정되어 운영 할 경우</a:t>
            </a:r>
            <a:endParaRPr lang="en-US" altLang="ko-KR" sz="80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900" b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프로그램 소스에서</a:t>
            </a:r>
            <a:r>
              <a:rPr lang="en-US" altLang="ko-KR" sz="900" b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, </a:t>
            </a:r>
            <a:r>
              <a:rPr lang="ko-KR" altLang="en-US" sz="900" b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특정 브랜드코드를 지정하여 모든 상품으로 </a:t>
            </a:r>
            <a:r>
              <a:rPr lang="ko-KR" altLang="en-US" sz="900" b="1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규정</a:t>
            </a:r>
            <a:endParaRPr lang="en-US" altLang="ko-KR" sz="900" b="1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</a:endParaRPr>
          </a:p>
        </p:txBody>
      </p:sp>
      <p:graphicFrame>
        <p:nvGraphicFramePr>
          <p:cNvPr id="7" name="표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67835268"/>
              </p:ext>
            </p:extLst>
          </p:nvPr>
        </p:nvGraphicFramePr>
        <p:xfrm>
          <a:off x="611905" y="3050172"/>
          <a:ext cx="4320000" cy="86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40000"/>
                <a:gridCol w="1440000"/>
                <a:gridCol w="1440000"/>
              </a:tblGrid>
              <a:tr h="288000">
                <a:tc gridSpan="3">
                  <a:txBody>
                    <a:bodyPr/>
                    <a:lstStyle/>
                    <a:p>
                      <a:pPr algn="ctr" latinLnBrk="1"/>
                      <a:r>
                        <a:rPr lang="en-US" altLang="ko-KR" sz="800" smtClean="0"/>
                        <a:t>NBOS </a:t>
                      </a:r>
                      <a:r>
                        <a:rPr lang="ko-KR" altLang="en-US" sz="800" smtClean="0"/>
                        <a:t>관리 기능</a:t>
                      </a:r>
                      <a:endParaRPr lang="ko-KR" altLang="en-US" sz="800"/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2880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smtClean="0"/>
                        <a:t>개발하지 않음</a:t>
                      </a:r>
                      <a:endParaRPr lang="ko-KR" altLang="en-US" sz="800"/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smtClean="0"/>
                        <a:t>브랜드 단위 지정</a:t>
                      </a:r>
                      <a:endParaRPr lang="ko-KR" altLang="en-US" sz="800"/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smtClean="0"/>
                        <a:t>브랜드 </a:t>
                      </a:r>
                      <a:r>
                        <a:rPr lang="en-US" altLang="ko-KR" sz="800" smtClean="0"/>
                        <a:t>&amp; </a:t>
                      </a:r>
                      <a:r>
                        <a:rPr lang="ko-KR" altLang="en-US" sz="800" smtClean="0"/>
                        <a:t>상품 단위 지정</a:t>
                      </a:r>
                      <a:endParaRPr lang="ko-KR" altLang="en-US" sz="800"/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smtClean="0"/>
                        <a:t>0 M/M</a:t>
                      </a:r>
                      <a:endParaRPr lang="ko-KR" altLang="en-US" sz="800"/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smtClean="0"/>
                        <a:t>1 M/M</a:t>
                      </a:r>
                      <a:endParaRPr lang="ko-KR" altLang="en-US" sz="800"/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smtClean="0"/>
                        <a:t>2</a:t>
                      </a:r>
                      <a:r>
                        <a:rPr lang="en-US" altLang="ko-KR" sz="800" baseline="0" smtClean="0"/>
                        <a:t> M/M</a:t>
                      </a:r>
                      <a:endParaRPr lang="ko-KR" altLang="en-US" sz="800"/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pic>
        <p:nvPicPr>
          <p:cNvPr id="10" name="그림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17206" y="716347"/>
            <a:ext cx="5714339" cy="3240000"/>
          </a:xfrm>
          <a:prstGeom prst="rect">
            <a:avLst/>
          </a:prstGeom>
          <a:ln w="3175">
            <a:solidFill>
              <a:schemeClr val="bg1">
                <a:lumMod val="75000"/>
              </a:schemeClr>
            </a:solidFill>
          </a:ln>
        </p:spPr>
      </p:pic>
      <p:pic>
        <p:nvPicPr>
          <p:cNvPr id="8" name="그림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59226" y="3091222"/>
            <a:ext cx="6377440" cy="324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9361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모서리가 둥근 직사각형 46"/>
          <p:cNvSpPr/>
          <p:nvPr/>
        </p:nvSpPr>
        <p:spPr>
          <a:xfrm>
            <a:off x="665279" y="4169003"/>
            <a:ext cx="10800000" cy="1080000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 b="1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3" name="모서리가 둥근 직사각형 42"/>
          <p:cNvSpPr/>
          <p:nvPr/>
        </p:nvSpPr>
        <p:spPr>
          <a:xfrm>
            <a:off x="665279" y="2730126"/>
            <a:ext cx="10800000" cy="1080000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 b="1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" name="모서리가 둥근 직사각형 1"/>
          <p:cNvSpPr/>
          <p:nvPr/>
        </p:nvSpPr>
        <p:spPr>
          <a:xfrm>
            <a:off x="323906" y="737711"/>
            <a:ext cx="2232000" cy="360000"/>
          </a:xfrm>
          <a:prstGeom prst="roundRect">
            <a:avLst/>
          </a:prstGeom>
          <a:solidFill>
            <a:schemeClr val="tx1">
              <a:lumMod val="65000"/>
              <a:lumOff val="35000"/>
            </a:schemeClr>
          </a:solidFill>
          <a:ln w="381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0" tIns="36000" rIns="36000" bIns="36000" rtlCol="0" anchor="ctr"/>
          <a:lstStyle/>
          <a:p>
            <a:r>
              <a:rPr lang="ko-KR" altLang="en-US" sz="900" b="1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현업 </a:t>
            </a:r>
            <a:r>
              <a:rPr lang="en-US" altLang="ko-KR" sz="900" b="1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(e-</a:t>
            </a:r>
            <a:r>
              <a:rPr lang="ko-KR" altLang="en-US" sz="900" b="1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영업</a:t>
            </a:r>
            <a:r>
              <a:rPr lang="en-US" altLang="ko-KR" sz="900" b="1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 </a:t>
            </a:r>
            <a:r>
              <a:rPr lang="ko-KR" altLang="en-US" sz="900" b="1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정책 결정 사항</a:t>
            </a:r>
            <a:endParaRPr lang="ko-KR" altLang="en-US" sz="900" b="1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42" name="TextBox 141">
            <a:extLst>
              <a:ext uri="{FF2B5EF4-FFF2-40B4-BE49-F238E27FC236}">
                <a16:creationId xmlns="" xmlns:a16="http://schemas.microsoft.com/office/drawing/2014/main" id="{C5E486F5-93A1-4316-A9AE-8F2FB1C3263A}"/>
              </a:ext>
            </a:extLst>
          </p:cNvPr>
          <p:cNvSpPr txBox="1"/>
          <p:nvPr/>
        </p:nvSpPr>
        <p:spPr>
          <a:xfrm>
            <a:off x="94" y="102705"/>
            <a:ext cx="1842721" cy="226591"/>
          </a:xfrm>
          <a:prstGeom prst="rect">
            <a:avLst/>
          </a:prstGeom>
          <a:noFill/>
        </p:spPr>
        <p:txBody>
          <a:bodyPr wrap="none" lIns="360000" tIns="36000" rIns="360000" bIns="36000" rtlCol="0" anchor="ctr">
            <a:spAutoFit/>
          </a:bodyPr>
          <a:lstStyle/>
          <a:p>
            <a:r>
              <a:rPr lang="ko-KR" altLang="en-US" sz="1000" b="1">
                <a:solidFill>
                  <a:schemeClr val="bg1"/>
                </a:solidFill>
                <a:latin typeface="맑은 고딕" panose="020B0503020000020004" pitchFamily="50" charset="-127"/>
              </a:rPr>
              <a:t>온오프 재고 효율화</a:t>
            </a:r>
            <a:endParaRPr lang="en-US" altLang="ko-KR" sz="1000" b="1">
              <a:solidFill>
                <a:schemeClr val="bg1"/>
              </a:solidFill>
              <a:latin typeface="맑은 고딕" panose="020B0503020000020004" pitchFamily="50" charset="-127"/>
            </a:endParaRPr>
          </a:p>
        </p:txBody>
      </p:sp>
      <p:grpSp>
        <p:nvGrpSpPr>
          <p:cNvPr id="15" name="그룹 14"/>
          <p:cNvGrpSpPr/>
          <p:nvPr/>
        </p:nvGrpSpPr>
        <p:grpSpPr>
          <a:xfrm>
            <a:off x="323905" y="1385711"/>
            <a:ext cx="2880000" cy="288000"/>
            <a:chOff x="4414321" y="1385711"/>
            <a:chExt cx="2880000" cy="288000"/>
          </a:xfrm>
        </p:grpSpPr>
        <p:sp>
          <p:nvSpPr>
            <p:cNvPr id="17" name="모서리가 둥근 직사각형 16"/>
            <p:cNvSpPr/>
            <p:nvPr/>
          </p:nvSpPr>
          <p:spPr>
            <a:xfrm>
              <a:off x="4414321" y="1385711"/>
              <a:ext cx="2880000" cy="288000"/>
            </a:xfrm>
            <a:prstGeom prst="roundRect">
              <a:avLst>
                <a:gd name="adj" fmla="val 50000"/>
              </a:avLst>
            </a:prstGeom>
            <a:solidFill>
              <a:schemeClr val="accent1">
                <a:lumMod val="50000"/>
              </a:schemeClr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0" tIns="36000" rIns="36000" bIns="36000" rtlCol="0" anchor="ctr"/>
            <a:lstStyle/>
            <a:p>
              <a:r>
                <a:rPr lang="ko-KR" altLang="en-US" sz="800" b="1" smtClean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비직송매장 </a:t>
              </a:r>
              <a:r>
                <a:rPr lang="en-US" altLang="ko-KR" sz="800" b="1" smtClean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RT </a:t>
              </a:r>
              <a:r>
                <a:rPr lang="ko-KR" altLang="en-US" sz="800" b="1" smtClean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현황 관리 </a:t>
              </a:r>
              <a:r>
                <a:rPr lang="en-US" altLang="ko-KR" sz="800" b="1" smtClean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(Monitoring) </a:t>
              </a:r>
              <a:r>
                <a:rPr lang="ko-KR" altLang="en-US" sz="800" b="1" smtClean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주체</a:t>
              </a:r>
              <a:endParaRPr lang="ko-KR" altLang="en-US" sz="8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8" name="타원 17"/>
            <p:cNvSpPr/>
            <p:nvPr/>
          </p:nvSpPr>
          <p:spPr>
            <a:xfrm>
              <a:off x="4414321" y="1385711"/>
              <a:ext cx="288000" cy="288000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800" b="1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2</a:t>
              </a:r>
              <a:endParaRPr lang="ko-KR" altLang="en-US" sz="800" b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sp>
        <p:nvSpPr>
          <p:cNvPr id="16" name="TextBox 15"/>
          <p:cNvSpPr txBox="1"/>
          <p:nvPr/>
        </p:nvSpPr>
        <p:spPr>
          <a:xfrm>
            <a:off x="665281" y="1938120"/>
            <a:ext cx="6579293" cy="403563"/>
          </a:xfrm>
          <a:prstGeom prst="rect">
            <a:avLst/>
          </a:prstGeom>
          <a:noFill/>
        </p:spPr>
        <p:txBody>
          <a:bodyPr wrap="none" lIns="36000" tIns="36000" rIns="36000" bIns="36000" rtlCol="0" anchor="ctr">
            <a:spAutoFit/>
          </a:bodyPr>
          <a:lstStyle/>
          <a:p>
            <a:r>
              <a:rPr lang="ko-KR" altLang="en-US" sz="8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물류센터 </a:t>
            </a:r>
            <a:r>
              <a:rPr lang="en-US" altLang="ko-KR" sz="8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(OMS) </a:t>
            </a:r>
            <a:r>
              <a:rPr lang="ko-KR" altLang="en-US" sz="8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에서 비직송매장 물량이동지시 </a:t>
            </a:r>
            <a:r>
              <a:rPr lang="en-US" altLang="ko-KR" sz="8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(RT) </a:t>
            </a:r>
            <a:r>
              <a:rPr lang="ko-KR" altLang="en-US" sz="8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를 했을 경우</a:t>
            </a:r>
            <a:endParaRPr lang="en-US" altLang="ko-KR" sz="800" smtClean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900" b="1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해당 매장에서 </a:t>
            </a:r>
            <a:r>
              <a:rPr lang="en-US" altLang="ko-KR" sz="900" b="1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RT </a:t>
            </a:r>
            <a:r>
              <a:rPr lang="ko-KR" altLang="en-US" sz="900" b="1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승인을 즉시 하는지 </a:t>
            </a:r>
            <a:r>
              <a:rPr lang="en-US" altLang="ko-KR" sz="900" b="1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 </a:t>
            </a:r>
            <a:r>
              <a:rPr lang="ko-KR" altLang="en-US" sz="900" b="1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승인하지 않는 경우</a:t>
            </a:r>
            <a:r>
              <a:rPr lang="en-US" altLang="ko-KR" sz="900" b="1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</a:t>
            </a:r>
            <a:r>
              <a:rPr lang="ko-KR" altLang="en-US" sz="900" b="1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다른 비직송매장으로 변경지시 할 것인지 </a:t>
            </a:r>
            <a:r>
              <a:rPr lang="en-US" altLang="ko-KR" sz="900" b="1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 </a:t>
            </a:r>
            <a:r>
              <a:rPr lang="ko-KR" altLang="en-US" sz="900" b="1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주문을 취소할 것인지</a:t>
            </a:r>
            <a:endParaRPr lang="en-US" altLang="ko-KR" sz="900" b="1" smtClean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" name="모서리가 둥근 직사각형 7"/>
          <p:cNvSpPr/>
          <p:nvPr/>
        </p:nvSpPr>
        <p:spPr>
          <a:xfrm>
            <a:off x="665281" y="2730126"/>
            <a:ext cx="720000" cy="1080000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b="1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LFmall</a:t>
            </a:r>
            <a:endParaRPr lang="ko-KR" altLang="en-US" sz="800" b="1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20" name="직선 화살표 연결선 19">
            <a:extLst>
              <a:ext uri="{FF2B5EF4-FFF2-40B4-BE49-F238E27FC236}">
                <a16:creationId xmlns="" xmlns:a16="http://schemas.microsoft.com/office/drawing/2014/main" id="{3D9B20DA-AA59-4AA9-AC84-6C3B8844582A}"/>
              </a:ext>
            </a:extLst>
          </p:cNvPr>
          <p:cNvCxnSpPr>
            <a:cxnSpLocks/>
            <a:stCxn id="21" idx="3"/>
            <a:endCxn id="22" idx="1"/>
          </p:cNvCxnSpPr>
          <p:nvPr/>
        </p:nvCxnSpPr>
        <p:spPr>
          <a:xfrm>
            <a:off x="3323623" y="3270126"/>
            <a:ext cx="5048496" cy="0"/>
          </a:xfrm>
          <a:prstGeom prst="straightConnector1">
            <a:avLst/>
          </a:prstGeom>
          <a:noFill/>
          <a:ln w="38100" cap="flat" cmpd="sng" algn="ctr">
            <a:solidFill>
              <a:schemeClr val="accent1">
                <a:lumMod val="20000"/>
                <a:lumOff val="80000"/>
              </a:schemeClr>
            </a:solidFill>
            <a:prstDash val="solid"/>
            <a:headEnd type="none" w="med" len="med"/>
            <a:tailEnd type="triangle" w="med" len="med"/>
          </a:ln>
          <a:effectLst/>
        </p:spPr>
      </p:cxnSp>
      <p:sp>
        <p:nvSpPr>
          <p:cNvPr id="21" name="모서리가 둥근 직사각형 20"/>
          <p:cNvSpPr/>
          <p:nvPr/>
        </p:nvSpPr>
        <p:spPr>
          <a:xfrm>
            <a:off x="2603623" y="3000126"/>
            <a:ext cx="720000" cy="540000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 w="3175">
            <a:noFill/>
          </a:ln>
          <a:effectLst>
            <a:outerShdw blurRad="25400" dist="25400" dir="2700000" algn="tl" rotWithShape="0">
              <a:schemeClr val="tx1">
                <a:lumMod val="75000"/>
                <a:lumOff val="2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결제</a:t>
            </a:r>
            <a:endParaRPr lang="en-US" altLang="ko-KR" sz="800" smtClean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ctr"/>
            <a:r>
              <a:rPr lang="ko-KR" altLang="en-US" sz="8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완료</a:t>
            </a:r>
            <a:endParaRPr lang="ko-KR" altLang="en-US" sz="80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2" name="모서리가 둥근 직사각형 21"/>
          <p:cNvSpPr/>
          <p:nvPr/>
        </p:nvSpPr>
        <p:spPr>
          <a:xfrm>
            <a:off x="8372119" y="3000126"/>
            <a:ext cx="720000" cy="540000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 w="3175">
            <a:noFill/>
          </a:ln>
          <a:effectLst>
            <a:outerShdw blurRad="25400" dist="25400" dir="2700000" algn="tl" rotWithShape="0">
              <a:schemeClr val="tx1">
                <a:lumMod val="75000"/>
                <a:lumOff val="2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상품</a:t>
            </a:r>
            <a:endParaRPr lang="en-US" altLang="ko-KR" sz="800" smtClean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ctr"/>
            <a:r>
              <a:rPr lang="ko-KR" altLang="en-US" sz="8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준비중</a:t>
            </a:r>
            <a:endParaRPr lang="ko-KR" altLang="en-US" sz="80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3" name="모서리가 둥근 직사각형 22"/>
          <p:cNvSpPr/>
          <p:nvPr/>
        </p:nvSpPr>
        <p:spPr>
          <a:xfrm>
            <a:off x="9333535" y="3000126"/>
            <a:ext cx="720000" cy="540000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 w="3175">
            <a:noFill/>
          </a:ln>
          <a:effectLst>
            <a:outerShdw blurRad="25400" dist="25400" dir="2700000" algn="tl" rotWithShape="0">
              <a:schemeClr val="tx1">
                <a:lumMod val="75000"/>
                <a:lumOff val="2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배송중</a:t>
            </a:r>
            <a:endParaRPr lang="ko-KR" altLang="en-US" sz="80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4" name="모서리가 둥근 직사각형 23"/>
          <p:cNvSpPr/>
          <p:nvPr/>
        </p:nvSpPr>
        <p:spPr>
          <a:xfrm>
            <a:off x="10294953" y="3000126"/>
            <a:ext cx="720000" cy="540000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 w="3175">
            <a:noFill/>
          </a:ln>
          <a:effectLst>
            <a:outerShdw blurRad="25400" dist="25400" dir="2700000" algn="tl" rotWithShape="0">
              <a:schemeClr val="tx1">
                <a:lumMod val="75000"/>
                <a:lumOff val="2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배송완료</a:t>
            </a:r>
            <a:endParaRPr lang="ko-KR" altLang="en-US" sz="80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5" name="모서리가 둥근 직사각형 24"/>
          <p:cNvSpPr/>
          <p:nvPr/>
        </p:nvSpPr>
        <p:spPr>
          <a:xfrm>
            <a:off x="2603623" y="4439003"/>
            <a:ext cx="720000" cy="5400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3175">
            <a:noFill/>
          </a:ln>
          <a:effectLst>
            <a:outerShdw blurRad="25400" dist="25400" dir="2700000" algn="tl" rotWithShape="0">
              <a:schemeClr val="tx1">
                <a:lumMod val="75000"/>
                <a:lumOff val="2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주문수집</a:t>
            </a:r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6" name="모서리가 둥근 직사각형 25"/>
          <p:cNvSpPr/>
          <p:nvPr/>
        </p:nvSpPr>
        <p:spPr>
          <a:xfrm>
            <a:off x="7410703" y="4439003"/>
            <a:ext cx="720000" cy="5400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3175">
            <a:noFill/>
          </a:ln>
          <a:effectLst>
            <a:outerShdw blurRad="25400" dist="25400" dir="2700000" algn="tl" rotWithShape="0">
              <a:schemeClr val="tx1">
                <a:lumMod val="75000"/>
                <a:lumOff val="2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출고처지정</a:t>
            </a:r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7" name="모서리가 둥근 직사각형 26"/>
          <p:cNvSpPr/>
          <p:nvPr/>
        </p:nvSpPr>
        <p:spPr>
          <a:xfrm>
            <a:off x="8372119" y="4439003"/>
            <a:ext cx="720000" cy="5400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3175">
            <a:noFill/>
          </a:ln>
          <a:effectLst>
            <a:outerShdw blurRad="25400" dist="25400" dir="2700000" algn="tl" rotWithShape="0">
              <a:schemeClr val="tx1">
                <a:lumMod val="75000"/>
                <a:lumOff val="2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입고확정</a:t>
            </a:r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28" name="직선 화살표 연결선 27">
            <a:extLst>
              <a:ext uri="{FF2B5EF4-FFF2-40B4-BE49-F238E27FC236}">
                <a16:creationId xmlns="" xmlns:a16="http://schemas.microsoft.com/office/drawing/2014/main" id="{3D9B20DA-AA59-4AA9-AC84-6C3B8844582A}"/>
              </a:ext>
            </a:extLst>
          </p:cNvPr>
          <p:cNvCxnSpPr>
            <a:cxnSpLocks/>
            <a:stCxn id="26" idx="3"/>
            <a:endCxn id="27" idx="1"/>
          </p:cNvCxnSpPr>
          <p:nvPr/>
        </p:nvCxnSpPr>
        <p:spPr>
          <a:xfrm>
            <a:off x="8130703" y="4709003"/>
            <a:ext cx="241416" cy="0"/>
          </a:xfrm>
          <a:prstGeom prst="straightConnector1">
            <a:avLst/>
          </a:prstGeom>
          <a:noFill/>
          <a:ln w="38100" cap="flat" cmpd="sng" algn="ctr">
            <a:solidFill>
              <a:schemeClr val="accent6">
                <a:lumMod val="20000"/>
                <a:lumOff val="80000"/>
              </a:schemeClr>
            </a:solidFill>
            <a:prstDash val="solid"/>
            <a:headEnd type="none" w="med" len="med"/>
            <a:tailEnd type="triangle" w="med" len="med"/>
          </a:ln>
          <a:effectLst/>
        </p:spPr>
      </p:cxnSp>
      <p:sp>
        <p:nvSpPr>
          <p:cNvPr id="29" name="모서리가 둥근 직사각형 28"/>
          <p:cNvSpPr/>
          <p:nvPr/>
        </p:nvSpPr>
        <p:spPr>
          <a:xfrm>
            <a:off x="9333535" y="4439003"/>
            <a:ext cx="720000" cy="5400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3175">
            <a:noFill/>
          </a:ln>
          <a:effectLst>
            <a:outerShdw blurRad="25400" dist="25400" dir="2700000" algn="tl" rotWithShape="0">
              <a:schemeClr val="tx1">
                <a:lumMod val="75000"/>
                <a:lumOff val="2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송장출력</a:t>
            </a:r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30" name="직선 화살표 연결선 29">
            <a:extLst>
              <a:ext uri="{FF2B5EF4-FFF2-40B4-BE49-F238E27FC236}">
                <a16:creationId xmlns="" xmlns:a16="http://schemas.microsoft.com/office/drawing/2014/main" id="{3D9B20DA-AA59-4AA9-AC84-6C3B8844582A}"/>
              </a:ext>
            </a:extLst>
          </p:cNvPr>
          <p:cNvCxnSpPr>
            <a:cxnSpLocks/>
            <a:stCxn id="27" idx="3"/>
            <a:endCxn id="29" idx="1"/>
          </p:cNvCxnSpPr>
          <p:nvPr/>
        </p:nvCxnSpPr>
        <p:spPr>
          <a:xfrm>
            <a:off x="9092119" y="4709003"/>
            <a:ext cx="241416" cy="0"/>
          </a:xfrm>
          <a:prstGeom prst="straightConnector1">
            <a:avLst/>
          </a:prstGeom>
          <a:noFill/>
          <a:ln w="38100" cap="flat" cmpd="sng" algn="ctr">
            <a:solidFill>
              <a:schemeClr val="accent6">
                <a:lumMod val="20000"/>
                <a:lumOff val="80000"/>
              </a:schemeClr>
            </a:solidFill>
            <a:prstDash val="solid"/>
            <a:headEnd type="none" w="med" len="med"/>
            <a:tailEnd type="triangle" w="med" len="med"/>
          </a:ln>
          <a:effectLst/>
        </p:spPr>
      </p:cxnSp>
      <p:sp>
        <p:nvSpPr>
          <p:cNvPr id="31" name="모서리가 둥근 직사각형 30"/>
          <p:cNvSpPr/>
          <p:nvPr/>
        </p:nvSpPr>
        <p:spPr>
          <a:xfrm>
            <a:off x="10294953" y="4439003"/>
            <a:ext cx="720000" cy="5400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3175">
            <a:noFill/>
          </a:ln>
          <a:effectLst>
            <a:outerShdw blurRad="25400" dist="25400" dir="2700000" algn="tl" rotWithShape="0">
              <a:schemeClr val="tx1">
                <a:lumMod val="75000"/>
                <a:lumOff val="2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8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CJ</a:t>
            </a:r>
            <a:r>
              <a:rPr lang="ko-KR" altLang="en-US" sz="8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대한통운</a:t>
            </a:r>
            <a:endParaRPr lang="en-US" altLang="ko-KR" sz="80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ctr"/>
            <a:r>
              <a:rPr lang="ko-KR" altLang="en-US" sz="8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배송완료</a:t>
            </a:r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32" name="직선 화살표 연결선 31">
            <a:extLst>
              <a:ext uri="{FF2B5EF4-FFF2-40B4-BE49-F238E27FC236}">
                <a16:creationId xmlns="" xmlns:a16="http://schemas.microsoft.com/office/drawing/2014/main" id="{3D9B20DA-AA59-4AA9-AC84-6C3B8844582A}"/>
              </a:ext>
            </a:extLst>
          </p:cNvPr>
          <p:cNvCxnSpPr>
            <a:cxnSpLocks/>
            <a:stCxn id="29" idx="3"/>
            <a:endCxn id="31" idx="1"/>
          </p:cNvCxnSpPr>
          <p:nvPr/>
        </p:nvCxnSpPr>
        <p:spPr>
          <a:xfrm>
            <a:off x="10053535" y="4709003"/>
            <a:ext cx="241418" cy="0"/>
          </a:xfrm>
          <a:prstGeom prst="straightConnector1">
            <a:avLst/>
          </a:prstGeom>
          <a:noFill/>
          <a:ln w="38100" cap="flat" cmpd="sng" algn="ctr">
            <a:solidFill>
              <a:schemeClr val="accent6">
                <a:lumMod val="20000"/>
                <a:lumOff val="80000"/>
              </a:schemeClr>
            </a:solidFill>
            <a:prstDash val="solid"/>
            <a:headEnd type="none" w="med" len="med"/>
            <a:tailEnd type="triangle" w="med" len="med"/>
          </a:ln>
          <a:effectLst/>
        </p:spPr>
      </p:cxnSp>
      <p:sp>
        <p:nvSpPr>
          <p:cNvPr id="34" name="모서리가 둥근 직사각형 33"/>
          <p:cNvSpPr/>
          <p:nvPr/>
        </p:nvSpPr>
        <p:spPr>
          <a:xfrm>
            <a:off x="3565039" y="4439003"/>
            <a:ext cx="720000" cy="540000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 w="3175">
            <a:solidFill>
              <a:schemeClr val="bg1">
                <a:lumMod val="75000"/>
              </a:schemeClr>
            </a:solidFill>
          </a:ln>
          <a:effectLst>
            <a:outerShdw blurRad="12700" dist="12700" dir="2700000" algn="tl" rotWithShape="0">
              <a:schemeClr val="tx1">
                <a:lumMod val="75000"/>
                <a:lumOff val="2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o-KR" altLang="en-US" sz="8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물량</a:t>
            </a:r>
            <a:r>
              <a:rPr lang="en-US" altLang="ko-KR" sz="8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8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이동</a:t>
            </a:r>
            <a:endParaRPr lang="en-US" altLang="ko-KR" sz="800" smtClean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ctr"/>
            <a:r>
              <a:rPr lang="ko-KR" altLang="en-US" sz="8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지시</a:t>
            </a:r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5" name="모서리가 둥근 직사각형 34"/>
          <p:cNvSpPr/>
          <p:nvPr/>
        </p:nvSpPr>
        <p:spPr>
          <a:xfrm>
            <a:off x="5487871" y="4439003"/>
            <a:ext cx="720000" cy="540000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 w="3175">
            <a:solidFill>
              <a:schemeClr val="bg1">
                <a:lumMod val="75000"/>
              </a:schemeClr>
            </a:solidFill>
          </a:ln>
          <a:effectLst>
            <a:outerShdw blurRad="12700" dist="12700" dir="2700000" algn="tl" rotWithShape="0">
              <a:schemeClr val="tx1">
                <a:lumMod val="75000"/>
                <a:lumOff val="2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8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매장 반품</a:t>
            </a:r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8" name="모서리가 둥근 직사각형 37"/>
          <p:cNvSpPr/>
          <p:nvPr/>
        </p:nvSpPr>
        <p:spPr>
          <a:xfrm>
            <a:off x="4526455" y="4439003"/>
            <a:ext cx="720000" cy="540000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 w="3175">
            <a:solidFill>
              <a:schemeClr val="bg1">
                <a:lumMod val="75000"/>
              </a:schemeClr>
            </a:solidFill>
          </a:ln>
          <a:effectLst>
            <a:outerShdw blurRad="12700" dist="12700" dir="2700000" algn="tl" rotWithShape="0">
              <a:schemeClr val="tx1">
                <a:lumMod val="75000"/>
                <a:lumOff val="2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8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물량</a:t>
            </a:r>
            <a:r>
              <a:rPr lang="en-US" altLang="ko-KR" sz="8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8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이동</a:t>
            </a:r>
            <a:endParaRPr lang="en-US" altLang="ko-KR" sz="80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ctr">
              <a:lnSpc>
                <a:spcPct val="150000"/>
              </a:lnSpc>
            </a:pPr>
            <a:r>
              <a:rPr lang="ko-KR" altLang="en-US" sz="8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확인</a:t>
            </a:r>
            <a:r>
              <a:rPr lang="en-US" altLang="ko-KR" sz="8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8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승인</a:t>
            </a:r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39" name="직선 화살표 연결선 38">
            <a:extLst>
              <a:ext uri="{FF2B5EF4-FFF2-40B4-BE49-F238E27FC236}">
                <a16:creationId xmlns="" xmlns:a16="http://schemas.microsoft.com/office/drawing/2014/main" id="{3D9B20DA-AA59-4AA9-AC84-6C3B8844582A}"/>
              </a:ext>
            </a:extLst>
          </p:cNvPr>
          <p:cNvCxnSpPr>
            <a:cxnSpLocks/>
            <a:stCxn id="34" idx="3"/>
            <a:endCxn id="38" idx="1"/>
          </p:cNvCxnSpPr>
          <p:nvPr/>
        </p:nvCxnSpPr>
        <p:spPr>
          <a:xfrm>
            <a:off x="4285039" y="4709003"/>
            <a:ext cx="241416" cy="0"/>
          </a:xfrm>
          <a:prstGeom prst="straightConnector1">
            <a:avLst/>
          </a:prstGeom>
          <a:noFill/>
          <a:ln w="38100" cap="flat" cmpd="sng" algn="ctr">
            <a:solidFill>
              <a:schemeClr val="accent4">
                <a:lumMod val="40000"/>
                <a:lumOff val="60000"/>
              </a:schemeClr>
            </a:solidFill>
            <a:prstDash val="solid"/>
            <a:headEnd type="none" w="med" len="med"/>
            <a:tailEnd type="triangle" w="med" len="med"/>
          </a:ln>
          <a:effectLst/>
        </p:spPr>
      </p:cxnSp>
      <p:cxnSp>
        <p:nvCxnSpPr>
          <p:cNvPr id="40" name="직선 화살표 연결선 39">
            <a:extLst>
              <a:ext uri="{FF2B5EF4-FFF2-40B4-BE49-F238E27FC236}">
                <a16:creationId xmlns="" xmlns:a16="http://schemas.microsoft.com/office/drawing/2014/main" id="{3D9B20DA-AA59-4AA9-AC84-6C3B8844582A}"/>
              </a:ext>
            </a:extLst>
          </p:cNvPr>
          <p:cNvCxnSpPr>
            <a:cxnSpLocks/>
            <a:stCxn id="38" idx="3"/>
            <a:endCxn id="35" idx="1"/>
          </p:cNvCxnSpPr>
          <p:nvPr/>
        </p:nvCxnSpPr>
        <p:spPr>
          <a:xfrm>
            <a:off x="5246455" y="4709003"/>
            <a:ext cx="241416" cy="0"/>
          </a:xfrm>
          <a:prstGeom prst="straightConnector1">
            <a:avLst/>
          </a:prstGeom>
          <a:noFill/>
          <a:ln w="38100" cap="flat" cmpd="sng" algn="ctr">
            <a:solidFill>
              <a:schemeClr val="accent4">
                <a:lumMod val="40000"/>
                <a:lumOff val="60000"/>
              </a:schemeClr>
            </a:solidFill>
            <a:prstDash val="solid"/>
            <a:headEnd type="none" w="med" len="med"/>
            <a:tailEnd type="triangle" w="med" len="med"/>
          </a:ln>
          <a:effectLst/>
        </p:spPr>
      </p:cxnSp>
      <p:sp>
        <p:nvSpPr>
          <p:cNvPr id="41" name="모서리가 둥근 직사각형 40"/>
          <p:cNvSpPr/>
          <p:nvPr/>
        </p:nvSpPr>
        <p:spPr>
          <a:xfrm>
            <a:off x="665281" y="4169003"/>
            <a:ext cx="720000" cy="1080000"/>
          </a:xfrm>
          <a:prstGeom prst="roundRect">
            <a:avLst/>
          </a:prstGeom>
          <a:solidFill>
            <a:schemeClr val="accent6">
              <a:lumMod val="50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b="1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OMS</a:t>
            </a:r>
            <a:endParaRPr lang="ko-KR" altLang="en-US" sz="800" b="1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810800" y="3110664"/>
            <a:ext cx="483072" cy="318924"/>
          </a:xfrm>
          <a:prstGeom prst="rect">
            <a:avLst/>
          </a:prstGeom>
          <a:noFill/>
        </p:spPr>
        <p:txBody>
          <a:bodyPr wrap="none" lIns="36000" tIns="36000" rIns="36000" bIns="36000" rtlCol="0" anchor="ctr">
            <a:spAutoFit/>
          </a:bodyPr>
          <a:lstStyle/>
          <a:p>
            <a:pPr algn="ctr"/>
            <a:r>
              <a:rPr lang="en-US" altLang="ko-KR" sz="8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NBOS</a:t>
            </a:r>
          </a:p>
          <a:p>
            <a:pPr algn="ctr"/>
            <a:r>
              <a:rPr lang="ko-KR" altLang="en-US" sz="8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주문상태</a:t>
            </a:r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4" name="모서리가 둥근 직사각형 53"/>
          <p:cNvSpPr/>
          <p:nvPr/>
        </p:nvSpPr>
        <p:spPr>
          <a:xfrm>
            <a:off x="6449287" y="4439003"/>
            <a:ext cx="720000" cy="540000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 w="3175">
            <a:solidFill>
              <a:schemeClr val="bg1">
                <a:lumMod val="75000"/>
              </a:schemeClr>
            </a:solidFill>
          </a:ln>
          <a:effectLst>
            <a:outerShdw blurRad="12700" dist="12700" dir="2700000" algn="tl" rotWithShape="0">
              <a:schemeClr val="tx1">
                <a:lumMod val="75000"/>
                <a:lumOff val="2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8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급반품</a:t>
            </a:r>
            <a:endParaRPr lang="en-US" altLang="ko-KR" sz="800" smtClean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ctr">
              <a:lnSpc>
                <a:spcPct val="150000"/>
              </a:lnSpc>
            </a:pPr>
            <a:r>
              <a:rPr lang="en-US" altLang="ko-KR" sz="8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8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수배송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endParaRPr lang="en-US" altLang="ko-KR" sz="80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</a:endParaRPr>
          </a:p>
        </p:txBody>
      </p:sp>
      <p:cxnSp>
        <p:nvCxnSpPr>
          <p:cNvPr id="58" name="직선 화살표 연결선 57">
            <a:extLst>
              <a:ext uri="{FF2B5EF4-FFF2-40B4-BE49-F238E27FC236}">
                <a16:creationId xmlns="" xmlns:a16="http://schemas.microsoft.com/office/drawing/2014/main" id="{3D9B20DA-AA59-4AA9-AC84-6C3B8844582A}"/>
              </a:ext>
            </a:extLst>
          </p:cNvPr>
          <p:cNvCxnSpPr>
            <a:cxnSpLocks/>
            <a:stCxn id="27" idx="0"/>
            <a:endCxn id="22" idx="2"/>
          </p:cNvCxnSpPr>
          <p:nvPr/>
        </p:nvCxnSpPr>
        <p:spPr>
          <a:xfrm flipV="1">
            <a:off x="8732119" y="3540126"/>
            <a:ext cx="0" cy="898877"/>
          </a:xfrm>
          <a:prstGeom prst="straightConnector1">
            <a:avLst/>
          </a:prstGeom>
          <a:noFill/>
          <a:ln w="6350" cap="flat" cmpd="sng" algn="ctr">
            <a:solidFill>
              <a:schemeClr val="accent2"/>
            </a:solidFill>
            <a:prstDash val="solid"/>
            <a:headEnd type="oval" w="med" len="med"/>
            <a:tailEnd type="oval" w="med" len="med"/>
          </a:ln>
          <a:effectLst/>
        </p:spPr>
      </p:cxnSp>
      <p:cxnSp>
        <p:nvCxnSpPr>
          <p:cNvPr id="62" name="직선 화살표 연결선 61">
            <a:extLst>
              <a:ext uri="{FF2B5EF4-FFF2-40B4-BE49-F238E27FC236}">
                <a16:creationId xmlns="" xmlns:a16="http://schemas.microsoft.com/office/drawing/2014/main" id="{3D9B20DA-AA59-4AA9-AC84-6C3B8844582A}"/>
              </a:ext>
            </a:extLst>
          </p:cNvPr>
          <p:cNvCxnSpPr>
            <a:cxnSpLocks/>
            <a:stCxn id="29" idx="0"/>
            <a:endCxn id="23" idx="2"/>
          </p:cNvCxnSpPr>
          <p:nvPr/>
        </p:nvCxnSpPr>
        <p:spPr>
          <a:xfrm flipV="1">
            <a:off x="9693535" y="3540126"/>
            <a:ext cx="0" cy="898877"/>
          </a:xfrm>
          <a:prstGeom prst="straightConnector1">
            <a:avLst/>
          </a:prstGeom>
          <a:noFill/>
          <a:ln w="6350" cap="flat" cmpd="sng" algn="ctr">
            <a:solidFill>
              <a:schemeClr val="accent2"/>
            </a:solidFill>
            <a:prstDash val="solid"/>
            <a:headEnd type="oval" w="med" len="med"/>
            <a:tailEnd type="oval" w="med" len="med"/>
          </a:ln>
          <a:effectLst/>
        </p:spPr>
      </p:cxnSp>
      <p:cxnSp>
        <p:nvCxnSpPr>
          <p:cNvPr id="64" name="직선 화살표 연결선 63">
            <a:extLst>
              <a:ext uri="{FF2B5EF4-FFF2-40B4-BE49-F238E27FC236}">
                <a16:creationId xmlns="" xmlns:a16="http://schemas.microsoft.com/office/drawing/2014/main" id="{3D9B20DA-AA59-4AA9-AC84-6C3B8844582A}"/>
              </a:ext>
            </a:extLst>
          </p:cNvPr>
          <p:cNvCxnSpPr>
            <a:cxnSpLocks/>
            <a:stCxn id="31" idx="0"/>
            <a:endCxn id="24" idx="2"/>
          </p:cNvCxnSpPr>
          <p:nvPr/>
        </p:nvCxnSpPr>
        <p:spPr>
          <a:xfrm flipV="1">
            <a:off x="10654953" y="3540126"/>
            <a:ext cx="0" cy="898877"/>
          </a:xfrm>
          <a:prstGeom prst="straightConnector1">
            <a:avLst/>
          </a:prstGeom>
          <a:noFill/>
          <a:ln w="6350" cap="flat" cmpd="sng" algn="ctr">
            <a:solidFill>
              <a:schemeClr val="accent2"/>
            </a:solidFill>
            <a:prstDash val="solid"/>
            <a:headEnd type="oval" w="med" len="med"/>
            <a:tailEnd type="oval" w="med" len="med"/>
          </a:ln>
          <a:effectLst/>
        </p:spPr>
      </p:cxnSp>
      <p:cxnSp>
        <p:nvCxnSpPr>
          <p:cNvPr id="67" name="직선 화살표 연결선 66">
            <a:extLst>
              <a:ext uri="{FF2B5EF4-FFF2-40B4-BE49-F238E27FC236}">
                <a16:creationId xmlns="" xmlns:a16="http://schemas.microsoft.com/office/drawing/2014/main" id="{3D9B20DA-AA59-4AA9-AC84-6C3B8844582A}"/>
              </a:ext>
            </a:extLst>
          </p:cNvPr>
          <p:cNvCxnSpPr>
            <a:cxnSpLocks/>
            <a:stCxn id="25" idx="0"/>
            <a:endCxn id="21" idx="2"/>
          </p:cNvCxnSpPr>
          <p:nvPr/>
        </p:nvCxnSpPr>
        <p:spPr>
          <a:xfrm flipV="1">
            <a:off x="2963623" y="3540126"/>
            <a:ext cx="0" cy="898877"/>
          </a:xfrm>
          <a:prstGeom prst="straightConnector1">
            <a:avLst/>
          </a:prstGeom>
          <a:noFill/>
          <a:ln w="6350" cap="flat" cmpd="sng" algn="ctr">
            <a:solidFill>
              <a:schemeClr val="accent2"/>
            </a:solidFill>
            <a:prstDash val="solid"/>
            <a:headEnd type="oval" w="med" len="med"/>
            <a:tailEnd type="oval" w="med" len="med"/>
          </a:ln>
          <a:effectLst/>
        </p:spPr>
      </p:cxnSp>
      <p:sp>
        <p:nvSpPr>
          <p:cNvPr id="70" name="TextBox 69"/>
          <p:cNvSpPr txBox="1"/>
          <p:nvPr/>
        </p:nvSpPr>
        <p:spPr>
          <a:xfrm>
            <a:off x="1810800" y="4549541"/>
            <a:ext cx="483072" cy="318924"/>
          </a:xfrm>
          <a:prstGeom prst="rect">
            <a:avLst/>
          </a:prstGeom>
          <a:noFill/>
        </p:spPr>
        <p:txBody>
          <a:bodyPr wrap="none" lIns="36000" tIns="36000" rIns="36000" bIns="36000" rtlCol="0" anchor="ctr">
            <a:spAutoFit/>
          </a:bodyPr>
          <a:lstStyle/>
          <a:p>
            <a:pPr algn="ctr"/>
            <a:r>
              <a:rPr lang="en-US" altLang="ko-KR" sz="8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OMS</a:t>
            </a:r>
          </a:p>
          <a:p>
            <a:pPr algn="ctr"/>
            <a:r>
              <a:rPr lang="ko-KR" altLang="en-US" sz="8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주문상태</a:t>
            </a:r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75" name="직선 화살표 연결선 74">
            <a:extLst>
              <a:ext uri="{FF2B5EF4-FFF2-40B4-BE49-F238E27FC236}">
                <a16:creationId xmlns="" xmlns:a16="http://schemas.microsoft.com/office/drawing/2014/main" id="{3D9B20DA-AA59-4AA9-AC84-6C3B8844582A}"/>
              </a:ext>
            </a:extLst>
          </p:cNvPr>
          <p:cNvCxnSpPr>
            <a:cxnSpLocks/>
            <a:stCxn id="22" idx="3"/>
            <a:endCxn id="23" idx="1"/>
          </p:cNvCxnSpPr>
          <p:nvPr/>
        </p:nvCxnSpPr>
        <p:spPr>
          <a:xfrm>
            <a:off x="9092119" y="3270126"/>
            <a:ext cx="241416" cy="0"/>
          </a:xfrm>
          <a:prstGeom prst="straightConnector1">
            <a:avLst/>
          </a:prstGeom>
          <a:noFill/>
          <a:ln w="38100" cap="flat" cmpd="sng" algn="ctr">
            <a:solidFill>
              <a:schemeClr val="accent1">
                <a:lumMod val="20000"/>
                <a:lumOff val="80000"/>
              </a:schemeClr>
            </a:solidFill>
            <a:prstDash val="solid"/>
            <a:headEnd type="none" w="med" len="med"/>
            <a:tailEnd type="triangle" w="med" len="med"/>
          </a:ln>
          <a:effectLst/>
        </p:spPr>
      </p:cxnSp>
      <p:cxnSp>
        <p:nvCxnSpPr>
          <p:cNvPr id="78" name="직선 화살표 연결선 77">
            <a:extLst>
              <a:ext uri="{FF2B5EF4-FFF2-40B4-BE49-F238E27FC236}">
                <a16:creationId xmlns="" xmlns:a16="http://schemas.microsoft.com/office/drawing/2014/main" id="{3D9B20DA-AA59-4AA9-AC84-6C3B8844582A}"/>
              </a:ext>
            </a:extLst>
          </p:cNvPr>
          <p:cNvCxnSpPr>
            <a:cxnSpLocks/>
            <a:stCxn id="23" idx="3"/>
            <a:endCxn id="24" idx="1"/>
          </p:cNvCxnSpPr>
          <p:nvPr/>
        </p:nvCxnSpPr>
        <p:spPr>
          <a:xfrm>
            <a:off x="10053535" y="3270126"/>
            <a:ext cx="241418" cy="0"/>
          </a:xfrm>
          <a:prstGeom prst="straightConnector1">
            <a:avLst/>
          </a:prstGeom>
          <a:noFill/>
          <a:ln w="38100" cap="flat" cmpd="sng" algn="ctr">
            <a:solidFill>
              <a:schemeClr val="accent1">
                <a:lumMod val="20000"/>
                <a:lumOff val="80000"/>
              </a:schemeClr>
            </a:solidFill>
            <a:prstDash val="solid"/>
            <a:headEnd type="none" w="med" len="med"/>
            <a:tailEnd type="triangle" w="med" len="med"/>
          </a:ln>
          <a:effectLst/>
        </p:spPr>
      </p:cxnSp>
      <p:cxnSp>
        <p:nvCxnSpPr>
          <p:cNvPr id="81" name="직선 화살표 연결선 80">
            <a:extLst>
              <a:ext uri="{FF2B5EF4-FFF2-40B4-BE49-F238E27FC236}">
                <a16:creationId xmlns="" xmlns:a16="http://schemas.microsoft.com/office/drawing/2014/main" id="{3D9B20DA-AA59-4AA9-AC84-6C3B8844582A}"/>
              </a:ext>
            </a:extLst>
          </p:cNvPr>
          <p:cNvCxnSpPr>
            <a:cxnSpLocks/>
            <a:stCxn id="25" idx="3"/>
            <a:endCxn id="34" idx="1"/>
          </p:cNvCxnSpPr>
          <p:nvPr/>
        </p:nvCxnSpPr>
        <p:spPr>
          <a:xfrm>
            <a:off x="3323623" y="4709003"/>
            <a:ext cx="241416" cy="0"/>
          </a:xfrm>
          <a:prstGeom prst="straightConnector1">
            <a:avLst/>
          </a:prstGeom>
          <a:noFill/>
          <a:ln w="38100" cap="flat" cmpd="sng" algn="ctr">
            <a:solidFill>
              <a:schemeClr val="accent6">
                <a:lumMod val="20000"/>
                <a:lumOff val="80000"/>
              </a:schemeClr>
            </a:solidFill>
            <a:prstDash val="solid"/>
            <a:headEnd type="none" w="med" len="med"/>
            <a:tailEnd type="triangle" w="med" len="med"/>
          </a:ln>
          <a:effectLst/>
        </p:spPr>
      </p:cxnSp>
      <p:cxnSp>
        <p:nvCxnSpPr>
          <p:cNvPr id="84" name="직선 화살표 연결선 83">
            <a:extLst>
              <a:ext uri="{FF2B5EF4-FFF2-40B4-BE49-F238E27FC236}">
                <a16:creationId xmlns="" xmlns:a16="http://schemas.microsoft.com/office/drawing/2014/main" id="{3D9B20DA-AA59-4AA9-AC84-6C3B8844582A}"/>
              </a:ext>
            </a:extLst>
          </p:cNvPr>
          <p:cNvCxnSpPr>
            <a:cxnSpLocks/>
            <a:stCxn id="35" idx="3"/>
            <a:endCxn id="54" idx="1"/>
          </p:cNvCxnSpPr>
          <p:nvPr/>
        </p:nvCxnSpPr>
        <p:spPr>
          <a:xfrm>
            <a:off x="6207871" y="4709003"/>
            <a:ext cx="241416" cy="0"/>
          </a:xfrm>
          <a:prstGeom prst="straightConnector1">
            <a:avLst/>
          </a:prstGeom>
          <a:noFill/>
          <a:ln w="38100" cap="flat" cmpd="sng" algn="ctr">
            <a:solidFill>
              <a:schemeClr val="accent4">
                <a:lumMod val="40000"/>
                <a:lumOff val="60000"/>
              </a:schemeClr>
            </a:solidFill>
            <a:prstDash val="solid"/>
            <a:headEnd type="none" w="med" len="med"/>
            <a:tailEnd type="triangle" w="med" len="med"/>
          </a:ln>
          <a:effectLst/>
        </p:spPr>
      </p:cxnSp>
      <p:cxnSp>
        <p:nvCxnSpPr>
          <p:cNvPr id="88" name="직선 화살표 연결선 87">
            <a:extLst>
              <a:ext uri="{FF2B5EF4-FFF2-40B4-BE49-F238E27FC236}">
                <a16:creationId xmlns="" xmlns:a16="http://schemas.microsoft.com/office/drawing/2014/main" id="{3D9B20DA-AA59-4AA9-AC84-6C3B8844582A}"/>
              </a:ext>
            </a:extLst>
          </p:cNvPr>
          <p:cNvCxnSpPr>
            <a:cxnSpLocks/>
            <a:stCxn id="54" idx="3"/>
            <a:endCxn id="26" idx="1"/>
          </p:cNvCxnSpPr>
          <p:nvPr/>
        </p:nvCxnSpPr>
        <p:spPr>
          <a:xfrm>
            <a:off x="7169287" y="4709003"/>
            <a:ext cx="241416" cy="0"/>
          </a:xfrm>
          <a:prstGeom prst="straightConnector1">
            <a:avLst/>
          </a:prstGeom>
          <a:noFill/>
          <a:ln w="38100" cap="flat" cmpd="sng" algn="ctr">
            <a:solidFill>
              <a:schemeClr val="accent6">
                <a:lumMod val="20000"/>
                <a:lumOff val="80000"/>
              </a:schemeClr>
            </a:solidFill>
            <a:prstDash val="solid"/>
            <a:headEnd type="none" w="med" len="med"/>
            <a:tailEnd type="triangle" w="med" len="med"/>
          </a:ln>
          <a:effectLst/>
        </p:spPr>
      </p:cxnSp>
      <p:sp>
        <p:nvSpPr>
          <p:cNvPr id="90" name="왼쪽 중괄호 89"/>
          <p:cNvSpPr/>
          <p:nvPr/>
        </p:nvSpPr>
        <p:spPr>
          <a:xfrm rot="16200000">
            <a:off x="5275042" y="3650094"/>
            <a:ext cx="180000" cy="3600000"/>
          </a:xfrm>
          <a:prstGeom prst="leftBrace">
            <a:avLst/>
          </a:prstGeom>
          <a:ln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1" name="TextBox 90"/>
          <p:cNvSpPr txBox="1"/>
          <p:nvPr/>
        </p:nvSpPr>
        <p:spPr>
          <a:xfrm>
            <a:off x="3385051" y="5675708"/>
            <a:ext cx="3959986" cy="226591"/>
          </a:xfrm>
          <a:prstGeom prst="rect">
            <a:avLst/>
          </a:prstGeom>
          <a:noFill/>
        </p:spPr>
        <p:txBody>
          <a:bodyPr wrap="none" lIns="36000" tIns="36000" rIns="36000" bIns="36000" rtlCol="0" anchor="ctr">
            <a:spAutoFit/>
          </a:bodyPr>
          <a:lstStyle/>
          <a:p>
            <a:pPr algn="ctr"/>
            <a:r>
              <a:rPr lang="ko-KR" altLang="en-US" sz="1000" b="1" smtClean="0">
                <a:solidFill>
                  <a:schemeClr val="accent6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매장 물량이동지시</a:t>
            </a:r>
            <a:r>
              <a:rPr lang="en-US" altLang="ko-KR" sz="1000" b="1" smtClean="0">
                <a:solidFill>
                  <a:schemeClr val="accent6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(RT) </a:t>
            </a:r>
            <a:r>
              <a:rPr lang="ko-KR" altLang="en-US" sz="1000" b="1" smtClean="0">
                <a:solidFill>
                  <a:schemeClr val="accent6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진행 상태를 </a:t>
            </a:r>
            <a:r>
              <a:rPr lang="en-US" altLang="ko-KR" sz="1000" b="1" smtClean="0">
                <a:solidFill>
                  <a:schemeClr val="accent6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LFmall (NBOS) </a:t>
            </a:r>
            <a:r>
              <a:rPr lang="ko-KR" altLang="en-US" sz="1000" b="1" smtClean="0">
                <a:solidFill>
                  <a:schemeClr val="accent6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에서 확인 불가</a:t>
            </a:r>
            <a:endParaRPr lang="ko-KR" altLang="en-US" sz="1000" b="1" dirty="0">
              <a:solidFill>
                <a:schemeClr val="accent6">
                  <a:lumMod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5" name="왼쪽/오른쪽 화살표 94"/>
          <p:cNvSpPr/>
          <p:nvPr/>
        </p:nvSpPr>
        <p:spPr>
          <a:xfrm>
            <a:off x="3565038" y="3000126"/>
            <a:ext cx="3600003" cy="540000"/>
          </a:xfrm>
          <a:prstGeom prst="leftRightArrow">
            <a:avLst/>
          </a:prstGeom>
          <a:solidFill>
            <a:schemeClr val="accent2">
              <a:lumMod val="20000"/>
              <a:lumOff val="80000"/>
            </a:schemeClr>
          </a:solidFill>
          <a:ln w="3175">
            <a:noFill/>
          </a:ln>
          <a:effectLst>
            <a:outerShdw blurRad="25400" dist="25400" dir="2700000" algn="tl" rotWithShape="0">
              <a:schemeClr val="tx1">
                <a:lumMod val="75000"/>
                <a:lumOff val="2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모니터링 불가</a:t>
            </a:r>
            <a:endParaRPr lang="ko-KR" altLang="en-US" sz="80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1602119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1" name="그룹 180"/>
          <p:cNvGrpSpPr/>
          <p:nvPr/>
        </p:nvGrpSpPr>
        <p:grpSpPr>
          <a:xfrm>
            <a:off x="3563903" y="1356442"/>
            <a:ext cx="1440000" cy="4896000"/>
            <a:chOff x="8099430" y="1356442"/>
            <a:chExt cx="1440000" cy="4896000"/>
          </a:xfrm>
        </p:grpSpPr>
        <p:cxnSp>
          <p:nvCxnSpPr>
            <p:cNvPr id="162" name="직선 연결선 161"/>
            <p:cNvCxnSpPr/>
            <p:nvPr/>
          </p:nvCxnSpPr>
          <p:spPr>
            <a:xfrm>
              <a:off x="8100377" y="1356442"/>
              <a:ext cx="0" cy="4896000"/>
            </a:xfrm>
            <a:prstGeom prst="line">
              <a:avLst/>
            </a:prstGeom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1" name="직사각형 170"/>
            <p:cNvSpPr/>
            <p:nvPr/>
          </p:nvSpPr>
          <p:spPr>
            <a:xfrm>
              <a:off x="8099430" y="1356442"/>
              <a:ext cx="1440000" cy="288000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800" b="1" smtClean="0">
                  <a:solidFill>
                    <a:schemeClr val="bg1"/>
                  </a:solidFill>
                  <a:latin typeface="맑은 고딕" panose="020B0503020000020004" pitchFamily="50" charset="-127"/>
                </a:rPr>
                <a:t>1</a:t>
              </a:r>
              <a:r>
                <a:rPr lang="ko-KR" altLang="en-US" sz="800" b="1" smtClean="0">
                  <a:solidFill>
                    <a:schemeClr val="bg1"/>
                  </a:solidFill>
                  <a:latin typeface="맑은 고딕" panose="020B0503020000020004" pitchFamily="50" charset="-127"/>
                </a:rPr>
                <a:t>월</a:t>
              </a:r>
              <a:endParaRPr lang="ko-KR" altLang="en-US" sz="800" b="1" dirty="0">
                <a:solidFill>
                  <a:schemeClr val="bg1"/>
                </a:solidFill>
                <a:latin typeface="맑은 고딕" panose="020B0503020000020004" pitchFamily="50" charset="-127"/>
              </a:endParaRPr>
            </a:p>
          </p:txBody>
        </p:sp>
        <p:cxnSp>
          <p:nvCxnSpPr>
            <p:cNvPr id="172" name="직선 연결선 171"/>
            <p:cNvCxnSpPr/>
            <p:nvPr/>
          </p:nvCxnSpPr>
          <p:spPr>
            <a:xfrm>
              <a:off x="9539430" y="1356442"/>
              <a:ext cx="0" cy="4896000"/>
            </a:xfrm>
            <a:prstGeom prst="line">
              <a:avLst/>
            </a:prstGeom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3" name="직선 연결선 172"/>
            <p:cNvCxnSpPr/>
            <p:nvPr/>
          </p:nvCxnSpPr>
          <p:spPr>
            <a:xfrm>
              <a:off x="8459430" y="1644442"/>
              <a:ext cx="0" cy="4608000"/>
            </a:xfrm>
            <a:prstGeom prst="line">
              <a:avLst/>
            </a:prstGeom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직선 연결선 173"/>
            <p:cNvCxnSpPr/>
            <p:nvPr/>
          </p:nvCxnSpPr>
          <p:spPr>
            <a:xfrm>
              <a:off x="9179430" y="1644442"/>
              <a:ext cx="0" cy="4608000"/>
            </a:xfrm>
            <a:prstGeom prst="line">
              <a:avLst/>
            </a:prstGeom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" name="직선 연결선 174"/>
            <p:cNvCxnSpPr/>
            <p:nvPr/>
          </p:nvCxnSpPr>
          <p:spPr>
            <a:xfrm>
              <a:off x="8819430" y="1644442"/>
              <a:ext cx="0" cy="4608000"/>
            </a:xfrm>
            <a:prstGeom prst="line">
              <a:avLst/>
            </a:prstGeom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6" name="직사각형 175"/>
            <p:cNvSpPr/>
            <p:nvPr/>
          </p:nvSpPr>
          <p:spPr>
            <a:xfrm>
              <a:off x="8819430" y="1644442"/>
              <a:ext cx="360000" cy="288000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800" b="1">
                  <a:solidFill>
                    <a:schemeClr val="bg1"/>
                  </a:solidFill>
                  <a:latin typeface="맑은 고딕" panose="020B0503020000020004" pitchFamily="50" charset="-127"/>
                </a:rPr>
                <a:t>3W</a:t>
              </a:r>
              <a:endParaRPr lang="ko-KR" altLang="en-US" sz="800" b="1" dirty="0">
                <a:solidFill>
                  <a:schemeClr val="bg1"/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177" name="직사각형 176"/>
            <p:cNvSpPr/>
            <p:nvPr/>
          </p:nvSpPr>
          <p:spPr>
            <a:xfrm>
              <a:off x="9179430" y="1644442"/>
              <a:ext cx="360000" cy="288000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800" b="1">
                  <a:solidFill>
                    <a:schemeClr val="bg1"/>
                  </a:solidFill>
                  <a:latin typeface="맑은 고딕" panose="020B0503020000020004" pitchFamily="50" charset="-127"/>
                </a:rPr>
                <a:t>4W</a:t>
              </a:r>
              <a:endParaRPr lang="ko-KR" altLang="en-US" sz="800" b="1" dirty="0">
                <a:solidFill>
                  <a:schemeClr val="bg1"/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178" name="직사각형 177"/>
            <p:cNvSpPr/>
            <p:nvPr/>
          </p:nvSpPr>
          <p:spPr>
            <a:xfrm>
              <a:off x="8459430" y="1644442"/>
              <a:ext cx="360000" cy="288000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800" b="1">
                  <a:solidFill>
                    <a:schemeClr val="bg1"/>
                  </a:solidFill>
                  <a:latin typeface="맑은 고딕" panose="020B0503020000020004" pitchFamily="50" charset="-127"/>
                </a:rPr>
                <a:t>2W</a:t>
              </a:r>
              <a:endParaRPr lang="ko-KR" altLang="en-US" sz="800" b="1" dirty="0">
                <a:solidFill>
                  <a:schemeClr val="bg1"/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179" name="직사각형 178"/>
            <p:cNvSpPr/>
            <p:nvPr/>
          </p:nvSpPr>
          <p:spPr>
            <a:xfrm>
              <a:off x="8099430" y="1644442"/>
              <a:ext cx="360000" cy="288000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800" b="1" smtClean="0">
                  <a:solidFill>
                    <a:schemeClr val="bg1"/>
                  </a:solidFill>
                  <a:latin typeface="맑은 고딕" panose="020B0503020000020004" pitchFamily="50" charset="-127"/>
                </a:rPr>
                <a:t>1W</a:t>
              </a:r>
              <a:endParaRPr lang="ko-KR" altLang="en-US" sz="800" b="1" dirty="0">
                <a:solidFill>
                  <a:schemeClr val="bg1"/>
                </a:solidFill>
                <a:latin typeface="맑은 고딕" panose="020B0503020000020004" pitchFamily="50" charset="-127"/>
              </a:endParaRPr>
            </a:p>
          </p:txBody>
        </p:sp>
      </p:grpSp>
      <p:grpSp>
        <p:nvGrpSpPr>
          <p:cNvPr id="198" name="그룹 197"/>
          <p:cNvGrpSpPr/>
          <p:nvPr/>
        </p:nvGrpSpPr>
        <p:grpSpPr>
          <a:xfrm>
            <a:off x="5004861" y="1356442"/>
            <a:ext cx="1440000" cy="4896000"/>
            <a:chOff x="8099430" y="1356442"/>
            <a:chExt cx="1440000" cy="4896000"/>
          </a:xfrm>
        </p:grpSpPr>
        <p:sp>
          <p:nvSpPr>
            <p:cNvPr id="200" name="직사각형 199"/>
            <p:cNvSpPr/>
            <p:nvPr/>
          </p:nvSpPr>
          <p:spPr>
            <a:xfrm>
              <a:off x="8099430" y="1356442"/>
              <a:ext cx="1440000" cy="288000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800" b="1" smtClean="0">
                  <a:solidFill>
                    <a:schemeClr val="bg1"/>
                  </a:solidFill>
                  <a:latin typeface="맑은 고딕" panose="020B0503020000020004" pitchFamily="50" charset="-127"/>
                </a:rPr>
                <a:t>2</a:t>
              </a:r>
              <a:r>
                <a:rPr lang="ko-KR" altLang="en-US" sz="800" b="1" smtClean="0">
                  <a:solidFill>
                    <a:schemeClr val="bg1"/>
                  </a:solidFill>
                  <a:latin typeface="맑은 고딕" panose="020B0503020000020004" pitchFamily="50" charset="-127"/>
                </a:rPr>
                <a:t>월</a:t>
              </a:r>
              <a:endParaRPr lang="ko-KR" altLang="en-US" sz="800" b="1" dirty="0">
                <a:solidFill>
                  <a:schemeClr val="bg1"/>
                </a:solidFill>
                <a:latin typeface="맑은 고딕" panose="020B0503020000020004" pitchFamily="50" charset="-127"/>
              </a:endParaRPr>
            </a:p>
          </p:txBody>
        </p:sp>
        <p:cxnSp>
          <p:nvCxnSpPr>
            <p:cNvPr id="201" name="직선 연결선 200"/>
            <p:cNvCxnSpPr/>
            <p:nvPr/>
          </p:nvCxnSpPr>
          <p:spPr>
            <a:xfrm>
              <a:off x="9539430" y="1356442"/>
              <a:ext cx="0" cy="4896000"/>
            </a:xfrm>
            <a:prstGeom prst="line">
              <a:avLst/>
            </a:prstGeom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2" name="직선 연결선 201"/>
            <p:cNvCxnSpPr/>
            <p:nvPr/>
          </p:nvCxnSpPr>
          <p:spPr>
            <a:xfrm>
              <a:off x="8459430" y="1644442"/>
              <a:ext cx="0" cy="4608000"/>
            </a:xfrm>
            <a:prstGeom prst="line">
              <a:avLst/>
            </a:prstGeom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3" name="직선 연결선 202"/>
            <p:cNvCxnSpPr/>
            <p:nvPr/>
          </p:nvCxnSpPr>
          <p:spPr>
            <a:xfrm>
              <a:off x="9179430" y="1644442"/>
              <a:ext cx="0" cy="4608000"/>
            </a:xfrm>
            <a:prstGeom prst="line">
              <a:avLst/>
            </a:prstGeom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4" name="직선 연결선 203"/>
            <p:cNvCxnSpPr/>
            <p:nvPr/>
          </p:nvCxnSpPr>
          <p:spPr>
            <a:xfrm>
              <a:off x="8819430" y="1644442"/>
              <a:ext cx="0" cy="4608000"/>
            </a:xfrm>
            <a:prstGeom prst="line">
              <a:avLst/>
            </a:prstGeom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5" name="직사각형 204"/>
            <p:cNvSpPr/>
            <p:nvPr/>
          </p:nvSpPr>
          <p:spPr>
            <a:xfrm>
              <a:off x="8819430" y="1644442"/>
              <a:ext cx="360000" cy="288000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800" b="1">
                  <a:solidFill>
                    <a:schemeClr val="bg1"/>
                  </a:solidFill>
                  <a:latin typeface="맑은 고딕" panose="020B0503020000020004" pitchFamily="50" charset="-127"/>
                </a:rPr>
                <a:t>3W</a:t>
              </a:r>
              <a:endParaRPr lang="ko-KR" altLang="en-US" sz="800" b="1" dirty="0">
                <a:solidFill>
                  <a:schemeClr val="bg1"/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206" name="직사각형 205"/>
            <p:cNvSpPr/>
            <p:nvPr/>
          </p:nvSpPr>
          <p:spPr>
            <a:xfrm>
              <a:off x="9179430" y="1644442"/>
              <a:ext cx="360000" cy="288000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800" b="1">
                  <a:solidFill>
                    <a:schemeClr val="bg1"/>
                  </a:solidFill>
                  <a:latin typeface="맑은 고딕" panose="020B0503020000020004" pitchFamily="50" charset="-127"/>
                </a:rPr>
                <a:t>4W</a:t>
              </a:r>
              <a:endParaRPr lang="ko-KR" altLang="en-US" sz="800" b="1" dirty="0">
                <a:solidFill>
                  <a:schemeClr val="bg1"/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207" name="직사각형 206"/>
            <p:cNvSpPr/>
            <p:nvPr/>
          </p:nvSpPr>
          <p:spPr>
            <a:xfrm>
              <a:off x="8459430" y="1644442"/>
              <a:ext cx="360000" cy="288000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800" b="1">
                  <a:solidFill>
                    <a:schemeClr val="bg1"/>
                  </a:solidFill>
                  <a:latin typeface="맑은 고딕" panose="020B0503020000020004" pitchFamily="50" charset="-127"/>
                </a:rPr>
                <a:t>2W</a:t>
              </a:r>
              <a:endParaRPr lang="ko-KR" altLang="en-US" sz="800" b="1" dirty="0">
                <a:solidFill>
                  <a:schemeClr val="bg1"/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208" name="직사각형 207"/>
            <p:cNvSpPr/>
            <p:nvPr/>
          </p:nvSpPr>
          <p:spPr>
            <a:xfrm>
              <a:off x="8099430" y="1644442"/>
              <a:ext cx="360000" cy="288000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800" b="1" smtClean="0">
                  <a:solidFill>
                    <a:schemeClr val="bg1"/>
                  </a:solidFill>
                  <a:latin typeface="맑은 고딕" panose="020B0503020000020004" pitchFamily="50" charset="-127"/>
                </a:rPr>
                <a:t>1W</a:t>
              </a:r>
              <a:endParaRPr lang="ko-KR" altLang="en-US" sz="800" b="1" dirty="0">
                <a:solidFill>
                  <a:schemeClr val="bg1"/>
                </a:solidFill>
                <a:latin typeface="맑은 고딕" panose="020B0503020000020004" pitchFamily="50" charset="-127"/>
              </a:endParaRPr>
            </a:p>
          </p:txBody>
        </p:sp>
      </p:grpSp>
      <p:grpSp>
        <p:nvGrpSpPr>
          <p:cNvPr id="231" name="그룹 230"/>
          <p:cNvGrpSpPr/>
          <p:nvPr/>
        </p:nvGrpSpPr>
        <p:grpSpPr>
          <a:xfrm>
            <a:off x="1763904" y="1356442"/>
            <a:ext cx="1800000" cy="4896000"/>
            <a:chOff x="6660377" y="1356442"/>
            <a:chExt cx="1800000" cy="4896000"/>
          </a:xfrm>
        </p:grpSpPr>
        <p:sp>
          <p:nvSpPr>
            <p:cNvPr id="232" name="직사각형 231"/>
            <p:cNvSpPr/>
            <p:nvPr/>
          </p:nvSpPr>
          <p:spPr>
            <a:xfrm>
              <a:off x="6660377" y="1356442"/>
              <a:ext cx="1800000" cy="288000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800" b="1" smtClean="0">
                  <a:solidFill>
                    <a:schemeClr val="bg1"/>
                  </a:solidFill>
                  <a:latin typeface="맑은 고딕" panose="020B0503020000020004" pitchFamily="50" charset="-127"/>
                </a:rPr>
                <a:t>12</a:t>
              </a:r>
              <a:r>
                <a:rPr lang="ko-KR" altLang="en-US" sz="800" b="1" smtClean="0">
                  <a:solidFill>
                    <a:schemeClr val="bg1"/>
                  </a:solidFill>
                  <a:latin typeface="맑은 고딕" panose="020B0503020000020004" pitchFamily="50" charset="-127"/>
                </a:rPr>
                <a:t>월</a:t>
              </a:r>
              <a:endParaRPr lang="ko-KR" altLang="en-US" sz="800" b="1" dirty="0">
                <a:solidFill>
                  <a:schemeClr val="bg1"/>
                </a:solidFill>
                <a:latin typeface="맑은 고딕" panose="020B0503020000020004" pitchFamily="50" charset="-127"/>
              </a:endParaRPr>
            </a:p>
          </p:txBody>
        </p:sp>
        <p:grpSp>
          <p:nvGrpSpPr>
            <p:cNvPr id="233" name="그룹 232"/>
            <p:cNvGrpSpPr/>
            <p:nvPr/>
          </p:nvGrpSpPr>
          <p:grpSpPr>
            <a:xfrm>
              <a:off x="6660378" y="1644442"/>
              <a:ext cx="360000" cy="4608000"/>
              <a:chOff x="6660378" y="1644442"/>
              <a:chExt cx="360000" cy="4608000"/>
            </a:xfrm>
          </p:grpSpPr>
          <p:cxnSp>
            <p:nvCxnSpPr>
              <p:cNvPr id="244" name="직선 연결선 243"/>
              <p:cNvCxnSpPr/>
              <p:nvPr/>
            </p:nvCxnSpPr>
            <p:spPr>
              <a:xfrm>
                <a:off x="7020378" y="1644442"/>
                <a:ext cx="0" cy="4608000"/>
              </a:xfrm>
              <a:prstGeom prst="line">
                <a:avLst/>
              </a:prstGeom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45" name="직사각형 244"/>
              <p:cNvSpPr/>
              <p:nvPr/>
            </p:nvSpPr>
            <p:spPr>
              <a:xfrm>
                <a:off x="6660378" y="1644442"/>
                <a:ext cx="360000" cy="288000"/>
              </a:xfrm>
              <a:prstGeom prst="rect">
                <a:avLst/>
              </a:prstGeom>
              <a:solidFill>
                <a:schemeClr val="bg1">
                  <a:lumMod val="50000"/>
                </a:schemeClr>
              </a:solidFill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ko-KR" sz="800" b="1">
                    <a:solidFill>
                      <a:schemeClr val="bg1"/>
                    </a:solidFill>
                    <a:latin typeface="맑은 고딕" panose="020B0503020000020004" pitchFamily="50" charset="-127"/>
                  </a:rPr>
                  <a:t>1W</a:t>
                </a:r>
                <a:endParaRPr lang="ko-KR" altLang="en-US" sz="800" b="1" dirty="0">
                  <a:solidFill>
                    <a:schemeClr val="bg1"/>
                  </a:solidFill>
                  <a:latin typeface="맑은 고딕" panose="020B0503020000020004" pitchFamily="50" charset="-127"/>
                </a:endParaRPr>
              </a:p>
            </p:txBody>
          </p:sp>
        </p:grpSp>
        <p:grpSp>
          <p:nvGrpSpPr>
            <p:cNvPr id="234" name="그룹 233"/>
            <p:cNvGrpSpPr/>
            <p:nvPr/>
          </p:nvGrpSpPr>
          <p:grpSpPr>
            <a:xfrm>
              <a:off x="7380378" y="1644442"/>
              <a:ext cx="360000" cy="4608000"/>
              <a:chOff x="7236378" y="1644442"/>
              <a:chExt cx="360000" cy="4608000"/>
            </a:xfrm>
          </p:grpSpPr>
          <p:cxnSp>
            <p:nvCxnSpPr>
              <p:cNvPr id="242" name="직선 연결선 241"/>
              <p:cNvCxnSpPr/>
              <p:nvPr/>
            </p:nvCxnSpPr>
            <p:spPr>
              <a:xfrm>
                <a:off x="7596378" y="1644442"/>
                <a:ext cx="0" cy="4608000"/>
              </a:xfrm>
              <a:prstGeom prst="line">
                <a:avLst/>
              </a:prstGeom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43" name="직사각형 242"/>
              <p:cNvSpPr/>
              <p:nvPr/>
            </p:nvSpPr>
            <p:spPr>
              <a:xfrm>
                <a:off x="7236378" y="1644442"/>
                <a:ext cx="360000" cy="288000"/>
              </a:xfrm>
              <a:prstGeom prst="rect">
                <a:avLst/>
              </a:prstGeom>
              <a:solidFill>
                <a:schemeClr val="bg1">
                  <a:lumMod val="50000"/>
                </a:schemeClr>
              </a:solidFill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ko-KR" sz="800" b="1">
                    <a:solidFill>
                      <a:schemeClr val="bg1"/>
                    </a:solidFill>
                    <a:latin typeface="맑은 고딕" panose="020B0503020000020004" pitchFamily="50" charset="-127"/>
                  </a:rPr>
                  <a:t>3W</a:t>
                </a:r>
                <a:endParaRPr lang="ko-KR" altLang="en-US" sz="800" b="1" dirty="0">
                  <a:solidFill>
                    <a:schemeClr val="bg1"/>
                  </a:solidFill>
                  <a:latin typeface="맑은 고딕" panose="020B0503020000020004" pitchFamily="50" charset="-127"/>
                </a:endParaRPr>
              </a:p>
            </p:txBody>
          </p:sp>
        </p:grpSp>
        <p:grpSp>
          <p:nvGrpSpPr>
            <p:cNvPr id="235" name="그룹 234"/>
            <p:cNvGrpSpPr/>
            <p:nvPr/>
          </p:nvGrpSpPr>
          <p:grpSpPr>
            <a:xfrm>
              <a:off x="7740378" y="1644442"/>
              <a:ext cx="360000" cy="4608000"/>
              <a:chOff x="7524378" y="1644442"/>
              <a:chExt cx="360000" cy="4608000"/>
            </a:xfrm>
          </p:grpSpPr>
          <p:cxnSp>
            <p:nvCxnSpPr>
              <p:cNvPr id="240" name="직선 연결선 239"/>
              <p:cNvCxnSpPr/>
              <p:nvPr/>
            </p:nvCxnSpPr>
            <p:spPr>
              <a:xfrm>
                <a:off x="7884378" y="1644442"/>
                <a:ext cx="0" cy="4608000"/>
              </a:xfrm>
              <a:prstGeom prst="line">
                <a:avLst/>
              </a:prstGeom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41" name="직사각형 240"/>
              <p:cNvSpPr/>
              <p:nvPr/>
            </p:nvSpPr>
            <p:spPr>
              <a:xfrm>
                <a:off x="7524378" y="1644442"/>
                <a:ext cx="360000" cy="288000"/>
              </a:xfrm>
              <a:prstGeom prst="rect">
                <a:avLst/>
              </a:prstGeom>
              <a:solidFill>
                <a:schemeClr val="bg1">
                  <a:lumMod val="50000"/>
                </a:schemeClr>
              </a:solidFill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ko-KR" sz="800" b="1">
                    <a:solidFill>
                      <a:schemeClr val="bg1"/>
                    </a:solidFill>
                    <a:latin typeface="맑은 고딕" panose="020B0503020000020004" pitchFamily="50" charset="-127"/>
                  </a:rPr>
                  <a:t>4W</a:t>
                </a:r>
                <a:endParaRPr lang="ko-KR" altLang="en-US" sz="800" b="1" dirty="0">
                  <a:solidFill>
                    <a:schemeClr val="bg1"/>
                  </a:solidFill>
                  <a:latin typeface="맑은 고딕" panose="020B0503020000020004" pitchFamily="50" charset="-127"/>
                </a:endParaRPr>
              </a:p>
            </p:txBody>
          </p:sp>
        </p:grpSp>
        <p:grpSp>
          <p:nvGrpSpPr>
            <p:cNvPr id="236" name="그룹 235"/>
            <p:cNvGrpSpPr/>
            <p:nvPr/>
          </p:nvGrpSpPr>
          <p:grpSpPr>
            <a:xfrm>
              <a:off x="7020378" y="1644442"/>
              <a:ext cx="360000" cy="4608000"/>
              <a:chOff x="6948378" y="1644442"/>
              <a:chExt cx="360000" cy="4608000"/>
            </a:xfrm>
          </p:grpSpPr>
          <p:cxnSp>
            <p:nvCxnSpPr>
              <p:cNvPr id="238" name="직선 연결선 237"/>
              <p:cNvCxnSpPr/>
              <p:nvPr/>
            </p:nvCxnSpPr>
            <p:spPr>
              <a:xfrm>
                <a:off x="7308378" y="1644442"/>
                <a:ext cx="0" cy="4608000"/>
              </a:xfrm>
              <a:prstGeom prst="line">
                <a:avLst/>
              </a:prstGeom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39" name="직사각형 238"/>
              <p:cNvSpPr/>
              <p:nvPr/>
            </p:nvSpPr>
            <p:spPr>
              <a:xfrm>
                <a:off x="6948378" y="1644442"/>
                <a:ext cx="360000" cy="288000"/>
              </a:xfrm>
              <a:prstGeom prst="rect">
                <a:avLst/>
              </a:prstGeom>
              <a:solidFill>
                <a:schemeClr val="bg1">
                  <a:lumMod val="50000"/>
                </a:schemeClr>
              </a:solidFill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ko-KR" sz="800" b="1">
                    <a:solidFill>
                      <a:schemeClr val="bg1"/>
                    </a:solidFill>
                    <a:latin typeface="맑은 고딕" panose="020B0503020000020004" pitchFamily="50" charset="-127"/>
                  </a:rPr>
                  <a:t>2W</a:t>
                </a:r>
                <a:endParaRPr lang="ko-KR" altLang="en-US" sz="800" b="1" dirty="0">
                  <a:solidFill>
                    <a:schemeClr val="bg1"/>
                  </a:solidFill>
                  <a:latin typeface="맑은 고딕" panose="020B0503020000020004" pitchFamily="50" charset="-127"/>
                </a:endParaRPr>
              </a:p>
            </p:txBody>
          </p:sp>
        </p:grpSp>
        <p:sp>
          <p:nvSpPr>
            <p:cNvPr id="237" name="직사각형 236"/>
            <p:cNvSpPr/>
            <p:nvPr/>
          </p:nvSpPr>
          <p:spPr>
            <a:xfrm>
              <a:off x="8100377" y="1644442"/>
              <a:ext cx="360000" cy="288000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800" b="1" smtClean="0">
                  <a:solidFill>
                    <a:schemeClr val="bg1"/>
                  </a:solidFill>
                  <a:latin typeface="맑은 고딕" panose="020B0503020000020004" pitchFamily="50" charset="-127"/>
                </a:rPr>
                <a:t>5W</a:t>
              </a:r>
              <a:endParaRPr lang="ko-KR" altLang="en-US" sz="800" b="1" dirty="0">
                <a:solidFill>
                  <a:schemeClr val="bg1"/>
                </a:solidFill>
                <a:latin typeface="맑은 고딕" panose="020B0503020000020004" pitchFamily="50" charset="-127"/>
              </a:endParaRPr>
            </a:p>
          </p:txBody>
        </p:sp>
      </p:grpSp>
      <p:sp>
        <p:nvSpPr>
          <p:cNvPr id="2" name="모서리가 둥근 직사각형 1"/>
          <p:cNvSpPr/>
          <p:nvPr/>
        </p:nvSpPr>
        <p:spPr>
          <a:xfrm>
            <a:off x="323906" y="737711"/>
            <a:ext cx="2088000" cy="360000"/>
          </a:xfrm>
          <a:prstGeom prst="roundRect">
            <a:avLst/>
          </a:prstGeom>
          <a:solidFill>
            <a:schemeClr val="tx1">
              <a:lumMod val="65000"/>
              <a:lumOff val="35000"/>
            </a:schemeClr>
          </a:solidFill>
          <a:ln w="381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0" tIns="36000" rIns="36000" bIns="36000" rtlCol="0" anchor="ctr"/>
          <a:lstStyle/>
          <a:p>
            <a:r>
              <a:rPr lang="ko-KR" altLang="en-US" sz="900" b="1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개발 예상 일정 </a:t>
            </a:r>
            <a:r>
              <a:rPr lang="en-US" altLang="ko-KR" sz="900" b="1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900" b="1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마일스톤</a:t>
            </a:r>
            <a:r>
              <a:rPr lang="en-US" altLang="ko-KR" sz="900" b="1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endParaRPr lang="ko-KR" altLang="en-US" sz="900" b="1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9795867" y="809989"/>
            <a:ext cx="2048959" cy="215444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r"/>
            <a:r>
              <a:rPr lang="en-US" altLang="ko-KR" sz="80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※ </a:t>
            </a:r>
            <a:r>
              <a:rPr lang="ko-KR" altLang="en-US" sz="80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상세 개발 일정은 변동될 수 있습니다</a:t>
            </a:r>
            <a:r>
              <a:rPr lang="en-US" altLang="ko-KR" sz="80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 sz="800" dirty="0">
              <a:solidFill>
                <a:srgbClr val="C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직사각형 3"/>
          <p:cNvSpPr/>
          <p:nvPr/>
        </p:nvSpPr>
        <p:spPr>
          <a:xfrm>
            <a:off x="323906" y="1356442"/>
            <a:ext cx="1440000" cy="576000"/>
          </a:xfrm>
          <a:prstGeom prst="rect">
            <a:avLst/>
          </a:prstGeom>
          <a:solidFill>
            <a:schemeClr val="bg1">
              <a:lumMod val="50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Task</a:t>
            </a:r>
            <a:endParaRPr lang="ko-KR" altLang="en-US" sz="800" b="1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5" name="직선 연결선 4"/>
          <p:cNvCxnSpPr/>
          <p:nvPr/>
        </p:nvCxnSpPr>
        <p:spPr>
          <a:xfrm>
            <a:off x="323906" y="6252442"/>
            <a:ext cx="10800000" cy="0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직사각형 10"/>
          <p:cNvSpPr/>
          <p:nvPr/>
        </p:nvSpPr>
        <p:spPr>
          <a:xfrm>
            <a:off x="323906" y="1932442"/>
            <a:ext cx="1440000" cy="504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36000" rIns="36000" bIns="36000" rtlCol="0" anchor="ctr"/>
          <a:lstStyle/>
          <a:p>
            <a:pPr>
              <a:lnSpc>
                <a:spcPct val="150000"/>
              </a:lnSpc>
            </a:pPr>
            <a:r>
              <a:rPr lang="ko-KR" altLang="en-US" sz="8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분석</a:t>
            </a:r>
            <a:r>
              <a:rPr lang="en-US" altLang="ko-KR" sz="8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/</a:t>
            </a:r>
            <a:r>
              <a:rPr lang="ko-KR" altLang="en-US" sz="8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설계</a:t>
            </a:r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12" name="직사각형 11"/>
          <p:cNvSpPr/>
          <p:nvPr/>
        </p:nvSpPr>
        <p:spPr>
          <a:xfrm>
            <a:off x="323906" y="5892442"/>
            <a:ext cx="1440000" cy="360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36000" rIns="36000" bIns="36000" rtlCol="0" anchor="ctr"/>
          <a:lstStyle/>
          <a:p>
            <a:pPr>
              <a:lnSpc>
                <a:spcPct val="150000"/>
              </a:lnSpc>
            </a:pPr>
            <a:r>
              <a:rPr lang="ko-KR" altLang="en-US" sz="8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운영 보수</a:t>
            </a:r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99" name="직사각형 98"/>
          <p:cNvSpPr/>
          <p:nvPr/>
        </p:nvSpPr>
        <p:spPr>
          <a:xfrm>
            <a:off x="323906" y="3444460"/>
            <a:ext cx="1440000" cy="5040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36000" rIns="36000" bIns="36000" rtlCol="0" anchor="ctr"/>
          <a:lstStyle/>
          <a:p>
            <a:pPr>
              <a:lnSpc>
                <a:spcPct val="150000"/>
              </a:lnSpc>
            </a:pPr>
            <a:r>
              <a:rPr lang="ko-KR" altLang="en-US" sz="8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퍼블리싱</a:t>
            </a:r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100" name="직사각형 99"/>
          <p:cNvSpPr/>
          <p:nvPr/>
        </p:nvSpPr>
        <p:spPr>
          <a:xfrm>
            <a:off x="323906" y="2436460"/>
            <a:ext cx="1440000" cy="5040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36000" rIns="36000" bIns="36000" rtlCol="0" anchor="ctr"/>
          <a:lstStyle/>
          <a:p>
            <a:pPr>
              <a:lnSpc>
                <a:spcPct val="150000"/>
              </a:lnSpc>
            </a:pPr>
            <a:r>
              <a:rPr lang="ko-KR" altLang="en-US" sz="8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기획서</a:t>
            </a:r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113" name="직사각형 112"/>
          <p:cNvSpPr/>
          <p:nvPr/>
        </p:nvSpPr>
        <p:spPr>
          <a:xfrm>
            <a:off x="323906" y="2940460"/>
            <a:ext cx="1440000" cy="5040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36000" rIns="36000" bIns="36000" rtlCol="0" anchor="ctr"/>
          <a:lstStyle/>
          <a:p>
            <a:pPr>
              <a:lnSpc>
                <a:spcPct val="150000"/>
              </a:lnSpc>
            </a:pPr>
            <a:r>
              <a:rPr lang="ko-KR" altLang="en-US" sz="8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디자인</a:t>
            </a:r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142" name="TextBox 141">
            <a:extLst>
              <a:ext uri="{FF2B5EF4-FFF2-40B4-BE49-F238E27FC236}">
                <a16:creationId xmlns="" xmlns:a16="http://schemas.microsoft.com/office/drawing/2014/main" id="{C5E486F5-93A1-4316-A9AE-8F2FB1C3263A}"/>
              </a:ext>
            </a:extLst>
          </p:cNvPr>
          <p:cNvSpPr txBox="1"/>
          <p:nvPr/>
        </p:nvSpPr>
        <p:spPr>
          <a:xfrm>
            <a:off x="94" y="102705"/>
            <a:ext cx="1842721" cy="226591"/>
          </a:xfrm>
          <a:prstGeom prst="rect">
            <a:avLst/>
          </a:prstGeom>
          <a:noFill/>
        </p:spPr>
        <p:txBody>
          <a:bodyPr wrap="none" lIns="360000" tIns="36000" rIns="360000" bIns="36000" rtlCol="0" anchor="ctr">
            <a:spAutoFit/>
          </a:bodyPr>
          <a:lstStyle/>
          <a:p>
            <a:r>
              <a:rPr lang="ko-KR" altLang="en-US" sz="1000" b="1">
                <a:solidFill>
                  <a:schemeClr val="bg1"/>
                </a:solidFill>
                <a:latin typeface="맑은 고딕" panose="020B0503020000020004" pitchFamily="50" charset="-127"/>
              </a:rPr>
              <a:t>온오프 재고 효율화</a:t>
            </a:r>
            <a:endParaRPr lang="en-US" altLang="ko-KR" sz="1000" b="1">
              <a:solidFill>
                <a:schemeClr val="bg1"/>
              </a:solidFill>
              <a:latin typeface="맑은 고딕" panose="020B0503020000020004" pitchFamily="50" charset="-127"/>
            </a:endParaRPr>
          </a:p>
        </p:txBody>
      </p:sp>
      <p:grpSp>
        <p:nvGrpSpPr>
          <p:cNvPr id="209" name="그룹 208"/>
          <p:cNvGrpSpPr/>
          <p:nvPr/>
        </p:nvGrpSpPr>
        <p:grpSpPr>
          <a:xfrm>
            <a:off x="6444376" y="1356442"/>
            <a:ext cx="1440000" cy="4896000"/>
            <a:chOff x="8099430" y="1356442"/>
            <a:chExt cx="1440000" cy="4896000"/>
          </a:xfrm>
        </p:grpSpPr>
        <p:sp>
          <p:nvSpPr>
            <p:cNvPr id="211" name="직사각형 210"/>
            <p:cNvSpPr/>
            <p:nvPr/>
          </p:nvSpPr>
          <p:spPr>
            <a:xfrm>
              <a:off x="8099430" y="1356442"/>
              <a:ext cx="1440000" cy="288000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800" b="1" smtClean="0">
                  <a:solidFill>
                    <a:schemeClr val="bg1"/>
                  </a:solidFill>
                  <a:latin typeface="맑은 고딕" panose="020B0503020000020004" pitchFamily="50" charset="-127"/>
                </a:rPr>
                <a:t>3</a:t>
              </a:r>
              <a:r>
                <a:rPr lang="ko-KR" altLang="en-US" sz="800" b="1" smtClean="0">
                  <a:solidFill>
                    <a:schemeClr val="bg1"/>
                  </a:solidFill>
                  <a:latin typeface="맑은 고딕" panose="020B0503020000020004" pitchFamily="50" charset="-127"/>
                </a:rPr>
                <a:t>월</a:t>
              </a:r>
              <a:endParaRPr lang="ko-KR" altLang="en-US" sz="800" b="1" dirty="0">
                <a:solidFill>
                  <a:schemeClr val="bg1"/>
                </a:solidFill>
                <a:latin typeface="맑은 고딕" panose="020B0503020000020004" pitchFamily="50" charset="-127"/>
              </a:endParaRPr>
            </a:p>
          </p:txBody>
        </p:sp>
        <p:cxnSp>
          <p:nvCxnSpPr>
            <p:cNvPr id="212" name="직선 연결선 211"/>
            <p:cNvCxnSpPr/>
            <p:nvPr/>
          </p:nvCxnSpPr>
          <p:spPr>
            <a:xfrm>
              <a:off x="9539430" y="1356442"/>
              <a:ext cx="0" cy="4896000"/>
            </a:xfrm>
            <a:prstGeom prst="line">
              <a:avLst/>
            </a:prstGeom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3" name="직선 연결선 212"/>
            <p:cNvCxnSpPr/>
            <p:nvPr/>
          </p:nvCxnSpPr>
          <p:spPr>
            <a:xfrm>
              <a:off x="8459430" y="1644442"/>
              <a:ext cx="0" cy="4608000"/>
            </a:xfrm>
            <a:prstGeom prst="line">
              <a:avLst/>
            </a:prstGeom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4" name="직선 연결선 213"/>
            <p:cNvCxnSpPr/>
            <p:nvPr/>
          </p:nvCxnSpPr>
          <p:spPr>
            <a:xfrm>
              <a:off x="9179430" y="1644442"/>
              <a:ext cx="0" cy="4608000"/>
            </a:xfrm>
            <a:prstGeom prst="line">
              <a:avLst/>
            </a:prstGeom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5" name="직선 연결선 214"/>
            <p:cNvCxnSpPr/>
            <p:nvPr/>
          </p:nvCxnSpPr>
          <p:spPr>
            <a:xfrm>
              <a:off x="8819430" y="1644442"/>
              <a:ext cx="0" cy="4608000"/>
            </a:xfrm>
            <a:prstGeom prst="line">
              <a:avLst/>
            </a:prstGeom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6" name="직사각형 215"/>
            <p:cNvSpPr/>
            <p:nvPr/>
          </p:nvSpPr>
          <p:spPr>
            <a:xfrm>
              <a:off x="8819430" y="1644442"/>
              <a:ext cx="360000" cy="288000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800" b="1">
                  <a:solidFill>
                    <a:schemeClr val="bg1"/>
                  </a:solidFill>
                  <a:latin typeface="맑은 고딕" panose="020B0503020000020004" pitchFamily="50" charset="-127"/>
                </a:rPr>
                <a:t>3W</a:t>
              </a:r>
              <a:endParaRPr lang="ko-KR" altLang="en-US" sz="800" b="1" dirty="0">
                <a:solidFill>
                  <a:schemeClr val="bg1"/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217" name="직사각형 216"/>
            <p:cNvSpPr/>
            <p:nvPr/>
          </p:nvSpPr>
          <p:spPr>
            <a:xfrm>
              <a:off x="9179430" y="1644442"/>
              <a:ext cx="360000" cy="288000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800" b="1">
                  <a:solidFill>
                    <a:schemeClr val="bg1"/>
                  </a:solidFill>
                  <a:latin typeface="맑은 고딕" panose="020B0503020000020004" pitchFamily="50" charset="-127"/>
                </a:rPr>
                <a:t>4W</a:t>
              </a:r>
              <a:endParaRPr lang="ko-KR" altLang="en-US" sz="800" b="1" dirty="0">
                <a:solidFill>
                  <a:schemeClr val="bg1"/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218" name="직사각형 217"/>
            <p:cNvSpPr/>
            <p:nvPr/>
          </p:nvSpPr>
          <p:spPr>
            <a:xfrm>
              <a:off x="8459430" y="1644442"/>
              <a:ext cx="360000" cy="288000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800" b="1">
                  <a:solidFill>
                    <a:schemeClr val="bg1"/>
                  </a:solidFill>
                  <a:latin typeface="맑은 고딕" panose="020B0503020000020004" pitchFamily="50" charset="-127"/>
                </a:rPr>
                <a:t>2W</a:t>
              </a:r>
              <a:endParaRPr lang="ko-KR" altLang="en-US" sz="800" b="1" dirty="0">
                <a:solidFill>
                  <a:schemeClr val="bg1"/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219" name="직사각형 218"/>
            <p:cNvSpPr/>
            <p:nvPr/>
          </p:nvSpPr>
          <p:spPr>
            <a:xfrm>
              <a:off x="8099430" y="1644442"/>
              <a:ext cx="360000" cy="288000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800" b="1" smtClean="0">
                  <a:solidFill>
                    <a:schemeClr val="bg1"/>
                  </a:solidFill>
                  <a:latin typeface="맑은 고딕" panose="020B0503020000020004" pitchFamily="50" charset="-127"/>
                </a:rPr>
                <a:t>1W</a:t>
              </a:r>
              <a:endParaRPr lang="ko-KR" altLang="en-US" sz="800" b="1" dirty="0">
                <a:solidFill>
                  <a:schemeClr val="bg1"/>
                </a:solidFill>
                <a:latin typeface="맑은 고딕" panose="020B0503020000020004" pitchFamily="50" charset="-127"/>
              </a:endParaRPr>
            </a:p>
          </p:txBody>
        </p:sp>
      </p:grpSp>
      <p:grpSp>
        <p:nvGrpSpPr>
          <p:cNvPr id="220" name="그룹 219"/>
          <p:cNvGrpSpPr/>
          <p:nvPr/>
        </p:nvGrpSpPr>
        <p:grpSpPr>
          <a:xfrm>
            <a:off x="9685968" y="1356442"/>
            <a:ext cx="1440000" cy="4896000"/>
            <a:chOff x="8099430" y="1356442"/>
            <a:chExt cx="1440000" cy="4896000"/>
          </a:xfrm>
        </p:grpSpPr>
        <p:cxnSp>
          <p:nvCxnSpPr>
            <p:cNvPr id="221" name="직선 연결선 220"/>
            <p:cNvCxnSpPr/>
            <p:nvPr/>
          </p:nvCxnSpPr>
          <p:spPr>
            <a:xfrm>
              <a:off x="8100377" y="1356442"/>
              <a:ext cx="0" cy="4896000"/>
            </a:xfrm>
            <a:prstGeom prst="line">
              <a:avLst/>
            </a:prstGeom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2" name="직사각형 221"/>
            <p:cNvSpPr/>
            <p:nvPr/>
          </p:nvSpPr>
          <p:spPr>
            <a:xfrm>
              <a:off x="8099430" y="1356442"/>
              <a:ext cx="1440000" cy="288000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800" b="1" smtClean="0">
                  <a:solidFill>
                    <a:schemeClr val="bg1"/>
                  </a:solidFill>
                  <a:latin typeface="맑은 고딕" panose="020B0503020000020004" pitchFamily="50" charset="-127"/>
                </a:rPr>
                <a:t>5</a:t>
              </a:r>
              <a:r>
                <a:rPr lang="ko-KR" altLang="en-US" sz="800" b="1" smtClean="0">
                  <a:solidFill>
                    <a:schemeClr val="bg1"/>
                  </a:solidFill>
                  <a:latin typeface="맑은 고딕" panose="020B0503020000020004" pitchFamily="50" charset="-127"/>
                </a:rPr>
                <a:t>월</a:t>
              </a:r>
              <a:endParaRPr lang="ko-KR" altLang="en-US" sz="800" b="1" dirty="0">
                <a:solidFill>
                  <a:schemeClr val="bg1"/>
                </a:solidFill>
                <a:latin typeface="맑은 고딕" panose="020B0503020000020004" pitchFamily="50" charset="-127"/>
              </a:endParaRPr>
            </a:p>
          </p:txBody>
        </p:sp>
        <p:cxnSp>
          <p:nvCxnSpPr>
            <p:cNvPr id="223" name="직선 연결선 222"/>
            <p:cNvCxnSpPr/>
            <p:nvPr/>
          </p:nvCxnSpPr>
          <p:spPr>
            <a:xfrm>
              <a:off x="9539430" y="1356442"/>
              <a:ext cx="0" cy="4896000"/>
            </a:xfrm>
            <a:prstGeom prst="line">
              <a:avLst/>
            </a:prstGeom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4" name="직선 연결선 223"/>
            <p:cNvCxnSpPr/>
            <p:nvPr/>
          </p:nvCxnSpPr>
          <p:spPr>
            <a:xfrm>
              <a:off x="8459430" y="1644442"/>
              <a:ext cx="0" cy="4608000"/>
            </a:xfrm>
            <a:prstGeom prst="line">
              <a:avLst/>
            </a:prstGeom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5" name="직선 연결선 224"/>
            <p:cNvCxnSpPr/>
            <p:nvPr/>
          </p:nvCxnSpPr>
          <p:spPr>
            <a:xfrm>
              <a:off x="9179430" y="1644442"/>
              <a:ext cx="0" cy="4608000"/>
            </a:xfrm>
            <a:prstGeom prst="line">
              <a:avLst/>
            </a:prstGeom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6" name="직선 연결선 225"/>
            <p:cNvCxnSpPr/>
            <p:nvPr/>
          </p:nvCxnSpPr>
          <p:spPr>
            <a:xfrm>
              <a:off x="8819430" y="1644442"/>
              <a:ext cx="0" cy="4608000"/>
            </a:xfrm>
            <a:prstGeom prst="line">
              <a:avLst/>
            </a:prstGeom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7" name="직사각형 226"/>
            <p:cNvSpPr/>
            <p:nvPr/>
          </p:nvSpPr>
          <p:spPr>
            <a:xfrm>
              <a:off x="8819430" y="1644442"/>
              <a:ext cx="360000" cy="288000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800" b="1">
                  <a:solidFill>
                    <a:schemeClr val="bg1"/>
                  </a:solidFill>
                  <a:latin typeface="맑은 고딕" panose="020B0503020000020004" pitchFamily="50" charset="-127"/>
                </a:rPr>
                <a:t>3W</a:t>
              </a:r>
              <a:endParaRPr lang="ko-KR" altLang="en-US" sz="800" b="1" dirty="0">
                <a:solidFill>
                  <a:schemeClr val="bg1"/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228" name="직사각형 227"/>
            <p:cNvSpPr/>
            <p:nvPr/>
          </p:nvSpPr>
          <p:spPr>
            <a:xfrm>
              <a:off x="9179430" y="1644442"/>
              <a:ext cx="360000" cy="288000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800" b="1">
                  <a:solidFill>
                    <a:schemeClr val="bg1"/>
                  </a:solidFill>
                  <a:latin typeface="맑은 고딕" panose="020B0503020000020004" pitchFamily="50" charset="-127"/>
                </a:rPr>
                <a:t>4W</a:t>
              </a:r>
              <a:endParaRPr lang="ko-KR" altLang="en-US" sz="800" b="1" dirty="0">
                <a:solidFill>
                  <a:schemeClr val="bg1"/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229" name="직사각형 228"/>
            <p:cNvSpPr/>
            <p:nvPr/>
          </p:nvSpPr>
          <p:spPr>
            <a:xfrm>
              <a:off x="8459430" y="1644442"/>
              <a:ext cx="360000" cy="288000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800" b="1">
                  <a:solidFill>
                    <a:schemeClr val="bg1"/>
                  </a:solidFill>
                  <a:latin typeface="맑은 고딕" panose="020B0503020000020004" pitchFamily="50" charset="-127"/>
                </a:rPr>
                <a:t>2W</a:t>
              </a:r>
              <a:endParaRPr lang="ko-KR" altLang="en-US" sz="800" b="1" dirty="0">
                <a:solidFill>
                  <a:schemeClr val="bg1"/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230" name="직사각형 229"/>
            <p:cNvSpPr/>
            <p:nvPr/>
          </p:nvSpPr>
          <p:spPr>
            <a:xfrm>
              <a:off x="8099430" y="1644442"/>
              <a:ext cx="360000" cy="288000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800" b="1" smtClean="0">
                  <a:solidFill>
                    <a:schemeClr val="bg1"/>
                  </a:solidFill>
                  <a:latin typeface="맑은 고딕" panose="020B0503020000020004" pitchFamily="50" charset="-127"/>
                </a:rPr>
                <a:t>1W</a:t>
              </a:r>
              <a:endParaRPr lang="ko-KR" altLang="en-US" sz="800" b="1" dirty="0">
                <a:solidFill>
                  <a:schemeClr val="bg1"/>
                </a:solidFill>
                <a:latin typeface="맑은 고딕" panose="020B0503020000020004" pitchFamily="50" charset="-127"/>
              </a:endParaRPr>
            </a:p>
          </p:txBody>
        </p:sp>
      </p:grpSp>
      <p:grpSp>
        <p:nvGrpSpPr>
          <p:cNvPr id="246" name="그룹 245"/>
          <p:cNvGrpSpPr/>
          <p:nvPr/>
        </p:nvGrpSpPr>
        <p:grpSpPr>
          <a:xfrm>
            <a:off x="7884375" y="1356442"/>
            <a:ext cx="1800000" cy="4896000"/>
            <a:chOff x="6660377" y="1356442"/>
            <a:chExt cx="1800000" cy="4896000"/>
          </a:xfrm>
        </p:grpSpPr>
        <p:sp>
          <p:nvSpPr>
            <p:cNvPr id="247" name="직사각형 246"/>
            <p:cNvSpPr/>
            <p:nvPr/>
          </p:nvSpPr>
          <p:spPr>
            <a:xfrm>
              <a:off x="6660377" y="1356442"/>
              <a:ext cx="1800000" cy="288000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800" b="1" smtClean="0">
                  <a:solidFill>
                    <a:schemeClr val="bg1"/>
                  </a:solidFill>
                  <a:latin typeface="맑은 고딕" panose="020B0503020000020004" pitchFamily="50" charset="-127"/>
                </a:rPr>
                <a:t>4</a:t>
              </a:r>
              <a:r>
                <a:rPr lang="ko-KR" altLang="en-US" sz="800" b="1" smtClean="0">
                  <a:solidFill>
                    <a:schemeClr val="bg1"/>
                  </a:solidFill>
                  <a:latin typeface="맑은 고딕" panose="020B0503020000020004" pitchFamily="50" charset="-127"/>
                </a:rPr>
                <a:t>월</a:t>
              </a:r>
              <a:endParaRPr lang="ko-KR" altLang="en-US" sz="800" b="1" dirty="0">
                <a:solidFill>
                  <a:schemeClr val="bg1"/>
                </a:solidFill>
                <a:latin typeface="맑은 고딕" panose="020B0503020000020004" pitchFamily="50" charset="-127"/>
              </a:endParaRPr>
            </a:p>
          </p:txBody>
        </p:sp>
        <p:grpSp>
          <p:nvGrpSpPr>
            <p:cNvPr id="248" name="그룹 247"/>
            <p:cNvGrpSpPr/>
            <p:nvPr/>
          </p:nvGrpSpPr>
          <p:grpSpPr>
            <a:xfrm>
              <a:off x="6660378" y="1644442"/>
              <a:ext cx="360000" cy="4608000"/>
              <a:chOff x="6660378" y="1644442"/>
              <a:chExt cx="360000" cy="4608000"/>
            </a:xfrm>
          </p:grpSpPr>
          <p:cxnSp>
            <p:nvCxnSpPr>
              <p:cNvPr id="259" name="직선 연결선 258"/>
              <p:cNvCxnSpPr/>
              <p:nvPr/>
            </p:nvCxnSpPr>
            <p:spPr>
              <a:xfrm>
                <a:off x="7020378" y="1644442"/>
                <a:ext cx="0" cy="4608000"/>
              </a:xfrm>
              <a:prstGeom prst="line">
                <a:avLst/>
              </a:prstGeom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60" name="직사각형 259"/>
              <p:cNvSpPr/>
              <p:nvPr/>
            </p:nvSpPr>
            <p:spPr>
              <a:xfrm>
                <a:off x="6660378" y="1644442"/>
                <a:ext cx="360000" cy="288000"/>
              </a:xfrm>
              <a:prstGeom prst="rect">
                <a:avLst/>
              </a:prstGeom>
              <a:solidFill>
                <a:schemeClr val="bg1">
                  <a:lumMod val="50000"/>
                </a:schemeClr>
              </a:solidFill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ko-KR" sz="800" b="1">
                    <a:solidFill>
                      <a:schemeClr val="bg1"/>
                    </a:solidFill>
                    <a:latin typeface="맑은 고딕" panose="020B0503020000020004" pitchFamily="50" charset="-127"/>
                  </a:rPr>
                  <a:t>1W</a:t>
                </a:r>
                <a:endParaRPr lang="ko-KR" altLang="en-US" sz="800" b="1" dirty="0">
                  <a:solidFill>
                    <a:schemeClr val="bg1"/>
                  </a:solidFill>
                  <a:latin typeface="맑은 고딕" panose="020B0503020000020004" pitchFamily="50" charset="-127"/>
                </a:endParaRPr>
              </a:p>
            </p:txBody>
          </p:sp>
        </p:grpSp>
        <p:grpSp>
          <p:nvGrpSpPr>
            <p:cNvPr id="249" name="그룹 248"/>
            <p:cNvGrpSpPr/>
            <p:nvPr/>
          </p:nvGrpSpPr>
          <p:grpSpPr>
            <a:xfrm>
              <a:off x="7380378" y="1644442"/>
              <a:ext cx="360000" cy="4608000"/>
              <a:chOff x="7236378" y="1644442"/>
              <a:chExt cx="360000" cy="4608000"/>
            </a:xfrm>
          </p:grpSpPr>
          <p:cxnSp>
            <p:nvCxnSpPr>
              <p:cNvPr id="257" name="직선 연결선 256"/>
              <p:cNvCxnSpPr/>
              <p:nvPr/>
            </p:nvCxnSpPr>
            <p:spPr>
              <a:xfrm>
                <a:off x="7596378" y="1644442"/>
                <a:ext cx="0" cy="4608000"/>
              </a:xfrm>
              <a:prstGeom prst="line">
                <a:avLst/>
              </a:prstGeom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58" name="직사각형 257"/>
              <p:cNvSpPr/>
              <p:nvPr/>
            </p:nvSpPr>
            <p:spPr>
              <a:xfrm>
                <a:off x="7236378" y="1644442"/>
                <a:ext cx="360000" cy="288000"/>
              </a:xfrm>
              <a:prstGeom prst="rect">
                <a:avLst/>
              </a:prstGeom>
              <a:solidFill>
                <a:schemeClr val="bg1">
                  <a:lumMod val="50000"/>
                </a:schemeClr>
              </a:solidFill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ko-KR" sz="800" b="1">
                    <a:solidFill>
                      <a:schemeClr val="bg1"/>
                    </a:solidFill>
                    <a:latin typeface="맑은 고딕" panose="020B0503020000020004" pitchFamily="50" charset="-127"/>
                  </a:rPr>
                  <a:t>3W</a:t>
                </a:r>
                <a:endParaRPr lang="ko-KR" altLang="en-US" sz="800" b="1" dirty="0">
                  <a:solidFill>
                    <a:schemeClr val="bg1"/>
                  </a:solidFill>
                  <a:latin typeface="맑은 고딕" panose="020B0503020000020004" pitchFamily="50" charset="-127"/>
                </a:endParaRPr>
              </a:p>
            </p:txBody>
          </p:sp>
        </p:grpSp>
        <p:grpSp>
          <p:nvGrpSpPr>
            <p:cNvPr id="250" name="그룹 249"/>
            <p:cNvGrpSpPr/>
            <p:nvPr/>
          </p:nvGrpSpPr>
          <p:grpSpPr>
            <a:xfrm>
              <a:off x="7740378" y="1644442"/>
              <a:ext cx="360000" cy="4608000"/>
              <a:chOff x="7524378" y="1644442"/>
              <a:chExt cx="360000" cy="4608000"/>
            </a:xfrm>
          </p:grpSpPr>
          <p:cxnSp>
            <p:nvCxnSpPr>
              <p:cNvPr id="255" name="직선 연결선 254"/>
              <p:cNvCxnSpPr/>
              <p:nvPr/>
            </p:nvCxnSpPr>
            <p:spPr>
              <a:xfrm>
                <a:off x="7884378" y="1644442"/>
                <a:ext cx="0" cy="4608000"/>
              </a:xfrm>
              <a:prstGeom prst="line">
                <a:avLst/>
              </a:prstGeom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56" name="직사각형 255"/>
              <p:cNvSpPr/>
              <p:nvPr/>
            </p:nvSpPr>
            <p:spPr>
              <a:xfrm>
                <a:off x="7524378" y="1644442"/>
                <a:ext cx="360000" cy="288000"/>
              </a:xfrm>
              <a:prstGeom prst="rect">
                <a:avLst/>
              </a:prstGeom>
              <a:solidFill>
                <a:schemeClr val="bg1">
                  <a:lumMod val="50000"/>
                </a:schemeClr>
              </a:solidFill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ko-KR" sz="800" b="1">
                    <a:solidFill>
                      <a:schemeClr val="bg1"/>
                    </a:solidFill>
                    <a:latin typeface="맑은 고딕" panose="020B0503020000020004" pitchFamily="50" charset="-127"/>
                  </a:rPr>
                  <a:t>4W</a:t>
                </a:r>
                <a:endParaRPr lang="ko-KR" altLang="en-US" sz="800" b="1" dirty="0">
                  <a:solidFill>
                    <a:schemeClr val="bg1"/>
                  </a:solidFill>
                  <a:latin typeface="맑은 고딕" panose="020B0503020000020004" pitchFamily="50" charset="-127"/>
                </a:endParaRPr>
              </a:p>
            </p:txBody>
          </p:sp>
        </p:grpSp>
        <p:grpSp>
          <p:nvGrpSpPr>
            <p:cNvPr id="251" name="그룹 250"/>
            <p:cNvGrpSpPr/>
            <p:nvPr/>
          </p:nvGrpSpPr>
          <p:grpSpPr>
            <a:xfrm>
              <a:off x="7020378" y="1644442"/>
              <a:ext cx="360000" cy="4608000"/>
              <a:chOff x="6948378" y="1644442"/>
              <a:chExt cx="360000" cy="4608000"/>
            </a:xfrm>
          </p:grpSpPr>
          <p:cxnSp>
            <p:nvCxnSpPr>
              <p:cNvPr id="253" name="직선 연결선 252"/>
              <p:cNvCxnSpPr/>
              <p:nvPr/>
            </p:nvCxnSpPr>
            <p:spPr>
              <a:xfrm>
                <a:off x="7308378" y="1644442"/>
                <a:ext cx="0" cy="4608000"/>
              </a:xfrm>
              <a:prstGeom prst="line">
                <a:avLst/>
              </a:prstGeom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54" name="직사각형 253"/>
              <p:cNvSpPr/>
              <p:nvPr/>
            </p:nvSpPr>
            <p:spPr>
              <a:xfrm>
                <a:off x="6948378" y="1644442"/>
                <a:ext cx="360000" cy="288000"/>
              </a:xfrm>
              <a:prstGeom prst="rect">
                <a:avLst/>
              </a:prstGeom>
              <a:solidFill>
                <a:schemeClr val="bg1">
                  <a:lumMod val="50000"/>
                </a:schemeClr>
              </a:solidFill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ko-KR" sz="800" b="1">
                    <a:solidFill>
                      <a:schemeClr val="bg1"/>
                    </a:solidFill>
                    <a:latin typeface="맑은 고딕" panose="020B0503020000020004" pitchFamily="50" charset="-127"/>
                  </a:rPr>
                  <a:t>2W</a:t>
                </a:r>
                <a:endParaRPr lang="ko-KR" altLang="en-US" sz="800" b="1" dirty="0">
                  <a:solidFill>
                    <a:schemeClr val="bg1"/>
                  </a:solidFill>
                  <a:latin typeface="맑은 고딕" panose="020B0503020000020004" pitchFamily="50" charset="-127"/>
                </a:endParaRPr>
              </a:p>
            </p:txBody>
          </p:sp>
        </p:grpSp>
        <p:sp>
          <p:nvSpPr>
            <p:cNvPr id="252" name="직사각형 251"/>
            <p:cNvSpPr/>
            <p:nvPr/>
          </p:nvSpPr>
          <p:spPr>
            <a:xfrm>
              <a:off x="8100377" y="1644442"/>
              <a:ext cx="360000" cy="288000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800" b="1" smtClean="0">
                  <a:solidFill>
                    <a:schemeClr val="bg1"/>
                  </a:solidFill>
                  <a:latin typeface="맑은 고딕" panose="020B0503020000020004" pitchFamily="50" charset="-127"/>
                </a:rPr>
                <a:t>5W</a:t>
              </a:r>
              <a:endParaRPr lang="ko-KR" altLang="en-US" sz="800" b="1" dirty="0">
                <a:solidFill>
                  <a:schemeClr val="bg1"/>
                </a:solidFill>
                <a:latin typeface="맑은 고딕" panose="020B0503020000020004" pitchFamily="50" charset="-127"/>
              </a:endParaRPr>
            </a:p>
          </p:txBody>
        </p:sp>
      </p:grpSp>
      <p:sp>
        <p:nvSpPr>
          <p:cNvPr id="267" name="모서리가 둥근 직사각형 266"/>
          <p:cNvSpPr/>
          <p:nvPr/>
        </p:nvSpPr>
        <p:spPr>
          <a:xfrm>
            <a:off x="1799904" y="2112442"/>
            <a:ext cx="1728000" cy="144000"/>
          </a:xfrm>
          <a:prstGeom prst="roundRect">
            <a:avLst>
              <a:gd name="adj" fmla="val 50000"/>
            </a:avLst>
          </a:prstGeom>
          <a:solidFill>
            <a:schemeClr val="tx1">
              <a:lumMod val="75000"/>
              <a:lumOff val="25000"/>
            </a:schemeClr>
          </a:solidFill>
          <a:ln w="3175">
            <a:noFill/>
          </a:ln>
          <a:effectLst>
            <a:outerShdw blurRad="12700" dist="12700" dir="2700000" algn="tl" rotWithShape="0">
              <a:schemeClr val="tx1">
                <a:lumMod val="75000"/>
                <a:lumOff val="2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32000" tIns="36000" rIns="108000" bIns="36000" rtlCol="0" anchor="ctr"/>
          <a:lstStyle/>
          <a:p>
            <a:pPr>
              <a:lnSpc>
                <a:spcPct val="150000"/>
              </a:lnSpc>
            </a:pPr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268" name="직사각형 267"/>
          <p:cNvSpPr/>
          <p:nvPr/>
        </p:nvSpPr>
        <p:spPr>
          <a:xfrm>
            <a:off x="323906" y="4955716"/>
            <a:ext cx="1440000" cy="5040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36000" rIns="36000" bIns="36000" rtlCol="0" anchor="ctr"/>
          <a:lstStyle/>
          <a:p>
            <a:pPr>
              <a:lnSpc>
                <a:spcPct val="150000"/>
              </a:lnSpc>
            </a:pPr>
            <a:r>
              <a:rPr lang="ko-KR" altLang="en-US" sz="8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테스트</a:t>
            </a:r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269" name="직사각형 268"/>
          <p:cNvSpPr/>
          <p:nvPr/>
        </p:nvSpPr>
        <p:spPr>
          <a:xfrm>
            <a:off x="323906" y="3948212"/>
            <a:ext cx="1440000" cy="5040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36000" rIns="36000" bIns="36000" rtlCol="0" anchor="ctr"/>
          <a:lstStyle/>
          <a:p>
            <a:pPr>
              <a:lnSpc>
                <a:spcPct val="150000"/>
              </a:lnSpc>
            </a:pPr>
            <a:r>
              <a:rPr lang="ko-KR" altLang="en-US" sz="8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개발</a:t>
            </a:r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270" name="직사각형 269"/>
          <p:cNvSpPr/>
          <p:nvPr/>
        </p:nvSpPr>
        <p:spPr>
          <a:xfrm>
            <a:off x="323906" y="4451964"/>
            <a:ext cx="1440000" cy="5040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36000" rIns="36000" bIns="36000" rtlCol="0" anchor="ctr"/>
          <a:lstStyle/>
          <a:p>
            <a:pPr>
              <a:lnSpc>
                <a:spcPct val="150000"/>
              </a:lnSpc>
            </a:pPr>
            <a:r>
              <a:rPr lang="en-US" altLang="ko-KR" sz="8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SAP, OMS </a:t>
            </a:r>
            <a:r>
              <a:rPr lang="ko-KR" altLang="en-US" sz="8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개발</a:t>
            </a:r>
            <a:endParaRPr lang="en-US" altLang="ko-KR" sz="800" smtClean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8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(ICT)</a:t>
            </a:r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107" name="타원 106"/>
          <p:cNvSpPr/>
          <p:nvPr/>
        </p:nvSpPr>
        <p:spPr>
          <a:xfrm>
            <a:off x="10517456" y="5604079"/>
            <a:ext cx="144000" cy="144000"/>
          </a:xfrm>
          <a:prstGeom prst="ellipse">
            <a:avLst/>
          </a:prstGeom>
          <a:solidFill>
            <a:schemeClr val="accent2"/>
          </a:solidFill>
          <a:ln w="3175">
            <a:noFill/>
          </a:ln>
          <a:effectLst>
            <a:outerShdw blurRad="12700" dist="12700" dir="2700000" algn="tl" rotWithShape="0">
              <a:schemeClr val="tx1">
                <a:lumMod val="75000"/>
                <a:lumOff val="2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32000" tIns="36000" rIns="108000" bIns="36000" rtlCol="0" anchor="ctr"/>
          <a:lstStyle/>
          <a:p>
            <a:pPr>
              <a:lnSpc>
                <a:spcPct val="150000"/>
              </a:lnSpc>
            </a:pPr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108" name="TextBox 107"/>
          <p:cNvSpPr txBox="1"/>
          <p:nvPr/>
        </p:nvSpPr>
        <p:spPr>
          <a:xfrm>
            <a:off x="10097205" y="5328727"/>
            <a:ext cx="988632" cy="275351"/>
          </a:xfrm>
          <a:prstGeom prst="roundRect">
            <a:avLst>
              <a:gd name="adj" fmla="val 50000"/>
            </a:avLst>
          </a:prstGeom>
          <a:solidFill>
            <a:schemeClr val="bg1"/>
          </a:solidFill>
        </p:spPr>
        <p:txBody>
          <a:bodyPr wrap="none" lIns="36000" tIns="36000" rIns="36000" bIns="36000" rtlCol="0" anchor="ctr">
            <a:spAutoFit/>
          </a:bodyPr>
          <a:lstStyle/>
          <a:p>
            <a:pPr algn="ctr"/>
            <a:r>
              <a:rPr lang="en-US" altLang="ko-KR" sz="800" b="1" smtClean="0">
                <a:solidFill>
                  <a:schemeClr val="accent2">
                    <a:lumMod val="75000"/>
                  </a:schemeClr>
                </a:solidFill>
                <a:latin typeface="맑은 고딕" panose="020B0503020000020004" pitchFamily="50" charset="-127"/>
              </a:rPr>
              <a:t>Target : 5</a:t>
            </a:r>
            <a:r>
              <a:rPr lang="ko-KR" altLang="en-US" sz="800" b="1" smtClean="0">
                <a:solidFill>
                  <a:schemeClr val="accent2">
                    <a:lumMod val="75000"/>
                  </a:schemeClr>
                </a:solidFill>
                <a:latin typeface="맑은 고딕" panose="020B0503020000020004" pitchFamily="50" charset="-127"/>
              </a:rPr>
              <a:t>월</a:t>
            </a:r>
            <a:r>
              <a:rPr lang="en-US" altLang="ko-KR" sz="800" b="1" smtClean="0">
                <a:solidFill>
                  <a:schemeClr val="accent2">
                    <a:lumMod val="75000"/>
                  </a:schemeClr>
                </a:solidFill>
                <a:latin typeface="맑은 고딕" panose="020B0503020000020004" pitchFamily="50" charset="-127"/>
              </a:rPr>
              <a:t> 21</a:t>
            </a:r>
            <a:r>
              <a:rPr lang="ko-KR" altLang="en-US" sz="800" b="1" smtClean="0">
                <a:solidFill>
                  <a:schemeClr val="accent2">
                    <a:lumMod val="75000"/>
                  </a:schemeClr>
                </a:solidFill>
                <a:latin typeface="맑은 고딕" panose="020B0503020000020004" pitchFamily="50" charset="-127"/>
              </a:rPr>
              <a:t>일</a:t>
            </a:r>
            <a:endParaRPr lang="ko-KR" altLang="en-US" sz="800" b="1" dirty="0">
              <a:solidFill>
                <a:schemeClr val="accent2">
                  <a:lumMod val="7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2" name="오각형 101"/>
          <p:cNvSpPr/>
          <p:nvPr/>
        </p:nvSpPr>
        <p:spPr>
          <a:xfrm>
            <a:off x="10441021" y="5964442"/>
            <a:ext cx="648000" cy="216000"/>
          </a:xfrm>
          <a:prstGeom prst="homePlate">
            <a:avLst/>
          </a:prstGeom>
          <a:solidFill>
            <a:schemeClr val="tx1">
              <a:lumMod val="65000"/>
              <a:lumOff val="35000"/>
            </a:schemeClr>
          </a:solidFill>
          <a:ln w="3175">
            <a:noFill/>
          </a:ln>
          <a:effectLst>
            <a:outerShdw blurRad="12700" dist="12700" dir="2700000" algn="tl" rotWithShape="0">
              <a:schemeClr val="tx1">
                <a:lumMod val="75000"/>
                <a:lumOff val="2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36000" rtlCol="0" anchor="ctr"/>
          <a:lstStyle/>
          <a:p>
            <a:pPr algn="ctr">
              <a:lnSpc>
                <a:spcPct val="150000"/>
              </a:lnSpc>
            </a:pPr>
            <a:r>
              <a:rPr lang="en-US" altLang="ko-KR" sz="800" smtClean="0">
                <a:solidFill>
                  <a:schemeClr val="bg1"/>
                </a:solidFill>
                <a:latin typeface="맑은 고딕" panose="020B0503020000020004" pitchFamily="50" charset="-127"/>
              </a:rPr>
              <a:t>On-going</a:t>
            </a:r>
            <a:endParaRPr lang="ko-KR" altLang="en-US" sz="800" dirty="0">
              <a:solidFill>
                <a:schemeClr val="bg1"/>
              </a:solidFill>
              <a:latin typeface="맑은 고딕" panose="020B0503020000020004" pitchFamily="50" charset="-127"/>
            </a:endParaRPr>
          </a:p>
        </p:txBody>
      </p:sp>
      <p:grpSp>
        <p:nvGrpSpPr>
          <p:cNvPr id="278" name="그룹 277"/>
          <p:cNvGrpSpPr/>
          <p:nvPr/>
        </p:nvGrpSpPr>
        <p:grpSpPr>
          <a:xfrm>
            <a:off x="2158440" y="2616460"/>
            <a:ext cx="2808000" cy="144000"/>
            <a:chOff x="2158440" y="2616460"/>
            <a:chExt cx="2808000" cy="144000"/>
          </a:xfrm>
        </p:grpSpPr>
        <p:sp>
          <p:nvSpPr>
            <p:cNvPr id="275" name="모서리가 둥근 직사각형 274"/>
            <p:cNvSpPr/>
            <p:nvPr/>
          </p:nvSpPr>
          <p:spPr>
            <a:xfrm>
              <a:off x="2158440" y="2616460"/>
              <a:ext cx="2808000" cy="144000"/>
            </a:xfrm>
            <a:prstGeom prst="roundRect">
              <a:avLst>
                <a:gd name="adj" fmla="val 50000"/>
              </a:avLst>
            </a:prstGeom>
            <a:solidFill>
              <a:schemeClr val="accent6">
                <a:lumMod val="40000"/>
                <a:lumOff val="60000"/>
              </a:schemeClr>
            </a:solidFill>
            <a:ln w="3175">
              <a:noFill/>
            </a:ln>
            <a:effectLst>
              <a:outerShdw blurRad="12700" dist="12700" dir="2700000" algn="tl" rotWithShape="0">
                <a:schemeClr val="tx1">
                  <a:lumMod val="75000"/>
                  <a:lumOff val="25000"/>
                  <a:alpha val="5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32000" tIns="36000" rIns="108000" bIns="36000" rtlCol="0" anchor="ctr"/>
            <a:lstStyle/>
            <a:p>
              <a:pPr>
                <a:lnSpc>
                  <a:spcPct val="150000"/>
                </a:lnSpc>
              </a:pPr>
              <a:endPara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104" name="모서리가 둥근 직사각형 103"/>
            <p:cNvSpPr/>
            <p:nvPr/>
          </p:nvSpPr>
          <p:spPr>
            <a:xfrm>
              <a:off x="2158441" y="2616460"/>
              <a:ext cx="1368000" cy="144000"/>
            </a:xfrm>
            <a:prstGeom prst="roundRect">
              <a:avLst>
                <a:gd name="adj" fmla="val 50000"/>
              </a:avLst>
            </a:prstGeom>
            <a:solidFill>
              <a:schemeClr val="accent6">
                <a:lumMod val="75000"/>
              </a:schemeClr>
            </a:solidFill>
            <a:ln w="3175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32000" tIns="36000" rIns="108000" bIns="36000" rtlCol="0" anchor="ctr"/>
            <a:lstStyle/>
            <a:p>
              <a:pPr>
                <a:lnSpc>
                  <a:spcPct val="150000"/>
                </a:lnSpc>
              </a:pPr>
              <a:endPara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endParaRPr>
            </a:p>
          </p:txBody>
        </p:sp>
      </p:grpSp>
      <p:grpSp>
        <p:nvGrpSpPr>
          <p:cNvPr id="279" name="그룹 278"/>
          <p:cNvGrpSpPr/>
          <p:nvPr/>
        </p:nvGrpSpPr>
        <p:grpSpPr>
          <a:xfrm>
            <a:off x="3601553" y="3120460"/>
            <a:ext cx="2808000" cy="144000"/>
            <a:chOff x="2158440" y="2616460"/>
            <a:chExt cx="2808000" cy="144000"/>
          </a:xfrm>
        </p:grpSpPr>
        <p:sp>
          <p:nvSpPr>
            <p:cNvPr id="280" name="모서리가 둥근 직사각형 279"/>
            <p:cNvSpPr/>
            <p:nvPr/>
          </p:nvSpPr>
          <p:spPr>
            <a:xfrm>
              <a:off x="2158440" y="2616460"/>
              <a:ext cx="2808000" cy="144000"/>
            </a:xfrm>
            <a:prstGeom prst="roundRect">
              <a:avLst>
                <a:gd name="adj" fmla="val 50000"/>
              </a:avLst>
            </a:prstGeom>
            <a:solidFill>
              <a:schemeClr val="accent6">
                <a:lumMod val="40000"/>
                <a:lumOff val="60000"/>
              </a:schemeClr>
            </a:solidFill>
            <a:ln w="3175">
              <a:noFill/>
            </a:ln>
            <a:effectLst>
              <a:outerShdw blurRad="12700" dist="12700" dir="2700000" algn="tl" rotWithShape="0">
                <a:schemeClr val="tx1">
                  <a:lumMod val="75000"/>
                  <a:lumOff val="25000"/>
                  <a:alpha val="5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32000" tIns="36000" rIns="108000" bIns="36000" rtlCol="0" anchor="ctr"/>
            <a:lstStyle/>
            <a:p>
              <a:pPr>
                <a:lnSpc>
                  <a:spcPct val="150000"/>
                </a:lnSpc>
              </a:pPr>
              <a:endPara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281" name="모서리가 둥근 직사각형 280"/>
            <p:cNvSpPr/>
            <p:nvPr/>
          </p:nvSpPr>
          <p:spPr>
            <a:xfrm>
              <a:off x="3235843" y="2616460"/>
              <a:ext cx="1368000" cy="144000"/>
            </a:xfrm>
            <a:prstGeom prst="roundRect">
              <a:avLst>
                <a:gd name="adj" fmla="val 50000"/>
              </a:avLst>
            </a:prstGeom>
            <a:solidFill>
              <a:schemeClr val="accent6">
                <a:lumMod val="75000"/>
              </a:schemeClr>
            </a:solidFill>
            <a:ln w="3175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32000" tIns="36000" rIns="108000" bIns="36000" rtlCol="0" anchor="ctr"/>
            <a:lstStyle/>
            <a:p>
              <a:pPr>
                <a:lnSpc>
                  <a:spcPct val="150000"/>
                </a:lnSpc>
              </a:pPr>
              <a:endPara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endParaRPr>
            </a:p>
          </p:txBody>
        </p:sp>
      </p:grpSp>
      <p:sp>
        <p:nvSpPr>
          <p:cNvPr id="282" name="직사각형 281"/>
          <p:cNvSpPr/>
          <p:nvPr/>
        </p:nvSpPr>
        <p:spPr>
          <a:xfrm>
            <a:off x="323906" y="5460079"/>
            <a:ext cx="1440000" cy="4320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36000" rIns="36000" bIns="36000" rtlCol="0" anchor="ctr"/>
          <a:lstStyle/>
          <a:p>
            <a:pPr>
              <a:lnSpc>
                <a:spcPct val="150000"/>
              </a:lnSpc>
            </a:pPr>
            <a:r>
              <a:rPr lang="ko-KR" altLang="en-US" sz="8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오픈</a:t>
            </a:r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</a:endParaRPr>
          </a:p>
        </p:txBody>
      </p:sp>
      <p:cxnSp>
        <p:nvCxnSpPr>
          <p:cNvPr id="125" name="직선 연결선 124"/>
          <p:cNvCxnSpPr/>
          <p:nvPr/>
        </p:nvCxnSpPr>
        <p:spPr>
          <a:xfrm>
            <a:off x="1763905" y="1356442"/>
            <a:ext cx="0" cy="4896000"/>
          </a:xfrm>
          <a:prstGeom prst="line">
            <a:avLst/>
          </a:prstGeom>
          <a:ln w="3810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83" name="그룹 282"/>
          <p:cNvGrpSpPr/>
          <p:nvPr/>
        </p:nvGrpSpPr>
        <p:grpSpPr>
          <a:xfrm>
            <a:off x="4322783" y="3624460"/>
            <a:ext cx="2808000" cy="144000"/>
            <a:chOff x="2158440" y="2616460"/>
            <a:chExt cx="2808000" cy="144000"/>
          </a:xfrm>
        </p:grpSpPr>
        <p:sp>
          <p:nvSpPr>
            <p:cNvPr id="284" name="모서리가 둥근 직사각형 283"/>
            <p:cNvSpPr/>
            <p:nvPr/>
          </p:nvSpPr>
          <p:spPr>
            <a:xfrm>
              <a:off x="2158440" y="2616460"/>
              <a:ext cx="2808000" cy="144000"/>
            </a:xfrm>
            <a:prstGeom prst="roundRect">
              <a:avLst>
                <a:gd name="adj" fmla="val 50000"/>
              </a:avLst>
            </a:prstGeom>
            <a:solidFill>
              <a:schemeClr val="accent6">
                <a:lumMod val="40000"/>
                <a:lumOff val="60000"/>
              </a:schemeClr>
            </a:solidFill>
            <a:ln w="3175">
              <a:noFill/>
            </a:ln>
            <a:effectLst>
              <a:outerShdw blurRad="12700" dist="12700" dir="2700000" algn="tl" rotWithShape="0">
                <a:schemeClr val="tx1">
                  <a:lumMod val="75000"/>
                  <a:lumOff val="25000"/>
                  <a:alpha val="5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32000" tIns="36000" rIns="108000" bIns="36000" rtlCol="0" anchor="ctr"/>
            <a:lstStyle/>
            <a:p>
              <a:pPr>
                <a:lnSpc>
                  <a:spcPct val="150000"/>
                </a:lnSpc>
              </a:pPr>
              <a:endPara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285" name="모서리가 둥근 직사각형 284"/>
            <p:cNvSpPr/>
            <p:nvPr/>
          </p:nvSpPr>
          <p:spPr>
            <a:xfrm>
              <a:off x="3240650" y="2616460"/>
              <a:ext cx="1368000" cy="144000"/>
            </a:xfrm>
            <a:prstGeom prst="roundRect">
              <a:avLst>
                <a:gd name="adj" fmla="val 50000"/>
              </a:avLst>
            </a:prstGeom>
            <a:solidFill>
              <a:schemeClr val="accent6">
                <a:lumMod val="75000"/>
              </a:schemeClr>
            </a:solidFill>
            <a:ln w="3175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32000" tIns="36000" rIns="108000" bIns="36000" rtlCol="0" anchor="ctr"/>
            <a:lstStyle/>
            <a:p>
              <a:pPr>
                <a:lnSpc>
                  <a:spcPct val="150000"/>
                </a:lnSpc>
              </a:pPr>
              <a:endPara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endParaRPr>
            </a:p>
          </p:txBody>
        </p:sp>
      </p:grpSp>
      <p:sp>
        <p:nvSpPr>
          <p:cNvPr id="288" name="모서리가 둥근 직사각형 287"/>
          <p:cNvSpPr/>
          <p:nvPr/>
        </p:nvSpPr>
        <p:spPr>
          <a:xfrm>
            <a:off x="4675751" y="4128212"/>
            <a:ext cx="4608000" cy="144000"/>
          </a:xfrm>
          <a:prstGeom prst="roundRect">
            <a:avLst>
              <a:gd name="adj" fmla="val 50000"/>
            </a:avLst>
          </a:prstGeom>
          <a:solidFill>
            <a:schemeClr val="accent5">
              <a:lumMod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32000" tIns="36000" rIns="108000" bIns="36000" rtlCol="0" anchor="ctr"/>
          <a:lstStyle/>
          <a:p>
            <a:pPr>
              <a:lnSpc>
                <a:spcPct val="150000"/>
              </a:lnSpc>
            </a:pPr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290" name="모서리가 둥근 직사각형 289"/>
          <p:cNvSpPr/>
          <p:nvPr/>
        </p:nvSpPr>
        <p:spPr>
          <a:xfrm>
            <a:off x="4675751" y="4631964"/>
            <a:ext cx="4608000" cy="144000"/>
          </a:xfrm>
          <a:prstGeom prst="roundRect">
            <a:avLst>
              <a:gd name="adj" fmla="val 50000"/>
            </a:avLst>
          </a:prstGeom>
          <a:solidFill>
            <a:schemeClr val="accent5">
              <a:lumMod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32000" tIns="36000" rIns="108000" bIns="36000" rtlCol="0" anchor="ctr"/>
          <a:lstStyle/>
          <a:p>
            <a:pPr>
              <a:lnSpc>
                <a:spcPct val="150000"/>
              </a:lnSpc>
            </a:pPr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293" name="모서리가 둥근 직사각형 292"/>
          <p:cNvSpPr/>
          <p:nvPr/>
        </p:nvSpPr>
        <p:spPr>
          <a:xfrm>
            <a:off x="9002916" y="5135716"/>
            <a:ext cx="1368000" cy="144000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32000" tIns="36000" rIns="108000" bIns="36000" rtlCol="0" anchor="ctr"/>
          <a:lstStyle/>
          <a:p>
            <a:pPr>
              <a:lnSpc>
                <a:spcPct val="150000"/>
              </a:lnSpc>
            </a:pPr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105" name="TextBox 104"/>
          <p:cNvSpPr txBox="1"/>
          <p:nvPr/>
        </p:nvSpPr>
        <p:spPr>
          <a:xfrm>
            <a:off x="8656058" y="3852860"/>
            <a:ext cx="1111385" cy="275351"/>
          </a:xfrm>
          <a:prstGeom prst="roundRect">
            <a:avLst>
              <a:gd name="adj" fmla="val 50000"/>
            </a:avLst>
          </a:prstGeom>
          <a:solidFill>
            <a:schemeClr val="bg1"/>
          </a:solidFill>
        </p:spPr>
        <p:txBody>
          <a:bodyPr wrap="none" lIns="36000" tIns="36000" rIns="36000" bIns="36000" rtlCol="0" anchor="ctr">
            <a:spAutoFit/>
          </a:bodyPr>
          <a:lstStyle/>
          <a:p>
            <a:pPr algn="ctr"/>
            <a:r>
              <a:rPr lang="ko-KR" altLang="en-US" sz="800" b="1" smtClean="0">
                <a:solidFill>
                  <a:schemeClr val="accent5">
                    <a:lumMod val="50000"/>
                  </a:schemeClr>
                </a:solidFill>
                <a:latin typeface="맑은 고딕" panose="020B0503020000020004" pitchFamily="50" charset="-127"/>
              </a:rPr>
              <a:t>개발 완료 </a:t>
            </a:r>
            <a:r>
              <a:rPr lang="en-US" altLang="ko-KR" sz="800" b="1" smtClean="0">
                <a:solidFill>
                  <a:schemeClr val="accent5">
                    <a:lumMod val="50000"/>
                  </a:schemeClr>
                </a:solidFill>
                <a:latin typeface="맑은 고딕" panose="020B0503020000020004" pitchFamily="50" charset="-127"/>
              </a:rPr>
              <a:t>: 4</a:t>
            </a:r>
            <a:r>
              <a:rPr lang="ko-KR" altLang="en-US" sz="800" b="1" smtClean="0">
                <a:solidFill>
                  <a:schemeClr val="accent5">
                    <a:lumMod val="50000"/>
                  </a:schemeClr>
                </a:solidFill>
                <a:latin typeface="맑은 고딕" panose="020B0503020000020004" pitchFamily="50" charset="-127"/>
              </a:rPr>
              <a:t>월 </a:t>
            </a:r>
            <a:r>
              <a:rPr lang="en-US" altLang="ko-KR" sz="800" b="1" smtClean="0">
                <a:solidFill>
                  <a:schemeClr val="accent5">
                    <a:lumMod val="50000"/>
                  </a:schemeClr>
                </a:solidFill>
                <a:latin typeface="맑은 고딕" panose="020B0503020000020004" pitchFamily="50" charset="-127"/>
              </a:rPr>
              <a:t>24</a:t>
            </a:r>
            <a:r>
              <a:rPr lang="ko-KR" altLang="en-US" sz="800" b="1" smtClean="0">
                <a:solidFill>
                  <a:schemeClr val="accent5">
                    <a:lumMod val="50000"/>
                  </a:schemeClr>
                </a:solidFill>
                <a:latin typeface="맑은 고딕" panose="020B0503020000020004" pitchFamily="50" charset="-127"/>
              </a:rPr>
              <a:t>일</a:t>
            </a:r>
            <a:endParaRPr lang="ko-KR" altLang="en-US" sz="800" b="1" dirty="0">
              <a:solidFill>
                <a:schemeClr val="accent5">
                  <a:lumMod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6" name="타원 105"/>
          <p:cNvSpPr/>
          <p:nvPr/>
        </p:nvSpPr>
        <p:spPr>
          <a:xfrm>
            <a:off x="9139751" y="4128212"/>
            <a:ext cx="144000" cy="144000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3175">
            <a:noFill/>
          </a:ln>
          <a:effectLst>
            <a:outerShdw blurRad="12700" dist="12700" dir="2700000" algn="tl" rotWithShape="0">
              <a:schemeClr val="tx1">
                <a:lumMod val="75000"/>
                <a:lumOff val="2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32000" tIns="36000" rIns="108000" bIns="36000" rtlCol="0" anchor="ctr"/>
          <a:lstStyle/>
          <a:p>
            <a:pPr>
              <a:lnSpc>
                <a:spcPct val="150000"/>
              </a:lnSpc>
            </a:pPr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942895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모서리가 둥근 직사각형 1"/>
          <p:cNvSpPr/>
          <p:nvPr/>
        </p:nvSpPr>
        <p:spPr>
          <a:xfrm>
            <a:off x="324542" y="1480927"/>
            <a:ext cx="11520000" cy="360705"/>
          </a:xfrm>
          <a:prstGeom prst="roundRect">
            <a:avLst>
              <a:gd name="adj" fmla="val 50000"/>
            </a:avLst>
          </a:prstGeom>
          <a:solidFill>
            <a:schemeClr val="accent5">
              <a:lumMod val="20000"/>
              <a:lumOff val="8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1057" tIns="0" rIns="1082114" bIns="0" rtlCol="0" anchor="ctr"/>
          <a:lstStyle/>
          <a:p>
            <a:r>
              <a:rPr lang="ko-KR" altLang="en-US" sz="1002" b="1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비직송매장 재고</a:t>
            </a:r>
            <a:r>
              <a:rPr lang="en-US" altLang="ko-KR" sz="1002" b="1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002" b="1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물량 이동 지시 </a:t>
            </a:r>
            <a:r>
              <a:rPr lang="en-US" altLang="ko-KR" sz="1002" b="1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1002" b="1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물류센터 급반품</a:t>
            </a:r>
            <a:r>
              <a:rPr lang="en-US" altLang="ko-KR" sz="1002" b="1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 </a:t>
            </a:r>
            <a:r>
              <a:rPr lang="ko-KR" altLang="en-US" sz="1002" b="1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승인 혜택</a:t>
            </a:r>
            <a:endParaRPr lang="ko-KR" altLang="en-US" sz="1002" b="1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모서리가 둥근 직사각형 2"/>
          <p:cNvSpPr/>
          <p:nvPr/>
        </p:nvSpPr>
        <p:spPr>
          <a:xfrm>
            <a:off x="324542" y="759518"/>
            <a:ext cx="1584000" cy="360705"/>
          </a:xfrm>
          <a:prstGeom prst="roundRect">
            <a:avLst/>
          </a:prstGeom>
          <a:solidFill>
            <a:schemeClr val="tx1">
              <a:lumMod val="65000"/>
              <a:lumOff val="35000"/>
            </a:schemeClr>
          </a:solidFill>
          <a:ln w="381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705" tIns="36070" rIns="36070" bIns="36070" rtlCol="0" anchor="ctr"/>
          <a:lstStyle/>
          <a:p>
            <a:r>
              <a:rPr lang="ko-KR" altLang="en-US" sz="902" b="1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정책 결정 사항 </a:t>
            </a:r>
            <a:endParaRPr lang="ko-KR" altLang="en-US" sz="902" b="1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타원 3"/>
          <p:cNvSpPr/>
          <p:nvPr/>
        </p:nvSpPr>
        <p:spPr>
          <a:xfrm>
            <a:off x="324541" y="1480927"/>
            <a:ext cx="360705" cy="360705"/>
          </a:xfrm>
          <a:prstGeom prst="ellipse">
            <a:avLst/>
          </a:prstGeom>
          <a:solidFill>
            <a:schemeClr val="accent5">
              <a:lumMod val="5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2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endParaRPr lang="ko-KR" altLang="en-US" sz="1002" b="1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" name="직사각형 4"/>
          <p:cNvSpPr/>
          <p:nvPr/>
        </p:nvSpPr>
        <p:spPr>
          <a:xfrm>
            <a:off x="324542" y="1841630"/>
            <a:ext cx="11520000" cy="504000"/>
          </a:xfrm>
          <a:prstGeom prst="rect">
            <a:avLst/>
          </a:pr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1057" tIns="0" rIns="1082114" bIns="0" rtlCol="0" anchor="ctr"/>
          <a:lstStyle/>
          <a:p>
            <a:pPr marL="171826" indent="-171826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902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비직송매장에서 급반품 처리 시</a:t>
            </a:r>
            <a:r>
              <a:rPr lang="en-US" altLang="ko-KR" sz="902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902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매장 재고가 줄어들기 때문에</a:t>
            </a:r>
            <a:r>
              <a:rPr lang="en-US" altLang="ko-KR" sz="902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902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매장에서의 판매기회가 줄어드는 이슈 존재</a:t>
            </a:r>
            <a:endParaRPr lang="en-US" altLang="ko-KR" sz="902" smtClean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171826" indent="-171826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902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급반품 지시에 대한 승인 매장에 어떠한 혜택을 제공할지 고민 필요</a:t>
            </a:r>
            <a:endParaRPr lang="ko-KR" altLang="en-US" sz="902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="" xmlns:a16="http://schemas.microsoft.com/office/drawing/2014/main" id="{C5E486F5-93A1-4316-A9AE-8F2FB1C3263A}"/>
              </a:ext>
            </a:extLst>
          </p:cNvPr>
          <p:cNvSpPr txBox="1"/>
          <p:nvPr/>
        </p:nvSpPr>
        <p:spPr>
          <a:xfrm>
            <a:off x="95" y="105094"/>
            <a:ext cx="1844145" cy="226733"/>
          </a:xfrm>
          <a:prstGeom prst="rect">
            <a:avLst/>
          </a:prstGeom>
          <a:noFill/>
        </p:spPr>
        <p:txBody>
          <a:bodyPr wrap="none" lIns="360705" tIns="36070" rIns="360705" bIns="36070" rtlCol="0" anchor="ctr">
            <a:spAutoFit/>
          </a:bodyPr>
          <a:lstStyle/>
          <a:p>
            <a:r>
              <a:rPr lang="ko-KR" altLang="en-US" sz="1000" b="1">
                <a:solidFill>
                  <a:schemeClr val="bg1"/>
                </a:solidFill>
                <a:latin typeface="맑은 고딕" panose="020B0503020000020004" pitchFamily="50" charset="-127"/>
              </a:rPr>
              <a:t>온오프 재고 효율화</a:t>
            </a:r>
            <a:endParaRPr lang="en-US" altLang="ko-KR" sz="1000" b="1">
              <a:solidFill>
                <a:schemeClr val="bg1"/>
              </a:solidFill>
              <a:latin typeface="맑은 고딕" panose="020B0503020000020004" pitchFamily="50" charset="-127"/>
            </a:endParaRPr>
          </a:p>
        </p:txBody>
      </p:sp>
      <p:sp>
        <p:nvSpPr>
          <p:cNvPr id="11" name="모서리가 둥근 직사각형 10"/>
          <p:cNvSpPr/>
          <p:nvPr/>
        </p:nvSpPr>
        <p:spPr>
          <a:xfrm>
            <a:off x="324542" y="2489630"/>
            <a:ext cx="11520000" cy="360705"/>
          </a:xfrm>
          <a:prstGeom prst="roundRect">
            <a:avLst>
              <a:gd name="adj" fmla="val 50000"/>
            </a:avLst>
          </a:prstGeom>
          <a:solidFill>
            <a:schemeClr val="accent5">
              <a:lumMod val="20000"/>
              <a:lumOff val="8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1057" tIns="0" rIns="1082114" bIns="0" rtlCol="0" anchor="ctr"/>
          <a:lstStyle/>
          <a:p>
            <a:r>
              <a:rPr lang="ko-KR" altLang="en-US" sz="1002" b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비직송매장 재고</a:t>
            </a:r>
            <a:r>
              <a:rPr lang="en-US" altLang="ko-KR" sz="1002" b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 </a:t>
            </a:r>
            <a:r>
              <a:rPr lang="ko-KR" altLang="en-US" sz="1002" b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물량 이동 지시 </a:t>
            </a:r>
            <a:r>
              <a:rPr lang="en-US" altLang="ko-KR" sz="1002" b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(</a:t>
            </a:r>
            <a:r>
              <a:rPr lang="ko-KR" altLang="en-US" sz="1002" b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물류센터 급반품</a:t>
            </a:r>
            <a:r>
              <a:rPr lang="en-US" altLang="ko-KR" sz="1002" b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) </a:t>
            </a:r>
            <a:r>
              <a:rPr lang="ko-KR" altLang="en-US" sz="1002" b="1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거부 이슈</a:t>
            </a:r>
            <a:endParaRPr lang="ko-KR" altLang="en-US" sz="1002" b="1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12" name="타원 11"/>
          <p:cNvSpPr/>
          <p:nvPr/>
        </p:nvSpPr>
        <p:spPr>
          <a:xfrm>
            <a:off x="324541" y="2489630"/>
            <a:ext cx="360705" cy="360705"/>
          </a:xfrm>
          <a:prstGeom prst="ellipse">
            <a:avLst/>
          </a:prstGeom>
          <a:solidFill>
            <a:schemeClr val="accent5">
              <a:lumMod val="5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2" b="1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endParaRPr lang="ko-KR" altLang="en-US" sz="1002" b="1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324542" y="2850333"/>
            <a:ext cx="11520000" cy="720000"/>
          </a:xfrm>
          <a:prstGeom prst="rect">
            <a:avLst/>
          </a:pr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1057" tIns="0" rIns="1082114" bIns="0" rtlCol="0" anchor="ctr"/>
          <a:lstStyle/>
          <a:p>
            <a:pPr marL="171826" indent="-171826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902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주문 접수가 되었으나</a:t>
            </a:r>
            <a:r>
              <a:rPr lang="en-US" altLang="ko-KR" sz="902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 </a:t>
            </a:r>
            <a:r>
              <a:rPr lang="ko-KR" altLang="en-US" sz="902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매장에서 급반품 거부 할 경우</a:t>
            </a:r>
            <a:r>
              <a:rPr lang="en-US" altLang="ko-KR" sz="902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, </a:t>
            </a:r>
            <a:r>
              <a:rPr lang="ko-KR" altLang="en-US" sz="902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물류센터에서 </a:t>
            </a:r>
            <a:r>
              <a:rPr lang="en-US" altLang="ko-KR" sz="902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[</a:t>
            </a:r>
            <a:r>
              <a:rPr lang="ko-KR" altLang="en-US" sz="902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입고확정</a:t>
            </a:r>
            <a:r>
              <a:rPr lang="en-US" altLang="ko-KR" sz="902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] [</a:t>
            </a:r>
            <a:r>
              <a:rPr lang="ko-KR" altLang="en-US" sz="902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출고처지정</a:t>
            </a:r>
            <a:r>
              <a:rPr lang="en-US" altLang="ko-KR" sz="902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] </a:t>
            </a:r>
            <a:r>
              <a:rPr lang="ko-KR" altLang="en-US" sz="902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을 진행하지 못함</a:t>
            </a:r>
            <a:endParaRPr lang="en-US" altLang="ko-KR" sz="902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</a:endParaRPr>
          </a:p>
          <a:p>
            <a:pPr marL="171826" indent="-171826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902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크리티컬 이슈로 </a:t>
            </a:r>
            <a:r>
              <a:rPr lang="en-US" altLang="ko-KR" sz="902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LFmall </a:t>
            </a:r>
            <a:r>
              <a:rPr lang="ko-KR" altLang="en-US" sz="902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은 물량 이동 지시 상태를 트래킹 할 수 없음 </a:t>
            </a:r>
            <a:r>
              <a:rPr lang="en-US" altLang="ko-KR" sz="902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(</a:t>
            </a:r>
            <a:r>
              <a:rPr lang="ko-KR" altLang="en-US" sz="902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고객 안내조차 불가</a:t>
            </a:r>
            <a:r>
              <a:rPr lang="en-US" altLang="ko-KR" sz="902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)</a:t>
            </a:r>
          </a:p>
          <a:p>
            <a:pPr marL="171826" indent="-171826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902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1</a:t>
            </a:r>
            <a:r>
              <a:rPr lang="ko-KR" altLang="en-US" sz="902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차 지정된 매장에서 거부할 경우</a:t>
            </a:r>
            <a:r>
              <a:rPr lang="en-US" altLang="ko-KR" sz="902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, 2~3</a:t>
            </a:r>
            <a:r>
              <a:rPr lang="ko-KR" altLang="en-US" sz="902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차 지정을 진행할 것인지 </a:t>
            </a:r>
            <a:r>
              <a:rPr lang="en-US" altLang="ko-KR" sz="902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/ </a:t>
            </a:r>
            <a:r>
              <a:rPr lang="ko-KR" altLang="en-US" sz="902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결품 처리 할 것인지 결정 필요</a:t>
            </a:r>
          </a:p>
        </p:txBody>
      </p:sp>
      <p:sp>
        <p:nvSpPr>
          <p:cNvPr id="19" name="모서리가 둥근 직사각형 18"/>
          <p:cNvSpPr/>
          <p:nvPr/>
        </p:nvSpPr>
        <p:spPr>
          <a:xfrm>
            <a:off x="324542" y="3714333"/>
            <a:ext cx="11520000" cy="360705"/>
          </a:xfrm>
          <a:prstGeom prst="roundRect">
            <a:avLst>
              <a:gd name="adj" fmla="val 50000"/>
            </a:avLst>
          </a:prstGeom>
          <a:solidFill>
            <a:schemeClr val="accent5">
              <a:lumMod val="20000"/>
              <a:lumOff val="8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1057" tIns="0" rIns="1082114" bIns="0" rtlCol="0" anchor="ctr"/>
          <a:lstStyle/>
          <a:p>
            <a:r>
              <a:rPr lang="ko-KR" altLang="en-US" sz="1002" b="1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비직송매장 주문에 대한 </a:t>
            </a:r>
            <a:r>
              <a:rPr lang="en-US" altLang="ko-KR" sz="1002" b="1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‘</a:t>
            </a:r>
            <a:r>
              <a:rPr lang="ko-KR" altLang="en-US" sz="1002" b="1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자동결품처리</a:t>
            </a:r>
            <a:r>
              <a:rPr lang="en-US" altLang="ko-KR" sz="1002" b="1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’ (Batch) </a:t>
            </a:r>
            <a:r>
              <a:rPr lang="ko-KR" altLang="en-US" sz="1002" b="1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시점 결정</a:t>
            </a:r>
            <a:endParaRPr lang="ko-KR" altLang="en-US" sz="1002" b="1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20" name="타원 19"/>
          <p:cNvSpPr/>
          <p:nvPr/>
        </p:nvSpPr>
        <p:spPr>
          <a:xfrm>
            <a:off x="324541" y="3714333"/>
            <a:ext cx="360705" cy="360705"/>
          </a:xfrm>
          <a:prstGeom prst="ellipse">
            <a:avLst/>
          </a:prstGeom>
          <a:solidFill>
            <a:schemeClr val="accent5">
              <a:lumMod val="5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2" b="1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3</a:t>
            </a:r>
            <a:endParaRPr lang="ko-KR" altLang="en-US" sz="1002" b="1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324542" y="4075036"/>
            <a:ext cx="11520000" cy="720000"/>
          </a:xfrm>
          <a:prstGeom prst="rect">
            <a:avLst/>
          </a:pr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1057" tIns="0" rIns="1082114" bIns="0" rtlCol="0" anchor="ctr"/>
          <a:lstStyle/>
          <a:p>
            <a:pPr marL="171826" indent="-171826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902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현재 </a:t>
            </a:r>
            <a:r>
              <a:rPr lang="en-US" altLang="ko-KR" sz="902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‘</a:t>
            </a:r>
            <a:r>
              <a:rPr lang="ko-KR" altLang="en-US" sz="902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자동결품처리</a:t>
            </a:r>
            <a:r>
              <a:rPr lang="en-US" altLang="ko-KR" sz="902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’ </a:t>
            </a:r>
            <a:r>
              <a:rPr lang="ko-KR" altLang="en-US" sz="902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기준에서 주요한 </a:t>
            </a:r>
            <a:r>
              <a:rPr lang="en-US" altLang="ko-KR" sz="902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2</a:t>
            </a:r>
            <a:r>
              <a:rPr lang="ko-KR" altLang="en-US" sz="902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가지는 </a:t>
            </a:r>
            <a:r>
              <a:rPr lang="en-US" altLang="ko-KR" sz="902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&lt;24</a:t>
            </a:r>
            <a:r>
              <a:rPr lang="ko-KR" altLang="en-US" sz="902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시간 이내에 출고처 미지정</a:t>
            </a:r>
            <a:r>
              <a:rPr lang="en-US" altLang="ko-KR" sz="902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&gt; &lt;48</a:t>
            </a:r>
            <a:r>
              <a:rPr lang="ko-KR" altLang="en-US" sz="902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시간 이내에 송장 미등록</a:t>
            </a:r>
            <a:r>
              <a:rPr lang="en-US" altLang="ko-KR" sz="902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&gt; </a:t>
            </a:r>
          </a:p>
          <a:p>
            <a:pPr marL="171826" indent="-171826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902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비직송매장 주문은</a:t>
            </a:r>
            <a:r>
              <a:rPr lang="en-US" altLang="ko-KR" sz="902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 </a:t>
            </a:r>
            <a:r>
              <a:rPr lang="en-US" altLang="ko-KR" sz="902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[</a:t>
            </a:r>
            <a:r>
              <a:rPr lang="ko-KR" altLang="en-US" sz="902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출고처지정</a:t>
            </a:r>
            <a:r>
              <a:rPr lang="en-US" altLang="ko-KR" sz="902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] [</a:t>
            </a:r>
            <a:r>
              <a:rPr lang="ko-KR" altLang="en-US" sz="902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송장등록</a:t>
            </a:r>
            <a:r>
              <a:rPr lang="en-US" altLang="ko-KR" sz="902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] </a:t>
            </a:r>
            <a:r>
              <a:rPr lang="ko-KR" altLang="en-US" sz="902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시점까지</a:t>
            </a:r>
            <a:r>
              <a:rPr lang="en-US" altLang="ko-KR" sz="902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, </a:t>
            </a:r>
            <a:r>
              <a:rPr lang="ko-KR" altLang="en-US" sz="902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최소 </a:t>
            </a:r>
            <a:r>
              <a:rPr lang="en-US" altLang="ko-KR" sz="902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D+3 ~ D+5 </a:t>
            </a:r>
            <a:r>
              <a:rPr lang="ko-KR" altLang="en-US" sz="902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까지 소요 됨</a:t>
            </a:r>
            <a:endParaRPr lang="en-US" altLang="ko-KR" sz="902" smtClean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</a:endParaRPr>
          </a:p>
          <a:p>
            <a:pPr marL="171826" indent="-171826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902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자동결품처리에 대한 적절한 시점 </a:t>
            </a:r>
            <a:r>
              <a:rPr lang="en-US" altLang="ko-KR" sz="902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(e.g., D+5 </a:t>
            </a:r>
            <a:r>
              <a:rPr lang="ko-KR" altLang="en-US" sz="902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영업일</a:t>
            </a:r>
            <a:r>
              <a:rPr lang="en-US" altLang="ko-KR" sz="902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) </a:t>
            </a:r>
            <a:r>
              <a:rPr lang="ko-KR" altLang="en-US" sz="902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결정 필요</a:t>
            </a:r>
            <a:endParaRPr lang="en-US" altLang="ko-KR" sz="902" smtClean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25" name="모서리가 둥근 직사각형 24"/>
          <p:cNvSpPr/>
          <p:nvPr/>
        </p:nvSpPr>
        <p:spPr>
          <a:xfrm>
            <a:off x="324542" y="4939036"/>
            <a:ext cx="11520000" cy="360705"/>
          </a:xfrm>
          <a:prstGeom prst="roundRect">
            <a:avLst>
              <a:gd name="adj" fmla="val 50000"/>
            </a:avLst>
          </a:prstGeom>
          <a:solidFill>
            <a:schemeClr val="accent5">
              <a:lumMod val="20000"/>
              <a:lumOff val="8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1057" tIns="0" rIns="1082114" bIns="0" rtlCol="0" anchor="ctr"/>
          <a:lstStyle/>
          <a:p>
            <a:r>
              <a:rPr lang="ko-KR" altLang="en-US" sz="1002" b="1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비직송매장 주문의 </a:t>
            </a:r>
            <a:r>
              <a:rPr lang="en-US" altLang="ko-KR" sz="1002" b="1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‘</a:t>
            </a:r>
            <a:r>
              <a:rPr lang="ko-KR" altLang="en-US" sz="1002" b="1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결품율 관리</a:t>
            </a:r>
            <a:r>
              <a:rPr lang="en-US" altLang="ko-KR" sz="1002" b="1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’ </a:t>
            </a:r>
            <a:r>
              <a:rPr lang="ko-KR" altLang="en-US" sz="1002" b="1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에 대한 정책</a:t>
            </a:r>
            <a:endParaRPr lang="ko-KR" altLang="en-US" sz="1002" b="1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26" name="타원 25"/>
          <p:cNvSpPr/>
          <p:nvPr/>
        </p:nvSpPr>
        <p:spPr>
          <a:xfrm>
            <a:off x="324541" y="4939036"/>
            <a:ext cx="360705" cy="360705"/>
          </a:xfrm>
          <a:prstGeom prst="ellipse">
            <a:avLst/>
          </a:prstGeom>
          <a:solidFill>
            <a:schemeClr val="accent5">
              <a:lumMod val="5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2" b="1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4</a:t>
            </a:r>
            <a:endParaRPr lang="ko-KR" altLang="en-US" sz="1002" b="1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324542" y="5299739"/>
            <a:ext cx="11520000" cy="504000"/>
          </a:xfrm>
          <a:prstGeom prst="rect">
            <a:avLst/>
          </a:pr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1057" tIns="0" rIns="1082114" bIns="0" rtlCol="0" anchor="ctr"/>
          <a:lstStyle/>
          <a:p>
            <a:pPr marL="171826" indent="-171826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902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23</a:t>
            </a:r>
            <a:r>
              <a:rPr lang="ko-KR" altLang="en-US" sz="902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년 </a:t>
            </a:r>
            <a:r>
              <a:rPr lang="en-US" altLang="ko-KR" sz="902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[</a:t>
            </a:r>
            <a:r>
              <a:rPr lang="ko-KR" altLang="en-US" sz="902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매장상품배송 </a:t>
            </a:r>
            <a:r>
              <a:rPr lang="en-US" altLang="ko-KR" sz="902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2</a:t>
            </a:r>
            <a:r>
              <a:rPr lang="ko-KR" altLang="en-US" sz="902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단계</a:t>
            </a:r>
            <a:r>
              <a:rPr lang="en-US" altLang="ko-KR" sz="902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] </a:t>
            </a:r>
            <a:r>
              <a:rPr lang="ko-KR" altLang="en-US" sz="902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진행 시</a:t>
            </a:r>
            <a:r>
              <a:rPr lang="en-US" altLang="ko-KR" sz="902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, ‘</a:t>
            </a:r>
            <a:r>
              <a:rPr lang="ko-KR" altLang="en-US" sz="902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이동중재고</a:t>
            </a:r>
            <a:r>
              <a:rPr lang="en-US" altLang="ko-KR" sz="902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’ </a:t>
            </a:r>
            <a:r>
              <a:rPr lang="ko-KR" altLang="en-US" sz="902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로 발생하는 결품율이 높았음</a:t>
            </a:r>
            <a:endParaRPr lang="en-US" altLang="ko-KR" sz="902" smtClean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</a:endParaRPr>
          </a:p>
          <a:p>
            <a:pPr marL="171826" indent="-171826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902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온라인사업부문 전체 </a:t>
            </a:r>
            <a:r>
              <a:rPr lang="en-US" altLang="ko-KR" sz="902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‘</a:t>
            </a:r>
            <a:r>
              <a:rPr lang="ko-KR" altLang="en-US" sz="902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주문 결품율</a:t>
            </a:r>
            <a:r>
              <a:rPr lang="en-US" altLang="ko-KR" sz="902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’ </a:t>
            </a:r>
            <a:r>
              <a:rPr lang="ko-KR" altLang="en-US" sz="902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을 높이는 이슈와</a:t>
            </a:r>
            <a:r>
              <a:rPr lang="en-US" altLang="ko-KR" sz="902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, </a:t>
            </a:r>
            <a:r>
              <a:rPr lang="ko-KR" altLang="en-US" sz="902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고객 클레임 </a:t>
            </a:r>
            <a:r>
              <a:rPr lang="en-US" altLang="ko-KR" sz="902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(</a:t>
            </a:r>
            <a:r>
              <a:rPr lang="ko-KR" altLang="en-US" sz="902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주문</a:t>
            </a:r>
            <a:r>
              <a:rPr lang="en-US" altLang="ko-KR" sz="902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/</a:t>
            </a:r>
            <a:r>
              <a:rPr lang="ko-KR" altLang="en-US" sz="902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결제 후</a:t>
            </a:r>
            <a:r>
              <a:rPr lang="en-US" altLang="ko-KR" sz="902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, </a:t>
            </a:r>
            <a:r>
              <a:rPr lang="ko-KR" altLang="en-US" sz="902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출고가 이루어지지 않는 상황</a:t>
            </a:r>
            <a:r>
              <a:rPr lang="en-US" altLang="ko-KR" sz="902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) </a:t>
            </a:r>
            <a:r>
              <a:rPr lang="ko-KR" altLang="en-US" sz="902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으로 인하여 서비스 중단</a:t>
            </a:r>
            <a:endParaRPr lang="en-US" altLang="ko-KR" sz="902" smtClean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324541" y="1480927"/>
            <a:ext cx="11520001" cy="2089406"/>
          </a:xfrm>
          <a:prstGeom prst="rect">
            <a:avLst/>
          </a:prstGeom>
          <a:solidFill>
            <a:schemeClr val="accent4">
              <a:alpha val="50000"/>
            </a:schemeClr>
          </a:solidFill>
          <a:ln w="317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이슈 없음</a:t>
            </a:r>
            <a:endParaRPr lang="en-US" altLang="ko-KR" sz="1000" b="1" smtClean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0" name="직사각형 29"/>
          <p:cNvSpPr/>
          <p:nvPr/>
        </p:nvSpPr>
        <p:spPr>
          <a:xfrm>
            <a:off x="324541" y="4939036"/>
            <a:ext cx="11520001" cy="864703"/>
          </a:xfrm>
          <a:prstGeom prst="rect">
            <a:avLst/>
          </a:prstGeom>
          <a:solidFill>
            <a:schemeClr val="accent4">
              <a:alpha val="50000"/>
            </a:schemeClr>
          </a:solidFill>
          <a:ln w="317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결품율 별도 관리</a:t>
            </a:r>
            <a:endParaRPr lang="en-US" altLang="ko-KR" sz="1000" b="1" smtClean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3179407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모서리가 둥근 직사각형 2"/>
          <p:cNvSpPr/>
          <p:nvPr/>
        </p:nvSpPr>
        <p:spPr>
          <a:xfrm>
            <a:off x="324542" y="759518"/>
            <a:ext cx="1800000" cy="360705"/>
          </a:xfrm>
          <a:prstGeom prst="roundRect">
            <a:avLst/>
          </a:prstGeom>
          <a:solidFill>
            <a:schemeClr val="tx1">
              <a:lumMod val="65000"/>
              <a:lumOff val="35000"/>
            </a:schemeClr>
          </a:solidFill>
          <a:ln w="381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705" tIns="36070" rIns="36070" bIns="36070" rtlCol="0" anchor="ctr"/>
          <a:lstStyle/>
          <a:p>
            <a:r>
              <a:rPr lang="ko-KR" altLang="en-US" sz="902" b="1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세부 실무 결정 사항</a:t>
            </a:r>
            <a:endParaRPr lang="ko-KR" altLang="en-US" sz="902" b="1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="" xmlns:a16="http://schemas.microsoft.com/office/drawing/2014/main" id="{C5E486F5-93A1-4316-A9AE-8F2FB1C3263A}"/>
              </a:ext>
            </a:extLst>
          </p:cNvPr>
          <p:cNvSpPr txBox="1"/>
          <p:nvPr/>
        </p:nvSpPr>
        <p:spPr>
          <a:xfrm>
            <a:off x="95" y="105094"/>
            <a:ext cx="1844145" cy="226733"/>
          </a:xfrm>
          <a:prstGeom prst="rect">
            <a:avLst/>
          </a:prstGeom>
          <a:noFill/>
        </p:spPr>
        <p:txBody>
          <a:bodyPr wrap="none" lIns="360705" tIns="36070" rIns="360705" bIns="36070" rtlCol="0" anchor="ctr">
            <a:spAutoFit/>
          </a:bodyPr>
          <a:lstStyle/>
          <a:p>
            <a:r>
              <a:rPr lang="ko-KR" altLang="en-US" sz="1000" b="1">
                <a:solidFill>
                  <a:schemeClr val="bg1"/>
                </a:solidFill>
                <a:latin typeface="맑은 고딕" panose="020B0503020000020004" pitchFamily="50" charset="-127"/>
              </a:rPr>
              <a:t>온오프 재고 효율화</a:t>
            </a:r>
            <a:endParaRPr lang="en-US" altLang="ko-KR" sz="1000" b="1">
              <a:solidFill>
                <a:schemeClr val="bg1"/>
              </a:solidFill>
              <a:latin typeface="맑은 고딕" panose="020B0503020000020004" pitchFamily="50" charset="-127"/>
            </a:endParaRPr>
          </a:p>
        </p:txBody>
      </p:sp>
      <p:graphicFrame>
        <p:nvGraphicFramePr>
          <p:cNvPr id="22" name="표 2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27347168"/>
              </p:ext>
            </p:extLst>
          </p:nvPr>
        </p:nvGraphicFramePr>
        <p:xfrm>
          <a:off x="324541" y="1300576"/>
          <a:ext cx="11520000" cy="5478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0000"/>
                <a:gridCol w="1080000"/>
                <a:gridCol w="2880000"/>
                <a:gridCol w="3600000"/>
                <a:gridCol w="2232000"/>
                <a:gridCol w="1188000"/>
              </a:tblGrid>
              <a:tr h="3600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번호</a:t>
                      </a:r>
                      <a:endParaRPr lang="ko-KR" altLang="en-US" sz="900" b="1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유형</a:t>
                      </a:r>
                      <a:endParaRPr lang="ko-KR" altLang="en-US" sz="900" b="1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baseline="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항목</a:t>
                      </a:r>
                      <a:endParaRPr lang="ko-KR" altLang="en-US" sz="900" b="1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상세 운영 방안</a:t>
                      </a:r>
                      <a:endParaRPr lang="ko-KR" altLang="en-US" sz="900" b="1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비고</a:t>
                      </a:r>
                      <a:endParaRPr lang="ko-KR" altLang="en-US" sz="900" b="1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유관부서</a:t>
                      </a:r>
                      <a:endParaRPr lang="ko-KR" altLang="en-US" sz="900" b="1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50000"/>
                      </a:schemeClr>
                    </a:solidFill>
                  </a:tcPr>
                </a:tc>
              </a:tr>
              <a:tr h="360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endParaRPr lang="ko-KR" altLang="en-US" sz="80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출고</a:t>
                      </a:r>
                      <a:endParaRPr lang="ko-KR" altLang="en-US" sz="80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비직송매장 반품 검수</a:t>
                      </a:r>
                      <a:endParaRPr lang="ko-KR" altLang="en-US" sz="80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000" marR="108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매장에서 물량이동 전 검품</a:t>
                      </a:r>
                      <a:endParaRPr lang="en-US" altLang="ko-KR" sz="800" smtClean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171450" indent="-171450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물류혁신</a:t>
                      </a:r>
                      <a:r>
                        <a:rPr lang="en-US" altLang="ko-KR" sz="80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BSU</a:t>
                      </a:r>
                      <a:r>
                        <a:rPr lang="en-US" altLang="ko-KR" sz="800" baseline="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800" baseline="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에서는 검품 진행하지 않음</a:t>
                      </a:r>
                      <a:endParaRPr lang="ko-KR" altLang="en-US" sz="80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000" marR="108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업무 리소스 효율화</a:t>
                      </a:r>
                      <a:endParaRPr lang="ko-KR" altLang="en-US" sz="80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000" marR="108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물류혁신 </a:t>
                      </a:r>
                      <a:r>
                        <a:rPr lang="en-US" altLang="ko-KR" sz="80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BSU</a:t>
                      </a:r>
                      <a:endParaRPr lang="ko-KR" altLang="en-US" sz="80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60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  <a:endParaRPr lang="ko-KR" altLang="en-US" sz="80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운영</a:t>
                      </a:r>
                      <a:endParaRPr lang="ko-KR" altLang="en-US" sz="80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aseline="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비직송매장 반품 미이행 패널티</a:t>
                      </a:r>
                      <a:endParaRPr lang="en-US" altLang="ko-KR" sz="800" baseline="0" smtClean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000" marR="108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기존 오프라인 매장 간 </a:t>
                      </a:r>
                      <a:r>
                        <a:rPr lang="en-US" altLang="ko-KR" sz="80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RT </a:t>
                      </a:r>
                      <a:r>
                        <a:rPr lang="ko-KR" altLang="en-US" sz="80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미이행 패널티 동일하게 적용</a:t>
                      </a:r>
                      <a:endParaRPr lang="ko-KR" altLang="en-US" sz="80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000" marR="108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000" marR="108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경영기획 </a:t>
                      </a:r>
                      <a:r>
                        <a:rPr lang="en-US" altLang="ko-KR" sz="80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BSU</a:t>
                      </a:r>
                      <a:endParaRPr lang="ko-KR" altLang="en-US" sz="80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60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</a:t>
                      </a:r>
                      <a:endParaRPr lang="ko-KR" altLang="en-US" sz="80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운영</a:t>
                      </a:r>
                      <a:endParaRPr lang="ko-KR" altLang="en-US" sz="80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비직송매장 물량 이동 관리주체</a:t>
                      </a:r>
                      <a:endParaRPr lang="ko-KR" altLang="en-US" sz="80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000" marR="108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80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e-</a:t>
                      </a:r>
                      <a:r>
                        <a:rPr lang="ko-KR" altLang="en-US" sz="80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영업</a:t>
                      </a:r>
                      <a:r>
                        <a:rPr lang="en-US" altLang="ko-KR" sz="80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BPU </a:t>
                      </a:r>
                      <a:r>
                        <a:rPr lang="ko-KR" altLang="en-US" sz="80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관리</a:t>
                      </a:r>
                      <a:endParaRPr lang="en-US" altLang="ko-KR" sz="800" smtClean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171450" indent="-171450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80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NBOS </a:t>
                      </a:r>
                      <a:r>
                        <a:rPr lang="ko-KR" altLang="en-US" sz="80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모니터링 화면 개발</a:t>
                      </a:r>
                      <a:r>
                        <a:rPr lang="ko-KR" altLang="en-US" sz="800" baseline="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en-US" altLang="ko-KR" sz="800" baseline="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(SAP RFC </a:t>
                      </a:r>
                      <a:r>
                        <a:rPr lang="ko-KR" altLang="en-US" sz="800" baseline="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제공</a:t>
                      </a:r>
                      <a:r>
                        <a:rPr lang="en-US" altLang="ko-KR" sz="800" baseline="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endParaRPr lang="ko-KR" altLang="en-US" sz="80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000" marR="108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000" marR="108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Mall</a:t>
                      </a:r>
                      <a:r>
                        <a:rPr lang="ko-KR" altLang="en-US" sz="80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서비스기획 </a:t>
                      </a:r>
                      <a:r>
                        <a:rPr lang="en-US" altLang="ko-KR" sz="80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BSU</a:t>
                      </a:r>
                      <a:endParaRPr lang="ko-KR" altLang="en-US" sz="80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60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  <a:endParaRPr lang="ko-KR" altLang="en-US" sz="80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운영</a:t>
                      </a:r>
                      <a:endParaRPr lang="ko-KR" altLang="en-US" sz="80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80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[</a:t>
                      </a:r>
                      <a:r>
                        <a:rPr lang="ko-KR" altLang="en-US" sz="80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매장상품배송</a:t>
                      </a:r>
                      <a:r>
                        <a:rPr lang="en-US" altLang="ko-KR" sz="80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] </a:t>
                      </a:r>
                      <a:r>
                        <a:rPr lang="ko-KR" altLang="en-US" sz="80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적용 기준</a:t>
                      </a:r>
                      <a:endParaRPr lang="ko-KR" altLang="en-US" sz="80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000" marR="108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대상 </a:t>
                      </a:r>
                      <a:r>
                        <a:rPr lang="en-US" altLang="ko-KR" sz="80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[</a:t>
                      </a:r>
                      <a:r>
                        <a:rPr lang="ko-KR" altLang="en-US" sz="80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브랜드</a:t>
                      </a:r>
                      <a:r>
                        <a:rPr lang="en-US" altLang="ko-KR" sz="80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] [</a:t>
                      </a:r>
                      <a:r>
                        <a:rPr lang="ko-KR" altLang="en-US" sz="80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상품</a:t>
                      </a:r>
                      <a:r>
                        <a:rPr lang="en-US" altLang="ko-KR" sz="80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] </a:t>
                      </a:r>
                      <a:r>
                        <a:rPr lang="ko-KR" altLang="en-US" sz="80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기준을 </a:t>
                      </a:r>
                      <a:r>
                        <a:rPr lang="en-US" altLang="ko-KR" sz="80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NBOS </a:t>
                      </a:r>
                      <a:r>
                        <a:rPr lang="ko-KR" altLang="en-US" sz="80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에서 설정 가능하게 제공</a:t>
                      </a:r>
                      <a:endParaRPr lang="ko-KR" altLang="en-US" sz="80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000" marR="108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80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E/S</a:t>
                      </a:r>
                      <a:r>
                        <a:rPr lang="en-US" altLang="ko-KR" sz="800" baseline="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Cell </a:t>
                      </a:r>
                      <a:r>
                        <a:rPr lang="ko-KR" altLang="en-US" sz="800" baseline="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의견</a:t>
                      </a:r>
                      <a:endParaRPr lang="en-US" altLang="ko-KR" sz="800" baseline="0" smtClean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171450" indent="-171450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브랜드는 </a:t>
                      </a:r>
                      <a:r>
                        <a:rPr lang="en-US" altLang="ko-KR" sz="80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DP </a:t>
                      </a:r>
                      <a:r>
                        <a:rPr lang="ko-KR" altLang="en-US" sz="80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에서 관리</a:t>
                      </a:r>
                      <a:r>
                        <a:rPr lang="ko-KR" altLang="en-US" sz="800" baseline="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en-US" altLang="ko-KR" sz="800" baseline="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800" baseline="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오프라인 영업</a:t>
                      </a:r>
                      <a:r>
                        <a:rPr lang="en-US" altLang="ko-KR" sz="800" baseline="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</a:p>
                    <a:p>
                      <a:pPr marL="171450" indent="-171450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상품은 </a:t>
                      </a:r>
                      <a:r>
                        <a:rPr lang="en-US" altLang="ko-KR" sz="80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NBOS </a:t>
                      </a:r>
                      <a:r>
                        <a:rPr lang="ko-KR" altLang="en-US" sz="80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에서 관리 </a:t>
                      </a:r>
                      <a:r>
                        <a:rPr lang="en-US" altLang="ko-KR" sz="80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(e-</a:t>
                      </a:r>
                      <a:r>
                        <a:rPr lang="ko-KR" altLang="en-US" sz="80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영업</a:t>
                      </a:r>
                      <a:r>
                        <a:rPr lang="en-US" altLang="ko-KR" sz="80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endParaRPr lang="ko-KR" altLang="en-US" sz="80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000" marR="108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e-</a:t>
                      </a:r>
                      <a:r>
                        <a:rPr lang="ko-KR" altLang="en-US" sz="80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영업</a:t>
                      </a:r>
                      <a:endParaRPr lang="ko-KR" altLang="en-US" sz="80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</a:tr>
              <a:tr h="360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</a:t>
                      </a:r>
                      <a:endParaRPr lang="ko-KR" altLang="en-US" sz="80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운영</a:t>
                      </a:r>
                      <a:endParaRPr lang="ko-KR" altLang="en-US" sz="80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800" baseline="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[</a:t>
                      </a:r>
                      <a:r>
                        <a:rPr lang="ko-KR" altLang="en-US" sz="800" baseline="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자동 결품</a:t>
                      </a:r>
                      <a:r>
                        <a:rPr lang="en-US" altLang="ko-KR" sz="800" baseline="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] </a:t>
                      </a:r>
                      <a:r>
                        <a:rPr lang="ko-KR" altLang="en-US" sz="800" baseline="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주문 취소 리드타임</a:t>
                      </a:r>
                      <a:endParaRPr lang="en-US" altLang="ko-KR" sz="800" baseline="0" smtClean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indent="0" algn="l" latinLnBrk="1">
                        <a:buFont typeface="Arial" panose="020B0604020202020204" pitchFamily="34" charset="0"/>
                        <a:buNone/>
                      </a:pPr>
                      <a:endParaRPr lang="en-US" altLang="ko-KR" sz="800" baseline="0" smtClean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indent="0" algn="l" latinLnBrk="1">
                        <a:buFont typeface="Arial" panose="020B0604020202020204" pitchFamily="34" charset="0"/>
                        <a:buNone/>
                      </a:pPr>
                      <a:r>
                        <a:rPr lang="en-US" altLang="ko-KR" sz="800" baseline="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[As-Is]</a:t>
                      </a:r>
                    </a:p>
                    <a:p>
                      <a:pPr marL="0" indent="0" algn="l" latinLnBrk="1">
                        <a:buFont typeface="Arial" panose="020B0604020202020204" pitchFamily="34" charset="0"/>
                        <a:buNone/>
                      </a:pPr>
                      <a:r>
                        <a:rPr lang="en-US" altLang="ko-KR" sz="800" baseline="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Case1. 24</a:t>
                      </a:r>
                      <a:r>
                        <a:rPr lang="ko-KR" altLang="en-US" sz="800" baseline="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시간 이내 출고처미지정</a:t>
                      </a:r>
                      <a:endParaRPr lang="en-US" altLang="ko-KR" sz="800" baseline="0" smtClean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indent="0" algn="l" latinLnBrk="1">
                        <a:buFont typeface="Arial" panose="020B0604020202020204" pitchFamily="34" charset="0"/>
                        <a:buNone/>
                      </a:pPr>
                      <a:r>
                        <a:rPr lang="en-US" altLang="ko-KR" sz="800" baseline="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Case2. 48</a:t>
                      </a:r>
                      <a:r>
                        <a:rPr lang="ko-KR" altLang="en-US" sz="800" baseline="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시간 이내 출고처 </a:t>
                      </a:r>
                      <a:r>
                        <a:rPr lang="en-US" altLang="ko-KR" sz="800" baseline="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</a:t>
                      </a:r>
                      <a:r>
                        <a:rPr lang="ko-KR" altLang="en-US" sz="800" baseline="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회 이상 재지정</a:t>
                      </a:r>
                      <a:endParaRPr lang="en-US" altLang="ko-KR" sz="800" baseline="0" smtClean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000" marR="108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buFont typeface="+mj-lt"/>
                        <a:buNone/>
                      </a:pPr>
                      <a:r>
                        <a:rPr lang="ko-KR" altLang="en-US" sz="80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① 주문 발생 시 </a:t>
                      </a:r>
                      <a:r>
                        <a:rPr lang="en-US" altLang="ko-KR" sz="80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r>
                        <a:rPr lang="ko-KR" altLang="en-US" sz="80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시간 내 </a:t>
                      </a:r>
                      <a:r>
                        <a:rPr lang="ko-KR" altLang="en-US" sz="800" b="1" u="sng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비직송매장 물량이동지시</a:t>
                      </a:r>
                      <a:r>
                        <a:rPr lang="ko-KR" altLang="en-US" sz="80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en-US" altLang="ko-KR" sz="80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80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온라인급반품</a:t>
                      </a:r>
                      <a:r>
                        <a:rPr lang="en-US" altLang="ko-KR" sz="80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 </a:t>
                      </a:r>
                      <a:r>
                        <a:rPr lang="ko-KR" altLang="en-US" sz="80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수행</a:t>
                      </a:r>
                      <a:endParaRPr lang="en-US" altLang="ko-KR" sz="800" smtClean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indent="0" algn="l" latinLnBrk="1">
                        <a:buFont typeface="+mj-lt"/>
                        <a:buNone/>
                      </a:pPr>
                      <a:r>
                        <a:rPr lang="ko-KR" altLang="en-US" sz="800" smtClean="0">
                          <a:solidFill>
                            <a:srgbClr val="C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② </a:t>
                      </a:r>
                      <a:r>
                        <a:rPr lang="en-US" altLang="ko-KR" sz="800" smtClean="0">
                          <a:solidFill>
                            <a:srgbClr val="C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D+1</a:t>
                      </a:r>
                      <a:r>
                        <a:rPr lang="en-US" altLang="ko-KR" sz="800" baseline="0" smtClean="0">
                          <a:solidFill>
                            <a:srgbClr val="C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(24:00) </a:t>
                      </a:r>
                      <a:r>
                        <a:rPr lang="en-US" altLang="ko-KR" sz="800" smtClean="0">
                          <a:solidFill>
                            <a:srgbClr val="C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</a:t>
                      </a:r>
                      <a:r>
                        <a:rPr lang="ko-KR" altLang="en-US" sz="80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매장 물량이동지시에 대한 </a:t>
                      </a:r>
                      <a:r>
                        <a:rPr lang="en-US" altLang="ko-KR" sz="80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‘</a:t>
                      </a:r>
                      <a:r>
                        <a:rPr lang="ko-KR" altLang="en-US" sz="80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반품 등록</a:t>
                      </a:r>
                      <a:r>
                        <a:rPr lang="en-US" altLang="ko-KR" sz="80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’ </a:t>
                      </a:r>
                      <a:r>
                        <a:rPr lang="ko-KR" altLang="en-US" sz="80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미이행 시</a:t>
                      </a:r>
                      <a:endParaRPr lang="en-US" altLang="ko-KR" sz="800" smtClean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indent="0" algn="l" latinLnBrk="1">
                        <a:buFont typeface="+mj-lt"/>
                        <a:buNone/>
                      </a:pPr>
                      <a:r>
                        <a:rPr lang="ko-KR" altLang="en-US" sz="800" smtClean="0">
                          <a:solidFill>
                            <a:srgbClr val="C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③ </a:t>
                      </a:r>
                      <a:r>
                        <a:rPr lang="en-US" altLang="ko-KR" sz="800" smtClean="0">
                          <a:solidFill>
                            <a:srgbClr val="C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D+2 (48:00) B</a:t>
                      </a:r>
                      <a:r>
                        <a:rPr lang="ko-KR" altLang="en-US" sz="80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매장 물량이동지시에 대한 </a:t>
                      </a:r>
                      <a:r>
                        <a:rPr lang="en-US" altLang="ko-KR" sz="80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‘</a:t>
                      </a:r>
                      <a:r>
                        <a:rPr lang="ko-KR" altLang="en-US" sz="80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반품 등록</a:t>
                      </a:r>
                      <a:r>
                        <a:rPr lang="en-US" altLang="ko-KR" sz="80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’ </a:t>
                      </a:r>
                      <a:r>
                        <a:rPr lang="ko-KR" altLang="en-US" sz="80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미이행 시</a:t>
                      </a:r>
                      <a:endParaRPr lang="ko-KR" altLang="en-US" sz="80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000" marR="108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전자상거래 </a:t>
                      </a:r>
                      <a:r>
                        <a:rPr lang="en-US" altLang="ko-KR" sz="80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[</a:t>
                      </a:r>
                      <a:r>
                        <a:rPr lang="ko-KR" altLang="en-US" sz="80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제 </a:t>
                      </a:r>
                      <a:r>
                        <a:rPr lang="en-US" altLang="ko-KR" sz="80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15</a:t>
                      </a:r>
                      <a:r>
                        <a:rPr lang="ko-KR" altLang="en-US" sz="80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조</a:t>
                      </a:r>
                      <a:r>
                        <a:rPr lang="en-US" altLang="ko-KR" sz="80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80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재화등의 공급 등</a:t>
                      </a:r>
                      <a:r>
                        <a:rPr lang="en-US" altLang="ko-KR" sz="80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 2</a:t>
                      </a:r>
                      <a:r>
                        <a:rPr lang="ko-KR" altLang="en-US" sz="80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항</a:t>
                      </a:r>
                      <a:r>
                        <a:rPr lang="en-US" altLang="ko-KR" sz="80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]</a:t>
                      </a:r>
                    </a:p>
                    <a:p>
                      <a:pPr algn="l" latinLnBrk="1"/>
                      <a:r>
                        <a:rPr lang="en-US" altLang="ko-KR" sz="800" baseline="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‘</a:t>
                      </a:r>
                      <a:r>
                        <a:rPr lang="ko-KR" altLang="en-US" sz="800" baseline="0" smtClean="0">
                          <a:solidFill>
                            <a:srgbClr val="C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결제일자로부터 </a:t>
                      </a:r>
                      <a:r>
                        <a:rPr lang="en-US" altLang="ko-KR" sz="800" baseline="0" smtClean="0">
                          <a:solidFill>
                            <a:srgbClr val="C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</a:t>
                      </a:r>
                      <a:r>
                        <a:rPr lang="ko-KR" altLang="en-US" sz="800" baseline="0" smtClean="0">
                          <a:solidFill>
                            <a:srgbClr val="C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영업이내 환급</a:t>
                      </a:r>
                      <a:r>
                        <a:rPr lang="en-US" altLang="ko-KR" sz="800" baseline="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’</a:t>
                      </a:r>
                      <a:endParaRPr lang="ko-KR" altLang="en-US" sz="80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000" marR="108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e-</a:t>
                      </a:r>
                      <a:r>
                        <a:rPr lang="ko-KR" altLang="en-US" sz="80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커머스개발실</a:t>
                      </a:r>
                      <a:endParaRPr lang="ko-KR" altLang="en-US" sz="80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60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</a:t>
                      </a:r>
                      <a:endParaRPr lang="ko-KR" altLang="en-US" sz="80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교환</a:t>
                      </a:r>
                      <a:endParaRPr lang="ko-KR" altLang="en-US" sz="80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교환품 </a:t>
                      </a:r>
                      <a:r>
                        <a:rPr lang="en-US" altLang="ko-KR" sz="80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[</a:t>
                      </a:r>
                      <a:r>
                        <a:rPr lang="ko-KR" altLang="en-US" sz="80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매장상품배송</a:t>
                      </a:r>
                      <a:r>
                        <a:rPr lang="en-US" altLang="ko-KR" sz="80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] </a:t>
                      </a:r>
                      <a:r>
                        <a:rPr lang="ko-KR" altLang="en-US" sz="80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적용 여부</a:t>
                      </a:r>
                      <a:endParaRPr lang="ko-KR" altLang="en-US" sz="80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000" marR="108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미진행</a:t>
                      </a:r>
                      <a:endParaRPr lang="ko-KR" altLang="en-US" sz="80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000" marR="108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000" marR="108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  <a:endParaRPr lang="ko-KR" altLang="en-US" sz="80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  <a:tr h="360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7</a:t>
                      </a:r>
                      <a:endParaRPr lang="ko-KR" altLang="en-US" sz="80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반품</a:t>
                      </a:r>
                      <a:endParaRPr lang="ko-KR" altLang="en-US" sz="80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80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[</a:t>
                      </a:r>
                      <a:r>
                        <a:rPr lang="ko-KR" altLang="en-US" sz="80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매장상품배송</a:t>
                      </a:r>
                      <a:r>
                        <a:rPr lang="en-US" altLang="ko-KR" sz="80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] </a:t>
                      </a:r>
                      <a:r>
                        <a:rPr lang="ko-KR" altLang="en-US" sz="80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반품 프로세스</a:t>
                      </a:r>
                      <a:endParaRPr lang="ko-KR" altLang="en-US" sz="80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000" marR="108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기존 주문과 동일</a:t>
                      </a:r>
                      <a:endParaRPr lang="ko-KR" altLang="en-US" sz="80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000" marR="108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000" marR="108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  <a:endParaRPr lang="ko-KR" altLang="en-US" sz="80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  <a:tr h="360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</a:t>
                      </a:r>
                      <a:endParaRPr lang="ko-KR" altLang="en-US" sz="80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물류</a:t>
                      </a:r>
                      <a:endParaRPr lang="ko-KR" altLang="en-US" sz="80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aseline="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비직송매장 오반품 대응</a:t>
                      </a:r>
                      <a:endParaRPr lang="en-US" altLang="ko-KR" sz="800" baseline="0" smtClean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000" marR="108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옵션 </a:t>
                      </a:r>
                      <a:r>
                        <a:rPr lang="en-US" altLang="ko-KR" sz="80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80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컬러</a:t>
                      </a:r>
                      <a:r>
                        <a:rPr lang="en-US" altLang="ko-KR" sz="80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lang="ko-KR" altLang="en-US" sz="80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사이즈</a:t>
                      </a:r>
                      <a:r>
                        <a:rPr lang="en-US" altLang="ko-KR" sz="80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 </a:t>
                      </a:r>
                      <a:r>
                        <a:rPr lang="ko-KR" altLang="en-US" sz="80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오반품 시</a:t>
                      </a:r>
                      <a:r>
                        <a:rPr lang="en-US" altLang="ko-KR" sz="80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0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매장으로 반송</a:t>
                      </a:r>
                      <a:endParaRPr lang="en-US" altLang="ko-KR" sz="800" smtClean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171450" indent="-171450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상품 하자 </a:t>
                      </a:r>
                      <a:r>
                        <a:rPr lang="en-US" altLang="ko-KR" sz="80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80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오염</a:t>
                      </a:r>
                      <a:r>
                        <a:rPr lang="en-US" altLang="ko-KR" sz="80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 </a:t>
                      </a:r>
                      <a:r>
                        <a:rPr lang="ko-KR" altLang="en-US" sz="80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반품 시</a:t>
                      </a:r>
                      <a:r>
                        <a:rPr lang="en-US" altLang="ko-KR" sz="80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0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물류센터에서 처리 </a:t>
                      </a:r>
                      <a:r>
                        <a:rPr lang="en-US" altLang="ko-KR" sz="80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80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수선</a:t>
                      </a:r>
                      <a:r>
                        <a:rPr lang="en-US" altLang="ko-KR" sz="800" baseline="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800" baseline="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등</a:t>
                      </a:r>
                      <a:r>
                        <a:rPr lang="en-US" altLang="ko-KR" sz="800" baseline="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endParaRPr lang="ko-KR" altLang="en-US" sz="80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000" marR="108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000" marR="108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smtClean="0">
                          <a:latin typeface="맑은 고딕" panose="020B0503020000020004" pitchFamily="50" charset="-127"/>
                          <a:ea typeface="+mn-ea"/>
                        </a:rPr>
                        <a:t>물류혁신 </a:t>
                      </a:r>
                      <a:r>
                        <a:rPr lang="en-US" altLang="ko-KR" sz="800" smtClean="0">
                          <a:latin typeface="맑은 고딕" panose="020B0503020000020004" pitchFamily="50" charset="-127"/>
                          <a:ea typeface="+mn-ea"/>
                        </a:rPr>
                        <a:t>BSU</a:t>
                      </a:r>
                      <a:endParaRPr lang="ko-KR" altLang="en-US" sz="80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60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</a:t>
                      </a:r>
                      <a:endParaRPr lang="ko-KR" altLang="en-US" sz="80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주문</a:t>
                      </a:r>
                      <a:endParaRPr lang="ko-KR" altLang="en-US" sz="80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800" baseline="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[</a:t>
                      </a:r>
                      <a:r>
                        <a:rPr lang="ko-KR" altLang="en-US" sz="800" baseline="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매장상품배송</a:t>
                      </a:r>
                      <a:r>
                        <a:rPr lang="en-US" altLang="ko-KR" sz="800" baseline="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] </a:t>
                      </a:r>
                      <a:r>
                        <a:rPr lang="ko-KR" altLang="en-US" sz="800" baseline="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주문 조건</a:t>
                      </a:r>
                      <a:endParaRPr lang="en-US" altLang="ko-KR" sz="800" baseline="0" smtClean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000" marR="108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buFont typeface="Arial" panose="020B0604020202020204" pitchFamily="34" charset="0"/>
                        <a:buNone/>
                      </a:pPr>
                      <a:r>
                        <a:rPr lang="ko-KR" altLang="en-US" sz="80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단일 품목 복수 수량 주문 가능</a:t>
                      </a:r>
                      <a:endParaRPr lang="en-US" altLang="ko-KR" sz="800" smtClean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indent="0" algn="l" latinLnBrk="1">
                        <a:buFont typeface="Arial" panose="020B0604020202020204" pitchFamily="34" charset="0"/>
                        <a:buNone/>
                      </a:pPr>
                      <a:endParaRPr lang="en-US" altLang="ko-KR" sz="800" smtClean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171450" indent="-171450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옵션 기준으로</a:t>
                      </a:r>
                      <a:r>
                        <a:rPr lang="ko-KR" altLang="en-US" sz="800" baseline="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en-US" altLang="ko-KR" sz="800" baseline="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‘</a:t>
                      </a:r>
                      <a:r>
                        <a:rPr lang="ko-KR" altLang="en-US" sz="800" baseline="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매장 단위 재고</a:t>
                      </a:r>
                      <a:r>
                        <a:rPr lang="en-US" altLang="ko-KR" sz="800" baseline="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’ </a:t>
                      </a:r>
                      <a:r>
                        <a:rPr lang="ko-KR" altLang="en-US" sz="800" baseline="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까지 주문 허용</a:t>
                      </a:r>
                      <a:endParaRPr lang="en-US" altLang="ko-KR" sz="800" baseline="0" smtClean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171450" indent="-171450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80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</a:t>
                      </a:r>
                      <a:r>
                        <a:rPr lang="ko-KR" altLang="en-US" sz="80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품목 </a:t>
                      </a:r>
                      <a:r>
                        <a:rPr lang="en-US" altLang="ko-KR" sz="80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100</a:t>
                      </a:r>
                      <a:r>
                        <a:rPr lang="ko-KR" altLang="en-US" sz="80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사이즈 </a:t>
                      </a:r>
                      <a:r>
                        <a:rPr lang="en-US" altLang="ko-KR" sz="80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  <a:r>
                        <a:rPr lang="ko-KR" altLang="en-US" sz="80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개 주문 시</a:t>
                      </a:r>
                      <a:r>
                        <a:rPr lang="en-US" altLang="ko-KR" sz="80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</a:t>
                      </a:r>
                      <a:r>
                        <a:rPr lang="en-US" altLang="ko-KR" sz="800" baseline="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800" baseline="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재고 </a:t>
                      </a:r>
                      <a:r>
                        <a:rPr lang="en-US" altLang="ko-KR" sz="800" baseline="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  <a:r>
                        <a:rPr lang="ko-KR" altLang="en-US" sz="800" baseline="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개 이상 보유 매장 물량이동지시</a:t>
                      </a:r>
                      <a:endParaRPr lang="en-US" altLang="ko-KR" sz="800" smtClean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000" marR="108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80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LFmall </a:t>
                      </a:r>
                      <a:r>
                        <a:rPr lang="ko-KR" altLang="en-US" sz="80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상품상세 </a:t>
                      </a:r>
                      <a:r>
                        <a:rPr lang="en-US" altLang="ko-KR" sz="80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 </a:t>
                      </a:r>
                      <a:r>
                        <a:rPr lang="ko-KR" altLang="en-US" sz="80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쇼핑백</a:t>
                      </a:r>
                      <a:r>
                        <a:rPr lang="en-US" altLang="ko-KR" sz="80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&amp;</a:t>
                      </a:r>
                      <a:r>
                        <a:rPr lang="ko-KR" altLang="en-US" sz="80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주문서 </a:t>
                      </a:r>
                      <a:endParaRPr lang="en-US" altLang="ko-KR" sz="800" smtClean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algn="l" latinLnBrk="1"/>
                      <a:r>
                        <a:rPr lang="en-US" altLang="ko-KR" sz="80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– </a:t>
                      </a:r>
                      <a:r>
                        <a:rPr lang="ko-KR" altLang="en-US" sz="80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로직 이슈 존재</a:t>
                      </a:r>
                      <a:endParaRPr lang="ko-KR" altLang="en-US" sz="80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000" marR="108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smtClean="0">
                          <a:latin typeface="맑은 고딕" panose="020B0503020000020004" pitchFamily="50" charset="-127"/>
                          <a:ea typeface="+mn-ea"/>
                        </a:rPr>
                        <a:t>Mall</a:t>
                      </a:r>
                      <a:r>
                        <a:rPr lang="ko-KR" altLang="en-US" sz="800" smtClean="0">
                          <a:latin typeface="맑은 고딕" panose="020B0503020000020004" pitchFamily="50" charset="-127"/>
                          <a:ea typeface="+mn-ea"/>
                        </a:rPr>
                        <a:t>서비스기획 </a:t>
                      </a:r>
                      <a:r>
                        <a:rPr lang="en-US" altLang="ko-KR" sz="800" smtClean="0">
                          <a:latin typeface="맑은 고딕" panose="020B0503020000020004" pitchFamily="50" charset="-127"/>
                          <a:ea typeface="+mn-ea"/>
                        </a:rPr>
                        <a:t>BSU</a:t>
                      </a:r>
                      <a:endParaRPr lang="ko-KR" altLang="en-US" sz="80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60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</a:t>
                      </a:r>
                      <a:endParaRPr lang="ko-KR" altLang="en-US" sz="80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주문</a:t>
                      </a:r>
                      <a:endParaRPr lang="ko-KR" altLang="en-US" sz="80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800" baseline="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[</a:t>
                      </a:r>
                      <a:r>
                        <a:rPr lang="ko-KR" altLang="en-US" sz="800" baseline="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매장상품배송</a:t>
                      </a:r>
                      <a:r>
                        <a:rPr lang="en-US" altLang="ko-KR" sz="800" baseline="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] </a:t>
                      </a:r>
                      <a:r>
                        <a:rPr lang="ko-KR" altLang="en-US" sz="800" baseline="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주문 취소 조건</a:t>
                      </a:r>
                      <a:endParaRPr lang="en-US" altLang="ko-KR" sz="800" baseline="0" smtClean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000" marR="108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buFont typeface="Arial" panose="020B0604020202020204" pitchFamily="34" charset="0"/>
                        <a:buNone/>
                      </a:pPr>
                      <a:r>
                        <a:rPr lang="ko-KR" altLang="en-US" sz="80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① 물량이동지시 </a:t>
                      </a:r>
                      <a:r>
                        <a:rPr lang="en-US" altLang="ko-KR" sz="80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: </a:t>
                      </a:r>
                      <a:r>
                        <a:rPr lang="ko-KR" altLang="en-US" sz="80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취소 가능 </a:t>
                      </a:r>
                      <a:r>
                        <a:rPr lang="en-US" altLang="ko-KR" sz="80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lang="en-US" altLang="ko-KR" sz="800" baseline="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POS </a:t>
                      </a:r>
                      <a:r>
                        <a:rPr lang="ko-KR" altLang="en-US" sz="800" baseline="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반품등록 불가 처리</a:t>
                      </a:r>
                      <a:endParaRPr lang="en-US" altLang="ko-KR" sz="800" smtClean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indent="0" algn="l" latinLnBrk="1">
                        <a:buFont typeface="Arial" panose="020B0604020202020204" pitchFamily="34" charset="0"/>
                        <a:buNone/>
                      </a:pPr>
                      <a:r>
                        <a:rPr lang="ko-KR" altLang="en-US" sz="80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② 물류센터반품 </a:t>
                      </a:r>
                      <a:r>
                        <a:rPr lang="en-US" altLang="ko-KR" sz="80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: </a:t>
                      </a:r>
                      <a:r>
                        <a:rPr lang="ko-KR" altLang="en-US" sz="80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취소 가능 </a:t>
                      </a:r>
                      <a:r>
                        <a:rPr lang="en-US" altLang="ko-KR" sz="80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 SAP</a:t>
                      </a:r>
                      <a:r>
                        <a:rPr lang="en-US" altLang="ko-KR" sz="800" baseline="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800" baseline="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반송</a:t>
                      </a:r>
                      <a:endParaRPr lang="en-US" altLang="ko-KR" sz="800" smtClean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indent="0" algn="l" latinLnBrk="1">
                        <a:buFont typeface="Arial" panose="020B0604020202020204" pitchFamily="34" charset="0"/>
                        <a:buNone/>
                      </a:pPr>
                      <a:r>
                        <a:rPr lang="ko-KR" altLang="en-US" sz="80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③ 출고처 지정 </a:t>
                      </a:r>
                      <a:r>
                        <a:rPr lang="en-US" altLang="ko-KR" sz="80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: </a:t>
                      </a:r>
                      <a:r>
                        <a:rPr lang="ko-KR" altLang="en-US" sz="80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취소 가능 </a:t>
                      </a:r>
                      <a:r>
                        <a:rPr lang="en-US" altLang="ko-KR" sz="80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 OMS </a:t>
                      </a:r>
                      <a:r>
                        <a:rPr lang="ko-KR" altLang="en-US" sz="80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결품 처리</a:t>
                      </a:r>
                      <a:endParaRPr lang="en-US" altLang="ko-KR" sz="800" smtClean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indent="0" algn="l" latinLnBrk="1">
                        <a:buFont typeface="Arial" panose="020B0604020202020204" pitchFamily="34" charset="0"/>
                        <a:buNone/>
                      </a:pPr>
                      <a:r>
                        <a:rPr lang="ko-KR" altLang="en-US" sz="80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④ 운송장 출력 </a:t>
                      </a:r>
                      <a:r>
                        <a:rPr lang="en-US" altLang="ko-KR" sz="80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:</a:t>
                      </a:r>
                      <a:r>
                        <a:rPr lang="en-US" altLang="ko-KR" sz="800" baseline="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800" baseline="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취소 불가</a:t>
                      </a:r>
                      <a:r>
                        <a:rPr lang="ko-KR" altLang="en-US" sz="800" baseline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en-US" altLang="ko-KR" sz="800" baseline="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 LFmall ‘</a:t>
                      </a:r>
                      <a:r>
                        <a:rPr lang="ko-KR" altLang="en-US" sz="800" baseline="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배송중</a:t>
                      </a:r>
                      <a:r>
                        <a:rPr lang="en-US" altLang="ko-KR" sz="800" baseline="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’ </a:t>
                      </a:r>
                      <a:r>
                        <a:rPr lang="ko-KR" altLang="en-US" sz="800" baseline="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상태</a:t>
                      </a:r>
                      <a:endParaRPr lang="en-US" altLang="ko-KR" sz="800" smtClean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000" marR="108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000" marR="108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smtClean="0">
                          <a:latin typeface="맑은 고딕" panose="020B0503020000020004" pitchFamily="50" charset="-127"/>
                          <a:ea typeface="+mn-ea"/>
                        </a:rPr>
                        <a:t>Mall</a:t>
                      </a:r>
                      <a:r>
                        <a:rPr lang="ko-KR" altLang="en-US" sz="800" smtClean="0">
                          <a:latin typeface="맑은 고딕" panose="020B0503020000020004" pitchFamily="50" charset="-127"/>
                          <a:ea typeface="+mn-ea"/>
                        </a:rPr>
                        <a:t>서비스기획 </a:t>
                      </a:r>
                      <a:r>
                        <a:rPr lang="en-US" altLang="ko-KR" sz="800" smtClean="0">
                          <a:latin typeface="맑은 고딕" panose="020B0503020000020004" pitchFamily="50" charset="-127"/>
                          <a:ea typeface="+mn-ea"/>
                        </a:rPr>
                        <a:t>BSU</a:t>
                      </a:r>
                      <a:endParaRPr lang="ko-KR" altLang="en-US" sz="80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60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11</a:t>
                      </a:r>
                      <a:endParaRPr lang="ko-KR" altLang="en-US" sz="80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운영</a:t>
                      </a:r>
                      <a:endParaRPr lang="ko-KR" altLang="en-US" sz="80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800" baseline="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[</a:t>
                      </a:r>
                      <a:r>
                        <a:rPr lang="ko-KR" altLang="en-US" sz="800" baseline="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자동 결품</a:t>
                      </a:r>
                      <a:r>
                        <a:rPr lang="en-US" altLang="ko-KR" sz="800" baseline="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] </a:t>
                      </a:r>
                      <a:r>
                        <a:rPr lang="ko-KR" altLang="en-US" sz="800" baseline="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주문 취소 고객 보상안 </a:t>
                      </a:r>
                      <a:r>
                        <a:rPr lang="en-US" altLang="ko-KR" sz="800" baseline="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800" baseline="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마일리지</a:t>
                      </a:r>
                      <a:r>
                        <a:rPr lang="en-US" altLang="ko-KR" sz="800" baseline="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</a:p>
                  </a:txBody>
                  <a:tcPr marL="108000" marR="108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80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2,500</a:t>
                      </a:r>
                      <a:r>
                        <a:rPr lang="ko-KR" altLang="en-US" sz="80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마일리지</a:t>
                      </a:r>
                      <a:endParaRPr lang="ko-KR" altLang="en-US" sz="80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000" marR="108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기존 </a:t>
                      </a:r>
                      <a:r>
                        <a:rPr lang="en-US" altLang="ko-KR" sz="80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‘</a:t>
                      </a:r>
                      <a:r>
                        <a:rPr lang="ko-KR" altLang="en-US" sz="80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자동결품 </a:t>
                      </a:r>
                      <a:r>
                        <a:rPr lang="en-US" altLang="ko-KR" sz="80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– </a:t>
                      </a:r>
                      <a:r>
                        <a:rPr lang="ko-KR" altLang="en-US" sz="80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주문취소</a:t>
                      </a:r>
                      <a:r>
                        <a:rPr lang="en-US" altLang="ko-KR" sz="80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’ </a:t>
                      </a:r>
                      <a:r>
                        <a:rPr lang="ko-KR" altLang="en-US" sz="80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와 동일</a:t>
                      </a:r>
                      <a:endParaRPr lang="ko-KR" altLang="en-US" sz="80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000" marR="108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CX</a:t>
                      </a:r>
                      <a:r>
                        <a:rPr lang="en-US" altLang="ko-KR" sz="800" baseline="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Management BSU</a:t>
                      </a:r>
                      <a:endParaRPr lang="ko-KR" altLang="en-US" sz="80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60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12</a:t>
                      </a:r>
                      <a:endParaRPr lang="ko-KR" altLang="en-US" sz="80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운영</a:t>
                      </a:r>
                      <a:endParaRPr lang="ko-KR" altLang="en-US" sz="80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aseline="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비직송매장 반품 미이행 재고 제외 처리</a:t>
                      </a:r>
                      <a:endParaRPr lang="en-US" altLang="ko-KR" sz="800" baseline="0" smtClean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000" marR="108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매장에서 반품을 미이행 한 경우</a:t>
                      </a:r>
                      <a:r>
                        <a:rPr lang="en-US" altLang="ko-KR" sz="80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0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해당 재고는 집계 데이터에서 제외</a:t>
                      </a:r>
                      <a:endParaRPr lang="ko-KR" altLang="en-US" sz="80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000" marR="108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000" marR="108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E/S</a:t>
                      </a:r>
                      <a:r>
                        <a:rPr lang="en-US" altLang="ko-KR" sz="800" baseline="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Cell</a:t>
                      </a:r>
                      <a:endParaRPr lang="ko-KR" altLang="en-US" sz="80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7859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육각형 143"/>
          <p:cNvSpPr/>
          <p:nvPr/>
        </p:nvSpPr>
        <p:spPr>
          <a:xfrm>
            <a:off x="323906" y="1300576"/>
            <a:ext cx="9715596" cy="576000"/>
          </a:xfrm>
          <a:prstGeom prst="hexagon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  <a:effectLst>
            <a:outerShdw blurRad="12700" dist="12700" dir="2700000" algn="tl" rotWithShape="0">
              <a:schemeClr val="tx1">
                <a:lumMod val="75000"/>
                <a:lumOff val="2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o-KR" altLang="en-US" sz="800" b="1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해당 기간 고객 직접 </a:t>
            </a:r>
            <a:r>
              <a:rPr lang="en-US" altLang="ko-KR" sz="800" b="1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LFmall </a:t>
            </a:r>
            <a:r>
              <a:rPr lang="ko-KR" altLang="en-US" sz="800" b="1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주문 취소 가능</a:t>
            </a:r>
            <a:endParaRPr lang="ko-KR" altLang="en-US" sz="800" b="1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3" name="모서리가 둥근 직사각형 2"/>
          <p:cNvSpPr/>
          <p:nvPr/>
        </p:nvSpPr>
        <p:spPr>
          <a:xfrm>
            <a:off x="324542" y="759518"/>
            <a:ext cx="1800000" cy="360705"/>
          </a:xfrm>
          <a:prstGeom prst="roundRect">
            <a:avLst/>
          </a:prstGeom>
          <a:solidFill>
            <a:schemeClr val="tx1">
              <a:lumMod val="65000"/>
              <a:lumOff val="35000"/>
            </a:schemeClr>
          </a:solidFill>
          <a:ln w="381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705" tIns="36070" rIns="36070" bIns="36070" rtlCol="0" anchor="ctr"/>
          <a:lstStyle/>
          <a:p>
            <a:r>
              <a:rPr lang="ko-KR" altLang="en-US" sz="902" b="1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자동결품 로직 정의</a:t>
            </a:r>
            <a:endParaRPr lang="ko-KR" altLang="en-US" sz="902" b="1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="" xmlns:a16="http://schemas.microsoft.com/office/drawing/2014/main" id="{C5E486F5-93A1-4316-A9AE-8F2FB1C3263A}"/>
              </a:ext>
            </a:extLst>
          </p:cNvPr>
          <p:cNvSpPr txBox="1"/>
          <p:nvPr/>
        </p:nvSpPr>
        <p:spPr>
          <a:xfrm>
            <a:off x="95" y="105094"/>
            <a:ext cx="1844145" cy="226733"/>
          </a:xfrm>
          <a:prstGeom prst="rect">
            <a:avLst/>
          </a:prstGeom>
          <a:noFill/>
        </p:spPr>
        <p:txBody>
          <a:bodyPr wrap="none" lIns="360705" tIns="36070" rIns="360705" bIns="36070" rtlCol="0" anchor="ctr">
            <a:spAutoFit/>
          </a:bodyPr>
          <a:lstStyle/>
          <a:p>
            <a:r>
              <a:rPr lang="ko-KR" altLang="en-US" sz="1000" b="1">
                <a:solidFill>
                  <a:schemeClr val="bg1"/>
                </a:solidFill>
                <a:latin typeface="맑은 고딕" panose="020B0503020000020004" pitchFamily="50" charset="-127"/>
              </a:rPr>
              <a:t>온오프 재고 효율화</a:t>
            </a:r>
            <a:endParaRPr lang="en-US" altLang="ko-KR" sz="1000" b="1">
              <a:solidFill>
                <a:schemeClr val="bg1"/>
              </a:solidFill>
              <a:latin typeface="맑은 고딕" panose="020B0503020000020004" pitchFamily="50" charset="-127"/>
            </a:endParaRPr>
          </a:p>
        </p:txBody>
      </p:sp>
      <p:sp>
        <p:nvSpPr>
          <p:cNvPr id="10" name="타원 9"/>
          <p:cNvSpPr/>
          <p:nvPr/>
        </p:nvSpPr>
        <p:spPr>
          <a:xfrm>
            <a:off x="431906" y="1336576"/>
            <a:ext cx="504000" cy="504000"/>
          </a:xfrm>
          <a:prstGeom prst="ellipse">
            <a:avLst/>
          </a:prstGeom>
          <a:solidFill>
            <a:schemeClr val="tx1">
              <a:lumMod val="75000"/>
              <a:lumOff val="25000"/>
            </a:schemeClr>
          </a:solidFill>
          <a:ln w="3175">
            <a:noFill/>
          </a:ln>
          <a:effectLst>
            <a:outerShdw blurRad="25400" dist="25400" dir="2700000" algn="tl" rotWithShape="0">
              <a:schemeClr val="tx1">
                <a:lumMod val="75000"/>
                <a:lumOff val="2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70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결제</a:t>
            </a:r>
            <a:endParaRPr lang="en-US" altLang="ko-KR" sz="700" smtClean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ctr"/>
            <a:r>
              <a:rPr lang="ko-KR" altLang="en-US" sz="70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완료</a:t>
            </a:r>
            <a:endParaRPr lang="ko-KR" altLang="en-US" sz="70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280" name="그룹 279"/>
          <p:cNvGrpSpPr/>
          <p:nvPr/>
        </p:nvGrpSpPr>
        <p:grpSpPr>
          <a:xfrm>
            <a:off x="10222022" y="1300576"/>
            <a:ext cx="720000" cy="576000"/>
            <a:chOff x="9236472" y="1300576"/>
            <a:chExt cx="720000" cy="576000"/>
          </a:xfrm>
        </p:grpSpPr>
        <p:sp>
          <p:nvSpPr>
            <p:cNvPr id="182" name="육각형 181"/>
            <p:cNvSpPr/>
            <p:nvPr/>
          </p:nvSpPr>
          <p:spPr>
            <a:xfrm>
              <a:off x="9236472" y="1300576"/>
              <a:ext cx="720000" cy="576000"/>
            </a:xfrm>
            <a:prstGeom prst="hexagon">
              <a:avLst/>
            </a:prstGeom>
            <a:solidFill>
              <a:schemeClr val="bg1">
                <a:lumMod val="85000"/>
              </a:schemeClr>
            </a:solidFill>
            <a:ln w="3175">
              <a:solidFill>
                <a:schemeClr val="bg1">
                  <a:lumMod val="75000"/>
                </a:schemeClr>
              </a:solidFill>
            </a:ln>
            <a:effectLst>
              <a:outerShdw blurRad="12700" dist="12700" dir="2700000" algn="tl" rotWithShape="0">
                <a:schemeClr val="tx1">
                  <a:lumMod val="75000"/>
                  <a:lumOff val="25000"/>
                  <a:alpha val="5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18000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7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11" name="타원 10"/>
            <p:cNvSpPr/>
            <p:nvPr/>
          </p:nvSpPr>
          <p:spPr>
            <a:xfrm>
              <a:off x="9344472" y="1336576"/>
              <a:ext cx="504000" cy="504000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 w="3175">
              <a:noFill/>
            </a:ln>
            <a:effectLst>
              <a:outerShdw blurRad="25400" dist="25400" dir="2700000" algn="tl" rotWithShape="0">
                <a:schemeClr val="tx1">
                  <a:lumMod val="75000"/>
                  <a:lumOff val="25000"/>
                  <a:alpha val="5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700" smtClean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상품</a:t>
              </a:r>
              <a:endParaRPr lang="en-US" altLang="ko-KR" sz="70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algn="ctr"/>
              <a:r>
                <a:rPr lang="ko-KR" altLang="en-US" sz="700" smtClean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준비중</a:t>
              </a:r>
              <a:endParaRPr lang="ko-KR" altLang="en-US" sz="70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grpSp>
        <p:nvGrpSpPr>
          <p:cNvPr id="14" name="그룹 13"/>
          <p:cNvGrpSpPr/>
          <p:nvPr/>
        </p:nvGrpSpPr>
        <p:grpSpPr>
          <a:xfrm>
            <a:off x="323906" y="2056576"/>
            <a:ext cx="720000" cy="576000"/>
            <a:chOff x="323530" y="1799999"/>
            <a:chExt cx="720000" cy="576000"/>
          </a:xfrm>
        </p:grpSpPr>
        <p:sp>
          <p:nvSpPr>
            <p:cNvPr id="15" name="모서리가 둥근 직사각형 14"/>
            <p:cNvSpPr/>
            <p:nvPr/>
          </p:nvSpPr>
          <p:spPr>
            <a:xfrm>
              <a:off x="323530" y="1799999"/>
              <a:ext cx="720000" cy="576000"/>
            </a:xfrm>
            <a:prstGeom prst="roundRect">
              <a:avLst>
                <a:gd name="adj" fmla="val 5025"/>
              </a:avLst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  <a:effectLst>
              <a:outerShdw blurRad="12700" dist="12700" dir="2700000" algn="tl" rotWithShape="0">
                <a:schemeClr val="tx1">
                  <a:lumMod val="75000"/>
                  <a:lumOff val="25000"/>
                  <a:alpha val="5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18000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ko-KR" altLang="en-US" sz="70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주문</a:t>
              </a:r>
              <a:r>
                <a:rPr lang="en-US" altLang="ko-KR" sz="70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/</a:t>
              </a:r>
              <a:r>
                <a:rPr lang="ko-KR" altLang="en-US" sz="70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결제</a:t>
              </a:r>
              <a:endParaRPr lang="ko-KR" altLang="en-US" sz="7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16" name="모서리가 둥근 직사각형 15"/>
            <p:cNvSpPr/>
            <p:nvPr/>
          </p:nvSpPr>
          <p:spPr>
            <a:xfrm>
              <a:off x="323530" y="1799999"/>
              <a:ext cx="720000" cy="180000"/>
            </a:xfrm>
            <a:prstGeom prst="roundRect">
              <a:avLst/>
            </a:prstGeom>
            <a:solidFill>
              <a:srgbClr val="C00000"/>
            </a:solidFill>
            <a:ln w="3175">
              <a:solidFill>
                <a:schemeClr val="bg1">
                  <a:lumMod val="75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altLang="ko-KR" sz="700" smtClean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LFmall</a:t>
              </a:r>
              <a:endParaRPr lang="ko-KR" altLang="en-US" sz="70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grpSp>
        <p:nvGrpSpPr>
          <p:cNvPr id="23" name="그룹 22"/>
          <p:cNvGrpSpPr/>
          <p:nvPr/>
        </p:nvGrpSpPr>
        <p:grpSpPr>
          <a:xfrm>
            <a:off x="323906" y="2812002"/>
            <a:ext cx="720000" cy="576000"/>
            <a:chOff x="323530" y="1799999"/>
            <a:chExt cx="720000" cy="576000"/>
          </a:xfrm>
        </p:grpSpPr>
        <p:sp>
          <p:nvSpPr>
            <p:cNvPr id="24" name="모서리가 둥근 직사각형 23"/>
            <p:cNvSpPr/>
            <p:nvPr/>
          </p:nvSpPr>
          <p:spPr>
            <a:xfrm>
              <a:off x="323530" y="1799999"/>
              <a:ext cx="720000" cy="576000"/>
            </a:xfrm>
            <a:prstGeom prst="roundRect">
              <a:avLst>
                <a:gd name="adj" fmla="val 5025"/>
              </a:avLst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  <a:effectLst>
              <a:outerShdw blurRad="12700" dist="12700" dir="2700000" algn="tl" rotWithShape="0">
                <a:schemeClr val="tx1">
                  <a:lumMod val="75000"/>
                  <a:lumOff val="25000"/>
                  <a:alpha val="5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18000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ko-KR" altLang="en-US" sz="70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주문</a:t>
              </a:r>
              <a:r>
                <a:rPr lang="en-US" altLang="ko-KR" sz="70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 </a:t>
              </a:r>
              <a:r>
                <a:rPr lang="ko-KR" altLang="en-US" sz="70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수집</a:t>
              </a:r>
              <a:endParaRPr lang="ko-KR" altLang="en-US" sz="7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25" name="모서리가 둥근 직사각형 24"/>
            <p:cNvSpPr/>
            <p:nvPr/>
          </p:nvSpPr>
          <p:spPr>
            <a:xfrm>
              <a:off x="323530" y="1799999"/>
              <a:ext cx="720000" cy="180000"/>
            </a:xfrm>
            <a:prstGeom prst="roundRect">
              <a:avLst/>
            </a:prstGeom>
            <a:solidFill>
              <a:schemeClr val="accent5">
                <a:lumMod val="50000"/>
              </a:schemeClr>
            </a:solidFill>
            <a:ln w="3175">
              <a:solidFill>
                <a:schemeClr val="bg1">
                  <a:lumMod val="75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altLang="ko-KR" sz="700" smtClean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OMS</a:t>
              </a:r>
              <a:endParaRPr lang="ko-KR" altLang="en-US" sz="70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grpSp>
        <p:nvGrpSpPr>
          <p:cNvPr id="26" name="그룹 25"/>
          <p:cNvGrpSpPr/>
          <p:nvPr/>
        </p:nvGrpSpPr>
        <p:grpSpPr>
          <a:xfrm>
            <a:off x="1223742" y="2812002"/>
            <a:ext cx="720000" cy="576000"/>
            <a:chOff x="323530" y="1799999"/>
            <a:chExt cx="720000" cy="576000"/>
          </a:xfrm>
        </p:grpSpPr>
        <p:sp>
          <p:nvSpPr>
            <p:cNvPr id="27" name="모서리가 둥근 직사각형 26"/>
            <p:cNvSpPr/>
            <p:nvPr/>
          </p:nvSpPr>
          <p:spPr>
            <a:xfrm>
              <a:off x="323530" y="1799999"/>
              <a:ext cx="720000" cy="576000"/>
            </a:xfrm>
            <a:prstGeom prst="roundRect">
              <a:avLst>
                <a:gd name="adj" fmla="val 5025"/>
              </a:avLst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  <a:effectLst>
              <a:outerShdw blurRad="12700" dist="12700" dir="2700000" algn="tl" rotWithShape="0">
                <a:schemeClr val="tx1">
                  <a:lumMod val="75000"/>
                  <a:lumOff val="25000"/>
                  <a:alpha val="5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18000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ko-KR" altLang="en-US" sz="70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가용 재고</a:t>
              </a:r>
              <a:endParaRPr lang="en-US" altLang="ko-KR" sz="7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endParaRPr>
            </a:p>
            <a:p>
              <a:pPr algn="ctr"/>
              <a:r>
                <a:rPr lang="ko-KR" altLang="en-US" sz="70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체크</a:t>
              </a:r>
              <a:endParaRPr lang="ko-KR" altLang="en-US" sz="7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28" name="모서리가 둥근 직사각형 27"/>
            <p:cNvSpPr/>
            <p:nvPr/>
          </p:nvSpPr>
          <p:spPr>
            <a:xfrm>
              <a:off x="323530" y="1799999"/>
              <a:ext cx="720000" cy="180000"/>
            </a:xfrm>
            <a:prstGeom prst="roundRect">
              <a:avLst/>
            </a:prstGeom>
            <a:solidFill>
              <a:schemeClr val="accent5">
                <a:lumMod val="50000"/>
              </a:schemeClr>
            </a:solidFill>
            <a:ln w="3175">
              <a:solidFill>
                <a:schemeClr val="bg1">
                  <a:lumMod val="75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altLang="ko-KR" sz="700" smtClean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OMS</a:t>
              </a:r>
              <a:endParaRPr lang="ko-KR" altLang="en-US" sz="70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grpSp>
        <p:nvGrpSpPr>
          <p:cNvPr id="29" name="그룹 28"/>
          <p:cNvGrpSpPr/>
          <p:nvPr/>
        </p:nvGrpSpPr>
        <p:grpSpPr>
          <a:xfrm>
            <a:off x="1223742" y="3568002"/>
            <a:ext cx="720000" cy="576000"/>
            <a:chOff x="323530" y="1799999"/>
            <a:chExt cx="720000" cy="576000"/>
          </a:xfrm>
        </p:grpSpPr>
        <p:sp>
          <p:nvSpPr>
            <p:cNvPr id="30" name="모서리가 둥근 직사각형 29"/>
            <p:cNvSpPr/>
            <p:nvPr/>
          </p:nvSpPr>
          <p:spPr>
            <a:xfrm>
              <a:off x="323530" y="1799999"/>
              <a:ext cx="720000" cy="576000"/>
            </a:xfrm>
            <a:prstGeom prst="roundRect">
              <a:avLst>
                <a:gd name="adj" fmla="val 5025"/>
              </a:avLst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  <a:effectLst>
              <a:outerShdw blurRad="12700" dist="12700" dir="2700000" algn="tl" rotWithShape="0">
                <a:schemeClr val="tx1">
                  <a:lumMod val="75000"/>
                  <a:lumOff val="25000"/>
                  <a:alpha val="5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18000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altLang="ko-KR" sz="70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1</a:t>
              </a:r>
              <a:r>
                <a:rPr lang="ko-KR" altLang="en-US" sz="70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차</a:t>
              </a:r>
              <a:endParaRPr lang="en-US" altLang="ko-KR" sz="7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endParaRPr>
            </a:p>
            <a:p>
              <a:pPr algn="ctr"/>
              <a:r>
                <a:rPr lang="ko-KR" altLang="en-US" sz="70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물량 이동 지시</a:t>
              </a:r>
              <a:endParaRPr lang="en-US" altLang="ko-KR" sz="7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endParaRPr>
            </a:p>
            <a:p>
              <a:pPr algn="ctr"/>
              <a:r>
                <a:rPr lang="en-US" altLang="ko-KR" sz="70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(</a:t>
              </a:r>
              <a:r>
                <a:rPr lang="ko-KR" altLang="en-US" sz="70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매장</a:t>
              </a:r>
              <a:r>
                <a:rPr lang="en-US" altLang="ko-KR" sz="700" b="1" smtClean="0">
                  <a:solidFill>
                    <a:srgbClr val="C00000"/>
                  </a:solidFill>
                  <a:latin typeface="맑은 고딕" panose="020B0503020000020004" pitchFamily="50" charset="-127"/>
                </a:rPr>
                <a:t>A</a:t>
              </a:r>
              <a:r>
                <a:rPr lang="en-US" altLang="ko-KR" sz="70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)</a:t>
              </a:r>
              <a:endParaRPr lang="ko-KR" altLang="en-US" sz="7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31" name="모서리가 둥근 직사각형 30"/>
            <p:cNvSpPr/>
            <p:nvPr/>
          </p:nvSpPr>
          <p:spPr>
            <a:xfrm>
              <a:off x="323530" y="1799999"/>
              <a:ext cx="720000" cy="180000"/>
            </a:xfrm>
            <a:prstGeom prst="roundRect">
              <a:avLst/>
            </a:prstGeom>
            <a:solidFill>
              <a:schemeClr val="accent6">
                <a:lumMod val="50000"/>
              </a:schemeClr>
            </a:solidFill>
            <a:ln w="3175">
              <a:solidFill>
                <a:schemeClr val="bg1">
                  <a:lumMod val="75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altLang="ko-KR" sz="700" smtClean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SAP</a:t>
              </a:r>
              <a:endParaRPr lang="ko-KR" altLang="en-US" sz="70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grpSp>
        <p:nvGrpSpPr>
          <p:cNvPr id="32" name="그룹 31"/>
          <p:cNvGrpSpPr/>
          <p:nvPr/>
        </p:nvGrpSpPr>
        <p:grpSpPr>
          <a:xfrm>
            <a:off x="2123570" y="3568002"/>
            <a:ext cx="720000" cy="576000"/>
            <a:chOff x="323530" y="1799999"/>
            <a:chExt cx="720000" cy="576000"/>
          </a:xfrm>
        </p:grpSpPr>
        <p:sp>
          <p:nvSpPr>
            <p:cNvPr id="33" name="모서리가 둥근 직사각형 32"/>
            <p:cNvSpPr/>
            <p:nvPr/>
          </p:nvSpPr>
          <p:spPr>
            <a:xfrm>
              <a:off x="323530" y="1799999"/>
              <a:ext cx="720000" cy="576000"/>
            </a:xfrm>
            <a:prstGeom prst="roundRect">
              <a:avLst>
                <a:gd name="adj" fmla="val 5025"/>
              </a:avLst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  <a:effectLst>
              <a:outerShdw blurRad="12700" dist="12700" dir="2700000" algn="tl" rotWithShape="0">
                <a:schemeClr val="tx1">
                  <a:lumMod val="75000"/>
                  <a:lumOff val="25000"/>
                  <a:alpha val="5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18000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altLang="ko-KR" sz="70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1</a:t>
              </a:r>
              <a:r>
                <a:rPr lang="ko-KR" altLang="en-US" sz="70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차</a:t>
              </a:r>
              <a:endParaRPr lang="en-US" altLang="ko-KR" sz="7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endParaRPr>
            </a:p>
            <a:p>
              <a:pPr algn="ctr"/>
              <a:r>
                <a:rPr lang="ko-KR" altLang="en-US" sz="70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물량 이동 접수</a:t>
              </a:r>
              <a:endParaRPr lang="en-US" altLang="ko-KR" sz="7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endParaRPr>
            </a:p>
            <a:p>
              <a:pPr algn="ctr"/>
              <a:r>
                <a:rPr lang="en-US" altLang="ko-KR" sz="70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(</a:t>
              </a:r>
              <a:r>
                <a:rPr lang="ko-KR" altLang="en-US" sz="70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매장</a:t>
              </a:r>
              <a:r>
                <a:rPr lang="en-US" altLang="ko-KR" sz="700" b="1">
                  <a:solidFill>
                    <a:srgbClr val="C00000"/>
                  </a:solidFill>
                  <a:latin typeface="맑은 고딕" panose="020B0503020000020004" pitchFamily="50" charset="-127"/>
                </a:rPr>
                <a:t>A</a:t>
              </a:r>
              <a:r>
                <a:rPr lang="en-US" altLang="ko-KR" sz="70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)</a:t>
              </a:r>
              <a:endParaRPr lang="ko-KR" altLang="en-US" sz="7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34" name="모서리가 둥근 직사각형 33"/>
            <p:cNvSpPr/>
            <p:nvPr/>
          </p:nvSpPr>
          <p:spPr>
            <a:xfrm>
              <a:off x="323530" y="1799999"/>
              <a:ext cx="720000" cy="180000"/>
            </a:xfrm>
            <a:prstGeom prst="roundRect">
              <a:avLst/>
            </a:prstGeom>
            <a:solidFill>
              <a:schemeClr val="accent6">
                <a:lumMod val="50000"/>
              </a:schemeClr>
            </a:solidFill>
            <a:ln w="3175">
              <a:solidFill>
                <a:schemeClr val="bg1">
                  <a:lumMod val="75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altLang="ko-KR" sz="700" smtClean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POS</a:t>
              </a:r>
              <a:endParaRPr lang="ko-KR" altLang="en-US" sz="70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sp>
        <p:nvSpPr>
          <p:cNvPr id="35" name="다이아몬드 34"/>
          <p:cNvSpPr/>
          <p:nvPr/>
        </p:nvSpPr>
        <p:spPr>
          <a:xfrm>
            <a:off x="3923226" y="3568002"/>
            <a:ext cx="720000" cy="576000"/>
          </a:xfrm>
          <a:prstGeom prst="diamond">
            <a:avLst/>
          </a:prstGeom>
          <a:solidFill>
            <a:schemeClr val="accent2">
              <a:lumMod val="20000"/>
              <a:lumOff val="8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7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반품</a:t>
            </a:r>
            <a:endParaRPr lang="en-US" altLang="ko-KR" sz="700" smtClean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ctr"/>
            <a:r>
              <a:rPr lang="ko-KR" altLang="en-US" sz="7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여부</a:t>
            </a:r>
            <a:endParaRPr lang="ko-KR" altLang="en-US" sz="70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4283226" y="3445671"/>
            <a:ext cx="135221" cy="123111"/>
          </a:xfrm>
          <a:prstGeom prst="rect">
            <a:avLst/>
          </a:prstGeom>
          <a:noFill/>
        </p:spPr>
        <p:txBody>
          <a:bodyPr wrap="none" lIns="36000" tIns="0" rIns="36000" bIns="0" rtlCol="0" anchor="ctr">
            <a:spAutoFit/>
          </a:bodyPr>
          <a:lstStyle>
            <a:defPPr>
              <a:defRPr lang="ko-KR"/>
            </a:defPPr>
            <a:lvl1pPr>
              <a:defRPr sz="800" b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en-US" altLang="ko-KR"/>
              <a:t>Y</a:t>
            </a:r>
            <a:endParaRPr lang="ko-KR" altLang="en-US" dirty="0"/>
          </a:p>
        </p:txBody>
      </p:sp>
      <p:sp>
        <p:nvSpPr>
          <p:cNvPr id="37" name="TextBox 36"/>
          <p:cNvSpPr txBox="1"/>
          <p:nvPr/>
        </p:nvSpPr>
        <p:spPr>
          <a:xfrm>
            <a:off x="4283226" y="4144438"/>
            <a:ext cx="154457" cy="123111"/>
          </a:xfrm>
          <a:prstGeom prst="rect">
            <a:avLst/>
          </a:prstGeom>
          <a:noFill/>
        </p:spPr>
        <p:txBody>
          <a:bodyPr wrap="none" lIns="36000" tIns="0" rIns="36000" bIns="0" rtlCol="0" anchor="ctr">
            <a:spAutoFit/>
          </a:bodyPr>
          <a:lstStyle>
            <a:defPPr>
              <a:defRPr lang="ko-KR"/>
            </a:defPPr>
            <a:lvl1pPr>
              <a:defRPr sz="800" b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en-US" altLang="ko-KR"/>
              <a:t>N</a:t>
            </a:r>
            <a:endParaRPr lang="ko-KR" altLang="en-US" dirty="0"/>
          </a:p>
        </p:txBody>
      </p:sp>
      <p:cxnSp>
        <p:nvCxnSpPr>
          <p:cNvPr id="4" name="직선 화살표 연결선 3"/>
          <p:cNvCxnSpPr>
            <a:stCxn id="15" idx="2"/>
            <a:endCxn id="25" idx="0"/>
          </p:cNvCxnSpPr>
          <p:nvPr/>
        </p:nvCxnSpPr>
        <p:spPr>
          <a:xfrm>
            <a:off x="683906" y="2632576"/>
            <a:ext cx="0" cy="179426"/>
          </a:xfrm>
          <a:prstGeom prst="straightConnector1">
            <a:avLst/>
          </a:prstGeom>
          <a:ln w="3175">
            <a:solidFill>
              <a:schemeClr val="bg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직선 화살표 연결선 37"/>
          <p:cNvCxnSpPr>
            <a:stCxn id="24" idx="3"/>
            <a:endCxn id="27" idx="1"/>
          </p:cNvCxnSpPr>
          <p:nvPr/>
        </p:nvCxnSpPr>
        <p:spPr>
          <a:xfrm>
            <a:off x="1043906" y="3100002"/>
            <a:ext cx="179836" cy="0"/>
          </a:xfrm>
          <a:prstGeom prst="straightConnector1">
            <a:avLst/>
          </a:prstGeom>
          <a:ln w="3175">
            <a:solidFill>
              <a:schemeClr val="bg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직선 화살표 연결선 40"/>
          <p:cNvCxnSpPr>
            <a:stCxn id="27" idx="2"/>
            <a:endCxn id="31" idx="0"/>
          </p:cNvCxnSpPr>
          <p:nvPr/>
        </p:nvCxnSpPr>
        <p:spPr>
          <a:xfrm>
            <a:off x="1583742" y="3388002"/>
            <a:ext cx="0" cy="180000"/>
          </a:xfrm>
          <a:prstGeom prst="straightConnector1">
            <a:avLst/>
          </a:prstGeom>
          <a:ln w="3175">
            <a:solidFill>
              <a:schemeClr val="bg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직선 화살표 연결선 43"/>
          <p:cNvCxnSpPr>
            <a:stCxn id="30" idx="3"/>
            <a:endCxn id="33" idx="1"/>
          </p:cNvCxnSpPr>
          <p:nvPr/>
        </p:nvCxnSpPr>
        <p:spPr>
          <a:xfrm>
            <a:off x="1943742" y="3856002"/>
            <a:ext cx="179828" cy="0"/>
          </a:xfrm>
          <a:prstGeom prst="straightConnector1">
            <a:avLst/>
          </a:prstGeom>
          <a:ln w="3175">
            <a:solidFill>
              <a:schemeClr val="bg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0" name="그룹 49"/>
          <p:cNvGrpSpPr/>
          <p:nvPr/>
        </p:nvGrpSpPr>
        <p:grpSpPr>
          <a:xfrm>
            <a:off x="3023399" y="3568002"/>
            <a:ext cx="720000" cy="576000"/>
            <a:chOff x="323530" y="1799999"/>
            <a:chExt cx="720000" cy="576000"/>
          </a:xfrm>
        </p:grpSpPr>
        <p:sp>
          <p:nvSpPr>
            <p:cNvPr id="51" name="모서리가 둥근 직사각형 50"/>
            <p:cNvSpPr/>
            <p:nvPr/>
          </p:nvSpPr>
          <p:spPr>
            <a:xfrm>
              <a:off x="323530" y="1799999"/>
              <a:ext cx="720000" cy="576000"/>
            </a:xfrm>
            <a:prstGeom prst="roundRect">
              <a:avLst>
                <a:gd name="adj" fmla="val 5025"/>
              </a:avLst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  <a:effectLst>
              <a:outerShdw blurRad="12700" dist="12700" dir="2700000" algn="tl" rotWithShape="0">
                <a:schemeClr val="tx1">
                  <a:lumMod val="75000"/>
                  <a:lumOff val="25000"/>
                  <a:alpha val="5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18000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altLang="ko-KR" sz="70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1</a:t>
              </a:r>
              <a:r>
                <a:rPr lang="ko-KR" altLang="en-US" sz="70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차</a:t>
              </a:r>
              <a:endParaRPr lang="en-US" altLang="ko-KR" sz="7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endParaRPr>
            </a:p>
            <a:p>
              <a:pPr algn="ctr"/>
              <a:r>
                <a:rPr lang="ko-KR" altLang="en-US" sz="70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온라인 급반품 </a:t>
              </a:r>
              <a:endParaRPr lang="en-US" altLang="ko-KR" sz="7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endParaRPr>
            </a:p>
            <a:p>
              <a:pPr algn="ctr"/>
              <a:r>
                <a:rPr lang="ko-KR" altLang="en-US" sz="70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등록</a:t>
              </a:r>
              <a:endParaRPr lang="ko-KR" altLang="en-US" sz="7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52" name="모서리가 둥근 직사각형 51"/>
            <p:cNvSpPr/>
            <p:nvPr/>
          </p:nvSpPr>
          <p:spPr>
            <a:xfrm>
              <a:off x="323530" y="1799999"/>
              <a:ext cx="720000" cy="180000"/>
            </a:xfrm>
            <a:prstGeom prst="roundRect">
              <a:avLst/>
            </a:prstGeom>
            <a:solidFill>
              <a:schemeClr val="accent6">
                <a:lumMod val="50000"/>
              </a:schemeClr>
            </a:solidFill>
            <a:ln w="3175">
              <a:solidFill>
                <a:schemeClr val="bg1">
                  <a:lumMod val="75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altLang="ko-KR" sz="700" smtClean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POS</a:t>
              </a:r>
              <a:endParaRPr lang="ko-KR" altLang="en-US" sz="70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cxnSp>
        <p:nvCxnSpPr>
          <p:cNvPr id="53" name="직선 화살표 연결선 52"/>
          <p:cNvCxnSpPr>
            <a:stCxn id="33" idx="3"/>
            <a:endCxn id="51" idx="1"/>
          </p:cNvCxnSpPr>
          <p:nvPr/>
        </p:nvCxnSpPr>
        <p:spPr>
          <a:xfrm>
            <a:off x="2843570" y="3856002"/>
            <a:ext cx="179829" cy="0"/>
          </a:xfrm>
          <a:prstGeom prst="straightConnector1">
            <a:avLst/>
          </a:prstGeom>
          <a:ln w="3175">
            <a:solidFill>
              <a:schemeClr val="bg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직선 화살표 연결선 54"/>
          <p:cNvCxnSpPr>
            <a:stCxn id="51" idx="3"/>
            <a:endCxn id="35" idx="1"/>
          </p:cNvCxnSpPr>
          <p:nvPr/>
        </p:nvCxnSpPr>
        <p:spPr>
          <a:xfrm>
            <a:off x="3743399" y="3856002"/>
            <a:ext cx="179827" cy="0"/>
          </a:xfrm>
          <a:prstGeom prst="straightConnector1">
            <a:avLst/>
          </a:prstGeom>
          <a:ln w="3175">
            <a:solidFill>
              <a:schemeClr val="bg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8" name="그룹 57"/>
          <p:cNvGrpSpPr/>
          <p:nvPr/>
        </p:nvGrpSpPr>
        <p:grpSpPr>
          <a:xfrm>
            <a:off x="8422366" y="3568002"/>
            <a:ext cx="720000" cy="576000"/>
            <a:chOff x="323530" y="1799999"/>
            <a:chExt cx="720000" cy="576000"/>
          </a:xfrm>
        </p:grpSpPr>
        <p:sp>
          <p:nvSpPr>
            <p:cNvPr id="59" name="모서리가 둥근 직사각형 58"/>
            <p:cNvSpPr/>
            <p:nvPr/>
          </p:nvSpPr>
          <p:spPr>
            <a:xfrm>
              <a:off x="323530" y="1799999"/>
              <a:ext cx="720000" cy="576000"/>
            </a:xfrm>
            <a:prstGeom prst="roundRect">
              <a:avLst>
                <a:gd name="adj" fmla="val 5025"/>
              </a:avLst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  <a:effectLst>
              <a:outerShdw blurRad="12700" dist="12700" dir="2700000" algn="tl" rotWithShape="0">
                <a:schemeClr val="tx1">
                  <a:lumMod val="75000"/>
                  <a:lumOff val="25000"/>
                  <a:alpha val="5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18000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ko-KR" altLang="en-US" sz="70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수배송 픽업</a:t>
              </a:r>
              <a:endParaRPr lang="ko-KR" altLang="en-US" sz="7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60" name="모서리가 둥근 직사각형 59"/>
            <p:cNvSpPr/>
            <p:nvPr/>
          </p:nvSpPr>
          <p:spPr>
            <a:xfrm>
              <a:off x="323530" y="1799999"/>
              <a:ext cx="720000" cy="180000"/>
            </a:xfrm>
            <a:prstGeom prst="roundRect">
              <a:avLst/>
            </a:prstGeom>
            <a:solidFill>
              <a:srgbClr val="7030A0"/>
            </a:solidFill>
            <a:ln w="3175">
              <a:solidFill>
                <a:schemeClr val="bg1">
                  <a:lumMod val="75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altLang="ko-KR" sz="700" smtClean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Operation</a:t>
              </a:r>
              <a:endParaRPr lang="ko-KR" altLang="en-US" sz="70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cxnSp>
        <p:nvCxnSpPr>
          <p:cNvPr id="65" name="꺾인 연결선 64"/>
          <p:cNvCxnSpPr>
            <a:stCxn id="35" idx="0"/>
            <a:endCxn id="59" idx="1"/>
          </p:cNvCxnSpPr>
          <p:nvPr/>
        </p:nvCxnSpPr>
        <p:spPr>
          <a:xfrm rot="16200000" flipH="1">
            <a:off x="6208796" y="1642432"/>
            <a:ext cx="288000" cy="4139140"/>
          </a:xfrm>
          <a:prstGeom prst="bentConnector4">
            <a:avLst>
              <a:gd name="adj1" fmla="val -79375"/>
              <a:gd name="adj2" fmla="val 54349"/>
            </a:avLst>
          </a:prstGeom>
          <a:ln w="3175">
            <a:solidFill>
              <a:schemeClr val="bg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꺾인 연결선 65"/>
          <p:cNvCxnSpPr>
            <a:stCxn id="35" idx="2"/>
            <a:endCxn id="79" idx="1"/>
          </p:cNvCxnSpPr>
          <p:nvPr/>
        </p:nvCxnSpPr>
        <p:spPr>
          <a:xfrm rot="16200000" flipH="1">
            <a:off x="4319138" y="4108090"/>
            <a:ext cx="468005" cy="539828"/>
          </a:xfrm>
          <a:prstGeom prst="bentConnector2">
            <a:avLst/>
          </a:prstGeom>
          <a:ln w="3175">
            <a:solidFill>
              <a:schemeClr val="bg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8" name="그룹 77"/>
          <p:cNvGrpSpPr/>
          <p:nvPr/>
        </p:nvGrpSpPr>
        <p:grpSpPr>
          <a:xfrm>
            <a:off x="4823054" y="4324007"/>
            <a:ext cx="720000" cy="576000"/>
            <a:chOff x="323530" y="1799999"/>
            <a:chExt cx="720000" cy="576000"/>
          </a:xfrm>
        </p:grpSpPr>
        <p:sp>
          <p:nvSpPr>
            <p:cNvPr id="79" name="모서리가 둥근 직사각형 78"/>
            <p:cNvSpPr/>
            <p:nvPr/>
          </p:nvSpPr>
          <p:spPr>
            <a:xfrm>
              <a:off x="323530" y="1799999"/>
              <a:ext cx="720000" cy="576000"/>
            </a:xfrm>
            <a:prstGeom prst="roundRect">
              <a:avLst>
                <a:gd name="adj" fmla="val 5025"/>
              </a:avLst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  <a:effectLst>
              <a:outerShdw blurRad="12700" dist="12700" dir="2700000" algn="tl" rotWithShape="0">
                <a:schemeClr val="tx1">
                  <a:lumMod val="75000"/>
                  <a:lumOff val="25000"/>
                  <a:alpha val="5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18000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altLang="ko-KR" sz="70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2</a:t>
              </a:r>
              <a:r>
                <a:rPr lang="ko-KR" altLang="en-US" sz="70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차</a:t>
              </a:r>
              <a:endParaRPr lang="en-US" altLang="ko-KR" sz="7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endParaRPr>
            </a:p>
            <a:p>
              <a:pPr algn="ctr"/>
              <a:r>
                <a:rPr lang="ko-KR" altLang="en-US" sz="70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물량 이동 지시</a:t>
              </a:r>
              <a:endParaRPr lang="en-US" altLang="ko-KR" sz="7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endParaRPr>
            </a:p>
            <a:p>
              <a:pPr algn="ctr"/>
              <a:r>
                <a:rPr lang="en-US" altLang="ko-KR" sz="70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(</a:t>
              </a:r>
              <a:r>
                <a:rPr lang="ko-KR" altLang="en-US" sz="70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매장</a:t>
              </a:r>
              <a:r>
                <a:rPr lang="en-US" altLang="ko-KR" sz="700" b="1" smtClean="0">
                  <a:solidFill>
                    <a:srgbClr val="C00000"/>
                  </a:solidFill>
                  <a:latin typeface="맑은 고딕" panose="020B0503020000020004" pitchFamily="50" charset="-127"/>
                </a:rPr>
                <a:t>B</a:t>
              </a:r>
              <a:r>
                <a:rPr lang="en-US" altLang="ko-KR" sz="70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)</a:t>
              </a:r>
              <a:endParaRPr lang="ko-KR" altLang="en-US" sz="7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80" name="모서리가 둥근 직사각형 79"/>
            <p:cNvSpPr/>
            <p:nvPr/>
          </p:nvSpPr>
          <p:spPr>
            <a:xfrm>
              <a:off x="323530" y="1799999"/>
              <a:ext cx="720000" cy="180000"/>
            </a:xfrm>
            <a:prstGeom prst="roundRect">
              <a:avLst/>
            </a:prstGeom>
            <a:solidFill>
              <a:schemeClr val="accent6">
                <a:lumMod val="50000"/>
              </a:schemeClr>
            </a:solidFill>
            <a:ln w="3175">
              <a:solidFill>
                <a:schemeClr val="bg1">
                  <a:lumMod val="75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altLang="ko-KR" sz="700" smtClean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SAP</a:t>
              </a:r>
              <a:endParaRPr lang="ko-KR" altLang="en-US" sz="70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grpSp>
        <p:nvGrpSpPr>
          <p:cNvPr id="81" name="그룹 80"/>
          <p:cNvGrpSpPr/>
          <p:nvPr/>
        </p:nvGrpSpPr>
        <p:grpSpPr>
          <a:xfrm>
            <a:off x="5722882" y="4324007"/>
            <a:ext cx="720000" cy="576000"/>
            <a:chOff x="323530" y="1799999"/>
            <a:chExt cx="720000" cy="576000"/>
          </a:xfrm>
        </p:grpSpPr>
        <p:sp>
          <p:nvSpPr>
            <p:cNvPr id="82" name="모서리가 둥근 직사각형 81"/>
            <p:cNvSpPr/>
            <p:nvPr/>
          </p:nvSpPr>
          <p:spPr>
            <a:xfrm>
              <a:off x="323530" y="1799999"/>
              <a:ext cx="720000" cy="576000"/>
            </a:xfrm>
            <a:prstGeom prst="roundRect">
              <a:avLst>
                <a:gd name="adj" fmla="val 5025"/>
              </a:avLst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  <a:effectLst>
              <a:outerShdw blurRad="12700" dist="12700" dir="2700000" algn="tl" rotWithShape="0">
                <a:schemeClr val="tx1">
                  <a:lumMod val="75000"/>
                  <a:lumOff val="25000"/>
                  <a:alpha val="5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18000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altLang="ko-KR" sz="70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2</a:t>
              </a:r>
              <a:r>
                <a:rPr lang="ko-KR" altLang="en-US" sz="70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차</a:t>
              </a:r>
              <a:endParaRPr lang="en-US" altLang="ko-KR" sz="7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endParaRPr>
            </a:p>
            <a:p>
              <a:pPr algn="ctr"/>
              <a:r>
                <a:rPr lang="ko-KR" altLang="en-US" sz="70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물량 이동 접수</a:t>
              </a:r>
              <a:endParaRPr lang="en-US" altLang="ko-KR" sz="7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endParaRPr>
            </a:p>
            <a:p>
              <a:pPr algn="ctr"/>
              <a:r>
                <a:rPr lang="en-US" altLang="ko-KR" sz="70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(</a:t>
              </a:r>
              <a:r>
                <a:rPr lang="ko-KR" altLang="en-US" sz="70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매장</a:t>
              </a:r>
              <a:r>
                <a:rPr lang="en-US" altLang="ko-KR" sz="700" b="1">
                  <a:solidFill>
                    <a:srgbClr val="C00000"/>
                  </a:solidFill>
                  <a:latin typeface="맑은 고딕" panose="020B0503020000020004" pitchFamily="50" charset="-127"/>
                </a:rPr>
                <a:t>B</a:t>
              </a:r>
              <a:r>
                <a:rPr lang="en-US" altLang="ko-KR" sz="70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)</a:t>
              </a:r>
              <a:endParaRPr lang="ko-KR" altLang="en-US" sz="7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83" name="모서리가 둥근 직사각형 82"/>
            <p:cNvSpPr/>
            <p:nvPr/>
          </p:nvSpPr>
          <p:spPr>
            <a:xfrm>
              <a:off x="323530" y="1799999"/>
              <a:ext cx="720000" cy="180000"/>
            </a:xfrm>
            <a:prstGeom prst="roundRect">
              <a:avLst/>
            </a:prstGeom>
            <a:solidFill>
              <a:schemeClr val="accent6">
                <a:lumMod val="50000"/>
              </a:schemeClr>
            </a:solidFill>
            <a:ln w="3175">
              <a:solidFill>
                <a:schemeClr val="bg1">
                  <a:lumMod val="75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altLang="ko-KR" sz="700" smtClean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POS</a:t>
              </a:r>
              <a:endParaRPr lang="ko-KR" altLang="en-US" sz="70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sp>
        <p:nvSpPr>
          <p:cNvPr id="84" name="다이아몬드 83"/>
          <p:cNvSpPr/>
          <p:nvPr/>
        </p:nvSpPr>
        <p:spPr>
          <a:xfrm>
            <a:off x="7522539" y="4324007"/>
            <a:ext cx="720000" cy="576000"/>
          </a:xfrm>
          <a:prstGeom prst="diamond">
            <a:avLst/>
          </a:prstGeom>
          <a:solidFill>
            <a:schemeClr val="accent2">
              <a:lumMod val="20000"/>
              <a:lumOff val="8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7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반품</a:t>
            </a:r>
            <a:endParaRPr lang="en-US" altLang="ko-KR" sz="70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</a:endParaRPr>
          </a:p>
          <a:p>
            <a:pPr algn="ctr"/>
            <a:r>
              <a:rPr lang="ko-KR" altLang="en-US" sz="7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여부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882539" y="4200278"/>
            <a:ext cx="135221" cy="123111"/>
          </a:xfrm>
          <a:prstGeom prst="rect">
            <a:avLst/>
          </a:prstGeom>
          <a:noFill/>
        </p:spPr>
        <p:txBody>
          <a:bodyPr wrap="none" lIns="36000" tIns="0" rIns="36000" bIns="0" rtlCol="0" anchor="ctr">
            <a:spAutoFit/>
          </a:bodyPr>
          <a:lstStyle>
            <a:defPPr>
              <a:defRPr lang="ko-KR"/>
            </a:defPPr>
            <a:lvl1pPr>
              <a:defRPr sz="800" b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en-US" altLang="ko-KR"/>
              <a:t>Y</a:t>
            </a:r>
            <a:endParaRPr lang="ko-KR" altLang="en-US" dirty="0"/>
          </a:p>
        </p:txBody>
      </p:sp>
      <p:sp>
        <p:nvSpPr>
          <p:cNvPr id="86" name="TextBox 85"/>
          <p:cNvSpPr txBox="1"/>
          <p:nvPr/>
        </p:nvSpPr>
        <p:spPr>
          <a:xfrm>
            <a:off x="7882539" y="4895031"/>
            <a:ext cx="154457" cy="123111"/>
          </a:xfrm>
          <a:prstGeom prst="rect">
            <a:avLst/>
          </a:prstGeom>
          <a:noFill/>
        </p:spPr>
        <p:txBody>
          <a:bodyPr wrap="none" lIns="36000" tIns="0" rIns="36000" bIns="0" rtlCol="0" anchor="ctr">
            <a:spAutoFit/>
          </a:bodyPr>
          <a:lstStyle>
            <a:defPPr>
              <a:defRPr lang="ko-KR"/>
            </a:defPPr>
            <a:lvl1pPr>
              <a:defRPr sz="800" b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en-US" altLang="ko-KR"/>
              <a:t>N</a:t>
            </a:r>
            <a:endParaRPr lang="ko-KR" altLang="en-US" dirty="0"/>
          </a:p>
        </p:txBody>
      </p:sp>
      <p:cxnSp>
        <p:nvCxnSpPr>
          <p:cNvPr id="87" name="직선 화살표 연결선 86"/>
          <p:cNvCxnSpPr>
            <a:stCxn id="79" idx="3"/>
            <a:endCxn id="82" idx="1"/>
          </p:cNvCxnSpPr>
          <p:nvPr/>
        </p:nvCxnSpPr>
        <p:spPr>
          <a:xfrm>
            <a:off x="5543054" y="4612007"/>
            <a:ext cx="179828" cy="0"/>
          </a:xfrm>
          <a:prstGeom prst="straightConnector1">
            <a:avLst/>
          </a:prstGeom>
          <a:ln w="3175">
            <a:solidFill>
              <a:schemeClr val="bg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8" name="그룹 87"/>
          <p:cNvGrpSpPr/>
          <p:nvPr/>
        </p:nvGrpSpPr>
        <p:grpSpPr>
          <a:xfrm>
            <a:off x="6622711" y="4324007"/>
            <a:ext cx="720000" cy="576000"/>
            <a:chOff x="323530" y="1799999"/>
            <a:chExt cx="720000" cy="576000"/>
          </a:xfrm>
        </p:grpSpPr>
        <p:sp>
          <p:nvSpPr>
            <p:cNvPr id="89" name="모서리가 둥근 직사각형 88"/>
            <p:cNvSpPr/>
            <p:nvPr/>
          </p:nvSpPr>
          <p:spPr>
            <a:xfrm>
              <a:off x="323530" y="1799999"/>
              <a:ext cx="720000" cy="576000"/>
            </a:xfrm>
            <a:prstGeom prst="roundRect">
              <a:avLst>
                <a:gd name="adj" fmla="val 5025"/>
              </a:avLst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  <a:effectLst>
              <a:outerShdw blurRad="12700" dist="12700" dir="2700000" algn="tl" rotWithShape="0">
                <a:schemeClr val="tx1">
                  <a:lumMod val="75000"/>
                  <a:lumOff val="25000"/>
                  <a:alpha val="5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18000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altLang="ko-KR" sz="70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2</a:t>
              </a:r>
              <a:r>
                <a:rPr lang="ko-KR" altLang="en-US" sz="70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차</a:t>
              </a:r>
              <a:endParaRPr lang="en-US" altLang="ko-KR" sz="7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endParaRPr>
            </a:p>
            <a:p>
              <a:pPr algn="ctr"/>
              <a:r>
                <a:rPr lang="ko-KR" altLang="en-US" sz="70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온라인 급반품 </a:t>
              </a:r>
              <a:endParaRPr lang="en-US" altLang="ko-KR" sz="7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endParaRPr>
            </a:p>
            <a:p>
              <a:pPr algn="ctr"/>
              <a:r>
                <a:rPr lang="ko-KR" altLang="en-US" sz="70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등록</a:t>
              </a:r>
              <a:endParaRPr lang="ko-KR" altLang="en-US" sz="7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90" name="모서리가 둥근 직사각형 89"/>
            <p:cNvSpPr/>
            <p:nvPr/>
          </p:nvSpPr>
          <p:spPr>
            <a:xfrm>
              <a:off x="323530" y="1799999"/>
              <a:ext cx="720000" cy="180000"/>
            </a:xfrm>
            <a:prstGeom prst="roundRect">
              <a:avLst/>
            </a:prstGeom>
            <a:solidFill>
              <a:schemeClr val="accent6">
                <a:lumMod val="50000"/>
              </a:schemeClr>
            </a:solidFill>
            <a:ln w="3175">
              <a:solidFill>
                <a:schemeClr val="bg1">
                  <a:lumMod val="75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altLang="ko-KR" sz="700" smtClean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POS</a:t>
              </a:r>
              <a:endParaRPr lang="ko-KR" altLang="en-US" sz="70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cxnSp>
        <p:nvCxnSpPr>
          <p:cNvPr id="91" name="직선 화살표 연결선 90"/>
          <p:cNvCxnSpPr>
            <a:stCxn id="82" idx="3"/>
            <a:endCxn id="89" idx="1"/>
          </p:cNvCxnSpPr>
          <p:nvPr/>
        </p:nvCxnSpPr>
        <p:spPr>
          <a:xfrm>
            <a:off x="6442882" y="4612007"/>
            <a:ext cx="179829" cy="0"/>
          </a:xfrm>
          <a:prstGeom prst="straightConnector1">
            <a:avLst/>
          </a:prstGeom>
          <a:ln w="3175">
            <a:solidFill>
              <a:schemeClr val="bg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직선 화살표 연결선 91"/>
          <p:cNvCxnSpPr>
            <a:stCxn id="89" idx="3"/>
            <a:endCxn id="84" idx="1"/>
          </p:cNvCxnSpPr>
          <p:nvPr/>
        </p:nvCxnSpPr>
        <p:spPr>
          <a:xfrm>
            <a:off x="7342711" y="4612007"/>
            <a:ext cx="179828" cy="0"/>
          </a:xfrm>
          <a:prstGeom prst="straightConnector1">
            <a:avLst/>
          </a:prstGeom>
          <a:ln w="3175">
            <a:solidFill>
              <a:schemeClr val="bg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꺾인 연결선 92"/>
          <p:cNvCxnSpPr>
            <a:stCxn id="84" idx="0"/>
            <a:endCxn id="59" idx="1"/>
          </p:cNvCxnSpPr>
          <p:nvPr/>
        </p:nvCxnSpPr>
        <p:spPr>
          <a:xfrm rot="5400000" flipH="1" flipV="1">
            <a:off x="7918450" y="3820092"/>
            <a:ext cx="468005" cy="539827"/>
          </a:xfrm>
          <a:prstGeom prst="bentConnector2">
            <a:avLst/>
          </a:prstGeom>
          <a:ln w="3175">
            <a:solidFill>
              <a:schemeClr val="bg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꺾인 연결선 93"/>
          <p:cNvCxnSpPr>
            <a:stCxn id="84" idx="2"/>
            <a:endCxn id="105" idx="1"/>
          </p:cNvCxnSpPr>
          <p:nvPr/>
        </p:nvCxnSpPr>
        <p:spPr>
          <a:xfrm rot="16200000" flipH="1">
            <a:off x="7918739" y="4863806"/>
            <a:ext cx="467426" cy="539827"/>
          </a:xfrm>
          <a:prstGeom prst="bentConnector2">
            <a:avLst/>
          </a:prstGeom>
          <a:ln w="3175">
            <a:solidFill>
              <a:schemeClr val="bg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4" name="그룹 103"/>
          <p:cNvGrpSpPr/>
          <p:nvPr/>
        </p:nvGrpSpPr>
        <p:grpSpPr>
          <a:xfrm>
            <a:off x="8422366" y="5079433"/>
            <a:ext cx="720000" cy="576000"/>
            <a:chOff x="323530" y="1799999"/>
            <a:chExt cx="720000" cy="576000"/>
          </a:xfrm>
        </p:grpSpPr>
        <p:sp>
          <p:nvSpPr>
            <p:cNvPr id="105" name="모서리가 둥근 직사각형 104"/>
            <p:cNvSpPr/>
            <p:nvPr/>
          </p:nvSpPr>
          <p:spPr>
            <a:xfrm>
              <a:off x="323530" y="1799999"/>
              <a:ext cx="720000" cy="576000"/>
            </a:xfrm>
            <a:prstGeom prst="roundRect">
              <a:avLst>
                <a:gd name="adj" fmla="val 5025"/>
              </a:avLst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  <a:effectLst>
              <a:outerShdw blurRad="12700" dist="12700" dir="2700000" algn="tl" rotWithShape="0">
                <a:schemeClr val="tx1">
                  <a:lumMod val="75000"/>
                  <a:lumOff val="25000"/>
                  <a:alpha val="5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18000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ko-KR" altLang="en-US" sz="70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물량 확보 실패</a:t>
              </a:r>
              <a:endParaRPr lang="ko-KR" altLang="en-US" sz="7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106" name="모서리가 둥근 직사각형 105"/>
            <p:cNvSpPr/>
            <p:nvPr/>
          </p:nvSpPr>
          <p:spPr>
            <a:xfrm>
              <a:off x="323530" y="1799999"/>
              <a:ext cx="720000" cy="180000"/>
            </a:xfrm>
            <a:prstGeom prst="roundRect">
              <a:avLst/>
            </a:prstGeom>
            <a:solidFill>
              <a:schemeClr val="accent6">
                <a:lumMod val="50000"/>
              </a:schemeClr>
            </a:solidFill>
            <a:ln w="3175">
              <a:solidFill>
                <a:schemeClr val="bg1">
                  <a:lumMod val="75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altLang="ko-KR" sz="700" smtClean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SAP</a:t>
              </a:r>
              <a:endParaRPr lang="ko-KR" altLang="en-US" sz="70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grpSp>
        <p:nvGrpSpPr>
          <p:cNvPr id="111" name="그룹 110"/>
          <p:cNvGrpSpPr/>
          <p:nvPr/>
        </p:nvGrpSpPr>
        <p:grpSpPr>
          <a:xfrm>
            <a:off x="11124542" y="5079433"/>
            <a:ext cx="720000" cy="576000"/>
            <a:chOff x="323530" y="1799999"/>
            <a:chExt cx="720000" cy="576000"/>
          </a:xfrm>
        </p:grpSpPr>
        <p:sp>
          <p:nvSpPr>
            <p:cNvPr id="112" name="모서리가 둥근 직사각형 111"/>
            <p:cNvSpPr/>
            <p:nvPr/>
          </p:nvSpPr>
          <p:spPr>
            <a:xfrm>
              <a:off x="323530" y="1799999"/>
              <a:ext cx="720000" cy="576000"/>
            </a:xfrm>
            <a:prstGeom prst="roundRect">
              <a:avLst>
                <a:gd name="adj" fmla="val 5025"/>
              </a:avLst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  <a:effectLst>
              <a:outerShdw blurRad="12700" dist="12700" dir="2700000" algn="tl" rotWithShape="0">
                <a:schemeClr val="tx1">
                  <a:lumMod val="75000"/>
                  <a:lumOff val="25000"/>
                  <a:alpha val="5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18000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ko-KR" altLang="en-US" sz="70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자동 결품 배치</a:t>
              </a:r>
              <a:endParaRPr lang="en-US" altLang="ko-KR" sz="7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endParaRPr>
            </a:p>
            <a:p>
              <a:pPr algn="ctr"/>
              <a:r>
                <a:rPr lang="en-US" altLang="ko-KR" sz="70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(</a:t>
              </a:r>
              <a:r>
                <a:rPr lang="ko-KR" altLang="en-US" sz="70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주문 취소</a:t>
              </a:r>
              <a:r>
                <a:rPr lang="en-US" altLang="ko-KR" sz="70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)</a:t>
              </a:r>
              <a:endParaRPr lang="ko-KR" altLang="en-US" sz="7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113" name="모서리가 둥근 직사각형 112"/>
            <p:cNvSpPr/>
            <p:nvPr/>
          </p:nvSpPr>
          <p:spPr>
            <a:xfrm>
              <a:off x="323530" y="1799999"/>
              <a:ext cx="720000" cy="180000"/>
            </a:xfrm>
            <a:prstGeom prst="roundRect">
              <a:avLst/>
            </a:prstGeom>
            <a:solidFill>
              <a:srgbClr val="C00000"/>
            </a:solidFill>
            <a:ln w="3175">
              <a:solidFill>
                <a:schemeClr val="bg1">
                  <a:lumMod val="75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altLang="ko-KR" sz="700" smtClean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LFmall</a:t>
              </a:r>
              <a:endParaRPr lang="ko-KR" altLang="en-US" sz="70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grpSp>
        <p:nvGrpSpPr>
          <p:cNvPr id="117" name="그룹 116"/>
          <p:cNvGrpSpPr/>
          <p:nvPr/>
        </p:nvGrpSpPr>
        <p:grpSpPr>
          <a:xfrm>
            <a:off x="9322194" y="3568002"/>
            <a:ext cx="720000" cy="576000"/>
            <a:chOff x="323530" y="1799999"/>
            <a:chExt cx="720000" cy="576000"/>
          </a:xfrm>
        </p:grpSpPr>
        <p:sp>
          <p:nvSpPr>
            <p:cNvPr id="118" name="모서리가 둥근 직사각형 117"/>
            <p:cNvSpPr/>
            <p:nvPr/>
          </p:nvSpPr>
          <p:spPr>
            <a:xfrm>
              <a:off x="323530" y="1799999"/>
              <a:ext cx="720000" cy="576000"/>
            </a:xfrm>
            <a:prstGeom prst="roundRect">
              <a:avLst>
                <a:gd name="adj" fmla="val 5025"/>
              </a:avLst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  <a:effectLst>
              <a:outerShdw blurRad="12700" dist="12700" dir="2700000" algn="tl" rotWithShape="0">
                <a:schemeClr val="tx1">
                  <a:lumMod val="75000"/>
                  <a:lumOff val="25000"/>
                  <a:alpha val="5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18000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ko-KR" altLang="en-US" sz="70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물류센터</a:t>
              </a:r>
              <a:endParaRPr lang="en-US" altLang="ko-KR" sz="7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endParaRPr>
            </a:p>
            <a:p>
              <a:pPr algn="ctr"/>
              <a:r>
                <a:rPr lang="ko-KR" altLang="en-US" sz="70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반품 확보</a:t>
              </a:r>
              <a:endParaRPr lang="ko-KR" altLang="en-US" sz="7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119" name="모서리가 둥근 직사각형 118"/>
            <p:cNvSpPr/>
            <p:nvPr/>
          </p:nvSpPr>
          <p:spPr>
            <a:xfrm>
              <a:off x="323530" y="1799999"/>
              <a:ext cx="720000" cy="180000"/>
            </a:xfrm>
            <a:prstGeom prst="roundRect">
              <a:avLst/>
            </a:prstGeom>
            <a:solidFill>
              <a:srgbClr val="7030A0"/>
            </a:solidFill>
            <a:ln w="3175">
              <a:solidFill>
                <a:schemeClr val="bg1">
                  <a:lumMod val="75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altLang="ko-KR" sz="700">
                  <a:solidFill>
                    <a:schemeClr val="bg1"/>
                  </a:solidFill>
                  <a:latin typeface="맑은 고딕" panose="020B0503020000020004" pitchFamily="50" charset="-127"/>
                </a:rPr>
                <a:t>Operation</a:t>
              </a:r>
              <a:endParaRPr lang="ko-KR" altLang="en-US" sz="700" dirty="0">
                <a:solidFill>
                  <a:schemeClr val="bg1"/>
                </a:solidFill>
                <a:latin typeface="맑은 고딕" panose="020B0503020000020004" pitchFamily="50" charset="-127"/>
              </a:endParaRPr>
            </a:p>
          </p:txBody>
        </p:sp>
      </p:grpSp>
      <p:cxnSp>
        <p:nvCxnSpPr>
          <p:cNvPr id="120" name="직선 화살표 연결선 119"/>
          <p:cNvCxnSpPr>
            <a:stCxn id="59" idx="3"/>
            <a:endCxn id="118" idx="1"/>
          </p:cNvCxnSpPr>
          <p:nvPr/>
        </p:nvCxnSpPr>
        <p:spPr>
          <a:xfrm>
            <a:off x="9142366" y="3856002"/>
            <a:ext cx="179828" cy="0"/>
          </a:xfrm>
          <a:prstGeom prst="straightConnector1">
            <a:avLst/>
          </a:prstGeom>
          <a:ln w="3175">
            <a:solidFill>
              <a:schemeClr val="bg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6" name="다이아몬드 125"/>
          <p:cNvSpPr/>
          <p:nvPr/>
        </p:nvSpPr>
        <p:spPr>
          <a:xfrm>
            <a:off x="10222022" y="3568002"/>
            <a:ext cx="720000" cy="576000"/>
          </a:xfrm>
          <a:prstGeom prst="diamond">
            <a:avLst/>
          </a:prstGeom>
          <a:solidFill>
            <a:schemeClr val="accent2">
              <a:lumMod val="20000"/>
              <a:lumOff val="8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7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출고</a:t>
            </a:r>
            <a:endParaRPr lang="en-US" altLang="ko-KR" sz="700" smtClean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ctr"/>
            <a:r>
              <a:rPr lang="ko-KR" altLang="en-US" sz="7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처리</a:t>
            </a:r>
            <a:endParaRPr lang="ko-KR" altLang="en-US" sz="70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27" name="TextBox 126"/>
          <p:cNvSpPr txBox="1"/>
          <p:nvPr/>
        </p:nvSpPr>
        <p:spPr>
          <a:xfrm>
            <a:off x="10582022" y="3450999"/>
            <a:ext cx="135221" cy="123111"/>
          </a:xfrm>
          <a:prstGeom prst="rect">
            <a:avLst/>
          </a:prstGeom>
          <a:noFill/>
        </p:spPr>
        <p:txBody>
          <a:bodyPr wrap="none" lIns="36000" tIns="0" rIns="36000" bIns="0" rtlCol="0" anchor="ctr">
            <a:spAutoFit/>
          </a:bodyPr>
          <a:lstStyle/>
          <a:p>
            <a:r>
              <a:rPr lang="en-US" altLang="ko-KR" sz="800" b="1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Y</a:t>
            </a:r>
            <a:endParaRPr lang="ko-KR" altLang="en-US" sz="800" b="1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28" name="TextBox 127"/>
          <p:cNvSpPr txBox="1"/>
          <p:nvPr/>
        </p:nvSpPr>
        <p:spPr>
          <a:xfrm>
            <a:off x="10582022" y="4137894"/>
            <a:ext cx="154457" cy="123111"/>
          </a:xfrm>
          <a:prstGeom prst="rect">
            <a:avLst/>
          </a:prstGeom>
          <a:noFill/>
        </p:spPr>
        <p:txBody>
          <a:bodyPr wrap="none" lIns="36000" tIns="0" rIns="36000" bIns="0" rtlCol="0" anchor="ctr">
            <a:spAutoFit/>
          </a:bodyPr>
          <a:lstStyle>
            <a:defPPr>
              <a:defRPr lang="ko-KR"/>
            </a:defPPr>
            <a:lvl1pPr>
              <a:defRPr sz="800" b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en-US" altLang="ko-KR"/>
              <a:t>N</a:t>
            </a:r>
            <a:endParaRPr lang="ko-KR" altLang="en-US" dirty="0"/>
          </a:p>
        </p:txBody>
      </p:sp>
      <p:grpSp>
        <p:nvGrpSpPr>
          <p:cNvPr id="130" name="그룹 129"/>
          <p:cNvGrpSpPr/>
          <p:nvPr/>
        </p:nvGrpSpPr>
        <p:grpSpPr>
          <a:xfrm>
            <a:off x="10222022" y="2812002"/>
            <a:ext cx="720000" cy="576000"/>
            <a:chOff x="323530" y="1799999"/>
            <a:chExt cx="720000" cy="576000"/>
          </a:xfrm>
        </p:grpSpPr>
        <p:sp>
          <p:nvSpPr>
            <p:cNvPr id="131" name="모서리가 둥근 직사각형 130"/>
            <p:cNvSpPr/>
            <p:nvPr/>
          </p:nvSpPr>
          <p:spPr>
            <a:xfrm>
              <a:off x="323530" y="1799999"/>
              <a:ext cx="720000" cy="576000"/>
            </a:xfrm>
            <a:prstGeom prst="roundRect">
              <a:avLst>
                <a:gd name="adj" fmla="val 5025"/>
              </a:avLst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  <a:effectLst>
              <a:outerShdw blurRad="12700" dist="12700" dir="2700000" algn="tl" rotWithShape="0">
                <a:schemeClr val="tx1">
                  <a:lumMod val="75000"/>
                  <a:lumOff val="25000"/>
                  <a:alpha val="5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18000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ko-KR" altLang="en-US" sz="70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출고처</a:t>
              </a:r>
              <a:endParaRPr lang="en-US" altLang="ko-KR" sz="7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endParaRPr>
            </a:p>
            <a:p>
              <a:pPr algn="ctr"/>
              <a:r>
                <a:rPr lang="ko-KR" altLang="en-US" sz="70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지정</a:t>
              </a:r>
              <a:endParaRPr lang="ko-KR" altLang="en-US" sz="7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132" name="모서리가 둥근 직사각형 131"/>
            <p:cNvSpPr/>
            <p:nvPr/>
          </p:nvSpPr>
          <p:spPr>
            <a:xfrm>
              <a:off x="323530" y="1799999"/>
              <a:ext cx="720000" cy="180000"/>
            </a:xfrm>
            <a:prstGeom prst="roundRect">
              <a:avLst/>
            </a:prstGeom>
            <a:solidFill>
              <a:schemeClr val="accent5">
                <a:lumMod val="50000"/>
              </a:schemeClr>
            </a:solidFill>
            <a:ln w="3175">
              <a:solidFill>
                <a:schemeClr val="bg1">
                  <a:lumMod val="75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altLang="ko-KR" sz="700" smtClean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OMS</a:t>
              </a:r>
              <a:endParaRPr lang="ko-KR" altLang="en-US" sz="70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cxnSp>
        <p:nvCxnSpPr>
          <p:cNvPr id="146" name="직선 화살표 연결선 145"/>
          <p:cNvCxnSpPr>
            <a:stCxn id="118" idx="3"/>
            <a:endCxn id="126" idx="1"/>
          </p:cNvCxnSpPr>
          <p:nvPr/>
        </p:nvCxnSpPr>
        <p:spPr>
          <a:xfrm>
            <a:off x="10042194" y="3856002"/>
            <a:ext cx="179828" cy="0"/>
          </a:xfrm>
          <a:prstGeom prst="straightConnector1">
            <a:avLst/>
          </a:prstGeom>
          <a:ln w="3175">
            <a:solidFill>
              <a:schemeClr val="bg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" name="꺾인 연결선 148"/>
          <p:cNvCxnSpPr>
            <a:stCxn id="132" idx="0"/>
            <a:endCxn id="174" idx="1"/>
          </p:cNvCxnSpPr>
          <p:nvPr/>
        </p:nvCxnSpPr>
        <p:spPr>
          <a:xfrm rot="5400000" flipH="1" flipV="1">
            <a:off x="10619569" y="2307029"/>
            <a:ext cx="467426" cy="542520"/>
          </a:xfrm>
          <a:prstGeom prst="bentConnector2">
            <a:avLst/>
          </a:prstGeom>
          <a:ln w="3175">
            <a:solidFill>
              <a:schemeClr val="bg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73" name="그룹 172"/>
          <p:cNvGrpSpPr/>
          <p:nvPr/>
        </p:nvGrpSpPr>
        <p:grpSpPr>
          <a:xfrm>
            <a:off x="11124542" y="2056576"/>
            <a:ext cx="720000" cy="576000"/>
            <a:chOff x="323530" y="1799999"/>
            <a:chExt cx="720000" cy="576000"/>
          </a:xfrm>
        </p:grpSpPr>
        <p:sp>
          <p:nvSpPr>
            <p:cNvPr id="174" name="모서리가 둥근 직사각형 173"/>
            <p:cNvSpPr/>
            <p:nvPr/>
          </p:nvSpPr>
          <p:spPr>
            <a:xfrm>
              <a:off x="323530" y="1799999"/>
              <a:ext cx="720000" cy="576000"/>
            </a:xfrm>
            <a:prstGeom prst="roundRect">
              <a:avLst>
                <a:gd name="adj" fmla="val 5025"/>
              </a:avLst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  <a:effectLst>
              <a:outerShdw blurRad="12700" dist="12700" dir="2700000" algn="tl" rotWithShape="0">
                <a:schemeClr val="tx1">
                  <a:lumMod val="75000"/>
                  <a:lumOff val="25000"/>
                  <a:alpha val="5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18000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altLang="ko-KR" sz="70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CJ</a:t>
              </a:r>
              <a:r>
                <a:rPr lang="ko-KR" altLang="en-US" sz="70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대한통운</a:t>
              </a:r>
              <a:endParaRPr lang="en-US" altLang="ko-KR" sz="7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endParaRPr>
            </a:p>
            <a:p>
              <a:pPr algn="ctr"/>
              <a:r>
                <a:rPr lang="ko-KR" altLang="en-US" sz="70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배</a:t>
              </a:r>
              <a:r>
                <a:rPr lang="ko-KR" altLang="en-US" sz="70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송</a:t>
              </a:r>
              <a:endParaRPr lang="ko-KR" altLang="en-US" sz="7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175" name="모서리가 둥근 직사각형 174"/>
            <p:cNvSpPr/>
            <p:nvPr/>
          </p:nvSpPr>
          <p:spPr>
            <a:xfrm>
              <a:off x="323530" y="1799999"/>
              <a:ext cx="720000" cy="180000"/>
            </a:xfrm>
            <a:prstGeom prst="roundRect">
              <a:avLst/>
            </a:prstGeom>
            <a:solidFill>
              <a:srgbClr val="7030A0"/>
            </a:solidFill>
            <a:ln w="3175">
              <a:solidFill>
                <a:schemeClr val="bg1">
                  <a:lumMod val="75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altLang="ko-KR" sz="700">
                  <a:solidFill>
                    <a:schemeClr val="bg1"/>
                  </a:solidFill>
                  <a:latin typeface="맑은 고딕" panose="020B0503020000020004" pitchFamily="50" charset="-127"/>
                </a:rPr>
                <a:t>Operation</a:t>
              </a:r>
              <a:endParaRPr lang="ko-KR" altLang="en-US" sz="700" dirty="0">
                <a:solidFill>
                  <a:schemeClr val="bg1"/>
                </a:solidFill>
                <a:latin typeface="맑은 고딕" panose="020B0503020000020004" pitchFamily="50" charset="-127"/>
              </a:endParaRPr>
            </a:p>
          </p:txBody>
        </p:sp>
      </p:grpSp>
      <p:grpSp>
        <p:nvGrpSpPr>
          <p:cNvPr id="279" name="그룹 278"/>
          <p:cNvGrpSpPr/>
          <p:nvPr/>
        </p:nvGrpSpPr>
        <p:grpSpPr>
          <a:xfrm>
            <a:off x="11124542" y="1300576"/>
            <a:ext cx="720000" cy="576000"/>
            <a:chOff x="10142326" y="1300576"/>
            <a:chExt cx="720000" cy="576000"/>
          </a:xfrm>
        </p:grpSpPr>
        <p:sp>
          <p:nvSpPr>
            <p:cNvPr id="181" name="육각형 180"/>
            <p:cNvSpPr/>
            <p:nvPr/>
          </p:nvSpPr>
          <p:spPr>
            <a:xfrm>
              <a:off x="10142326" y="1300576"/>
              <a:ext cx="720000" cy="576000"/>
            </a:xfrm>
            <a:prstGeom prst="hexagon">
              <a:avLst/>
            </a:prstGeom>
            <a:solidFill>
              <a:schemeClr val="bg1">
                <a:lumMod val="85000"/>
              </a:schemeClr>
            </a:solidFill>
            <a:ln w="3175">
              <a:solidFill>
                <a:schemeClr val="bg1">
                  <a:lumMod val="75000"/>
                </a:schemeClr>
              </a:solidFill>
            </a:ln>
            <a:effectLst>
              <a:outerShdw blurRad="12700" dist="12700" dir="2700000" algn="tl" rotWithShape="0">
                <a:schemeClr val="tx1">
                  <a:lumMod val="75000"/>
                  <a:lumOff val="25000"/>
                  <a:alpha val="5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18000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7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12" name="타원 11"/>
            <p:cNvSpPr/>
            <p:nvPr/>
          </p:nvSpPr>
          <p:spPr>
            <a:xfrm>
              <a:off x="10250326" y="1336576"/>
              <a:ext cx="504000" cy="504000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 w="3175">
              <a:noFill/>
            </a:ln>
            <a:effectLst>
              <a:outerShdw blurRad="25400" dist="25400" dir="2700000" algn="tl" rotWithShape="0">
                <a:schemeClr val="tx1">
                  <a:lumMod val="75000"/>
                  <a:lumOff val="25000"/>
                  <a:alpha val="5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700" smtClean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배송중</a:t>
              </a:r>
              <a:endParaRPr lang="ko-KR" altLang="en-US" sz="70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cxnSp>
        <p:nvCxnSpPr>
          <p:cNvPr id="184" name="직선 연결선 183"/>
          <p:cNvCxnSpPr/>
          <p:nvPr/>
        </p:nvCxnSpPr>
        <p:spPr>
          <a:xfrm>
            <a:off x="323906" y="1300576"/>
            <a:ext cx="0" cy="4860000"/>
          </a:xfrm>
          <a:prstGeom prst="line">
            <a:avLst/>
          </a:prstGeom>
          <a:ln>
            <a:solidFill>
              <a:schemeClr val="accent2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5" name="직선 연결선 184"/>
          <p:cNvCxnSpPr/>
          <p:nvPr/>
        </p:nvCxnSpPr>
        <p:spPr>
          <a:xfrm>
            <a:off x="1943656" y="1300576"/>
            <a:ext cx="0" cy="4860000"/>
          </a:xfrm>
          <a:prstGeom prst="line">
            <a:avLst/>
          </a:prstGeom>
          <a:ln>
            <a:solidFill>
              <a:schemeClr val="accent2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7" name="직선 화살표 연결선 186"/>
          <p:cNvCxnSpPr/>
          <p:nvPr/>
        </p:nvCxnSpPr>
        <p:spPr>
          <a:xfrm>
            <a:off x="323906" y="5655433"/>
            <a:ext cx="1620000" cy="0"/>
          </a:xfrm>
          <a:prstGeom prst="straightConnector1">
            <a:avLst/>
          </a:prstGeom>
          <a:ln>
            <a:solidFill>
              <a:schemeClr val="accent2"/>
            </a:solidFill>
            <a:prstDash val="lgDash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8" name="TextBox 187"/>
          <p:cNvSpPr txBox="1"/>
          <p:nvPr/>
        </p:nvSpPr>
        <p:spPr>
          <a:xfrm>
            <a:off x="666347" y="5835433"/>
            <a:ext cx="935119" cy="211203"/>
          </a:xfrm>
          <a:prstGeom prst="rect">
            <a:avLst/>
          </a:prstGeom>
          <a:noFill/>
        </p:spPr>
        <p:txBody>
          <a:bodyPr wrap="none" lIns="36000" tIns="36000" rIns="36000" bIns="36000" rtlCol="0" anchor="ctr">
            <a:spAutoFit/>
          </a:bodyPr>
          <a:lstStyle/>
          <a:p>
            <a:pPr algn="ctr"/>
            <a:r>
              <a:rPr lang="en-US" altLang="ko-KR" sz="900" b="1" smtClean="0">
                <a:solidFill>
                  <a:schemeClr val="accent2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D+0 (</a:t>
            </a:r>
            <a:r>
              <a:rPr lang="ko-KR" altLang="en-US" sz="900" b="1" smtClean="0">
                <a:solidFill>
                  <a:schemeClr val="accent2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당일 수행</a:t>
            </a:r>
            <a:r>
              <a:rPr lang="en-US" altLang="ko-KR" sz="900" b="1" smtClean="0">
                <a:solidFill>
                  <a:schemeClr val="accent2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endParaRPr lang="ko-KR" altLang="en-US" sz="900" b="1" dirty="0">
              <a:solidFill>
                <a:schemeClr val="accent2">
                  <a:lumMod val="7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189" name="직선 연결선 188"/>
          <p:cNvCxnSpPr/>
          <p:nvPr/>
        </p:nvCxnSpPr>
        <p:spPr>
          <a:xfrm>
            <a:off x="4643226" y="1300576"/>
            <a:ext cx="0" cy="4860000"/>
          </a:xfrm>
          <a:prstGeom prst="line">
            <a:avLst/>
          </a:prstGeom>
          <a:ln>
            <a:solidFill>
              <a:schemeClr val="accent2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0" name="직선 화살표 연결선 189"/>
          <p:cNvCxnSpPr/>
          <p:nvPr/>
        </p:nvCxnSpPr>
        <p:spPr>
          <a:xfrm>
            <a:off x="1943656" y="5655433"/>
            <a:ext cx="2699484" cy="0"/>
          </a:xfrm>
          <a:prstGeom prst="straightConnector1">
            <a:avLst/>
          </a:prstGeom>
          <a:ln>
            <a:solidFill>
              <a:schemeClr val="accent2"/>
            </a:solidFill>
            <a:prstDash val="lgDash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1" name="TextBox 190"/>
          <p:cNvSpPr txBox="1"/>
          <p:nvPr/>
        </p:nvSpPr>
        <p:spPr>
          <a:xfrm>
            <a:off x="2405050" y="5835433"/>
            <a:ext cx="1776696" cy="211203"/>
          </a:xfrm>
          <a:prstGeom prst="rect">
            <a:avLst/>
          </a:prstGeom>
          <a:noFill/>
        </p:spPr>
        <p:txBody>
          <a:bodyPr wrap="none" lIns="36000" tIns="36000" rIns="36000" bIns="36000" rtlCol="0" anchor="ctr">
            <a:spAutoFit/>
          </a:bodyPr>
          <a:lstStyle/>
          <a:p>
            <a:pPr algn="ctr"/>
            <a:r>
              <a:rPr lang="en-US" altLang="ko-KR" sz="900" b="1" smtClean="0">
                <a:solidFill>
                  <a:schemeClr val="accent2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D+1</a:t>
            </a:r>
            <a:r>
              <a:rPr lang="ko-KR" altLang="en-US" sz="900" b="1" smtClean="0">
                <a:solidFill>
                  <a:schemeClr val="accent2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900" b="1" smtClean="0">
                <a:solidFill>
                  <a:schemeClr val="accent2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(24:00 </a:t>
            </a:r>
            <a:r>
              <a:rPr lang="ko-KR" altLang="en-US" sz="900" b="1" smtClean="0">
                <a:solidFill>
                  <a:schemeClr val="accent2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까지 리드타임 제공</a:t>
            </a:r>
            <a:r>
              <a:rPr lang="en-US" altLang="ko-KR" sz="900" b="1" smtClean="0">
                <a:solidFill>
                  <a:schemeClr val="accent2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endParaRPr lang="ko-KR" altLang="en-US" sz="900" b="1" dirty="0">
              <a:solidFill>
                <a:schemeClr val="accent2">
                  <a:lumMod val="7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193" name="직선 연결선 192"/>
          <p:cNvCxnSpPr/>
          <p:nvPr/>
        </p:nvCxnSpPr>
        <p:spPr>
          <a:xfrm>
            <a:off x="8242539" y="1300576"/>
            <a:ext cx="0" cy="4860000"/>
          </a:xfrm>
          <a:prstGeom prst="line">
            <a:avLst/>
          </a:prstGeom>
          <a:ln>
            <a:solidFill>
              <a:schemeClr val="accent2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4" name="직선 화살표 연결선 193"/>
          <p:cNvCxnSpPr/>
          <p:nvPr/>
        </p:nvCxnSpPr>
        <p:spPr>
          <a:xfrm>
            <a:off x="4643140" y="5655433"/>
            <a:ext cx="3599312" cy="0"/>
          </a:xfrm>
          <a:prstGeom prst="straightConnector1">
            <a:avLst/>
          </a:prstGeom>
          <a:ln>
            <a:solidFill>
              <a:schemeClr val="accent2"/>
            </a:solidFill>
            <a:prstDash val="lgDash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5" name="TextBox 194"/>
          <p:cNvSpPr txBox="1"/>
          <p:nvPr/>
        </p:nvSpPr>
        <p:spPr>
          <a:xfrm>
            <a:off x="5554448" y="5835433"/>
            <a:ext cx="1776696" cy="211203"/>
          </a:xfrm>
          <a:prstGeom prst="rect">
            <a:avLst/>
          </a:prstGeom>
          <a:noFill/>
        </p:spPr>
        <p:txBody>
          <a:bodyPr wrap="none" lIns="36000" tIns="36000" rIns="36000" bIns="36000" rtlCol="0" anchor="ctr">
            <a:spAutoFit/>
          </a:bodyPr>
          <a:lstStyle/>
          <a:p>
            <a:pPr algn="ctr"/>
            <a:r>
              <a:rPr lang="en-US" altLang="ko-KR" sz="900" b="1" smtClean="0">
                <a:solidFill>
                  <a:schemeClr val="accent2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D+2</a:t>
            </a:r>
            <a:r>
              <a:rPr lang="ko-KR" altLang="en-US" sz="900" b="1" smtClean="0">
                <a:solidFill>
                  <a:schemeClr val="accent2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900" b="1" smtClean="0">
                <a:solidFill>
                  <a:schemeClr val="accent2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(24:00 </a:t>
            </a:r>
            <a:r>
              <a:rPr lang="ko-KR" altLang="en-US" sz="900" b="1" smtClean="0">
                <a:solidFill>
                  <a:schemeClr val="accent2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까지 리드타임 제공</a:t>
            </a:r>
            <a:r>
              <a:rPr lang="en-US" altLang="ko-KR" sz="900" b="1" smtClean="0">
                <a:solidFill>
                  <a:schemeClr val="accent2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endParaRPr lang="ko-KR" altLang="en-US" sz="900" b="1" dirty="0">
              <a:solidFill>
                <a:schemeClr val="accent2">
                  <a:lumMod val="7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269" name="직선 화살표 연결선 268"/>
          <p:cNvCxnSpPr>
            <a:stCxn id="126" idx="0"/>
            <a:endCxn id="131" idx="2"/>
          </p:cNvCxnSpPr>
          <p:nvPr/>
        </p:nvCxnSpPr>
        <p:spPr>
          <a:xfrm flipV="1">
            <a:off x="10582022" y="3388002"/>
            <a:ext cx="0" cy="180000"/>
          </a:xfrm>
          <a:prstGeom prst="straightConnector1">
            <a:avLst/>
          </a:prstGeom>
          <a:ln w="3175">
            <a:solidFill>
              <a:schemeClr val="bg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3" name="직선 화살표 연결선 272"/>
          <p:cNvCxnSpPr>
            <a:stCxn id="105" idx="3"/>
            <a:endCxn id="290" idx="1"/>
          </p:cNvCxnSpPr>
          <p:nvPr/>
        </p:nvCxnSpPr>
        <p:spPr>
          <a:xfrm>
            <a:off x="9142366" y="5367433"/>
            <a:ext cx="1079320" cy="0"/>
          </a:xfrm>
          <a:prstGeom prst="straightConnector1">
            <a:avLst/>
          </a:prstGeom>
          <a:ln w="3175">
            <a:solidFill>
              <a:schemeClr val="bg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6" name="직선 화살표 연결선 275"/>
          <p:cNvCxnSpPr>
            <a:stCxn id="126" idx="2"/>
            <a:endCxn id="291" idx="0"/>
          </p:cNvCxnSpPr>
          <p:nvPr/>
        </p:nvCxnSpPr>
        <p:spPr>
          <a:xfrm flipH="1">
            <a:off x="10581686" y="4144002"/>
            <a:ext cx="336" cy="935431"/>
          </a:xfrm>
          <a:prstGeom prst="straightConnector1">
            <a:avLst/>
          </a:prstGeom>
          <a:ln w="3175">
            <a:solidFill>
              <a:schemeClr val="bg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8" name="TextBox 287"/>
          <p:cNvSpPr txBox="1"/>
          <p:nvPr/>
        </p:nvSpPr>
        <p:spPr>
          <a:xfrm>
            <a:off x="11136406" y="5835433"/>
            <a:ext cx="696272" cy="211203"/>
          </a:xfrm>
          <a:prstGeom prst="rect">
            <a:avLst/>
          </a:prstGeom>
          <a:noFill/>
        </p:spPr>
        <p:txBody>
          <a:bodyPr wrap="none" lIns="36000" tIns="36000" rIns="36000" bIns="36000" rtlCol="0" anchor="ctr">
            <a:spAutoFit/>
          </a:bodyPr>
          <a:lstStyle/>
          <a:p>
            <a:pPr algn="ctr"/>
            <a:r>
              <a:rPr lang="en-US" altLang="ko-KR" sz="900" b="1" smtClean="0">
                <a:solidFill>
                  <a:schemeClr val="accent2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D+3</a:t>
            </a:r>
            <a:r>
              <a:rPr lang="ko-KR" altLang="en-US" sz="900" b="1" smtClean="0">
                <a:solidFill>
                  <a:schemeClr val="accent2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영업일</a:t>
            </a:r>
            <a:endParaRPr lang="ko-KR" altLang="en-US" sz="900" b="1" dirty="0">
              <a:solidFill>
                <a:schemeClr val="accent2">
                  <a:lumMod val="7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289" name="그룹 288"/>
          <p:cNvGrpSpPr/>
          <p:nvPr/>
        </p:nvGrpSpPr>
        <p:grpSpPr>
          <a:xfrm>
            <a:off x="10221686" y="5079433"/>
            <a:ext cx="720000" cy="576000"/>
            <a:chOff x="323530" y="1799999"/>
            <a:chExt cx="720000" cy="576000"/>
          </a:xfrm>
        </p:grpSpPr>
        <p:sp>
          <p:nvSpPr>
            <p:cNvPr id="290" name="모서리가 둥근 직사각형 289"/>
            <p:cNvSpPr/>
            <p:nvPr/>
          </p:nvSpPr>
          <p:spPr>
            <a:xfrm>
              <a:off x="323530" y="1799999"/>
              <a:ext cx="720000" cy="576000"/>
            </a:xfrm>
            <a:prstGeom prst="roundRect">
              <a:avLst>
                <a:gd name="adj" fmla="val 5025"/>
              </a:avLst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  <a:effectLst>
              <a:outerShdw blurRad="12700" dist="12700" dir="2700000" algn="tl" rotWithShape="0">
                <a:schemeClr val="tx1">
                  <a:lumMod val="75000"/>
                  <a:lumOff val="25000"/>
                  <a:alpha val="5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18000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ko-KR" altLang="en-US" sz="70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주문 취소 </a:t>
              </a:r>
              <a:r>
                <a:rPr lang="en-US" altLang="ko-KR" sz="70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API</a:t>
              </a:r>
            </a:p>
            <a:p>
              <a:pPr algn="ctr"/>
              <a:r>
                <a:rPr lang="ko-KR" altLang="en-US" sz="70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호출</a:t>
              </a:r>
              <a:endParaRPr lang="ko-KR" altLang="en-US" sz="7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291" name="모서리가 둥근 직사각형 290"/>
            <p:cNvSpPr/>
            <p:nvPr/>
          </p:nvSpPr>
          <p:spPr>
            <a:xfrm>
              <a:off x="323530" y="1799999"/>
              <a:ext cx="720000" cy="180000"/>
            </a:xfrm>
            <a:prstGeom prst="roundRect">
              <a:avLst/>
            </a:prstGeom>
            <a:solidFill>
              <a:schemeClr val="accent5">
                <a:lumMod val="50000"/>
              </a:schemeClr>
            </a:solidFill>
            <a:ln w="3175">
              <a:solidFill>
                <a:schemeClr val="bg1">
                  <a:lumMod val="75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altLang="ko-KR" sz="700" smtClean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OMS</a:t>
              </a:r>
              <a:endParaRPr lang="ko-KR" altLang="en-US" sz="70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cxnSp>
        <p:nvCxnSpPr>
          <p:cNvPr id="294" name="직선 화살표 연결선 293"/>
          <p:cNvCxnSpPr>
            <a:stCxn id="290" idx="3"/>
            <a:endCxn id="112" idx="1"/>
          </p:cNvCxnSpPr>
          <p:nvPr/>
        </p:nvCxnSpPr>
        <p:spPr>
          <a:xfrm>
            <a:off x="10941686" y="5367433"/>
            <a:ext cx="182856" cy="0"/>
          </a:xfrm>
          <a:prstGeom prst="straightConnector1">
            <a:avLst/>
          </a:prstGeom>
          <a:ln w="3175">
            <a:solidFill>
              <a:schemeClr val="bg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321080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제목 1"/>
          <p:cNvSpPr txBox="1">
            <a:spLocks/>
          </p:cNvSpPr>
          <p:nvPr/>
        </p:nvSpPr>
        <p:spPr>
          <a:xfrm>
            <a:off x="1223906" y="358660"/>
            <a:ext cx="1080000" cy="216000"/>
          </a:xfrm>
          <a:prstGeom prst="rect">
            <a:avLst/>
          </a:prstGeom>
        </p:spPr>
        <p:txBody>
          <a:bodyPr lIns="36000" tIns="36000" rIns="36000" bIns="36000" anchor="ctr"/>
          <a:lstStyle>
            <a:lvl1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2pPr>
            <a:lvl3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3pPr>
            <a:lvl4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4pPr>
            <a:lvl5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5pPr>
            <a:lvl6pPr marL="457212" algn="ctr" rtl="0" fontAlgn="base" latinLnBrk="1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6pPr>
            <a:lvl7pPr marL="914423" algn="ctr" rtl="0" fontAlgn="base" latinLnBrk="1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7pPr>
            <a:lvl8pPr marL="1371634" algn="ctr" rtl="0" fontAlgn="base" latinLnBrk="1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8pPr>
            <a:lvl9pPr marL="1828846" algn="ctr" rtl="0" fontAlgn="base" latinLnBrk="1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r>
              <a:rPr lang="en-US" altLang="ko-KR" sz="800" ker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-</a:t>
            </a:r>
            <a:endParaRPr lang="ko-KR" altLang="en-US" sz="800" kern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" name="제목 1">
            <a:extLst>
              <a:ext uri="{FF2B5EF4-FFF2-40B4-BE49-F238E27FC236}">
                <a16:creationId xmlns:a16="http://schemas.microsoft.com/office/drawing/2014/main" xmlns="" id="{03F65532-A01C-4981-B987-5E15F64E3ABB}"/>
              </a:ext>
            </a:extLst>
          </p:cNvPr>
          <p:cNvSpPr txBox="1">
            <a:spLocks/>
          </p:cNvSpPr>
          <p:nvPr/>
        </p:nvSpPr>
        <p:spPr>
          <a:xfrm>
            <a:off x="3383718" y="142660"/>
            <a:ext cx="4320000" cy="216000"/>
          </a:xfrm>
          <a:prstGeom prst="rect">
            <a:avLst/>
          </a:prstGeom>
        </p:spPr>
        <p:txBody>
          <a:bodyPr lIns="180000" tIns="36000" rIns="180000" bIns="36000" anchor="ctr"/>
          <a:lstStyle>
            <a:lvl1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2pPr>
            <a:lvl3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3pPr>
            <a:lvl4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4pPr>
            <a:lvl5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5pPr>
            <a:lvl6pPr marL="457212" algn="ctr" rtl="0" fontAlgn="base" latinLnBrk="1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6pPr>
            <a:lvl7pPr marL="914423" algn="ctr" rtl="0" fontAlgn="base" latinLnBrk="1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7pPr>
            <a:lvl8pPr marL="1371634" algn="ctr" rtl="0" fontAlgn="base" latinLnBrk="1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8pPr>
            <a:lvl9pPr marL="1828846" algn="ctr" rtl="0" fontAlgn="base" latinLnBrk="1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l"/>
            <a:r>
              <a:rPr lang="ko-KR" altLang="en-US" sz="800" b="1" kern="0" smtClean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상품상세</a:t>
            </a:r>
            <a:endParaRPr lang="ko-KR" altLang="en-US" sz="800" b="1" kern="0" dirty="0">
              <a:solidFill>
                <a:srgbClr val="C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" name="제목 1">
            <a:extLst>
              <a:ext uri="{FF2B5EF4-FFF2-40B4-BE49-F238E27FC236}">
                <a16:creationId xmlns:a16="http://schemas.microsoft.com/office/drawing/2014/main" xmlns="" id="{E2CFB5AD-2840-4821-B288-2284D6C0A05E}"/>
              </a:ext>
            </a:extLst>
          </p:cNvPr>
          <p:cNvSpPr txBox="1">
            <a:spLocks/>
          </p:cNvSpPr>
          <p:nvPr/>
        </p:nvSpPr>
        <p:spPr>
          <a:xfrm>
            <a:off x="3383718" y="358660"/>
            <a:ext cx="4320000" cy="216000"/>
          </a:xfrm>
          <a:prstGeom prst="rect">
            <a:avLst/>
          </a:prstGeom>
        </p:spPr>
        <p:txBody>
          <a:bodyPr lIns="180000" tIns="36000" rIns="180000" bIns="36000" anchor="ctr"/>
          <a:lstStyle>
            <a:lvl1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2pPr>
            <a:lvl3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3pPr>
            <a:lvl4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4pPr>
            <a:lvl5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5pPr>
            <a:lvl6pPr marL="457212" algn="ctr" rtl="0" fontAlgn="base" latinLnBrk="1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6pPr>
            <a:lvl7pPr marL="914423" algn="ctr" rtl="0" fontAlgn="base" latinLnBrk="1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7pPr>
            <a:lvl8pPr marL="1371634" algn="ctr" rtl="0" fontAlgn="base" latinLnBrk="1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8pPr>
            <a:lvl9pPr marL="1828846" algn="ctr" rtl="0" fontAlgn="base" latinLnBrk="1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l"/>
            <a:r>
              <a:rPr lang="en-US" altLang="ko-KR" sz="800" ker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https://m.lfmall.co.kr/app/product</a:t>
            </a:r>
            <a:r>
              <a:rPr lang="en-US" altLang="ko-KR" sz="800" kern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/</a:t>
            </a:r>
            <a:r>
              <a:rPr lang="ko-KR" altLang="en-US" sz="800" kern="0" smtClean="0">
                <a:solidFill>
                  <a:srgbClr val="C00000"/>
                </a:solidFill>
                <a:latin typeface="맑은 고딕" panose="020B0503020000020004" pitchFamily="50" charset="-127"/>
              </a:rPr>
              <a:t>코드</a:t>
            </a:r>
            <a:endParaRPr lang="ko-KR" altLang="en-US" sz="800" kern="0" dirty="0">
              <a:solidFill>
                <a:srgbClr val="C00000"/>
              </a:solidFill>
              <a:latin typeface="맑은 고딕" panose="020B0503020000020004" pitchFamily="50" charset="-127"/>
            </a:endParaRPr>
          </a:p>
        </p:txBody>
      </p:sp>
      <p:sp>
        <p:nvSpPr>
          <p:cNvPr id="10" name="제목 1"/>
          <p:cNvSpPr txBox="1">
            <a:spLocks/>
          </p:cNvSpPr>
          <p:nvPr/>
        </p:nvSpPr>
        <p:spPr>
          <a:xfrm>
            <a:off x="1223906" y="142660"/>
            <a:ext cx="1080000" cy="216000"/>
          </a:xfrm>
          <a:prstGeom prst="rect">
            <a:avLst/>
          </a:prstGeom>
        </p:spPr>
        <p:txBody>
          <a:bodyPr lIns="36000" tIns="36000" rIns="36000" bIns="36000" anchor="ctr"/>
          <a:lstStyle>
            <a:lvl1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2pPr>
            <a:lvl3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3pPr>
            <a:lvl4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4pPr>
            <a:lvl5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5pPr>
            <a:lvl6pPr marL="457212" algn="ctr" rtl="0" fontAlgn="base" latinLnBrk="1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6pPr>
            <a:lvl7pPr marL="914423" algn="ctr" rtl="0" fontAlgn="base" latinLnBrk="1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7pPr>
            <a:lvl8pPr marL="1371634" algn="ctr" rtl="0" fontAlgn="base" latinLnBrk="1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8pPr>
            <a:lvl9pPr marL="1828846" algn="ctr" rtl="0" fontAlgn="base" latinLnBrk="1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r>
              <a:rPr lang="en-US" altLang="ko-KR" sz="800" kern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Front-End</a:t>
            </a:r>
            <a:endParaRPr lang="ko-KR" altLang="en-US" sz="800" kern="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11" name="Group 118">
            <a:extLst>
              <a:ext uri="{FF2B5EF4-FFF2-40B4-BE49-F238E27FC236}">
                <a16:creationId xmlns:a16="http://schemas.microsoft.com/office/drawing/2014/main" xmlns="" id="{41B5A014-BEDB-439E-A302-DBCECEC856B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98773868"/>
              </p:ext>
            </p:extLst>
          </p:nvPr>
        </p:nvGraphicFramePr>
        <p:xfrm>
          <a:off x="9647906" y="709700"/>
          <a:ext cx="2376000" cy="2597568"/>
        </p:xfrm>
        <a:graphic>
          <a:graphicData uri="http://schemas.openxmlformats.org/drawingml/2006/table">
            <a:tbl>
              <a:tblPr/>
              <a:tblGrid>
                <a:gridCol w="21600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21600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2520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 Semilight" panose="020B0502040204020203" pitchFamily="50" charset="-127"/>
                        </a:rPr>
                        <a:t>No</a:t>
                      </a:r>
                    </a:p>
                  </a:txBody>
                  <a:tcPr marL="42203" marR="42203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en-US" altLang="ko-KR" sz="700" b="0" baseline="0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 Semilight" panose="020B0502040204020203" pitchFamily="50" charset="-127"/>
                        </a:rPr>
                        <a:t>Description</a:t>
                      </a:r>
                    </a:p>
                  </a:txBody>
                  <a:tcPr marL="108000" marR="108000" marT="36000" marB="3600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 Semilight" panose="020B0502040204020203" pitchFamily="50" charset="-127"/>
                        </a:rPr>
                        <a:t>1</a:t>
                      </a:r>
                    </a:p>
                  </a:txBody>
                  <a:tcPr marL="42203" marR="42203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ko-KR" altLang="en-US" sz="700" b="0" baseline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 Semilight" panose="020B0502040204020203" pitchFamily="50" charset="-127"/>
                        </a:rPr>
                        <a:t>상단 영역 변경사항 없음</a:t>
                      </a:r>
                      <a:endParaRPr lang="en-US" altLang="ko-KR" sz="700" b="0" baseline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108000" marR="108000" marT="36000" marB="3600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 Semilight" panose="020B0502040204020203" pitchFamily="50" charset="-127"/>
                        </a:rPr>
                        <a:t>2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42203" marR="42203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ko-KR" altLang="en-US" sz="700" b="0" baseline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  <a:cs typeface="Malgun Gothic Semilight" panose="020B0502040204020203" pitchFamily="50" charset="-127"/>
                        </a:rPr>
                        <a:t>옵션 선택 영역</a:t>
                      </a:r>
                      <a:endParaRPr lang="en-US" altLang="ko-KR" sz="700" b="0" baseline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  <a:cs typeface="Malgun Gothic Semilight" panose="020B0502040204020203" pitchFamily="50" charset="-127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en-US" altLang="ko-KR" sz="700" b="0" baseline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  <a:cs typeface="Malgun Gothic Semilight" panose="020B0502040204020203" pitchFamily="50" charset="-127"/>
                        </a:rPr>
                        <a:t> - </a:t>
                      </a:r>
                      <a:r>
                        <a:rPr lang="ko-KR" altLang="en-US" sz="700" b="0" baseline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  <a:cs typeface="Malgun Gothic Semilight" panose="020B0502040204020203" pitchFamily="50" charset="-127"/>
                        </a:rPr>
                        <a:t>사이즈 단위 </a:t>
                      </a:r>
                      <a:r>
                        <a:rPr lang="en-US" altLang="ko-KR" sz="700" b="0" baseline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  <a:cs typeface="Malgun Gothic Semilight" panose="020B0502040204020203" pitchFamily="50" charset="-127"/>
                        </a:rPr>
                        <a:t>‘</a:t>
                      </a:r>
                      <a:r>
                        <a:rPr lang="ko-KR" altLang="en-US" sz="700" b="0" baseline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  <a:cs typeface="Malgun Gothic Semilight" panose="020B0502040204020203" pitchFamily="50" charset="-127"/>
                        </a:rPr>
                        <a:t>비직송매장 재고</a:t>
                      </a:r>
                      <a:r>
                        <a:rPr lang="en-US" altLang="ko-KR" sz="700" b="0" baseline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  <a:cs typeface="Malgun Gothic Semilight" panose="020B0502040204020203" pitchFamily="50" charset="-127"/>
                        </a:rPr>
                        <a:t>’ </a:t>
                      </a:r>
                      <a:r>
                        <a:rPr lang="ko-KR" altLang="en-US" sz="700" b="0" baseline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  <a:cs typeface="Malgun Gothic Semilight" panose="020B0502040204020203" pitchFamily="50" charset="-127"/>
                        </a:rPr>
                        <a:t>만 존재하는 경우</a:t>
                      </a:r>
                      <a:r>
                        <a:rPr lang="en-US" altLang="ko-KR" sz="700" b="0" baseline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  <a:cs typeface="Malgun Gothic Semilight" panose="020B0502040204020203" pitchFamily="50" charset="-127"/>
                        </a:rPr>
                        <a:t>, </a:t>
                      </a:r>
                      <a:r>
                        <a:rPr lang="ko-KR" altLang="en-US" sz="700" b="0" baseline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  <a:cs typeface="Malgun Gothic Semilight" panose="020B0502040204020203" pitchFamily="50" charset="-127"/>
                        </a:rPr>
                        <a:t>매장상품배송 </a:t>
                      </a:r>
                      <a:r>
                        <a:rPr lang="en-US" altLang="ko-KR" sz="700" b="0" baseline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  <a:cs typeface="Malgun Gothic Semilight" panose="020B0502040204020203" pitchFamily="50" charset="-127"/>
                        </a:rPr>
                        <a:t>Flag </a:t>
                      </a:r>
                      <a:r>
                        <a:rPr lang="ko-KR" altLang="en-US" sz="700" b="0" baseline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  <a:cs typeface="Malgun Gothic Semilight" panose="020B0502040204020203" pitchFamily="50" charset="-127"/>
                        </a:rPr>
                        <a:t>와 </a:t>
                      </a:r>
                      <a:r>
                        <a:rPr lang="en-US" altLang="ko-KR" sz="700" b="0" baseline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  <a:cs typeface="Malgun Gothic Semilight" panose="020B0502040204020203" pitchFamily="50" charset="-127"/>
                        </a:rPr>
                        <a:t>Question Mark </a:t>
                      </a:r>
                      <a:r>
                        <a:rPr lang="ko-KR" altLang="en-US" sz="700" b="0" baseline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  <a:cs typeface="Malgun Gothic Semilight" panose="020B0502040204020203" pitchFamily="50" charset="-127"/>
                        </a:rPr>
                        <a:t>표현</a:t>
                      </a:r>
                      <a:endParaRPr lang="en-US" altLang="ko-KR" sz="700" b="0" baseline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  <a:cs typeface="Malgun Gothic Semilight" panose="020B0502040204020203" pitchFamily="50" charset="-127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en-US" altLang="ko-KR" sz="700" b="0" baseline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  <a:cs typeface="Malgun Gothic Semilight" panose="020B0502040204020203" pitchFamily="50" charset="-127"/>
                        </a:rPr>
                        <a:t> - </a:t>
                      </a:r>
                      <a:r>
                        <a:rPr lang="ko-KR" altLang="en-US" sz="700" b="0" baseline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  <a:cs typeface="Malgun Gothic Semilight" panose="020B0502040204020203" pitchFamily="50" charset="-127"/>
                        </a:rPr>
                        <a:t>클릭 시</a:t>
                      </a:r>
                      <a:r>
                        <a:rPr lang="en-US" altLang="ko-KR" sz="700" b="0" baseline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  <a:cs typeface="Malgun Gothic Semilight" panose="020B0502040204020203" pitchFamily="50" charset="-127"/>
                        </a:rPr>
                        <a:t>, </a:t>
                      </a:r>
                      <a:r>
                        <a:rPr lang="ko-KR" altLang="en-US" sz="700" b="0" baseline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  <a:cs typeface="Malgun Gothic Semilight" panose="020B0502040204020203" pitchFamily="50" charset="-127"/>
                        </a:rPr>
                        <a:t>안내 레이어 표현</a:t>
                      </a:r>
                      <a:endParaRPr lang="en-US" altLang="ko-KR" sz="700" b="0" baseline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  <a:cs typeface="Malgun Gothic Semilight" panose="020B0502040204020203" pitchFamily="50" charset="-127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lang="en-US" altLang="ko-KR" sz="700" b="0" baseline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  <a:cs typeface="Malgun Gothic Semilight" panose="020B0502040204020203" pitchFamily="50" charset="-127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en-US" altLang="ko-KR" sz="700" b="0" baseline="0" smtClean="0">
                          <a:solidFill>
                            <a:srgbClr val="C00000"/>
                          </a:solidFill>
                          <a:latin typeface="맑은 고딕" panose="020B0503020000020004" pitchFamily="50" charset="-127"/>
                          <a:ea typeface="+mn-ea"/>
                          <a:cs typeface="Malgun Gothic Semilight" panose="020B0502040204020203" pitchFamily="50" charset="-127"/>
                        </a:rPr>
                        <a:t>※ </a:t>
                      </a:r>
                      <a:r>
                        <a:rPr lang="ko-KR" altLang="en-US" sz="700" b="0" baseline="0" smtClean="0">
                          <a:solidFill>
                            <a:srgbClr val="C00000"/>
                          </a:solidFill>
                          <a:latin typeface="맑은 고딕" panose="020B0503020000020004" pitchFamily="50" charset="-127"/>
                          <a:ea typeface="+mn-ea"/>
                          <a:cs typeface="Malgun Gothic Semilight" panose="020B0502040204020203" pitchFamily="50" charset="-127"/>
                        </a:rPr>
                        <a:t>사이즈 단위 </a:t>
                      </a:r>
                      <a:r>
                        <a:rPr lang="en-US" altLang="ko-KR" sz="700" b="0" baseline="0" smtClean="0">
                          <a:solidFill>
                            <a:srgbClr val="C00000"/>
                          </a:solidFill>
                          <a:latin typeface="맑은 고딕" panose="020B0503020000020004" pitchFamily="50" charset="-127"/>
                          <a:ea typeface="+mn-ea"/>
                          <a:cs typeface="Malgun Gothic Semilight" panose="020B0502040204020203" pitchFamily="50" charset="-127"/>
                        </a:rPr>
                        <a:t>‘</a:t>
                      </a:r>
                      <a:r>
                        <a:rPr lang="ko-KR" altLang="en-US" sz="700" b="0" baseline="0" smtClean="0">
                          <a:solidFill>
                            <a:srgbClr val="C00000"/>
                          </a:solidFill>
                          <a:latin typeface="맑은 고딕" panose="020B0503020000020004" pitchFamily="50" charset="-127"/>
                          <a:ea typeface="+mn-ea"/>
                          <a:cs typeface="Malgun Gothic Semilight" panose="020B0502040204020203" pitchFamily="50" charset="-127"/>
                        </a:rPr>
                        <a:t>물류센터 재고</a:t>
                      </a:r>
                      <a:r>
                        <a:rPr lang="en-US" altLang="ko-KR" sz="700" b="0" baseline="0" smtClean="0">
                          <a:solidFill>
                            <a:srgbClr val="C00000"/>
                          </a:solidFill>
                          <a:latin typeface="맑은 고딕" panose="020B0503020000020004" pitchFamily="50" charset="-127"/>
                          <a:ea typeface="+mn-ea"/>
                          <a:cs typeface="Malgun Gothic Semilight" panose="020B0502040204020203" pitchFamily="50" charset="-127"/>
                        </a:rPr>
                        <a:t>’, ‘</a:t>
                      </a:r>
                      <a:r>
                        <a:rPr lang="ko-KR" altLang="en-US" sz="700" b="0" baseline="0" smtClean="0">
                          <a:solidFill>
                            <a:srgbClr val="C00000"/>
                          </a:solidFill>
                          <a:latin typeface="맑은 고딕" panose="020B0503020000020004" pitchFamily="50" charset="-127"/>
                          <a:ea typeface="+mn-ea"/>
                          <a:cs typeface="Malgun Gothic Semilight" panose="020B0502040204020203" pitchFamily="50" charset="-127"/>
                        </a:rPr>
                        <a:t>직송매장 재고</a:t>
                      </a:r>
                      <a:r>
                        <a:rPr lang="en-US" altLang="ko-KR" sz="700" b="0" baseline="0" smtClean="0">
                          <a:solidFill>
                            <a:srgbClr val="C00000"/>
                          </a:solidFill>
                          <a:latin typeface="맑은 고딕" panose="020B0503020000020004" pitchFamily="50" charset="-127"/>
                          <a:ea typeface="+mn-ea"/>
                          <a:cs typeface="Malgun Gothic Semilight" panose="020B0502040204020203" pitchFamily="50" charset="-127"/>
                        </a:rPr>
                        <a:t>’ </a:t>
                      </a:r>
                      <a:r>
                        <a:rPr lang="ko-KR" altLang="en-US" sz="700" b="0" baseline="0" smtClean="0">
                          <a:solidFill>
                            <a:srgbClr val="C00000"/>
                          </a:solidFill>
                          <a:latin typeface="맑은 고딕" panose="020B0503020000020004" pitchFamily="50" charset="-127"/>
                          <a:ea typeface="+mn-ea"/>
                          <a:cs typeface="Malgun Gothic Semilight" panose="020B0502040204020203" pitchFamily="50" charset="-127"/>
                        </a:rPr>
                        <a:t>가 존재하는 경우 </a:t>
                      </a:r>
                      <a:r>
                        <a:rPr lang="ko-KR" altLang="en-US" sz="700" b="1" u="sng" baseline="0" smtClean="0">
                          <a:solidFill>
                            <a:srgbClr val="C00000"/>
                          </a:solidFill>
                          <a:latin typeface="맑은 고딕" panose="020B0503020000020004" pitchFamily="50" charset="-127"/>
                          <a:ea typeface="+mn-ea"/>
                          <a:cs typeface="Malgun Gothic Semilight" panose="020B0502040204020203" pitchFamily="50" charset="-127"/>
                        </a:rPr>
                        <a:t>기존 로직 및 </a:t>
                      </a:r>
                      <a:r>
                        <a:rPr lang="en-US" altLang="ko-KR" sz="700" b="1" u="sng" baseline="0" smtClean="0">
                          <a:solidFill>
                            <a:srgbClr val="C00000"/>
                          </a:solidFill>
                          <a:latin typeface="맑은 고딕" panose="020B0503020000020004" pitchFamily="50" charset="-127"/>
                          <a:ea typeface="+mn-ea"/>
                          <a:cs typeface="Malgun Gothic Semilight" panose="020B0502040204020203" pitchFamily="50" charset="-127"/>
                        </a:rPr>
                        <a:t>UI/UX </a:t>
                      </a:r>
                      <a:r>
                        <a:rPr lang="ko-KR" altLang="en-US" sz="700" b="1" u="sng" baseline="0" smtClean="0">
                          <a:solidFill>
                            <a:srgbClr val="C00000"/>
                          </a:solidFill>
                          <a:latin typeface="맑은 고딕" panose="020B0503020000020004" pitchFamily="50" charset="-127"/>
                          <a:ea typeface="+mn-ea"/>
                          <a:cs typeface="Malgun Gothic Semilight" panose="020B0502040204020203" pitchFamily="50" charset="-127"/>
                        </a:rPr>
                        <a:t>유지</a:t>
                      </a:r>
                      <a:endParaRPr lang="en-US" altLang="ko-KR" sz="700" b="1" u="sng" baseline="0" smtClean="0">
                        <a:solidFill>
                          <a:srgbClr val="C00000"/>
                        </a:solidFill>
                        <a:latin typeface="맑은 고딕" panose="020B0503020000020004" pitchFamily="50" charset="-127"/>
                        <a:ea typeface="+mn-ea"/>
                        <a:cs typeface="Malgun Gothic Semilight" panose="020B0502040204020203" pitchFamily="50" charset="-127"/>
                      </a:endParaRPr>
                    </a:p>
                  </a:txBody>
                  <a:tcPr marL="108000" marR="108000" marT="36000" marB="3600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 Semilight" panose="020B0502040204020203" pitchFamily="50" charset="-127"/>
                        </a:rPr>
                        <a:t>3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42203" marR="42203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ko-KR" altLang="en-US" sz="700" b="0" baseline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  <a:cs typeface="Malgun Gothic Semilight" panose="020B0502040204020203" pitchFamily="50" charset="-127"/>
                        </a:rPr>
                        <a:t>일시품절 로직</a:t>
                      </a:r>
                      <a:endParaRPr lang="en-US" altLang="ko-KR" sz="700" b="0" baseline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  <a:cs typeface="Malgun Gothic Semilight" panose="020B0502040204020203" pitchFamily="50" charset="-127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en-US" altLang="ko-KR" sz="700" b="0" baseline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  <a:cs typeface="Malgun Gothic Semilight" panose="020B0502040204020203" pitchFamily="50" charset="-127"/>
                        </a:rPr>
                        <a:t> - </a:t>
                      </a:r>
                      <a:r>
                        <a:rPr lang="ko-KR" altLang="en-US" sz="700" b="0" baseline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  <a:cs typeface="Malgun Gothic Semilight" panose="020B0502040204020203" pitchFamily="50" charset="-127"/>
                        </a:rPr>
                        <a:t>재고 체크 로직에 </a:t>
                      </a:r>
                      <a:r>
                        <a:rPr lang="en-US" altLang="ko-KR" sz="700" b="0" baseline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  <a:cs typeface="Malgun Gothic Semilight" panose="020B0502040204020203" pitchFamily="50" charset="-127"/>
                        </a:rPr>
                        <a:t>‘</a:t>
                      </a:r>
                      <a:r>
                        <a:rPr lang="ko-KR" altLang="en-US" sz="700" b="0" baseline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  <a:cs typeface="Malgun Gothic Semilight" panose="020B0502040204020203" pitchFamily="50" charset="-127"/>
                        </a:rPr>
                        <a:t>비직송매장 재고</a:t>
                      </a:r>
                      <a:r>
                        <a:rPr lang="en-US" altLang="ko-KR" sz="700" b="0" baseline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  <a:cs typeface="Malgun Gothic Semilight" panose="020B0502040204020203" pitchFamily="50" charset="-127"/>
                        </a:rPr>
                        <a:t>’ </a:t>
                      </a:r>
                      <a:r>
                        <a:rPr lang="ko-KR" altLang="en-US" sz="700" b="0" baseline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  <a:cs typeface="Malgun Gothic Semilight" panose="020B0502040204020203" pitchFamily="50" charset="-127"/>
                        </a:rPr>
                        <a:t>포함하여 계산</a:t>
                      </a:r>
                      <a:endParaRPr lang="en-US" altLang="ko-KR" sz="700" b="0" baseline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  <a:cs typeface="Malgun Gothic Semilight" panose="020B0502040204020203" pitchFamily="50" charset="-127"/>
                      </a:endParaRPr>
                    </a:p>
                  </a:txBody>
                  <a:tcPr marL="108000" marR="108000" marT="36000" marB="3600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 Semilight" panose="020B0502040204020203" pitchFamily="50" charset="-127"/>
                        </a:rPr>
                        <a:t>4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42203" marR="42203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ko-KR" altLang="en-US" sz="700" b="0" baseline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  <a:cs typeface="Malgun Gothic Semilight" panose="020B0502040204020203" pitchFamily="50" charset="-127"/>
                        </a:rPr>
                        <a:t>배송 및 혜택 안내 영역</a:t>
                      </a:r>
                      <a:endParaRPr lang="en-US" altLang="ko-KR" sz="700" b="0" baseline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  <a:cs typeface="Malgun Gothic Semilight" panose="020B0502040204020203" pitchFamily="50" charset="-127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en-US" altLang="ko-KR" sz="700" b="0" baseline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  <a:cs typeface="Malgun Gothic Semilight" panose="020B0502040204020203" pitchFamily="50" charset="-127"/>
                        </a:rPr>
                        <a:t> - </a:t>
                      </a:r>
                      <a:r>
                        <a:rPr lang="ko-KR" altLang="en-US" sz="700" b="0" baseline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  <a:cs typeface="Malgun Gothic Semilight" panose="020B0502040204020203" pitchFamily="50" charset="-127"/>
                        </a:rPr>
                        <a:t>배송예정일 확률 테이블 하단에</a:t>
                      </a:r>
                      <a:r>
                        <a:rPr lang="en-US" altLang="ko-KR" sz="700" b="0" baseline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  <a:cs typeface="Malgun Gothic Semilight" panose="020B0502040204020203" pitchFamily="50" charset="-127"/>
                        </a:rPr>
                        <a:t>, </a:t>
                      </a:r>
                      <a:r>
                        <a:rPr lang="ko-KR" altLang="en-US" sz="700" b="0" baseline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  <a:cs typeface="Malgun Gothic Semilight" panose="020B0502040204020203" pitchFamily="50" charset="-127"/>
                        </a:rPr>
                        <a:t>신규로 </a:t>
                      </a:r>
                      <a:r>
                        <a:rPr lang="en-US" altLang="ko-KR" sz="700" b="0" baseline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  <a:cs typeface="Malgun Gothic Semilight" panose="020B0502040204020203" pitchFamily="50" charset="-127"/>
                        </a:rPr>
                        <a:t>‘</a:t>
                      </a:r>
                      <a:r>
                        <a:rPr lang="ko-KR" altLang="en-US" sz="700" b="0" baseline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  <a:cs typeface="Malgun Gothic Semilight" panose="020B0502040204020203" pitchFamily="50" charset="-127"/>
                        </a:rPr>
                        <a:t>매장상품배송</a:t>
                      </a:r>
                      <a:r>
                        <a:rPr lang="en-US" altLang="ko-KR" sz="700" b="0" baseline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  <a:cs typeface="Malgun Gothic Semilight" panose="020B0502040204020203" pitchFamily="50" charset="-127"/>
                        </a:rPr>
                        <a:t>’ </a:t>
                      </a:r>
                      <a:r>
                        <a:rPr lang="ko-KR" altLang="en-US" sz="700" b="0" baseline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  <a:cs typeface="Malgun Gothic Semilight" panose="020B0502040204020203" pitchFamily="50" charset="-127"/>
                        </a:rPr>
                        <a:t>안내 영역 표현</a:t>
                      </a:r>
                      <a:endParaRPr lang="en-US" altLang="ko-KR" sz="700" b="0" baseline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  <a:cs typeface="Malgun Gothic Semilight" panose="020B0502040204020203" pitchFamily="50" charset="-127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en-US" altLang="ko-KR" sz="700" b="0" baseline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  <a:cs typeface="Malgun Gothic Semilight" panose="020B0502040204020203" pitchFamily="50" charset="-127"/>
                        </a:rPr>
                        <a:t> - </a:t>
                      </a:r>
                      <a:r>
                        <a:rPr lang="ko-KR" altLang="en-US" sz="700" b="0" baseline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  <a:cs typeface="Malgun Gothic Semilight" panose="020B0502040204020203" pitchFamily="50" charset="-127"/>
                        </a:rPr>
                        <a:t>옵션 중 </a:t>
                      </a:r>
                      <a:r>
                        <a:rPr lang="en-US" altLang="ko-KR" sz="700" b="0" baseline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  <a:cs typeface="Malgun Gothic Semilight" panose="020B0502040204020203" pitchFamily="50" charset="-127"/>
                        </a:rPr>
                        <a:t>‘</a:t>
                      </a:r>
                      <a:r>
                        <a:rPr lang="ko-KR" altLang="en-US" sz="700" b="0" baseline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  <a:cs typeface="Malgun Gothic Semilight" panose="020B0502040204020203" pitchFamily="50" charset="-127"/>
                        </a:rPr>
                        <a:t>매장상품배송</a:t>
                      </a:r>
                      <a:r>
                        <a:rPr lang="en-US" altLang="ko-KR" sz="700" b="0" baseline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  <a:cs typeface="Malgun Gothic Semilight" panose="020B0502040204020203" pitchFamily="50" charset="-127"/>
                        </a:rPr>
                        <a:t>’ </a:t>
                      </a:r>
                      <a:r>
                        <a:rPr lang="ko-KR" altLang="en-US" sz="700" b="0" baseline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  <a:cs typeface="Malgun Gothic Semilight" panose="020B0502040204020203" pitchFamily="50" charset="-127"/>
                        </a:rPr>
                        <a:t>이 하나도 존재하지 않는 경우 표현하지 않음</a:t>
                      </a:r>
                      <a:endParaRPr lang="en-US" altLang="ko-KR" sz="700" b="0" baseline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  <a:cs typeface="Malgun Gothic Semilight" panose="020B0502040204020203" pitchFamily="50" charset="-127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en-US" altLang="ko-KR" sz="700" b="0" baseline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  <a:cs typeface="Malgun Gothic Semilight" panose="020B0502040204020203" pitchFamily="50" charset="-127"/>
                        </a:rPr>
                        <a:t> - </a:t>
                      </a:r>
                      <a:r>
                        <a:rPr lang="ko-KR" altLang="en-US" sz="700" b="0" baseline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  <a:cs typeface="Malgun Gothic Semilight" panose="020B0502040204020203" pitchFamily="50" charset="-127"/>
                        </a:rPr>
                        <a:t>클릭 시</a:t>
                      </a:r>
                      <a:r>
                        <a:rPr lang="en-US" altLang="ko-KR" sz="700" b="0" baseline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  <a:cs typeface="Malgun Gothic Semilight" panose="020B0502040204020203" pitchFamily="50" charset="-127"/>
                        </a:rPr>
                        <a:t>, </a:t>
                      </a:r>
                      <a:r>
                        <a:rPr lang="ko-KR" altLang="en-US" sz="700" b="0" baseline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  <a:cs typeface="Malgun Gothic Semilight" panose="020B0502040204020203" pitchFamily="50" charset="-127"/>
                        </a:rPr>
                        <a:t>안내 레이어 표현 </a:t>
                      </a:r>
                      <a:r>
                        <a:rPr lang="en-US" altLang="ko-KR" sz="700" b="0" baseline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  <a:cs typeface="Malgun Gothic Semilight" panose="020B0502040204020203" pitchFamily="50" charset="-127"/>
                        </a:rPr>
                        <a:t>(</a:t>
                      </a:r>
                      <a:r>
                        <a:rPr lang="ko-KR" altLang="en-US" sz="700" b="0" baseline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  <a:cs typeface="Malgun Gothic Semilight" panose="020B0502040204020203" pitchFamily="50" charset="-127"/>
                        </a:rPr>
                        <a:t>상동</a:t>
                      </a:r>
                      <a:r>
                        <a:rPr lang="en-US" altLang="ko-KR" sz="700" b="0" baseline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  <a:cs typeface="Malgun Gothic Semilight" panose="020B0502040204020203" pitchFamily="50" charset="-127"/>
                        </a:rPr>
                        <a:t>)</a:t>
                      </a:r>
                    </a:p>
                  </a:txBody>
                  <a:tcPr marL="108000" marR="108000" marT="36000" marB="3600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185" name="직사각형 184">
            <a:extLst>
              <a:ext uri="{FF2B5EF4-FFF2-40B4-BE49-F238E27FC236}">
                <a16:creationId xmlns:a16="http://schemas.microsoft.com/office/drawing/2014/main" xmlns="" id="{19FD5FA0-B111-4EF7-BC86-418441928DD3}"/>
              </a:ext>
            </a:extLst>
          </p:cNvPr>
          <p:cNvSpPr/>
          <p:nvPr/>
        </p:nvSpPr>
        <p:spPr>
          <a:xfrm>
            <a:off x="145179" y="709700"/>
            <a:ext cx="2879531" cy="3240000"/>
          </a:xfrm>
          <a:prstGeom prst="rect">
            <a:avLst/>
          </a:prstGeom>
          <a:pattFill prst="openDmnd">
            <a:fgClr>
              <a:schemeClr val="bg1">
                <a:lumMod val="85000"/>
              </a:schemeClr>
            </a:fgClr>
            <a:bgClr>
              <a:schemeClr val="bg1"/>
            </a:bgClr>
          </a:patt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ko-KR" altLang="en-US" sz="60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186" name="직사각형 185">
            <a:extLst>
              <a:ext uri="{FF2B5EF4-FFF2-40B4-BE49-F238E27FC236}">
                <a16:creationId xmlns="" xmlns:a16="http://schemas.microsoft.com/office/drawing/2014/main" id="{F9776C3A-3D6C-4965-9DA5-D76F1E6E1639}"/>
              </a:ext>
            </a:extLst>
          </p:cNvPr>
          <p:cNvSpPr/>
          <p:nvPr/>
        </p:nvSpPr>
        <p:spPr>
          <a:xfrm>
            <a:off x="145179" y="709700"/>
            <a:ext cx="2879531" cy="5687074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700">
              <a:solidFill>
                <a:prstClr val="black">
                  <a:lumMod val="75000"/>
                  <a:lumOff val="25000"/>
                </a:prstClr>
              </a:solidFill>
              <a:latin typeface="맑은 고딕" panose="020B0503020000020004" pitchFamily="50" charset="-127"/>
            </a:endParaRPr>
          </a:p>
        </p:txBody>
      </p:sp>
      <p:pic>
        <p:nvPicPr>
          <p:cNvPr id="188" name="Picture 2" descr="https://img.lfmall.co.kr/file/WAS/display/lf2022/mobile/gnb_fnb_sp.png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00" t="38037" r="84922" b="38044"/>
          <a:stretch/>
        </p:blipFill>
        <p:spPr bwMode="auto">
          <a:xfrm>
            <a:off x="289156" y="799715"/>
            <a:ext cx="181562" cy="1799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89" name="그룹 188"/>
          <p:cNvGrpSpPr/>
          <p:nvPr/>
        </p:nvGrpSpPr>
        <p:grpSpPr>
          <a:xfrm>
            <a:off x="2384713" y="799715"/>
            <a:ext cx="179971" cy="179971"/>
            <a:chOff x="3851495" y="6190100"/>
            <a:chExt cx="180000" cy="180000"/>
          </a:xfrm>
        </p:grpSpPr>
        <p:sp>
          <p:nvSpPr>
            <p:cNvPr id="266" name="직사각형 265"/>
            <p:cNvSpPr/>
            <p:nvPr/>
          </p:nvSpPr>
          <p:spPr>
            <a:xfrm>
              <a:off x="3851495" y="6190100"/>
              <a:ext cx="180000" cy="180000"/>
            </a:xfrm>
            <a:prstGeom prst="rect">
              <a:avLst/>
            </a:prstGeom>
            <a:no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7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267" name="오각형 266"/>
            <p:cNvSpPr/>
            <p:nvPr/>
          </p:nvSpPr>
          <p:spPr>
            <a:xfrm rot="16200000">
              <a:off x="3869495" y="6217101"/>
              <a:ext cx="144000" cy="126000"/>
            </a:xfrm>
            <a:prstGeom prst="homePlate">
              <a:avLst/>
            </a:prstGeom>
            <a:grpFill/>
            <a:ln w="952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7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cxnSp>
          <p:nvCxnSpPr>
            <p:cNvPr id="268" name="직선 연결선 267"/>
            <p:cNvCxnSpPr/>
            <p:nvPr/>
          </p:nvCxnSpPr>
          <p:spPr>
            <a:xfrm>
              <a:off x="3860495" y="6282659"/>
              <a:ext cx="162000" cy="0"/>
            </a:xfrm>
            <a:prstGeom prst="line">
              <a:avLst/>
            </a:prstGeom>
            <a:ln w="952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9" name="직선 연결선 268"/>
            <p:cNvCxnSpPr/>
            <p:nvPr/>
          </p:nvCxnSpPr>
          <p:spPr>
            <a:xfrm rot="5400000">
              <a:off x="3923495" y="6348290"/>
              <a:ext cx="36000" cy="0"/>
            </a:xfrm>
            <a:prstGeom prst="line">
              <a:avLst/>
            </a:prstGeom>
            <a:ln w="952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90" name="그룹 189"/>
          <p:cNvGrpSpPr/>
          <p:nvPr/>
        </p:nvGrpSpPr>
        <p:grpSpPr>
          <a:xfrm>
            <a:off x="2087331" y="799715"/>
            <a:ext cx="179971" cy="179971"/>
            <a:chOff x="1007189" y="1604594"/>
            <a:chExt cx="180000" cy="180000"/>
          </a:xfrm>
        </p:grpSpPr>
        <p:sp>
          <p:nvSpPr>
            <p:cNvPr id="262" name="직사각형 261"/>
            <p:cNvSpPr/>
            <p:nvPr/>
          </p:nvSpPr>
          <p:spPr>
            <a:xfrm>
              <a:off x="1007189" y="1604594"/>
              <a:ext cx="180000" cy="180000"/>
            </a:xfrm>
            <a:prstGeom prst="rect">
              <a:avLst/>
            </a:prstGeom>
            <a:no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7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grpSp>
          <p:nvGrpSpPr>
            <p:cNvPr id="263" name="그룹 262"/>
            <p:cNvGrpSpPr/>
            <p:nvPr/>
          </p:nvGrpSpPr>
          <p:grpSpPr>
            <a:xfrm>
              <a:off x="1007190" y="1604594"/>
              <a:ext cx="179999" cy="180000"/>
              <a:chOff x="774028" y="1604594"/>
              <a:chExt cx="179999" cy="180000"/>
            </a:xfrm>
          </p:grpSpPr>
          <p:sp>
            <p:nvSpPr>
              <p:cNvPr id="264" name="타원 263"/>
              <p:cNvSpPr/>
              <p:nvPr/>
            </p:nvSpPr>
            <p:spPr>
              <a:xfrm>
                <a:off x="774028" y="1604594"/>
                <a:ext cx="126000" cy="126000"/>
              </a:xfrm>
              <a:prstGeom prst="ellipse">
                <a:avLst/>
              </a:prstGeom>
              <a:noFill/>
              <a:ln w="9525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70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  <p:cxnSp>
            <p:nvCxnSpPr>
              <p:cNvPr id="265" name="직선 연결선 264"/>
              <p:cNvCxnSpPr/>
              <p:nvPr/>
            </p:nvCxnSpPr>
            <p:spPr>
              <a:xfrm>
                <a:off x="900027" y="1730594"/>
                <a:ext cx="54000" cy="54000"/>
              </a:xfrm>
              <a:prstGeom prst="line">
                <a:avLst/>
              </a:prstGeom>
              <a:solidFill>
                <a:schemeClr val="bg1"/>
              </a:solidFill>
              <a:ln w="9525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</p:grpSp>
      <p:grpSp>
        <p:nvGrpSpPr>
          <p:cNvPr id="191" name="그룹 190"/>
          <p:cNvGrpSpPr/>
          <p:nvPr/>
        </p:nvGrpSpPr>
        <p:grpSpPr>
          <a:xfrm>
            <a:off x="2664574" y="799715"/>
            <a:ext cx="179971" cy="179971"/>
            <a:chOff x="3342086" y="1590527"/>
            <a:chExt cx="180000" cy="180000"/>
          </a:xfrm>
        </p:grpSpPr>
        <p:sp>
          <p:nvSpPr>
            <p:cNvPr id="256" name="직사각형 255"/>
            <p:cNvSpPr/>
            <p:nvPr/>
          </p:nvSpPr>
          <p:spPr>
            <a:xfrm>
              <a:off x="3342086" y="1590527"/>
              <a:ext cx="180000" cy="180000"/>
            </a:xfrm>
            <a:prstGeom prst="rect">
              <a:avLst/>
            </a:prstGeom>
            <a:no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7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257" name="사다리꼴 256"/>
            <p:cNvSpPr/>
            <p:nvPr/>
          </p:nvSpPr>
          <p:spPr>
            <a:xfrm>
              <a:off x="3359831" y="1633195"/>
              <a:ext cx="144000" cy="126000"/>
            </a:xfrm>
            <a:prstGeom prst="trapezoid">
              <a:avLst>
                <a:gd name="adj" fmla="val 8369"/>
              </a:avLst>
            </a:prstGeom>
            <a:noFill/>
            <a:ln w="952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7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258" name="양쪽 모서리가 둥근 사각형 257"/>
            <p:cNvSpPr/>
            <p:nvPr/>
          </p:nvSpPr>
          <p:spPr>
            <a:xfrm>
              <a:off x="3395831" y="1601860"/>
              <a:ext cx="72000" cy="72000"/>
            </a:xfrm>
            <a:prstGeom prst="round2SameRect">
              <a:avLst>
                <a:gd name="adj1" fmla="val 50000"/>
                <a:gd name="adj2" fmla="val 0"/>
              </a:avLst>
            </a:prstGeom>
            <a:noFill/>
            <a:ln w="952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7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grpSp>
          <p:nvGrpSpPr>
            <p:cNvPr id="259" name="그룹 258"/>
            <p:cNvGrpSpPr/>
            <p:nvPr/>
          </p:nvGrpSpPr>
          <p:grpSpPr>
            <a:xfrm>
              <a:off x="3386831" y="1626527"/>
              <a:ext cx="90000" cy="66383"/>
              <a:chOff x="3386831" y="1626527"/>
              <a:chExt cx="90000" cy="66383"/>
            </a:xfrm>
          </p:grpSpPr>
          <p:sp>
            <p:nvSpPr>
              <p:cNvPr id="260" name="직사각형 259"/>
              <p:cNvSpPr/>
              <p:nvPr/>
            </p:nvSpPr>
            <p:spPr>
              <a:xfrm>
                <a:off x="3423086" y="1626527"/>
                <a:ext cx="18000" cy="36000"/>
              </a:xfrm>
              <a:prstGeom prst="rect">
                <a:avLst/>
              </a:prstGeom>
              <a:solidFill>
                <a:schemeClr val="bg1"/>
              </a:solidFill>
              <a:ln w="31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70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  <p:sp>
            <p:nvSpPr>
              <p:cNvPr id="261" name="직사각형 260"/>
              <p:cNvSpPr/>
              <p:nvPr/>
            </p:nvSpPr>
            <p:spPr>
              <a:xfrm>
                <a:off x="3386831" y="1656910"/>
                <a:ext cx="90000" cy="36000"/>
              </a:xfrm>
              <a:prstGeom prst="rect">
                <a:avLst/>
              </a:prstGeom>
              <a:solidFill>
                <a:schemeClr val="bg1"/>
              </a:solidFill>
              <a:ln w="31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70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</p:grpSp>
      </p:grpSp>
      <p:sp>
        <p:nvSpPr>
          <p:cNvPr id="192" name="타원 191"/>
          <p:cNvSpPr/>
          <p:nvPr/>
        </p:nvSpPr>
        <p:spPr>
          <a:xfrm>
            <a:off x="2772751" y="835709"/>
            <a:ext cx="107982" cy="107982"/>
          </a:xfrm>
          <a:prstGeom prst="ellipse">
            <a:avLst/>
          </a:prstGeom>
          <a:solidFill>
            <a:srgbClr val="DC2832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500" b="1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7</a:t>
            </a:r>
            <a:endParaRPr lang="ko-KR" altLang="en-US" sz="500" b="1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93" name="TextBox 192">
            <a:extLst>
              <a:ext uri="{FF2B5EF4-FFF2-40B4-BE49-F238E27FC236}">
                <a16:creationId xmlns="" xmlns:a16="http://schemas.microsoft.com/office/drawing/2014/main" id="{0C96C875-C47F-4F5B-B4C1-F9D666A7BD9D}"/>
              </a:ext>
            </a:extLst>
          </p:cNvPr>
          <p:cNvSpPr txBox="1"/>
          <p:nvPr/>
        </p:nvSpPr>
        <p:spPr>
          <a:xfrm>
            <a:off x="289155" y="4027341"/>
            <a:ext cx="731538" cy="165036"/>
          </a:xfrm>
          <a:prstGeom prst="rect">
            <a:avLst/>
          </a:prstGeom>
          <a:noFill/>
          <a:ln w="317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36000" tIns="36000" rIns="36000" bIns="36000" numCol="1" rtlCol="0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altLang="ko-KR" sz="600" b="1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DAKS MEN 〉 </a:t>
            </a:r>
            <a:r>
              <a:rPr lang="ko-KR" altLang="en-US" sz="600" u="sng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코트</a:t>
            </a:r>
            <a:endParaRPr lang="ko-KR" altLang="en-US" sz="600" u="sng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194" name="TextBox 193">
            <a:extLst>
              <a:ext uri="{FF2B5EF4-FFF2-40B4-BE49-F238E27FC236}">
                <a16:creationId xmlns="" xmlns:a16="http://schemas.microsoft.com/office/drawing/2014/main" id="{0C96C875-C47F-4F5B-B4C1-F9D666A7BD9D}"/>
              </a:ext>
            </a:extLst>
          </p:cNvPr>
          <p:cNvSpPr txBox="1"/>
          <p:nvPr/>
        </p:nvSpPr>
        <p:spPr>
          <a:xfrm>
            <a:off x="289155" y="4217019"/>
            <a:ext cx="2159648" cy="418247"/>
          </a:xfrm>
          <a:prstGeom prst="rect">
            <a:avLst/>
          </a:prstGeom>
          <a:noFill/>
          <a:ln w="317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square" lIns="36000" tIns="36000" rIns="36000" bIns="36000" numCol="1" rtlCol="0" anchor="t" anchorCtr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8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[</a:t>
            </a:r>
            <a:r>
              <a:rPr lang="ko-KR" altLang="en-US" sz="8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시즌오프</a:t>
            </a:r>
            <a:r>
              <a:rPr lang="en-US" altLang="ko-KR" sz="8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][</a:t>
            </a:r>
            <a:r>
              <a:rPr lang="ko-KR" altLang="en-US" sz="8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인기급상승</a:t>
            </a:r>
            <a:r>
              <a:rPr lang="en-US" altLang="ko-KR" sz="8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] </a:t>
            </a:r>
            <a:r>
              <a:rPr lang="ko-KR" altLang="en-US" sz="8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다이아 패턴 구스 다운 점퍼 블랙</a:t>
            </a:r>
            <a:endParaRPr lang="en-US" altLang="ko-KR" sz="800" smtClean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195" name="Share"/>
          <p:cNvSpPr>
            <a:spLocks noChangeAspect="1" noEditPoints="1"/>
          </p:cNvSpPr>
          <p:nvPr/>
        </p:nvSpPr>
        <p:spPr bwMode="auto">
          <a:xfrm>
            <a:off x="2700763" y="4019872"/>
            <a:ext cx="179971" cy="179971"/>
          </a:xfrm>
          <a:custGeom>
            <a:avLst/>
            <a:gdLst>
              <a:gd name="T0" fmla="*/ 533 w 666"/>
              <a:gd name="T1" fmla="*/ 0 h 667"/>
              <a:gd name="T2" fmla="*/ 400 w 666"/>
              <a:gd name="T3" fmla="*/ 132 h 667"/>
              <a:gd name="T4" fmla="*/ 212 w 666"/>
              <a:gd name="T5" fmla="*/ 226 h 667"/>
              <a:gd name="T6" fmla="*/ 133 w 666"/>
              <a:gd name="T7" fmla="*/ 200 h 667"/>
              <a:gd name="T8" fmla="*/ 0 w 666"/>
              <a:gd name="T9" fmla="*/ 333 h 667"/>
              <a:gd name="T10" fmla="*/ 133 w 666"/>
              <a:gd name="T11" fmla="*/ 467 h 667"/>
              <a:gd name="T12" fmla="*/ 212 w 666"/>
              <a:gd name="T13" fmla="*/ 441 h 667"/>
              <a:gd name="T14" fmla="*/ 400 w 666"/>
              <a:gd name="T15" fmla="*/ 535 h 667"/>
              <a:gd name="T16" fmla="*/ 533 w 666"/>
              <a:gd name="T17" fmla="*/ 667 h 667"/>
              <a:gd name="T18" fmla="*/ 666 w 666"/>
              <a:gd name="T19" fmla="*/ 533 h 667"/>
              <a:gd name="T20" fmla="*/ 533 w 666"/>
              <a:gd name="T21" fmla="*/ 400 h 667"/>
              <a:gd name="T22" fmla="*/ 457 w 666"/>
              <a:gd name="T23" fmla="*/ 424 h 667"/>
              <a:gd name="T24" fmla="*/ 275 w 666"/>
              <a:gd name="T25" fmla="*/ 333 h 667"/>
              <a:gd name="T26" fmla="*/ 457 w 666"/>
              <a:gd name="T27" fmla="*/ 242 h 667"/>
              <a:gd name="T28" fmla="*/ 533 w 666"/>
              <a:gd name="T29" fmla="*/ 267 h 667"/>
              <a:gd name="T30" fmla="*/ 666 w 666"/>
              <a:gd name="T31" fmla="*/ 133 h 667"/>
              <a:gd name="T32" fmla="*/ 533 w 666"/>
              <a:gd name="T33" fmla="*/ 0 h 667"/>
              <a:gd name="T34" fmla="*/ 533 w 666"/>
              <a:gd name="T35" fmla="*/ 27 h 667"/>
              <a:gd name="T36" fmla="*/ 640 w 666"/>
              <a:gd name="T37" fmla="*/ 133 h 667"/>
              <a:gd name="T38" fmla="*/ 533 w 666"/>
              <a:gd name="T39" fmla="*/ 240 h 667"/>
              <a:gd name="T40" fmla="*/ 472 w 666"/>
              <a:gd name="T41" fmla="*/ 221 h 667"/>
              <a:gd name="T42" fmla="*/ 426 w 666"/>
              <a:gd name="T43" fmla="*/ 133 h 667"/>
              <a:gd name="T44" fmla="*/ 533 w 666"/>
              <a:gd name="T45" fmla="*/ 27 h 667"/>
              <a:gd name="T46" fmla="*/ 403 w 666"/>
              <a:gd name="T47" fmla="*/ 160 h 667"/>
              <a:gd name="T48" fmla="*/ 435 w 666"/>
              <a:gd name="T49" fmla="*/ 223 h 667"/>
              <a:gd name="T50" fmla="*/ 264 w 666"/>
              <a:gd name="T51" fmla="*/ 309 h 667"/>
              <a:gd name="T52" fmla="*/ 233 w 666"/>
              <a:gd name="T53" fmla="*/ 245 h 667"/>
              <a:gd name="T54" fmla="*/ 403 w 666"/>
              <a:gd name="T55" fmla="*/ 160 h 667"/>
              <a:gd name="T56" fmla="*/ 133 w 666"/>
              <a:gd name="T57" fmla="*/ 227 h 667"/>
              <a:gd name="T58" fmla="*/ 198 w 666"/>
              <a:gd name="T59" fmla="*/ 249 h 667"/>
              <a:gd name="T60" fmla="*/ 239 w 666"/>
              <a:gd name="T61" fmla="*/ 325 h 667"/>
              <a:gd name="T62" fmla="*/ 200 w 666"/>
              <a:gd name="T63" fmla="*/ 416 h 667"/>
              <a:gd name="T64" fmla="*/ 133 w 666"/>
              <a:gd name="T65" fmla="*/ 440 h 667"/>
              <a:gd name="T66" fmla="*/ 26 w 666"/>
              <a:gd name="T67" fmla="*/ 333 h 667"/>
              <a:gd name="T68" fmla="*/ 133 w 666"/>
              <a:gd name="T69" fmla="*/ 227 h 667"/>
              <a:gd name="T70" fmla="*/ 264 w 666"/>
              <a:gd name="T71" fmla="*/ 357 h 667"/>
              <a:gd name="T72" fmla="*/ 435 w 666"/>
              <a:gd name="T73" fmla="*/ 443 h 667"/>
              <a:gd name="T74" fmla="*/ 403 w 666"/>
              <a:gd name="T75" fmla="*/ 507 h 667"/>
              <a:gd name="T76" fmla="*/ 233 w 666"/>
              <a:gd name="T77" fmla="*/ 422 h 667"/>
              <a:gd name="T78" fmla="*/ 264 w 666"/>
              <a:gd name="T79" fmla="*/ 357 h 667"/>
              <a:gd name="T80" fmla="*/ 533 w 666"/>
              <a:gd name="T81" fmla="*/ 427 h 667"/>
              <a:gd name="T82" fmla="*/ 640 w 666"/>
              <a:gd name="T83" fmla="*/ 533 h 667"/>
              <a:gd name="T84" fmla="*/ 533 w 666"/>
              <a:gd name="T85" fmla="*/ 640 h 667"/>
              <a:gd name="T86" fmla="*/ 426 w 666"/>
              <a:gd name="T87" fmla="*/ 533 h 667"/>
              <a:gd name="T88" fmla="*/ 469 w 666"/>
              <a:gd name="T89" fmla="*/ 448 h 667"/>
              <a:gd name="T90" fmla="*/ 533 w 666"/>
              <a:gd name="T91" fmla="*/ 427 h 66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</a:cxnLst>
            <a:rect l="0" t="0" r="r" b="b"/>
            <a:pathLst>
              <a:path w="666" h="667">
                <a:moveTo>
                  <a:pt x="533" y="0"/>
                </a:moveTo>
                <a:cubicBezTo>
                  <a:pt x="460" y="0"/>
                  <a:pt x="400" y="59"/>
                  <a:pt x="400" y="132"/>
                </a:cubicBezTo>
                <a:lnTo>
                  <a:pt x="212" y="226"/>
                </a:lnTo>
                <a:cubicBezTo>
                  <a:pt x="190" y="210"/>
                  <a:pt x="162" y="200"/>
                  <a:pt x="133" y="200"/>
                </a:cubicBezTo>
                <a:cubicBezTo>
                  <a:pt x="59" y="200"/>
                  <a:pt x="0" y="260"/>
                  <a:pt x="0" y="333"/>
                </a:cubicBezTo>
                <a:cubicBezTo>
                  <a:pt x="0" y="407"/>
                  <a:pt x="59" y="467"/>
                  <a:pt x="133" y="467"/>
                </a:cubicBezTo>
                <a:cubicBezTo>
                  <a:pt x="162" y="467"/>
                  <a:pt x="190" y="457"/>
                  <a:pt x="212" y="441"/>
                </a:cubicBezTo>
                <a:lnTo>
                  <a:pt x="400" y="535"/>
                </a:lnTo>
                <a:cubicBezTo>
                  <a:pt x="400" y="608"/>
                  <a:pt x="460" y="667"/>
                  <a:pt x="533" y="667"/>
                </a:cubicBezTo>
                <a:cubicBezTo>
                  <a:pt x="606" y="667"/>
                  <a:pt x="666" y="607"/>
                  <a:pt x="666" y="533"/>
                </a:cubicBezTo>
                <a:cubicBezTo>
                  <a:pt x="666" y="460"/>
                  <a:pt x="606" y="400"/>
                  <a:pt x="533" y="400"/>
                </a:cubicBezTo>
                <a:cubicBezTo>
                  <a:pt x="505" y="400"/>
                  <a:pt x="478" y="409"/>
                  <a:pt x="457" y="424"/>
                </a:cubicBezTo>
                <a:lnTo>
                  <a:pt x="275" y="333"/>
                </a:lnTo>
                <a:lnTo>
                  <a:pt x="457" y="242"/>
                </a:lnTo>
                <a:cubicBezTo>
                  <a:pt x="478" y="258"/>
                  <a:pt x="505" y="267"/>
                  <a:pt x="533" y="267"/>
                </a:cubicBezTo>
                <a:cubicBezTo>
                  <a:pt x="606" y="267"/>
                  <a:pt x="666" y="207"/>
                  <a:pt x="666" y="133"/>
                </a:cubicBezTo>
                <a:cubicBezTo>
                  <a:pt x="666" y="60"/>
                  <a:pt x="606" y="0"/>
                  <a:pt x="533" y="0"/>
                </a:cubicBezTo>
                <a:close/>
                <a:moveTo>
                  <a:pt x="533" y="27"/>
                </a:moveTo>
                <a:cubicBezTo>
                  <a:pt x="592" y="27"/>
                  <a:pt x="640" y="74"/>
                  <a:pt x="640" y="133"/>
                </a:cubicBezTo>
                <a:cubicBezTo>
                  <a:pt x="640" y="192"/>
                  <a:pt x="592" y="240"/>
                  <a:pt x="533" y="240"/>
                </a:cubicBezTo>
                <a:cubicBezTo>
                  <a:pt x="510" y="240"/>
                  <a:pt x="489" y="233"/>
                  <a:pt x="472" y="221"/>
                </a:cubicBezTo>
                <a:cubicBezTo>
                  <a:pt x="442" y="198"/>
                  <a:pt x="428" y="163"/>
                  <a:pt x="426" y="133"/>
                </a:cubicBezTo>
                <a:cubicBezTo>
                  <a:pt x="426" y="74"/>
                  <a:pt x="474" y="27"/>
                  <a:pt x="533" y="27"/>
                </a:cubicBezTo>
                <a:close/>
                <a:moveTo>
                  <a:pt x="403" y="160"/>
                </a:moveTo>
                <a:cubicBezTo>
                  <a:pt x="407" y="184"/>
                  <a:pt x="419" y="206"/>
                  <a:pt x="435" y="223"/>
                </a:cubicBezTo>
                <a:lnTo>
                  <a:pt x="264" y="309"/>
                </a:lnTo>
                <a:cubicBezTo>
                  <a:pt x="259" y="285"/>
                  <a:pt x="248" y="263"/>
                  <a:pt x="233" y="245"/>
                </a:cubicBezTo>
                <a:lnTo>
                  <a:pt x="403" y="160"/>
                </a:lnTo>
                <a:close/>
                <a:moveTo>
                  <a:pt x="133" y="227"/>
                </a:moveTo>
                <a:cubicBezTo>
                  <a:pt x="158" y="227"/>
                  <a:pt x="180" y="235"/>
                  <a:pt x="198" y="249"/>
                </a:cubicBezTo>
                <a:cubicBezTo>
                  <a:pt x="225" y="268"/>
                  <a:pt x="237" y="300"/>
                  <a:pt x="239" y="325"/>
                </a:cubicBezTo>
                <a:cubicBezTo>
                  <a:pt x="238" y="361"/>
                  <a:pt x="239" y="379"/>
                  <a:pt x="200" y="416"/>
                </a:cubicBezTo>
                <a:cubicBezTo>
                  <a:pt x="182" y="431"/>
                  <a:pt x="158" y="440"/>
                  <a:pt x="133" y="440"/>
                </a:cubicBezTo>
                <a:cubicBezTo>
                  <a:pt x="74" y="440"/>
                  <a:pt x="26" y="392"/>
                  <a:pt x="26" y="333"/>
                </a:cubicBezTo>
                <a:cubicBezTo>
                  <a:pt x="26" y="274"/>
                  <a:pt x="74" y="227"/>
                  <a:pt x="133" y="227"/>
                </a:cubicBezTo>
                <a:close/>
                <a:moveTo>
                  <a:pt x="264" y="357"/>
                </a:moveTo>
                <a:lnTo>
                  <a:pt x="435" y="443"/>
                </a:lnTo>
                <a:cubicBezTo>
                  <a:pt x="419" y="461"/>
                  <a:pt x="407" y="482"/>
                  <a:pt x="403" y="507"/>
                </a:cubicBezTo>
                <a:lnTo>
                  <a:pt x="233" y="422"/>
                </a:lnTo>
                <a:cubicBezTo>
                  <a:pt x="248" y="404"/>
                  <a:pt x="259" y="382"/>
                  <a:pt x="264" y="357"/>
                </a:cubicBezTo>
                <a:close/>
                <a:moveTo>
                  <a:pt x="533" y="427"/>
                </a:moveTo>
                <a:cubicBezTo>
                  <a:pt x="592" y="427"/>
                  <a:pt x="640" y="474"/>
                  <a:pt x="640" y="533"/>
                </a:cubicBezTo>
                <a:cubicBezTo>
                  <a:pt x="640" y="592"/>
                  <a:pt x="592" y="640"/>
                  <a:pt x="533" y="640"/>
                </a:cubicBezTo>
                <a:cubicBezTo>
                  <a:pt x="474" y="640"/>
                  <a:pt x="426" y="592"/>
                  <a:pt x="426" y="533"/>
                </a:cubicBezTo>
                <a:cubicBezTo>
                  <a:pt x="430" y="495"/>
                  <a:pt x="442" y="468"/>
                  <a:pt x="469" y="448"/>
                </a:cubicBezTo>
                <a:cubicBezTo>
                  <a:pt x="487" y="435"/>
                  <a:pt x="509" y="427"/>
                  <a:pt x="533" y="427"/>
                </a:cubicBezTo>
                <a:close/>
              </a:path>
            </a:pathLst>
          </a:custGeom>
          <a:solidFill>
            <a:srgbClr val="5F5F5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80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96" name="TextBox 195">
            <a:extLst>
              <a:ext uri="{FF2B5EF4-FFF2-40B4-BE49-F238E27FC236}">
                <a16:creationId xmlns="" xmlns:a16="http://schemas.microsoft.com/office/drawing/2014/main" id="{0C96C875-C47F-4F5B-B4C1-F9D666A7BD9D}"/>
              </a:ext>
            </a:extLst>
          </p:cNvPr>
          <p:cNvSpPr txBox="1"/>
          <p:nvPr/>
        </p:nvSpPr>
        <p:spPr>
          <a:xfrm>
            <a:off x="289155" y="5961547"/>
            <a:ext cx="321169" cy="180425"/>
          </a:xfrm>
          <a:prstGeom prst="rect">
            <a:avLst/>
          </a:prstGeom>
          <a:noFill/>
          <a:ln w="317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36000" tIns="36000" rIns="36000" bIns="36000" numCol="1" rtlCol="0" anchor="ctr" anchorCtr="0" compatLnSpc="1">
            <a:prstTxWarp prst="textNoShape">
              <a:avLst/>
            </a:prstTxWarp>
            <a:spAutoFit/>
          </a:bodyPr>
          <a:lstStyle/>
          <a:p>
            <a:r>
              <a:rPr lang="ko-KR" altLang="en-US" sz="700" b="1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★ </a:t>
            </a:r>
            <a:r>
              <a:rPr lang="en-US" altLang="ko-KR" sz="700" b="1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4.9</a:t>
            </a:r>
            <a:endParaRPr lang="ko-KR" altLang="en-US" sz="700" b="1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</a:endParaRPr>
          </a:p>
        </p:txBody>
      </p:sp>
      <p:grpSp>
        <p:nvGrpSpPr>
          <p:cNvPr id="197" name="그룹 196"/>
          <p:cNvGrpSpPr/>
          <p:nvPr/>
        </p:nvGrpSpPr>
        <p:grpSpPr>
          <a:xfrm>
            <a:off x="289156" y="5099946"/>
            <a:ext cx="1045357" cy="211203"/>
            <a:chOff x="5463507" y="2581027"/>
            <a:chExt cx="1045357" cy="211203"/>
          </a:xfrm>
        </p:grpSpPr>
        <p:sp>
          <p:nvSpPr>
            <p:cNvPr id="254" name="TextBox 253">
              <a:extLst>
                <a:ext uri="{FF2B5EF4-FFF2-40B4-BE49-F238E27FC236}">
                  <a16:creationId xmlns="" xmlns:a16="http://schemas.microsoft.com/office/drawing/2014/main" id="{0C96C875-C47F-4F5B-B4C1-F9D666A7BD9D}"/>
                </a:ext>
              </a:extLst>
            </p:cNvPr>
            <p:cNvSpPr txBox="1"/>
            <p:nvPr/>
          </p:nvSpPr>
          <p:spPr>
            <a:xfrm>
              <a:off x="5463507" y="2581027"/>
              <a:ext cx="898250" cy="211203"/>
            </a:xfrm>
            <a:prstGeom prst="rect">
              <a:avLst/>
            </a:prstGeom>
            <a:noFill/>
            <a:ln w="3175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none" lIns="36000" tIns="36000" rIns="36000" bIns="36000" numCol="1" rtlCol="0" anchor="ctr" anchorCtr="0" compatLnSpc="1">
              <a:prstTxWarp prst="textNoShape">
                <a:avLst/>
              </a:prstTxWarp>
              <a:spAutoFit/>
            </a:bodyPr>
            <a:lstStyle/>
            <a:p>
              <a:r>
                <a:rPr lang="en-US" altLang="ko-KR" sz="900" b="1" smtClean="0">
                  <a:solidFill>
                    <a:srgbClr val="DC2832"/>
                  </a:solidFill>
                  <a:latin typeface="맑은 고딕" panose="020B0503020000020004" pitchFamily="50" charset="-127"/>
                </a:rPr>
                <a:t>30%</a:t>
              </a:r>
              <a:r>
                <a:rPr lang="en-US" altLang="ko-KR" sz="90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 </a:t>
              </a:r>
              <a:r>
                <a:rPr lang="en-US" altLang="ko-KR" sz="900" b="1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433,300</a:t>
              </a:r>
              <a:r>
                <a:rPr lang="ko-KR" altLang="en-US" sz="900" b="1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원</a:t>
              </a:r>
              <a:endParaRPr lang="en-US" altLang="ko-KR" sz="900" b="1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255" name="타원 254"/>
            <p:cNvSpPr/>
            <p:nvPr/>
          </p:nvSpPr>
          <p:spPr>
            <a:xfrm>
              <a:off x="6364888" y="2614640"/>
              <a:ext cx="143976" cy="143976"/>
            </a:xfrm>
            <a:prstGeom prst="ellips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70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?</a:t>
              </a:r>
              <a:endParaRPr lang="ko-KR" altLang="en-US" sz="7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sp>
        <p:nvSpPr>
          <p:cNvPr id="199" name="직사각형 198"/>
          <p:cNvSpPr/>
          <p:nvPr/>
        </p:nvSpPr>
        <p:spPr>
          <a:xfrm>
            <a:off x="326452" y="4703019"/>
            <a:ext cx="504000" cy="144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6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마케팅뱃지</a:t>
            </a:r>
            <a:endParaRPr lang="ko-KR" altLang="en-US" sz="60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00" name="TextBox 199">
            <a:extLst>
              <a:ext uri="{FF2B5EF4-FFF2-40B4-BE49-F238E27FC236}">
                <a16:creationId xmlns="" xmlns:a16="http://schemas.microsoft.com/office/drawing/2014/main" id="{0C96C875-C47F-4F5B-B4C1-F9D666A7BD9D}"/>
              </a:ext>
            </a:extLst>
          </p:cNvPr>
          <p:cNvSpPr txBox="1"/>
          <p:nvPr/>
        </p:nvSpPr>
        <p:spPr>
          <a:xfrm>
            <a:off x="289156" y="4918153"/>
            <a:ext cx="479866" cy="180425"/>
          </a:xfrm>
          <a:prstGeom prst="rect">
            <a:avLst/>
          </a:prstGeom>
          <a:noFill/>
          <a:ln w="317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36000" tIns="36000" rIns="36000" bIns="36000" numCol="1" rtlCol="0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altLang="ko-KR" sz="700" strike="sngStrike" smtClean="0">
                <a:solidFill>
                  <a:schemeClr val="bg1">
                    <a:lumMod val="75000"/>
                  </a:schemeClr>
                </a:solidFill>
                <a:latin typeface="맑은 고딕" panose="020B0503020000020004" pitchFamily="50" charset="-127"/>
              </a:rPr>
              <a:t>619,000</a:t>
            </a:r>
            <a:r>
              <a:rPr lang="ko-KR" altLang="en-US" sz="700" strike="sngStrike">
                <a:solidFill>
                  <a:schemeClr val="bg1">
                    <a:lumMod val="75000"/>
                  </a:schemeClr>
                </a:solidFill>
                <a:latin typeface="맑은 고딕" panose="020B0503020000020004" pitchFamily="50" charset="-127"/>
              </a:rPr>
              <a:t>원</a:t>
            </a:r>
            <a:endParaRPr lang="en-US" altLang="ko-KR" sz="700" b="1" smtClean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</a:endParaRPr>
          </a:p>
        </p:txBody>
      </p:sp>
      <p:grpSp>
        <p:nvGrpSpPr>
          <p:cNvPr id="201" name="그룹 200"/>
          <p:cNvGrpSpPr/>
          <p:nvPr/>
        </p:nvGrpSpPr>
        <p:grpSpPr>
          <a:xfrm>
            <a:off x="2160734" y="4918578"/>
            <a:ext cx="720000" cy="288000"/>
            <a:chOff x="6328107" y="2228276"/>
            <a:chExt cx="720000" cy="288000"/>
          </a:xfrm>
        </p:grpSpPr>
        <p:sp>
          <p:nvSpPr>
            <p:cNvPr id="250" name="모서리가 둥근 직사각형 249"/>
            <p:cNvSpPr/>
            <p:nvPr/>
          </p:nvSpPr>
          <p:spPr>
            <a:xfrm>
              <a:off x="6328107" y="2228276"/>
              <a:ext cx="720000" cy="288000"/>
            </a:xfrm>
            <a:prstGeom prst="roundRect">
              <a:avLst>
                <a:gd name="adj" fmla="val 5422"/>
              </a:avLst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144000" bIns="0" rtlCol="0" anchor="ctr"/>
            <a:lstStyle/>
            <a:p>
              <a:pPr algn="ctr"/>
              <a:r>
                <a:rPr lang="ko-KR" altLang="en-US" sz="70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혜택받기</a:t>
              </a:r>
              <a:endParaRPr lang="ko-KR" altLang="en-US" sz="7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endParaRPr>
            </a:p>
          </p:txBody>
        </p:sp>
        <p:grpSp>
          <p:nvGrpSpPr>
            <p:cNvPr id="251" name="그룹 250"/>
            <p:cNvGrpSpPr/>
            <p:nvPr/>
          </p:nvGrpSpPr>
          <p:grpSpPr>
            <a:xfrm>
              <a:off x="6848754" y="2327276"/>
              <a:ext cx="90000" cy="90000"/>
              <a:chOff x="6816269" y="2336064"/>
              <a:chExt cx="90000" cy="90000"/>
            </a:xfrm>
          </p:grpSpPr>
          <p:sp>
            <p:nvSpPr>
              <p:cNvPr id="252" name="Arrow Down"/>
              <p:cNvSpPr>
                <a:spLocks noChangeAspect="1"/>
              </p:cNvSpPr>
              <p:nvPr/>
            </p:nvSpPr>
            <p:spPr bwMode="auto">
              <a:xfrm>
                <a:off x="6828945" y="2336064"/>
                <a:ext cx="64649" cy="90000"/>
              </a:xfrm>
              <a:custGeom>
                <a:avLst/>
                <a:gdLst>
                  <a:gd name="T0" fmla="*/ 163 w 331"/>
                  <a:gd name="T1" fmla="*/ 0 h 458"/>
                  <a:gd name="T2" fmla="*/ 150 w 331"/>
                  <a:gd name="T3" fmla="*/ 14 h 458"/>
                  <a:gd name="T4" fmla="*/ 150 w 331"/>
                  <a:gd name="T5" fmla="*/ 407 h 458"/>
                  <a:gd name="T6" fmla="*/ 28 w 331"/>
                  <a:gd name="T7" fmla="*/ 285 h 458"/>
                  <a:gd name="T8" fmla="*/ 18 w 331"/>
                  <a:gd name="T9" fmla="*/ 281 h 458"/>
                  <a:gd name="T10" fmla="*/ 9 w 331"/>
                  <a:gd name="T11" fmla="*/ 304 h 458"/>
                  <a:gd name="T12" fmla="*/ 164 w 331"/>
                  <a:gd name="T13" fmla="*/ 458 h 458"/>
                  <a:gd name="T14" fmla="*/ 318 w 331"/>
                  <a:gd name="T15" fmla="*/ 304 h 458"/>
                  <a:gd name="T16" fmla="*/ 299 w 331"/>
                  <a:gd name="T17" fmla="*/ 285 h 458"/>
                  <a:gd name="T18" fmla="*/ 177 w 331"/>
                  <a:gd name="T19" fmla="*/ 407 h 458"/>
                  <a:gd name="T20" fmla="*/ 177 w 331"/>
                  <a:gd name="T21" fmla="*/ 14 h 458"/>
                  <a:gd name="T22" fmla="*/ 163 w 331"/>
                  <a:gd name="T23" fmla="*/ 0 h 4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331" h="458">
                    <a:moveTo>
                      <a:pt x="163" y="0"/>
                    </a:moveTo>
                    <a:cubicBezTo>
                      <a:pt x="156" y="0"/>
                      <a:pt x="150" y="6"/>
                      <a:pt x="150" y="14"/>
                    </a:cubicBezTo>
                    <a:lnTo>
                      <a:pt x="150" y="407"/>
                    </a:lnTo>
                    <a:lnTo>
                      <a:pt x="28" y="285"/>
                    </a:lnTo>
                    <a:cubicBezTo>
                      <a:pt x="25" y="282"/>
                      <a:pt x="22" y="281"/>
                      <a:pt x="18" y="281"/>
                    </a:cubicBezTo>
                    <a:cubicBezTo>
                      <a:pt x="6" y="281"/>
                      <a:pt x="0" y="295"/>
                      <a:pt x="9" y="304"/>
                    </a:cubicBezTo>
                    <a:lnTo>
                      <a:pt x="164" y="458"/>
                    </a:lnTo>
                    <a:lnTo>
                      <a:pt x="318" y="304"/>
                    </a:lnTo>
                    <a:cubicBezTo>
                      <a:pt x="331" y="291"/>
                      <a:pt x="312" y="272"/>
                      <a:pt x="299" y="285"/>
                    </a:cubicBezTo>
                    <a:lnTo>
                      <a:pt x="177" y="407"/>
                    </a:lnTo>
                    <a:lnTo>
                      <a:pt x="177" y="14"/>
                    </a:lnTo>
                    <a:cubicBezTo>
                      <a:pt x="177" y="6"/>
                      <a:pt x="171" y="0"/>
                      <a:pt x="163" y="0"/>
                    </a:cubicBezTo>
                    <a:close/>
                  </a:path>
                </a:pathLst>
              </a:custGeom>
              <a:solidFill>
                <a:srgbClr val="5F5F5F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sz="900"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cxnSp>
            <p:nvCxnSpPr>
              <p:cNvPr id="253" name="직선 연결선 252"/>
              <p:cNvCxnSpPr/>
              <p:nvPr/>
            </p:nvCxnSpPr>
            <p:spPr>
              <a:xfrm>
                <a:off x="6816269" y="2426064"/>
                <a:ext cx="90000" cy="0"/>
              </a:xfrm>
              <a:prstGeom prst="line">
                <a:avLst/>
              </a:prstGeom>
              <a:ln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cxnSp>
        <p:nvCxnSpPr>
          <p:cNvPr id="202" name="직선 연결선 201"/>
          <p:cNvCxnSpPr/>
          <p:nvPr/>
        </p:nvCxnSpPr>
        <p:spPr>
          <a:xfrm>
            <a:off x="289155" y="5385053"/>
            <a:ext cx="2591578" cy="0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3" name="TextBox 202">
            <a:extLst>
              <a:ext uri="{FF2B5EF4-FFF2-40B4-BE49-F238E27FC236}">
                <a16:creationId xmlns="" xmlns:a16="http://schemas.microsoft.com/office/drawing/2014/main" id="{0C96C875-C47F-4F5B-B4C1-F9D666A7BD9D}"/>
              </a:ext>
            </a:extLst>
          </p:cNvPr>
          <p:cNvSpPr txBox="1"/>
          <p:nvPr/>
        </p:nvSpPr>
        <p:spPr>
          <a:xfrm>
            <a:off x="289156" y="5456689"/>
            <a:ext cx="925501" cy="180425"/>
          </a:xfrm>
          <a:prstGeom prst="rect">
            <a:avLst/>
          </a:prstGeom>
          <a:noFill/>
          <a:ln w="317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36000" tIns="36000" rIns="36000" bIns="36000" numCol="1" rtlCol="0" anchor="ctr" anchorCtr="0" compatLnSpc="1">
            <a:prstTxWarp prst="textNoShape">
              <a:avLst/>
            </a:prstTxWarp>
            <a:spAutoFit/>
          </a:bodyPr>
          <a:lstStyle/>
          <a:p>
            <a:r>
              <a:rPr lang="ko-KR" altLang="en-US" sz="600" b="1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최대 혜택가</a:t>
            </a:r>
            <a:r>
              <a:rPr lang="ko-KR" altLang="en-US" sz="700" b="1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 </a:t>
            </a:r>
            <a:r>
              <a:rPr lang="en-US" altLang="ko-KR" sz="700" b="1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403,300</a:t>
            </a:r>
            <a:r>
              <a:rPr lang="ko-KR" altLang="en-US" sz="600" b="1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원</a:t>
            </a:r>
            <a:endParaRPr lang="en-US" altLang="ko-KR" sz="700" b="1" smtClean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204" name="TextBox 203">
            <a:extLst>
              <a:ext uri="{FF2B5EF4-FFF2-40B4-BE49-F238E27FC236}">
                <a16:creationId xmlns="" xmlns:a16="http://schemas.microsoft.com/office/drawing/2014/main" id="{0C96C875-C47F-4F5B-B4C1-F9D666A7BD9D}"/>
              </a:ext>
            </a:extLst>
          </p:cNvPr>
          <p:cNvSpPr txBox="1"/>
          <p:nvPr/>
        </p:nvSpPr>
        <p:spPr>
          <a:xfrm>
            <a:off x="289156" y="5637767"/>
            <a:ext cx="909004" cy="180425"/>
          </a:xfrm>
          <a:prstGeom prst="rect">
            <a:avLst/>
          </a:prstGeom>
          <a:noFill/>
          <a:ln w="317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180000" tIns="36000" rIns="36000" bIns="36000" numCol="1" rtlCol="0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altLang="ko-KR" sz="7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1,970M </a:t>
            </a:r>
            <a:r>
              <a:rPr lang="ko-KR" altLang="en-US" sz="7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적립예정</a:t>
            </a:r>
            <a:endParaRPr lang="en-US" altLang="ko-KR" sz="700" smtClean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205" name="타원 204"/>
          <p:cNvSpPr/>
          <p:nvPr/>
        </p:nvSpPr>
        <p:spPr>
          <a:xfrm>
            <a:off x="289156" y="5655979"/>
            <a:ext cx="144000" cy="144000"/>
          </a:xfrm>
          <a:prstGeom prst="ellipse">
            <a:avLst/>
          </a:prstGeom>
          <a:solidFill>
            <a:schemeClr val="tx1">
              <a:lumMod val="75000"/>
              <a:lumOff val="2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B</a:t>
            </a:r>
            <a:endParaRPr lang="ko-KR" altLang="en-US" sz="80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06" name="타원 205"/>
          <p:cNvSpPr/>
          <p:nvPr/>
        </p:nvSpPr>
        <p:spPr>
          <a:xfrm>
            <a:off x="1199873" y="5655991"/>
            <a:ext cx="143977" cy="143976"/>
          </a:xfrm>
          <a:prstGeom prst="ellips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7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?</a:t>
            </a:r>
            <a:endParaRPr lang="ko-KR" altLang="en-US" sz="70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07" name="Chevron Down"/>
          <p:cNvSpPr>
            <a:spLocks noChangeAspect="1"/>
          </p:cNvSpPr>
          <p:nvPr/>
        </p:nvSpPr>
        <p:spPr bwMode="auto">
          <a:xfrm>
            <a:off x="2736733" y="5598093"/>
            <a:ext cx="144000" cy="79121"/>
          </a:xfrm>
          <a:custGeom>
            <a:avLst/>
            <a:gdLst>
              <a:gd name="T0" fmla="*/ 594 w 594"/>
              <a:gd name="T1" fmla="*/ 27 h 324"/>
              <a:gd name="T2" fmla="*/ 566 w 594"/>
              <a:gd name="T3" fmla="*/ 0 h 324"/>
              <a:gd name="T4" fmla="*/ 297 w 594"/>
              <a:gd name="T5" fmla="*/ 268 h 324"/>
              <a:gd name="T6" fmla="*/ 28 w 594"/>
              <a:gd name="T7" fmla="*/ 0 h 324"/>
              <a:gd name="T8" fmla="*/ 0 w 594"/>
              <a:gd name="T9" fmla="*/ 27 h 324"/>
              <a:gd name="T10" fmla="*/ 297 w 594"/>
              <a:gd name="T11" fmla="*/ 324 h 324"/>
              <a:gd name="T12" fmla="*/ 594 w 594"/>
              <a:gd name="T13" fmla="*/ 27 h 3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594" h="324">
                <a:moveTo>
                  <a:pt x="594" y="27"/>
                </a:moveTo>
                <a:lnTo>
                  <a:pt x="566" y="0"/>
                </a:lnTo>
                <a:lnTo>
                  <a:pt x="297" y="268"/>
                </a:lnTo>
                <a:lnTo>
                  <a:pt x="28" y="0"/>
                </a:lnTo>
                <a:lnTo>
                  <a:pt x="0" y="27"/>
                </a:lnTo>
                <a:lnTo>
                  <a:pt x="297" y="324"/>
                </a:lnTo>
                <a:lnTo>
                  <a:pt x="594" y="27"/>
                </a:lnTo>
                <a:close/>
              </a:path>
            </a:pathLst>
          </a:custGeom>
          <a:solidFill>
            <a:srgbClr val="5F5F5F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90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cxnSp>
        <p:nvCxnSpPr>
          <p:cNvPr id="208" name="직선 연결선 207"/>
          <p:cNvCxnSpPr/>
          <p:nvPr/>
        </p:nvCxnSpPr>
        <p:spPr>
          <a:xfrm>
            <a:off x="289155" y="5889935"/>
            <a:ext cx="2591578" cy="0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9" name="TextBox 208">
            <a:extLst>
              <a:ext uri="{FF2B5EF4-FFF2-40B4-BE49-F238E27FC236}">
                <a16:creationId xmlns="" xmlns:a16="http://schemas.microsoft.com/office/drawing/2014/main" id="{0C96C875-C47F-4F5B-B4C1-F9D666A7BD9D}"/>
              </a:ext>
            </a:extLst>
          </p:cNvPr>
          <p:cNvSpPr txBox="1"/>
          <p:nvPr/>
        </p:nvSpPr>
        <p:spPr>
          <a:xfrm>
            <a:off x="610853" y="5961547"/>
            <a:ext cx="383686" cy="180425"/>
          </a:xfrm>
          <a:prstGeom prst="rect">
            <a:avLst/>
          </a:prstGeom>
          <a:noFill/>
          <a:ln w="317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36000" tIns="36000" rIns="36000" bIns="36000" numCol="1" rtlCol="0" anchor="ctr" anchorCtr="0" compatLnSpc="1">
            <a:prstTxWarp prst="textNoShape">
              <a:avLst/>
            </a:prstTxWarp>
            <a:spAutoFit/>
          </a:bodyPr>
          <a:lstStyle/>
          <a:p>
            <a:r>
              <a:rPr lang="ko-KR" altLang="en-US" sz="700" u="sng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리뷰 </a:t>
            </a:r>
            <a:r>
              <a:rPr lang="en-US" altLang="ko-KR" sz="700" u="sng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92</a:t>
            </a:r>
            <a:endParaRPr lang="ko-KR" altLang="en-US" sz="700" u="sng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</a:endParaRPr>
          </a:p>
        </p:txBody>
      </p:sp>
      <p:grpSp>
        <p:nvGrpSpPr>
          <p:cNvPr id="210" name="그룹 209"/>
          <p:cNvGrpSpPr/>
          <p:nvPr/>
        </p:nvGrpSpPr>
        <p:grpSpPr>
          <a:xfrm>
            <a:off x="1070252" y="5961759"/>
            <a:ext cx="180000" cy="180000"/>
            <a:chOff x="6244603" y="3442840"/>
            <a:chExt cx="180000" cy="180000"/>
          </a:xfrm>
        </p:grpSpPr>
        <p:sp>
          <p:nvSpPr>
            <p:cNvPr id="248" name="직사각형 247">
              <a:extLst>
                <a:ext uri="{FF2B5EF4-FFF2-40B4-BE49-F238E27FC236}">
                  <a16:creationId xmlns:a16="http://schemas.microsoft.com/office/drawing/2014/main" xmlns="" id="{19FD5FA0-B111-4EF7-BC86-418441928DD3}"/>
                </a:ext>
              </a:extLst>
            </p:cNvPr>
            <p:cNvSpPr/>
            <p:nvPr/>
          </p:nvSpPr>
          <p:spPr>
            <a:xfrm>
              <a:off x="6244603" y="3442840"/>
              <a:ext cx="180000" cy="180000"/>
            </a:xfrm>
            <a:prstGeom prst="rect">
              <a:avLst/>
            </a:prstGeom>
            <a:pattFill prst="openDmnd">
              <a:fgClr>
                <a:schemeClr val="bg1">
                  <a:lumMod val="85000"/>
                </a:schemeClr>
              </a:fgClr>
              <a:bgClr>
                <a:schemeClr val="bg1"/>
              </a:bgClr>
            </a:patt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ko-KR" altLang="en-US" sz="6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249" name="직사각형 248">
              <a:extLst>
                <a:ext uri="{FF2B5EF4-FFF2-40B4-BE49-F238E27FC236}">
                  <a16:creationId xmlns:a16="http://schemas.microsoft.com/office/drawing/2014/main" xmlns="" id="{19FD5FA0-B111-4EF7-BC86-418441928DD3}"/>
                </a:ext>
              </a:extLst>
            </p:cNvPr>
            <p:cNvSpPr/>
            <p:nvPr/>
          </p:nvSpPr>
          <p:spPr>
            <a:xfrm>
              <a:off x="6244603" y="3442840"/>
              <a:ext cx="180000" cy="180000"/>
            </a:xfrm>
            <a:prstGeom prst="rect">
              <a:avLst/>
            </a:prstGeom>
            <a:solidFill>
              <a:schemeClr val="tx1">
                <a:lumMod val="75000"/>
                <a:lumOff val="25000"/>
                <a:alpha val="50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600" smtClean="0">
                  <a:solidFill>
                    <a:schemeClr val="bg1"/>
                  </a:solidFill>
                  <a:latin typeface="맑은 고딕" panose="020B0503020000020004" pitchFamily="50" charset="-127"/>
                </a:rPr>
                <a:t>┼</a:t>
              </a:r>
              <a:endParaRPr lang="ko-KR" altLang="en-US" sz="600">
                <a:solidFill>
                  <a:schemeClr val="bg1"/>
                </a:solidFill>
                <a:latin typeface="맑은 고딕" panose="020B0503020000020004" pitchFamily="50" charset="-127"/>
              </a:endParaRPr>
            </a:p>
          </p:txBody>
        </p:sp>
      </p:grpSp>
      <p:sp>
        <p:nvSpPr>
          <p:cNvPr id="211" name="TextBox 210">
            <a:extLst>
              <a:ext uri="{FF2B5EF4-FFF2-40B4-BE49-F238E27FC236}">
                <a16:creationId xmlns="" xmlns:a16="http://schemas.microsoft.com/office/drawing/2014/main" id="{0C96C875-C47F-4F5B-B4C1-F9D666A7BD9D}"/>
              </a:ext>
            </a:extLst>
          </p:cNvPr>
          <p:cNvSpPr txBox="1"/>
          <p:nvPr/>
        </p:nvSpPr>
        <p:spPr>
          <a:xfrm>
            <a:off x="2368807" y="5961547"/>
            <a:ext cx="511926" cy="180425"/>
          </a:xfrm>
          <a:prstGeom prst="rect">
            <a:avLst/>
          </a:prstGeom>
          <a:noFill/>
          <a:ln w="317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36000" tIns="36000" rIns="36000" bIns="36000" numCol="1" rtlCol="0" anchor="ctr" anchorCtr="0" compatLnSpc="1">
            <a:prstTxWarp prst="textNoShape">
              <a:avLst/>
            </a:prstTxWarp>
            <a:spAutoFit/>
          </a:bodyPr>
          <a:lstStyle/>
          <a:p>
            <a:pPr algn="r"/>
            <a:r>
              <a:rPr lang="ko-KR" altLang="en-US" sz="7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전체보기 </a:t>
            </a:r>
            <a:r>
              <a:rPr lang="en-US" altLang="ko-KR" sz="7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〉</a:t>
            </a:r>
            <a:endParaRPr lang="ko-KR" altLang="en-US" sz="7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</a:endParaRPr>
          </a:p>
        </p:txBody>
      </p:sp>
      <p:cxnSp>
        <p:nvCxnSpPr>
          <p:cNvPr id="212" name="직선 연결선 211"/>
          <p:cNvCxnSpPr/>
          <p:nvPr/>
        </p:nvCxnSpPr>
        <p:spPr>
          <a:xfrm>
            <a:off x="289155" y="6214837"/>
            <a:ext cx="2591578" cy="0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2" name="TextBox 271">
            <a:extLst>
              <a:ext uri="{FF2B5EF4-FFF2-40B4-BE49-F238E27FC236}">
                <a16:creationId xmlns="" xmlns:a16="http://schemas.microsoft.com/office/drawing/2014/main" id="{0C96C875-C47F-4F5B-B4C1-F9D666A7BD9D}"/>
              </a:ext>
            </a:extLst>
          </p:cNvPr>
          <p:cNvSpPr txBox="1"/>
          <p:nvPr/>
        </p:nvSpPr>
        <p:spPr>
          <a:xfrm>
            <a:off x="4968163" y="1086156"/>
            <a:ext cx="463836" cy="180425"/>
          </a:xfrm>
          <a:prstGeom prst="rect">
            <a:avLst/>
          </a:prstGeom>
          <a:noFill/>
          <a:ln w="317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36000" tIns="36000" rIns="36000" bIns="36000" numCol="1" rtlCol="0" anchor="ctr" anchorCtr="0" compatLnSpc="1">
            <a:prstTxWarp prst="textNoShape">
              <a:avLst/>
            </a:prstTxWarp>
            <a:spAutoFit/>
          </a:bodyPr>
          <a:lstStyle/>
          <a:p>
            <a:r>
              <a:rPr lang="ko-KR" altLang="en-US" sz="700" b="1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컬러</a:t>
            </a:r>
            <a:r>
              <a:rPr lang="ko-KR" altLang="en-US" sz="7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 블랙</a:t>
            </a:r>
            <a:endParaRPr lang="ko-KR" altLang="en-US" sz="7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</a:endParaRPr>
          </a:p>
        </p:txBody>
      </p:sp>
      <p:cxnSp>
        <p:nvCxnSpPr>
          <p:cNvPr id="273" name="직선 연결선 272"/>
          <p:cNvCxnSpPr/>
          <p:nvPr/>
        </p:nvCxnSpPr>
        <p:spPr>
          <a:xfrm>
            <a:off x="4968163" y="709700"/>
            <a:ext cx="2591578" cy="0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4" name="TextBox 273">
            <a:extLst>
              <a:ext uri="{FF2B5EF4-FFF2-40B4-BE49-F238E27FC236}">
                <a16:creationId xmlns="" xmlns:a16="http://schemas.microsoft.com/office/drawing/2014/main" id="{0C96C875-C47F-4F5B-B4C1-F9D666A7BD9D}"/>
              </a:ext>
            </a:extLst>
          </p:cNvPr>
          <p:cNvSpPr txBox="1"/>
          <p:nvPr/>
        </p:nvSpPr>
        <p:spPr>
          <a:xfrm>
            <a:off x="4968164" y="791898"/>
            <a:ext cx="519941" cy="195814"/>
          </a:xfrm>
          <a:prstGeom prst="rect">
            <a:avLst/>
          </a:prstGeom>
          <a:noFill/>
          <a:ln w="317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36000" tIns="36000" rIns="36000" bIns="36000" numCol="1" rtlCol="0" anchor="ctr" anchorCtr="0" compatLnSpc="1">
            <a:prstTxWarp prst="textNoShape">
              <a:avLst/>
            </a:prstTxWarp>
            <a:spAutoFit/>
          </a:bodyPr>
          <a:lstStyle/>
          <a:p>
            <a:r>
              <a:rPr lang="ko-KR" altLang="en-US" sz="800" b="1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옵션 선택</a:t>
            </a:r>
            <a:endParaRPr lang="en-US" altLang="ko-KR" sz="800" b="1" smtClean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275" name="모서리가 둥근 직사각형 274"/>
          <p:cNvSpPr/>
          <p:nvPr/>
        </p:nvSpPr>
        <p:spPr>
          <a:xfrm>
            <a:off x="4968163" y="1285766"/>
            <a:ext cx="432000" cy="539912"/>
          </a:xfrm>
          <a:prstGeom prst="roundRect">
            <a:avLst>
              <a:gd name="adj" fmla="val 11375"/>
            </a:avLst>
          </a:prstGeom>
          <a:pattFill prst="openDmnd">
            <a:fgClr>
              <a:schemeClr val="bg1">
                <a:lumMod val="85000"/>
              </a:schemeClr>
            </a:fgClr>
            <a:bgClr>
              <a:schemeClr val="bg1"/>
            </a:bgClr>
          </a:patt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6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PROD</a:t>
            </a:r>
          </a:p>
          <a:p>
            <a:pPr algn="ctr"/>
            <a:r>
              <a:rPr lang="en-US" altLang="ko-KR" sz="6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IMG</a:t>
            </a:r>
            <a:endParaRPr lang="ko-KR" altLang="en-US" sz="60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276" name="모서리가 둥근 직사각형 275"/>
          <p:cNvSpPr/>
          <p:nvPr/>
        </p:nvSpPr>
        <p:spPr>
          <a:xfrm>
            <a:off x="5472584" y="1285766"/>
            <a:ext cx="432000" cy="539912"/>
          </a:xfrm>
          <a:prstGeom prst="roundRect">
            <a:avLst>
              <a:gd name="adj" fmla="val 11375"/>
            </a:avLst>
          </a:prstGeom>
          <a:pattFill prst="openDmnd">
            <a:fgClr>
              <a:schemeClr val="bg1">
                <a:lumMod val="85000"/>
              </a:schemeClr>
            </a:fgClr>
            <a:bgClr>
              <a:schemeClr val="bg1"/>
            </a:bgClr>
          </a:patt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6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PROD</a:t>
            </a:r>
          </a:p>
          <a:p>
            <a:pPr algn="ctr"/>
            <a:r>
              <a:rPr lang="en-US" altLang="ko-KR" sz="6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IMG</a:t>
            </a:r>
            <a:endParaRPr lang="ko-KR" altLang="en-US" sz="60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277" name="TextBox 276">
            <a:extLst>
              <a:ext uri="{FF2B5EF4-FFF2-40B4-BE49-F238E27FC236}">
                <a16:creationId xmlns="" xmlns:a16="http://schemas.microsoft.com/office/drawing/2014/main" id="{0C96C875-C47F-4F5B-B4C1-F9D666A7BD9D}"/>
              </a:ext>
            </a:extLst>
          </p:cNvPr>
          <p:cNvSpPr txBox="1"/>
          <p:nvPr/>
        </p:nvSpPr>
        <p:spPr>
          <a:xfrm>
            <a:off x="4968163" y="1915377"/>
            <a:ext cx="342008" cy="180425"/>
          </a:xfrm>
          <a:prstGeom prst="rect">
            <a:avLst/>
          </a:prstGeom>
          <a:noFill/>
          <a:ln w="317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36000" tIns="36000" rIns="36000" bIns="36000" numCol="1" rtlCol="0" anchor="ctr" anchorCtr="0" compatLnSpc="1">
            <a:prstTxWarp prst="textNoShape">
              <a:avLst/>
            </a:prstTxWarp>
            <a:spAutoFit/>
          </a:bodyPr>
          <a:lstStyle/>
          <a:p>
            <a:r>
              <a:rPr lang="ko-KR" altLang="en-US" sz="700" b="1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사이즈</a:t>
            </a:r>
            <a:endParaRPr lang="ko-KR" altLang="en-US" sz="700" b="1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278" name="모서리가 둥근 직사각형 277"/>
          <p:cNvSpPr/>
          <p:nvPr/>
        </p:nvSpPr>
        <p:spPr>
          <a:xfrm>
            <a:off x="4968163" y="2114511"/>
            <a:ext cx="359942" cy="288000"/>
          </a:xfrm>
          <a:prstGeom prst="roundRect">
            <a:avLst>
              <a:gd name="adj" fmla="val 11375"/>
            </a:avLst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8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95</a:t>
            </a:r>
            <a:endParaRPr lang="ko-KR" altLang="en-US" sz="80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279" name="모서리가 둥근 직사각형 278"/>
          <p:cNvSpPr/>
          <p:nvPr/>
        </p:nvSpPr>
        <p:spPr>
          <a:xfrm>
            <a:off x="5401029" y="2114511"/>
            <a:ext cx="359942" cy="288000"/>
          </a:xfrm>
          <a:prstGeom prst="roundRect">
            <a:avLst>
              <a:gd name="adj" fmla="val 11375"/>
            </a:avLst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8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100</a:t>
            </a:r>
            <a:endParaRPr lang="ko-KR" altLang="en-US" sz="80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280" name="모서리가 둥근 직사각형 279"/>
          <p:cNvSpPr/>
          <p:nvPr/>
        </p:nvSpPr>
        <p:spPr>
          <a:xfrm>
            <a:off x="5832764" y="2114511"/>
            <a:ext cx="359942" cy="288000"/>
          </a:xfrm>
          <a:prstGeom prst="roundRect">
            <a:avLst>
              <a:gd name="adj" fmla="val 11375"/>
            </a:avLst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8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105</a:t>
            </a:r>
            <a:endParaRPr lang="ko-KR" altLang="en-US" sz="80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281" name="모서리가 둥근 직사각형 280"/>
          <p:cNvSpPr/>
          <p:nvPr/>
        </p:nvSpPr>
        <p:spPr>
          <a:xfrm>
            <a:off x="6263440" y="2114511"/>
            <a:ext cx="359942" cy="288000"/>
          </a:xfrm>
          <a:prstGeom prst="roundRect">
            <a:avLst>
              <a:gd name="adj" fmla="val 11375"/>
            </a:avLst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8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110</a:t>
            </a:r>
            <a:endParaRPr lang="ko-KR" altLang="en-US" sz="80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282" name="모서리가 둥근 직사각형 281"/>
          <p:cNvSpPr/>
          <p:nvPr/>
        </p:nvSpPr>
        <p:spPr>
          <a:xfrm>
            <a:off x="6696109" y="2114511"/>
            <a:ext cx="359942" cy="288000"/>
          </a:xfrm>
          <a:prstGeom prst="roundRect">
            <a:avLst>
              <a:gd name="adj" fmla="val 11375"/>
            </a:avLst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8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115</a:t>
            </a:r>
            <a:endParaRPr lang="ko-KR" altLang="en-US" sz="80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283" name="모서리가 둥근 직사각형 282"/>
          <p:cNvSpPr/>
          <p:nvPr/>
        </p:nvSpPr>
        <p:spPr>
          <a:xfrm>
            <a:off x="7128632" y="2114511"/>
            <a:ext cx="359942" cy="288000"/>
          </a:xfrm>
          <a:prstGeom prst="roundRect">
            <a:avLst>
              <a:gd name="adj" fmla="val 11375"/>
            </a:avLst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800" strike="sngStrike" smtClean="0">
                <a:solidFill>
                  <a:schemeClr val="bg1">
                    <a:lumMod val="75000"/>
                  </a:schemeClr>
                </a:solidFill>
                <a:latin typeface="맑은 고딕" panose="020B0503020000020004" pitchFamily="50" charset="-127"/>
              </a:rPr>
              <a:t>120</a:t>
            </a:r>
            <a:endParaRPr lang="ko-KR" altLang="en-US" sz="800" strike="sngStrike">
              <a:solidFill>
                <a:schemeClr val="bg1">
                  <a:lumMod val="75000"/>
                </a:schemeClr>
              </a:solidFill>
              <a:latin typeface="맑은 고딕" panose="020B0503020000020004" pitchFamily="50" charset="-127"/>
            </a:endParaRPr>
          </a:p>
        </p:txBody>
      </p:sp>
      <p:grpSp>
        <p:nvGrpSpPr>
          <p:cNvPr id="284" name="그룹 283"/>
          <p:cNvGrpSpPr/>
          <p:nvPr/>
        </p:nvGrpSpPr>
        <p:grpSpPr>
          <a:xfrm>
            <a:off x="7343331" y="2077802"/>
            <a:ext cx="179970" cy="179970"/>
            <a:chOff x="7589341" y="3009028"/>
            <a:chExt cx="180000" cy="180000"/>
          </a:xfrm>
        </p:grpSpPr>
        <p:sp>
          <p:nvSpPr>
            <p:cNvPr id="285" name="타원 284"/>
            <p:cNvSpPr/>
            <p:nvPr/>
          </p:nvSpPr>
          <p:spPr>
            <a:xfrm>
              <a:off x="7589341" y="3009028"/>
              <a:ext cx="180000" cy="180000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ko-KR" altLang="en-US" sz="5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grpSp>
          <p:nvGrpSpPr>
            <p:cNvPr id="286" name="그룹 285"/>
            <p:cNvGrpSpPr/>
            <p:nvPr/>
          </p:nvGrpSpPr>
          <p:grpSpPr>
            <a:xfrm>
              <a:off x="7625341" y="3045028"/>
              <a:ext cx="108000" cy="108000"/>
              <a:chOff x="531806" y="1604594"/>
              <a:chExt cx="180000" cy="180738"/>
            </a:xfrm>
          </p:grpSpPr>
          <p:grpSp>
            <p:nvGrpSpPr>
              <p:cNvPr id="287" name="그룹 286"/>
              <p:cNvGrpSpPr/>
              <p:nvPr/>
            </p:nvGrpSpPr>
            <p:grpSpPr>
              <a:xfrm>
                <a:off x="549806" y="1604594"/>
                <a:ext cx="144000" cy="180738"/>
                <a:chOff x="691953" y="1723346"/>
                <a:chExt cx="144000" cy="180738"/>
              </a:xfrm>
              <a:solidFill>
                <a:schemeClr val="bg1"/>
              </a:solidFill>
            </p:grpSpPr>
            <p:sp>
              <p:nvSpPr>
                <p:cNvPr id="289" name="양쪽 모서리가 둥근 사각형 288"/>
                <p:cNvSpPr/>
                <p:nvPr/>
              </p:nvSpPr>
              <p:spPr>
                <a:xfrm>
                  <a:off x="700953" y="1723346"/>
                  <a:ext cx="126000" cy="126000"/>
                </a:xfrm>
                <a:prstGeom prst="round2SameRect">
                  <a:avLst>
                    <a:gd name="adj1" fmla="val 50000"/>
                    <a:gd name="adj2" fmla="val 0"/>
                  </a:avLst>
                </a:prstGeom>
                <a:grpFill/>
                <a:ln w="3175">
                  <a:solidFill>
                    <a:srgbClr val="DC283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7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endParaRPr>
                </a:p>
              </p:txBody>
            </p:sp>
            <p:sp>
              <p:nvSpPr>
                <p:cNvPr id="290" name="타원 289"/>
                <p:cNvSpPr/>
                <p:nvPr/>
              </p:nvSpPr>
              <p:spPr>
                <a:xfrm>
                  <a:off x="736953" y="1850084"/>
                  <a:ext cx="54000" cy="54000"/>
                </a:xfrm>
                <a:prstGeom prst="ellipse">
                  <a:avLst/>
                </a:prstGeom>
                <a:grpFill/>
                <a:ln w="3175">
                  <a:solidFill>
                    <a:srgbClr val="DC283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7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endParaRPr>
                </a:p>
              </p:txBody>
            </p:sp>
            <p:sp>
              <p:nvSpPr>
                <p:cNvPr id="291" name="직사각형 290"/>
                <p:cNvSpPr/>
                <p:nvPr/>
              </p:nvSpPr>
              <p:spPr>
                <a:xfrm>
                  <a:off x="691953" y="1811453"/>
                  <a:ext cx="144000" cy="18000"/>
                </a:xfrm>
                <a:prstGeom prst="rect">
                  <a:avLst/>
                </a:prstGeom>
                <a:grpFill/>
                <a:ln w="3175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7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endParaRPr>
                </a:p>
              </p:txBody>
            </p:sp>
            <p:sp>
              <p:nvSpPr>
                <p:cNvPr id="292" name="직사각형 291"/>
                <p:cNvSpPr/>
                <p:nvPr/>
              </p:nvSpPr>
              <p:spPr>
                <a:xfrm>
                  <a:off x="691953" y="1859609"/>
                  <a:ext cx="144000" cy="18000"/>
                </a:xfrm>
                <a:prstGeom prst="rect">
                  <a:avLst/>
                </a:prstGeom>
                <a:grpFill/>
                <a:ln w="3175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7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endParaRPr>
                </a:p>
              </p:txBody>
            </p:sp>
            <p:sp>
              <p:nvSpPr>
                <p:cNvPr id="293" name="직사각형 292"/>
                <p:cNvSpPr/>
                <p:nvPr/>
              </p:nvSpPr>
              <p:spPr>
                <a:xfrm>
                  <a:off x="691953" y="1832609"/>
                  <a:ext cx="144000" cy="25200"/>
                </a:xfrm>
                <a:prstGeom prst="rect">
                  <a:avLst/>
                </a:prstGeom>
                <a:grpFill/>
                <a:ln w="3175">
                  <a:solidFill>
                    <a:srgbClr val="DC283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7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endParaRPr>
                </a:p>
              </p:txBody>
            </p:sp>
          </p:grpSp>
          <p:sp>
            <p:nvSpPr>
              <p:cNvPr id="288" name="직사각형 287"/>
              <p:cNvSpPr/>
              <p:nvPr/>
            </p:nvSpPr>
            <p:spPr>
              <a:xfrm>
                <a:off x="531806" y="1604594"/>
                <a:ext cx="180000" cy="180000"/>
              </a:xfrm>
              <a:prstGeom prst="rect">
                <a:avLst/>
              </a:prstGeom>
              <a:noFill/>
              <a:ln w="31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70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</p:grpSp>
      </p:grpSp>
      <p:sp>
        <p:nvSpPr>
          <p:cNvPr id="294" name="TextBox 293">
            <a:extLst>
              <a:ext uri="{FF2B5EF4-FFF2-40B4-BE49-F238E27FC236}">
                <a16:creationId xmlns="" xmlns:a16="http://schemas.microsoft.com/office/drawing/2014/main" id="{0C96C875-C47F-4F5B-B4C1-F9D666A7BD9D}"/>
              </a:ext>
            </a:extLst>
          </p:cNvPr>
          <p:cNvSpPr txBox="1"/>
          <p:nvPr/>
        </p:nvSpPr>
        <p:spPr>
          <a:xfrm>
            <a:off x="6958046" y="1915378"/>
            <a:ext cx="601695" cy="180425"/>
          </a:xfrm>
          <a:prstGeom prst="rect">
            <a:avLst/>
          </a:prstGeom>
          <a:noFill/>
          <a:ln w="317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36000" tIns="36000" rIns="36000" bIns="36000" numCol="1" rtlCol="0" anchor="ctr" anchorCtr="0" compatLnSpc="1">
            <a:prstTxWarp prst="textNoShape">
              <a:avLst/>
            </a:prstTxWarp>
            <a:spAutoFit/>
          </a:bodyPr>
          <a:lstStyle/>
          <a:p>
            <a:pPr algn="r"/>
            <a:r>
              <a:rPr lang="ko-KR" altLang="en-US" sz="7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사이즈안내 </a:t>
            </a:r>
            <a:r>
              <a:rPr lang="en-US" altLang="ko-KR" sz="7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〉</a:t>
            </a:r>
            <a:endParaRPr lang="ko-KR" altLang="en-US" sz="7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295" name="타원 294"/>
          <p:cNvSpPr/>
          <p:nvPr/>
        </p:nvSpPr>
        <p:spPr>
          <a:xfrm>
            <a:off x="5238105" y="2168511"/>
            <a:ext cx="36000" cy="36000"/>
          </a:xfrm>
          <a:prstGeom prst="ellipse">
            <a:avLst/>
          </a:prstGeom>
          <a:solidFill>
            <a:srgbClr val="C0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96" name="TextBox 295"/>
          <p:cNvSpPr txBox="1"/>
          <p:nvPr/>
        </p:nvSpPr>
        <p:spPr>
          <a:xfrm>
            <a:off x="5022548" y="2473675"/>
            <a:ext cx="250068" cy="76944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r>
              <a:rPr lang="en-US" altLang="ko-KR" sz="500" smtClean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3</a:t>
            </a:r>
            <a:r>
              <a:rPr lang="ko-KR" altLang="en-US" sz="500" smtClean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개 남음</a:t>
            </a:r>
            <a:endParaRPr lang="ko-KR" altLang="en-US" sz="500" dirty="0">
              <a:solidFill>
                <a:schemeClr val="bg1">
                  <a:lumMod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297" name="직선 연결선 296"/>
          <p:cNvCxnSpPr/>
          <p:nvPr/>
        </p:nvCxnSpPr>
        <p:spPr>
          <a:xfrm>
            <a:off x="4968163" y="2726138"/>
            <a:ext cx="2591578" cy="0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8" name="TextBox 297">
            <a:extLst>
              <a:ext uri="{FF2B5EF4-FFF2-40B4-BE49-F238E27FC236}">
                <a16:creationId xmlns="" xmlns:a16="http://schemas.microsoft.com/office/drawing/2014/main" id="{0C96C875-C47F-4F5B-B4C1-F9D666A7BD9D}"/>
              </a:ext>
            </a:extLst>
          </p:cNvPr>
          <p:cNvSpPr txBox="1"/>
          <p:nvPr/>
        </p:nvSpPr>
        <p:spPr>
          <a:xfrm>
            <a:off x="4968164" y="2809808"/>
            <a:ext cx="901456" cy="195814"/>
          </a:xfrm>
          <a:prstGeom prst="rect">
            <a:avLst/>
          </a:prstGeom>
          <a:noFill/>
          <a:ln w="317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36000" tIns="36000" rIns="36000" bIns="36000" numCol="1" rtlCol="0" anchor="ctr" anchorCtr="0" compatLnSpc="1">
            <a:prstTxWarp prst="textNoShape">
              <a:avLst/>
            </a:prstTxWarp>
            <a:spAutoFit/>
          </a:bodyPr>
          <a:lstStyle/>
          <a:p>
            <a:r>
              <a:rPr lang="ko-KR" altLang="en-US" sz="800" b="1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배송 및 혜택 안내</a:t>
            </a:r>
            <a:endParaRPr lang="en-US" altLang="ko-KR" sz="800" b="1" smtClean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306" name="직사각형 305"/>
          <p:cNvSpPr/>
          <p:nvPr/>
        </p:nvSpPr>
        <p:spPr>
          <a:xfrm>
            <a:off x="5832764" y="2476146"/>
            <a:ext cx="360000" cy="180000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75000"/>
                </a:schemeClr>
              </a:gs>
              <a:gs pos="50000">
                <a:schemeClr val="accent5"/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0" scaled="1"/>
            <a:tileRect/>
          </a:gra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600">
                <a:solidFill>
                  <a:schemeClr val="bg1"/>
                </a:solidFill>
                <a:latin typeface="맑은 고딕" panose="020B0503020000020004" pitchFamily="50" charset="-127"/>
              </a:rPr>
              <a:t>매장배송</a:t>
            </a:r>
            <a:endParaRPr lang="ko-KR" altLang="en-US" sz="600">
              <a:solidFill>
                <a:schemeClr val="bg1"/>
              </a:solidFill>
              <a:latin typeface="맑은 고딕" panose="020B0503020000020004" pitchFamily="50" charset="-127"/>
            </a:endParaRPr>
          </a:p>
        </p:txBody>
      </p:sp>
      <p:sp>
        <p:nvSpPr>
          <p:cNvPr id="310" name="TextBox 309">
            <a:extLst>
              <a:ext uri="{FF2B5EF4-FFF2-40B4-BE49-F238E27FC236}">
                <a16:creationId xmlns="" xmlns:a16="http://schemas.microsoft.com/office/drawing/2014/main" id="{0C96C875-C47F-4F5B-B4C1-F9D666A7BD9D}"/>
              </a:ext>
            </a:extLst>
          </p:cNvPr>
          <p:cNvSpPr txBox="1"/>
          <p:nvPr/>
        </p:nvSpPr>
        <p:spPr>
          <a:xfrm>
            <a:off x="289156" y="6297035"/>
            <a:ext cx="519941" cy="195814"/>
          </a:xfrm>
          <a:prstGeom prst="rect">
            <a:avLst/>
          </a:prstGeom>
          <a:noFill/>
          <a:ln w="317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36000" tIns="36000" rIns="36000" bIns="36000" numCol="1" rtlCol="0" anchor="ctr" anchorCtr="0" compatLnSpc="1">
            <a:prstTxWarp prst="textNoShape">
              <a:avLst/>
            </a:prstTxWarp>
            <a:spAutoFit/>
          </a:bodyPr>
          <a:lstStyle/>
          <a:p>
            <a:r>
              <a:rPr lang="ko-KR" altLang="en-US" sz="800" b="1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옵션 선택</a:t>
            </a:r>
            <a:endParaRPr lang="en-US" altLang="ko-KR" sz="800" b="1" smtClean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311" name="직사각형 310"/>
          <p:cNvSpPr/>
          <p:nvPr/>
        </p:nvSpPr>
        <p:spPr>
          <a:xfrm>
            <a:off x="289179" y="6399549"/>
            <a:ext cx="2592000" cy="144000"/>
          </a:xfrm>
          <a:prstGeom prst="rect">
            <a:avLst/>
          </a:pr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17" name="TextBox 316">
            <a:extLst>
              <a:ext uri="{FF2B5EF4-FFF2-40B4-BE49-F238E27FC236}">
                <a16:creationId xmlns="" xmlns:a16="http://schemas.microsoft.com/office/drawing/2014/main" id="{0C96C875-C47F-4F5B-B4C1-F9D666A7BD9D}"/>
              </a:ext>
            </a:extLst>
          </p:cNvPr>
          <p:cNvSpPr txBox="1"/>
          <p:nvPr/>
        </p:nvSpPr>
        <p:spPr>
          <a:xfrm>
            <a:off x="4968163" y="3086287"/>
            <a:ext cx="431776" cy="180425"/>
          </a:xfrm>
          <a:prstGeom prst="rect">
            <a:avLst/>
          </a:prstGeom>
          <a:noFill/>
          <a:ln w="317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36000" tIns="36000" rIns="36000" bIns="36000" numCol="1" rtlCol="0" anchor="ctr" anchorCtr="0" compatLnSpc="1">
            <a:prstTxWarp prst="textNoShape">
              <a:avLst/>
            </a:prstTxWarp>
            <a:spAutoFit/>
          </a:bodyPr>
          <a:lstStyle/>
          <a:p>
            <a:r>
              <a:rPr lang="ko-KR" altLang="en-US" sz="700" smtClean="0">
                <a:solidFill>
                  <a:schemeClr val="tx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</a:rPr>
              <a:t>배송정보</a:t>
            </a:r>
            <a:endParaRPr lang="ko-KR" altLang="en-US" sz="700" dirty="0">
              <a:solidFill>
                <a:schemeClr val="tx1">
                  <a:lumMod val="50000"/>
                  <a:lumOff val="50000"/>
                </a:schemeClr>
              </a:solidFill>
              <a:latin typeface="맑은 고딕" panose="020B0503020000020004" pitchFamily="50" charset="-127"/>
            </a:endParaRPr>
          </a:p>
        </p:txBody>
      </p:sp>
      <p:grpSp>
        <p:nvGrpSpPr>
          <p:cNvPr id="324" name="그룹 323"/>
          <p:cNvGrpSpPr/>
          <p:nvPr/>
        </p:nvGrpSpPr>
        <p:grpSpPr>
          <a:xfrm>
            <a:off x="5616187" y="3140468"/>
            <a:ext cx="126000" cy="72000"/>
            <a:chOff x="4549384" y="3972353"/>
            <a:chExt cx="180000" cy="108000"/>
          </a:xfrm>
        </p:grpSpPr>
        <p:sp>
          <p:nvSpPr>
            <p:cNvPr id="326" name="직사각형 325"/>
            <p:cNvSpPr/>
            <p:nvPr/>
          </p:nvSpPr>
          <p:spPr>
            <a:xfrm>
              <a:off x="4549384" y="3972353"/>
              <a:ext cx="35644" cy="108000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8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327" name="타원 326"/>
            <p:cNvSpPr/>
            <p:nvPr/>
          </p:nvSpPr>
          <p:spPr>
            <a:xfrm>
              <a:off x="4595721" y="4044353"/>
              <a:ext cx="35644" cy="36000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8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328" name="직사각형 327"/>
            <p:cNvSpPr/>
            <p:nvPr/>
          </p:nvSpPr>
          <p:spPr>
            <a:xfrm>
              <a:off x="4647404" y="3972353"/>
              <a:ext cx="35644" cy="108000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8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329" name="타원 328"/>
            <p:cNvSpPr/>
            <p:nvPr/>
          </p:nvSpPr>
          <p:spPr>
            <a:xfrm>
              <a:off x="4693740" y="3972353"/>
              <a:ext cx="35644" cy="36000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8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330" name="타원 329"/>
            <p:cNvSpPr/>
            <p:nvPr/>
          </p:nvSpPr>
          <p:spPr>
            <a:xfrm>
              <a:off x="4693740" y="4026353"/>
              <a:ext cx="35644" cy="36000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8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sp>
        <p:nvSpPr>
          <p:cNvPr id="325" name="TextBox 324"/>
          <p:cNvSpPr txBox="1"/>
          <p:nvPr/>
        </p:nvSpPr>
        <p:spPr>
          <a:xfrm>
            <a:off x="5777848" y="3122638"/>
            <a:ext cx="269304" cy="107722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r>
              <a:rPr lang="ko-KR" altLang="en-US" sz="700" smtClean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슝배송</a:t>
            </a:r>
            <a:endParaRPr lang="ko-KR" altLang="en-US" sz="700" dirty="0">
              <a:solidFill>
                <a:srgbClr val="C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33" name="TextBox 332">
            <a:extLst>
              <a:ext uri="{FF2B5EF4-FFF2-40B4-BE49-F238E27FC236}">
                <a16:creationId xmlns="" xmlns:a16="http://schemas.microsoft.com/office/drawing/2014/main" id="{0C96C875-C47F-4F5B-B4C1-F9D666A7BD9D}"/>
              </a:ext>
            </a:extLst>
          </p:cNvPr>
          <p:cNvSpPr txBox="1"/>
          <p:nvPr/>
        </p:nvSpPr>
        <p:spPr>
          <a:xfrm>
            <a:off x="6191508" y="3086287"/>
            <a:ext cx="448841" cy="180425"/>
          </a:xfrm>
          <a:prstGeom prst="rect">
            <a:avLst/>
          </a:prstGeom>
          <a:noFill/>
          <a:ln w="317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0" tIns="36000" rIns="0" bIns="36000" numCol="1" rtlCol="0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altLang="ko-KR" sz="7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CJ</a:t>
            </a:r>
            <a:r>
              <a:rPr lang="ko-KR" altLang="en-US" sz="7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대한통운</a:t>
            </a:r>
            <a:endParaRPr lang="ko-KR" altLang="en-US" sz="7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</a:endParaRPr>
          </a:p>
        </p:txBody>
      </p:sp>
      <p:cxnSp>
        <p:nvCxnSpPr>
          <p:cNvPr id="334" name="직선 연결선 333"/>
          <p:cNvCxnSpPr/>
          <p:nvPr/>
        </p:nvCxnSpPr>
        <p:spPr>
          <a:xfrm>
            <a:off x="6119330" y="3122499"/>
            <a:ext cx="0" cy="108000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7" name="TextBox 336">
            <a:extLst>
              <a:ext uri="{FF2B5EF4-FFF2-40B4-BE49-F238E27FC236}">
                <a16:creationId xmlns="" xmlns:a16="http://schemas.microsoft.com/office/drawing/2014/main" id="{0C96C875-C47F-4F5B-B4C1-F9D666A7BD9D}"/>
              </a:ext>
            </a:extLst>
          </p:cNvPr>
          <p:cNvSpPr txBox="1"/>
          <p:nvPr/>
        </p:nvSpPr>
        <p:spPr>
          <a:xfrm>
            <a:off x="5616187" y="3267636"/>
            <a:ext cx="359073" cy="180425"/>
          </a:xfrm>
          <a:prstGeom prst="rect">
            <a:avLst/>
          </a:prstGeom>
          <a:noFill/>
          <a:ln w="317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0" tIns="36000" rIns="0" bIns="36000" numCol="1" rtlCol="0" anchor="ctr" anchorCtr="0" compatLnSpc="1">
            <a:prstTxWarp prst="textNoShape">
              <a:avLst/>
            </a:prstTxWarp>
            <a:spAutoFit/>
          </a:bodyPr>
          <a:lstStyle/>
          <a:p>
            <a:r>
              <a:rPr lang="ko-KR" altLang="en-US" sz="7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무료배송</a:t>
            </a:r>
            <a:endParaRPr lang="ko-KR" altLang="en-US" sz="7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</a:endParaRPr>
          </a:p>
        </p:txBody>
      </p:sp>
      <p:cxnSp>
        <p:nvCxnSpPr>
          <p:cNvPr id="338" name="직선 연결선 337"/>
          <p:cNvCxnSpPr/>
          <p:nvPr/>
        </p:nvCxnSpPr>
        <p:spPr>
          <a:xfrm>
            <a:off x="5616187" y="3519983"/>
            <a:ext cx="1944000" cy="0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2" name="TextBox 341">
            <a:extLst>
              <a:ext uri="{FF2B5EF4-FFF2-40B4-BE49-F238E27FC236}">
                <a16:creationId xmlns="" xmlns:a16="http://schemas.microsoft.com/office/drawing/2014/main" id="{0C96C875-C47F-4F5B-B4C1-F9D666A7BD9D}"/>
              </a:ext>
            </a:extLst>
          </p:cNvPr>
          <p:cNvSpPr txBox="1"/>
          <p:nvPr/>
        </p:nvSpPr>
        <p:spPr>
          <a:xfrm>
            <a:off x="5616187" y="3591747"/>
            <a:ext cx="1247136" cy="180425"/>
          </a:xfrm>
          <a:prstGeom prst="rect">
            <a:avLst/>
          </a:prstGeom>
          <a:noFill/>
          <a:ln w="317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0" tIns="36000" rIns="0" bIns="36000" numCol="1" rtlCol="0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altLang="ko-KR" sz="700" b="1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12/13 (</a:t>
            </a:r>
            <a:r>
              <a:rPr lang="ko-KR" altLang="en-US" sz="700" b="1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토</a:t>
            </a:r>
            <a:r>
              <a:rPr lang="en-US" altLang="ko-KR" sz="700" b="1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) </a:t>
            </a:r>
            <a:r>
              <a:rPr lang="ko-KR" altLang="en-US" sz="700" b="1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이내 도착확률 </a:t>
            </a:r>
            <a:r>
              <a:rPr lang="en-US" altLang="ko-KR" sz="700" b="1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96%</a:t>
            </a:r>
            <a:endParaRPr lang="ko-KR" altLang="en-US" sz="700" b="1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344" name="TextBox 343">
            <a:extLst>
              <a:ext uri="{FF2B5EF4-FFF2-40B4-BE49-F238E27FC236}">
                <a16:creationId xmlns="" xmlns:a16="http://schemas.microsoft.com/office/drawing/2014/main" id="{0C96C875-C47F-4F5B-B4C1-F9D666A7BD9D}"/>
              </a:ext>
            </a:extLst>
          </p:cNvPr>
          <p:cNvSpPr txBox="1"/>
          <p:nvPr/>
        </p:nvSpPr>
        <p:spPr>
          <a:xfrm>
            <a:off x="5616187" y="3773175"/>
            <a:ext cx="1513235" cy="180425"/>
          </a:xfrm>
          <a:prstGeom prst="rect">
            <a:avLst/>
          </a:prstGeom>
          <a:noFill/>
          <a:ln w="317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0" tIns="36000" rIns="0" bIns="36000" numCol="1" rtlCol="0" anchor="ctr" anchorCtr="0" compatLnSpc="1">
            <a:prstTxWarp prst="textNoShape">
              <a:avLst/>
            </a:prstTxWarp>
            <a:spAutoFit/>
          </a:bodyPr>
          <a:lstStyle/>
          <a:p>
            <a:r>
              <a:rPr lang="ko-KR" altLang="en-US" sz="700" smtClean="0">
                <a:solidFill>
                  <a:schemeClr val="tx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</a:rPr>
              <a:t>서울 노원구 기준 </a:t>
            </a:r>
            <a:r>
              <a:rPr lang="en-US" altLang="ko-KR" sz="700" smtClean="0">
                <a:solidFill>
                  <a:schemeClr val="tx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</a:rPr>
              <a:t>(18</a:t>
            </a:r>
            <a:r>
              <a:rPr lang="ko-KR" altLang="en-US" sz="700" smtClean="0">
                <a:solidFill>
                  <a:schemeClr val="tx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</a:rPr>
              <a:t>시 이전 결제 시</a:t>
            </a:r>
            <a:r>
              <a:rPr lang="en-US" altLang="ko-KR" sz="700" smtClean="0">
                <a:solidFill>
                  <a:schemeClr val="tx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</a:rPr>
              <a:t>)</a:t>
            </a:r>
            <a:endParaRPr lang="ko-KR" altLang="en-US" sz="700" dirty="0">
              <a:solidFill>
                <a:schemeClr val="tx1">
                  <a:lumMod val="50000"/>
                  <a:lumOff val="50000"/>
                </a:schemeClr>
              </a:solidFill>
              <a:latin typeface="맑은 고딕" panose="020B0503020000020004" pitchFamily="50" charset="-127"/>
            </a:endParaRPr>
          </a:p>
        </p:txBody>
      </p:sp>
      <p:cxnSp>
        <p:nvCxnSpPr>
          <p:cNvPr id="347" name="직선 연결선 346"/>
          <p:cNvCxnSpPr/>
          <p:nvPr/>
        </p:nvCxnSpPr>
        <p:spPr>
          <a:xfrm>
            <a:off x="4968163" y="4529997"/>
            <a:ext cx="2591578" cy="0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5" name="TextBox 354">
            <a:extLst>
              <a:ext uri="{FF2B5EF4-FFF2-40B4-BE49-F238E27FC236}">
                <a16:creationId xmlns="" xmlns:a16="http://schemas.microsoft.com/office/drawing/2014/main" id="{0C96C875-C47F-4F5B-B4C1-F9D666A7BD9D}"/>
              </a:ext>
            </a:extLst>
          </p:cNvPr>
          <p:cNvSpPr txBox="1"/>
          <p:nvPr/>
        </p:nvSpPr>
        <p:spPr>
          <a:xfrm>
            <a:off x="5616187" y="4602360"/>
            <a:ext cx="1518044" cy="180425"/>
          </a:xfrm>
          <a:prstGeom prst="rect">
            <a:avLst/>
          </a:prstGeom>
          <a:noFill/>
          <a:ln w="317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0" tIns="36000" rIns="0" bIns="36000" numCol="1" rtlCol="0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altLang="ko-KR" sz="700" smtClean="0">
                <a:solidFill>
                  <a:schemeClr val="tx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</a:rPr>
              <a:t>LFmall </a:t>
            </a:r>
            <a:r>
              <a:rPr lang="ko-KR" altLang="en-US" sz="700" smtClean="0">
                <a:solidFill>
                  <a:schemeClr val="tx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</a:rPr>
              <a:t>신용카드 결제시</a:t>
            </a:r>
            <a:r>
              <a:rPr lang="ko-KR" altLang="en-US" sz="700" b="1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 </a:t>
            </a:r>
            <a:r>
              <a:rPr lang="en-US" altLang="ko-KR" sz="700" b="1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5% </a:t>
            </a:r>
            <a:r>
              <a:rPr lang="ko-KR" altLang="en-US" sz="700" b="1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추가할인</a:t>
            </a:r>
            <a:endParaRPr lang="ko-KR" altLang="en-US" sz="700" b="1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357" name="TextBox 356">
            <a:extLst>
              <a:ext uri="{FF2B5EF4-FFF2-40B4-BE49-F238E27FC236}">
                <a16:creationId xmlns="" xmlns:a16="http://schemas.microsoft.com/office/drawing/2014/main" id="{0C96C875-C47F-4F5B-B4C1-F9D666A7BD9D}"/>
              </a:ext>
            </a:extLst>
          </p:cNvPr>
          <p:cNvSpPr txBox="1"/>
          <p:nvPr/>
        </p:nvSpPr>
        <p:spPr>
          <a:xfrm>
            <a:off x="5616187" y="4783788"/>
            <a:ext cx="782265" cy="180425"/>
          </a:xfrm>
          <a:prstGeom prst="rect">
            <a:avLst/>
          </a:prstGeom>
          <a:noFill/>
          <a:ln w="317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0" tIns="36000" rIns="0" bIns="36000" numCol="1" rtlCol="0" anchor="ctr" anchorCtr="0" compatLnSpc="1">
            <a:prstTxWarp prst="textNoShape">
              <a:avLst/>
            </a:prstTxWarp>
            <a:spAutoFit/>
          </a:bodyPr>
          <a:lstStyle/>
          <a:p>
            <a:r>
              <a:rPr lang="ko-KR" altLang="en-US" sz="700" smtClean="0">
                <a:solidFill>
                  <a:schemeClr val="tx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</a:rPr>
              <a:t>카드사별 할부 혜택</a:t>
            </a:r>
            <a:endParaRPr lang="ko-KR" altLang="en-US" sz="700" dirty="0">
              <a:solidFill>
                <a:schemeClr val="tx1">
                  <a:lumMod val="50000"/>
                  <a:lumOff val="50000"/>
                </a:schemeClr>
              </a:solidFill>
              <a:latin typeface="맑은 고딕" panose="020B0503020000020004" pitchFamily="50" charset="-127"/>
            </a:endParaRPr>
          </a:p>
        </p:txBody>
      </p:sp>
      <p:cxnSp>
        <p:nvCxnSpPr>
          <p:cNvPr id="358" name="직선 연결선 357"/>
          <p:cNvCxnSpPr/>
          <p:nvPr/>
        </p:nvCxnSpPr>
        <p:spPr>
          <a:xfrm>
            <a:off x="4968163" y="5034841"/>
            <a:ext cx="2591578" cy="0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1" name="TextBox 360">
            <a:extLst>
              <a:ext uri="{FF2B5EF4-FFF2-40B4-BE49-F238E27FC236}">
                <a16:creationId xmlns="" xmlns:a16="http://schemas.microsoft.com/office/drawing/2014/main" id="{0C96C875-C47F-4F5B-B4C1-F9D666A7BD9D}"/>
              </a:ext>
            </a:extLst>
          </p:cNvPr>
          <p:cNvSpPr txBox="1"/>
          <p:nvPr/>
        </p:nvSpPr>
        <p:spPr>
          <a:xfrm>
            <a:off x="4968163" y="4601465"/>
            <a:ext cx="431776" cy="180425"/>
          </a:xfrm>
          <a:prstGeom prst="rect">
            <a:avLst/>
          </a:prstGeom>
          <a:noFill/>
          <a:ln w="317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36000" tIns="36000" rIns="36000" bIns="36000" numCol="1" rtlCol="0" anchor="ctr" anchorCtr="0" compatLnSpc="1">
            <a:prstTxWarp prst="textNoShape">
              <a:avLst/>
            </a:prstTxWarp>
            <a:spAutoFit/>
          </a:bodyPr>
          <a:lstStyle/>
          <a:p>
            <a:r>
              <a:rPr lang="ko-KR" altLang="en-US" sz="700" smtClean="0">
                <a:solidFill>
                  <a:schemeClr val="tx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</a:rPr>
              <a:t>카드혜택</a:t>
            </a:r>
            <a:endParaRPr lang="ko-KR" altLang="en-US" sz="700" dirty="0">
              <a:solidFill>
                <a:schemeClr val="tx1">
                  <a:lumMod val="50000"/>
                  <a:lumOff val="50000"/>
                </a:scheme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363" name="TextBox 362">
            <a:extLst>
              <a:ext uri="{FF2B5EF4-FFF2-40B4-BE49-F238E27FC236}">
                <a16:creationId xmlns="" xmlns:a16="http://schemas.microsoft.com/office/drawing/2014/main" id="{0C96C875-C47F-4F5B-B4C1-F9D666A7BD9D}"/>
              </a:ext>
            </a:extLst>
          </p:cNvPr>
          <p:cNvSpPr txBox="1"/>
          <p:nvPr/>
        </p:nvSpPr>
        <p:spPr>
          <a:xfrm>
            <a:off x="7511651" y="4602360"/>
            <a:ext cx="48090" cy="180425"/>
          </a:xfrm>
          <a:prstGeom prst="rect">
            <a:avLst/>
          </a:prstGeom>
          <a:noFill/>
          <a:ln w="317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0" tIns="36000" rIns="0" bIns="36000" numCol="1" rtlCol="0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altLang="ko-KR" sz="700" b="1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〉</a:t>
            </a:r>
            <a:endParaRPr lang="ko-KR" altLang="en-US" sz="700" b="1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364" name="TextBox 363">
            <a:extLst>
              <a:ext uri="{FF2B5EF4-FFF2-40B4-BE49-F238E27FC236}">
                <a16:creationId xmlns="" xmlns:a16="http://schemas.microsoft.com/office/drawing/2014/main" id="{0C96C875-C47F-4F5B-B4C1-F9D666A7BD9D}"/>
              </a:ext>
            </a:extLst>
          </p:cNvPr>
          <p:cNvSpPr txBox="1"/>
          <p:nvPr/>
        </p:nvSpPr>
        <p:spPr>
          <a:xfrm>
            <a:off x="7511651" y="4783788"/>
            <a:ext cx="48090" cy="180425"/>
          </a:xfrm>
          <a:prstGeom prst="rect">
            <a:avLst/>
          </a:prstGeom>
          <a:noFill/>
          <a:ln w="317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0" tIns="36000" rIns="0" bIns="36000" numCol="1" rtlCol="0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altLang="ko-KR" sz="700" b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〉</a:t>
            </a:r>
            <a:endParaRPr lang="ko-KR" altLang="en-US" sz="700" b="1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365" name="TextBox 364">
            <a:extLst>
              <a:ext uri="{FF2B5EF4-FFF2-40B4-BE49-F238E27FC236}">
                <a16:creationId xmlns="" xmlns:a16="http://schemas.microsoft.com/office/drawing/2014/main" id="{0C96C875-C47F-4F5B-B4C1-F9D666A7BD9D}"/>
              </a:ext>
            </a:extLst>
          </p:cNvPr>
          <p:cNvSpPr txBox="1"/>
          <p:nvPr/>
        </p:nvSpPr>
        <p:spPr>
          <a:xfrm rot="5400000">
            <a:off x="7481835" y="3717039"/>
            <a:ext cx="48090" cy="107722"/>
          </a:xfrm>
          <a:prstGeom prst="rect">
            <a:avLst/>
          </a:prstGeom>
          <a:noFill/>
          <a:ln w="317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0" tIns="0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altLang="ko-KR" sz="700" b="1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〉</a:t>
            </a:r>
            <a:endParaRPr lang="ko-KR" altLang="en-US" sz="700" b="1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</a:endParaRPr>
          </a:p>
        </p:txBody>
      </p:sp>
      <p:cxnSp>
        <p:nvCxnSpPr>
          <p:cNvPr id="368" name="직선 연결선 367"/>
          <p:cNvCxnSpPr/>
          <p:nvPr/>
        </p:nvCxnSpPr>
        <p:spPr>
          <a:xfrm>
            <a:off x="5616187" y="4023044"/>
            <a:ext cx="1944000" cy="0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5" name="직사각형 374"/>
          <p:cNvSpPr/>
          <p:nvPr/>
        </p:nvSpPr>
        <p:spPr>
          <a:xfrm>
            <a:off x="5616187" y="4113740"/>
            <a:ext cx="540000" cy="144000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75000"/>
                </a:schemeClr>
              </a:gs>
              <a:gs pos="50000">
                <a:schemeClr val="accent5"/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0" scaled="1"/>
            <a:tileRect/>
          </a:gra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600" smtClean="0">
                <a:solidFill>
                  <a:schemeClr val="bg1"/>
                </a:solidFill>
                <a:latin typeface="맑은 고딕" panose="020B0503020000020004" pitchFamily="50" charset="-127"/>
              </a:rPr>
              <a:t>매장상품배송</a:t>
            </a:r>
            <a:endParaRPr lang="ko-KR" altLang="en-US" sz="600">
              <a:solidFill>
                <a:schemeClr val="bg1"/>
              </a:solidFill>
              <a:latin typeface="맑은 고딕" panose="020B0503020000020004" pitchFamily="50" charset="-127"/>
            </a:endParaRPr>
          </a:p>
        </p:txBody>
      </p:sp>
      <p:sp>
        <p:nvSpPr>
          <p:cNvPr id="379" name="타원 378"/>
          <p:cNvSpPr/>
          <p:nvPr/>
        </p:nvSpPr>
        <p:spPr>
          <a:xfrm>
            <a:off x="6899357" y="3627959"/>
            <a:ext cx="108000" cy="108000"/>
          </a:xfrm>
          <a:prstGeom prst="ellipse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6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?</a:t>
            </a:r>
            <a:endParaRPr lang="ko-KR" altLang="en-US" sz="60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81" name="타원 380"/>
          <p:cNvSpPr/>
          <p:nvPr/>
        </p:nvSpPr>
        <p:spPr>
          <a:xfrm>
            <a:off x="6191508" y="4131740"/>
            <a:ext cx="108000" cy="108000"/>
          </a:xfrm>
          <a:prstGeom prst="ellipse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6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?</a:t>
            </a:r>
            <a:endParaRPr lang="ko-KR" altLang="en-US" sz="60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85" name="TextBox 384">
            <a:extLst>
              <a:ext uri="{FF2B5EF4-FFF2-40B4-BE49-F238E27FC236}">
                <a16:creationId xmlns="" xmlns:a16="http://schemas.microsoft.com/office/drawing/2014/main" id="{0C96C875-C47F-4F5B-B4C1-F9D666A7BD9D}"/>
              </a:ext>
            </a:extLst>
          </p:cNvPr>
          <p:cNvSpPr txBox="1"/>
          <p:nvPr/>
        </p:nvSpPr>
        <p:spPr>
          <a:xfrm>
            <a:off x="5616187" y="4277459"/>
            <a:ext cx="1179810" cy="180425"/>
          </a:xfrm>
          <a:prstGeom prst="rect">
            <a:avLst/>
          </a:prstGeom>
          <a:noFill/>
          <a:ln w="317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0" tIns="36000" rIns="0" bIns="36000" numCol="1" rtlCol="0" anchor="ctr" anchorCtr="0" compatLnSpc="1">
            <a:prstTxWarp prst="textNoShape">
              <a:avLst/>
            </a:prstTxWarp>
            <a:spAutoFit/>
          </a:bodyPr>
          <a:lstStyle/>
          <a:p>
            <a:r>
              <a:rPr lang="ko-KR" altLang="en-US" sz="700" smtClean="0">
                <a:solidFill>
                  <a:schemeClr val="tx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</a:rPr>
              <a:t>평균 </a:t>
            </a:r>
            <a:r>
              <a:rPr lang="en-US" altLang="ko-KR" sz="700" b="1" smtClean="0">
                <a:solidFill>
                  <a:srgbClr val="C00000"/>
                </a:solidFill>
                <a:latin typeface="맑은 고딕" panose="020B0503020000020004" pitchFamily="50" charset="-127"/>
              </a:rPr>
              <a:t>5~7</a:t>
            </a:r>
            <a:r>
              <a:rPr lang="en-US" altLang="ko-KR" sz="700" smtClean="0">
                <a:solidFill>
                  <a:schemeClr val="tx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</a:rPr>
              <a:t> </a:t>
            </a:r>
            <a:r>
              <a:rPr lang="ko-KR" altLang="en-US" sz="700" smtClean="0">
                <a:solidFill>
                  <a:schemeClr val="tx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</a:rPr>
              <a:t>영업일 소요됩니다</a:t>
            </a:r>
            <a:r>
              <a:rPr lang="en-US" altLang="ko-KR" sz="700" smtClean="0">
                <a:solidFill>
                  <a:schemeClr val="tx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</a:rPr>
              <a:t>.</a:t>
            </a:r>
            <a:endParaRPr lang="ko-KR" altLang="en-US" sz="700" dirty="0">
              <a:solidFill>
                <a:schemeClr val="tx1">
                  <a:lumMod val="50000"/>
                  <a:lumOff val="50000"/>
                </a:schemeClr>
              </a:solidFill>
              <a:latin typeface="맑은 고딕" panose="020B0503020000020004" pitchFamily="50" charset="-127"/>
            </a:endParaRPr>
          </a:p>
        </p:txBody>
      </p:sp>
      <p:cxnSp>
        <p:nvCxnSpPr>
          <p:cNvPr id="155" name="직선 연결선 154"/>
          <p:cNvCxnSpPr/>
          <p:nvPr/>
        </p:nvCxnSpPr>
        <p:spPr>
          <a:xfrm>
            <a:off x="4968163" y="5033482"/>
            <a:ext cx="2591578" cy="0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8" name="TextBox 157">
            <a:extLst>
              <a:ext uri="{FF2B5EF4-FFF2-40B4-BE49-F238E27FC236}">
                <a16:creationId xmlns="" xmlns:a16="http://schemas.microsoft.com/office/drawing/2014/main" id="{0C96C875-C47F-4F5B-B4C1-F9D666A7BD9D}"/>
              </a:ext>
            </a:extLst>
          </p:cNvPr>
          <p:cNvSpPr txBox="1"/>
          <p:nvPr/>
        </p:nvSpPr>
        <p:spPr>
          <a:xfrm>
            <a:off x="5616187" y="5105845"/>
            <a:ext cx="782265" cy="180425"/>
          </a:xfrm>
          <a:prstGeom prst="rect">
            <a:avLst/>
          </a:prstGeom>
          <a:noFill/>
          <a:ln w="317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0" tIns="36000" rIns="0" bIns="36000" numCol="1" rtlCol="0" anchor="ctr" anchorCtr="0" compatLnSpc="1">
            <a:prstTxWarp prst="textNoShape">
              <a:avLst/>
            </a:prstTxWarp>
            <a:spAutoFit/>
          </a:bodyPr>
          <a:lstStyle/>
          <a:p>
            <a:r>
              <a:rPr lang="ko-KR" altLang="en-US" sz="700" smtClean="0">
                <a:solidFill>
                  <a:schemeClr val="tx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</a:rPr>
              <a:t>선물포장 가능 안내</a:t>
            </a:r>
            <a:endParaRPr lang="ko-KR" altLang="en-US" sz="700" b="1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</a:endParaRPr>
          </a:p>
        </p:txBody>
      </p:sp>
      <p:cxnSp>
        <p:nvCxnSpPr>
          <p:cNvPr id="161" name="직선 연결선 160"/>
          <p:cNvCxnSpPr/>
          <p:nvPr/>
        </p:nvCxnSpPr>
        <p:spPr>
          <a:xfrm>
            <a:off x="4824187" y="5358239"/>
            <a:ext cx="2880000" cy="0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3" name="TextBox 162">
            <a:extLst>
              <a:ext uri="{FF2B5EF4-FFF2-40B4-BE49-F238E27FC236}">
                <a16:creationId xmlns="" xmlns:a16="http://schemas.microsoft.com/office/drawing/2014/main" id="{0C96C875-C47F-4F5B-B4C1-F9D666A7BD9D}"/>
              </a:ext>
            </a:extLst>
          </p:cNvPr>
          <p:cNvSpPr txBox="1"/>
          <p:nvPr/>
        </p:nvSpPr>
        <p:spPr>
          <a:xfrm>
            <a:off x="4968163" y="5104950"/>
            <a:ext cx="431776" cy="180425"/>
          </a:xfrm>
          <a:prstGeom prst="rect">
            <a:avLst/>
          </a:prstGeom>
          <a:noFill/>
          <a:ln w="317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36000" tIns="36000" rIns="36000" bIns="36000" numCol="1" rtlCol="0" anchor="ctr" anchorCtr="0" compatLnSpc="1">
            <a:prstTxWarp prst="textNoShape">
              <a:avLst/>
            </a:prstTxWarp>
            <a:spAutoFit/>
          </a:bodyPr>
          <a:lstStyle/>
          <a:p>
            <a:r>
              <a:rPr lang="ko-KR" altLang="en-US" sz="700" smtClean="0">
                <a:solidFill>
                  <a:schemeClr val="tx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</a:rPr>
              <a:t>선물포장</a:t>
            </a:r>
            <a:endParaRPr lang="ko-KR" altLang="en-US" sz="700" dirty="0">
              <a:solidFill>
                <a:schemeClr val="tx1">
                  <a:lumMod val="50000"/>
                  <a:lumOff val="50000"/>
                </a:scheme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167" name="TextBox 166">
            <a:extLst>
              <a:ext uri="{FF2B5EF4-FFF2-40B4-BE49-F238E27FC236}">
                <a16:creationId xmlns="" xmlns:a16="http://schemas.microsoft.com/office/drawing/2014/main" id="{0C96C875-C47F-4F5B-B4C1-F9D666A7BD9D}"/>
              </a:ext>
            </a:extLst>
          </p:cNvPr>
          <p:cNvSpPr txBox="1"/>
          <p:nvPr/>
        </p:nvSpPr>
        <p:spPr>
          <a:xfrm rot="5400000">
            <a:off x="7481835" y="5141301"/>
            <a:ext cx="48090" cy="107722"/>
          </a:xfrm>
          <a:prstGeom prst="rect">
            <a:avLst/>
          </a:prstGeom>
          <a:noFill/>
          <a:ln w="317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0" tIns="0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altLang="ko-KR" sz="700" b="1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〉</a:t>
            </a:r>
            <a:endParaRPr lang="ko-KR" altLang="en-US" sz="700" b="1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169" name="TextBox 168">
            <a:extLst>
              <a:ext uri="{FF2B5EF4-FFF2-40B4-BE49-F238E27FC236}">
                <a16:creationId xmlns="" xmlns:a16="http://schemas.microsoft.com/office/drawing/2014/main" id="{0C96C875-C47F-4F5B-B4C1-F9D666A7BD9D}"/>
              </a:ext>
            </a:extLst>
          </p:cNvPr>
          <p:cNvSpPr txBox="1"/>
          <p:nvPr/>
        </p:nvSpPr>
        <p:spPr>
          <a:xfrm>
            <a:off x="4968164" y="5439857"/>
            <a:ext cx="622534" cy="195814"/>
          </a:xfrm>
          <a:prstGeom prst="rect">
            <a:avLst/>
          </a:prstGeom>
          <a:noFill/>
          <a:ln w="317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36000" tIns="36000" rIns="36000" bIns="36000" numCol="1" rtlCol="0" anchor="ctr" anchorCtr="0" compatLnSpc="1">
            <a:prstTxWarp prst="textNoShape">
              <a:avLst/>
            </a:prstTxWarp>
            <a:spAutoFit/>
          </a:bodyPr>
          <a:lstStyle/>
          <a:p>
            <a:r>
              <a:rPr lang="ko-KR" altLang="en-US" sz="800" b="1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관련 검색어</a:t>
            </a:r>
            <a:endParaRPr lang="en-US" altLang="ko-KR" sz="800" b="1" smtClean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172" name="TextBox 171">
            <a:extLst>
              <a:ext uri="{FF2B5EF4-FFF2-40B4-BE49-F238E27FC236}">
                <a16:creationId xmlns="" xmlns:a16="http://schemas.microsoft.com/office/drawing/2014/main" id="{0C96C875-C47F-4F5B-B4C1-F9D666A7BD9D}"/>
              </a:ext>
            </a:extLst>
          </p:cNvPr>
          <p:cNvSpPr txBox="1"/>
          <p:nvPr/>
        </p:nvSpPr>
        <p:spPr>
          <a:xfrm>
            <a:off x="4968162" y="5702596"/>
            <a:ext cx="360000" cy="216000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 w="317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36000" tIns="36000" rIns="36000" bIns="36000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700" smtClean="0">
                <a:solidFill>
                  <a:schemeClr val="tx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</a:rPr>
              <a:t>25FW</a:t>
            </a:r>
            <a:endParaRPr lang="ko-KR" altLang="en-US" sz="700" dirty="0">
              <a:solidFill>
                <a:schemeClr val="tx1">
                  <a:lumMod val="50000"/>
                  <a:lumOff val="50000"/>
                </a:scheme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176" name="TextBox 175">
            <a:extLst>
              <a:ext uri="{FF2B5EF4-FFF2-40B4-BE49-F238E27FC236}">
                <a16:creationId xmlns="" xmlns:a16="http://schemas.microsoft.com/office/drawing/2014/main" id="{0C96C875-C47F-4F5B-B4C1-F9D666A7BD9D}"/>
              </a:ext>
            </a:extLst>
          </p:cNvPr>
          <p:cNvSpPr txBox="1"/>
          <p:nvPr/>
        </p:nvSpPr>
        <p:spPr>
          <a:xfrm>
            <a:off x="5401000" y="5702596"/>
            <a:ext cx="576000" cy="216000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 w="317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36000" tIns="36000" rIns="36000" bIns="36000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o-KR" altLang="en-US" sz="700" smtClean="0">
                <a:solidFill>
                  <a:schemeClr val="tx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</a:rPr>
              <a:t>위켄드세일</a:t>
            </a:r>
            <a:endParaRPr lang="ko-KR" altLang="en-US" sz="700" dirty="0">
              <a:solidFill>
                <a:schemeClr val="tx1">
                  <a:lumMod val="50000"/>
                  <a:lumOff val="50000"/>
                </a:scheme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177" name="TextBox 176">
            <a:extLst>
              <a:ext uri="{FF2B5EF4-FFF2-40B4-BE49-F238E27FC236}">
                <a16:creationId xmlns="" xmlns:a16="http://schemas.microsoft.com/office/drawing/2014/main" id="{0C96C875-C47F-4F5B-B4C1-F9D666A7BD9D}"/>
              </a:ext>
            </a:extLst>
          </p:cNvPr>
          <p:cNvSpPr txBox="1"/>
          <p:nvPr/>
        </p:nvSpPr>
        <p:spPr>
          <a:xfrm>
            <a:off x="6047508" y="5702596"/>
            <a:ext cx="504000" cy="216000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 w="317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36000" tIns="36000" rIns="36000" bIns="36000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o-KR" altLang="en-US" sz="700" smtClean="0">
                <a:solidFill>
                  <a:schemeClr val="tx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</a:rPr>
              <a:t>선물포장</a:t>
            </a:r>
            <a:endParaRPr lang="ko-KR" altLang="en-US" sz="700" dirty="0">
              <a:solidFill>
                <a:schemeClr val="tx1">
                  <a:lumMod val="50000"/>
                  <a:lumOff val="50000"/>
                </a:schemeClr>
              </a:solidFill>
              <a:latin typeface="맑은 고딕" panose="020B0503020000020004" pitchFamily="50" charset="-127"/>
            </a:endParaRPr>
          </a:p>
        </p:txBody>
      </p:sp>
      <p:grpSp>
        <p:nvGrpSpPr>
          <p:cNvPr id="2" name="그룹 1"/>
          <p:cNvGrpSpPr/>
          <p:nvPr/>
        </p:nvGrpSpPr>
        <p:grpSpPr>
          <a:xfrm>
            <a:off x="8063717" y="4020769"/>
            <a:ext cx="2592000" cy="1008000"/>
            <a:chOff x="8054925" y="3785651"/>
            <a:chExt cx="2592000" cy="1008000"/>
          </a:xfrm>
        </p:grpSpPr>
        <p:sp>
          <p:nvSpPr>
            <p:cNvPr id="17" name="직사각형 16"/>
            <p:cNvSpPr/>
            <p:nvPr/>
          </p:nvSpPr>
          <p:spPr>
            <a:xfrm>
              <a:off x="8054925" y="3785651"/>
              <a:ext cx="2592000" cy="1008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  <a:effectLst>
              <a:outerShdw blurRad="25400" dist="25400" dir="2700000" algn="tl" rotWithShape="0">
                <a:schemeClr val="tx1">
                  <a:lumMod val="75000"/>
                  <a:lumOff val="25000"/>
                  <a:alpha val="5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108000" rIns="108000" bIns="108000" rtlCol="0" anchor="t"/>
            <a:lstStyle/>
            <a:p>
              <a:r>
                <a:rPr lang="ko-KR" altLang="en-US" sz="800" b="1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매장상품배송 서비스 안내</a:t>
              </a:r>
              <a:endParaRPr lang="en-US" altLang="ko-KR" sz="800" b="1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cxnSp>
          <p:nvCxnSpPr>
            <p:cNvPr id="216" name="직선 연결선 215"/>
            <p:cNvCxnSpPr/>
            <p:nvPr/>
          </p:nvCxnSpPr>
          <p:spPr>
            <a:xfrm>
              <a:off x="8126925" y="4145651"/>
              <a:ext cx="2448000" cy="0"/>
            </a:xfrm>
            <a:prstGeom prst="line">
              <a:avLst/>
            </a:prstGeom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곱셈 기호 18"/>
            <p:cNvSpPr/>
            <p:nvPr/>
          </p:nvSpPr>
          <p:spPr>
            <a:xfrm>
              <a:off x="10400919" y="3874173"/>
              <a:ext cx="144000" cy="144000"/>
            </a:xfrm>
            <a:prstGeom prst="mathMultiply">
              <a:avLst>
                <a:gd name="adj1" fmla="val 1377"/>
              </a:avLst>
            </a:prstGeom>
            <a:solidFill>
              <a:schemeClr val="tx1">
                <a:lumMod val="75000"/>
                <a:lumOff val="2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8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219" name="TextBox 218">
              <a:extLst>
                <a:ext uri="{FF2B5EF4-FFF2-40B4-BE49-F238E27FC236}">
                  <a16:creationId xmlns="" xmlns:a16="http://schemas.microsoft.com/office/drawing/2014/main" id="{0C96C875-C47F-4F5B-B4C1-F9D666A7BD9D}"/>
                </a:ext>
              </a:extLst>
            </p:cNvPr>
            <p:cNvSpPr txBox="1"/>
            <p:nvPr/>
          </p:nvSpPr>
          <p:spPr>
            <a:xfrm>
              <a:off x="8126925" y="4217019"/>
              <a:ext cx="2448000" cy="503590"/>
            </a:xfrm>
            <a:prstGeom prst="rect">
              <a:avLst/>
            </a:prstGeom>
            <a:noFill/>
            <a:ln w="3175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square" lIns="0" tIns="36000" rIns="0" bIns="36000" numCol="1" rtlCol="0" anchor="ctr" anchorCtr="0" compatLnSpc="1">
              <a:prstTxWarp prst="textNoShape">
                <a:avLst/>
              </a:prstTxWarp>
              <a:spAutoFit/>
            </a:bodyPr>
            <a:lstStyle/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ko-KR" altLang="en-US" sz="700">
                  <a:solidFill>
                    <a:schemeClr val="tx1">
                      <a:lumMod val="50000"/>
                      <a:lumOff val="50000"/>
                    </a:schemeClr>
                  </a:solidFill>
                  <a:latin typeface="맑은 고딕" panose="020B0503020000020004" pitchFamily="50" charset="-127"/>
                </a:rPr>
                <a:t>온라인 품절 상품을 오프라인 매장에서 찾아 배송해 드리는 서비스입니다</a:t>
              </a:r>
              <a:r>
                <a:rPr lang="en-US" altLang="ko-KR" sz="700">
                  <a:solidFill>
                    <a:schemeClr val="tx1">
                      <a:lumMod val="50000"/>
                      <a:lumOff val="50000"/>
                    </a:schemeClr>
                  </a:solidFill>
                  <a:latin typeface="맑은 고딕" panose="020B0503020000020004" pitchFamily="50" charset="-127"/>
                </a:rPr>
                <a:t>.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ko-KR" altLang="en-US" sz="700">
                  <a:solidFill>
                    <a:schemeClr val="tx1">
                      <a:lumMod val="50000"/>
                      <a:lumOff val="50000"/>
                    </a:schemeClr>
                  </a:solidFill>
                  <a:latin typeface="맑은 고딕" panose="020B0503020000020004" pitchFamily="50" charset="-127"/>
                </a:rPr>
                <a:t>매장상품을 물류센터에서 검수 후 발송하여 평균 배송일이 영업일 기준 </a:t>
              </a:r>
              <a:r>
                <a:rPr lang="en-US" altLang="ko-KR" sz="700">
                  <a:solidFill>
                    <a:schemeClr val="tx1">
                      <a:lumMod val="50000"/>
                      <a:lumOff val="50000"/>
                    </a:schemeClr>
                  </a:solidFill>
                  <a:latin typeface="맑은 고딕" panose="020B0503020000020004" pitchFamily="50" charset="-127"/>
                </a:rPr>
                <a:t>5~7</a:t>
              </a:r>
              <a:r>
                <a:rPr lang="ko-KR" altLang="en-US" sz="700">
                  <a:solidFill>
                    <a:schemeClr val="tx1">
                      <a:lumMod val="50000"/>
                      <a:lumOff val="50000"/>
                    </a:schemeClr>
                  </a:solidFill>
                  <a:latin typeface="맑은 고딕" panose="020B0503020000020004" pitchFamily="50" charset="-127"/>
                </a:rPr>
                <a:t>일 소요될 수 있습니다</a:t>
              </a:r>
              <a:r>
                <a:rPr lang="en-US" altLang="ko-KR" sz="700">
                  <a:solidFill>
                    <a:schemeClr val="tx1">
                      <a:lumMod val="50000"/>
                      <a:lumOff val="50000"/>
                    </a:schemeClr>
                  </a:solidFill>
                  <a:latin typeface="맑은 고딕" panose="020B0503020000020004" pitchFamily="50" charset="-127"/>
                </a:rPr>
                <a:t>.</a:t>
              </a:r>
            </a:p>
          </p:txBody>
        </p:sp>
      </p:grpSp>
      <p:grpSp>
        <p:nvGrpSpPr>
          <p:cNvPr id="4" name="그룹 3"/>
          <p:cNvGrpSpPr/>
          <p:nvPr/>
        </p:nvGrpSpPr>
        <p:grpSpPr>
          <a:xfrm>
            <a:off x="4824187" y="5892774"/>
            <a:ext cx="2879531" cy="504000"/>
            <a:chOff x="4824187" y="5892774"/>
            <a:chExt cx="2879531" cy="504000"/>
          </a:xfrm>
        </p:grpSpPr>
        <p:sp>
          <p:nvSpPr>
            <p:cNvPr id="299" name="직사각형 298">
              <a:extLst>
                <a:ext uri="{FF2B5EF4-FFF2-40B4-BE49-F238E27FC236}">
                  <a16:creationId xmlns:a16="http://schemas.microsoft.com/office/drawing/2014/main" xmlns="" id="{19FD5FA0-B111-4EF7-BC86-418441928DD3}"/>
                </a:ext>
              </a:extLst>
            </p:cNvPr>
            <p:cNvSpPr/>
            <p:nvPr/>
          </p:nvSpPr>
          <p:spPr>
            <a:xfrm>
              <a:off x="4824187" y="5892774"/>
              <a:ext cx="2879531" cy="504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700"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300" name="모서리가 둥근 직사각형 299">
              <a:extLst>
                <a:ext uri="{FF2B5EF4-FFF2-40B4-BE49-F238E27FC236}">
                  <a16:creationId xmlns="" xmlns:a16="http://schemas.microsoft.com/office/drawing/2014/main" id="{19FD5FA0-B111-4EF7-BC86-418441928DD3}"/>
                </a:ext>
              </a:extLst>
            </p:cNvPr>
            <p:cNvSpPr/>
            <p:nvPr/>
          </p:nvSpPr>
          <p:spPr>
            <a:xfrm>
              <a:off x="6477456" y="5964803"/>
              <a:ext cx="1153187" cy="359942"/>
            </a:xfrm>
            <a:prstGeom prst="roundRect">
              <a:avLst>
                <a:gd name="adj" fmla="val 9391"/>
              </a:avLst>
            </a:prstGeom>
            <a:solidFill>
              <a:schemeClr val="tx1">
                <a:lumMod val="75000"/>
                <a:lumOff val="25000"/>
              </a:schemeClr>
            </a:solidFill>
            <a:ln w="31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700" smtClean="0">
                  <a:solidFill>
                    <a:schemeClr val="bg1"/>
                  </a:solidFill>
                  <a:latin typeface="맑은 고딕" panose="020B0503020000020004" pitchFamily="50" charset="-127"/>
                </a:rPr>
                <a:t>구매하기</a:t>
              </a:r>
              <a:endParaRPr lang="ko-KR" altLang="en-US" sz="700">
                <a:solidFill>
                  <a:schemeClr val="bg1"/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301" name="모서리가 둥근 직사각형 300">
              <a:extLst>
                <a:ext uri="{FF2B5EF4-FFF2-40B4-BE49-F238E27FC236}">
                  <a16:creationId xmlns="" xmlns:a16="http://schemas.microsoft.com/office/drawing/2014/main" id="{19FD5FA0-B111-4EF7-BC86-418441928DD3}"/>
                </a:ext>
              </a:extLst>
            </p:cNvPr>
            <p:cNvSpPr/>
            <p:nvPr/>
          </p:nvSpPr>
          <p:spPr>
            <a:xfrm>
              <a:off x="4895277" y="5964803"/>
              <a:ext cx="360000" cy="359942"/>
            </a:xfrm>
            <a:prstGeom prst="roundRect">
              <a:avLst>
                <a:gd name="adj" fmla="val 9391"/>
              </a:avLst>
            </a:prstGeom>
            <a:solidFill>
              <a:schemeClr val="bg1"/>
            </a:solidFill>
            <a:ln w="31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700" b="1">
                <a:solidFill>
                  <a:srgbClr val="DC2832"/>
                </a:solidFill>
                <a:latin typeface="맑은 고딕" panose="020B0503020000020004" pitchFamily="50" charset="-127"/>
              </a:endParaRPr>
            </a:p>
          </p:txBody>
        </p:sp>
        <p:grpSp>
          <p:nvGrpSpPr>
            <p:cNvPr id="302" name="그룹 301"/>
            <p:cNvGrpSpPr/>
            <p:nvPr/>
          </p:nvGrpSpPr>
          <p:grpSpPr>
            <a:xfrm>
              <a:off x="4996540" y="6026179"/>
              <a:ext cx="157474" cy="237190"/>
              <a:chOff x="5491883" y="6027689"/>
              <a:chExt cx="157474" cy="237190"/>
            </a:xfrm>
          </p:grpSpPr>
          <p:sp>
            <p:nvSpPr>
              <p:cNvPr id="303" name="Like"/>
              <p:cNvSpPr>
                <a:spLocks noChangeAspect="1" noEditPoints="1"/>
              </p:cNvSpPr>
              <p:nvPr/>
            </p:nvSpPr>
            <p:spPr bwMode="auto">
              <a:xfrm>
                <a:off x="5491883" y="6027689"/>
                <a:ext cx="157474" cy="157474"/>
              </a:xfrm>
              <a:custGeom>
                <a:avLst/>
                <a:gdLst>
                  <a:gd name="T0" fmla="*/ 174 w 614"/>
                  <a:gd name="T1" fmla="*/ 0 h 538"/>
                  <a:gd name="T2" fmla="*/ 0 w 614"/>
                  <a:gd name="T3" fmla="*/ 174 h 538"/>
                  <a:gd name="T4" fmla="*/ 299 w 614"/>
                  <a:gd name="T5" fmla="*/ 531 h 538"/>
                  <a:gd name="T6" fmla="*/ 307 w 614"/>
                  <a:gd name="T7" fmla="*/ 538 h 538"/>
                  <a:gd name="T8" fmla="*/ 315 w 614"/>
                  <a:gd name="T9" fmla="*/ 531 h 538"/>
                  <a:gd name="T10" fmla="*/ 614 w 614"/>
                  <a:gd name="T11" fmla="*/ 174 h 538"/>
                  <a:gd name="T12" fmla="*/ 440 w 614"/>
                  <a:gd name="T13" fmla="*/ 0 h 538"/>
                  <a:gd name="T14" fmla="*/ 307 w 614"/>
                  <a:gd name="T15" fmla="*/ 65 h 538"/>
                  <a:gd name="T16" fmla="*/ 174 w 614"/>
                  <a:gd name="T17" fmla="*/ 0 h 538"/>
                  <a:gd name="T18" fmla="*/ 174 w 614"/>
                  <a:gd name="T19" fmla="*/ 27 h 538"/>
                  <a:gd name="T20" fmla="*/ 296 w 614"/>
                  <a:gd name="T21" fmla="*/ 93 h 538"/>
                  <a:gd name="T22" fmla="*/ 307 w 614"/>
                  <a:gd name="T23" fmla="*/ 110 h 538"/>
                  <a:gd name="T24" fmla="*/ 318 w 614"/>
                  <a:gd name="T25" fmla="*/ 93 h 538"/>
                  <a:gd name="T26" fmla="*/ 440 w 614"/>
                  <a:gd name="T27" fmla="*/ 27 h 538"/>
                  <a:gd name="T28" fmla="*/ 587 w 614"/>
                  <a:gd name="T29" fmla="*/ 174 h 538"/>
                  <a:gd name="T30" fmla="*/ 307 w 614"/>
                  <a:gd name="T31" fmla="*/ 504 h 538"/>
                  <a:gd name="T32" fmla="*/ 27 w 614"/>
                  <a:gd name="T33" fmla="*/ 174 h 538"/>
                  <a:gd name="T34" fmla="*/ 174 w 614"/>
                  <a:gd name="T35" fmla="*/ 27 h 5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614" h="538">
                    <a:moveTo>
                      <a:pt x="174" y="0"/>
                    </a:moveTo>
                    <a:cubicBezTo>
                      <a:pt x="78" y="0"/>
                      <a:pt x="0" y="78"/>
                      <a:pt x="0" y="174"/>
                    </a:cubicBezTo>
                    <a:cubicBezTo>
                      <a:pt x="0" y="371"/>
                      <a:pt x="223" y="468"/>
                      <a:pt x="299" y="531"/>
                    </a:cubicBezTo>
                    <a:lnTo>
                      <a:pt x="307" y="538"/>
                    </a:lnTo>
                    <a:lnTo>
                      <a:pt x="315" y="531"/>
                    </a:lnTo>
                    <a:cubicBezTo>
                      <a:pt x="391" y="468"/>
                      <a:pt x="614" y="371"/>
                      <a:pt x="614" y="174"/>
                    </a:cubicBezTo>
                    <a:cubicBezTo>
                      <a:pt x="614" y="78"/>
                      <a:pt x="536" y="0"/>
                      <a:pt x="440" y="0"/>
                    </a:cubicBezTo>
                    <a:cubicBezTo>
                      <a:pt x="386" y="0"/>
                      <a:pt x="339" y="26"/>
                      <a:pt x="307" y="65"/>
                    </a:cubicBezTo>
                    <a:cubicBezTo>
                      <a:pt x="275" y="26"/>
                      <a:pt x="228" y="0"/>
                      <a:pt x="174" y="0"/>
                    </a:cubicBezTo>
                    <a:close/>
                    <a:moveTo>
                      <a:pt x="174" y="27"/>
                    </a:moveTo>
                    <a:cubicBezTo>
                      <a:pt x="225" y="27"/>
                      <a:pt x="269" y="53"/>
                      <a:pt x="296" y="93"/>
                    </a:cubicBezTo>
                    <a:lnTo>
                      <a:pt x="307" y="110"/>
                    </a:lnTo>
                    <a:lnTo>
                      <a:pt x="318" y="93"/>
                    </a:lnTo>
                    <a:cubicBezTo>
                      <a:pt x="344" y="53"/>
                      <a:pt x="389" y="27"/>
                      <a:pt x="440" y="27"/>
                    </a:cubicBezTo>
                    <a:cubicBezTo>
                      <a:pt x="521" y="27"/>
                      <a:pt x="587" y="93"/>
                      <a:pt x="587" y="174"/>
                    </a:cubicBezTo>
                    <a:cubicBezTo>
                      <a:pt x="587" y="346"/>
                      <a:pt x="395" y="435"/>
                      <a:pt x="307" y="504"/>
                    </a:cubicBezTo>
                    <a:cubicBezTo>
                      <a:pt x="219" y="435"/>
                      <a:pt x="27" y="346"/>
                      <a:pt x="27" y="174"/>
                    </a:cubicBezTo>
                    <a:cubicBezTo>
                      <a:pt x="27" y="93"/>
                      <a:pt x="92" y="27"/>
                      <a:pt x="174" y="27"/>
                    </a:cubicBezTo>
                    <a:close/>
                  </a:path>
                </a:pathLst>
              </a:custGeom>
              <a:solidFill>
                <a:srgbClr val="5F5F5F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sz="800"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304" name="TextBox 303"/>
              <p:cNvSpPr txBox="1"/>
              <p:nvPr/>
            </p:nvSpPr>
            <p:spPr>
              <a:xfrm>
                <a:off x="5535354" y="6187935"/>
                <a:ext cx="70532" cy="76944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spAutoFit/>
              </a:bodyPr>
              <a:lstStyle/>
              <a:p>
                <a:r>
                  <a:rPr lang="en-US" altLang="ko-KR" sz="500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54</a:t>
                </a:r>
                <a:endParaRPr lang="ko-KR" altLang="en-US" sz="5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</p:grpSp>
        <p:sp>
          <p:nvSpPr>
            <p:cNvPr id="220" name="모서리가 둥근 직사각형 219">
              <a:extLst>
                <a:ext uri="{FF2B5EF4-FFF2-40B4-BE49-F238E27FC236}">
                  <a16:creationId xmlns="" xmlns:a16="http://schemas.microsoft.com/office/drawing/2014/main" id="{19FD5FA0-B111-4EF7-BC86-418441928DD3}"/>
                </a:ext>
              </a:extLst>
            </p:cNvPr>
            <p:cNvSpPr/>
            <p:nvPr/>
          </p:nvSpPr>
          <p:spPr>
            <a:xfrm>
              <a:off x="5326367" y="5964803"/>
              <a:ext cx="1080000" cy="359942"/>
            </a:xfrm>
            <a:prstGeom prst="roundRect">
              <a:avLst>
                <a:gd name="adj" fmla="val 9391"/>
              </a:avLst>
            </a:prstGeom>
            <a:solidFill>
              <a:schemeClr val="bg1"/>
            </a:solidFill>
            <a:ln w="31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0" rIns="0" bIns="0" rtlCol="0" anchor="ctr"/>
            <a:lstStyle/>
            <a:p>
              <a:pPr algn="ctr"/>
              <a:r>
                <a:rPr lang="ko-KR" altLang="en-US" sz="700" b="1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선물하기</a:t>
              </a:r>
              <a:endParaRPr lang="ko-KR" altLang="en-US" sz="700" b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221" name="Gift"/>
            <p:cNvSpPr>
              <a:spLocks noChangeAspect="1" noEditPoints="1"/>
            </p:cNvSpPr>
            <p:nvPr/>
          </p:nvSpPr>
          <p:spPr bwMode="auto">
            <a:xfrm>
              <a:off x="5582428" y="6072774"/>
              <a:ext cx="142545" cy="144000"/>
            </a:xfrm>
            <a:custGeom>
              <a:avLst/>
              <a:gdLst>
                <a:gd name="T0" fmla="*/ 95 w 640"/>
                <a:gd name="T1" fmla="*/ 23 h 640"/>
                <a:gd name="T2" fmla="*/ 124 w 640"/>
                <a:gd name="T3" fmla="*/ 147 h 640"/>
                <a:gd name="T4" fmla="*/ 0 w 640"/>
                <a:gd name="T5" fmla="*/ 160 h 640"/>
                <a:gd name="T6" fmla="*/ 27 w 640"/>
                <a:gd name="T7" fmla="*/ 307 h 640"/>
                <a:gd name="T8" fmla="*/ 614 w 640"/>
                <a:gd name="T9" fmla="*/ 640 h 640"/>
                <a:gd name="T10" fmla="*/ 640 w 640"/>
                <a:gd name="T11" fmla="*/ 307 h 640"/>
                <a:gd name="T12" fmla="*/ 492 w 640"/>
                <a:gd name="T13" fmla="*/ 160 h 640"/>
                <a:gd name="T14" fmla="*/ 560 w 640"/>
                <a:gd name="T15" fmla="*/ 67 h 640"/>
                <a:gd name="T16" fmla="*/ 489 w 640"/>
                <a:gd name="T17" fmla="*/ 0 h 640"/>
                <a:gd name="T18" fmla="*/ 387 w 640"/>
                <a:gd name="T19" fmla="*/ 80 h 640"/>
                <a:gd name="T20" fmla="*/ 320 w 640"/>
                <a:gd name="T21" fmla="*/ 147 h 640"/>
                <a:gd name="T22" fmla="*/ 254 w 640"/>
                <a:gd name="T23" fmla="*/ 80 h 640"/>
                <a:gd name="T24" fmla="*/ 151 w 640"/>
                <a:gd name="T25" fmla="*/ 0 h 640"/>
                <a:gd name="T26" fmla="*/ 197 w 640"/>
                <a:gd name="T27" fmla="*/ 46 h 640"/>
                <a:gd name="T28" fmla="*/ 265 w 640"/>
                <a:gd name="T29" fmla="*/ 146 h 640"/>
                <a:gd name="T30" fmla="*/ 214 w 640"/>
                <a:gd name="T31" fmla="*/ 147 h 640"/>
                <a:gd name="T32" fmla="*/ 107 w 640"/>
                <a:gd name="T33" fmla="*/ 67 h 640"/>
                <a:gd name="T34" fmla="*/ 151 w 640"/>
                <a:gd name="T35" fmla="*/ 27 h 640"/>
                <a:gd name="T36" fmla="*/ 525 w 640"/>
                <a:gd name="T37" fmla="*/ 40 h 640"/>
                <a:gd name="T38" fmla="*/ 501 w 640"/>
                <a:gd name="T39" fmla="*/ 125 h 640"/>
                <a:gd name="T40" fmla="*/ 375 w 640"/>
                <a:gd name="T41" fmla="*/ 147 h 640"/>
                <a:gd name="T42" fmla="*/ 410 w 640"/>
                <a:gd name="T43" fmla="*/ 94 h 640"/>
                <a:gd name="T44" fmla="*/ 489 w 640"/>
                <a:gd name="T45" fmla="*/ 27 h 640"/>
                <a:gd name="T46" fmla="*/ 240 w 640"/>
                <a:gd name="T47" fmla="*/ 187 h 640"/>
                <a:gd name="T48" fmla="*/ 27 w 640"/>
                <a:gd name="T49" fmla="*/ 280 h 640"/>
                <a:gd name="T50" fmla="*/ 267 w 640"/>
                <a:gd name="T51" fmla="*/ 187 h 640"/>
                <a:gd name="T52" fmla="*/ 374 w 640"/>
                <a:gd name="T53" fmla="*/ 614 h 640"/>
                <a:gd name="T54" fmla="*/ 267 w 640"/>
                <a:gd name="T55" fmla="*/ 187 h 640"/>
                <a:gd name="T56" fmla="*/ 614 w 640"/>
                <a:gd name="T57" fmla="*/ 187 h 640"/>
                <a:gd name="T58" fmla="*/ 400 w 640"/>
                <a:gd name="T59" fmla="*/ 280 h 640"/>
                <a:gd name="T60" fmla="*/ 54 w 640"/>
                <a:gd name="T61" fmla="*/ 307 h 640"/>
                <a:gd name="T62" fmla="*/ 240 w 640"/>
                <a:gd name="T63" fmla="*/ 614 h 640"/>
                <a:gd name="T64" fmla="*/ 54 w 640"/>
                <a:gd name="T65" fmla="*/ 307 h 640"/>
                <a:gd name="T66" fmla="*/ 587 w 640"/>
                <a:gd name="T67" fmla="*/ 307 h 640"/>
                <a:gd name="T68" fmla="*/ 400 w 640"/>
                <a:gd name="T69" fmla="*/ 614 h 6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640" h="640">
                  <a:moveTo>
                    <a:pt x="151" y="0"/>
                  </a:moveTo>
                  <a:cubicBezTo>
                    <a:pt x="126" y="0"/>
                    <a:pt x="106" y="9"/>
                    <a:pt x="95" y="23"/>
                  </a:cubicBezTo>
                  <a:cubicBezTo>
                    <a:pt x="84" y="36"/>
                    <a:pt x="80" y="53"/>
                    <a:pt x="80" y="67"/>
                  </a:cubicBezTo>
                  <a:cubicBezTo>
                    <a:pt x="80" y="101"/>
                    <a:pt x="99" y="129"/>
                    <a:pt x="124" y="147"/>
                  </a:cubicBezTo>
                  <a:cubicBezTo>
                    <a:pt x="132" y="152"/>
                    <a:pt x="140" y="157"/>
                    <a:pt x="149" y="160"/>
                  </a:cubicBezTo>
                  <a:lnTo>
                    <a:pt x="0" y="160"/>
                  </a:lnTo>
                  <a:lnTo>
                    <a:pt x="0" y="307"/>
                  </a:lnTo>
                  <a:lnTo>
                    <a:pt x="27" y="307"/>
                  </a:lnTo>
                  <a:lnTo>
                    <a:pt x="27" y="640"/>
                  </a:lnTo>
                  <a:lnTo>
                    <a:pt x="614" y="640"/>
                  </a:lnTo>
                  <a:lnTo>
                    <a:pt x="614" y="307"/>
                  </a:lnTo>
                  <a:lnTo>
                    <a:pt x="640" y="307"/>
                  </a:lnTo>
                  <a:lnTo>
                    <a:pt x="640" y="160"/>
                  </a:lnTo>
                  <a:lnTo>
                    <a:pt x="492" y="160"/>
                  </a:lnTo>
                  <a:cubicBezTo>
                    <a:pt x="501" y="157"/>
                    <a:pt x="509" y="152"/>
                    <a:pt x="517" y="147"/>
                  </a:cubicBezTo>
                  <a:cubicBezTo>
                    <a:pt x="542" y="129"/>
                    <a:pt x="560" y="101"/>
                    <a:pt x="560" y="67"/>
                  </a:cubicBezTo>
                  <a:cubicBezTo>
                    <a:pt x="560" y="53"/>
                    <a:pt x="557" y="36"/>
                    <a:pt x="546" y="23"/>
                  </a:cubicBezTo>
                  <a:cubicBezTo>
                    <a:pt x="534" y="9"/>
                    <a:pt x="515" y="0"/>
                    <a:pt x="489" y="0"/>
                  </a:cubicBezTo>
                  <a:cubicBezTo>
                    <a:pt x="463" y="0"/>
                    <a:pt x="442" y="12"/>
                    <a:pt x="425" y="27"/>
                  </a:cubicBezTo>
                  <a:cubicBezTo>
                    <a:pt x="409" y="43"/>
                    <a:pt x="398" y="62"/>
                    <a:pt x="387" y="80"/>
                  </a:cubicBezTo>
                  <a:cubicBezTo>
                    <a:pt x="376" y="99"/>
                    <a:pt x="366" y="117"/>
                    <a:pt x="356" y="129"/>
                  </a:cubicBezTo>
                  <a:cubicBezTo>
                    <a:pt x="345" y="141"/>
                    <a:pt x="335" y="147"/>
                    <a:pt x="320" y="147"/>
                  </a:cubicBezTo>
                  <a:cubicBezTo>
                    <a:pt x="306" y="147"/>
                    <a:pt x="296" y="141"/>
                    <a:pt x="285" y="129"/>
                  </a:cubicBezTo>
                  <a:cubicBezTo>
                    <a:pt x="274" y="117"/>
                    <a:pt x="265" y="99"/>
                    <a:pt x="254" y="80"/>
                  </a:cubicBezTo>
                  <a:cubicBezTo>
                    <a:pt x="243" y="62"/>
                    <a:pt x="231" y="43"/>
                    <a:pt x="215" y="27"/>
                  </a:cubicBezTo>
                  <a:cubicBezTo>
                    <a:pt x="199" y="12"/>
                    <a:pt x="178" y="0"/>
                    <a:pt x="151" y="0"/>
                  </a:cubicBezTo>
                  <a:close/>
                  <a:moveTo>
                    <a:pt x="151" y="27"/>
                  </a:moveTo>
                  <a:cubicBezTo>
                    <a:pt x="171" y="27"/>
                    <a:pt x="184" y="34"/>
                    <a:pt x="197" y="46"/>
                  </a:cubicBezTo>
                  <a:cubicBezTo>
                    <a:pt x="209" y="58"/>
                    <a:pt x="220" y="76"/>
                    <a:pt x="231" y="94"/>
                  </a:cubicBezTo>
                  <a:cubicBezTo>
                    <a:pt x="241" y="112"/>
                    <a:pt x="252" y="131"/>
                    <a:pt x="265" y="146"/>
                  </a:cubicBezTo>
                  <a:cubicBezTo>
                    <a:pt x="266" y="147"/>
                    <a:pt x="266" y="147"/>
                    <a:pt x="266" y="147"/>
                  </a:cubicBezTo>
                  <a:lnTo>
                    <a:pt x="214" y="147"/>
                  </a:lnTo>
                  <a:cubicBezTo>
                    <a:pt x="187" y="147"/>
                    <a:pt x="159" y="139"/>
                    <a:pt x="139" y="125"/>
                  </a:cubicBezTo>
                  <a:cubicBezTo>
                    <a:pt x="119" y="111"/>
                    <a:pt x="107" y="92"/>
                    <a:pt x="107" y="67"/>
                  </a:cubicBezTo>
                  <a:cubicBezTo>
                    <a:pt x="107" y="57"/>
                    <a:pt x="110" y="47"/>
                    <a:pt x="116" y="40"/>
                  </a:cubicBezTo>
                  <a:cubicBezTo>
                    <a:pt x="121" y="33"/>
                    <a:pt x="131" y="27"/>
                    <a:pt x="151" y="27"/>
                  </a:cubicBezTo>
                  <a:close/>
                  <a:moveTo>
                    <a:pt x="489" y="27"/>
                  </a:moveTo>
                  <a:cubicBezTo>
                    <a:pt x="510" y="27"/>
                    <a:pt x="519" y="33"/>
                    <a:pt x="525" y="40"/>
                  </a:cubicBezTo>
                  <a:cubicBezTo>
                    <a:pt x="531" y="47"/>
                    <a:pt x="534" y="57"/>
                    <a:pt x="534" y="67"/>
                  </a:cubicBezTo>
                  <a:cubicBezTo>
                    <a:pt x="534" y="92"/>
                    <a:pt x="521" y="111"/>
                    <a:pt x="501" y="125"/>
                  </a:cubicBezTo>
                  <a:cubicBezTo>
                    <a:pt x="482" y="139"/>
                    <a:pt x="454" y="147"/>
                    <a:pt x="427" y="147"/>
                  </a:cubicBezTo>
                  <a:lnTo>
                    <a:pt x="375" y="147"/>
                  </a:lnTo>
                  <a:cubicBezTo>
                    <a:pt x="375" y="147"/>
                    <a:pt x="375" y="147"/>
                    <a:pt x="376" y="146"/>
                  </a:cubicBezTo>
                  <a:cubicBezTo>
                    <a:pt x="389" y="131"/>
                    <a:pt x="399" y="112"/>
                    <a:pt x="410" y="94"/>
                  </a:cubicBezTo>
                  <a:cubicBezTo>
                    <a:pt x="421" y="76"/>
                    <a:pt x="431" y="58"/>
                    <a:pt x="444" y="46"/>
                  </a:cubicBezTo>
                  <a:cubicBezTo>
                    <a:pt x="456" y="34"/>
                    <a:pt x="470" y="27"/>
                    <a:pt x="489" y="27"/>
                  </a:cubicBezTo>
                  <a:close/>
                  <a:moveTo>
                    <a:pt x="27" y="187"/>
                  </a:moveTo>
                  <a:lnTo>
                    <a:pt x="240" y="187"/>
                  </a:lnTo>
                  <a:lnTo>
                    <a:pt x="240" y="280"/>
                  </a:lnTo>
                  <a:lnTo>
                    <a:pt x="27" y="280"/>
                  </a:lnTo>
                  <a:lnTo>
                    <a:pt x="27" y="187"/>
                  </a:lnTo>
                  <a:close/>
                  <a:moveTo>
                    <a:pt x="267" y="187"/>
                  </a:moveTo>
                  <a:lnTo>
                    <a:pt x="374" y="187"/>
                  </a:lnTo>
                  <a:cubicBezTo>
                    <a:pt x="374" y="329"/>
                    <a:pt x="374" y="471"/>
                    <a:pt x="374" y="614"/>
                  </a:cubicBezTo>
                  <a:lnTo>
                    <a:pt x="267" y="614"/>
                  </a:lnTo>
                  <a:cubicBezTo>
                    <a:pt x="267" y="471"/>
                    <a:pt x="267" y="329"/>
                    <a:pt x="267" y="187"/>
                  </a:cubicBezTo>
                  <a:close/>
                  <a:moveTo>
                    <a:pt x="400" y="187"/>
                  </a:moveTo>
                  <a:lnTo>
                    <a:pt x="614" y="187"/>
                  </a:lnTo>
                  <a:lnTo>
                    <a:pt x="614" y="280"/>
                  </a:lnTo>
                  <a:lnTo>
                    <a:pt x="400" y="280"/>
                  </a:lnTo>
                  <a:lnTo>
                    <a:pt x="400" y="187"/>
                  </a:lnTo>
                  <a:close/>
                  <a:moveTo>
                    <a:pt x="54" y="307"/>
                  </a:moveTo>
                  <a:lnTo>
                    <a:pt x="240" y="307"/>
                  </a:lnTo>
                  <a:lnTo>
                    <a:pt x="240" y="614"/>
                  </a:lnTo>
                  <a:lnTo>
                    <a:pt x="54" y="614"/>
                  </a:lnTo>
                  <a:lnTo>
                    <a:pt x="54" y="307"/>
                  </a:lnTo>
                  <a:close/>
                  <a:moveTo>
                    <a:pt x="400" y="307"/>
                  </a:moveTo>
                  <a:lnTo>
                    <a:pt x="587" y="307"/>
                  </a:lnTo>
                  <a:lnTo>
                    <a:pt x="587" y="614"/>
                  </a:lnTo>
                  <a:lnTo>
                    <a:pt x="400" y="614"/>
                  </a:lnTo>
                  <a:lnTo>
                    <a:pt x="400" y="307"/>
                  </a:lnTo>
                  <a:close/>
                </a:path>
              </a:pathLst>
            </a:custGeom>
            <a:solidFill>
              <a:srgbClr val="5F5F5F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sp>
        <p:nvSpPr>
          <p:cNvPr id="178" name="타원 177">
            <a:extLst>
              <a:ext uri="{FF2B5EF4-FFF2-40B4-BE49-F238E27FC236}">
                <a16:creationId xmlns:a16="http://schemas.microsoft.com/office/drawing/2014/main" xmlns="" id="{05928B69-0142-4C14-A783-3D8762E5BBE2}"/>
              </a:ext>
            </a:extLst>
          </p:cNvPr>
          <p:cNvSpPr/>
          <p:nvPr/>
        </p:nvSpPr>
        <p:spPr>
          <a:xfrm>
            <a:off x="0" y="709700"/>
            <a:ext cx="144000" cy="144000"/>
          </a:xfrm>
          <a:prstGeom prst="ellipse">
            <a:avLst/>
          </a:prstGeom>
          <a:solidFill>
            <a:srgbClr val="C00000"/>
          </a:solidFill>
          <a:ln w="3175">
            <a:noFill/>
          </a:ln>
          <a:effectLst>
            <a:outerShdw blurRad="25400" dist="25400" dir="2700000" algn="tl" rotWithShape="0">
              <a:schemeClr val="tx1">
                <a:lumMod val="75000"/>
                <a:lumOff val="2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700" dirty="0">
                <a:solidFill>
                  <a:prstClr val="white"/>
                </a:solidFill>
                <a:latin typeface="맑은 고딕" panose="020B0503020000020004" pitchFamily="50" charset="-127"/>
              </a:rPr>
              <a:t>1</a:t>
            </a:r>
            <a:endParaRPr lang="ko-KR" altLang="en-US" sz="700" dirty="0">
              <a:solidFill>
                <a:prstClr val="white"/>
              </a:solidFill>
              <a:latin typeface="맑은 고딕" panose="020B0503020000020004" pitchFamily="50" charset="-127"/>
            </a:endParaRPr>
          </a:p>
        </p:txBody>
      </p:sp>
      <p:sp>
        <p:nvSpPr>
          <p:cNvPr id="179" name="타원 178">
            <a:extLst>
              <a:ext uri="{FF2B5EF4-FFF2-40B4-BE49-F238E27FC236}">
                <a16:creationId xmlns:a16="http://schemas.microsoft.com/office/drawing/2014/main" xmlns="" id="{05928B69-0142-4C14-A783-3D8762E5BBE2}"/>
              </a:ext>
            </a:extLst>
          </p:cNvPr>
          <p:cNvSpPr/>
          <p:nvPr/>
        </p:nvSpPr>
        <p:spPr>
          <a:xfrm>
            <a:off x="4679531" y="2113455"/>
            <a:ext cx="144000" cy="144000"/>
          </a:xfrm>
          <a:prstGeom prst="ellipse">
            <a:avLst/>
          </a:prstGeom>
          <a:solidFill>
            <a:srgbClr val="C00000"/>
          </a:solidFill>
          <a:ln w="3175">
            <a:noFill/>
          </a:ln>
          <a:effectLst>
            <a:outerShdw blurRad="25400" dist="25400" dir="2700000" algn="tl" rotWithShape="0">
              <a:schemeClr val="tx1">
                <a:lumMod val="75000"/>
                <a:lumOff val="2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700" smtClean="0">
                <a:solidFill>
                  <a:prstClr val="white"/>
                </a:solidFill>
                <a:latin typeface="맑은 고딕" panose="020B0503020000020004" pitchFamily="50" charset="-127"/>
              </a:rPr>
              <a:t>2</a:t>
            </a:r>
            <a:endParaRPr lang="ko-KR" altLang="en-US" sz="700" dirty="0">
              <a:solidFill>
                <a:prstClr val="white"/>
              </a:solidFill>
              <a:latin typeface="맑은 고딕" panose="020B0503020000020004" pitchFamily="50" charset="-127"/>
            </a:endParaRPr>
          </a:p>
        </p:txBody>
      </p:sp>
      <p:sp>
        <p:nvSpPr>
          <p:cNvPr id="181" name="타원 180">
            <a:extLst>
              <a:ext uri="{FF2B5EF4-FFF2-40B4-BE49-F238E27FC236}">
                <a16:creationId xmlns:a16="http://schemas.microsoft.com/office/drawing/2014/main" xmlns="" id="{05928B69-0142-4C14-A783-3D8762E5BBE2}"/>
              </a:ext>
            </a:extLst>
          </p:cNvPr>
          <p:cNvSpPr/>
          <p:nvPr/>
        </p:nvSpPr>
        <p:spPr>
          <a:xfrm>
            <a:off x="7523301" y="2113455"/>
            <a:ext cx="144000" cy="144000"/>
          </a:xfrm>
          <a:prstGeom prst="ellipse">
            <a:avLst/>
          </a:prstGeom>
          <a:solidFill>
            <a:srgbClr val="C00000"/>
          </a:solidFill>
          <a:ln w="3175">
            <a:noFill/>
          </a:ln>
          <a:effectLst>
            <a:outerShdw blurRad="25400" dist="25400" dir="2700000" algn="tl" rotWithShape="0">
              <a:schemeClr val="tx1">
                <a:lumMod val="75000"/>
                <a:lumOff val="2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700" smtClean="0">
                <a:solidFill>
                  <a:prstClr val="white"/>
                </a:solidFill>
                <a:latin typeface="맑은 고딕" panose="020B0503020000020004" pitchFamily="50" charset="-127"/>
              </a:rPr>
              <a:t>3</a:t>
            </a:r>
            <a:endParaRPr lang="ko-KR" altLang="en-US" sz="700" dirty="0">
              <a:solidFill>
                <a:prstClr val="white"/>
              </a:solidFill>
              <a:latin typeface="맑은 고딕" panose="020B0503020000020004" pitchFamily="50" charset="-127"/>
            </a:endParaRPr>
          </a:p>
        </p:txBody>
      </p:sp>
      <p:sp>
        <p:nvSpPr>
          <p:cNvPr id="182" name="타원 181">
            <a:extLst>
              <a:ext uri="{FF2B5EF4-FFF2-40B4-BE49-F238E27FC236}">
                <a16:creationId xmlns:a16="http://schemas.microsoft.com/office/drawing/2014/main" xmlns="" id="{05928B69-0142-4C14-A783-3D8762E5BBE2}"/>
              </a:ext>
            </a:extLst>
          </p:cNvPr>
          <p:cNvSpPr/>
          <p:nvPr/>
        </p:nvSpPr>
        <p:spPr>
          <a:xfrm>
            <a:off x="4679531" y="2833357"/>
            <a:ext cx="144000" cy="144000"/>
          </a:xfrm>
          <a:prstGeom prst="ellipse">
            <a:avLst/>
          </a:prstGeom>
          <a:solidFill>
            <a:srgbClr val="C00000"/>
          </a:solidFill>
          <a:ln w="3175">
            <a:noFill/>
          </a:ln>
          <a:effectLst>
            <a:outerShdw blurRad="25400" dist="25400" dir="2700000" algn="tl" rotWithShape="0">
              <a:schemeClr val="tx1">
                <a:lumMod val="75000"/>
                <a:lumOff val="2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700" smtClean="0">
                <a:solidFill>
                  <a:prstClr val="white"/>
                </a:solidFill>
                <a:latin typeface="맑은 고딕" panose="020B0503020000020004" pitchFamily="50" charset="-127"/>
              </a:rPr>
              <a:t>4</a:t>
            </a:r>
            <a:endParaRPr lang="ko-KR" altLang="en-US" sz="700" dirty="0">
              <a:solidFill>
                <a:prstClr val="white"/>
              </a:solidFill>
              <a:latin typeface="맑은 고딕" panose="020B0503020000020004" pitchFamily="50" charset="-127"/>
            </a:endParaRPr>
          </a:p>
        </p:txBody>
      </p:sp>
      <p:cxnSp>
        <p:nvCxnSpPr>
          <p:cNvPr id="187" name="꺾인 연결선 186"/>
          <p:cNvCxnSpPr>
            <a:stCxn id="381" idx="6"/>
            <a:endCxn id="17" idx="1"/>
          </p:cNvCxnSpPr>
          <p:nvPr/>
        </p:nvCxnSpPr>
        <p:spPr>
          <a:xfrm>
            <a:off x="6299508" y="4185740"/>
            <a:ext cx="1764209" cy="339029"/>
          </a:xfrm>
          <a:prstGeom prst="bentConnector3">
            <a:avLst>
              <a:gd name="adj1" fmla="val 88153"/>
            </a:avLst>
          </a:prstGeom>
          <a:ln>
            <a:solidFill>
              <a:schemeClr val="accent2"/>
            </a:solidFill>
            <a:prstDash val="lg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857549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제목 1"/>
          <p:cNvSpPr txBox="1">
            <a:spLocks/>
          </p:cNvSpPr>
          <p:nvPr/>
        </p:nvSpPr>
        <p:spPr>
          <a:xfrm>
            <a:off x="1223906" y="358660"/>
            <a:ext cx="1080000" cy="216000"/>
          </a:xfrm>
          <a:prstGeom prst="rect">
            <a:avLst/>
          </a:prstGeom>
        </p:spPr>
        <p:txBody>
          <a:bodyPr lIns="36000" tIns="36000" rIns="36000" bIns="36000" anchor="ctr"/>
          <a:lstStyle>
            <a:lvl1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2pPr>
            <a:lvl3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3pPr>
            <a:lvl4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4pPr>
            <a:lvl5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5pPr>
            <a:lvl6pPr marL="457212" algn="ctr" rtl="0" fontAlgn="base" latinLnBrk="1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6pPr>
            <a:lvl7pPr marL="914423" algn="ctr" rtl="0" fontAlgn="base" latinLnBrk="1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7pPr>
            <a:lvl8pPr marL="1371634" algn="ctr" rtl="0" fontAlgn="base" latinLnBrk="1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8pPr>
            <a:lvl9pPr marL="1828846" algn="ctr" rtl="0" fontAlgn="base" latinLnBrk="1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r>
              <a:rPr lang="en-US" altLang="ko-KR" sz="800" ker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-</a:t>
            </a:r>
            <a:endParaRPr lang="ko-KR" altLang="en-US" sz="800" kern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" name="제목 1">
            <a:extLst>
              <a:ext uri="{FF2B5EF4-FFF2-40B4-BE49-F238E27FC236}">
                <a16:creationId xmlns:a16="http://schemas.microsoft.com/office/drawing/2014/main" xmlns="" id="{03F65532-A01C-4981-B987-5E15F64E3ABB}"/>
              </a:ext>
            </a:extLst>
          </p:cNvPr>
          <p:cNvSpPr txBox="1">
            <a:spLocks/>
          </p:cNvSpPr>
          <p:nvPr/>
        </p:nvSpPr>
        <p:spPr>
          <a:xfrm>
            <a:off x="3383718" y="142660"/>
            <a:ext cx="4320000" cy="216000"/>
          </a:xfrm>
          <a:prstGeom prst="rect">
            <a:avLst/>
          </a:prstGeom>
        </p:spPr>
        <p:txBody>
          <a:bodyPr lIns="180000" tIns="36000" rIns="180000" bIns="36000" anchor="ctr"/>
          <a:lstStyle>
            <a:lvl1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2pPr>
            <a:lvl3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3pPr>
            <a:lvl4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4pPr>
            <a:lvl5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5pPr>
            <a:lvl6pPr marL="457212" algn="ctr" rtl="0" fontAlgn="base" latinLnBrk="1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6pPr>
            <a:lvl7pPr marL="914423" algn="ctr" rtl="0" fontAlgn="base" latinLnBrk="1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7pPr>
            <a:lvl8pPr marL="1371634" algn="ctr" rtl="0" fontAlgn="base" latinLnBrk="1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8pPr>
            <a:lvl9pPr marL="1828846" algn="ctr" rtl="0" fontAlgn="base" latinLnBrk="1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l"/>
            <a:r>
              <a:rPr lang="ko-KR" altLang="en-US" sz="800" b="1" kern="0" smtClean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상품상세</a:t>
            </a:r>
            <a:endParaRPr lang="ko-KR" altLang="en-US" sz="800" b="1" kern="0" dirty="0">
              <a:solidFill>
                <a:srgbClr val="C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" name="제목 1">
            <a:extLst>
              <a:ext uri="{FF2B5EF4-FFF2-40B4-BE49-F238E27FC236}">
                <a16:creationId xmlns:a16="http://schemas.microsoft.com/office/drawing/2014/main" xmlns="" id="{E2CFB5AD-2840-4821-B288-2284D6C0A05E}"/>
              </a:ext>
            </a:extLst>
          </p:cNvPr>
          <p:cNvSpPr txBox="1">
            <a:spLocks/>
          </p:cNvSpPr>
          <p:nvPr/>
        </p:nvSpPr>
        <p:spPr>
          <a:xfrm>
            <a:off x="3383718" y="358660"/>
            <a:ext cx="4320000" cy="216000"/>
          </a:xfrm>
          <a:prstGeom prst="rect">
            <a:avLst/>
          </a:prstGeom>
        </p:spPr>
        <p:txBody>
          <a:bodyPr lIns="180000" tIns="36000" rIns="180000" bIns="36000" anchor="ctr"/>
          <a:lstStyle>
            <a:lvl1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2pPr>
            <a:lvl3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3pPr>
            <a:lvl4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4pPr>
            <a:lvl5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5pPr>
            <a:lvl6pPr marL="457212" algn="ctr" rtl="0" fontAlgn="base" latinLnBrk="1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6pPr>
            <a:lvl7pPr marL="914423" algn="ctr" rtl="0" fontAlgn="base" latinLnBrk="1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7pPr>
            <a:lvl8pPr marL="1371634" algn="ctr" rtl="0" fontAlgn="base" latinLnBrk="1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8pPr>
            <a:lvl9pPr marL="1828846" algn="ctr" rtl="0" fontAlgn="base" latinLnBrk="1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l"/>
            <a:r>
              <a:rPr lang="en-US" altLang="ko-KR" sz="800" ker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https://m.lfmall.co.kr/app/product</a:t>
            </a:r>
            <a:r>
              <a:rPr lang="en-US" altLang="ko-KR" sz="800" kern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/</a:t>
            </a:r>
            <a:r>
              <a:rPr lang="ko-KR" altLang="en-US" sz="800" kern="0" smtClean="0">
                <a:solidFill>
                  <a:srgbClr val="C00000"/>
                </a:solidFill>
                <a:latin typeface="맑은 고딕" panose="020B0503020000020004" pitchFamily="50" charset="-127"/>
              </a:rPr>
              <a:t>코드</a:t>
            </a:r>
            <a:endParaRPr lang="ko-KR" altLang="en-US" sz="800" kern="0" dirty="0">
              <a:solidFill>
                <a:srgbClr val="C00000"/>
              </a:solidFill>
              <a:latin typeface="맑은 고딕" panose="020B0503020000020004" pitchFamily="50" charset="-127"/>
            </a:endParaRPr>
          </a:p>
        </p:txBody>
      </p:sp>
      <p:sp>
        <p:nvSpPr>
          <p:cNvPr id="10" name="제목 1"/>
          <p:cNvSpPr txBox="1">
            <a:spLocks/>
          </p:cNvSpPr>
          <p:nvPr/>
        </p:nvSpPr>
        <p:spPr>
          <a:xfrm>
            <a:off x="1223906" y="142660"/>
            <a:ext cx="1080000" cy="216000"/>
          </a:xfrm>
          <a:prstGeom prst="rect">
            <a:avLst/>
          </a:prstGeom>
        </p:spPr>
        <p:txBody>
          <a:bodyPr lIns="36000" tIns="36000" rIns="36000" bIns="36000" anchor="ctr"/>
          <a:lstStyle>
            <a:lvl1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2pPr>
            <a:lvl3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3pPr>
            <a:lvl4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4pPr>
            <a:lvl5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5pPr>
            <a:lvl6pPr marL="457212" algn="ctr" rtl="0" fontAlgn="base" latinLnBrk="1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6pPr>
            <a:lvl7pPr marL="914423" algn="ctr" rtl="0" fontAlgn="base" latinLnBrk="1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7pPr>
            <a:lvl8pPr marL="1371634" algn="ctr" rtl="0" fontAlgn="base" latinLnBrk="1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8pPr>
            <a:lvl9pPr marL="1828846" algn="ctr" rtl="0" fontAlgn="base" latinLnBrk="1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r>
              <a:rPr lang="en-US" altLang="ko-KR" sz="800" kern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Front-End</a:t>
            </a:r>
            <a:endParaRPr lang="ko-KR" altLang="en-US" sz="800" kern="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11" name="Group 118">
            <a:extLst>
              <a:ext uri="{FF2B5EF4-FFF2-40B4-BE49-F238E27FC236}">
                <a16:creationId xmlns:a16="http://schemas.microsoft.com/office/drawing/2014/main" xmlns="" id="{41B5A014-BEDB-439E-A302-DBCECEC856B4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9647906" y="709700"/>
          <a:ext cx="2376000" cy="2597568"/>
        </p:xfrm>
        <a:graphic>
          <a:graphicData uri="http://schemas.openxmlformats.org/drawingml/2006/table">
            <a:tbl>
              <a:tblPr/>
              <a:tblGrid>
                <a:gridCol w="21600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21600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2520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 Semilight" panose="020B0502040204020203" pitchFamily="50" charset="-127"/>
                        </a:rPr>
                        <a:t>No</a:t>
                      </a:r>
                    </a:p>
                  </a:txBody>
                  <a:tcPr marL="42203" marR="42203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en-US" altLang="ko-KR" sz="700" b="0" baseline="0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 Semilight" panose="020B0502040204020203" pitchFamily="50" charset="-127"/>
                        </a:rPr>
                        <a:t>Description</a:t>
                      </a:r>
                    </a:p>
                  </a:txBody>
                  <a:tcPr marL="108000" marR="108000" marT="36000" marB="3600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 Semilight" panose="020B0502040204020203" pitchFamily="50" charset="-127"/>
                        </a:rPr>
                        <a:t>1</a:t>
                      </a:r>
                    </a:p>
                  </a:txBody>
                  <a:tcPr marL="42203" marR="42203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ko-KR" altLang="en-US" sz="700" b="0" baseline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 Semilight" panose="020B0502040204020203" pitchFamily="50" charset="-127"/>
                        </a:rPr>
                        <a:t>상단 영역 변경사항 없음</a:t>
                      </a:r>
                      <a:endParaRPr lang="en-US" altLang="ko-KR" sz="700" b="0" baseline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108000" marR="108000" marT="36000" marB="3600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 Semilight" panose="020B0502040204020203" pitchFamily="50" charset="-127"/>
                        </a:rPr>
                        <a:t>2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42203" marR="42203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ko-KR" altLang="en-US" sz="700" b="0" baseline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  <a:cs typeface="Malgun Gothic Semilight" panose="020B0502040204020203" pitchFamily="50" charset="-127"/>
                        </a:rPr>
                        <a:t>옵션 선택 영역</a:t>
                      </a:r>
                      <a:endParaRPr lang="en-US" altLang="ko-KR" sz="700" b="0" baseline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  <a:cs typeface="Malgun Gothic Semilight" panose="020B0502040204020203" pitchFamily="50" charset="-127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en-US" altLang="ko-KR" sz="700" b="0" baseline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  <a:cs typeface="Malgun Gothic Semilight" panose="020B0502040204020203" pitchFamily="50" charset="-127"/>
                        </a:rPr>
                        <a:t> - </a:t>
                      </a:r>
                      <a:r>
                        <a:rPr lang="ko-KR" altLang="en-US" sz="700" b="0" baseline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  <a:cs typeface="Malgun Gothic Semilight" panose="020B0502040204020203" pitchFamily="50" charset="-127"/>
                        </a:rPr>
                        <a:t>사이즈 단위 </a:t>
                      </a:r>
                      <a:r>
                        <a:rPr lang="en-US" altLang="ko-KR" sz="700" b="0" baseline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  <a:cs typeface="Malgun Gothic Semilight" panose="020B0502040204020203" pitchFamily="50" charset="-127"/>
                        </a:rPr>
                        <a:t>‘</a:t>
                      </a:r>
                      <a:r>
                        <a:rPr lang="ko-KR" altLang="en-US" sz="700" b="0" baseline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  <a:cs typeface="Malgun Gothic Semilight" panose="020B0502040204020203" pitchFamily="50" charset="-127"/>
                        </a:rPr>
                        <a:t>비직송매장 재고</a:t>
                      </a:r>
                      <a:r>
                        <a:rPr lang="en-US" altLang="ko-KR" sz="700" b="0" baseline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  <a:cs typeface="Malgun Gothic Semilight" panose="020B0502040204020203" pitchFamily="50" charset="-127"/>
                        </a:rPr>
                        <a:t>’ </a:t>
                      </a:r>
                      <a:r>
                        <a:rPr lang="ko-KR" altLang="en-US" sz="700" b="0" baseline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  <a:cs typeface="Malgun Gothic Semilight" panose="020B0502040204020203" pitchFamily="50" charset="-127"/>
                        </a:rPr>
                        <a:t>만 존재하는 경우</a:t>
                      </a:r>
                      <a:r>
                        <a:rPr lang="en-US" altLang="ko-KR" sz="700" b="0" baseline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  <a:cs typeface="Malgun Gothic Semilight" panose="020B0502040204020203" pitchFamily="50" charset="-127"/>
                        </a:rPr>
                        <a:t>, </a:t>
                      </a:r>
                      <a:r>
                        <a:rPr lang="ko-KR" altLang="en-US" sz="700" b="0" baseline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  <a:cs typeface="Malgun Gothic Semilight" panose="020B0502040204020203" pitchFamily="50" charset="-127"/>
                        </a:rPr>
                        <a:t>매장상품배송 </a:t>
                      </a:r>
                      <a:r>
                        <a:rPr lang="en-US" altLang="ko-KR" sz="700" b="0" baseline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  <a:cs typeface="Malgun Gothic Semilight" panose="020B0502040204020203" pitchFamily="50" charset="-127"/>
                        </a:rPr>
                        <a:t>Flag </a:t>
                      </a:r>
                      <a:r>
                        <a:rPr lang="ko-KR" altLang="en-US" sz="700" b="0" baseline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  <a:cs typeface="Malgun Gothic Semilight" panose="020B0502040204020203" pitchFamily="50" charset="-127"/>
                        </a:rPr>
                        <a:t>와 </a:t>
                      </a:r>
                      <a:r>
                        <a:rPr lang="en-US" altLang="ko-KR" sz="700" b="0" baseline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  <a:cs typeface="Malgun Gothic Semilight" panose="020B0502040204020203" pitchFamily="50" charset="-127"/>
                        </a:rPr>
                        <a:t>Question Mark </a:t>
                      </a:r>
                      <a:r>
                        <a:rPr lang="ko-KR" altLang="en-US" sz="700" b="0" baseline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  <a:cs typeface="Malgun Gothic Semilight" panose="020B0502040204020203" pitchFamily="50" charset="-127"/>
                        </a:rPr>
                        <a:t>표현</a:t>
                      </a:r>
                      <a:endParaRPr lang="en-US" altLang="ko-KR" sz="700" b="0" baseline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  <a:cs typeface="Malgun Gothic Semilight" panose="020B0502040204020203" pitchFamily="50" charset="-127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en-US" altLang="ko-KR" sz="700" b="0" baseline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  <a:cs typeface="Malgun Gothic Semilight" panose="020B0502040204020203" pitchFamily="50" charset="-127"/>
                        </a:rPr>
                        <a:t> - </a:t>
                      </a:r>
                      <a:r>
                        <a:rPr lang="ko-KR" altLang="en-US" sz="700" b="0" baseline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  <a:cs typeface="Malgun Gothic Semilight" panose="020B0502040204020203" pitchFamily="50" charset="-127"/>
                        </a:rPr>
                        <a:t>클릭 시</a:t>
                      </a:r>
                      <a:r>
                        <a:rPr lang="en-US" altLang="ko-KR" sz="700" b="0" baseline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  <a:cs typeface="Malgun Gothic Semilight" panose="020B0502040204020203" pitchFamily="50" charset="-127"/>
                        </a:rPr>
                        <a:t>, </a:t>
                      </a:r>
                      <a:r>
                        <a:rPr lang="ko-KR" altLang="en-US" sz="700" b="0" baseline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  <a:cs typeface="Malgun Gothic Semilight" panose="020B0502040204020203" pitchFamily="50" charset="-127"/>
                        </a:rPr>
                        <a:t>안내 레이어 표현</a:t>
                      </a:r>
                      <a:endParaRPr lang="en-US" altLang="ko-KR" sz="700" b="0" baseline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  <a:cs typeface="Malgun Gothic Semilight" panose="020B0502040204020203" pitchFamily="50" charset="-127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lang="en-US" altLang="ko-KR" sz="700" b="0" baseline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  <a:cs typeface="Malgun Gothic Semilight" panose="020B0502040204020203" pitchFamily="50" charset="-127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en-US" altLang="ko-KR" sz="700" b="0" baseline="0" smtClean="0">
                          <a:solidFill>
                            <a:srgbClr val="C00000"/>
                          </a:solidFill>
                          <a:latin typeface="맑은 고딕" panose="020B0503020000020004" pitchFamily="50" charset="-127"/>
                          <a:ea typeface="+mn-ea"/>
                          <a:cs typeface="Malgun Gothic Semilight" panose="020B0502040204020203" pitchFamily="50" charset="-127"/>
                        </a:rPr>
                        <a:t>※ </a:t>
                      </a:r>
                      <a:r>
                        <a:rPr lang="ko-KR" altLang="en-US" sz="700" b="0" baseline="0" smtClean="0">
                          <a:solidFill>
                            <a:srgbClr val="C00000"/>
                          </a:solidFill>
                          <a:latin typeface="맑은 고딕" panose="020B0503020000020004" pitchFamily="50" charset="-127"/>
                          <a:ea typeface="+mn-ea"/>
                          <a:cs typeface="Malgun Gothic Semilight" panose="020B0502040204020203" pitchFamily="50" charset="-127"/>
                        </a:rPr>
                        <a:t>사이즈 단위 </a:t>
                      </a:r>
                      <a:r>
                        <a:rPr lang="en-US" altLang="ko-KR" sz="700" b="0" baseline="0" smtClean="0">
                          <a:solidFill>
                            <a:srgbClr val="C00000"/>
                          </a:solidFill>
                          <a:latin typeface="맑은 고딕" panose="020B0503020000020004" pitchFamily="50" charset="-127"/>
                          <a:ea typeface="+mn-ea"/>
                          <a:cs typeface="Malgun Gothic Semilight" panose="020B0502040204020203" pitchFamily="50" charset="-127"/>
                        </a:rPr>
                        <a:t>‘</a:t>
                      </a:r>
                      <a:r>
                        <a:rPr lang="ko-KR" altLang="en-US" sz="700" b="0" baseline="0" smtClean="0">
                          <a:solidFill>
                            <a:srgbClr val="C00000"/>
                          </a:solidFill>
                          <a:latin typeface="맑은 고딕" panose="020B0503020000020004" pitchFamily="50" charset="-127"/>
                          <a:ea typeface="+mn-ea"/>
                          <a:cs typeface="Malgun Gothic Semilight" panose="020B0502040204020203" pitchFamily="50" charset="-127"/>
                        </a:rPr>
                        <a:t>물류센터 재고</a:t>
                      </a:r>
                      <a:r>
                        <a:rPr lang="en-US" altLang="ko-KR" sz="700" b="0" baseline="0" smtClean="0">
                          <a:solidFill>
                            <a:srgbClr val="C00000"/>
                          </a:solidFill>
                          <a:latin typeface="맑은 고딕" panose="020B0503020000020004" pitchFamily="50" charset="-127"/>
                          <a:ea typeface="+mn-ea"/>
                          <a:cs typeface="Malgun Gothic Semilight" panose="020B0502040204020203" pitchFamily="50" charset="-127"/>
                        </a:rPr>
                        <a:t>’, ‘</a:t>
                      </a:r>
                      <a:r>
                        <a:rPr lang="ko-KR" altLang="en-US" sz="700" b="0" baseline="0" smtClean="0">
                          <a:solidFill>
                            <a:srgbClr val="C00000"/>
                          </a:solidFill>
                          <a:latin typeface="맑은 고딕" panose="020B0503020000020004" pitchFamily="50" charset="-127"/>
                          <a:ea typeface="+mn-ea"/>
                          <a:cs typeface="Malgun Gothic Semilight" panose="020B0502040204020203" pitchFamily="50" charset="-127"/>
                        </a:rPr>
                        <a:t>직송매장 재고</a:t>
                      </a:r>
                      <a:r>
                        <a:rPr lang="en-US" altLang="ko-KR" sz="700" b="0" baseline="0" smtClean="0">
                          <a:solidFill>
                            <a:srgbClr val="C00000"/>
                          </a:solidFill>
                          <a:latin typeface="맑은 고딕" panose="020B0503020000020004" pitchFamily="50" charset="-127"/>
                          <a:ea typeface="+mn-ea"/>
                          <a:cs typeface="Malgun Gothic Semilight" panose="020B0502040204020203" pitchFamily="50" charset="-127"/>
                        </a:rPr>
                        <a:t>’ </a:t>
                      </a:r>
                      <a:r>
                        <a:rPr lang="ko-KR" altLang="en-US" sz="700" b="0" baseline="0" smtClean="0">
                          <a:solidFill>
                            <a:srgbClr val="C00000"/>
                          </a:solidFill>
                          <a:latin typeface="맑은 고딕" panose="020B0503020000020004" pitchFamily="50" charset="-127"/>
                          <a:ea typeface="+mn-ea"/>
                          <a:cs typeface="Malgun Gothic Semilight" panose="020B0502040204020203" pitchFamily="50" charset="-127"/>
                        </a:rPr>
                        <a:t>가 존재하는 경우 </a:t>
                      </a:r>
                      <a:r>
                        <a:rPr lang="ko-KR" altLang="en-US" sz="700" b="1" u="sng" baseline="0" smtClean="0">
                          <a:solidFill>
                            <a:srgbClr val="C00000"/>
                          </a:solidFill>
                          <a:latin typeface="맑은 고딕" panose="020B0503020000020004" pitchFamily="50" charset="-127"/>
                          <a:ea typeface="+mn-ea"/>
                          <a:cs typeface="Malgun Gothic Semilight" panose="020B0502040204020203" pitchFamily="50" charset="-127"/>
                        </a:rPr>
                        <a:t>기존 로직 및 </a:t>
                      </a:r>
                      <a:r>
                        <a:rPr lang="en-US" altLang="ko-KR" sz="700" b="1" u="sng" baseline="0" smtClean="0">
                          <a:solidFill>
                            <a:srgbClr val="C00000"/>
                          </a:solidFill>
                          <a:latin typeface="맑은 고딕" panose="020B0503020000020004" pitchFamily="50" charset="-127"/>
                          <a:ea typeface="+mn-ea"/>
                          <a:cs typeface="Malgun Gothic Semilight" panose="020B0502040204020203" pitchFamily="50" charset="-127"/>
                        </a:rPr>
                        <a:t>UI/UX </a:t>
                      </a:r>
                      <a:r>
                        <a:rPr lang="ko-KR" altLang="en-US" sz="700" b="1" u="sng" baseline="0" smtClean="0">
                          <a:solidFill>
                            <a:srgbClr val="C00000"/>
                          </a:solidFill>
                          <a:latin typeface="맑은 고딕" panose="020B0503020000020004" pitchFamily="50" charset="-127"/>
                          <a:ea typeface="+mn-ea"/>
                          <a:cs typeface="Malgun Gothic Semilight" panose="020B0502040204020203" pitchFamily="50" charset="-127"/>
                        </a:rPr>
                        <a:t>유지</a:t>
                      </a:r>
                      <a:endParaRPr lang="en-US" altLang="ko-KR" sz="700" b="1" u="sng" baseline="0" smtClean="0">
                        <a:solidFill>
                          <a:srgbClr val="C00000"/>
                        </a:solidFill>
                        <a:latin typeface="맑은 고딕" panose="020B0503020000020004" pitchFamily="50" charset="-127"/>
                        <a:ea typeface="+mn-ea"/>
                        <a:cs typeface="Malgun Gothic Semilight" panose="020B0502040204020203" pitchFamily="50" charset="-127"/>
                      </a:endParaRPr>
                    </a:p>
                  </a:txBody>
                  <a:tcPr marL="108000" marR="108000" marT="36000" marB="3600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 Semilight" panose="020B0502040204020203" pitchFamily="50" charset="-127"/>
                        </a:rPr>
                        <a:t>3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42203" marR="42203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ko-KR" altLang="en-US" sz="700" b="0" baseline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  <a:cs typeface="Malgun Gothic Semilight" panose="020B0502040204020203" pitchFamily="50" charset="-127"/>
                        </a:rPr>
                        <a:t>일시품절 로직</a:t>
                      </a:r>
                      <a:endParaRPr lang="en-US" altLang="ko-KR" sz="700" b="0" baseline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  <a:cs typeface="Malgun Gothic Semilight" panose="020B0502040204020203" pitchFamily="50" charset="-127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en-US" altLang="ko-KR" sz="700" b="0" baseline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  <a:cs typeface="Malgun Gothic Semilight" panose="020B0502040204020203" pitchFamily="50" charset="-127"/>
                        </a:rPr>
                        <a:t> - </a:t>
                      </a:r>
                      <a:r>
                        <a:rPr lang="ko-KR" altLang="en-US" sz="700" b="0" baseline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  <a:cs typeface="Malgun Gothic Semilight" panose="020B0502040204020203" pitchFamily="50" charset="-127"/>
                        </a:rPr>
                        <a:t>재고 체크 로직에 </a:t>
                      </a:r>
                      <a:r>
                        <a:rPr lang="en-US" altLang="ko-KR" sz="700" b="0" baseline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  <a:cs typeface="Malgun Gothic Semilight" panose="020B0502040204020203" pitchFamily="50" charset="-127"/>
                        </a:rPr>
                        <a:t>‘</a:t>
                      </a:r>
                      <a:r>
                        <a:rPr lang="ko-KR" altLang="en-US" sz="700" b="0" baseline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  <a:cs typeface="Malgun Gothic Semilight" panose="020B0502040204020203" pitchFamily="50" charset="-127"/>
                        </a:rPr>
                        <a:t>비직송매장 재고</a:t>
                      </a:r>
                      <a:r>
                        <a:rPr lang="en-US" altLang="ko-KR" sz="700" b="0" baseline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  <a:cs typeface="Malgun Gothic Semilight" panose="020B0502040204020203" pitchFamily="50" charset="-127"/>
                        </a:rPr>
                        <a:t>’ </a:t>
                      </a:r>
                      <a:r>
                        <a:rPr lang="ko-KR" altLang="en-US" sz="700" b="0" baseline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  <a:cs typeface="Malgun Gothic Semilight" panose="020B0502040204020203" pitchFamily="50" charset="-127"/>
                        </a:rPr>
                        <a:t>포함하여 계산</a:t>
                      </a:r>
                      <a:endParaRPr lang="en-US" altLang="ko-KR" sz="700" b="0" baseline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  <a:cs typeface="Malgun Gothic Semilight" panose="020B0502040204020203" pitchFamily="50" charset="-127"/>
                      </a:endParaRPr>
                    </a:p>
                  </a:txBody>
                  <a:tcPr marL="108000" marR="108000" marT="36000" marB="3600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 Semilight" panose="020B0502040204020203" pitchFamily="50" charset="-127"/>
                        </a:rPr>
                        <a:t>4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42203" marR="42203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ko-KR" altLang="en-US" sz="700" b="0" baseline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  <a:cs typeface="Malgun Gothic Semilight" panose="020B0502040204020203" pitchFamily="50" charset="-127"/>
                        </a:rPr>
                        <a:t>배송 및 혜택 안내 영역</a:t>
                      </a:r>
                      <a:endParaRPr lang="en-US" altLang="ko-KR" sz="700" b="0" baseline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  <a:cs typeface="Malgun Gothic Semilight" panose="020B0502040204020203" pitchFamily="50" charset="-127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en-US" altLang="ko-KR" sz="700" b="0" baseline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  <a:cs typeface="Malgun Gothic Semilight" panose="020B0502040204020203" pitchFamily="50" charset="-127"/>
                        </a:rPr>
                        <a:t> - </a:t>
                      </a:r>
                      <a:r>
                        <a:rPr lang="ko-KR" altLang="en-US" sz="700" b="0" baseline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  <a:cs typeface="Malgun Gothic Semilight" panose="020B0502040204020203" pitchFamily="50" charset="-127"/>
                        </a:rPr>
                        <a:t>배송예정일 확률 테이블 하단에</a:t>
                      </a:r>
                      <a:r>
                        <a:rPr lang="en-US" altLang="ko-KR" sz="700" b="0" baseline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  <a:cs typeface="Malgun Gothic Semilight" panose="020B0502040204020203" pitchFamily="50" charset="-127"/>
                        </a:rPr>
                        <a:t>, </a:t>
                      </a:r>
                      <a:r>
                        <a:rPr lang="ko-KR" altLang="en-US" sz="700" b="0" baseline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  <a:cs typeface="Malgun Gothic Semilight" panose="020B0502040204020203" pitchFamily="50" charset="-127"/>
                        </a:rPr>
                        <a:t>신규로 </a:t>
                      </a:r>
                      <a:r>
                        <a:rPr lang="en-US" altLang="ko-KR" sz="700" b="0" baseline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  <a:cs typeface="Malgun Gothic Semilight" panose="020B0502040204020203" pitchFamily="50" charset="-127"/>
                        </a:rPr>
                        <a:t>‘</a:t>
                      </a:r>
                      <a:r>
                        <a:rPr lang="ko-KR" altLang="en-US" sz="700" b="0" baseline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  <a:cs typeface="Malgun Gothic Semilight" panose="020B0502040204020203" pitchFamily="50" charset="-127"/>
                        </a:rPr>
                        <a:t>매장상품배송</a:t>
                      </a:r>
                      <a:r>
                        <a:rPr lang="en-US" altLang="ko-KR" sz="700" b="0" baseline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  <a:cs typeface="Malgun Gothic Semilight" panose="020B0502040204020203" pitchFamily="50" charset="-127"/>
                        </a:rPr>
                        <a:t>’ </a:t>
                      </a:r>
                      <a:r>
                        <a:rPr lang="ko-KR" altLang="en-US" sz="700" b="0" baseline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  <a:cs typeface="Malgun Gothic Semilight" panose="020B0502040204020203" pitchFamily="50" charset="-127"/>
                        </a:rPr>
                        <a:t>안내 영역 표현</a:t>
                      </a:r>
                      <a:endParaRPr lang="en-US" altLang="ko-KR" sz="700" b="0" baseline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  <a:cs typeface="Malgun Gothic Semilight" panose="020B0502040204020203" pitchFamily="50" charset="-127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en-US" altLang="ko-KR" sz="700" b="0" baseline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  <a:cs typeface="Malgun Gothic Semilight" panose="020B0502040204020203" pitchFamily="50" charset="-127"/>
                        </a:rPr>
                        <a:t> - </a:t>
                      </a:r>
                      <a:r>
                        <a:rPr lang="ko-KR" altLang="en-US" sz="700" b="0" baseline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  <a:cs typeface="Malgun Gothic Semilight" panose="020B0502040204020203" pitchFamily="50" charset="-127"/>
                        </a:rPr>
                        <a:t>옵션 중 </a:t>
                      </a:r>
                      <a:r>
                        <a:rPr lang="en-US" altLang="ko-KR" sz="700" b="0" baseline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  <a:cs typeface="Malgun Gothic Semilight" panose="020B0502040204020203" pitchFamily="50" charset="-127"/>
                        </a:rPr>
                        <a:t>‘</a:t>
                      </a:r>
                      <a:r>
                        <a:rPr lang="ko-KR" altLang="en-US" sz="700" b="0" baseline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  <a:cs typeface="Malgun Gothic Semilight" panose="020B0502040204020203" pitchFamily="50" charset="-127"/>
                        </a:rPr>
                        <a:t>매장상품배송</a:t>
                      </a:r>
                      <a:r>
                        <a:rPr lang="en-US" altLang="ko-KR" sz="700" b="0" baseline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  <a:cs typeface="Malgun Gothic Semilight" panose="020B0502040204020203" pitchFamily="50" charset="-127"/>
                        </a:rPr>
                        <a:t>’ </a:t>
                      </a:r>
                      <a:r>
                        <a:rPr lang="ko-KR" altLang="en-US" sz="700" b="0" baseline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  <a:cs typeface="Malgun Gothic Semilight" panose="020B0502040204020203" pitchFamily="50" charset="-127"/>
                        </a:rPr>
                        <a:t>이 하나도 존재하지 않는 경우 표현하지 않음</a:t>
                      </a:r>
                      <a:endParaRPr lang="en-US" altLang="ko-KR" sz="700" b="0" baseline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  <a:cs typeface="Malgun Gothic Semilight" panose="020B0502040204020203" pitchFamily="50" charset="-127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en-US" altLang="ko-KR" sz="700" b="0" baseline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  <a:cs typeface="Malgun Gothic Semilight" panose="020B0502040204020203" pitchFamily="50" charset="-127"/>
                        </a:rPr>
                        <a:t> - </a:t>
                      </a:r>
                      <a:r>
                        <a:rPr lang="ko-KR" altLang="en-US" sz="700" b="0" baseline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  <a:cs typeface="Malgun Gothic Semilight" panose="020B0502040204020203" pitchFamily="50" charset="-127"/>
                        </a:rPr>
                        <a:t>클릭 시</a:t>
                      </a:r>
                      <a:r>
                        <a:rPr lang="en-US" altLang="ko-KR" sz="700" b="0" baseline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  <a:cs typeface="Malgun Gothic Semilight" panose="020B0502040204020203" pitchFamily="50" charset="-127"/>
                        </a:rPr>
                        <a:t>, </a:t>
                      </a:r>
                      <a:r>
                        <a:rPr lang="ko-KR" altLang="en-US" sz="700" b="0" baseline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  <a:cs typeface="Malgun Gothic Semilight" panose="020B0502040204020203" pitchFamily="50" charset="-127"/>
                        </a:rPr>
                        <a:t>안내 레이어 표현 </a:t>
                      </a:r>
                      <a:r>
                        <a:rPr lang="en-US" altLang="ko-KR" sz="700" b="0" baseline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  <a:cs typeface="Malgun Gothic Semilight" panose="020B0502040204020203" pitchFamily="50" charset="-127"/>
                        </a:rPr>
                        <a:t>(</a:t>
                      </a:r>
                      <a:r>
                        <a:rPr lang="ko-KR" altLang="en-US" sz="700" b="0" baseline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  <a:cs typeface="Malgun Gothic Semilight" panose="020B0502040204020203" pitchFamily="50" charset="-127"/>
                        </a:rPr>
                        <a:t>상동</a:t>
                      </a:r>
                      <a:r>
                        <a:rPr lang="en-US" altLang="ko-KR" sz="700" b="0" baseline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  <a:cs typeface="Malgun Gothic Semilight" panose="020B0502040204020203" pitchFamily="50" charset="-127"/>
                        </a:rPr>
                        <a:t>)</a:t>
                      </a:r>
                    </a:p>
                  </a:txBody>
                  <a:tcPr marL="108000" marR="108000" marT="36000" marB="3600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pSp>
        <p:nvGrpSpPr>
          <p:cNvPr id="490" name="그룹 489"/>
          <p:cNvGrpSpPr/>
          <p:nvPr/>
        </p:nvGrpSpPr>
        <p:grpSpPr>
          <a:xfrm>
            <a:off x="145179" y="709700"/>
            <a:ext cx="2880000" cy="5687074"/>
            <a:chOff x="4824187" y="709700"/>
            <a:chExt cx="2880000" cy="5687074"/>
          </a:xfrm>
        </p:grpSpPr>
        <p:sp>
          <p:nvSpPr>
            <p:cNvPr id="569" name="TextBox 568">
              <a:extLst>
                <a:ext uri="{FF2B5EF4-FFF2-40B4-BE49-F238E27FC236}">
                  <a16:creationId xmlns="" xmlns:a16="http://schemas.microsoft.com/office/drawing/2014/main" id="{0C96C875-C47F-4F5B-B4C1-F9D666A7BD9D}"/>
                </a:ext>
              </a:extLst>
            </p:cNvPr>
            <p:cNvSpPr txBox="1"/>
            <p:nvPr/>
          </p:nvSpPr>
          <p:spPr>
            <a:xfrm>
              <a:off x="4968163" y="1086156"/>
              <a:ext cx="463836" cy="180425"/>
            </a:xfrm>
            <a:prstGeom prst="rect">
              <a:avLst/>
            </a:prstGeom>
            <a:noFill/>
            <a:ln w="3175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none" lIns="36000" tIns="36000" rIns="36000" bIns="36000" numCol="1" rtlCol="0" anchor="ctr" anchorCtr="0" compatLnSpc="1">
              <a:prstTxWarp prst="textNoShape">
                <a:avLst/>
              </a:prstTxWarp>
              <a:spAutoFit/>
            </a:bodyPr>
            <a:lstStyle/>
            <a:p>
              <a:r>
                <a:rPr lang="ko-KR" altLang="en-US" sz="700" b="1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컬러</a:t>
              </a:r>
              <a:r>
                <a:rPr lang="ko-KR" altLang="en-US" sz="70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 블랙</a:t>
              </a:r>
              <a:endParaRPr lang="ko-KR" altLang="en-US" sz="7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endParaRPr>
            </a:p>
          </p:txBody>
        </p:sp>
        <p:cxnSp>
          <p:nvCxnSpPr>
            <p:cNvPr id="570" name="직선 연결선 569"/>
            <p:cNvCxnSpPr/>
            <p:nvPr/>
          </p:nvCxnSpPr>
          <p:spPr>
            <a:xfrm>
              <a:off x="4968163" y="709700"/>
              <a:ext cx="2591578" cy="0"/>
            </a:xfrm>
            <a:prstGeom prst="line">
              <a:avLst/>
            </a:prstGeom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71" name="TextBox 570">
              <a:extLst>
                <a:ext uri="{FF2B5EF4-FFF2-40B4-BE49-F238E27FC236}">
                  <a16:creationId xmlns="" xmlns:a16="http://schemas.microsoft.com/office/drawing/2014/main" id="{0C96C875-C47F-4F5B-B4C1-F9D666A7BD9D}"/>
                </a:ext>
              </a:extLst>
            </p:cNvPr>
            <p:cNvSpPr txBox="1"/>
            <p:nvPr/>
          </p:nvSpPr>
          <p:spPr>
            <a:xfrm>
              <a:off x="4968164" y="791898"/>
              <a:ext cx="519941" cy="195814"/>
            </a:xfrm>
            <a:prstGeom prst="rect">
              <a:avLst/>
            </a:prstGeom>
            <a:noFill/>
            <a:ln w="3175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none" lIns="36000" tIns="36000" rIns="36000" bIns="36000" numCol="1" rtlCol="0" anchor="ctr" anchorCtr="0" compatLnSpc="1">
              <a:prstTxWarp prst="textNoShape">
                <a:avLst/>
              </a:prstTxWarp>
              <a:spAutoFit/>
            </a:bodyPr>
            <a:lstStyle/>
            <a:p>
              <a:r>
                <a:rPr lang="ko-KR" altLang="en-US" sz="800" b="1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옵션 선택</a:t>
              </a:r>
              <a:endParaRPr lang="en-US" altLang="ko-KR" sz="800" b="1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572" name="모서리가 둥근 직사각형 571"/>
            <p:cNvSpPr/>
            <p:nvPr/>
          </p:nvSpPr>
          <p:spPr>
            <a:xfrm>
              <a:off x="4968163" y="1285766"/>
              <a:ext cx="432000" cy="539912"/>
            </a:xfrm>
            <a:prstGeom prst="roundRect">
              <a:avLst>
                <a:gd name="adj" fmla="val 11375"/>
              </a:avLst>
            </a:prstGeom>
            <a:pattFill prst="openDmnd">
              <a:fgClr>
                <a:schemeClr val="bg1">
                  <a:lumMod val="85000"/>
                </a:schemeClr>
              </a:fgClr>
              <a:bgClr>
                <a:schemeClr val="bg1"/>
              </a:bgClr>
            </a:patt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60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PROD</a:t>
              </a:r>
            </a:p>
            <a:p>
              <a:pPr algn="ctr"/>
              <a:r>
                <a:rPr lang="en-US" altLang="ko-KR" sz="60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IMG</a:t>
              </a:r>
              <a:endParaRPr lang="ko-KR" altLang="en-US" sz="6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573" name="모서리가 둥근 직사각형 572"/>
            <p:cNvSpPr/>
            <p:nvPr/>
          </p:nvSpPr>
          <p:spPr>
            <a:xfrm>
              <a:off x="5472584" y="1285766"/>
              <a:ext cx="432000" cy="539912"/>
            </a:xfrm>
            <a:prstGeom prst="roundRect">
              <a:avLst>
                <a:gd name="adj" fmla="val 11375"/>
              </a:avLst>
            </a:prstGeom>
            <a:pattFill prst="openDmnd">
              <a:fgClr>
                <a:schemeClr val="bg1">
                  <a:lumMod val="85000"/>
                </a:schemeClr>
              </a:fgClr>
              <a:bgClr>
                <a:schemeClr val="bg1"/>
              </a:bgClr>
            </a:patt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60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PROD</a:t>
              </a:r>
            </a:p>
            <a:p>
              <a:pPr algn="ctr"/>
              <a:r>
                <a:rPr lang="en-US" altLang="ko-KR" sz="60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IMG</a:t>
              </a:r>
              <a:endParaRPr lang="ko-KR" altLang="en-US" sz="6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574" name="TextBox 573">
              <a:extLst>
                <a:ext uri="{FF2B5EF4-FFF2-40B4-BE49-F238E27FC236}">
                  <a16:creationId xmlns="" xmlns:a16="http://schemas.microsoft.com/office/drawing/2014/main" id="{0C96C875-C47F-4F5B-B4C1-F9D666A7BD9D}"/>
                </a:ext>
              </a:extLst>
            </p:cNvPr>
            <p:cNvSpPr txBox="1"/>
            <p:nvPr/>
          </p:nvSpPr>
          <p:spPr>
            <a:xfrm>
              <a:off x="4968163" y="1915377"/>
              <a:ext cx="342008" cy="180425"/>
            </a:xfrm>
            <a:prstGeom prst="rect">
              <a:avLst/>
            </a:prstGeom>
            <a:noFill/>
            <a:ln w="3175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none" lIns="36000" tIns="36000" rIns="36000" bIns="36000" numCol="1" rtlCol="0" anchor="ctr" anchorCtr="0" compatLnSpc="1">
              <a:prstTxWarp prst="textNoShape">
                <a:avLst/>
              </a:prstTxWarp>
              <a:spAutoFit/>
            </a:bodyPr>
            <a:lstStyle/>
            <a:p>
              <a:r>
                <a:rPr lang="ko-KR" altLang="en-US" sz="700" b="1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사이즈</a:t>
              </a:r>
              <a:endParaRPr lang="ko-KR" altLang="en-US" sz="7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575" name="모서리가 둥근 직사각형 574"/>
            <p:cNvSpPr/>
            <p:nvPr/>
          </p:nvSpPr>
          <p:spPr>
            <a:xfrm>
              <a:off x="4968163" y="2114511"/>
              <a:ext cx="359942" cy="288000"/>
            </a:xfrm>
            <a:prstGeom prst="roundRect">
              <a:avLst>
                <a:gd name="adj" fmla="val 11375"/>
              </a:avLst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80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95</a:t>
              </a:r>
              <a:endParaRPr lang="ko-KR" altLang="en-US" sz="8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576" name="모서리가 둥근 직사각형 575"/>
            <p:cNvSpPr/>
            <p:nvPr/>
          </p:nvSpPr>
          <p:spPr>
            <a:xfrm>
              <a:off x="5401029" y="2114511"/>
              <a:ext cx="359942" cy="288000"/>
            </a:xfrm>
            <a:prstGeom prst="roundRect">
              <a:avLst>
                <a:gd name="adj" fmla="val 11375"/>
              </a:avLst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80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100</a:t>
              </a:r>
              <a:endParaRPr lang="ko-KR" altLang="en-US" sz="8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577" name="모서리가 둥근 직사각형 576"/>
            <p:cNvSpPr/>
            <p:nvPr/>
          </p:nvSpPr>
          <p:spPr>
            <a:xfrm>
              <a:off x="5832764" y="2114511"/>
              <a:ext cx="359942" cy="288000"/>
            </a:xfrm>
            <a:prstGeom prst="roundRect">
              <a:avLst>
                <a:gd name="adj" fmla="val 11375"/>
              </a:avLst>
            </a:prstGeom>
            <a:solidFill>
              <a:schemeClr val="accent1">
                <a:lumMod val="20000"/>
                <a:lumOff val="80000"/>
              </a:schemeClr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80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105</a:t>
              </a:r>
              <a:endParaRPr lang="ko-KR" altLang="en-US" sz="8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578" name="모서리가 둥근 직사각형 577"/>
            <p:cNvSpPr/>
            <p:nvPr/>
          </p:nvSpPr>
          <p:spPr>
            <a:xfrm>
              <a:off x="6263440" y="2114511"/>
              <a:ext cx="359942" cy="288000"/>
            </a:xfrm>
            <a:prstGeom prst="roundRect">
              <a:avLst>
                <a:gd name="adj" fmla="val 11375"/>
              </a:avLst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80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110</a:t>
              </a:r>
              <a:endParaRPr lang="ko-KR" altLang="en-US" sz="8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579" name="모서리가 둥근 직사각형 578"/>
            <p:cNvSpPr/>
            <p:nvPr/>
          </p:nvSpPr>
          <p:spPr>
            <a:xfrm>
              <a:off x="6696109" y="2114511"/>
              <a:ext cx="359942" cy="288000"/>
            </a:xfrm>
            <a:prstGeom prst="roundRect">
              <a:avLst>
                <a:gd name="adj" fmla="val 11375"/>
              </a:avLst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80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115</a:t>
              </a:r>
              <a:endParaRPr lang="ko-KR" altLang="en-US" sz="8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580" name="모서리가 둥근 직사각형 579"/>
            <p:cNvSpPr/>
            <p:nvPr/>
          </p:nvSpPr>
          <p:spPr>
            <a:xfrm>
              <a:off x="7128632" y="2114511"/>
              <a:ext cx="359942" cy="288000"/>
            </a:xfrm>
            <a:prstGeom prst="roundRect">
              <a:avLst>
                <a:gd name="adj" fmla="val 11375"/>
              </a:avLst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800" strike="sngStrike" smtClean="0">
                  <a:solidFill>
                    <a:schemeClr val="bg1">
                      <a:lumMod val="75000"/>
                    </a:schemeClr>
                  </a:solidFill>
                  <a:latin typeface="맑은 고딕" panose="020B0503020000020004" pitchFamily="50" charset="-127"/>
                </a:rPr>
                <a:t>120</a:t>
              </a:r>
              <a:endParaRPr lang="ko-KR" altLang="en-US" sz="800" strike="sngStrike">
                <a:solidFill>
                  <a:schemeClr val="bg1">
                    <a:lumMod val="75000"/>
                  </a:schemeClr>
                </a:solidFill>
                <a:latin typeface="맑은 고딕" panose="020B0503020000020004" pitchFamily="50" charset="-127"/>
              </a:endParaRPr>
            </a:p>
          </p:txBody>
        </p:sp>
        <p:grpSp>
          <p:nvGrpSpPr>
            <p:cNvPr id="581" name="그룹 580"/>
            <p:cNvGrpSpPr/>
            <p:nvPr/>
          </p:nvGrpSpPr>
          <p:grpSpPr>
            <a:xfrm>
              <a:off x="7343331" y="2077802"/>
              <a:ext cx="179970" cy="179970"/>
              <a:chOff x="7589341" y="3009028"/>
              <a:chExt cx="180000" cy="180000"/>
            </a:xfrm>
          </p:grpSpPr>
          <p:sp>
            <p:nvSpPr>
              <p:cNvPr id="635" name="타원 634"/>
              <p:cNvSpPr/>
              <p:nvPr/>
            </p:nvSpPr>
            <p:spPr>
              <a:xfrm>
                <a:off x="7589341" y="3009028"/>
                <a:ext cx="180000" cy="180000"/>
              </a:xfrm>
              <a:prstGeom prst="ellipse">
                <a:avLst/>
              </a:prstGeom>
              <a:solidFill>
                <a:schemeClr val="bg1"/>
              </a:solidFill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ko-KR" altLang="en-US" sz="500" b="1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  <p:grpSp>
            <p:nvGrpSpPr>
              <p:cNvPr id="636" name="그룹 635"/>
              <p:cNvGrpSpPr/>
              <p:nvPr/>
            </p:nvGrpSpPr>
            <p:grpSpPr>
              <a:xfrm>
                <a:off x="7625341" y="3045028"/>
                <a:ext cx="108000" cy="108000"/>
                <a:chOff x="531806" y="1604594"/>
                <a:chExt cx="180000" cy="180738"/>
              </a:xfrm>
            </p:grpSpPr>
            <p:grpSp>
              <p:nvGrpSpPr>
                <p:cNvPr id="637" name="그룹 636"/>
                <p:cNvGrpSpPr/>
                <p:nvPr/>
              </p:nvGrpSpPr>
              <p:grpSpPr>
                <a:xfrm>
                  <a:off x="549806" y="1604594"/>
                  <a:ext cx="144000" cy="180738"/>
                  <a:chOff x="691953" y="1723346"/>
                  <a:chExt cx="144000" cy="180738"/>
                </a:xfrm>
                <a:solidFill>
                  <a:schemeClr val="bg1"/>
                </a:solidFill>
              </p:grpSpPr>
              <p:sp>
                <p:nvSpPr>
                  <p:cNvPr id="639" name="양쪽 모서리가 둥근 사각형 638"/>
                  <p:cNvSpPr/>
                  <p:nvPr/>
                </p:nvSpPr>
                <p:spPr>
                  <a:xfrm>
                    <a:off x="700953" y="1723346"/>
                    <a:ext cx="126000" cy="126000"/>
                  </a:xfrm>
                  <a:prstGeom prst="round2SameRect">
                    <a:avLst>
                      <a:gd name="adj1" fmla="val 50000"/>
                      <a:gd name="adj2" fmla="val 0"/>
                    </a:avLst>
                  </a:prstGeom>
                  <a:grpFill/>
                  <a:ln w="3175">
                    <a:solidFill>
                      <a:srgbClr val="DC283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 sz="70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맑은 고딕" panose="020B0503020000020004" pitchFamily="50" charset="-127"/>
                      <a:ea typeface="맑은 고딕" panose="020B0503020000020004" pitchFamily="50" charset="-127"/>
                    </a:endParaRPr>
                  </a:p>
                </p:txBody>
              </p:sp>
              <p:sp>
                <p:nvSpPr>
                  <p:cNvPr id="640" name="타원 639"/>
                  <p:cNvSpPr/>
                  <p:nvPr/>
                </p:nvSpPr>
                <p:spPr>
                  <a:xfrm>
                    <a:off x="736953" y="1850084"/>
                    <a:ext cx="54000" cy="54000"/>
                  </a:xfrm>
                  <a:prstGeom prst="ellipse">
                    <a:avLst/>
                  </a:prstGeom>
                  <a:grpFill/>
                  <a:ln w="3175">
                    <a:solidFill>
                      <a:srgbClr val="DC283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 sz="70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맑은 고딕" panose="020B0503020000020004" pitchFamily="50" charset="-127"/>
                      <a:ea typeface="맑은 고딕" panose="020B0503020000020004" pitchFamily="50" charset="-127"/>
                    </a:endParaRPr>
                  </a:p>
                </p:txBody>
              </p:sp>
              <p:sp>
                <p:nvSpPr>
                  <p:cNvPr id="641" name="직사각형 640"/>
                  <p:cNvSpPr/>
                  <p:nvPr/>
                </p:nvSpPr>
                <p:spPr>
                  <a:xfrm>
                    <a:off x="691953" y="1811453"/>
                    <a:ext cx="144000" cy="18000"/>
                  </a:xfrm>
                  <a:prstGeom prst="rect">
                    <a:avLst/>
                  </a:prstGeom>
                  <a:grpFill/>
                  <a:ln w="3175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 sz="70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맑은 고딕" panose="020B0503020000020004" pitchFamily="50" charset="-127"/>
                      <a:ea typeface="맑은 고딕" panose="020B0503020000020004" pitchFamily="50" charset="-127"/>
                    </a:endParaRPr>
                  </a:p>
                </p:txBody>
              </p:sp>
              <p:sp>
                <p:nvSpPr>
                  <p:cNvPr id="642" name="직사각형 641"/>
                  <p:cNvSpPr/>
                  <p:nvPr/>
                </p:nvSpPr>
                <p:spPr>
                  <a:xfrm>
                    <a:off x="691953" y="1859609"/>
                    <a:ext cx="144000" cy="18000"/>
                  </a:xfrm>
                  <a:prstGeom prst="rect">
                    <a:avLst/>
                  </a:prstGeom>
                  <a:grpFill/>
                  <a:ln w="3175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 sz="70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맑은 고딕" panose="020B0503020000020004" pitchFamily="50" charset="-127"/>
                      <a:ea typeface="맑은 고딕" panose="020B0503020000020004" pitchFamily="50" charset="-127"/>
                    </a:endParaRPr>
                  </a:p>
                </p:txBody>
              </p:sp>
              <p:sp>
                <p:nvSpPr>
                  <p:cNvPr id="643" name="직사각형 642"/>
                  <p:cNvSpPr/>
                  <p:nvPr/>
                </p:nvSpPr>
                <p:spPr>
                  <a:xfrm>
                    <a:off x="691953" y="1832609"/>
                    <a:ext cx="144000" cy="25200"/>
                  </a:xfrm>
                  <a:prstGeom prst="rect">
                    <a:avLst/>
                  </a:prstGeom>
                  <a:grpFill/>
                  <a:ln w="3175">
                    <a:solidFill>
                      <a:srgbClr val="DC283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 sz="70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맑은 고딕" panose="020B0503020000020004" pitchFamily="50" charset="-127"/>
                      <a:ea typeface="맑은 고딕" panose="020B0503020000020004" pitchFamily="50" charset="-127"/>
                    </a:endParaRPr>
                  </a:p>
                </p:txBody>
              </p:sp>
            </p:grpSp>
            <p:sp>
              <p:nvSpPr>
                <p:cNvPr id="638" name="직사각형 637"/>
                <p:cNvSpPr/>
                <p:nvPr/>
              </p:nvSpPr>
              <p:spPr>
                <a:xfrm>
                  <a:off x="531806" y="1604594"/>
                  <a:ext cx="180000" cy="180000"/>
                </a:xfrm>
                <a:prstGeom prst="rect">
                  <a:avLst/>
                </a:prstGeom>
                <a:noFill/>
                <a:ln w="3175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7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endParaRPr>
                </a:p>
              </p:txBody>
            </p:sp>
          </p:grpSp>
        </p:grpSp>
        <p:sp>
          <p:nvSpPr>
            <p:cNvPr id="582" name="TextBox 581">
              <a:extLst>
                <a:ext uri="{FF2B5EF4-FFF2-40B4-BE49-F238E27FC236}">
                  <a16:creationId xmlns="" xmlns:a16="http://schemas.microsoft.com/office/drawing/2014/main" id="{0C96C875-C47F-4F5B-B4C1-F9D666A7BD9D}"/>
                </a:ext>
              </a:extLst>
            </p:cNvPr>
            <p:cNvSpPr txBox="1"/>
            <p:nvPr/>
          </p:nvSpPr>
          <p:spPr>
            <a:xfrm>
              <a:off x="6958046" y="1915378"/>
              <a:ext cx="601695" cy="180425"/>
            </a:xfrm>
            <a:prstGeom prst="rect">
              <a:avLst/>
            </a:prstGeom>
            <a:noFill/>
            <a:ln w="3175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none" lIns="36000" tIns="36000" rIns="36000" bIns="36000" numCol="1" rtlCol="0" anchor="ctr" anchorCtr="0" compatLnSpc="1">
              <a:prstTxWarp prst="textNoShape">
                <a:avLst/>
              </a:prstTxWarp>
              <a:spAutoFit/>
            </a:bodyPr>
            <a:lstStyle/>
            <a:p>
              <a:pPr algn="r"/>
              <a:r>
                <a:rPr lang="ko-KR" altLang="en-US" sz="70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사이즈안내 </a:t>
              </a:r>
              <a:r>
                <a:rPr lang="en-US" altLang="ko-KR" sz="70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〉</a:t>
              </a:r>
              <a:endParaRPr lang="ko-KR" altLang="en-US" sz="7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583" name="타원 582"/>
            <p:cNvSpPr/>
            <p:nvPr/>
          </p:nvSpPr>
          <p:spPr>
            <a:xfrm>
              <a:off x="5238105" y="2168511"/>
              <a:ext cx="36000" cy="36000"/>
            </a:xfrm>
            <a:prstGeom prst="ellipse">
              <a:avLst/>
            </a:prstGeom>
            <a:solidFill>
              <a:srgbClr val="C00000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8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584" name="TextBox 583"/>
            <p:cNvSpPr txBox="1"/>
            <p:nvPr/>
          </p:nvSpPr>
          <p:spPr>
            <a:xfrm>
              <a:off x="5022548" y="2473675"/>
              <a:ext cx="250068" cy="76944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r>
                <a:rPr lang="en-US" altLang="ko-KR" sz="500" smtClean="0">
                  <a:solidFill>
                    <a:schemeClr val="bg1">
                      <a:lumMod val="50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3</a:t>
              </a:r>
              <a:r>
                <a:rPr lang="ko-KR" altLang="en-US" sz="500" smtClean="0">
                  <a:solidFill>
                    <a:schemeClr val="bg1">
                      <a:lumMod val="50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개 남음</a:t>
              </a:r>
              <a:endParaRPr lang="ko-KR" altLang="en-US" sz="500" dirty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cxnSp>
          <p:nvCxnSpPr>
            <p:cNvPr id="585" name="직선 연결선 584"/>
            <p:cNvCxnSpPr/>
            <p:nvPr/>
          </p:nvCxnSpPr>
          <p:spPr>
            <a:xfrm>
              <a:off x="4968163" y="2726138"/>
              <a:ext cx="2591578" cy="0"/>
            </a:xfrm>
            <a:prstGeom prst="line">
              <a:avLst/>
            </a:prstGeom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86" name="TextBox 585">
              <a:extLst>
                <a:ext uri="{FF2B5EF4-FFF2-40B4-BE49-F238E27FC236}">
                  <a16:creationId xmlns="" xmlns:a16="http://schemas.microsoft.com/office/drawing/2014/main" id="{0C96C875-C47F-4F5B-B4C1-F9D666A7BD9D}"/>
                </a:ext>
              </a:extLst>
            </p:cNvPr>
            <p:cNvSpPr txBox="1"/>
            <p:nvPr/>
          </p:nvSpPr>
          <p:spPr>
            <a:xfrm>
              <a:off x="4968164" y="2809808"/>
              <a:ext cx="901456" cy="195814"/>
            </a:xfrm>
            <a:prstGeom prst="rect">
              <a:avLst/>
            </a:prstGeom>
            <a:noFill/>
            <a:ln w="3175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none" lIns="36000" tIns="36000" rIns="36000" bIns="36000" numCol="1" rtlCol="0" anchor="ctr" anchorCtr="0" compatLnSpc="1">
              <a:prstTxWarp prst="textNoShape">
                <a:avLst/>
              </a:prstTxWarp>
              <a:spAutoFit/>
            </a:bodyPr>
            <a:lstStyle/>
            <a:p>
              <a:r>
                <a:rPr lang="ko-KR" altLang="en-US" sz="800" b="1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배송 및 혜택 안내</a:t>
              </a:r>
              <a:endParaRPr lang="en-US" altLang="ko-KR" sz="800" b="1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endParaRPr>
            </a:p>
          </p:txBody>
        </p:sp>
        <p:grpSp>
          <p:nvGrpSpPr>
            <p:cNvPr id="587" name="그룹 586"/>
            <p:cNvGrpSpPr/>
            <p:nvPr/>
          </p:nvGrpSpPr>
          <p:grpSpPr>
            <a:xfrm>
              <a:off x="5832764" y="2441086"/>
              <a:ext cx="431047" cy="215060"/>
              <a:chOff x="9792952" y="3338758"/>
              <a:chExt cx="431047" cy="215060"/>
            </a:xfrm>
          </p:grpSpPr>
          <p:sp>
            <p:nvSpPr>
              <p:cNvPr id="633" name="직사각형 632"/>
              <p:cNvSpPr/>
              <p:nvPr/>
            </p:nvSpPr>
            <p:spPr>
              <a:xfrm>
                <a:off x="9792952" y="3373818"/>
                <a:ext cx="360000" cy="18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5">
                      <a:lumMod val="75000"/>
                    </a:schemeClr>
                  </a:gs>
                  <a:gs pos="50000">
                    <a:schemeClr val="accent5"/>
                  </a:gs>
                  <a:gs pos="100000">
                    <a:schemeClr val="accent5">
                      <a:lumMod val="60000"/>
                      <a:lumOff val="40000"/>
                    </a:schemeClr>
                  </a:gs>
                </a:gsLst>
                <a:lin ang="0" scaled="1"/>
                <a:tileRect/>
              </a:gradFill>
              <a:ln w="31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ko-KR" altLang="en-US" sz="500" smtClean="0">
                    <a:solidFill>
                      <a:schemeClr val="bg1"/>
                    </a:solidFill>
                    <a:latin typeface="맑은 고딕" panose="020B0503020000020004" pitchFamily="50" charset="-127"/>
                  </a:rPr>
                  <a:t>매장상품</a:t>
                </a:r>
                <a:endParaRPr lang="en-US" altLang="ko-KR" sz="500" smtClean="0">
                  <a:solidFill>
                    <a:schemeClr val="bg1"/>
                  </a:solidFill>
                  <a:latin typeface="맑은 고딕" panose="020B0503020000020004" pitchFamily="50" charset="-127"/>
                </a:endParaRPr>
              </a:p>
              <a:p>
                <a:pPr algn="ctr"/>
                <a:r>
                  <a:rPr lang="ko-KR" altLang="en-US" sz="500" smtClean="0">
                    <a:solidFill>
                      <a:schemeClr val="bg1"/>
                    </a:solidFill>
                    <a:latin typeface="맑은 고딕" panose="020B0503020000020004" pitchFamily="50" charset="-127"/>
                  </a:rPr>
                  <a:t>배송</a:t>
                </a:r>
                <a:endParaRPr lang="ko-KR" altLang="en-US" sz="500">
                  <a:solidFill>
                    <a:schemeClr val="bg1"/>
                  </a:solidFill>
                  <a:latin typeface="맑은 고딕" panose="020B0503020000020004" pitchFamily="50" charset="-127"/>
                </a:endParaRPr>
              </a:p>
            </p:txBody>
          </p:sp>
          <p:sp>
            <p:nvSpPr>
              <p:cNvPr id="634" name="타원 633"/>
              <p:cNvSpPr/>
              <p:nvPr/>
            </p:nvSpPr>
            <p:spPr>
              <a:xfrm>
                <a:off x="10080022" y="3338758"/>
                <a:ext cx="143977" cy="143976"/>
              </a:xfrm>
              <a:prstGeom prst="ellipse">
                <a:avLst/>
              </a:prstGeom>
              <a:solidFill>
                <a:schemeClr val="bg1"/>
              </a:solidFill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700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?</a:t>
                </a:r>
                <a:endParaRPr lang="ko-KR" altLang="en-US" sz="70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</p:grpSp>
        <p:sp>
          <p:nvSpPr>
            <p:cNvPr id="588" name="TextBox 587">
              <a:extLst>
                <a:ext uri="{FF2B5EF4-FFF2-40B4-BE49-F238E27FC236}">
                  <a16:creationId xmlns="" xmlns:a16="http://schemas.microsoft.com/office/drawing/2014/main" id="{0C96C875-C47F-4F5B-B4C1-F9D666A7BD9D}"/>
                </a:ext>
              </a:extLst>
            </p:cNvPr>
            <p:cNvSpPr txBox="1"/>
            <p:nvPr/>
          </p:nvSpPr>
          <p:spPr>
            <a:xfrm>
              <a:off x="4968163" y="3086287"/>
              <a:ext cx="431776" cy="180425"/>
            </a:xfrm>
            <a:prstGeom prst="rect">
              <a:avLst/>
            </a:prstGeom>
            <a:noFill/>
            <a:ln w="3175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none" lIns="36000" tIns="36000" rIns="36000" bIns="36000" numCol="1" rtlCol="0" anchor="ctr" anchorCtr="0" compatLnSpc="1">
              <a:prstTxWarp prst="textNoShape">
                <a:avLst/>
              </a:prstTxWarp>
              <a:spAutoFit/>
            </a:bodyPr>
            <a:lstStyle/>
            <a:p>
              <a:r>
                <a:rPr lang="ko-KR" altLang="en-US" sz="700" smtClean="0">
                  <a:solidFill>
                    <a:schemeClr val="tx1">
                      <a:lumMod val="50000"/>
                      <a:lumOff val="50000"/>
                    </a:schemeClr>
                  </a:solidFill>
                  <a:latin typeface="맑은 고딕" panose="020B0503020000020004" pitchFamily="50" charset="-127"/>
                </a:rPr>
                <a:t>배송정보</a:t>
              </a:r>
              <a:endParaRPr lang="ko-KR" altLang="en-US" sz="700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</a:endParaRPr>
            </a:p>
          </p:txBody>
        </p:sp>
        <p:grpSp>
          <p:nvGrpSpPr>
            <p:cNvPr id="589" name="그룹 588"/>
            <p:cNvGrpSpPr/>
            <p:nvPr/>
          </p:nvGrpSpPr>
          <p:grpSpPr>
            <a:xfrm>
              <a:off x="5616187" y="3140468"/>
              <a:ext cx="126000" cy="72000"/>
              <a:chOff x="4549384" y="3972353"/>
              <a:chExt cx="180000" cy="108000"/>
            </a:xfrm>
          </p:grpSpPr>
          <p:sp>
            <p:nvSpPr>
              <p:cNvPr id="628" name="직사각형 627"/>
              <p:cNvSpPr/>
              <p:nvPr/>
            </p:nvSpPr>
            <p:spPr>
              <a:xfrm>
                <a:off x="4549384" y="3972353"/>
                <a:ext cx="35644" cy="108000"/>
              </a:xfrm>
              <a:prstGeom prst="rect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 w="31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80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  <p:sp>
            <p:nvSpPr>
              <p:cNvPr id="629" name="타원 628"/>
              <p:cNvSpPr/>
              <p:nvPr/>
            </p:nvSpPr>
            <p:spPr>
              <a:xfrm>
                <a:off x="4595721" y="4044353"/>
                <a:ext cx="35644" cy="36000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 w="31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80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  <p:sp>
            <p:nvSpPr>
              <p:cNvPr id="630" name="직사각형 629"/>
              <p:cNvSpPr/>
              <p:nvPr/>
            </p:nvSpPr>
            <p:spPr>
              <a:xfrm>
                <a:off x="4647404" y="3972353"/>
                <a:ext cx="35644" cy="108000"/>
              </a:xfrm>
              <a:prstGeom prst="rect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 w="31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80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  <p:sp>
            <p:nvSpPr>
              <p:cNvPr id="631" name="타원 630"/>
              <p:cNvSpPr/>
              <p:nvPr/>
            </p:nvSpPr>
            <p:spPr>
              <a:xfrm>
                <a:off x="4693740" y="3972353"/>
                <a:ext cx="35644" cy="36000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 w="31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80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  <p:sp>
            <p:nvSpPr>
              <p:cNvPr id="632" name="타원 631"/>
              <p:cNvSpPr/>
              <p:nvPr/>
            </p:nvSpPr>
            <p:spPr>
              <a:xfrm>
                <a:off x="4693740" y="4026353"/>
                <a:ext cx="35644" cy="36000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 w="31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80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</p:grpSp>
        <p:sp>
          <p:nvSpPr>
            <p:cNvPr id="590" name="TextBox 589"/>
            <p:cNvSpPr txBox="1"/>
            <p:nvPr/>
          </p:nvSpPr>
          <p:spPr>
            <a:xfrm>
              <a:off x="5777848" y="3122638"/>
              <a:ext cx="269304" cy="107722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r>
                <a:rPr lang="ko-KR" altLang="en-US" sz="700" smtClean="0">
                  <a:solidFill>
                    <a:srgbClr val="C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슝배송</a:t>
              </a:r>
              <a:endParaRPr lang="ko-KR" altLang="en-US" sz="70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591" name="TextBox 590">
              <a:extLst>
                <a:ext uri="{FF2B5EF4-FFF2-40B4-BE49-F238E27FC236}">
                  <a16:creationId xmlns="" xmlns:a16="http://schemas.microsoft.com/office/drawing/2014/main" id="{0C96C875-C47F-4F5B-B4C1-F9D666A7BD9D}"/>
                </a:ext>
              </a:extLst>
            </p:cNvPr>
            <p:cNvSpPr txBox="1"/>
            <p:nvPr/>
          </p:nvSpPr>
          <p:spPr>
            <a:xfrm>
              <a:off x="6191508" y="3086287"/>
              <a:ext cx="448841" cy="180425"/>
            </a:xfrm>
            <a:prstGeom prst="rect">
              <a:avLst/>
            </a:prstGeom>
            <a:noFill/>
            <a:ln w="3175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none" lIns="0" tIns="36000" rIns="0" bIns="36000" numCol="1" rtlCol="0" anchor="ctr" anchorCtr="0" compatLnSpc="1">
              <a:prstTxWarp prst="textNoShape">
                <a:avLst/>
              </a:prstTxWarp>
              <a:spAutoFit/>
            </a:bodyPr>
            <a:lstStyle/>
            <a:p>
              <a:r>
                <a:rPr lang="en-US" altLang="ko-KR" sz="70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CJ</a:t>
              </a:r>
              <a:r>
                <a:rPr lang="ko-KR" altLang="en-US" sz="70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대한통운</a:t>
              </a:r>
              <a:endParaRPr lang="ko-KR" altLang="en-US" sz="7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endParaRPr>
            </a:p>
          </p:txBody>
        </p:sp>
        <p:cxnSp>
          <p:nvCxnSpPr>
            <p:cNvPr id="592" name="직선 연결선 591"/>
            <p:cNvCxnSpPr/>
            <p:nvPr/>
          </p:nvCxnSpPr>
          <p:spPr>
            <a:xfrm>
              <a:off x="6119330" y="3122499"/>
              <a:ext cx="0" cy="108000"/>
            </a:xfrm>
            <a:prstGeom prst="line">
              <a:avLst/>
            </a:prstGeom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93" name="TextBox 592">
              <a:extLst>
                <a:ext uri="{FF2B5EF4-FFF2-40B4-BE49-F238E27FC236}">
                  <a16:creationId xmlns="" xmlns:a16="http://schemas.microsoft.com/office/drawing/2014/main" id="{0C96C875-C47F-4F5B-B4C1-F9D666A7BD9D}"/>
                </a:ext>
              </a:extLst>
            </p:cNvPr>
            <p:cNvSpPr txBox="1"/>
            <p:nvPr/>
          </p:nvSpPr>
          <p:spPr>
            <a:xfrm>
              <a:off x="5616187" y="3267636"/>
              <a:ext cx="359073" cy="180425"/>
            </a:xfrm>
            <a:prstGeom prst="rect">
              <a:avLst/>
            </a:prstGeom>
            <a:noFill/>
            <a:ln w="3175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none" lIns="0" tIns="36000" rIns="0" bIns="36000" numCol="1" rtlCol="0" anchor="ctr" anchorCtr="0" compatLnSpc="1">
              <a:prstTxWarp prst="textNoShape">
                <a:avLst/>
              </a:prstTxWarp>
              <a:spAutoFit/>
            </a:bodyPr>
            <a:lstStyle/>
            <a:p>
              <a:r>
                <a:rPr lang="ko-KR" altLang="en-US" sz="70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무료배송</a:t>
              </a:r>
              <a:endParaRPr lang="ko-KR" altLang="en-US" sz="7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endParaRPr>
            </a:p>
          </p:txBody>
        </p:sp>
        <p:cxnSp>
          <p:nvCxnSpPr>
            <p:cNvPr id="594" name="직선 연결선 593"/>
            <p:cNvCxnSpPr/>
            <p:nvPr/>
          </p:nvCxnSpPr>
          <p:spPr>
            <a:xfrm>
              <a:off x="5616187" y="3519983"/>
              <a:ext cx="1944000" cy="0"/>
            </a:xfrm>
            <a:prstGeom prst="line">
              <a:avLst/>
            </a:prstGeom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95" name="TextBox 594">
              <a:extLst>
                <a:ext uri="{FF2B5EF4-FFF2-40B4-BE49-F238E27FC236}">
                  <a16:creationId xmlns="" xmlns:a16="http://schemas.microsoft.com/office/drawing/2014/main" id="{0C96C875-C47F-4F5B-B4C1-F9D666A7BD9D}"/>
                </a:ext>
              </a:extLst>
            </p:cNvPr>
            <p:cNvSpPr txBox="1"/>
            <p:nvPr/>
          </p:nvSpPr>
          <p:spPr>
            <a:xfrm>
              <a:off x="5616187" y="3591747"/>
              <a:ext cx="1247136" cy="180425"/>
            </a:xfrm>
            <a:prstGeom prst="rect">
              <a:avLst/>
            </a:prstGeom>
            <a:noFill/>
            <a:ln w="3175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none" lIns="0" tIns="36000" rIns="0" bIns="36000" numCol="1" rtlCol="0" anchor="ctr" anchorCtr="0" compatLnSpc="1">
              <a:prstTxWarp prst="textNoShape">
                <a:avLst/>
              </a:prstTxWarp>
              <a:spAutoFit/>
            </a:bodyPr>
            <a:lstStyle/>
            <a:p>
              <a:r>
                <a:rPr lang="en-US" altLang="ko-KR" sz="700" b="1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12/13 (</a:t>
              </a:r>
              <a:r>
                <a:rPr lang="ko-KR" altLang="en-US" sz="700" b="1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토</a:t>
              </a:r>
              <a:r>
                <a:rPr lang="en-US" altLang="ko-KR" sz="700" b="1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) </a:t>
              </a:r>
              <a:r>
                <a:rPr lang="ko-KR" altLang="en-US" sz="700" b="1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이내 도착확률 </a:t>
              </a:r>
              <a:r>
                <a:rPr lang="en-US" altLang="ko-KR" sz="700" b="1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96%</a:t>
              </a:r>
              <a:endParaRPr lang="ko-KR" altLang="en-US" sz="7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596" name="TextBox 595">
              <a:extLst>
                <a:ext uri="{FF2B5EF4-FFF2-40B4-BE49-F238E27FC236}">
                  <a16:creationId xmlns="" xmlns:a16="http://schemas.microsoft.com/office/drawing/2014/main" id="{0C96C875-C47F-4F5B-B4C1-F9D666A7BD9D}"/>
                </a:ext>
              </a:extLst>
            </p:cNvPr>
            <p:cNvSpPr txBox="1"/>
            <p:nvPr/>
          </p:nvSpPr>
          <p:spPr>
            <a:xfrm>
              <a:off x="5616187" y="3773175"/>
              <a:ext cx="1513235" cy="180425"/>
            </a:xfrm>
            <a:prstGeom prst="rect">
              <a:avLst/>
            </a:prstGeom>
            <a:noFill/>
            <a:ln w="3175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none" lIns="0" tIns="36000" rIns="0" bIns="36000" numCol="1" rtlCol="0" anchor="ctr" anchorCtr="0" compatLnSpc="1">
              <a:prstTxWarp prst="textNoShape">
                <a:avLst/>
              </a:prstTxWarp>
              <a:spAutoFit/>
            </a:bodyPr>
            <a:lstStyle/>
            <a:p>
              <a:r>
                <a:rPr lang="ko-KR" altLang="en-US" sz="700" smtClean="0">
                  <a:solidFill>
                    <a:schemeClr val="tx1">
                      <a:lumMod val="50000"/>
                      <a:lumOff val="50000"/>
                    </a:schemeClr>
                  </a:solidFill>
                  <a:latin typeface="맑은 고딕" panose="020B0503020000020004" pitchFamily="50" charset="-127"/>
                </a:rPr>
                <a:t>서울 노원구 기준 </a:t>
              </a:r>
              <a:r>
                <a:rPr lang="en-US" altLang="ko-KR" sz="700" smtClean="0">
                  <a:solidFill>
                    <a:schemeClr val="tx1">
                      <a:lumMod val="50000"/>
                      <a:lumOff val="50000"/>
                    </a:schemeClr>
                  </a:solidFill>
                  <a:latin typeface="맑은 고딕" panose="020B0503020000020004" pitchFamily="50" charset="-127"/>
                </a:rPr>
                <a:t>(18</a:t>
              </a:r>
              <a:r>
                <a:rPr lang="ko-KR" altLang="en-US" sz="700" smtClean="0">
                  <a:solidFill>
                    <a:schemeClr val="tx1">
                      <a:lumMod val="50000"/>
                      <a:lumOff val="50000"/>
                    </a:schemeClr>
                  </a:solidFill>
                  <a:latin typeface="맑은 고딕" panose="020B0503020000020004" pitchFamily="50" charset="-127"/>
                </a:rPr>
                <a:t>시 이전 결제 시</a:t>
              </a:r>
              <a:r>
                <a:rPr lang="en-US" altLang="ko-KR" sz="700" smtClean="0">
                  <a:solidFill>
                    <a:schemeClr val="tx1">
                      <a:lumMod val="50000"/>
                      <a:lumOff val="50000"/>
                    </a:schemeClr>
                  </a:solidFill>
                  <a:latin typeface="맑은 고딕" panose="020B0503020000020004" pitchFamily="50" charset="-127"/>
                </a:rPr>
                <a:t>)</a:t>
              </a:r>
              <a:endParaRPr lang="ko-KR" altLang="en-US" sz="700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</a:endParaRPr>
            </a:p>
          </p:txBody>
        </p:sp>
        <p:cxnSp>
          <p:nvCxnSpPr>
            <p:cNvPr id="597" name="직선 연결선 596"/>
            <p:cNvCxnSpPr/>
            <p:nvPr/>
          </p:nvCxnSpPr>
          <p:spPr>
            <a:xfrm>
              <a:off x="4968163" y="4529997"/>
              <a:ext cx="2591578" cy="0"/>
            </a:xfrm>
            <a:prstGeom prst="line">
              <a:avLst/>
            </a:prstGeom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98" name="TextBox 597">
              <a:extLst>
                <a:ext uri="{FF2B5EF4-FFF2-40B4-BE49-F238E27FC236}">
                  <a16:creationId xmlns="" xmlns:a16="http://schemas.microsoft.com/office/drawing/2014/main" id="{0C96C875-C47F-4F5B-B4C1-F9D666A7BD9D}"/>
                </a:ext>
              </a:extLst>
            </p:cNvPr>
            <p:cNvSpPr txBox="1"/>
            <p:nvPr/>
          </p:nvSpPr>
          <p:spPr>
            <a:xfrm>
              <a:off x="5616187" y="4602360"/>
              <a:ext cx="1518044" cy="180425"/>
            </a:xfrm>
            <a:prstGeom prst="rect">
              <a:avLst/>
            </a:prstGeom>
            <a:noFill/>
            <a:ln w="3175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none" lIns="0" tIns="36000" rIns="0" bIns="36000" numCol="1" rtlCol="0" anchor="ctr" anchorCtr="0" compatLnSpc="1">
              <a:prstTxWarp prst="textNoShape">
                <a:avLst/>
              </a:prstTxWarp>
              <a:spAutoFit/>
            </a:bodyPr>
            <a:lstStyle/>
            <a:p>
              <a:r>
                <a:rPr lang="en-US" altLang="ko-KR" sz="700" smtClean="0">
                  <a:solidFill>
                    <a:schemeClr val="tx1">
                      <a:lumMod val="50000"/>
                      <a:lumOff val="50000"/>
                    </a:schemeClr>
                  </a:solidFill>
                  <a:latin typeface="맑은 고딕" panose="020B0503020000020004" pitchFamily="50" charset="-127"/>
                </a:rPr>
                <a:t>LFmall </a:t>
              </a:r>
              <a:r>
                <a:rPr lang="ko-KR" altLang="en-US" sz="700" smtClean="0">
                  <a:solidFill>
                    <a:schemeClr val="tx1">
                      <a:lumMod val="50000"/>
                      <a:lumOff val="50000"/>
                    </a:schemeClr>
                  </a:solidFill>
                  <a:latin typeface="맑은 고딕" panose="020B0503020000020004" pitchFamily="50" charset="-127"/>
                </a:rPr>
                <a:t>신용카드 결제시</a:t>
              </a:r>
              <a:r>
                <a:rPr lang="ko-KR" altLang="en-US" sz="700" b="1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 </a:t>
              </a:r>
              <a:r>
                <a:rPr lang="en-US" altLang="ko-KR" sz="700" b="1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5% </a:t>
              </a:r>
              <a:r>
                <a:rPr lang="ko-KR" altLang="en-US" sz="700" b="1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추가할인</a:t>
              </a:r>
              <a:endParaRPr lang="ko-KR" altLang="en-US" sz="7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599" name="TextBox 598">
              <a:extLst>
                <a:ext uri="{FF2B5EF4-FFF2-40B4-BE49-F238E27FC236}">
                  <a16:creationId xmlns="" xmlns:a16="http://schemas.microsoft.com/office/drawing/2014/main" id="{0C96C875-C47F-4F5B-B4C1-F9D666A7BD9D}"/>
                </a:ext>
              </a:extLst>
            </p:cNvPr>
            <p:cNvSpPr txBox="1"/>
            <p:nvPr/>
          </p:nvSpPr>
          <p:spPr>
            <a:xfrm>
              <a:off x="5616187" y="4783788"/>
              <a:ext cx="782265" cy="180425"/>
            </a:xfrm>
            <a:prstGeom prst="rect">
              <a:avLst/>
            </a:prstGeom>
            <a:noFill/>
            <a:ln w="3175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none" lIns="0" tIns="36000" rIns="0" bIns="36000" numCol="1" rtlCol="0" anchor="ctr" anchorCtr="0" compatLnSpc="1">
              <a:prstTxWarp prst="textNoShape">
                <a:avLst/>
              </a:prstTxWarp>
              <a:spAutoFit/>
            </a:bodyPr>
            <a:lstStyle/>
            <a:p>
              <a:r>
                <a:rPr lang="ko-KR" altLang="en-US" sz="700" smtClean="0">
                  <a:solidFill>
                    <a:schemeClr val="tx1">
                      <a:lumMod val="50000"/>
                      <a:lumOff val="50000"/>
                    </a:schemeClr>
                  </a:solidFill>
                  <a:latin typeface="맑은 고딕" panose="020B0503020000020004" pitchFamily="50" charset="-127"/>
                </a:rPr>
                <a:t>카드사별 할부 혜택</a:t>
              </a:r>
              <a:endParaRPr lang="ko-KR" altLang="en-US" sz="700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</a:endParaRPr>
            </a:p>
          </p:txBody>
        </p:sp>
        <p:cxnSp>
          <p:nvCxnSpPr>
            <p:cNvPr id="600" name="직선 연결선 599"/>
            <p:cNvCxnSpPr/>
            <p:nvPr/>
          </p:nvCxnSpPr>
          <p:spPr>
            <a:xfrm>
              <a:off x="4968163" y="5034841"/>
              <a:ext cx="2591578" cy="0"/>
            </a:xfrm>
            <a:prstGeom prst="line">
              <a:avLst/>
            </a:prstGeom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01" name="TextBox 600">
              <a:extLst>
                <a:ext uri="{FF2B5EF4-FFF2-40B4-BE49-F238E27FC236}">
                  <a16:creationId xmlns="" xmlns:a16="http://schemas.microsoft.com/office/drawing/2014/main" id="{0C96C875-C47F-4F5B-B4C1-F9D666A7BD9D}"/>
                </a:ext>
              </a:extLst>
            </p:cNvPr>
            <p:cNvSpPr txBox="1"/>
            <p:nvPr/>
          </p:nvSpPr>
          <p:spPr>
            <a:xfrm>
              <a:off x="4968163" y="4601465"/>
              <a:ext cx="431776" cy="180425"/>
            </a:xfrm>
            <a:prstGeom prst="rect">
              <a:avLst/>
            </a:prstGeom>
            <a:noFill/>
            <a:ln w="3175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none" lIns="36000" tIns="36000" rIns="36000" bIns="36000" numCol="1" rtlCol="0" anchor="ctr" anchorCtr="0" compatLnSpc="1">
              <a:prstTxWarp prst="textNoShape">
                <a:avLst/>
              </a:prstTxWarp>
              <a:spAutoFit/>
            </a:bodyPr>
            <a:lstStyle/>
            <a:p>
              <a:r>
                <a:rPr lang="ko-KR" altLang="en-US" sz="700" smtClean="0">
                  <a:solidFill>
                    <a:schemeClr val="tx1">
                      <a:lumMod val="50000"/>
                      <a:lumOff val="50000"/>
                    </a:schemeClr>
                  </a:solidFill>
                  <a:latin typeface="맑은 고딕" panose="020B0503020000020004" pitchFamily="50" charset="-127"/>
                </a:rPr>
                <a:t>카드혜택</a:t>
              </a:r>
              <a:endParaRPr lang="ko-KR" altLang="en-US" sz="700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602" name="TextBox 601">
              <a:extLst>
                <a:ext uri="{FF2B5EF4-FFF2-40B4-BE49-F238E27FC236}">
                  <a16:creationId xmlns="" xmlns:a16="http://schemas.microsoft.com/office/drawing/2014/main" id="{0C96C875-C47F-4F5B-B4C1-F9D666A7BD9D}"/>
                </a:ext>
              </a:extLst>
            </p:cNvPr>
            <p:cNvSpPr txBox="1"/>
            <p:nvPr/>
          </p:nvSpPr>
          <p:spPr>
            <a:xfrm>
              <a:off x="7511651" y="4602360"/>
              <a:ext cx="48090" cy="180425"/>
            </a:xfrm>
            <a:prstGeom prst="rect">
              <a:avLst/>
            </a:prstGeom>
            <a:noFill/>
            <a:ln w="3175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none" lIns="0" tIns="36000" rIns="0" bIns="36000" numCol="1" rtlCol="0" anchor="ctr" anchorCtr="0" compatLnSpc="1">
              <a:prstTxWarp prst="textNoShape">
                <a:avLst/>
              </a:prstTxWarp>
              <a:spAutoFit/>
            </a:bodyPr>
            <a:lstStyle/>
            <a:p>
              <a:r>
                <a:rPr lang="en-US" altLang="ko-KR" sz="700" b="1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〉</a:t>
              </a:r>
              <a:endParaRPr lang="ko-KR" altLang="en-US" sz="7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603" name="TextBox 602">
              <a:extLst>
                <a:ext uri="{FF2B5EF4-FFF2-40B4-BE49-F238E27FC236}">
                  <a16:creationId xmlns="" xmlns:a16="http://schemas.microsoft.com/office/drawing/2014/main" id="{0C96C875-C47F-4F5B-B4C1-F9D666A7BD9D}"/>
                </a:ext>
              </a:extLst>
            </p:cNvPr>
            <p:cNvSpPr txBox="1"/>
            <p:nvPr/>
          </p:nvSpPr>
          <p:spPr>
            <a:xfrm>
              <a:off x="7511651" y="4783788"/>
              <a:ext cx="48090" cy="180425"/>
            </a:xfrm>
            <a:prstGeom prst="rect">
              <a:avLst/>
            </a:prstGeom>
            <a:noFill/>
            <a:ln w="3175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none" lIns="0" tIns="36000" rIns="0" bIns="36000" numCol="1" rtlCol="0" anchor="ctr" anchorCtr="0" compatLnSpc="1">
              <a:prstTxWarp prst="textNoShape">
                <a:avLst/>
              </a:prstTxWarp>
              <a:spAutoFit/>
            </a:bodyPr>
            <a:lstStyle/>
            <a:p>
              <a:r>
                <a:rPr lang="en-US" altLang="ko-KR" sz="700" b="1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〉</a:t>
              </a:r>
              <a:endParaRPr lang="ko-KR" altLang="en-US" sz="7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604" name="TextBox 603">
              <a:extLst>
                <a:ext uri="{FF2B5EF4-FFF2-40B4-BE49-F238E27FC236}">
                  <a16:creationId xmlns="" xmlns:a16="http://schemas.microsoft.com/office/drawing/2014/main" id="{0C96C875-C47F-4F5B-B4C1-F9D666A7BD9D}"/>
                </a:ext>
              </a:extLst>
            </p:cNvPr>
            <p:cNvSpPr txBox="1"/>
            <p:nvPr/>
          </p:nvSpPr>
          <p:spPr>
            <a:xfrm rot="5400000">
              <a:off x="7481835" y="3717039"/>
              <a:ext cx="48090" cy="107722"/>
            </a:xfrm>
            <a:prstGeom prst="rect">
              <a:avLst/>
            </a:prstGeom>
            <a:noFill/>
            <a:ln w="3175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none" lIns="0" tIns="0" rIns="0" bIns="0" numCol="1" rtlCol="0" anchor="ctr" anchorCtr="0" compatLnSpc="1">
              <a:prstTxWarp prst="textNoShape">
                <a:avLst/>
              </a:prstTxWarp>
              <a:spAutoFit/>
            </a:bodyPr>
            <a:lstStyle/>
            <a:p>
              <a:r>
                <a:rPr lang="en-US" altLang="ko-KR" sz="700" b="1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〉</a:t>
              </a:r>
              <a:endParaRPr lang="ko-KR" altLang="en-US" sz="7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endParaRPr>
            </a:p>
          </p:txBody>
        </p:sp>
        <p:cxnSp>
          <p:nvCxnSpPr>
            <p:cNvPr id="605" name="직선 연결선 604"/>
            <p:cNvCxnSpPr/>
            <p:nvPr/>
          </p:nvCxnSpPr>
          <p:spPr>
            <a:xfrm>
              <a:off x="5616187" y="4023044"/>
              <a:ext cx="1944000" cy="0"/>
            </a:xfrm>
            <a:prstGeom prst="line">
              <a:avLst/>
            </a:prstGeom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06" name="직사각형 605"/>
            <p:cNvSpPr/>
            <p:nvPr/>
          </p:nvSpPr>
          <p:spPr>
            <a:xfrm>
              <a:off x="5616187" y="4113740"/>
              <a:ext cx="540000" cy="144000"/>
            </a:xfrm>
            <a:prstGeom prst="rect">
              <a:avLst/>
            </a:prstGeom>
            <a:gradFill flip="none" rotWithShape="1">
              <a:gsLst>
                <a:gs pos="0">
                  <a:schemeClr val="accent5">
                    <a:lumMod val="75000"/>
                  </a:schemeClr>
                </a:gs>
                <a:gs pos="50000">
                  <a:schemeClr val="accent5"/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0" scaled="1"/>
              <a:tileRect/>
            </a:gra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500" smtClean="0">
                  <a:solidFill>
                    <a:schemeClr val="bg1"/>
                  </a:solidFill>
                  <a:latin typeface="맑은 고딕" panose="020B0503020000020004" pitchFamily="50" charset="-127"/>
                </a:rPr>
                <a:t>매장상품배송</a:t>
              </a:r>
              <a:endParaRPr lang="ko-KR" altLang="en-US" sz="500">
                <a:solidFill>
                  <a:schemeClr val="bg1"/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607" name="타원 606"/>
            <p:cNvSpPr/>
            <p:nvPr/>
          </p:nvSpPr>
          <p:spPr>
            <a:xfrm>
              <a:off x="6899357" y="3627959"/>
              <a:ext cx="108000" cy="108000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60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?</a:t>
              </a:r>
              <a:endParaRPr lang="ko-KR" altLang="en-US" sz="6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608" name="타원 607"/>
            <p:cNvSpPr/>
            <p:nvPr/>
          </p:nvSpPr>
          <p:spPr>
            <a:xfrm>
              <a:off x="6191508" y="4131740"/>
              <a:ext cx="108000" cy="108000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60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?</a:t>
              </a:r>
              <a:endParaRPr lang="ko-KR" altLang="en-US" sz="6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609" name="TextBox 608">
              <a:extLst>
                <a:ext uri="{FF2B5EF4-FFF2-40B4-BE49-F238E27FC236}">
                  <a16:creationId xmlns="" xmlns:a16="http://schemas.microsoft.com/office/drawing/2014/main" id="{0C96C875-C47F-4F5B-B4C1-F9D666A7BD9D}"/>
                </a:ext>
              </a:extLst>
            </p:cNvPr>
            <p:cNvSpPr txBox="1"/>
            <p:nvPr/>
          </p:nvSpPr>
          <p:spPr>
            <a:xfrm>
              <a:off x="5616187" y="4277459"/>
              <a:ext cx="1207062" cy="180425"/>
            </a:xfrm>
            <a:prstGeom prst="rect">
              <a:avLst/>
            </a:prstGeom>
            <a:noFill/>
            <a:ln w="3175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none" lIns="0" tIns="36000" rIns="0" bIns="36000" numCol="1" rtlCol="0" anchor="ctr" anchorCtr="0" compatLnSpc="1">
              <a:prstTxWarp prst="textNoShape">
                <a:avLst/>
              </a:prstTxWarp>
              <a:spAutoFit/>
            </a:bodyPr>
            <a:lstStyle/>
            <a:p>
              <a:r>
                <a:rPr lang="ko-KR" altLang="en-US" sz="700" smtClean="0">
                  <a:solidFill>
                    <a:schemeClr val="tx1">
                      <a:lumMod val="50000"/>
                      <a:lumOff val="50000"/>
                    </a:schemeClr>
                  </a:solidFill>
                  <a:latin typeface="맑은 고딕" panose="020B0503020000020004" pitchFamily="50" charset="-127"/>
                </a:rPr>
                <a:t>평균 </a:t>
              </a:r>
              <a:r>
                <a:rPr lang="en-US" altLang="ko-KR" sz="700" smtClean="0">
                  <a:solidFill>
                    <a:schemeClr val="tx1">
                      <a:lumMod val="50000"/>
                      <a:lumOff val="50000"/>
                    </a:schemeClr>
                  </a:solidFill>
                  <a:latin typeface="맑은 고딕" panose="020B0503020000020004" pitchFamily="50" charset="-127"/>
                </a:rPr>
                <a:t>5~7 </a:t>
              </a:r>
              <a:r>
                <a:rPr lang="ko-KR" altLang="en-US" sz="700" smtClean="0">
                  <a:solidFill>
                    <a:schemeClr val="tx1">
                      <a:lumMod val="50000"/>
                      <a:lumOff val="50000"/>
                    </a:schemeClr>
                  </a:solidFill>
                  <a:latin typeface="맑은 고딕" panose="020B0503020000020004" pitchFamily="50" charset="-127"/>
                </a:rPr>
                <a:t>영업일 소요됩니다</a:t>
              </a:r>
              <a:r>
                <a:rPr lang="en-US" altLang="ko-KR" sz="700" smtClean="0">
                  <a:solidFill>
                    <a:schemeClr val="tx1">
                      <a:lumMod val="50000"/>
                      <a:lumOff val="50000"/>
                    </a:schemeClr>
                  </a:solidFill>
                  <a:latin typeface="맑은 고딕" panose="020B0503020000020004" pitchFamily="50" charset="-127"/>
                </a:rPr>
                <a:t>.</a:t>
              </a:r>
              <a:endParaRPr lang="ko-KR" altLang="en-US" sz="700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</a:endParaRPr>
            </a:p>
          </p:txBody>
        </p:sp>
        <p:cxnSp>
          <p:nvCxnSpPr>
            <p:cNvPr id="610" name="직선 연결선 609"/>
            <p:cNvCxnSpPr/>
            <p:nvPr/>
          </p:nvCxnSpPr>
          <p:spPr>
            <a:xfrm>
              <a:off x="4968163" y="5033482"/>
              <a:ext cx="2591578" cy="0"/>
            </a:xfrm>
            <a:prstGeom prst="line">
              <a:avLst/>
            </a:prstGeom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11" name="TextBox 610">
              <a:extLst>
                <a:ext uri="{FF2B5EF4-FFF2-40B4-BE49-F238E27FC236}">
                  <a16:creationId xmlns="" xmlns:a16="http://schemas.microsoft.com/office/drawing/2014/main" id="{0C96C875-C47F-4F5B-B4C1-F9D666A7BD9D}"/>
                </a:ext>
              </a:extLst>
            </p:cNvPr>
            <p:cNvSpPr txBox="1"/>
            <p:nvPr/>
          </p:nvSpPr>
          <p:spPr>
            <a:xfrm>
              <a:off x="5616187" y="5105845"/>
              <a:ext cx="782265" cy="180425"/>
            </a:xfrm>
            <a:prstGeom prst="rect">
              <a:avLst/>
            </a:prstGeom>
            <a:noFill/>
            <a:ln w="3175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none" lIns="0" tIns="36000" rIns="0" bIns="36000" numCol="1" rtlCol="0" anchor="ctr" anchorCtr="0" compatLnSpc="1">
              <a:prstTxWarp prst="textNoShape">
                <a:avLst/>
              </a:prstTxWarp>
              <a:spAutoFit/>
            </a:bodyPr>
            <a:lstStyle/>
            <a:p>
              <a:r>
                <a:rPr lang="ko-KR" altLang="en-US" sz="700" smtClean="0">
                  <a:solidFill>
                    <a:schemeClr val="tx1">
                      <a:lumMod val="50000"/>
                      <a:lumOff val="50000"/>
                    </a:schemeClr>
                  </a:solidFill>
                  <a:latin typeface="맑은 고딕" panose="020B0503020000020004" pitchFamily="50" charset="-127"/>
                </a:rPr>
                <a:t>선물포장 가능 안내</a:t>
              </a:r>
              <a:endParaRPr lang="ko-KR" altLang="en-US" sz="7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endParaRPr>
            </a:p>
          </p:txBody>
        </p:sp>
        <p:cxnSp>
          <p:nvCxnSpPr>
            <p:cNvPr id="612" name="직선 연결선 611"/>
            <p:cNvCxnSpPr/>
            <p:nvPr/>
          </p:nvCxnSpPr>
          <p:spPr>
            <a:xfrm>
              <a:off x="4824187" y="5358239"/>
              <a:ext cx="2880000" cy="0"/>
            </a:xfrm>
            <a:prstGeom prst="line">
              <a:avLst/>
            </a:prstGeom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13" name="TextBox 612">
              <a:extLst>
                <a:ext uri="{FF2B5EF4-FFF2-40B4-BE49-F238E27FC236}">
                  <a16:creationId xmlns="" xmlns:a16="http://schemas.microsoft.com/office/drawing/2014/main" id="{0C96C875-C47F-4F5B-B4C1-F9D666A7BD9D}"/>
                </a:ext>
              </a:extLst>
            </p:cNvPr>
            <p:cNvSpPr txBox="1"/>
            <p:nvPr/>
          </p:nvSpPr>
          <p:spPr>
            <a:xfrm>
              <a:off x="4968163" y="5104950"/>
              <a:ext cx="431776" cy="180425"/>
            </a:xfrm>
            <a:prstGeom prst="rect">
              <a:avLst/>
            </a:prstGeom>
            <a:noFill/>
            <a:ln w="3175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none" lIns="36000" tIns="36000" rIns="36000" bIns="36000" numCol="1" rtlCol="0" anchor="ctr" anchorCtr="0" compatLnSpc="1">
              <a:prstTxWarp prst="textNoShape">
                <a:avLst/>
              </a:prstTxWarp>
              <a:spAutoFit/>
            </a:bodyPr>
            <a:lstStyle/>
            <a:p>
              <a:r>
                <a:rPr lang="ko-KR" altLang="en-US" sz="700" smtClean="0">
                  <a:solidFill>
                    <a:schemeClr val="tx1">
                      <a:lumMod val="50000"/>
                      <a:lumOff val="50000"/>
                    </a:schemeClr>
                  </a:solidFill>
                  <a:latin typeface="맑은 고딕" panose="020B0503020000020004" pitchFamily="50" charset="-127"/>
                </a:rPr>
                <a:t>선물포장</a:t>
              </a:r>
              <a:endParaRPr lang="ko-KR" altLang="en-US" sz="700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614" name="TextBox 613">
              <a:extLst>
                <a:ext uri="{FF2B5EF4-FFF2-40B4-BE49-F238E27FC236}">
                  <a16:creationId xmlns="" xmlns:a16="http://schemas.microsoft.com/office/drawing/2014/main" id="{0C96C875-C47F-4F5B-B4C1-F9D666A7BD9D}"/>
                </a:ext>
              </a:extLst>
            </p:cNvPr>
            <p:cNvSpPr txBox="1"/>
            <p:nvPr/>
          </p:nvSpPr>
          <p:spPr>
            <a:xfrm rot="5400000">
              <a:off x="7481835" y="5141301"/>
              <a:ext cx="48090" cy="107722"/>
            </a:xfrm>
            <a:prstGeom prst="rect">
              <a:avLst/>
            </a:prstGeom>
            <a:noFill/>
            <a:ln w="3175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none" lIns="0" tIns="0" rIns="0" bIns="0" numCol="1" rtlCol="0" anchor="ctr" anchorCtr="0" compatLnSpc="1">
              <a:prstTxWarp prst="textNoShape">
                <a:avLst/>
              </a:prstTxWarp>
              <a:spAutoFit/>
            </a:bodyPr>
            <a:lstStyle/>
            <a:p>
              <a:r>
                <a:rPr lang="en-US" altLang="ko-KR" sz="700" b="1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〉</a:t>
              </a:r>
              <a:endParaRPr lang="ko-KR" altLang="en-US" sz="7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615" name="TextBox 614">
              <a:extLst>
                <a:ext uri="{FF2B5EF4-FFF2-40B4-BE49-F238E27FC236}">
                  <a16:creationId xmlns="" xmlns:a16="http://schemas.microsoft.com/office/drawing/2014/main" id="{0C96C875-C47F-4F5B-B4C1-F9D666A7BD9D}"/>
                </a:ext>
              </a:extLst>
            </p:cNvPr>
            <p:cNvSpPr txBox="1"/>
            <p:nvPr/>
          </p:nvSpPr>
          <p:spPr>
            <a:xfrm>
              <a:off x="4968164" y="5439857"/>
              <a:ext cx="622534" cy="195814"/>
            </a:xfrm>
            <a:prstGeom prst="rect">
              <a:avLst/>
            </a:prstGeom>
            <a:noFill/>
            <a:ln w="3175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none" lIns="36000" tIns="36000" rIns="36000" bIns="36000" numCol="1" rtlCol="0" anchor="ctr" anchorCtr="0" compatLnSpc="1">
              <a:prstTxWarp prst="textNoShape">
                <a:avLst/>
              </a:prstTxWarp>
              <a:spAutoFit/>
            </a:bodyPr>
            <a:lstStyle/>
            <a:p>
              <a:r>
                <a:rPr lang="ko-KR" altLang="en-US" sz="800" b="1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관련 검색어</a:t>
              </a:r>
              <a:endParaRPr lang="en-US" altLang="ko-KR" sz="800" b="1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616" name="TextBox 615">
              <a:extLst>
                <a:ext uri="{FF2B5EF4-FFF2-40B4-BE49-F238E27FC236}">
                  <a16:creationId xmlns="" xmlns:a16="http://schemas.microsoft.com/office/drawing/2014/main" id="{0C96C875-C47F-4F5B-B4C1-F9D666A7BD9D}"/>
                </a:ext>
              </a:extLst>
            </p:cNvPr>
            <p:cNvSpPr txBox="1"/>
            <p:nvPr/>
          </p:nvSpPr>
          <p:spPr>
            <a:xfrm>
              <a:off x="4968162" y="5702596"/>
              <a:ext cx="360000" cy="216000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95000"/>
              </a:schemeClr>
            </a:solidFill>
            <a:ln w="3175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none" lIns="36000" tIns="36000" rIns="36000" bIns="36000" numCol="1" rtlCol="0" anchor="ctr" anchorCtr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altLang="ko-KR" sz="700" smtClean="0">
                  <a:solidFill>
                    <a:schemeClr val="tx1">
                      <a:lumMod val="50000"/>
                      <a:lumOff val="50000"/>
                    </a:schemeClr>
                  </a:solidFill>
                  <a:latin typeface="맑은 고딕" panose="020B0503020000020004" pitchFamily="50" charset="-127"/>
                </a:rPr>
                <a:t>25FW</a:t>
              </a:r>
              <a:endParaRPr lang="ko-KR" altLang="en-US" sz="700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617" name="TextBox 616">
              <a:extLst>
                <a:ext uri="{FF2B5EF4-FFF2-40B4-BE49-F238E27FC236}">
                  <a16:creationId xmlns="" xmlns:a16="http://schemas.microsoft.com/office/drawing/2014/main" id="{0C96C875-C47F-4F5B-B4C1-F9D666A7BD9D}"/>
                </a:ext>
              </a:extLst>
            </p:cNvPr>
            <p:cNvSpPr txBox="1"/>
            <p:nvPr/>
          </p:nvSpPr>
          <p:spPr>
            <a:xfrm>
              <a:off x="5401000" y="5702596"/>
              <a:ext cx="576000" cy="216000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95000"/>
              </a:schemeClr>
            </a:solidFill>
            <a:ln w="3175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none" lIns="36000" tIns="36000" rIns="36000" bIns="36000" numCol="1" rtlCol="0" anchor="ctr" anchorCtr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ko-KR" altLang="en-US" sz="700" smtClean="0">
                  <a:solidFill>
                    <a:schemeClr val="tx1">
                      <a:lumMod val="50000"/>
                      <a:lumOff val="50000"/>
                    </a:schemeClr>
                  </a:solidFill>
                  <a:latin typeface="맑은 고딕" panose="020B0503020000020004" pitchFamily="50" charset="-127"/>
                </a:rPr>
                <a:t>위켄드세일</a:t>
              </a:r>
              <a:endParaRPr lang="ko-KR" altLang="en-US" sz="700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618" name="TextBox 617">
              <a:extLst>
                <a:ext uri="{FF2B5EF4-FFF2-40B4-BE49-F238E27FC236}">
                  <a16:creationId xmlns="" xmlns:a16="http://schemas.microsoft.com/office/drawing/2014/main" id="{0C96C875-C47F-4F5B-B4C1-F9D666A7BD9D}"/>
                </a:ext>
              </a:extLst>
            </p:cNvPr>
            <p:cNvSpPr txBox="1"/>
            <p:nvPr/>
          </p:nvSpPr>
          <p:spPr>
            <a:xfrm>
              <a:off x="6047508" y="5702596"/>
              <a:ext cx="504000" cy="216000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95000"/>
              </a:schemeClr>
            </a:solidFill>
            <a:ln w="3175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none" lIns="36000" tIns="36000" rIns="36000" bIns="36000" numCol="1" rtlCol="0" anchor="ctr" anchorCtr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ko-KR" altLang="en-US" sz="700" smtClean="0">
                  <a:solidFill>
                    <a:schemeClr val="tx1">
                      <a:lumMod val="50000"/>
                      <a:lumOff val="50000"/>
                    </a:schemeClr>
                  </a:solidFill>
                  <a:latin typeface="맑은 고딕" panose="020B0503020000020004" pitchFamily="50" charset="-127"/>
                </a:rPr>
                <a:t>선물포장</a:t>
              </a:r>
              <a:endParaRPr lang="ko-KR" altLang="en-US" sz="700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</a:endParaRPr>
            </a:p>
          </p:txBody>
        </p:sp>
        <p:grpSp>
          <p:nvGrpSpPr>
            <p:cNvPr id="619" name="그룹 618"/>
            <p:cNvGrpSpPr/>
            <p:nvPr/>
          </p:nvGrpSpPr>
          <p:grpSpPr>
            <a:xfrm>
              <a:off x="4824187" y="5892774"/>
              <a:ext cx="2879531" cy="504000"/>
              <a:chOff x="4824187" y="5892774"/>
              <a:chExt cx="2879531" cy="504000"/>
            </a:xfrm>
          </p:grpSpPr>
          <p:sp>
            <p:nvSpPr>
              <p:cNvPr id="620" name="직사각형 619">
                <a:extLst>
                  <a:ext uri="{FF2B5EF4-FFF2-40B4-BE49-F238E27FC236}">
                    <a16:creationId xmlns:a16="http://schemas.microsoft.com/office/drawing/2014/main" xmlns="" id="{19FD5FA0-B111-4EF7-BC86-418441928DD3}"/>
                  </a:ext>
                </a:extLst>
              </p:cNvPr>
              <p:cNvSpPr/>
              <p:nvPr/>
            </p:nvSpPr>
            <p:spPr>
              <a:xfrm>
                <a:off x="4824187" y="5892774"/>
                <a:ext cx="2879531" cy="504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700">
                  <a:solidFill>
                    <a:prstClr val="black">
                      <a:lumMod val="75000"/>
                      <a:lumOff val="25000"/>
                    </a:prstClr>
                  </a:solidFill>
                  <a:latin typeface="맑은 고딕" panose="020B0503020000020004" pitchFamily="50" charset="-127"/>
                </a:endParaRPr>
              </a:p>
            </p:txBody>
          </p:sp>
          <p:sp>
            <p:nvSpPr>
              <p:cNvPr id="621" name="모서리가 둥근 직사각형 620">
                <a:extLst>
                  <a:ext uri="{FF2B5EF4-FFF2-40B4-BE49-F238E27FC236}">
                    <a16:creationId xmlns="" xmlns:a16="http://schemas.microsoft.com/office/drawing/2014/main" id="{19FD5FA0-B111-4EF7-BC86-418441928DD3}"/>
                  </a:ext>
                </a:extLst>
              </p:cNvPr>
              <p:cNvSpPr/>
              <p:nvPr/>
            </p:nvSpPr>
            <p:spPr>
              <a:xfrm>
                <a:off x="6477456" y="5964803"/>
                <a:ext cx="1153187" cy="359942"/>
              </a:xfrm>
              <a:prstGeom prst="roundRect">
                <a:avLst>
                  <a:gd name="adj" fmla="val 9391"/>
                </a:avLst>
              </a:prstGeom>
              <a:solidFill>
                <a:schemeClr val="tx1">
                  <a:lumMod val="75000"/>
                  <a:lumOff val="25000"/>
                </a:schemeClr>
              </a:solidFill>
              <a:ln w="3175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700" smtClean="0">
                    <a:solidFill>
                      <a:schemeClr val="bg1"/>
                    </a:solidFill>
                    <a:latin typeface="맑은 고딕" panose="020B0503020000020004" pitchFamily="50" charset="-127"/>
                  </a:rPr>
                  <a:t>구매하기</a:t>
                </a:r>
                <a:endParaRPr lang="ko-KR" altLang="en-US" sz="700">
                  <a:solidFill>
                    <a:schemeClr val="bg1"/>
                  </a:solidFill>
                  <a:latin typeface="맑은 고딕" panose="020B0503020000020004" pitchFamily="50" charset="-127"/>
                </a:endParaRPr>
              </a:p>
            </p:txBody>
          </p:sp>
          <p:sp>
            <p:nvSpPr>
              <p:cNvPr id="622" name="모서리가 둥근 직사각형 621">
                <a:extLst>
                  <a:ext uri="{FF2B5EF4-FFF2-40B4-BE49-F238E27FC236}">
                    <a16:creationId xmlns="" xmlns:a16="http://schemas.microsoft.com/office/drawing/2014/main" id="{19FD5FA0-B111-4EF7-BC86-418441928DD3}"/>
                  </a:ext>
                </a:extLst>
              </p:cNvPr>
              <p:cNvSpPr/>
              <p:nvPr/>
            </p:nvSpPr>
            <p:spPr>
              <a:xfrm>
                <a:off x="4895277" y="5964803"/>
                <a:ext cx="360000" cy="359942"/>
              </a:xfrm>
              <a:prstGeom prst="roundRect">
                <a:avLst>
                  <a:gd name="adj" fmla="val 9391"/>
                </a:avLst>
              </a:prstGeom>
              <a:solidFill>
                <a:schemeClr val="bg1"/>
              </a:solidFill>
              <a:ln w="3175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700" b="1">
                  <a:solidFill>
                    <a:srgbClr val="DC2832"/>
                  </a:solidFill>
                  <a:latin typeface="맑은 고딕" panose="020B0503020000020004" pitchFamily="50" charset="-127"/>
                </a:endParaRPr>
              </a:p>
            </p:txBody>
          </p:sp>
          <p:grpSp>
            <p:nvGrpSpPr>
              <p:cNvPr id="623" name="그룹 622"/>
              <p:cNvGrpSpPr/>
              <p:nvPr/>
            </p:nvGrpSpPr>
            <p:grpSpPr>
              <a:xfrm>
                <a:off x="4996540" y="6026179"/>
                <a:ext cx="157474" cy="237190"/>
                <a:chOff x="5491883" y="6027689"/>
                <a:chExt cx="157474" cy="237190"/>
              </a:xfrm>
            </p:grpSpPr>
            <p:sp>
              <p:nvSpPr>
                <p:cNvPr id="626" name="Like"/>
                <p:cNvSpPr>
                  <a:spLocks noChangeAspect="1" noEditPoints="1"/>
                </p:cNvSpPr>
                <p:nvPr/>
              </p:nvSpPr>
              <p:spPr bwMode="auto">
                <a:xfrm>
                  <a:off x="5491883" y="6027689"/>
                  <a:ext cx="157474" cy="157474"/>
                </a:xfrm>
                <a:custGeom>
                  <a:avLst/>
                  <a:gdLst>
                    <a:gd name="T0" fmla="*/ 174 w 614"/>
                    <a:gd name="T1" fmla="*/ 0 h 538"/>
                    <a:gd name="T2" fmla="*/ 0 w 614"/>
                    <a:gd name="T3" fmla="*/ 174 h 538"/>
                    <a:gd name="T4" fmla="*/ 299 w 614"/>
                    <a:gd name="T5" fmla="*/ 531 h 538"/>
                    <a:gd name="T6" fmla="*/ 307 w 614"/>
                    <a:gd name="T7" fmla="*/ 538 h 538"/>
                    <a:gd name="T8" fmla="*/ 315 w 614"/>
                    <a:gd name="T9" fmla="*/ 531 h 538"/>
                    <a:gd name="T10" fmla="*/ 614 w 614"/>
                    <a:gd name="T11" fmla="*/ 174 h 538"/>
                    <a:gd name="T12" fmla="*/ 440 w 614"/>
                    <a:gd name="T13" fmla="*/ 0 h 538"/>
                    <a:gd name="T14" fmla="*/ 307 w 614"/>
                    <a:gd name="T15" fmla="*/ 65 h 538"/>
                    <a:gd name="T16" fmla="*/ 174 w 614"/>
                    <a:gd name="T17" fmla="*/ 0 h 538"/>
                    <a:gd name="T18" fmla="*/ 174 w 614"/>
                    <a:gd name="T19" fmla="*/ 27 h 538"/>
                    <a:gd name="T20" fmla="*/ 296 w 614"/>
                    <a:gd name="T21" fmla="*/ 93 h 538"/>
                    <a:gd name="T22" fmla="*/ 307 w 614"/>
                    <a:gd name="T23" fmla="*/ 110 h 538"/>
                    <a:gd name="T24" fmla="*/ 318 w 614"/>
                    <a:gd name="T25" fmla="*/ 93 h 538"/>
                    <a:gd name="T26" fmla="*/ 440 w 614"/>
                    <a:gd name="T27" fmla="*/ 27 h 538"/>
                    <a:gd name="T28" fmla="*/ 587 w 614"/>
                    <a:gd name="T29" fmla="*/ 174 h 538"/>
                    <a:gd name="T30" fmla="*/ 307 w 614"/>
                    <a:gd name="T31" fmla="*/ 504 h 538"/>
                    <a:gd name="T32" fmla="*/ 27 w 614"/>
                    <a:gd name="T33" fmla="*/ 174 h 538"/>
                    <a:gd name="T34" fmla="*/ 174 w 614"/>
                    <a:gd name="T35" fmla="*/ 27 h 53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614" h="538">
                      <a:moveTo>
                        <a:pt x="174" y="0"/>
                      </a:moveTo>
                      <a:cubicBezTo>
                        <a:pt x="78" y="0"/>
                        <a:pt x="0" y="78"/>
                        <a:pt x="0" y="174"/>
                      </a:cubicBezTo>
                      <a:cubicBezTo>
                        <a:pt x="0" y="371"/>
                        <a:pt x="223" y="468"/>
                        <a:pt x="299" y="531"/>
                      </a:cubicBezTo>
                      <a:lnTo>
                        <a:pt x="307" y="538"/>
                      </a:lnTo>
                      <a:lnTo>
                        <a:pt x="315" y="531"/>
                      </a:lnTo>
                      <a:cubicBezTo>
                        <a:pt x="391" y="468"/>
                        <a:pt x="614" y="371"/>
                        <a:pt x="614" y="174"/>
                      </a:cubicBezTo>
                      <a:cubicBezTo>
                        <a:pt x="614" y="78"/>
                        <a:pt x="536" y="0"/>
                        <a:pt x="440" y="0"/>
                      </a:cubicBezTo>
                      <a:cubicBezTo>
                        <a:pt x="386" y="0"/>
                        <a:pt x="339" y="26"/>
                        <a:pt x="307" y="65"/>
                      </a:cubicBezTo>
                      <a:cubicBezTo>
                        <a:pt x="275" y="26"/>
                        <a:pt x="228" y="0"/>
                        <a:pt x="174" y="0"/>
                      </a:cubicBezTo>
                      <a:close/>
                      <a:moveTo>
                        <a:pt x="174" y="27"/>
                      </a:moveTo>
                      <a:cubicBezTo>
                        <a:pt x="225" y="27"/>
                        <a:pt x="269" y="53"/>
                        <a:pt x="296" y="93"/>
                      </a:cubicBezTo>
                      <a:lnTo>
                        <a:pt x="307" y="110"/>
                      </a:lnTo>
                      <a:lnTo>
                        <a:pt x="318" y="93"/>
                      </a:lnTo>
                      <a:cubicBezTo>
                        <a:pt x="344" y="53"/>
                        <a:pt x="389" y="27"/>
                        <a:pt x="440" y="27"/>
                      </a:cubicBezTo>
                      <a:cubicBezTo>
                        <a:pt x="521" y="27"/>
                        <a:pt x="587" y="93"/>
                        <a:pt x="587" y="174"/>
                      </a:cubicBezTo>
                      <a:cubicBezTo>
                        <a:pt x="587" y="346"/>
                        <a:pt x="395" y="435"/>
                        <a:pt x="307" y="504"/>
                      </a:cubicBezTo>
                      <a:cubicBezTo>
                        <a:pt x="219" y="435"/>
                        <a:pt x="27" y="346"/>
                        <a:pt x="27" y="174"/>
                      </a:cubicBezTo>
                      <a:cubicBezTo>
                        <a:pt x="27" y="93"/>
                        <a:pt x="92" y="27"/>
                        <a:pt x="174" y="27"/>
                      </a:cubicBezTo>
                      <a:close/>
                    </a:path>
                  </a:pathLst>
                </a:custGeom>
                <a:solidFill>
                  <a:srgbClr val="5F5F5F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en-US" sz="800">
                    <a:latin typeface="Segoe UI" panose="020B0502040204020203" pitchFamily="34" charset="0"/>
                    <a:cs typeface="Segoe UI" panose="020B0502040204020203" pitchFamily="34" charset="0"/>
                  </a:endParaRPr>
                </a:p>
              </p:txBody>
            </p:sp>
            <p:sp>
              <p:nvSpPr>
                <p:cNvPr id="627" name="TextBox 626"/>
                <p:cNvSpPr txBox="1"/>
                <p:nvPr/>
              </p:nvSpPr>
              <p:spPr>
                <a:xfrm>
                  <a:off x="5535354" y="6187935"/>
                  <a:ext cx="70532" cy="76944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 anchor="ctr">
                  <a:spAutoFit/>
                </a:bodyPr>
                <a:lstStyle/>
                <a:p>
                  <a:r>
                    <a:rPr lang="en-US" altLang="ko-KR" sz="500" smtClean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맑은 고딕" panose="020B0503020000020004" pitchFamily="50" charset="-127"/>
                      <a:ea typeface="맑은 고딕" panose="020B0503020000020004" pitchFamily="50" charset="-127"/>
                    </a:rPr>
                    <a:t>54</a:t>
                  </a:r>
                  <a:endParaRPr lang="ko-KR" altLang="en-US" sz="5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endParaRPr>
                </a:p>
              </p:txBody>
            </p:sp>
          </p:grpSp>
          <p:sp>
            <p:nvSpPr>
              <p:cNvPr id="624" name="모서리가 둥근 직사각형 623">
                <a:extLst>
                  <a:ext uri="{FF2B5EF4-FFF2-40B4-BE49-F238E27FC236}">
                    <a16:creationId xmlns="" xmlns:a16="http://schemas.microsoft.com/office/drawing/2014/main" id="{19FD5FA0-B111-4EF7-BC86-418441928DD3}"/>
                  </a:ext>
                </a:extLst>
              </p:cNvPr>
              <p:cNvSpPr/>
              <p:nvPr/>
            </p:nvSpPr>
            <p:spPr>
              <a:xfrm>
                <a:off x="5326367" y="5964803"/>
                <a:ext cx="1080000" cy="359942"/>
              </a:xfrm>
              <a:prstGeom prst="roundRect">
                <a:avLst>
                  <a:gd name="adj" fmla="val 9391"/>
                </a:avLst>
              </a:prstGeom>
              <a:solidFill>
                <a:schemeClr val="bg1"/>
              </a:solidFill>
              <a:ln w="3175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80000" tIns="0" rIns="0" bIns="0" rtlCol="0" anchor="ctr"/>
              <a:lstStyle/>
              <a:p>
                <a:pPr algn="ctr"/>
                <a:r>
                  <a:rPr lang="ko-KR" altLang="en-US" sz="700" b="1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맑은 고딕" panose="020B0503020000020004" pitchFamily="50" charset="-127"/>
                  </a:rPr>
                  <a:t>선물하기</a:t>
                </a:r>
                <a:endParaRPr lang="ko-KR" altLang="en-US" sz="700" b="1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endParaRPr>
              </a:p>
            </p:txBody>
          </p:sp>
          <p:sp>
            <p:nvSpPr>
              <p:cNvPr id="625" name="Gift"/>
              <p:cNvSpPr>
                <a:spLocks noChangeAspect="1" noEditPoints="1"/>
              </p:cNvSpPr>
              <p:nvPr/>
            </p:nvSpPr>
            <p:spPr bwMode="auto">
              <a:xfrm>
                <a:off x="5582428" y="6072774"/>
                <a:ext cx="142545" cy="144000"/>
              </a:xfrm>
              <a:custGeom>
                <a:avLst/>
                <a:gdLst>
                  <a:gd name="T0" fmla="*/ 95 w 640"/>
                  <a:gd name="T1" fmla="*/ 23 h 640"/>
                  <a:gd name="T2" fmla="*/ 124 w 640"/>
                  <a:gd name="T3" fmla="*/ 147 h 640"/>
                  <a:gd name="T4" fmla="*/ 0 w 640"/>
                  <a:gd name="T5" fmla="*/ 160 h 640"/>
                  <a:gd name="T6" fmla="*/ 27 w 640"/>
                  <a:gd name="T7" fmla="*/ 307 h 640"/>
                  <a:gd name="T8" fmla="*/ 614 w 640"/>
                  <a:gd name="T9" fmla="*/ 640 h 640"/>
                  <a:gd name="T10" fmla="*/ 640 w 640"/>
                  <a:gd name="T11" fmla="*/ 307 h 640"/>
                  <a:gd name="T12" fmla="*/ 492 w 640"/>
                  <a:gd name="T13" fmla="*/ 160 h 640"/>
                  <a:gd name="T14" fmla="*/ 560 w 640"/>
                  <a:gd name="T15" fmla="*/ 67 h 640"/>
                  <a:gd name="T16" fmla="*/ 489 w 640"/>
                  <a:gd name="T17" fmla="*/ 0 h 640"/>
                  <a:gd name="T18" fmla="*/ 387 w 640"/>
                  <a:gd name="T19" fmla="*/ 80 h 640"/>
                  <a:gd name="T20" fmla="*/ 320 w 640"/>
                  <a:gd name="T21" fmla="*/ 147 h 640"/>
                  <a:gd name="T22" fmla="*/ 254 w 640"/>
                  <a:gd name="T23" fmla="*/ 80 h 640"/>
                  <a:gd name="T24" fmla="*/ 151 w 640"/>
                  <a:gd name="T25" fmla="*/ 0 h 640"/>
                  <a:gd name="T26" fmla="*/ 197 w 640"/>
                  <a:gd name="T27" fmla="*/ 46 h 640"/>
                  <a:gd name="T28" fmla="*/ 265 w 640"/>
                  <a:gd name="T29" fmla="*/ 146 h 640"/>
                  <a:gd name="T30" fmla="*/ 214 w 640"/>
                  <a:gd name="T31" fmla="*/ 147 h 640"/>
                  <a:gd name="T32" fmla="*/ 107 w 640"/>
                  <a:gd name="T33" fmla="*/ 67 h 640"/>
                  <a:gd name="T34" fmla="*/ 151 w 640"/>
                  <a:gd name="T35" fmla="*/ 27 h 640"/>
                  <a:gd name="T36" fmla="*/ 525 w 640"/>
                  <a:gd name="T37" fmla="*/ 40 h 640"/>
                  <a:gd name="T38" fmla="*/ 501 w 640"/>
                  <a:gd name="T39" fmla="*/ 125 h 640"/>
                  <a:gd name="T40" fmla="*/ 375 w 640"/>
                  <a:gd name="T41" fmla="*/ 147 h 640"/>
                  <a:gd name="T42" fmla="*/ 410 w 640"/>
                  <a:gd name="T43" fmla="*/ 94 h 640"/>
                  <a:gd name="T44" fmla="*/ 489 w 640"/>
                  <a:gd name="T45" fmla="*/ 27 h 640"/>
                  <a:gd name="T46" fmla="*/ 240 w 640"/>
                  <a:gd name="T47" fmla="*/ 187 h 640"/>
                  <a:gd name="T48" fmla="*/ 27 w 640"/>
                  <a:gd name="T49" fmla="*/ 280 h 640"/>
                  <a:gd name="T50" fmla="*/ 267 w 640"/>
                  <a:gd name="T51" fmla="*/ 187 h 640"/>
                  <a:gd name="T52" fmla="*/ 374 w 640"/>
                  <a:gd name="T53" fmla="*/ 614 h 640"/>
                  <a:gd name="T54" fmla="*/ 267 w 640"/>
                  <a:gd name="T55" fmla="*/ 187 h 640"/>
                  <a:gd name="T56" fmla="*/ 614 w 640"/>
                  <a:gd name="T57" fmla="*/ 187 h 640"/>
                  <a:gd name="T58" fmla="*/ 400 w 640"/>
                  <a:gd name="T59" fmla="*/ 280 h 640"/>
                  <a:gd name="T60" fmla="*/ 54 w 640"/>
                  <a:gd name="T61" fmla="*/ 307 h 640"/>
                  <a:gd name="T62" fmla="*/ 240 w 640"/>
                  <a:gd name="T63" fmla="*/ 614 h 640"/>
                  <a:gd name="T64" fmla="*/ 54 w 640"/>
                  <a:gd name="T65" fmla="*/ 307 h 640"/>
                  <a:gd name="T66" fmla="*/ 587 w 640"/>
                  <a:gd name="T67" fmla="*/ 307 h 640"/>
                  <a:gd name="T68" fmla="*/ 400 w 640"/>
                  <a:gd name="T69" fmla="*/ 614 h 6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</a:cxnLst>
                <a:rect l="0" t="0" r="r" b="b"/>
                <a:pathLst>
                  <a:path w="640" h="640">
                    <a:moveTo>
                      <a:pt x="151" y="0"/>
                    </a:moveTo>
                    <a:cubicBezTo>
                      <a:pt x="126" y="0"/>
                      <a:pt x="106" y="9"/>
                      <a:pt x="95" y="23"/>
                    </a:cubicBezTo>
                    <a:cubicBezTo>
                      <a:pt x="84" y="36"/>
                      <a:pt x="80" y="53"/>
                      <a:pt x="80" y="67"/>
                    </a:cubicBezTo>
                    <a:cubicBezTo>
                      <a:pt x="80" y="101"/>
                      <a:pt x="99" y="129"/>
                      <a:pt x="124" y="147"/>
                    </a:cubicBezTo>
                    <a:cubicBezTo>
                      <a:pt x="132" y="152"/>
                      <a:pt x="140" y="157"/>
                      <a:pt x="149" y="160"/>
                    </a:cubicBezTo>
                    <a:lnTo>
                      <a:pt x="0" y="160"/>
                    </a:lnTo>
                    <a:lnTo>
                      <a:pt x="0" y="307"/>
                    </a:lnTo>
                    <a:lnTo>
                      <a:pt x="27" y="307"/>
                    </a:lnTo>
                    <a:lnTo>
                      <a:pt x="27" y="640"/>
                    </a:lnTo>
                    <a:lnTo>
                      <a:pt x="614" y="640"/>
                    </a:lnTo>
                    <a:lnTo>
                      <a:pt x="614" y="307"/>
                    </a:lnTo>
                    <a:lnTo>
                      <a:pt x="640" y="307"/>
                    </a:lnTo>
                    <a:lnTo>
                      <a:pt x="640" y="160"/>
                    </a:lnTo>
                    <a:lnTo>
                      <a:pt x="492" y="160"/>
                    </a:lnTo>
                    <a:cubicBezTo>
                      <a:pt x="501" y="157"/>
                      <a:pt x="509" y="152"/>
                      <a:pt x="517" y="147"/>
                    </a:cubicBezTo>
                    <a:cubicBezTo>
                      <a:pt x="542" y="129"/>
                      <a:pt x="560" y="101"/>
                      <a:pt x="560" y="67"/>
                    </a:cubicBezTo>
                    <a:cubicBezTo>
                      <a:pt x="560" y="53"/>
                      <a:pt x="557" y="36"/>
                      <a:pt x="546" y="23"/>
                    </a:cubicBezTo>
                    <a:cubicBezTo>
                      <a:pt x="534" y="9"/>
                      <a:pt x="515" y="0"/>
                      <a:pt x="489" y="0"/>
                    </a:cubicBezTo>
                    <a:cubicBezTo>
                      <a:pt x="463" y="0"/>
                      <a:pt x="442" y="12"/>
                      <a:pt x="425" y="27"/>
                    </a:cubicBezTo>
                    <a:cubicBezTo>
                      <a:pt x="409" y="43"/>
                      <a:pt x="398" y="62"/>
                      <a:pt x="387" y="80"/>
                    </a:cubicBezTo>
                    <a:cubicBezTo>
                      <a:pt x="376" y="99"/>
                      <a:pt x="366" y="117"/>
                      <a:pt x="356" y="129"/>
                    </a:cubicBezTo>
                    <a:cubicBezTo>
                      <a:pt x="345" y="141"/>
                      <a:pt x="335" y="147"/>
                      <a:pt x="320" y="147"/>
                    </a:cubicBezTo>
                    <a:cubicBezTo>
                      <a:pt x="306" y="147"/>
                      <a:pt x="296" y="141"/>
                      <a:pt x="285" y="129"/>
                    </a:cubicBezTo>
                    <a:cubicBezTo>
                      <a:pt x="274" y="117"/>
                      <a:pt x="265" y="99"/>
                      <a:pt x="254" y="80"/>
                    </a:cubicBezTo>
                    <a:cubicBezTo>
                      <a:pt x="243" y="62"/>
                      <a:pt x="231" y="43"/>
                      <a:pt x="215" y="27"/>
                    </a:cubicBezTo>
                    <a:cubicBezTo>
                      <a:pt x="199" y="12"/>
                      <a:pt x="178" y="0"/>
                      <a:pt x="151" y="0"/>
                    </a:cubicBezTo>
                    <a:close/>
                    <a:moveTo>
                      <a:pt x="151" y="27"/>
                    </a:moveTo>
                    <a:cubicBezTo>
                      <a:pt x="171" y="27"/>
                      <a:pt x="184" y="34"/>
                      <a:pt x="197" y="46"/>
                    </a:cubicBezTo>
                    <a:cubicBezTo>
                      <a:pt x="209" y="58"/>
                      <a:pt x="220" y="76"/>
                      <a:pt x="231" y="94"/>
                    </a:cubicBezTo>
                    <a:cubicBezTo>
                      <a:pt x="241" y="112"/>
                      <a:pt x="252" y="131"/>
                      <a:pt x="265" y="146"/>
                    </a:cubicBezTo>
                    <a:cubicBezTo>
                      <a:pt x="266" y="147"/>
                      <a:pt x="266" y="147"/>
                      <a:pt x="266" y="147"/>
                    </a:cubicBezTo>
                    <a:lnTo>
                      <a:pt x="214" y="147"/>
                    </a:lnTo>
                    <a:cubicBezTo>
                      <a:pt x="187" y="147"/>
                      <a:pt x="159" y="139"/>
                      <a:pt x="139" y="125"/>
                    </a:cubicBezTo>
                    <a:cubicBezTo>
                      <a:pt x="119" y="111"/>
                      <a:pt x="107" y="92"/>
                      <a:pt x="107" y="67"/>
                    </a:cubicBezTo>
                    <a:cubicBezTo>
                      <a:pt x="107" y="57"/>
                      <a:pt x="110" y="47"/>
                      <a:pt x="116" y="40"/>
                    </a:cubicBezTo>
                    <a:cubicBezTo>
                      <a:pt x="121" y="33"/>
                      <a:pt x="131" y="27"/>
                      <a:pt x="151" y="27"/>
                    </a:cubicBezTo>
                    <a:close/>
                    <a:moveTo>
                      <a:pt x="489" y="27"/>
                    </a:moveTo>
                    <a:cubicBezTo>
                      <a:pt x="510" y="27"/>
                      <a:pt x="519" y="33"/>
                      <a:pt x="525" y="40"/>
                    </a:cubicBezTo>
                    <a:cubicBezTo>
                      <a:pt x="531" y="47"/>
                      <a:pt x="534" y="57"/>
                      <a:pt x="534" y="67"/>
                    </a:cubicBezTo>
                    <a:cubicBezTo>
                      <a:pt x="534" y="92"/>
                      <a:pt x="521" y="111"/>
                      <a:pt x="501" y="125"/>
                    </a:cubicBezTo>
                    <a:cubicBezTo>
                      <a:pt x="482" y="139"/>
                      <a:pt x="454" y="147"/>
                      <a:pt x="427" y="147"/>
                    </a:cubicBezTo>
                    <a:lnTo>
                      <a:pt x="375" y="147"/>
                    </a:lnTo>
                    <a:cubicBezTo>
                      <a:pt x="375" y="147"/>
                      <a:pt x="375" y="147"/>
                      <a:pt x="376" y="146"/>
                    </a:cubicBezTo>
                    <a:cubicBezTo>
                      <a:pt x="389" y="131"/>
                      <a:pt x="399" y="112"/>
                      <a:pt x="410" y="94"/>
                    </a:cubicBezTo>
                    <a:cubicBezTo>
                      <a:pt x="421" y="76"/>
                      <a:pt x="431" y="58"/>
                      <a:pt x="444" y="46"/>
                    </a:cubicBezTo>
                    <a:cubicBezTo>
                      <a:pt x="456" y="34"/>
                      <a:pt x="470" y="27"/>
                      <a:pt x="489" y="27"/>
                    </a:cubicBezTo>
                    <a:close/>
                    <a:moveTo>
                      <a:pt x="27" y="187"/>
                    </a:moveTo>
                    <a:lnTo>
                      <a:pt x="240" y="187"/>
                    </a:lnTo>
                    <a:lnTo>
                      <a:pt x="240" y="280"/>
                    </a:lnTo>
                    <a:lnTo>
                      <a:pt x="27" y="280"/>
                    </a:lnTo>
                    <a:lnTo>
                      <a:pt x="27" y="187"/>
                    </a:lnTo>
                    <a:close/>
                    <a:moveTo>
                      <a:pt x="267" y="187"/>
                    </a:moveTo>
                    <a:lnTo>
                      <a:pt x="374" y="187"/>
                    </a:lnTo>
                    <a:cubicBezTo>
                      <a:pt x="374" y="329"/>
                      <a:pt x="374" y="471"/>
                      <a:pt x="374" y="614"/>
                    </a:cubicBezTo>
                    <a:lnTo>
                      <a:pt x="267" y="614"/>
                    </a:lnTo>
                    <a:cubicBezTo>
                      <a:pt x="267" y="471"/>
                      <a:pt x="267" y="329"/>
                      <a:pt x="267" y="187"/>
                    </a:cubicBezTo>
                    <a:close/>
                    <a:moveTo>
                      <a:pt x="400" y="187"/>
                    </a:moveTo>
                    <a:lnTo>
                      <a:pt x="614" y="187"/>
                    </a:lnTo>
                    <a:lnTo>
                      <a:pt x="614" y="280"/>
                    </a:lnTo>
                    <a:lnTo>
                      <a:pt x="400" y="280"/>
                    </a:lnTo>
                    <a:lnTo>
                      <a:pt x="400" y="187"/>
                    </a:lnTo>
                    <a:close/>
                    <a:moveTo>
                      <a:pt x="54" y="307"/>
                    </a:moveTo>
                    <a:lnTo>
                      <a:pt x="240" y="307"/>
                    </a:lnTo>
                    <a:lnTo>
                      <a:pt x="240" y="614"/>
                    </a:lnTo>
                    <a:lnTo>
                      <a:pt x="54" y="614"/>
                    </a:lnTo>
                    <a:lnTo>
                      <a:pt x="54" y="307"/>
                    </a:lnTo>
                    <a:close/>
                    <a:moveTo>
                      <a:pt x="400" y="307"/>
                    </a:moveTo>
                    <a:lnTo>
                      <a:pt x="587" y="307"/>
                    </a:lnTo>
                    <a:lnTo>
                      <a:pt x="587" y="614"/>
                    </a:lnTo>
                    <a:lnTo>
                      <a:pt x="400" y="614"/>
                    </a:lnTo>
                    <a:lnTo>
                      <a:pt x="400" y="307"/>
                    </a:lnTo>
                    <a:close/>
                  </a:path>
                </a:pathLst>
              </a:custGeom>
              <a:solidFill>
                <a:srgbClr val="5F5F5F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sz="900" dirty="0"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p:grpSp>
      </p:grpSp>
      <p:sp>
        <p:nvSpPr>
          <p:cNvPr id="491" name="직사각형 490"/>
          <p:cNvSpPr/>
          <p:nvPr/>
        </p:nvSpPr>
        <p:spPr>
          <a:xfrm>
            <a:off x="145688" y="709700"/>
            <a:ext cx="2880000" cy="5688023"/>
          </a:xfrm>
          <a:prstGeom prst="rect">
            <a:avLst/>
          </a:prstGeom>
          <a:solidFill>
            <a:schemeClr val="tx1">
              <a:lumMod val="75000"/>
              <a:lumOff val="25000"/>
              <a:alpha val="5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508" name="직사각형 507"/>
          <p:cNvSpPr/>
          <p:nvPr/>
        </p:nvSpPr>
        <p:spPr>
          <a:xfrm>
            <a:off x="145688" y="2581723"/>
            <a:ext cx="2880000" cy="3816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510" name="TextBox 509">
            <a:extLst>
              <a:ext uri="{FF2B5EF4-FFF2-40B4-BE49-F238E27FC236}">
                <a16:creationId xmlns="" xmlns:a16="http://schemas.microsoft.com/office/drawing/2014/main" id="{0C96C875-C47F-4F5B-B4C1-F9D666A7BD9D}"/>
              </a:ext>
            </a:extLst>
          </p:cNvPr>
          <p:cNvSpPr txBox="1"/>
          <p:nvPr/>
        </p:nvSpPr>
        <p:spPr>
          <a:xfrm>
            <a:off x="289407" y="2742097"/>
            <a:ext cx="463836" cy="180425"/>
          </a:xfrm>
          <a:prstGeom prst="rect">
            <a:avLst/>
          </a:prstGeom>
          <a:noFill/>
          <a:ln w="317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36000" tIns="36000" rIns="36000" bIns="36000" numCol="1" rtlCol="0" anchor="ctr" anchorCtr="0" compatLnSpc="1">
            <a:prstTxWarp prst="textNoShape">
              <a:avLst/>
            </a:prstTxWarp>
            <a:spAutoFit/>
          </a:bodyPr>
          <a:lstStyle/>
          <a:p>
            <a:r>
              <a:rPr lang="ko-KR" altLang="en-US" sz="700" b="1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컬러</a:t>
            </a:r>
            <a:r>
              <a:rPr lang="ko-KR" altLang="en-US" sz="7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 블랙</a:t>
            </a:r>
            <a:endParaRPr lang="ko-KR" altLang="en-US" sz="7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511" name="모서리가 둥근 직사각형 510"/>
          <p:cNvSpPr/>
          <p:nvPr/>
        </p:nvSpPr>
        <p:spPr>
          <a:xfrm>
            <a:off x="289407" y="2941707"/>
            <a:ext cx="432000" cy="539912"/>
          </a:xfrm>
          <a:prstGeom prst="roundRect">
            <a:avLst>
              <a:gd name="adj" fmla="val 11375"/>
            </a:avLst>
          </a:prstGeom>
          <a:pattFill prst="openDmnd">
            <a:fgClr>
              <a:schemeClr val="bg1">
                <a:lumMod val="85000"/>
              </a:schemeClr>
            </a:fgClr>
            <a:bgClr>
              <a:schemeClr val="bg1"/>
            </a:bgClr>
          </a:patt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6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PROD</a:t>
            </a:r>
          </a:p>
          <a:p>
            <a:pPr algn="ctr"/>
            <a:r>
              <a:rPr lang="en-US" altLang="ko-KR" sz="6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IMG</a:t>
            </a:r>
            <a:endParaRPr lang="ko-KR" altLang="en-US" sz="60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512" name="모서리가 둥근 직사각형 511"/>
          <p:cNvSpPr/>
          <p:nvPr/>
        </p:nvSpPr>
        <p:spPr>
          <a:xfrm>
            <a:off x="793828" y="2941707"/>
            <a:ext cx="432000" cy="539912"/>
          </a:xfrm>
          <a:prstGeom prst="roundRect">
            <a:avLst>
              <a:gd name="adj" fmla="val 11375"/>
            </a:avLst>
          </a:prstGeom>
          <a:pattFill prst="openDmnd">
            <a:fgClr>
              <a:schemeClr val="bg1">
                <a:lumMod val="85000"/>
              </a:schemeClr>
            </a:fgClr>
            <a:bgClr>
              <a:schemeClr val="bg1"/>
            </a:bgClr>
          </a:patt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6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PROD</a:t>
            </a:r>
          </a:p>
          <a:p>
            <a:pPr algn="ctr"/>
            <a:r>
              <a:rPr lang="en-US" altLang="ko-KR" sz="6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IMG</a:t>
            </a:r>
            <a:endParaRPr lang="ko-KR" altLang="en-US" sz="60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524" name="TextBox 523">
            <a:extLst>
              <a:ext uri="{FF2B5EF4-FFF2-40B4-BE49-F238E27FC236}">
                <a16:creationId xmlns="" xmlns:a16="http://schemas.microsoft.com/office/drawing/2014/main" id="{0C96C875-C47F-4F5B-B4C1-F9D666A7BD9D}"/>
              </a:ext>
            </a:extLst>
          </p:cNvPr>
          <p:cNvSpPr txBox="1"/>
          <p:nvPr/>
        </p:nvSpPr>
        <p:spPr>
          <a:xfrm>
            <a:off x="289407" y="3571318"/>
            <a:ext cx="342008" cy="180425"/>
          </a:xfrm>
          <a:prstGeom prst="rect">
            <a:avLst/>
          </a:prstGeom>
          <a:noFill/>
          <a:ln w="317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36000" tIns="36000" rIns="36000" bIns="36000" numCol="1" rtlCol="0" anchor="ctr" anchorCtr="0" compatLnSpc="1">
            <a:prstTxWarp prst="textNoShape">
              <a:avLst/>
            </a:prstTxWarp>
            <a:spAutoFit/>
          </a:bodyPr>
          <a:lstStyle/>
          <a:p>
            <a:r>
              <a:rPr lang="ko-KR" altLang="en-US" sz="700" b="1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사이즈</a:t>
            </a:r>
            <a:endParaRPr lang="ko-KR" altLang="en-US" sz="700" b="1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526" name="모서리가 둥근 직사각형 525"/>
          <p:cNvSpPr/>
          <p:nvPr/>
        </p:nvSpPr>
        <p:spPr>
          <a:xfrm>
            <a:off x="289407" y="3770452"/>
            <a:ext cx="359942" cy="288000"/>
          </a:xfrm>
          <a:prstGeom prst="roundRect">
            <a:avLst>
              <a:gd name="adj" fmla="val 11375"/>
            </a:avLst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8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95</a:t>
            </a:r>
            <a:endParaRPr lang="ko-KR" altLang="en-US" sz="80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527" name="모서리가 둥근 직사각형 526"/>
          <p:cNvSpPr/>
          <p:nvPr/>
        </p:nvSpPr>
        <p:spPr>
          <a:xfrm>
            <a:off x="722273" y="3770452"/>
            <a:ext cx="359942" cy="288000"/>
          </a:xfrm>
          <a:prstGeom prst="roundRect">
            <a:avLst>
              <a:gd name="adj" fmla="val 11375"/>
            </a:avLst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8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100</a:t>
            </a:r>
            <a:endParaRPr lang="ko-KR" altLang="en-US" sz="80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528" name="모서리가 둥근 직사각형 527"/>
          <p:cNvSpPr/>
          <p:nvPr/>
        </p:nvSpPr>
        <p:spPr>
          <a:xfrm>
            <a:off x="1154008" y="3770452"/>
            <a:ext cx="359942" cy="288000"/>
          </a:xfrm>
          <a:prstGeom prst="roundRect">
            <a:avLst>
              <a:gd name="adj" fmla="val 11375"/>
            </a:avLst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8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105</a:t>
            </a:r>
            <a:endParaRPr lang="ko-KR" altLang="en-US" sz="80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529" name="모서리가 둥근 직사각형 528"/>
          <p:cNvSpPr/>
          <p:nvPr/>
        </p:nvSpPr>
        <p:spPr>
          <a:xfrm>
            <a:off x="1584684" y="3770452"/>
            <a:ext cx="359942" cy="288000"/>
          </a:xfrm>
          <a:prstGeom prst="roundRect">
            <a:avLst>
              <a:gd name="adj" fmla="val 11375"/>
            </a:avLst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8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110</a:t>
            </a:r>
            <a:endParaRPr lang="ko-KR" altLang="en-US" sz="80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530" name="모서리가 둥근 직사각형 529"/>
          <p:cNvSpPr/>
          <p:nvPr/>
        </p:nvSpPr>
        <p:spPr>
          <a:xfrm>
            <a:off x="2017353" y="3770452"/>
            <a:ext cx="359942" cy="288000"/>
          </a:xfrm>
          <a:prstGeom prst="roundRect">
            <a:avLst>
              <a:gd name="adj" fmla="val 11375"/>
            </a:avLst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8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115</a:t>
            </a:r>
            <a:endParaRPr lang="ko-KR" altLang="en-US" sz="80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534" name="모서리가 둥근 직사각형 533"/>
          <p:cNvSpPr/>
          <p:nvPr/>
        </p:nvSpPr>
        <p:spPr>
          <a:xfrm>
            <a:off x="2449876" y="3770452"/>
            <a:ext cx="359942" cy="288000"/>
          </a:xfrm>
          <a:prstGeom prst="roundRect">
            <a:avLst>
              <a:gd name="adj" fmla="val 11375"/>
            </a:avLst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800" strike="sngStrike" smtClean="0">
                <a:solidFill>
                  <a:schemeClr val="bg1">
                    <a:lumMod val="75000"/>
                  </a:schemeClr>
                </a:solidFill>
                <a:latin typeface="맑은 고딕" panose="020B0503020000020004" pitchFamily="50" charset="-127"/>
              </a:rPr>
              <a:t>120</a:t>
            </a:r>
            <a:endParaRPr lang="ko-KR" altLang="en-US" sz="800" strike="sngStrike">
              <a:solidFill>
                <a:schemeClr val="bg1">
                  <a:lumMod val="75000"/>
                </a:schemeClr>
              </a:solidFill>
              <a:latin typeface="맑은 고딕" panose="020B0503020000020004" pitchFamily="50" charset="-127"/>
            </a:endParaRPr>
          </a:p>
        </p:txBody>
      </p:sp>
      <p:grpSp>
        <p:nvGrpSpPr>
          <p:cNvPr id="535" name="그룹 534"/>
          <p:cNvGrpSpPr/>
          <p:nvPr/>
        </p:nvGrpSpPr>
        <p:grpSpPr>
          <a:xfrm>
            <a:off x="2664575" y="3733743"/>
            <a:ext cx="179970" cy="179970"/>
            <a:chOff x="7589341" y="3009028"/>
            <a:chExt cx="180000" cy="180000"/>
          </a:xfrm>
        </p:grpSpPr>
        <p:sp>
          <p:nvSpPr>
            <p:cNvPr id="560" name="타원 559"/>
            <p:cNvSpPr/>
            <p:nvPr/>
          </p:nvSpPr>
          <p:spPr>
            <a:xfrm>
              <a:off x="7589341" y="3009028"/>
              <a:ext cx="180000" cy="180000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ko-KR" altLang="en-US" sz="5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grpSp>
          <p:nvGrpSpPr>
            <p:cNvPr id="561" name="그룹 560"/>
            <p:cNvGrpSpPr/>
            <p:nvPr/>
          </p:nvGrpSpPr>
          <p:grpSpPr>
            <a:xfrm>
              <a:off x="7625341" y="3045028"/>
              <a:ext cx="108000" cy="108000"/>
              <a:chOff x="531806" y="1604594"/>
              <a:chExt cx="180000" cy="180738"/>
            </a:xfrm>
          </p:grpSpPr>
          <p:grpSp>
            <p:nvGrpSpPr>
              <p:cNvPr id="562" name="그룹 561"/>
              <p:cNvGrpSpPr/>
              <p:nvPr/>
            </p:nvGrpSpPr>
            <p:grpSpPr>
              <a:xfrm>
                <a:off x="549806" y="1604594"/>
                <a:ext cx="144000" cy="180738"/>
                <a:chOff x="691953" y="1723346"/>
                <a:chExt cx="144000" cy="180738"/>
              </a:xfrm>
              <a:solidFill>
                <a:schemeClr val="bg1"/>
              </a:solidFill>
            </p:grpSpPr>
            <p:sp>
              <p:nvSpPr>
                <p:cNvPr id="564" name="양쪽 모서리가 둥근 사각형 563"/>
                <p:cNvSpPr/>
                <p:nvPr/>
              </p:nvSpPr>
              <p:spPr>
                <a:xfrm>
                  <a:off x="700953" y="1723346"/>
                  <a:ext cx="126000" cy="126000"/>
                </a:xfrm>
                <a:prstGeom prst="round2SameRect">
                  <a:avLst>
                    <a:gd name="adj1" fmla="val 50000"/>
                    <a:gd name="adj2" fmla="val 0"/>
                  </a:avLst>
                </a:prstGeom>
                <a:grpFill/>
                <a:ln w="3175">
                  <a:solidFill>
                    <a:srgbClr val="DC283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7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endParaRPr>
                </a:p>
              </p:txBody>
            </p:sp>
            <p:sp>
              <p:nvSpPr>
                <p:cNvPr id="565" name="타원 564"/>
                <p:cNvSpPr/>
                <p:nvPr/>
              </p:nvSpPr>
              <p:spPr>
                <a:xfrm>
                  <a:off x="736953" y="1850084"/>
                  <a:ext cx="54000" cy="54000"/>
                </a:xfrm>
                <a:prstGeom prst="ellipse">
                  <a:avLst/>
                </a:prstGeom>
                <a:grpFill/>
                <a:ln w="3175">
                  <a:solidFill>
                    <a:srgbClr val="DC283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7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endParaRPr>
                </a:p>
              </p:txBody>
            </p:sp>
            <p:sp>
              <p:nvSpPr>
                <p:cNvPr id="566" name="직사각형 565"/>
                <p:cNvSpPr/>
                <p:nvPr/>
              </p:nvSpPr>
              <p:spPr>
                <a:xfrm>
                  <a:off x="691953" y="1811453"/>
                  <a:ext cx="144000" cy="18000"/>
                </a:xfrm>
                <a:prstGeom prst="rect">
                  <a:avLst/>
                </a:prstGeom>
                <a:grpFill/>
                <a:ln w="3175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7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endParaRPr>
                </a:p>
              </p:txBody>
            </p:sp>
            <p:sp>
              <p:nvSpPr>
                <p:cNvPr id="567" name="직사각형 566"/>
                <p:cNvSpPr/>
                <p:nvPr/>
              </p:nvSpPr>
              <p:spPr>
                <a:xfrm>
                  <a:off x="691953" y="1859609"/>
                  <a:ext cx="144000" cy="18000"/>
                </a:xfrm>
                <a:prstGeom prst="rect">
                  <a:avLst/>
                </a:prstGeom>
                <a:grpFill/>
                <a:ln w="3175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7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endParaRPr>
                </a:p>
              </p:txBody>
            </p:sp>
            <p:sp>
              <p:nvSpPr>
                <p:cNvPr id="568" name="직사각형 567"/>
                <p:cNvSpPr/>
                <p:nvPr/>
              </p:nvSpPr>
              <p:spPr>
                <a:xfrm>
                  <a:off x="691953" y="1832609"/>
                  <a:ext cx="144000" cy="25200"/>
                </a:xfrm>
                <a:prstGeom prst="rect">
                  <a:avLst/>
                </a:prstGeom>
                <a:grpFill/>
                <a:ln w="3175">
                  <a:solidFill>
                    <a:srgbClr val="DC283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7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endParaRPr>
                </a:p>
              </p:txBody>
            </p:sp>
          </p:grpSp>
          <p:sp>
            <p:nvSpPr>
              <p:cNvPr id="563" name="직사각형 562"/>
              <p:cNvSpPr/>
              <p:nvPr/>
            </p:nvSpPr>
            <p:spPr>
              <a:xfrm>
                <a:off x="531806" y="1604594"/>
                <a:ext cx="180000" cy="180000"/>
              </a:xfrm>
              <a:prstGeom prst="rect">
                <a:avLst/>
              </a:prstGeom>
              <a:noFill/>
              <a:ln w="31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70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</p:grpSp>
      </p:grpSp>
      <p:sp>
        <p:nvSpPr>
          <p:cNvPr id="536" name="TextBox 535">
            <a:extLst>
              <a:ext uri="{FF2B5EF4-FFF2-40B4-BE49-F238E27FC236}">
                <a16:creationId xmlns="" xmlns:a16="http://schemas.microsoft.com/office/drawing/2014/main" id="{0C96C875-C47F-4F5B-B4C1-F9D666A7BD9D}"/>
              </a:ext>
            </a:extLst>
          </p:cNvPr>
          <p:cNvSpPr txBox="1"/>
          <p:nvPr/>
        </p:nvSpPr>
        <p:spPr>
          <a:xfrm>
            <a:off x="2279290" y="3571319"/>
            <a:ext cx="601695" cy="180425"/>
          </a:xfrm>
          <a:prstGeom prst="rect">
            <a:avLst/>
          </a:prstGeom>
          <a:noFill/>
          <a:ln w="317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36000" tIns="36000" rIns="36000" bIns="36000" numCol="1" rtlCol="0" anchor="ctr" anchorCtr="0" compatLnSpc="1">
            <a:prstTxWarp prst="textNoShape">
              <a:avLst/>
            </a:prstTxWarp>
            <a:spAutoFit/>
          </a:bodyPr>
          <a:lstStyle/>
          <a:p>
            <a:pPr algn="r"/>
            <a:r>
              <a:rPr lang="ko-KR" altLang="en-US" sz="7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사이즈안내 </a:t>
            </a:r>
            <a:r>
              <a:rPr lang="en-US" altLang="ko-KR" sz="7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〉</a:t>
            </a:r>
            <a:endParaRPr lang="ko-KR" altLang="en-US" sz="7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537" name="타원 536"/>
          <p:cNvSpPr/>
          <p:nvPr/>
        </p:nvSpPr>
        <p:spPr>
          <a:xfrm>
            <a:off x="559349" y="3824452"/>
            <a:ext cx="36000" cy="36000"/>
          </a:xfrm>
          <a:prstGeom prst="ellipse">
            <a:avLst/>
          </a:prstGeom>
          <a:solidFill>
            <a:srgbClr val="C0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38" name="TextBox 537"/>
          <p:cNvSpPr txBox="1"/>
          <p:nvPr/>
        </p:nvSpPr>
        <p:spPr>
          <a:xfrm>
            <a:off x="343792" y="4129616"/>
            <a:ext cx="250068" cy="76944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r>
              <a:rPr lang="en-US" altLang="ko-KR" sz="500" smtClean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3</a:t>
            </a:r>
            <a:r>
              <a:rPr lang="ko-KR" altLang="en-US" sz="500" smtClean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개 남음</a:t>
            </a:r>
            <a:endParaRPr lang="ko-KR" altLang="en-US" sz="500" dirty="0">
              <a:solidFill>
                <a:schemeClr val="bg1">
                  <a:lumMod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540" name="그룹 539"/>
          <p:cNvGrpSpPr/>
          <p:nvPr/>
        </p:nvGrpSpPr>
        <p:grpSpPr>
          <a:xfrm>
            <a:off x="1154008" y="4097027"/>
            <a:ext cx="431047" cy="215060"/>
            <a:chOff x="9792952" y="3338758"/>
            <a:chExt cx="431047" cy="215060"/>
          </a:xfrm>
        </p:grpSpPr>
        <p:sp>
          <p:nvSpPr>
            <p:cNvPr id="558" name="직사각형 557"/>
            <p:cNvSpPr/>
            <p:nvPr/>
          </p:nvSpPr>
          <p:spPr>
            <a:xfrm>
              <a:off x="9792952" y="3373818"/>
              <a:ext cx="360000" cy="180000"/>
            </a:xfrm>
            <a:prstGeom prst="rect">
              <a:avLst/>
            </a:prstGeom>
            <a:gradFill flip="none" rotWithShape="1">
              <a:gsLst>
                <a:gs pos="0">
                  <a:schemeClr val="accent5">
                    <a:lumMod val="75000"/>
                  </a:schemeClr>
                </a:gs>
                <a:gs pos="50000">
                  <a:schemeClr val="accent5"/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0" scaled="1"/>
              <a:tileRect/>
            </a:gra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600" smtClean="0">
                  <a:solidFill>
                    <a:schemeClr val="bg1"/>
                  </a:solidFill>
                  <a:latin typeface="맑은 고딕" panose="020B0503020000020004" pitchFamily="50" charset="-127"/>
                </a:rPr>
                <a:t>매장배송</a:t>
              </a:r>
              <a:endParaRPr lang="ko-KR" altLang="en-US" sz="600">
                <a:solidFill>
                  <a:schemeClr val="bg1"/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559" name="타원 558"/>
            <p:cNvSpPr/>
            <p:nvPr/>
          </p:nvSpPr>
          <p:spPr>
            <a:xfrm>
              <a:off x="10080022" y="3338758"/>
              <a:ext cx="143977" cy="143976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70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?</a:t>
              </a:r>
              <a:endParaRPr lang="ko-KR" altLang="en-US" sz="7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sp>
        <p:nvSpPr>
          <p:cNvPr id="541" name="모서리가 둥근 직사각형 540"/>
          <p:cNvSpPr/>
          <p:nvPr/>
        </p:nvSpPr>
        <p:spPr>
          <a:xfrm>
            <a:off x="1405717" y="2653339"/>
            <a:ext cx="359942" cy="36000"/>
          </a:xfrm>
          <a:prstGeom prst="roundRect">
            <a:avLst>
              <a:gd name="adj" fmla="val 50000"/>
            </a:avLst>
          </a:prstGeom>
          <a:solidFill>
            <a:schemeClr val="bg1">
              <a:lumMod val="8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ko-KR" altLang="en-US" sz="80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552" name="직사각형 551">
            <a:extLst>
              <a:ext uri="{FF2B5EF4-FFF2-40B4-BE49-F238E27FC236}">
                <a16:creationId xmlns:a16="http://schemas.microsoft.com/office/drawing/2014/main" xmlns="" id="{19FD5FA0-B111-4EF7-BC86-418441928DD3}"/>
              </a:ext>
            </a:extLst>
          </p:cNvPr>
          <p:cNvSpPr/>
          <p:nvPr/>
        </p:nvSpPr>
        <p:spPr>
          <a:xfrm>
            <a:off x="145688" y="5893723"/>
            <a:ext cx="2879531" cy="504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700">
              <a:solidFill>
                <a:prstClr val="black">
                  <a:lumMod val="75000"/>
                  <a:lumOff val="25000"/>
                </a:prst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553" name="모서리가 둥근 직사각형 552">
            <a:extLst>
              <a:ext uri="{FF2B5EF4-FFF2-40B4-BE49-F238E27FC236}">
                <a16:creationId xmlns="" xmlns:a16="http://schemas.microsoft.com/office/drawing/2014/main" id="{19FD5FA0-B111-4EF7-BC86-418441928DD3}"/>
              </a:ext>
            </a:extLst>
          </p:cNvPr>
          <p:cNvSpPr/>
          <p:nvPr/>
        </p:nvSpPr>
        <p:spPr>
          <a:xfrm>
            <a:off x="2089453" y="5964803"/>
            <a:ext cx="864000" cy="359942"/>
          </a:xfrm>
          <a:prstGeom prst="roundRect">
            <a:avLst>
              <a:gd name="adj" fmla="val 9391"/>
            </a:avLst>
          </a:prstGeom>
          <a:solidFill>
            <a:schemeClr val="tx1">
              <a:lumMod val="75000"/>
              <a:lumOff val="25000"/>
            </a:schemeClr>
          </a:solidFill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700" b="1" smtClean="0">
                <a:solidFill>
                  <a:schemeClr val="bg1"/>
                </a:solidFill>
                <a:latin typeface="맑은 고딕" panose="020B0503020000020004" pitchFamily="50" charset="-127"/>
              </a:rPr>
              <a:t>바로구매</a:t>
            </a:r>
            <a:endParaRPr lang="ko-KR" altLang="en-US" sz="700" b="1">
              <a:solidFill>
                <a:schemeClr val="bg1"/>
              </a:solidFill>
              <a:latin typeface="맑은 고딕" panose="020B0503020000020004" pitchFamily="50" charset="-127"/>
            </a:endParaRPr>
          </a:p>
        </p:txBody>
      </p:sp>
      <p:grpSp>
        <p:nvGrpSpPr>
          <p:cNvPr id="554" name="그룹 553"/>
          <p:cNvGrpSpPr/>
          <p:nvPr/>
        </p:nvGrpSpPr>
        <p:grpSpPr>
          <a:xfrm>
            <a:off x="217453" y="5964803"/>
            <a:ext cx="864000" cy="359942"/>
            <a:chOff x="4896696" y="5964803"/>
            <a:chExt cx="864000" cy="359942"/>
          </a:xfrm>
        </p:grpSpPr>
        <p:sp>
          <p:nvSpPr>
            <p:cNvPr id="556" name="모서리가 둥근 직사각형 555">
              <a:extLst>
                <a:ext uri="{FF2B5EF4-FFF2-40B4-BE49-F238E27FC236}">
                  <a16:creationId xmlns="" xmlns:a16="http://schemas.microsoft.com/office/drawing/2014/main" id="{19FD5FA0-B111-4EF7-BC86-418441928DD3}"/>
                </a:ext>
              </a:extLst>
            </p:cNvPr>
            <p:cNvSpPr/>
            <p:nvPr/>
          </p:nvSpPr>
          <p:spPr>
            <a:xfrm>
              <a:off x="4896696" y="5964803"/>
              <a:ext cx="864000" cy="359942"/>
            </a:xfrm>
            <a:prstGeom prst="roundRect">
              <a:avLst>
                <a:gd name="adj" fmla="val 9391"/>
              </a:avLst>
            </a:prstGeom>
            <a:solidFill>
              <a:schemeClr val="bg1"/>
            </a:solidFill>
            <a:ln w="31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0" rIns="0" bIns="0" rtlCol="0" anchor="ctr"/>
            <a:lstStyle/>
            <a:p>
              <a:pPr algn="ctr"/>
              <a:r>
                <a:rPr lang="ko-KR" altLang="en-US" sz="700" b="1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선물하기</a:t>
              </a:r>
              <a:endParaRPr lang="ko-KR" altLang="en-US" sz="700" b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557" name="Gift"/>
            <p:cNvSpPr>
              <a:spLocks noChangeAspect="1" noEditPoints="1"/>
            </p:cNvSpPr>
            <p:nvPr/>
          </p:nvSpPr>
          <p:spPr bwMode="auto">
            <a:xfrm>
              <a:off x="5052958" y="6072774"/>
              <a:ext cx="142545" cy="144000"/>
            </a:xfrm>
            <a:custGeom>
              <a:avLst/>
              <a:gdLst>
                <a:gd name="T0" fmla="*/ 95 w 640"/>
                <a:gd name="T1" fmla="*/ 23 h 640"/>
                <a:gd name="T2" fmla="*/ 124 w 640"/>
                <a:gd name="T3" fmla="*/ 147 h 640"/>
                <a:gd name="T4" fmla="*/ 0 w 640"/>
                <a:gd name="T5" fmla="*/ 160 h 640"/>
                <a:gd name="T6" fmla="*/ 27 w 640"/>
                <a:gd name="T7" fmla="*/ 307 h 640"/>
                <a:gd name="T8" fmla="*/ 614 w 640"/>
                <a:gd name="T9" fmla="*/ 640 h 640"/>
                <a:gd name="T10" fmla="*/ 640 w 640"/>
                <a:gd name="T11" fmla="*/ 307 h 640"/>
                <a:gd name="T12" fmla="*/ 492 w 640"/>
                <a:gd name="T13" fmla="*/ 160 h 640"/>
                <a:gd name="T14" fmla="*/ 560 w 640"/>
                <a:gd name="T15" fmla="*/ 67 h 640"/>
                <a:gd name="T16" fmla="*/ 489 w 640"/>
                <a:gd name="T17" fmla="*/ 0 h 640"/>
                <a:gd name="T18" fmla="*/ 387 w 640"/>
                <a:gd name="T19" fmla="*/ 80 h 640"/>
                <a:gd name="T20" fmla="*/ 320 w 640"/>
                <a:gd name="T21" fmla="*/ 147 h 640"/>
                <a:gd name="T22" fmla="*/ 254 w 640"/>
                <a:gd name="T23" fmla="*/ 80 h 640"/>
                <a:gd name="T24" fmla="*/ 151 w 640"/>
                <a:gd name="T25" fmla="*/ 0 h 640"/>
                <a:gd name="T26" fmla="*/ 197 w 640"/>
                <a:gd name="T27" fmla="*/ 46 h 640"/>
                <a:gd name="T28" fmla="*/ 265 w 640"/>
                <a:gd name="T29" fmla="*/ 146 h 640"/>
                <a:gd name="T30" fmla="*/ 214 w 640"/>
                <a:gd name="T31" fmla="*/ 147 h 640"/>
                <a:gd name="T32" fmla="*/ 107 w 640"/>
                <a:gd name="T33" fmla="*/ 67 h 640"/>
                <a:gd name="T34" fmla="*/ 151 w 640"/>
                <a:gd name="T35" fmla="*/ 27 h 640"/>
                <a:gd name="T36" fmla="*/ 525 w 640"/>
                <a:gd name="T37" fmla="*/ 40 h 640"/>
                <a:gd name="T38" fmla="*/ 501 w 640"/>
                <a:gd name="T39" fmla="*/ 125 h 640"/>
                <a:gd name="T40" fmla="*/ 375 w 640"/>
                <a:gd name="T41" fmla="*/ 147 h 640"/>
                <a:gd name="T42" fmla="*/ 410 w 640"/>
                <a:gd name="T43" fmla="*/ 94 h 640"/>
                <a:gd name="T44" fmla="*/ 489 w 640"/>
                <a:gd name="T45" fmla="*/ 27 h 640"/>
                <a:gd name="T46" fmla="*/ 240 w 640"/>
                <a:gd name="T47" fmla="*/ 187 h 640"/>
                <a:gd name="T48" fmla="*/ 27 w 640"/>
                <a:gd name="T49" fmla="*/ 280 h 640"/>
                <a:gd name="T50" fmla="*/ 267 w 640"/>
                <a:gd name="T51" fmla="*/ 187 h 640"/>
                <a:gd name="T52" fmla="*/ 374 w 640"/>
                <a:gd name="T53" fmla="*/ 614 h 640"/>
                <a:gd name="T54" fmla="*/ 267 w 640"/>
                <a:gd name="T55" fmla="*/ 187 h 640"/>
                <a:gd name="T56" fmla="*/ 614 w 640"/>
                <a:gd name="T57" fmla="*/ 187 h 640"/>
                <a:gd name="T58" fmla="*/ 400 w 640"/>
                <a:gd name="T59" fmla="*/ 280 h 640"/>
                <a:gd name="T60" fmla="*/ 54 w 640"/>
                <a:gd name="T61" fmla="*/ 307 h 640"/>
                <a:gd name="T62" fmla="*/ 240 w 640"/>
                <a:gd name="T63" fmla="*/ 614 h 640"/>
                <a:gd name="T64" fmla="*/ 54 w 640"/>
                <a:gd name="T65" fmla="*/ 307 h 640"/>
                <a:gd name="T66" fmla="*/ 587 w 640"/>
                <a:gd name="T67" fmla="*/ 307 h 640"/>
                <a:gd name="T68" fmla="*/ 400 w 640"/>
                <a:gd name="T69" fmla="*/ 614 h 6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640" h="640">
                  <a:moveTo>
                    <a:pt x="151" y="0"/>
                  </a:moveTo>
                  <a:cubicBezTo>
                    <a:pt x="126" y="0"/>
                    <a:pt x="106" y="9"/>
                    <a:pt x="95" y="23"/>
                  </a:cubicBezTo>
                  <a:cubicBezTo>
                    <a:pt x="84" y="36"/>
                    <a:pt x="80" y="53"/>
                    <a:pt x="80" y="67"/>
                  </a:cubicBezTo>
                  <a:cubicBezTo>
                    <a:pt x="80" y="101"/>
                    <a:pt x="99" y="129"/>
                    <a:pt x="124" y="147"/>
                  </a:cubicBezTo>
                  <a:cubicBezTo>
                    <a:pt x="132" y="152"/>
                    <a:pt x="140" y="157"/>
                    <a:pt x="149" y="160"/>
                  </a:cubicBezTo>
                  <a:lnTo>
                    <a:pt x="0" y="160"/>
                  </a:lnTo>
                  <a:lnTo>
                    <a:pt x="0" y="307"/>
                  </a:lnTo>
                  <a:lnTo>
                    <a:pt x="27" y="307"/>
                  </a:lnTo>
                  <a:lnTo>
                    <a:pt x="27" y="640"/>
                  </a:lnTo>
                  <a:lnTo>
                    <a:pt x="614" y="640"/>
                  </a:lnTo>
                  <a:lnTo>
                    <a:pt x="614" y="307"/>
                  </a:lnTo>
                  <a:lnTo>
                    <a:pt x="640" y="307"/>
                  </a:lnTo>
                  <a:lnTo>
                    <a:pt x="640" y="160"/>
                  </a:lnTo>
                  <a:lnTo>
                    <a:pt x="492" y="160"/>
                  </a:lnTo>
                  <a:cubicBezTo>
                    <a:pt x="501" y="157"/>
                    <a:pt x="509" y="152"/>
                    <a:pt x="517" y="147"/>
                  </a:cubicBezTo>
                  <a:cubicBezTo>
                    <a:pt x="542" y="129"/>
                    <a:pt x="560" y="101"/>
                    <a:pt x="560" y="67"/>
                  </a:cubicBezTo>
                  <a:cubicBezTo>
                    <a:pt x="560" y="53"/>
                    <a:pt x="557" y="36"/>
                    <a:pt x="546" y="23"/>
                  </a:cubicBezTo>
                  <a:cubicBezTo>
                    <a:pt x="534" y="9"/>
                    <a:pt x="515" y="0"/>
                    <a:pt x="489" y="0"/>
                  </a:cubicBezTo>
                  <a:cubicBezTo>
                    <a:pt x="463" y="0"/>
                    <a:pt x="442" y="12"/>
                    <a:pt x="425" y="27"/>
                  </a:cubicBezTo>
                  <a:cubicBezTo>
                    <a:pt x="409" y="43"/>
                    <a:pt x="398" y="62"/>
                    <a:pt x="387" y="80"/>
                  </a:cubicBezTo>
                  <a:cubicBezTo>
                    <a:pt x="376" y="99"/>
                    <a:pt x="366" y="117"/>
                    <a:pt x="356" y="129"/>
                  </a:cubicBezTo>
                  <a:cubicBezTo>
                    <a:pt x="345" y="141"/>
                    <a:pt x="335" y="147"/>
                    <a:pt x="320" y="147"/>
                  </a:cubicBezTo>
                  <a:cubicBezTo>
                    <a:pt x="306" y="147"/>
                    <a:pt x="296" y="141"/>
                    <a:pt x="285" y="129"/>
                  </a:cubicBezTo>
                  <a:cubicBezTo>
                    <a:pt x="274" y="117"/>
                    <a:pt x="265" y="99"/>
                    <a:pt x="254" y="80"/>
                  </a:cubicBezTo>
                  <a:cubicBezTo>
                    <a:pt x="243" y="62"/>
                    <a:pt x="231" y="43"/>
                    <a:pt x="215" y="27"/>
                  </a:cubicBezTo>
                  <a:cubicBezTo>
                    <a:pt x="199" y="12"/>
                    <a:pt x="178" y="0"/>
                    <a:pt x="151" y="0"/>
                  </a:cubicBezTo>
                  <a:close/>
                  <a:moveTo>
                    <a:pt x="151" y="27"/>
                  </a:moveTo>
                  <a:cubicBezTo>
                    <a:pt x="171" y="27"/>
                    <a:pt x="184" y="34"/>
                    <a:pt x="197" y="46"/>
                  </a:cubicBezTo>
                  <a:cubicBezTo>
                    <a:pt x="209" y="58"/>
                    <a:pt x="220" y="76"/>
                    <a:pt x="231" y="94"/>
                  </a:cubicBezTo>
                  <a:cubicBezTo>
                    <a:pt x="241" y="112"/>
                    <a:pt x="252" y="131"/>
                    <a:pt x="265" y="146"/>
                  </a:cubicBezTo>
                  <a:cubicBezTo>
                    <a:pt x="266" y="147"/>
                    <a:pt x="266" y="147"/>
                    <a:pt x="266" y="147"/>
                  </a:cubicBezTo>
                  <a:lnTo>
                    <a:pt x="214" y="147"/>
                  </a:lnTo>
                  <a:cubicBezTo>
                    <a:pt x="187" y="147"/>
                    <a:pt x="159" y="139"/>
                    <a:pt x="139" y="125"/>
                  </a:cubicBezTo>
                  <a:cubicBezTo>
                    <a:pt x="119" y="111"/>
                    <a:pt x="107" y="92"/>
                    <a:pt x="107" y="67"/>
                  </a:cubicBezTo>
                  <a:cubicBezTo>
                    <a:pt x="107" y="57"/>
                    <a:pt x="110" y="47"/>
                    <a:pt x="116" y="40"/>
                  </a:cubicBezTo>
                  <a:cubicBezTo>
                    <a:pt x="121" y="33"/>
                    <a:pt x="131" y="27"/>
                    <a:pt x="151" y="27"/>
                  </a:cubicBezTo>
                  <a:close/>
                  <a:moveTo>
                    <a:pt x="489" y="27"/>
                  </a:moveTo>
                  <a:cubicBezTo>
                    <a:pt x="510" y="27"/>
                    <a:pt x="519" y="33"/>
                    <a:pt x="525" y="40"/>
                  </a:cubicBezTo>
                  <a:cubicBezTo>
                    <a:pt x="531" y="47"/>
                    <a:pt x="534" y="57"/>
                    <a:pt x="534" y="67"/>
                  </a:cubicBezTo>
                  <a:cubicBezTo>
                    <a:pt x="534" y="92"/>
                    <a:pt x="521" y="111"/>
                    <a:pt x="501" y="125"/>
                  </a:cubicBezTo>
                  <a:cubicBezTo>
                    <a:pt x="482" y="139"/>
                    <a:pt x="454" y="147"/>
                    <a:pt x="427" y="147"/>
                  </a:cubicBezTo>
                  <a:lnTo>
                    <a:pt x="375" y="147"/>
                  </a:lnTo>
                  <a:cubicBezTo>
                    <a:pt x="375" y="147"/>
                    <a:pt x="375" y="147"/>
                    <a:pt x="376" y="146"/>
                  </a:cubicBezTo>
                  <a:cubicBezTo>
                    <a:pt x="389" y="131"/>
                    <a:pt x="399" y="112"/>
                    <a:pt x="410" y="94"/>
                  </a:cubicBezTo>
                  <a:cubicBezTo>
                    <a:pt x="421" y="76"/>
                    <a:pt x="431" y="58"/>
                    <a:pt x="444" y="46"/>
                  </a:cubicBezTo>
                  <a:cubicBezTo>
                    <a:pt x="456" y="34"/>
                    <a:pt x="470" y="27"/>
                    <a:pt x="489" y="27"/>
                  </a:cubicBezTo>
                  <a:close/>
                  <a:moveTo>
                    <a:pt x="27" y="187"/>
                  </a:moveTo>
                  <a:lnTo>
                    <a:pt x="240" y="187"/>
                  </a:lnTo>
                  <a:lnTo>
                    <a:pt x="240" y="280"/>
                  </a:lnTo>
                  <a:lnTo>
                    <a:pt x="27" y="280"/>
                  </a:lnTo>
                  <a:lnTo>
                    <a:pt x="27" y="187"/>
                  </a:lnTo>
                  <a:close/>
                  <a:moveTo>
                    <a:pt x="267" y="187"/>
                  </a:moveTo>
                  <a:lnTo>
                    <a:pt x="374" y="187"/>
                  </a:lnTo>
                  <a:cubicBezTo>
                    <a:pt x="374" y="329"/>
                    <a:pt x="374" y="471"/>
                    <a:pt x="374" y="614"/>
                  </a:cubicBezTo>
                  <a:lnTo>
                    <a:pt x="267" y="614"/>
                  </a:lnTo>
                  <a:cubicBezTo>
                    <a:pt x="267" y="471"/>
                    <a:pt x="267" y="329"/>
                    <a:pt x="267" y="187"/>
                  </a:cubicBezTo>
                  <a:close/>
                  <a:moveTo>
                    <a:pt x="400" y="187"/>
                  </a:moveTo>
                  <a:lnTo>
                    <a:pt x="614" y="187"/>
                  </a:lnTo>
                  <a:lnTo>
                    <a:pt x="614" y="280"/>
                  </a:lnTo>
                  <a:lnTo>
                    <a:pt x="400" y="280"/>
                  </a:lnTo>
                  <a:lnTo>
                    <a:pt x="400" y="187"/>
                  </a:lnTo>
                  <a:close/>
                  <a:moveTo>
                    <a:pt x="54" y="307"/>
                  </a:moveTo>
                  <a:lnTo>
                    <a:pt x="240" y="307"/>
                  </a:lnTo>
                  <a:lnTo>
                    <a:pt x="240" y="614"/>
                  </a:lnTo>
                  <a:lnTo>
                    <a:pt x="54" y="614"/>
                  </a:lnTo>
                  <a:lnTo>
                    <a:pt x="54" y="307"/>
                  </a:lnTo>
                  <a:close/>
                  <a:moveTo>
                    <a:pt x="400" y="307"/>
                  </a:moveTo>
                  <a:lnTo>
                    <a:pt x="587" y="307"/>
                  </a:lnTo>
                  <a:lnTo>
                    <a:pt x="587" y="614"/>
                  </a:lnTo>
                  <a:lnTo>
                    <a:pt x="400" y="614"/>
                  </a:lnTo>
                  <a:lnTo>
                    <a:pt x="400" y="307"/>
                  </a:lnTo>
                  <a:close/>
                </a:path>
              </a:pathLst>
            </a:custGeom>
            <a:solidFill>
              <a:srgbClr val="5F5F5F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sp>
        <p:nvSpPr>
          <p:cNvPr id="555" name="모서리가 둥근 직사각형 554">
            <a:extLst>
              <a:ext uri="{FF2B5EF4-FFF2-40B4-BE49-F238E27FC236}">
                <a16:creationId xmlns="" xmlns:a16="http://schemas.microsoft.com/office/drawing/2014/main" id="{19FD5FA0-B111-4EF7-BC86-418441928DD3}"/>
              </a:ext>
            </a:extLst>
          </p:cNvPr>
          <p:cNvSpPr/>
          <p:nvPr/>
        </p:nvSpPr>
        <p:spPr>
          <a:xfrm>
            <a:off x="1153453" y="5964803"/>
            <a:ext cx="864000" cy="359942"/>
          </a:xfrm>
          <a:prstGeom prst="roundRect">
            <a:avLst>
              <a:gd name="adj" fmla="val 9391"/>
            </a:avLst>
          </a:prstGeom>
          <a:solidFill>
            <a:schemeClr val="bg1"/>
          </a:solidFill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700" b="1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쇼핑백</a:t>
            </a:r>
            <a:endParaRPr lang="ko-KR" altLang="en-US" sz="700" b="1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15" name="타원 14"/>
          <p:cNvSpPr/>
          <p:nvPr/>
        </p:nvSpPr>
        <p:spPr>
          <a:xfrm>
            <a:off x="289407" y="4418187"/>
            <a:ext cx="144000" cy="144000"/>
          </a:xfrm>
          <a:prstGeom prst="ellipse">
            <a:avLst/>
          </a:prstGeom>
          <a:gradFill flip="none" rotWithShape="1">
            <a:gsLst>
              <a:gs pos="0">
                <a:srgbClr val="9900CC"/>
              </a:gs>
              <a:gs pos="50000">
                <a:srgbClr val="A66BD3"/>
              </a:gs>
              <a:gs pos="100000">
                <a:srgbClr val="CC00CC"/>
              </a:gs>
            </a:gsLst>
            <a:path path="circle">
              <a:fillToRect l="100000" t="100000"/>
            </a:path>
            <a:tileRect r="-100000" b="-100000"/>
          </a:gra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6" name="포인트가 4개인 별 15"/>
          <p:cNvSpPr/>
          <p:nvPr/>
        </p:nvSpPr>
        <p:spPr>
          <a:xfrm>
            <a:off x="289407" y="4418187"/>
            <a:ext cx="144000" cy="144000"/>
          </a:xfrm>
          <a:prstGeom prst="star4">
            <a:avLst>
              <a:gd name="adj" fmla="val 20751"/>
            </a:avLst>
          </a:pr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53" name="TextBox 652">
            <a:extLst>
              <a:ext uri="{FF2B5EF4-FFF2-40B4-BE49-F238E27FC236}">
                <a16:creationId xmlns="" xmlns:a16="http://schemas.microsoft.com/office/drawing/2014/main" id="{0C96C875-C47F-4F5B-B4C1-F9D666A7BD9D}"/>
              </a:ext>
            </a:extLst>
          </p:cNvPr>
          <p:cNvSpPr txBox="1"/>
          <p:nvPr/>
        </p:nvSpPr>
        <p:spPr>
          <a:xfrm>
            <a:off x="289407" y="4399975"/>
            <a:ext cx="811220" cy="180425"/>
          </a:xfrm>
          <a:prstGeom prst="rect">
            <a:avLst/>
          </a:prstGeom>
          <a:noFill/>
          <a:ln w="317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180000" tIns="36000" rIns="36000" bIns="36000" numCol="1" rtlCol="0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altLang="ko-KR" sz="700" b="1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AI </a:t>
            </a:r>
            <a:r>
              <a:rPr lang="ko-KR" altLang="en-US" sz="700" b="1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핏 리포트 </a:t>
            </a:r>
            <a:r>
              <a:rPr lang="en-US" altLang="ko-KR" sz="700" b="1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〉</a:t>
            </a:r>
            <a:endParaRPr lang="ko-KR" altLang="en-US" sz="700" b="1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654" name="타원 653"/>
          <p:cNvSpPr/>
          <p:nvPr/>
        </p:nvSpPr>
        <p:spPr>
          <a:xfrm>
            <a:off x="1102650" y="4418199"/>
            <a:ext cx="143977" cy="143976"/>
          </a:xfrm>
          <a:prstGeom prst="ellipse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7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?</a:t>
            </a:r>
            <a:endParaRPr lang="ko-KR" altLang="en-US" sz="70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57" name="TextBox 656">
            <a:extLst>
              <a:ext uri="{FF2B5EF4-FFF2-40B4-BE49-F238E27FC236}">
                <a16:creationId xmlns="" xmlns:a16="http://schemas.microsoft.com/office/drawing/2014/main" id="{0C96C875-C47F-4F5B-B4C1-F9D666A7BD9D}"/>
              </a:ext>
            </a:extLst>
          </p:cNvPr>
          <p:cNvSpPr txBox="1"/>
          <p:nvPr/>
        </p:nvSpPr>
        <p:spPr>
          <a:xfrm>
            <a:off x="289407" y="4689091"/>
            <a:ext cx="2251185" cy="180425"/>
          </a:xfrm>
          <a:prstGeom prst="rect">
            <a:avLst/>
          </a:prstGeom>
          <a:noFill/>
          <a:ln w="317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36000" tIns="36000" rIns="36000" bIns="36000" numCol="1" rtlCol="0" anchor="ctr" anchorCtr="0" compatLnSpc="1">
            <a:prstTxWarp prst="textNoShape">
              <a:avLst/>
            </a:prstTxWarp>
            <a:spAutoFit/>
          </a:bodyPr>
          <a:lstStyle/>
          <a:p>
            <a:r>
              <a:rPr lang="ko-KR" altLang="en-US" sz="700" b="1" smtClean="0">
                <a:solidFill>
                  <a:srgbClr val="0070C0"/>
                </a:solidFill>
                <a:latin typeface="맑은 고딕" panose="020B0503020000020004" pitchFamily="50" charset="-127"/>
              </a:rPr>
              <a:t>매장상품 배송</a:t>
            </a:r>
            <a:r>
              <a:rPr lang="ko-KR" altLang="en-US" sz="700" b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 </a:t>
            </a:r>
            <a:r>
              <a:rPr lang="ko-KR" altLang="en-US" sz="7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서비스는 평균</a:t>
            </a:r>
            <a:r>
              <a:rPr lang="ko-KR" altLang="en-US" sz="700" b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 </a:t>
            </a:r>
            <a:r>
              <a:rPr lang="en-US" altLang="ko-KR" sz="700" b="1">
                <a:solidFill>
                  <a:srgbClr val="0070C0"/>
                </a:solidFill>
                <a:latin typeface="맑은 고딕" panose="020B0503020000020004" pitchFamily="50" charset="-127"/>
              </a:rPr>
              <a:t>5~7</a:t>
            </a:r>
            <a:r>
              <a:rPr lang="en-US" altLang="ko-KR" sz="700" b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 </a:t>
            </a:r>
            <a:r>
              <a:rPr lang="ko-KR" altLang="en-US" sz="7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영업일 소요됩니다</a:t>
            </a:r>
            <a:r>
              <a:rPr lang="en-US" altLang="ko-KR" sz="7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.</a:t>
            </a:r>
            <a:endParaRPr lang="en-US" altLang="ko-KR" sz="70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</a:endParaRPr>
          </a:p>
        </p:txBody>
      </p:sp>
      <p:grpSp>
        <p:nvGrpSpPr>
          <p:cNvPr id="2" name="그룹 1"/>
          <p:cNvGrpSpPr/>
          <p:nvPr/>
        </p:nvGrpSpPr>
        <p:grpSpPr>
          <a:xfrm>
            <a:off x="4824187" y="709700"/>
            <a:ext cx="2880509" cy="5688023"/>
            <a:chOff x="4824187" y="709700"/>
            <a:chExt cx="2880509" cy="5688023"/>
          </a:xfrm>
        </p:grpSpPr>
        <p:grpSp>
          <p:nvGrpSpPr>
            <p:cNvPr id="6" name="그룹 5"/>
            <p:cNvGrpSpPr/>
            <p:nvPr/>
          </p:nvGrpSpPr>
          <p:grpSpPr>
            <a:xfrm>
              <a:off x="4824187" y="709700"/>
              <a:ext cx="2880000" cy="5687074"/>
              <a:chOff x="4824187" y="709700"/>
              <a:chExt cx="2880000" cy="5687074"/>
            </a:xfrm>
          </p:grpSpPr>
          <p:sp>
            <p:nvSpPr>
              <p:cNvPr id="272" name="TextBox 271">
                <a:extLst>
                  <a:ext uri="{FF2B5EF4-FFF2-40B4-BE49-F238E27FC236}">
                    <a16:creationId xmlns="" xmlns:a16="http://schemas.microsoft.com/office/drawing/2014/main" id="{0C96C875-C47F-4F5B-B4C1-F9D666A7BD9D}"/>
                  </a:ext>
                </a:extLst>
              </p:cNvPr>
              <p:cNvSpPr txBox="1"/>
              <p:nvPr/>
            </p:nvSpPr>
            <p:spPr>
              <a:xfrm>
                <a:off x="4968163" y="1086156"/>
                <a:ext cx="463836" cy="180425"/>
              </a:xfrm>
              <a:prstGeom prst="rect">
                <a:avLst/>
              </a:prstGeom>
              <a:noFill/>
              <a:ln w="3175" cap="flat" cmpd="sng" algn="ctr">
                <a:noFill/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txBody>
              <a:bodyPr vert="horz" wrap="none" lIns="36000" tIns="36000" rIns="36000" bIns="36000" numCol="1" rtlCol="0" anchor="ctr" anchorCtr="0" compatLnSpc="1">
                <a:prstTxWarp prst="textNoShape">
                  <a:avLst/>
                </a:prstTxWarp>
                <a:spAutoFit/>
              </a:bodyPr>
              <a:lstStyle/>
              <a:p>
                <a:r>
                  <a:rPr lang="ko-KR" altLang="en-US" sz="700" b="1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맑은 고딕" panose="020B0503020000020004" pitchFamily="50" charset="-127"/>
                  </a:rPr>
                  <a:t>컬러</a:t>
                </a:r>
                <a:r>
                  <a:rPr lang="ko-KR" altLang="en-US" sz="700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맑은 고딕" panose="020B0503020000020004" pitchFamily="50" charset="-127"/>
                  </a:rPr>
                  <a:t> 블랙</a:t>
                </a:r>
                <a:endParaRPr lang="ko-KR" altLang="en-US" sz="7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endParaRPr>
              </a:p>
            </p:txBody>
          </p:sp>
          <p:cxnSp>
            <p:nvCxnSpPr>
              <p:cNvPr id="273" name="직선 연결선 272"/>
              <p:cNvCxnSpPr/>
              <p:nvPr/>
            </p:nvCxnSpPr>
            <p:spPr>
              <a:xfrm>
                <a:off x="4968163" y="709700"/>
                <a:ext cx="2591578" cy="0"/>
              </a:xfrm>
              <a:prstGeom prst="line">
                <a:avLst/>
              </a:prstGeom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74" name="TextBox 273">
                <a:extLst>
                  <a:ext uri="{FF2B5EF4-FFF2-40B4-BE49-F238E27FC236}">
                    <a16:creationId xmlns="" xmlns:a16="http://schemas.microsoft.com/office/drawing/2014/main" id="{0C96C875-C47F-4F5B-B4C1-F9D666A7BD9D}"/>
                  </a:ext>
                </a:extLst>
              </p:cNvPr>
              <p:cNvSpPr txBox="1"/>
              <p:nvPr/>
            </p:nvSpPr>
            <p:spPr>
              <a:xfrm>
                <a:off x="4968164" y="791898"/>
                <a:ext cx="519941" cy="195814"/>
              </a:xfrm>
              <a:prstGeom prst="rect">
                <a:avLst/>
              </a:prstGeom>
              <a:noFill/>
              <a:ln w="3175" cap="flat" cmpd="sng" algn="ctr">
                <a:noFill/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txBody>
              <a:bodyPr vert="horz" wrap="none" lIns="36000" tIns="36000" rIns="36000" bIns="36000" numCol="1" rtlCol="0" anchor="ctr" anchorCtr="0" compatLnSpc="1">
                <a:prstTxWarp prst="textNoShape">
                  <a:avLst/>
                </a:prstTxWarp>
                <a:spAutoFit/>
              </a:bodyPr>
              <a:lstStyle/>
              <a:p>
                <a:r>
                  <a:rPr lang="ko-KR" altLang="en-US" sz="800" b="1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맑은 고딕" panose="020B0503020000020004" pitchFamily="50" charset="-127"/>
                  </a:rPr>
                  <a:t>옵션 선택</a:t>
                </a:r>
                <a:endParaRPr lang="en-US" altLang="ko-KR" sz="800" b="1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endParaRPr>
              </a:p>
            </p:txBody>
          </p:sp>
          <p:sp>
            <p:nvSpPr>
              <p:cNvPr id="275" name="모서리가 둥근 직사각형 274"/>
              <p:cNvSpPr/>
              <p:nvPr/>
            </p:nvSpPr>
            <p:spPr>
              <a:xfrm>
                <a:off x="4968163" y="1285766"/>
                <a:ext cx="432000" cy="539912"/>
              </a:xfrm>
              <a:prstGeom prst="roundRect">
                <a:avLst>
                  <a:gd name="adj" fmla="val 11375"/>
                </a:avLst>
              </a:prstGeom>
              <a:pattFill prst="openDmnd">
                <a:fgClr>
                  <a:schemeClr val="bg1">
                    <a:lumMod val="85000"/>
                  </a:schemeClr>
                </a:fgClr>
                <a:bgClr>
                  <a:schemeClr val="bg1"/>
                </a:bgClr>
              </a:pattFill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ko-KR" sz="600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맑은 고딕" panose="020B0503020000020004" pitchFamily="50" charset="-127"/>
                  </a:rPr>
                  <a:t>PROD</a:t>
                </a:r>
              </a:p>
              <a:p>
                <a:pPr algn="ctr"/>
                <a:r>
                  <a:rPr lang="en-US" altLang="ko-KR" sz="600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맑은 고딕" panose="020B0503020000020004" pitchFamily="50" charset="-127"/>
                  </a:rPr>
                  <a:t>IMG</a:t>
                </a:r>
                <a:endParaRPr lang="ko-KR" altLang="en-US" sz="60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endParaRPr>
              </a:p>
            </p:txBody>
          </p:sp>
          <p:sp>
            <p:nvSpPr>
              <p:cNvPr id="276" name="모서리가 둥근 직사각형 275"/>
              <p:cNvSpPr/>
              <p:nvPr/>
            </p:nvSpPr>
            <p:spPr>
              <a:xfrm>
                <a:off x="5472584" y="1285766"/>
                <a:ext cx="432000" cy="539912"/>
              </a:xfrm>
              <a:prstGeom prst="roundRect">
                <a:avLst>
                  <a:gd name="adj" fmla="val 11375"/>
                </a:avLst>
              </a:prstGeom>
              <a:pattFill prst="openDmnd">
                <a:fgClr>
                  <a:schemeClr val="bg1">
                    <a:lumMod val="85000"/>
                  </a:schemeClr>
                </a:fgClr>
                <a:bgClr>
                  <a:schemeClr val="bg1"/>
                </a:bgClr>
              </a:pattFill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ko-KR" sz="600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맑은 고딕" panose="020B0503020000020004" pitchFamily="50" charset="-127"/>
                  </a:rPr>
                  <a:t>PROD</a:t>
                </a:r>
              </a:p>
              <a:p>
                <a:pPr algn="ctr"/>
                <a:r>
                  <a:rPr lang="en-US" altLang="ko-KR" sz="600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맑은 고딕" panose="020B0503020000020004" pitchFamily="50" charset="-127"/>
                  </a:rPr>
                  <a:t>IMG</a:t>
                </a:r>
                <a:endParaRPr lang="ko-KR" altLang="en-US" sz="60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endParaRPr>
              </a:p>
            </p:txBody>
          </p:sp>
          <p:sp>
            <p:nvSpPr>
              <p:cNvPr id="277" name="TextBox 276">
                <a:extLst>
                  <a:ext uri="{FF2B5EF4-FFF2-40B4-BE49-F238E27FC236}">
                    <a16:creationId xmlns="" xmlns:a16="http://schemas.microsoft.com/office/drawing/2014/main" id="{0C96C875-C47F-4F5B-B4C1-F9D666A7BD9D}"/>
                  </a:ext>
                </a:extLst>
              </p:cNvPr>
              <p:cNvSpPr txBox="1"/>
              <p:nvPr/>
            </p:nvSpPr>
            <p:spPr>
              <a:xfrm>
                <a:off x="4968163" y="1915377"/>
                <a:ext cx="342008" cy="180425"/>
              </a:xfrm>
              <a:prstGeom prst="rect">
                <a:avLst/>
              </a:prstGeom>
              <a:noFill/>
              <a:ln w="3175" cap="flat" cmpd="sng" algn="ctr">
                <a:noFill/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txBody>
              <a:bodyPr vert="horz" wrap="none" lIns="36000" tIns="36000" rIns="36000" bIns="36000" numCol="1" rtlCol="0" anchor="ctr" anchorCtr="0" compatLnSpc="1">
                <a:prstTxWarp prst="textNoShape">
                  <a:avLst/>
                </a:prstTxWarp>
                <a:spAutoFit/>
              </a:bodyPr>
              <a:lstStyle/>
              <a:p>
                <a:r>
                  <a:rPr lang="ko-KR" altLang="en-US" sz="700" b="1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맑은 고딕" panose="020B0503020000020004" pitchFamily="50" charset="-127"/>
                  </a:rPr>
                  <a:t>사이즈</a:t>
                </a:r>
                <a:endParaRPr lang="ko-KR" altLang="en-US" sz="7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endParaRPr>
              </a:p>
            </p:txBody>
          </p:sp>
          <p:sp>
            <p:nvSpPr>
              <p:cNvPr id="278" name="모서리가 둥근 직사각형 277"/>
              <p:cNvSpPr/>
              <p:nvPr/>
            </p:nvSpPr>
            <p:spPr>
              <a:xfrm>
                <a:off x="4968163" y="2114511"/>
                <a:ext cx="359942" cy="288000"/>
              </a:xfrm>
              <a:prstGeom prst="roundRect">
                <a:avLst>
                  <a:gd name="adj" fmla="val 11375"/>
                </a:avLst>
              </a:prstGeom>
              <a:solidFill>
                <a:schemeClr val="bg1"/>
              </a:solidFill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ko-KR" sz="800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맑은 고딕" panose="020B0503020000020004" pitchFamily="50" charset="-127"/>
                  </a:rPr>
                  <a:t>95</a:t>
                </a:r>
                <a:endParaRPr lang="ko-KR" altLang="en-US" sz="80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endParaRPr>
              </a:p>
            </p:txBody>
          </p:sp>
          <p:sp>
            <p:nvSpPr>
              <p:cNvPr id="279" name="모서리가 둥근 직사각형 278"/>
              <p:cNvSpPr/>
              <p:nvPr/>
            </p:nvSpPr>
            <p:spPr>
              <a:xfrm>
                <a:off x="5401029" y="2114511"/>
                <a:ext cx="359942" cy="288000"/>
              </a:xfrm>
              <a:prstGeom prst="roundRect">
                <a:avLst>
                  <a:gd name="adj" fmla="val 11375"/>
                </a:avLst>
              </a:prstGeom>
              <a:solidFill>
                <a:schemeClr val="bg1"/>
              </a:solidFill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ko-KR" sz="8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맑은 고딕" panose="020B0503020000020004" pitchFamily="50" charset="-127"/>
                  </a:rPr>
                  <a:t>100</a:t>
                </a:r>
                <a:endParaRPr lang="ko-KR" altLang="en-US" sz="80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endParaRPr>
              </a:p>
            </p:txBody>
          </p:sp>
          <p:sp>
            <p:nvSpPr>
              <p:cNvPr id="280" name="모서리가 둥근 직사각형 279"/>
              <p:cNvSpPr/>
              <p:nvPr/>
            </p:nvSpPr>
            <p:spPr>
              <a:xfrm>
                <a:off x="5832764" y="2114511"/>
                <a:ext cx="359942" cy="288000"/>
              </a:xfrm>
              <a:prstGeom prst="roundRect">
                <a:avLst>
                  <a:gd name="adj" fmla="val 11375"/>
                </a:avLst>
              </a:prstGeom>
              <a:solidFill>
                <a:schemeClr val="accent1">
                  <a:lumMod val="20000"/>
                  <a:lumOff val="80000"/>
                </a:schemeClr>
              </a:solidFill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ko-KR" sz="800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맑은 고딕" panose="020B0503020000020004" pitchFamily="50" charset="-127"/>
                  </a:rPr>
                  <a:t>105</a:t>
                </a:r>
                <a:endParaRPr lang="ko-KR" altLang="en-US" sz="80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endParaRPr>
              </a:p>
            </p:txBody>
          </p:sp>
          <p:sp>
            <p:nvSpPr>
              <p:cNvPr id="281" name="모서리가 둥근 직사각형 280"/>
              <p:cNvSpPr/>
              <p:nvPr/>
            </p:nvSpPr>
            <p:spPr>
              <a:xfrm>
                <a:off x="6263440" y="2114511"/>
                <a:ext cx="359942" cy="288000"/>
              </a:xfrm>
              <a:prstGeom prst="roundRect">
                <a:avLst>
                  <a:gd name="adj" fmla="val 11375"/>
                </a:avLst>
              </a:prstGeom>
              <a:solidFill>
                <a:schemeClr val="bg1"/>
              </a:solidFill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ko-KR" sz="800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맑은 고딕" panose="020B0503020000020004" pitchFamily="50" charset="-127"/>
                  </a:rPr>
                  <a:t>110</a:t>
                </a:r>
                <a:endParaRPr lang="ko-KR" altLang="en-US" sz="80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endParaRPr>
              </a:p>
            </p:txBody>
          </p:sp>
          <p:sp>
            <p:nvSpPr>
              <p:cNvPr id="282" name="모서리가 둥근 직사각형 281"/>
              <p:cNvSpPr/>
              <p:nvPr/>
            </p:nvSpPr>
            <p:spPr>
              <a:xfrm>
                <a:off x="6696109" y="2114511"/>
                <a:ext cx="359942" cy="288000"/>
              </a:xfrm>
              <a:prstGeom prst="roundRect">
                <a:avLst>
                  <a:gd name="adj" fmla="val 11375"/>
                </a:avLst>
              </a:prstGeom>
              <a:solidFill>
                <a:schemeClr val="bg1"/>
              </a:solidFill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ko-KR" sz="800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맑은 고딕" panose="020B0503020000020004" pitchFamily="50" charset="-127"/>
                  </a:rPr>
                  <a:t>115</a:t>
                </a:r>
                <a:endParaRPr lang="ko-KR" altLang="en-US" sz="80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endParaRPr>
              </a:p>
            </p:txBody>
          </p:sp>
          <p:sp>
            <p:nvSpPr>
              <p:cNvPr id="283" name="모서리가 둥근 직사각형 282"/>
              <p:cNvSpPr/>
              <p:nvPr/>
            </p:nvSpPr>
            <p:spPr>
              <a:xfrm>
                <a:off x="7128632" y="2114511"/>
                <a:ext cx="359942" cy="288000"/>
              </a:xfrm>
              <a:prstGeom prst="roundRect">
                <a:avLst>
                  <a:gd name="adj" fmla="val 11375"/>
                </a:avLst>
              </a:prstGeom>
              <a:solidFill>
                <a:schemeClr val="bg1">
                  <a:lumMod val="95000"/>
                </a:schemeClr>
              </a:solidFill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ko-KR" sz="800" strike="sngStrike" smtClean="0">
                    <a:solidFill>
                      <a:schemeClr val="bg1">
                        <a:lumMod val="75000"/>
                      </a:schemeClr>
                    </a:solidFill>
                    <a:latin typeface="맑은 고딕" panose="020B0503020000020004" pitchFamily="50" charset="-127"/>
                  </a:rPr>
                  <a:t>120</a:t>
                </a:r>
                <a:endParaRPr lang="ko-KR" altLang="en-US" sz="800" strike="sngStrike">
                  <a:solidFill>
                    <a:schemeClr val="bg1">
                      <a:lumMod val="75000"/>
                    </a:schemeClr>
                  </a:solidFill>
                  <a:latin typeface="맑은 고딕" panose="020B0503020000020004" pitchFamily="50" charset="-127"/>
                </a:endParaRPr>
              </a:p>
            </p:txBody>
          </p:sp>
          <p:grpSp>
            <p:nvGrpSpPr>
              <p:cNvPr id="284" name="그룹 283"/>
              <p:cNvGrpSpPr/>
              <p:nvPr/>
            </p:nvGrpSpPr>
            <p:grpSpPr>
              <a:xfrm>
                <a:off x="7343331" y="2077802"/>
                <a:ext cx="179970" cy="179970"/>
                <a:chOff x="7589341" y="3009028"/>
                <a:chExt cx="180000" cy="180000"/>
              </a:xfrm>
            </p:grpSpPr>
            <p:sp>
              <p:nvSpPr>
                <p:cNvPr id="285" name="타원 284"/>
                <p:cNvSpPr/>
                <p:nvPr/>
              </p:nvSpPr>
              <p:spPr>
                <a:xfrm>
                  <a:off x="7589341" y="3009028"/>
                  <a:ext cx="180000" cy="180000"/>
                </a:xfrm>
                <a:prstGeom prst="ellipse">
                  <a:avLst/>
                </a:prstGeom>
                <a:solidFill>
                  <a:schemeClr val="bg1"/>
                </a:solidFill>
                <a:ln w="3175"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endParaRPr lang="ko-KR" altLang="en-US" sz="500" b="1">
                    <a:solidFill>
                      <a:schemeClr val="bg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endParaRPr>
                </a:p>
              </p:txBody>
            </p:sp>
            <p:grpSp>
              <p:nvGrpSpPr>
                <p:cNvPr id="286" name="그룹 285"/>
                <p:cNvGrpSpPr/>
                <p:nvPr/>
              </p:nvGrpSpPr>
              <p:grpSpPr>
                <a:xfrm>
                  <a:off x="7625341" y="3045028"/>
                  <a:ext cx="108000" cy="108000"/>
                  <a:chOff x="531806" y="1604594"/>
                  <a:chExt cx="180000" cy="180738"/>
                </a:xfrm>
              </p:grpSpPr>
              <p:grpSp>
                <p:nvGrpSpPr>
                  <p:cNvPr id="287" name="그룹 286"/>
                  <p:cNvGrpSpPr/>
                  <p:nvPr/>
                </p:nvGrpSpPr>
                <p:grpSpPr>
                  <a:xfrm>
                    <a:off x="549806" y="1604594"/>
                    <a:ext cx="144000" cy="180738"/>
                    <a:chOff x="691953" y="1723346"/>
                    <a:chExt cx="144000" cy="180738"/>
                  </a:xfrm>
                  <a:solidFill>
                    <a:schemeClr val="bg1"/>
                  </a:solidFill>
                </p:grpSpPr>
                <p:sp>
                  <p:nvSpPr>
                    <p:cNvPr id="289" name="양쪽 모서리가 둥근 사각형 288"/>
                    <p:cNvSpPr/>
                    <p:nvPr/>
                  </p:nvSpPr>
                  <p:spPr>
                    <a:xfrm>
                      <a:off x="700953" y="1723346"/>
                      <a:ext cx="126000" cy="126000"/>
                    </a:xfrm>
                    <a:prstGeom prst="round2SameRect">
                      <a:avLst>
                        <a:gd name="adj1" fmla="val 50000"/>
                        <a:gd name="adj2" fmla="val 0"/>
                      </a:avLst>
                    </a:prstGeom>
                    <a:grpFill/>
                    <a:ln w="3175">
                      <a:solidFill>
                        <a:srgbClr val="DC2832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7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p:txBody>
                </p:sp>
                <p:sp>
                  <p:nvSpPr>
                    <p:cNvPr id="290" name="타원 289"/>
                    <p:cNvSpPr/>
                    <p:nvPr/>
                  </p:nvSpPr>
                  <p:spPr>
                    <a:xfrm>
                      <a:off x="736953" y="1850084"/>
                      <a:ext cx="54000" cy="54000"/>
                    </a:xfrm>
                    <a:prstGeom prst="ellipse">
                      <a:avLst/>
                    </a:prstGeom>
                    <a:grpFill/>
                    <a:ln w="3175">
                      <a:solidFill>
                        <a:srgbClr val="DC2832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7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p:txBody>
                </p:sp>
                <p:sp>
                  <p:nvSpPr>
                    <p:cNvPr id="291" name="직사각형 290"/>
                    <p:cNvSpPr/>
                    <p:nvPr/>
                  </p:nvSpPr>
                  <p:spPr>
                    <a:xfrm>
                      <a:off x="691953" y="1811453"/>
                      <a:ext cx="144000" cy="18000"/>
                    </a:xfrm>
                    <a:prstGeom prst="rect">
                      <a:avLst/>
                    </a:prstGeom>
                    <a:grpFill/>
                    <a:ln w="3175"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7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p:txBody>
                </p:sp>
                <p:sp>
                  <p:nvSpPr>
                    <p:cNvPr id="292" name="직사각형 291"/>
                    <p:cNvSpPr/>
                    <p:nvPr/>
                  </p:nvSpPr>
                  <p:spPr>
                    <a:xfrm>
                      <a:off x="691953" y="1859609"/>
                      <a:ext cx="144000" cy="18000"/>
                    </a:xfrm>
                    <a:prstGeom prst="rect">
                      <a:avLst/>
                    </a:prstGeom>
                    <a:grpFill/>
                    <a:ln w="3175"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7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p:txBody>
                </p:sp>
                <p:sp>
                  <p:nvSpPr>
                    <p:cNvPr id="293" name="직사각형 292"/>
                    <p:cNvSpPr/>
                    <p:nvPr/>
                  </p:nvSpPr>
                  <p:spPr>
                    <a:xfrm>
                      <a:off x="691953" y="1832609"/>
                      <a:ext cx="144000" cy="25200"/>
                    </a:xfrm>
                    <a:prstGeom prst="rect">
                      <a:avLst/>
                    </a:prstGeom>
                    <a:grpFill/>
                    <a:ln w="3175">
                      <a:solidFill>
                        <a:srgbClr val="DC2832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7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p:txBody>
                </p:sp>
              </p:grpSp>
              <p:sp>
                <p:nvSpPr>
                  <p:cNvPr id="288" name="직사각형 287"/>
                  <p:cNvSpPr/>
                  <p:nvPr/>
                </p:nvSpPr>
                <p:spPr>
                  <a:xfrm>
                    <a:off x="531806" y="1604594"/>
                    <a:ext cx="180000" cy="180000"/>
                  </a:xfrm>
                  <a:prstGeom prst="rect">
                    <a:avLst/>
                  </a:prstGeom>
                  <a:noFill/>
                  <a:ln w="3175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 sz="70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맑은 고딕" panose="020B0503020000020004" pitchFamily="50" charset="-127"/>
                      <a:ea typeface="맑은 고딕" panose="020B0503020000020004" pitchFamily="50" charset="-127"/>
                    </a:endParaRPr>
                  </a:p>
                </p:txBody>
              </p:sp>
            </p:grpSp>
          </p:grpSp>
          <p:sp>
            <p:nvSpPr>
              <p:cNvPr id="294" name="TextBox 293">
                <a:extLst>
                  <a:ext uri="{FF2B5EF4-FFF2-40B4-BE49-F238E27FC236}">
                    <a16:creationId xmlns="" xmlns:a16="http://schemas.microsoft.com/office/drawing/2014/main" id="{0C96C875-C47F-4F5B-B4C1-F9D666A7BD9D}"/>
                  </a:ext>
                </a:extLst>
              </p:cNvPr>
              <p:cNvSpPr txBox="1"/>
              <p:nvPr/>
            </p:nvSpPr>
            <p:spPr>
              <a:xfrm>
                <a:off x="6958046" y="1915378"/>
                <a:ext cx="601695" cy="180425"/>
              </a:xfrm>
              <a:prstGeom prst="rect">
                <a:avLst/>
              </a:prstGeom>
              <a:noFill/>
              <a:ln w="3175" cap="flat" cmpd="sng" algn="ctr">
                <a:noFill/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txBody>
              <a:bodyPr vert="horz" wrap="none" lIns="36000" tIns="36000" rIns="36000" bIns="36000" numCol="1" rtlCol="0" anchor="ctr" anchorCtr="0" compatLnSpc="1">
                <a:prstTxWarp prst="textNoShape">
                  <a:avLst/>
                </a:prstTxWarp>
                <a:spAutoFit/>
              </a:bodyPr>
              <a:lstStyle/>
              <a:p>
                <a:pPr algn="r"/>
                <a:r>
                  <a:rPr lang="ko-KR" altLang="en-US" sz="700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맑은 고딕" panose="020B0503020000020004" pitchFamily="50" charset="-127"/>
                  </a:rPr>
                  <a:t>사이즈안내 </a:t>
                </a:r>
                <a:r>
                  <a:rPr lang="en-US" altLang="ko-KR" sz="700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맑은 고딕" panose="020B0503020000020004" pitchFamily="50" charset="-127"/>
                  </a:rPr>
                  <a:t>〉</a:t>
                </a:r>
                <a:endParaRPr lang="ko-KR" altLang="en-US" sz="7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endParaRPr>
              </a:p>
            </p:txBody>
          </p:sp>
          <p:sp>
            <p:nvSpPr>
              <p:cNvPr id="295" name="타원 294"/>
              <p:cNvSpPr/>
              <p:nvPr/>
            </p:nvSpPr>
            <p:spPr>
              <a:xfrm>
                <a:off x="5238105" y="2168511"/>
                <a:ext cx="36000" cy="36000"/>
              </a:xfrm>
              <a:prstGeom prst="ellipse">
                <a:avLst/>
              </a:prstGeom>
              <a:solidFill>
                <a:srgbClr val="C00000"/>
              </a:solidFill>
              <a:ln w="31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80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  <p:sp>
            <p:nvSpPr>
              <p:cNvPr id="296" name="TextBox 295"/>
              <p:cNvSpPr txBox="1"/>
              <p:nvPr/>
            </p:nvSpPr>
            <p:spPr>
              <a:xfrm>
                <a:off x="5022548" y="2473675"/>
                <a:ext cx="250068" cy="76944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spAutoFit/>
              </a:bodyPr>
              <a:lstStyle/>
              <a:p>
                <a:r>
                  <a:rPr lang="en-US" altLang="ko-KR" sz="500" smtClean="0">
                    <a:solidFill>
                      <a:schemeClr val="bg1">
                        <a:lumMod val="50000"/>
                      </a:schemeClr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3</a:t>
                </a:r>
                <a:r>
                  <a:rPr lang="ko-KR" altLang="en-US" sz="500" smtClean="0">
                    <a:solidFill>
                      <a:schemeClr val="bg1">
                        <a:lumMod val="50000"/>
                      </a:schemeClr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개 남음</a:t>
                </a:r>
                <a:endParaRPr lang="ko-KR" altLang="en-US" sz="500" dirty="0">
                  <a:solidFill>
                    <a:schemeClr val="bg1">
                      <a:lumMod val="50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  <p:cxnSp>
            <p:nvCxnSpPr>
              <p:cNvPr id="297" name="직선 연결선 296"/>
              <p:cNvCxnSpPr/>
              <p:nvPr/>
            </p:nvCxnSpPr>
            <p:spPr>
              <a:xfrm>
                <a:off x="4968163" y="2726138"/>
                <a:ext cx="2591578" cy="0"/>
              </a:xfrm>
              <a:prstGeom prst="line">
                <a:avLst/>
              </a:prstGeom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98" name="TextBox 297">
                <a:extLst>
                  <a:ext uri="{FF2B5EF4-FFF2-40B4-BE49-F238E27FC236}">
                    <a16:creationId xmlns="" xmlns:a16="http://schemas.microsoft.com/office/drawing/2014/main" id="{0C96C875-C47F-4F5B-B4C1-F9D666A7BD9D}"/>
                  </a:ext>
                </a:extLst>
              </p:cNvPr>
              <p:cNvSpPr txBox="1"/>
              <p:nvPr/>
            </p:nvSpPr>
            <p:spPr>
              <a:xfrm>
                <a:off x="4968164" y="2809808"/>
                <a:ext cx="901456" cy="195814"/>
              </a:xfrm>
              <a:prstGeom prst="rect">
                <a:avLst/>
              </a:prstGeom>
              <a:noFill/>
              <a:ln w="3175" cap="flat" cmpd="sng" algn="ctr">
                <a:noFill/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txBody>
              <a:bodyPr vert="horz" wrap="none" lIns="36000" tIns="36000" rIns="36000" bIns="36000" numCol="1" rtlCol="0" anchor="ctr" anchorCtr="0" compatLnSpc="1">
                <a:prstTxWarp prst="textNoShape">
                  <a:avLst/>
                </a:prstTxWarp>
                <a:spAutoFit/>
              </a:bodyPr>
              <a:lstStyle/>
              <a:p>
                <a:r>
                  <a:rPr lang="ko-KR" altLang="en-US" sz="800" b="1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맑은 고딕" panose="020B0503020000020004" pitchFamily="50" charset="-127"/>
                  </a:rPr>
                  <a:t>배송 및 혜택 안내</a:t>
                </a:r>
                <a:endParaRPr lang="en-US" altLang="ko-KR" sz="800" b="1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endParaRPr>
              </a:p>
            </p:txBody>
          </p:sp>
          <p:grpSp>
            <p:nvGrpSpPr>
              <p:cNvPr id="305" name="그룹 304"/>
              <p:cNvGrpSpPr/>
              <p:nvPr/>
            </p:nvGrpSpPr>
            <p:grpSpPr>
              <a:xfrm>
                <a:off x="5832764" y="2441086"/>
                <a:ext cx="431047" cy="215060"/>
                <a:chOff x="9792952" y="3338758"/>
                <a:chExt cx="431047" cy="215060"/>
              </a:xfrm>
            </p:grpSpPr>
            <p:sp>
              <p:nvSpPr>
                <p:cNvPr id="306" name="직사각형 305"/>
                <p:cNvSpPr/>
                <p:nvPr/>
              </p:nvSpPr>
              <p:spPr>
                <a:xfrm>
                  <a:off x="9792952" y="3373818"/>
                  <a:ext cx="360000" cy="180000"/>
                </a:xfrm>
                <a:prstGeom prst="rect">
                  <a:avLst/>
                </a:prstGeom>
                <a:gradFill flip="none" rotWithShape="1">
                  <a:gsLst>
                    <a:gs pos="0">
                      <a:schemeClr val="accent5">
                        <a:lumMod val="75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0" scaled="1"/>
                  <a:tileRect/>
                </a:gradFill>
                <a:ln w="3175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ko-KR" altLang="en-US" sz="500" smtClean="0">
                      <a:solidFill>
                        <a:schemeClr val="bg1"/>
                      </a:solidFill>
                      <a:latin typeface="맑은 고딕" panose="020B0503020000020004" pitchFamily="50" charset="-127"/>
                    </a:rPr>
                    <a:t>매장상품</a:t>
                  </a:r>
                  <a:endParaRPr lang="en-US" altLang="ko-KR" sz="500" smtClean="0">
                    <a:solidFill>
                      <a:schemeClr val="bg1"/>
                    </a:solidFill>
                    <a:latin typeface="맑은 고딕" panose="020B0503020000020004" pitchFamily="50" charset="-127"/>
                  </a:endParaRPr>
                </a:p>
                <a:p>
                  <a:pPr algn="ctr"/>
                  <a:r>
                    <a:rPr lang="ko-KR" altLang="en-US" sz="500" smtClean="0">
                      <a:solidFill>
                        <a:schemeClr val="bg1"/>
                      </a:solidFill>
                      <a:latin typeface="맑은 고딕" panose="020B0503020000020004" pitchFamily="50" charset="-127"/>
                    </a:rPr>
                    <a:t>배송</a:t>
                  </a:r>
                  <a:endParaRPr lang="ko-KR" altLang="en-US" sz="500">
                    <a:solidFill>
                      <a:schemeClr val="bg1"/>
                    </a:solidFill>
                    <a:latin typeface="맑은 고딕" panose="020B0503020000020004" pitchFamily="50" charset="-127"/>
                  </a:endParaRPr>
                </a:p>
              </p:txBody>
            </p:sp>
            <p:sp>
              <p:nvSpPr>
                <p:cNvPr id="307" name="타원 306"/>
                <p:cNvSpPr/>
                <p:nvPr/>
              </p:nvSpPr>
              <p:spPr>
                <a:xfrm>
                  <a:off x="10080022" y="3338758"/>
                  <a:ext cx="143977" cy="143976"/>
                </a:xfrm>
                <a:prstGeom prst="ellipse">
                  <a:avLst/>
                </a:prstGeom>
                <a:solidFill>
                  <a:schemeClr val="bg1"/>
                </a:solidFill>
                <a:ln w="3175"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sz="700" smtClean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맑은 고딕" panose="020B0503020000020004" pitchFamily="50" charset="-127"/>
                      <a:ea typeface="맑은 고딕" panose="020B0503020000020004" pitchFamily="50" charset="-127"/>
                    </a:rPr>
                    <a:t>?</a:t>
                  </a:r>
                  <a:endParaRPr lang="ko-KR" altLang="en-US" sz="7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endParaRPr>
                </a:p>
              </p:txBody>
            </p:sp>
          </p:grpSp>
          <p:sp>
            <p:nvSpPr>
              <p:cNvPr id="317" name="TextBox 316">
                <a:extLst>
                  <a:ext uri="{FF2B5EF4-FFF2-40B4-BE49-F238E27FC236}">
                    <a16:creationId xmlns="" xmlns:a16="http://schemas.microsoft.com/office/drawing/2014/main" id="{0C96C875-C47F-4F5B-B4C1-F9D666A7BD9D}"/>
                  </a:ext>
                </a:extLst>
              </p:cNvPr>
              <p:cNvSpPr txBox="1"/>
              <p:nvPr/>
            </p:nvSpPr>
            <p:spPr>
              <a:xfrm>
                <a:off x="4968163" y="3086287"/>
                <a:ext cx="431776" cy="180425"/>
              </a:xfrm>
              <a:prstGeom prst="rect">
                <a:avLst/>
              </a:prstGeom>
              <a:noFill/>
              <a:ln w="3175" cap="flat" cmpd="sng" algn="ctr">
                <a:noFill/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txBody>
              <a:bodyPr vert="horz" wrap="none" lIns="36000" tIns="36000" rIns="36000" bIns="36000" numCol="1" rtlCol="0" anchor="ctr" anchorCtr="0" compatLnSpc="1">
                <a:prstTxWarp prst="textNoShape">
                  <a:avLst/>
                </a:prstTxWarp>
                <a:spAutoFit/>
              </a:bodyPr>
              <a:lstStyle/>
              <a:p>
                <a:r>
                  <a:rPr lang="ko-KR" altLang="en-US" sz="700" smtClean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맑은 고딕" panose="020B0503020000020004" pitchFamily="50" charset="-127"/>
                  </a:rPr>
                  <a:t>배송정보</a:t>
                </a:r>
                <a:endParaRPr lang="ko-KR" altLang="en-US" sz="7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맑은 고딕" panose="020B0503020000020004" pitchFamily="50" charset="-127"/>
                </a:endParaRPr>
              </a:p>
            </p:txBody>
          </p:sp>
          <p:grpSp>
            <p:nvGrpSpPr>
              <p:cNvPr id="324" name="그룹 323"/>
              <p:cNvGrpSpPr/>
              <p:nvPr/>
            </p:nvGrpSpPr>
            <p:grpSpPr>
              <a:xfrm>
                <a:off x="5616187" y="3140468"/>
                <a:ext cx="126000" cy="72000"/>
                <a:chOff x="4549384" y="3972353"/>
                <a:chExt cx="180000" cy="108000"/>
              </a:xfrm>
            </p:grpSpPr>
            <p:sp>
              <p:nvSpPr>
                <p:cNvPr id="326" name="직사각형 325"/>
                <p:cNvSpPr/>
                <p:nvPr/>
              </p:nvSpPr>
              <p:spPr>
                <a:xfrm>
                  <a:off x="4549384" y="3972353"/>
                  <a:ext cx="35644" cy="108000"/>
                </a:xfrm>
                <a:prstGeom prst="rect">
                  <a:avLst/>
                </a:prstGeom>
                <a:solidFill>
                  <a:schemeClr val="tx1">
                    <a:lumMod val="75000"/>
                    <a:lumOff val="25000"/>
                  </a:schemeClr>
                </a:solidFill>
                <a:ln w="3175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endParaRPr>
                </a:p>
              </p:txBody>
            </p:sp>
            <p:sp>
              <p:nvSpPr>
                <p:cNvPr id="327" name="타원 326"/>
                <p:cNvSpPr/>
                <p:nvPr/>
              </p:nvSpPr>
              <p:spPr>
                <a:xfrm>
                  <a:off x="4595721" y="4044353"/>
                  <a:ext cx="35644" cy="36000"/>
                </a:xfrm>
                <a:prstGeom prst="ellipse">
                  <a:avLst/>
                </a:prstGeom>
                <a:solidFill>
                  <a:schemeClr val="tx1">
                    <a:lumMod val="75000"/>
                    <a:lumOff val="25000"/>
                  </a:schemeClr>
                </a:solidFill>
                <a:ln w="3175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endParaRPr>
                </a:p>
              </p:txBody>
            </p:sp>
            <p:sp>
              <p:nvSpPr>
                <p:cNvPr id="328" name="직사각형 327"/>
                <p:cNvSpPr/>
                <p:nvPr/>
              </p:nvSpPr>
              <p:spPr>
                <a:xfrm>
                  <a:off x="4647404" y="3972353"/>
                  <a:ext cx="35644" cy="108000"/>
                </a:xfrm>
                <a:prstGeom prst="rect">
                  <a:avLst/>
                </a:prstGeom>
                <a:solidFill>
                  <a:schemeClr val="tx1">
                    <a:lumMod val="75000"/>
                    <a:lumOff val="25000"/>
                  </a:schemeClr>
                </a:solidFill>
                <a:ln w="3175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endParaRPr>
                </a:p>
              </p:txBody>
            </p:sp>
            <p:sp>
              <p:nvSpPr>
                <p:cNvPr id="329" name="타원 328"/>
                <p:cNvSpPr/>
                <p:nvPr/>
              </p:nvSpPr>
              <p:spPr>
                <a:xfrm>
                  <a:off x="4693740" y="3972353"/>
                  <a:ext cx="35644" cy="36000"/>
                </a:xfrm>
                <a:prstGeom prst="ellipse">
                  <a:avLst/>
                </a:prstGeom>
                <a:solidFill>
                  <a:schemeClr val="tx1">
                    <a:lumMod val="75000"/>
                    <a:lumOff val="25000"/>
                  </a:schemeClr>
                </a:solidFill>
                <a:ln w="3175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endParaRPr>
                </a:p>
              </p:txBody>
            </p:sp>
            <p:sp>
              <p:nvSpPr>
                <p:cNvPr id="330" name="타원 329"/>
                <p:cNvSpPr/>
                <p:nvPr/>
              </p:nvSpPr>
              <p:spPr>
                <a:xfrm>
                  <a:off x="4693740" y="4026353"/>
                  <a:ext cx="35644" cy="36000"/>
                </a:xfrm>
                <a:prstGeom prst="ellipse">
                  <a:avLst/>
                </a:prstGeom>
                <a:solidFill>
                  <a:schemeClr val="tx1">
                    <a:lumMod val="75000"/>
                    <a:lumOff val="25000"/>
                  </a:schemeClr>
                </a:solidFill>
                <a:ln w="3175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endParaRPr>
                </a:p>
              </p:txBody>
            </p:sp>
          </p:grpSp>
          <p:sp>
            <p:nvSpPr>
              <p:cNvPr id="325" name="TextBox 324"/>
              <p:cNvSpPr txBox="1"/>
              <p:nvPr/>
            </p:nvSpPr>
            <p:spPr>
              <a:xfrm>
                <a:off x="5777848" y="3122638"/>
                <a:ext cx="269304" cy="107722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spAutoFit/>
              </a:bodyPr>
              <a:lstStyle/>
              <a:p>
                <a:r>
                  <a:rPr lang="ko-KR" altLang="en-US" sz="700" smtClean="0">
                    <a:solidFill>
                      <a:srgbClr val="C00000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슝배송</a:t>
                </a:r>
                <a:endParaRPr lang="ko-KR" altLang="en-US" sz="700" dirty="0">
                  <a:solidFill>
                    <a:srgbClr val="C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  <p:sp>
            <p:nvSpPr>
              <p:cNvPr id="333" name="TextBox 332">
                <a:extLst>
                  <a:ext uri="{FF2B5EF4-FFF2-40B4-BE49-F238E27FC236}">
                    <a16:creationId xmlns="" xmlns:a16="http://schemas.microsoft.com/office/drawing/2014/main" id="{0C96C875-C47F-4F5B-B4C1-F9D666A7BD9D}"/>
                  </a:ext>
                </a:extLst>
              </p:cNvPr>
              <p:cNvSpPr txBox="1"/>
              <p:nvPr/>
            </p:nvSpPr>
            <p:spPr>
              <a:xfrm>
                <a:off x="6191508" y="3086287"/>
                <a:ext cx="448841" cy="180425"/>
              </a:xfrm>
              <a:prstGeom prst="rect">
                <a:avLst/>
              </a:prstGeom>
              <a:noFill/>
              <a:ln w="3175" cap="flat" cmpd="sng" algn="ctr">
                <a:noFill/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txBody>
              <a:bodyPr vert="horz" wrap="none" lIns="0" tIns="36000" rIns="0" bIns="36000" numCol="1" rtlCol="0" anchor="ctr" anchorCtr="0" compatLnSpc="1">
                <a:prstTxWarp prst="textNoShape">
                  <a:avLst/>
                </a:prstTxWarp>
                <a:spAutoFit/>
              </a:bodyPr>
              <a:lstStyle/>
              <a:p>
                <a:r>
                  <a:rPr lang="en-US" altLang="ko-KR" sz="700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맑은 고딕" panose="020B0503020000020004" pitchFamily="50" charset="-127"/>
                  </a:rPr>
                  <a:t>CJ</a:t>
                </a:r>
                <a:r>
                  <a:rPr lang="ko-KR" altLang="en-US" sz="700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맑은 고딕" panose="020B0503020000020004" pitchFamily="50" charset="-127"/>
                  </a:rPr>
                  <a:t>대한통운</a:t>
                </a:r>
                <a:endParaRPr lang="ko-KR" altLang="en-US" sz="7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endParaRPr>
              </a:p>
            </p:txBody>
          </p:sp>
          <p:cxnSp>
            <p:nvCxnSpPr>
              <p:cNvPr id="334" name="직선 연결선 333"/>
              <p:cNvCxnSpPr/>
              <p:nvPr/>
            </p:nvCxnSpPr>
            <p:spPr>
              <a:xfrm>
                <a:off x="6119330" y="3122499"/>
                <a:ext cx="0" cy="108000"/>
              </a:xfrm>
              <a:prstGeom prst="line">
                <a:avLst/>
              </a:prstGeom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37" name="TextBox 336">
                <a:extLst>
                  <a:ext uri="{FF2B5EF4-FFF2-40B4-BE49-F238E27FC236}">
                    <a16:creationId xmlns="" xmlns:a16="http://schemas.microsoft.com/office/drawing/2014/main" id="{0C96C875-C47F-4F5B-B4C1-F9D666A7BD9D}"/>
                  </a:ext>
                </a:extLst>
              </p:cNvPr>
              <p:cNvSpPr txBox="1"/>
              <p:nvPr/>
            </p:nvSpPr>
            <p:spPr>
              <a:xfrm>
                <a:off x="5616187" y="3267636"/>
                <a:ext cx="359073" cy="180425"/>
              </a:xfrm>
              <a:prstGeom prst="rect">
                <a:avLst/>
              </a:prstGeom>
              <a:noFill/>
              <a:ln w="3175" cap="flat" cmpd="sng" algn="ctr">
                <a:noFill/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txBody>
              <a:bodyPr vert="horz" wrap="none" lIns="0" tIns="36000" rIns="0" bIns="36000" numCol="1" rtlCol="0" anchor="ctr" anchorCtr="0" compatLnSpc="1">
                <a:prstTxWarp prst="textNoShape">
                  <a:avLst/>
                </a:prstTxWarp>
                <a:spAutoFit/>
              </a:bodyPr>
              <a:lstStyle/>
              <a:p>
                <a:r>
                  <a:rPr lang="ko-KR" altLang="en-US" sz="700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맑은 고딕" panose="020B0503020000020004" pitchFamily="50" charset="-127"/>
                  </a:rPr>
                  <a:t>무료배송</a:t>
                </a:r>
                <a:endParaRPr lang="ko-KR" altLang="en-US" sz="7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endParaRPr>
              </a:p>
            </p:txBody>
          </p:sp>
          <p:cxnSp>
            <p:nvCxnSpPr>
              <p:cNvPr id="338" name="직선 연결선 337"/>
              <p:cNvCxnSpPr/>
              <p:nvPr/>
            </p:nvCxnSpPr>
            <p:spPr>
              <a:xfrm>
                <a:off x="5616187" y="3519983"/>
                <a:ext cx="1944000" cy="0"/>
              </a:xfrm>
              <a:prstGeom prst="line">
                <a:avLst/>
              </a:prstGeom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42" name="TextBox 341">
                <a:extLst>
                  <a:ext uri="{FF2B5EF4-FFF2-40B4-BE49-F238E27FC236}">
                    <a16:creationId xmlns="" xmlns:a16="http://schemas.microsoft.com/office/drawing/2014/main" id="{0C96C875-C47F-4F5B-B4C1-F9D666A7BD9D}"/>
                  </a:ext>
                </a:extLst>
              </p:cNvPr>
              <p:cNvSpPr txBox="1"/>
              <p:nvPr/>
            </p:nvSpPr>
            <p:spPr>
              <a:xfrm>
                <a:off x="5616187" y="3591747"/>
                <a:ext cx="1247136" cy="180425"/>
              </a:xfrm>
              <a:prstGeom prst="rect">
                <a:avLst/>
              </a:prstGeom>
              <a:noFill/>
              <a:ln w="3175" cap="flat" cmpd="sng" algn="ctr">
                <a:noFill/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txBody>
              <a:bodyPr vert="horz" wrap="none" lIns="0" tIns="36000" rIns="0" bIns="36000" numCol="1" rtlCol="0" anchor="ctr" anchorCtr="0" compatLnSpc="1">
                <a:prstTxWarp prst="textNoShape">
                  <a:avLst/>
                </a:prstTxWarp>
                <a:spAutoFit/>
              </a:bodyPr>
              <a:lstStyle/>
              <a:p>
                <a:r>
                  <a:rPr lang="en-US" altLang="ko-KR" sz="700" b="1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맑은 고딕" panose="020B0503020000020004" pitchFamily="50" charset="-127"/>
                  </a:rPr>
                  <a:t>12/13 (</a:t>
                </a:r>
                <a:r>
                  <a:rPr lang="ko-KR" altLang="en-US" sz="700" b="1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맑은 고딕" panose="020B0503020000020004" pitchFamily="50" charset="-127"/>
                  </a:rPr>
                  <a:t>토</a:t>
                </a:r>
                <a:r>
                  <a:rPr lang="en-US" altLang="ko-KR" sz="700" b="1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맑은 고딕" panose="020B0503020000020004" pitchFamily="50" charset="-127"/>
                  </a:rPr>
                  <a:t>) </a:t>
                </a:r>
                <a:r>
                  <a:rPr lang="ko-KR" altLang="en-US" sz="700" b="1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맑은 고딕" panose="020B0503020000020004" pitchFamily="50" charset="-127"/>
                  </a:rPr>
                  <a:t>이내 도착확률 </a:t>
                </a:r>
                <a:r>
                  <a:rPr lang="en-US" altLang="ko-KR" sz="700" b="1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맑은 고딕" panose="020B0503020000020004" pitchFamily="50" charset="-127"/>
                  </a:rPr>
                  <a:t>96%</a:t>
                </a:r>
                <a:endParaRPr lang="ko-KR" altLang="en-US" sz="7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endParaRPr>
              </a:p>
            </p:txBody>
          </p:sp>
          <p:sp>
            <p:nvSpPr>
              <p:cNvPr id="344" name="TextBox 343">
                <a:extLst>
                  <a:ext uri="{FF2B5EF4-FFF2-40B4-BE49-F238E27FC236}">
                    <a16:creationId xmlns="" xmlns:a16="http://schemas.microsoft.com/office/drawing/2014/main" id="{0C96C875-C47F-4F5B-B4C1-F9D666A7BD9D}"/>
                  </a:ext>
                </a:extLst>
              </p:cNvPr>
              <p:cNvSpPr txBox="1"/>
              <p:nvPr/>
            </p:nvSpPr>
            <p:spPr>
              <a:xfrm>
                <a:off x="5616187" y="3773175"/>
                <a:ext cx="1513235" cy="180425"/>
              </a:xfrm>
              <a:prstGeom prst="rect">
                <a:avLst/>
              </a:prstGeom>
              <a:noFill/>
              <a:ln w="3175" cap="flat" cmpd="sng" algn="ctr">
                <a:noFill/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txBody>
              <a:bodyPr vert="horz" wrap="none" lIns="0" tIns="36000" rIns="0" bIns="36000" numCol="1" rtlCol="0" anchor="ctr" anchorCtr="0" compatLnSpc="1">
                <a:prstTxWarp prst="textNoShape">
                  <a:avLst/>
                </a:prstTxWarp>
                <a:spAutoFit/>
              </a:bodyPr>
              <a:lstStyle/>
              <a:p>
                <a:r>
                  <a:rPr lang="ko-KR" altLang="en-US" sz="700" smtClean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맑은 고딕" panose="020B0503020000020004" pitchFamily="50" charset="-127"/>
                  </a:rPr>
                  <a:t>서울 노원구 기준 </a:t>
                </a:r>
                <a:r>
                  <a:rPr lang="en-US" altLang="ko-KR" sz="700" smtClean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맑은 고딕" panose="020B0503020000020004" pitchFamily="50" charset="-127"/>
                  </a:rPr>
                  <a:t>(18</a:t>
                </a:r>
                <a:r>
                  <a:rPr lang="ko-KR" altLang="en-US" sz="700" smtClean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맑은 고딕" panose="020B0503020000020004" pitchFamily="50" charset="-127"/>
                  </a:rPr>
                  <a:t>시 이전 결제 시</a:t>
                </a:r>
                <a:r>
                  <a:rPr lang="en-US" altLang="ko-KR" sz="700" smtClean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맑은 고딕" panose="020B0503020000020004" pitchFamily="50" charset="-127"/>
                  </a:rPr>
                  <a:t>)</a:t>
                </a:r>
                <a:endParaRPr lang="ko-KR" altLang="en-US" sz="7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맑은 고딕" panose="020B0503020000020004" pitchFamily="50" charset="-127"/>
                </a:endParaRPr>
              </a:p>
            </p:txBody>
          </p:sp>
          <p:cxnSp>
            <p:nvCxnSpPr>
              <p:cNvPr id="347" name="직선 연결선 346"/>
              <p:cNvCxnSpPr/>
              <p:nvPr/>
            </p:nvCxnSpPr>
            <p:spPr>
              <a:xfrm>
                <a:off x="4968163" y="4529997"/>
                <a:ext cx="2591578" cy="0"/>
              </a:xfrm>
              <a:prstGeom prst="line">
                <a:avLst/>
              </a:prstGeom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55" name="TextBox 354">
                <a:extLst>
                  <a:ext uri="{FF2B5EF4-FFF2-40B4-BE49-F238E27FC236}">
                    <a16:creationId xmlns="" xmlns:a16="http://schemas.microsoft.com/office/drawing/2014/main" id="{0C96C875-C47F-4F5B-B4C1-F9D666A7BD9D}"/>
                  </a:ext>
                </a:extLst>
              </p:cNvPr>
              <p:cNvSpPr txBox="1"/>
              <p:nvPr/>
            </p:nvSpPr>
            <p:spPr>
              <a:xfrm>
                <a:off x="5616187" y="4602360"/>
                <a:ext cx="1518044" cy="180425"/>
              </a:xfrm>
              <a:prstGeom prst="rect">
                <a:avLst/>
              </a:prstGeom>
              <a:noFill/>
              <a:ln w="3175" cap="flat" cmpd="sng" algn="ctr">
                <a:noFill/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txBody>
              <a:bodyPr vert="horz" wrap="none" lIns="0" tIns="36000" rIns="0" bIns="36000" numCol="1" rtlCol="0" anchor="ctr" anchorCtr="0" compatLnSpc="1">
                <a:prstTxWarp prst="textNoShape">
                  <a:avLst/>
                </a:prstTxWarp>
                <a:spAutoFit/>
              </a:bodyPr>
              <a:lstStyle/>
              <a:p>
                <a:r>
                  <a:rPr lang="en-US" altLang="ko-KR" sz="700" smtClean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맑은 고딕" panose="020B0503020000020004" pitchFamily="50" charset="-127"/>
                  </a:rPr>
                  <a:t>LFmall </a:t>
                </a:r>
                <a:r>
                  <a:rPr lang="ko-KR" altLang="en-US" sz="700" smtClean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맑은 고딕" panose="020B0503020000020004" pitchFamily="50" charset="-127"/>
                  </a:rPr>
                  <a:t>신용카드 결제시</a:t>
                </a:r>
                <a:r>
                  <a:rPr lang="ko-KR" altLang="en-US" sz="700" b="1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맑은 고딕" panose="020B0503020000020004" pitchFamily="50" charset="-127"/>
                  </a:rPr>
                  <a:t> </a:t>
                </a:r>
                <a:r>
                  <a:rPr lang="en-US" altLang="ko-KR" sz="700" b="1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맑은 고딕" panose="020B0503020000020004" pitchFamily="50" charset="-127"/>
                  </a:rPr>
                  <a:t>5% </a:t>
                </a:r>
                <a:r>
                  <a:rPr lang="ko-KR" altLang="en-US" sz="700" b="1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맑은 고딕" panose="020B0503020000020004" pitchFamily="50" charset="-127"/>
                  </a:rPr>
                  <a:t>추가할인</a:t>
                </a:r>
                <a:endParaRPr lang="ko-KR" altLang="en-US" sz="7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endParaRPr>
              </a:p>
            </p:txBody>
          </p:sp>
          <p:sp>
            <p:nvSpPr>
              <p:cNvPr id="357" name="TextBox 356">
                <a:extLst>
                  <a:ext uri="{FF2B5EF4-FFF2-40B4-BE49-F238E27FC236}">
                    <a16:creationId xmlns="" xmlns:a16="http://schemas.microsoft.com/office/drawing/2014/main" id="{0C96C875-C47F-4F5B-B4C1-F9D666A7BD9D}"/>
                  </a:ext>
                </a:extLst>
              </p:cNvPr>
              <p:cNvSpPr txBox="1"/>
              <p:nvPr/>
            </p:nvSpPr>
            <p:spPr>
              <a:xfrm>
                <a:off x="5616187" y="4783788"/>
                <a:ext cx="782265" cy="180425"/>
              </a:xfrm>
              <a:prstGeom prst="rect">
                <a:avLst/>
              </a:prstGeom>
              <a:noFill/>
              <a:ln w="3175" cap="flat" cmpd="sng" algn="ctr">
                <a:noFill/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txBody>
              <a:bodyPr vert="horz" wrap="none" lIns="0" tIns="36000" rIns="0" bIns="36000" numCol="1" rtlCol="0" anchor="ctr" anchorCtr="0" compatLnSpc="1">
                <a:prstTxWarp prst="textNoShape">
                  <a:avLst/>
                </a:prstTxWarp>
                <a:spAutoFit/>
              </a:bodyPr>
              <a:lstStyle/>
              <a:p>
                <a:r>
                  <a:rPr lang="ko-KR" altLang="en-US" sz="700" smtClean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맑은 고딕" panose="020B0503020000020004" pitchFamily="50" charset="-127"/>
                  </a:rPr>
                  <a:t>카드사별 할부 혜택</a:t>
                </a:r>
                <a:endParaRPr lang="ko-KR" altLang="en-US" sz="7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맑은 고딕" panose="020B0503020000020004" pitchFamily="50" charset="-127"/>
                </a:endParaRPr>
              </a:p>
            </p:txBody>
          </p:sp>
          <p:cxnSp>
            <p:nvCxnSpPr>
              <p:cNvPr id="358" name="직선 연결선 357"/>
              <p:cNvCxnSpPr/>
              <p:nvPr/>
            </p:nvCxnSpPr>
            <p:spPr>
              <a:xfrm>
                <a:off x="4968163" y="5034841"/>
                <a:ext cx="2591578" cy="0"/>
              </a:xfrm>
              <a:prstGeom prst="line">
                <a:avLst/>
              </a:prstGeom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61" name="TextBox 360">
                <a:extLst>
                  <a:ext uri="{FF2B5EF4-FFF2-40B4-BE49-F238E27FC236}">
                    <a16:creationId xmlns="" xmlns:a16="http://schemas.microsoft.com/office/drawing/2014/main" id="{0C96C875-C47F-4F5B-B4C1-F9D666A7BD9D}"/>
                  </a:ext>
                </a:extLst>
              </p:cNvPr>
              <p:cNvSpPr txBox="1"/>
              <p:nvPr/>
            </p:nvSpPr>
            <p:spPr>
              <a:xfrm>
                <a:off x="4968163" y="4601465"/>
                <a:ext cx="431776" cy="180425"/>
              </a:xfrm>
              <a:prstGeom prst="rect">
                <a:avLst/>
              </a:prstGeom>
              <a:noFill/>
              <a:ln w="3175" cap="flat" cmpd="sng" algn="ctr">
                <a:noFill/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txBody>
              <a:bodyPr vert="horz" wrap="none" lIns="36000" tIns="36000" rIns="36000" bIns="36000" numCol="1" rtlCol="0" anchor="ctr" anchorCtr="0" compatLnSpc="1">
                <a:prstTxWarp prst="textNoShape">
                  <a:avLst/>
                </a:prstTxWarp>
                <a:spAutoFit/>
              </a:bodyPr>
              <a:lstStyle/>
              <a:p>
                <a:r>
                  <a:rPr lang="ko-KR" altLang="en-US" sz="700" smtClean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맑은 고딕" panose="020B0503020000020004" pitchFamily="50" charset="-127"/>
                  </a:rPr>
                  <a:t>카드혜택</a:t>
                </a:r>
                <a:endParaRPr lang="ko-KR" altLang="en-US" sz="7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맑은 고딕" panose="020B0503020000020004" pitchFamily="50" charset="-127"/>
                </a:endParaRPr>
              </a:p>
            </p:txBody>
          </p:sp>
          <p:sp>
            <p:nvSpPr>
              <p:cNvPr id="363" name="TextBox 362">
                <a:extLst>
                  <a:ext uri="{FF2B5EF4-FFF2-40B4-BE49-F238E27FC236}">
                    <a16:creationId xmlns="" xmlns:a16="http://schemas.microsoft.com/office/drawing/2014/main" id="{0C96C875-C47F-4F5B-B4C1-F9D666A7BD9D}"/>
                  </a:ext>
                </a:extLst>
              </p:cNvPr>
              <p:cNvSpPr txBox="1"/>
              <p:nvPr/>
            </p:nvSpPr>
            <p:spPr>
              <a:xfrm>
                <a:off x="7511651" y="4602360"/>
                <a:ext cx="48090" cy="180425"/>
              </a:xfrm>
              <a:prstGeom prst="rect">
                <a:avLst/>
              </a:prstGeom>
              <a:noFill/>
              <a:ln w="3175" cap="flat" cmpd="sng" algn="ctr">
                <a:noFill/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txBody>
              <a:bodyPr vert="horz" wrap="none" lIns="0" tIns="36000" rIns="0" bIns="36000" numCol="1" rtlCol="0" anchor="ctr" anchorCtr="0" compatLnSpc="1">
                <a:prstTxWarp prst="textNoShape">
                  <a:avLst/>
                </a:prstTxWarp>
                <a:spAutoFit/>
              </a:bodyPr>
              <a:lstStyle/>
              <a:p>
                <a:r>
                  <a:rPr lang="en-US" altLang="ko-KR" sz="700" b="1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맑은 고딕" panose="020B0503020000020004" pitchFamily="50" charset="-127"/>
                  </a:rPr>
                  <a:t>〉</a:t>
                </a:r>
                <a:endParaRPr lang="ko-KR" altLang="en-US" sz="7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endParaRPr>
              </a:p>
            </p:txBody>
          </p:sp>
          <p:sp>
            <p:nvSpPr>
              <p:cNvPr id="364" name="TextBox 363">
                <a:extLst>
                  <a:ext uri="{FF2B5EF4-FFF2-40B4-BE49-F238E27FC236}">
                    <a16:creationId xmlns="" xmlns:a16="http://schemas.microsoft.com/office/drawing/2014/main" id="{0C96C875-C47F-4F5B-B4C1-F9D666A7BD9D}"/>
                  </a:ext>
                </a:extLst>
              </p:cNvPr>
              <p:cNvSpPr txBox="1"/>
              <p:nvPr/>
            </p:nvSpPr>
            <p:spPr>
              <a:xfrm>
                <a:off x="7511651" y="4783788"/>
                <a:ext cx="48090" cy="180425"/>
              </a:xfrm>
              <a:prstGeom prst="rect">
                <a:avLst/>
              </a:prstGeom>
              <a:noFill/>
              <a:ln w="3175" cap="flat" cmpd="sng" algn="ctr">
                <a:noFill/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txBody>
              <a:bodyPr vert="horz" wrap="none" lIns="0" tIns="36000" rIns="0" bIns="36000" numCol="1" rtlCol="0" anchor="ctr" anchorCtr="0" compatLnSpc="1">
                <a:prstTxWarp prst="textNoShape">
                  <a:avLst/>
                </a:prstTxWarp>
                <a:spAutoFit/>
              </a:bodyPr>
              <a:lstStyle/>
              <a:p>
                <a:r>
                  <a:rPr lang="en-US" altLang="ko-KR" sz="700" b="1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맑은 고딕" panose="020B0503020000020004" pitchFamily="50" charset="-127"/>
                  </a:rPr>
                  <a:t>〉</a:t>
                </a:r>
                <a:endParaRPr lang="ko-KR" altLang="en-US" sz="7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endParaRPr>
              </a:p>
            </p:txBody>
          </p:sp>
          <p:sp>
            <p:nvSpPr>
              <p:cNvPr id="365" name="TextBox 364">
                <a:extLst>
                  <a:ext uri="{FF2B5EF4-FFF2-40B4-BE49-F238E27FC236}">
                    <a16:creationId xmlns="" xmlns:a16="http://schemas.microsoft.com/office/drawing/2014/main" id="{0C96C875-C47F-4F5B-B4C1-F9D666A7BD9D}"/>
                  </a:ext>
                </a:extLst>
              </p:cNvPr>
              <p:cNvSpPr txBox="1"/>
              <p:nvPr/>
            </p:nvSpPr>
            <p:spPr>
              <a:xfrm rot="5400000">
                <a:off x="7481835" y="3717039"/>
                <a:ext cx="48090" cy="107722"/>
              </a:xfrm>
              <a:prstGeom prst="rect">
                <a:avLst/>
              </a:prstGeom>
              <a:noFill/>
              <a:ln w="3175" cap="flat" cmpd="sng" algn="ctr">
                <a:noFill/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txBody>
              <a:bodyPr vert="horz" wrap="none" lIns="0" tIns="0" rIns="0" bIns="0" numCol="1" rtlCol="0" anchor="ctr" anchorCtr="0" compatLnSpc="1">
                <a:prstTxWarp prst="textNoShape">
                  <a:avLst/>
                </a:prstTxWarp>
                <a:spAutoFit/>
              </a:bodyPr>
              <a:lstStyle/>
              <a:p>
                <a:r>
                  <a:rPr lang="en-US" altLang="ko-KR" sz="700" b="1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맑은 고딕" panose="020B0503020000020004" pitchFamily="50" charset="-127"/>
                  </a:rPr>
                  <a:t>〉</a:t>
                </a:r>
                <a:endParaRPr lang="ko-KR" altLang="en-US" sz="7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endParaRPr>
              </a:p>
            </p:txBody>
          </p:sp>
          <p:cxnSp>
            <p:nvCxnSpPr>
              <p:cNvPr id="368" name="직선 연결선 367"/>
              <p:cNvCxnSpPr/>
              <p:nvPr/>
            </p:nvCxnSpPr>
            <p:spPr>
              <a:xfrm>
                <a:off x="5616187" y="4023044"/>
                <a:ext cx="1944000" cy="0"/>
              </a:xfrm>
              <a:prstGeom prst="line">
                <a:avLst/>
              </a:prstGeom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75" name="직사각형 374"/>
              <p:cNvSpPr/>
              <p:nvPr/>
            </p:nvSpPr>
            <p:spPr>
              <a:xfrm>
                <a:off x="5616187" y="4113740"/>
                <a:ext cx="540000" cy="144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5">
                      <a:lumMod val="75000"/>
                    </a:schemeClr>
                  </a:gs>
                  <a:gs pos="50000">
                    <a:schemeClr val="accent5"/>
                  </a:gs>
                  <a:gs pos="100000">
                    <a:schemeClr val="accent5">
                      <a:lumMod val="60000"/>
                      <a:lumOff val="40000"/>
                    </a:schemeClr>
                  </a:gs>
                </a:gsLst>
                <a:lin ang="0" scaled="1"/>
                <a:tileRect/>
              </a:gradFill>
              <a:ln w="31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ko-KR" altLang="en-US" sz="500" smtClean="0">
                    <a:solidFill>
                      <a:schemeClr val="bg1"/>
                    </a:solidFill>
                    <a:latin typeface="맑은 고딕" panose="020B0503020000020004" pitchFamily="50" charset="-127"/>
                  </a:rPr>
                  <a:t>매장상품배송</a:t>
                </a:r>
                <a:endParaRPr lang="ko-KR" altLang="en-US" sz="500">
                  <a:solidFill>
                    <a:schemeClr val="bg1"/>
                  </a:solidFill>
                  <a:latin typeface="맑은 고딕" panose="020B0503020000020004" pitchFamily="50" charset="-127"/>
                </a:endParaRPr>
              </a:p>
            </p:txBody>
          </p:sp>
          <p:sp>
            <p:nvSpPr>
              <p:cNvPr id="379" name="타원 378"/>
              <p:cNvSpPr/>
              <p:nvPr/>
            </p:nvSpPr>
            <p:spPr>
              <a:xfrm>
                <a:off x="6899357" y="3627959"/>
                <a:ext cx="108000" cy="108000"/>
              </a:xfrm>
              <a:prstGeom prst="ellipse">
                <a:avLst/>
              </a:prstGeom>
              <a:solidFill>
                <a:schemeClr val="bg1"/>
              </a:solidFill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600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?</a:t>
                </a:r>
                <a:endParaRPr lang="ko-KR" altLang="en-US" sz="60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  <p:sp>
            <p:nvSpPr>
              <p:cNvPr id="381" name="타원 380"/>
              <p:cNvSpPr/>
              <p:nvPr/>
            </p:nvSpPr>
            <p:spPr>
              <a:xfrm>
                <a:off x="6191508" y="4131740"/>
                <a:ext cx="108000" cy="108000"/>
              </a:xfrm>
              <a:prstGeom prst="ellipse">
                <a:avLst/>
              </a:prstGeom>
              <a:solidFill>
                <a:schemeClr val="bg1"/>
              </a:solidFill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600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?</a:t>
                </a:r>
                <a:endParaRPr lang="ko-KR" altLang="en-US" sz="60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  <p:sp>
            <p:nvSpPr>
              <p:cNvPr id="385" name="TextBox 384">
                <a:extLst>
                  <a:ext uri="{FF2B5EF4-FFF2-40B4-BE49-F238E27FC236}">
                    <a16:creationId xmlns="" xmlns:a16="http://schemas.microsoft.com/office/drawing/2014/main" id="{0C96C875-C47F-4F5B-B4C1-F9D666A7BD9D}"/>
                  </a:ext>
                </a:extLst>
              </p:cNvPr>
              <p:cNvSpPr txBox="1"/>
              <p:nvPr/>
            </p:nvSpPr>
            <p:spPr>
              <a:xfrm>
                <a:off x="5616187" y="4277459"/>
                <a:ext cx="1207062" cy="180425"/>
              </a:xfrm>
              <a:prstGeom prst="rect">
                <a:avLst/>
              </a:prstGeom>
              <a:noFill/>
              <a:ln w="3175" cap="flat" cmpd="sng" algn="ctr">
                <a:noFill/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txBody>
              <a:bodyPr vert="horz" wrap="none" lIns="0" tIns="36000" rIns="0" bIns="36000" numCol="1" rtlCol="0" anchor="ctr" anchorCtr="0" compatLnSpc="1">
                <a:prstTxWarp prst="textNoShape">
                  <a:avLst/>
                </a:prstTxWarp>
                <a:spAutoFit/>
              </a:bodyPr>
              <a:lstStyle/>
              <a:p>
                <a:r>
                  <a:rPr lang="ko-KR" altLang="en-US" sz="700" smtClean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맑은 고딕" panose="020B0503020000020004" pitchFamily="50" charset="-127"/>
                  </a:rPr>
                  <a:t>평균 </a:t>
                </a:r>
                <a:r>
                  <a:rPr lang="en-US" altLang="ko-KR" sz="700" smtClean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맑은 고딕" panose="020B0503020000020004" pitchFamily="50" charset="-127"/>
                  </a:rPr>
                  <a:t>5~7 </a:t>
                </a:r>
                <a:r>
                  <a:rPr lang="ko-KR" altLang="en-US" sz="700" smtClean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맑은 고딕" panose="020B0503020000020004" pitchFamily="50" charset="-127"/>
                  </a:rPr>
                  <a:t>영업일 소요됩니다</a:t>
                </a:r>
                <a:r>
                  <a:rPr lang="en-US" altLang="ko-KR" sz="700" smtClean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맑은 고딕" panose="020B0503020000020004" pitchFamily="50" charset="-127"/>
                  </a:rPr>
                  <a:t>.</a:t>
                </a:r>
                <a:endParaRPr lang="ko-KR" altLang="en-US" sz="7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맑은 고딕" panose="020B0503020000020004" pitchFamily="50" charset="-127"/>
                </a:endParaRPr>
              </a:p>
            </p:txBody>
          </p:sp>
          <p:cxnSp>
            <p:nvCxnSpPr>
              <p:cNvPr id="155" name="직선 연결선 154"/>
              <p:cNvCxnSpPr/>
              <p:nvPr/>
            </p:nvCxnSpPr>
            <p:spPr>
              <a:xfrm>
                <a:off x="4968163" y="5033482"/>
                <a:ext cx="2591578" cy="0"/>
              </a:xfrm>
              <a:prstGeom prst="line">
                <a:avLst/>
              </a:prstGeom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58" name="TextBox 157">
                <a:extLst>
                  <a:ext uri="{FF2B5EF4-FFF2-40B4-BE49-F238E27FC236}">
                    <a16:creationId xmlns="" xmlns:a16="http://schemas.microsoft.com/office/drawing/2014/main" id="{0C96C875-C47F-4F5B-B4C1-F9D666A7BD9D}"/>
                  </a:ext>
                </a:extLst>
              </p:cNvPr>
              <p:cNvSpPr txBox="1"/>
              <p:nvPr/>
            </p:nvSpPr>
            <p:spPr>
              <a:xfrm>
                <a:off x="5616187" y="5105845"/>
                <a:ext cx="782265" cy="180425"/>
              </a:xfrm>
              <a:prstGeom prst="rect">
                <a:avLst/>
              </a:prstGeom>
              <a:noFill/>
              <a:ln w="3175" cap="flat" cmpd="sng" algn="ctr">
                <a:noFill/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txBody>
              <a:bodyPr vert="horz" wrap="none" lIns="0" tIns="36000" rIns="0" bIns="36000" numCol="1" rtlCol="0" anchor="ctr" anchorCtr="0" compatLnSpc="1">
                <a:prstTxWarp prst="textNoShape">
                  <a:avLst/>
                </a:prstTxWarp>
                <a:spAutoFit/>
              </a:bodyPr>
              <a:lstStyle/>
              <a:p>
                <a:r>
                  <a:rPr lang="ko-KR" altLang="en-US" sz="700" smtClean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맑은 고딕" panose="020B0503020000020004" pitchFamily="50" charset="-127"/>
                  </a:rPr>
                  <a:t>선물포장 가능 안내</a:t>
                </a:r>
                <a:endParaRPr lang="ko-KR" altLang="en-US" sz="7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endParaRPr>
              </a:p>
            </p:txBody>
          </p:sp>
          <p:cxnSp>
            <p:nvCxnSpPr>
              <p:cNvPr id="161" name="직선 연결선 160"/>
              <p:cNvCxnSpPr/>
              <p:nvPr/>
            </p:nvCxnSpPr>
            <p:spPr>
              <a:xfrm>
                <a:off x="4824187" y="5358239"/>
                <a:ext cx="2880000" cy="0"/>
              </a:xfrm>
              <a:prstGeom prst="line">
                <a:avLst/>
              </a:prstGeom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63" name="TextBox 162">
                <a:extLst>
                  <a:ext uri="{FF2B5EF4-FFF2-40B4-BE49-F238E27FC236}">
                    <a16:creationId xmlns="" xmlns:a16="http://schemas.microsoft.com/office/drawing/2014/main" id="{0C96C875-C47F-4F5B-B4C1-F9D666A7BD9D}"/>
                  </a:ext>
                </a:extLst>
              </p:cNvPr>
              <p:cNvSpPr txBox="1"/>
              <p:nvPr/>
            </p:nvSpPr>
            <p:spPr>
              <a:xfrm>
                <a:off x="4968163" y="5104950"/>
                <a:ext cx="431776" cy="180425"/>
              </a:xfrm>
              <a:prstGeom prst="rect">
                <a:avLst/>
              </a:prstGeom>
              <a:noFill/>
              <a:ln w="3175" cap="flat" cmpd="sng" algn="ctr">
                <a:noFill/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txBody>
              <a:bodyPr vert="horz" wrap="none" lIns="36000" tIns="36000" rIns="36000" bIns="36000" numCol="1" rtlCol="0" anchor="ctr" anchorCtr="0" compatLnSpc="1">
                <a:prstTxWarp prst="textNoShape">
                  <a:avLst/>
                </a:prstTxWarp>
                <a:spAutoFit/>
              </a:bodyPr>
              <a:lstStyle/>
              <a:p>
                <a:r>
                  <a:rPr lang="ko-KR" altLang="en-US" sz="700" smtClean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맑은 고딕" panose="020B0503020000020004" pitchFamily="50" charset="-127"/>
                  </a:rPr>
                  <a:t>선물포장</a:t>
                </a:r>
                <a:endParaRPr lang="ko-KR" altLang="en-US" sz="7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맑은 고딕" panose="020B0503020000020004" pitchFamily="50" charset="-127"/>
                </a:endParaRPr>
              </a:p>
            </p:txBody>
          </p:sp>
          <p:sp>
            <p:nvSpPr>
              <p:cNvPr id="167" name="TextBox 166">
                <a:extLst>
                  <a:ext uri="{FF2B5EF4-FFF2-40B4-BE49-F238E27FC236}">
                    <a16:creationId xmlns="" xmlns:a16="http://schemas.microsoft.com/office/drawing/2014/main" id="{0C96C875-C47F-4F5B-B4C1-F9D666A7BD9D}"/>
                  </a:ext>
                </a:extLst>
              </p:cNvPr>
              <p:cNvSpPr txBox="1"/>
              <p:nvPr/>
            </p:nvSpPr>
            <p:spPr>
              <a:xfrm rot="5400000">
                <a:off x="7481835" y="5141301"/>
                <a:ext cx="48090" cy="107722"/>
              </a:xfrm>
              <a:prstGeom prst="rect">
                <a:avLst/>
              </a:prstGeom>
              <a:noFill/>
              <a:ln w="3175" cap="flat" cmpd="sng" algn="ctr">
                <a:noFill/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txBody>
              <a:bodyPr vert="horz" wrap="none" lIns="0" tIns="0" rIns="0" bIns="0" numCol="1" rtlCol="0" anchor="ctr" anchorCtr="0" compatLnSpc="1">
                <a:prstTxWarp prst="textNoShape">
                  <a:avLst/>
                </a:prstTxWarp>
                <a:spAutoFit/>
              </a:bodyPr>
              <a:lstStyle/>
              <a:p>
                <a:r>
                  <a:rPr lang="en-US" altLang="ko-KR" sz="700" b="1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맑은 고딕" panose="020B0503020000020004" pitchFamily="50" charset="-127"/>
                  </a:rPr>
                  <a:t>〉</a:t>
                </a:r>
                <a:endParaRPr lang="ko-KR" altLang="en-US" sz="7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endParaRPr>
              </a:p>
            </p:txBody>
          </p:sp>
          <p:sp>
            <p:nvSpPr>
              <p:cNvPr id="169" name="TextBox 168">
                <a:extLst>
                  <a:ext uri="{FF2B5EF4-FFF2-40B4-BE49-F238E27FC236}">
                    <a16:creationId xmlns="" xmlns:a16="http://schemas.microsoft.com/office/drawing/2014/main" id="{0C96C875-C47F-4F5B-B4C1-F9D666A7BD9D}"/>
                  </a:ext>
                </a:extLst>
              </p:cNvPr>
              <p:cNvSpPr txBox="1"/>
              <p:nvPr/>
            </p:nvSpPr>
            <p:spPr>
              <a:xfrm>
                <a:off x="4968164" y="5439857"/>
                <a:ext cx="622534" cy="195814"/>
              </a:xfrm>
              <a:prstGeom prst="rect">
                <a:avLst/>
              </a:prstGeom>
              <a:noFill/>
              <a:ln w="3175" cap="flat" cmpd="sng" algn="ctr">
                <a:noFill/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txBody>
              <a:bodyPr vert="horz" wrap="none" lIns="36000" tIns="36000" rIns="36000" bIns="36000" numCol="1" rtlCol="0" anchor="ctr" anchorCtr="0" compatLnSpc="1">
                <a:prstTxWarp prst="textNoShape">
                  <a:avLst/>
                </a:prstTxWarp>
                <a:spAutoFit/>
              </a:bodyPr>
              <a:lstStyle/>
              <a:p>
                <a:r>
                  <a:rPr lang="ko-KR" altLang="en-US" sz="800" b="1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맑은 고딕" panose="020B0503020000020004" pitchFamily="50" charset="-127"/>
                  </a:rPr>
                  <a:t>관련 검색어</a:t>
                </a:r>
                <a:endParaRPr lang="en-US" altLang="ko-KR" sz="800" b="1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endParaRPr>
              </a:p>
            </p:txBody>
          </p:sp>
          <p:sp>
            <p:nvSpPr>
              <p:cNvPr id="172" name="TextBox 171">
                <a:extLst>
                  <a:ext uri="{FF2B5EF4-FFF2-40B4-BE49-F238E27FC236}">
                    <a16:creationId xmlns="" xmlns:a16="http://schemas.microsoft.com/office/drawing/2014/main" id="{0C96C875-C47F-4F5B-B4C1-F9D666A7BD9D}"/>
                  </a:ext>
                </a:extLst>
              </p:cNvPr>
              <p:cNvSpPr txBox="1"/>
              <p:nvPr/>
            </p:nvSpPr>
            <p:spPr>
              <a:xfrm>
                <a:off x="4968162" y="5702596"/>
                <a:ext cx="360000" cy="216000"/>
              </a:xfrm>
              <a:prstGeom prst="roundRect">
                <a:avLst>
                  <a:gd name="adj" fmla="val 50000"/>
                </a:avLst>
              </a:prstGeom>
              <a:solidFill>
                <a:schemeClr val="bg1">
                  <a:lumMod val="95000"/>
                </a:schemeClr>
              </a:solidFill>
              <a:ln w="3175" cap="flat" cmpd="sng" algn="ctr">
                <a:noFill/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txBody>
              <a:bodyPr vert="horz" wrap="none" lIns="36000" tIns="36000" rIns="36000" bIns="36000" numCol="1" rtlCol="0" anchor="ctr" anchorCtr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en-US" altLang="ko-KR" sz="700" smtClean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맑은 고딕" panose="020B0503020000020004" pitchFamily="50" charset="-127"/>
                  </a:rPr>
                  <a:t>25FW</a:t>
                </a:r>
                <a:endParaRPr lang="ko-KR" altLang="en-US" sz="7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맑은 고딕" panose="020B0503020000020004" pitchFamily="50" charset="-127"/>
                </a:endParaRPr>
              </a:p>
            </p:txBody>
          </p:sp>
          <p:sp>
            <p:nvSpPr>
              <p:cNvPr id="176" name="TextBox 175">
                <a:extLst>
                  <a:ext uri="{FF2B5EF4-FFF2-40B4-BE49-F238E27FC236}">
                    <a16:creationId xmlns="" xmlns:a16="http://schemas.microsoft.com/office/drawing/2014/main" id="{0C96C875-C47F-4F5B-B4C1-F9D666A7BD9D}"/>
                  </a:ext>
                </a:extLst>
              </p:cNvPr>
              <p:cNvSpPr txBox="1"/>
              <p:nvPr/>
            </p:nvSpPr>
            <p:spPr>
              <a:xfrm>
                <a:off x="5401000" y="5702596"/>
                <a:ext cx="576000" cy="216000"/>
              </a:xfrm>
              <a:prstGeom prst="roundRect">
                <a:avLst>
                  <a:gd name="adj" fmla="val 50000"/>
                </a:avLst>
              </a:prstGeom>
              <a:solidFill>
                <a:schemeClr val="bg1">
                  <a:lumMod val="95000"/>
                </a:schemeClr>
              </a:solidFill>
              <a:ln w="3175" cap="flat" cmpd="sng" algn="ctr">
                <a:noFill/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txBody>
              <a:bodyPr vert="horz" wrap="none" lIns="36000" tIns="36000" rIns="36000" bIns="36000" numCol="1" rtlCol="0" anchor="ctr" anchorCtr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ko-KR" altLang="en-US" sz="700" smtClean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맑은 고딕" panose="020B0503020000020004" pitchFamily="50" charset="-127"/>
                  </a:rPr>
                  <a:t>위켄드세일</a:t>
                </a:r>
                <a:endParaRPr lang="ko-KR" altLang="en-US" sz="7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맑은 고딕" panose="020B0503020000020004" pitchFamily="50" charset="-127"/>
                </a:endParaRPr>
              </a:p>
            </p:txBody>
          </p:sp>
          <p:sp>
            <p:nvSpPr>
              <p:cNvPr id="177" name="TextBox 176">
                <a:extLst>
                  <a:ext uri="{FF2B5EF4-FFF2-40B4-BE49-F238E27FC236}">
                    <a16:creationId xmlns="" xmlns:a16="http://schemas.microsoft.com/office/drawing/2014/main" id="{0C96C875-C47F-4F5B-B4C1-F9D666A7BD9D}"/>
                  </a:ext>
                </a:extLst>
              </p:cNvPr>
              <p:cNvSpPr txBox="1"/>
              <p:nvPr/>
            </p:nvSpPr>
            <p:spPr>
              <a:xfrm>
                <a:off x="6047508" y="5702596"/>
                <a:ext cx="504000" cy="216000"/>
              </a:xfrm>
              <a:prstGeom prst="roundRect">
                <a:avLst>
                  <a:gd name="adj" fmla="val 50000"/>
                </a:avLst>
              </a:prstGeom>
              <a:solidFill>
                <a:schemeClr val="bg1">
                  <a:lumMod val="95000"/>
                </a:schemeClr>
              </a:solidFill>
              <a:ln w="3175" cap="flat" cmpd="sng" algn="ctr">
                <a:noFill/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txBody>
              <a:bodyPr vert="horz" wrap="none" lIns="36000" tIns="36000" rIns="36000" bIns="36000" numCol="1" rtlCol="0" anchor="ctr" anchorCtr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ko-KR" altLang="en-US" sz="700" smtClean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맑은 고딕" panose="020B0503020000020004" pitchFamily="50" charset="-127"/>
                  </a:rPr>
                  <a:t>선물포장</a:t>
                </a:r>
                <a:endParaRPr lang="ko-KR" altLang="en-US" sz="7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맑은 고딕" panose="020B0503020000020004" pitchFamily="50" charset="-127"/>
                </a:endParaRPr>
              </a:p>
            </p:txBody>
          </p:sp>
          <p:grpSp>
            <p:nvGrpSpPr>
              <p:cNvPr id="4" name="그룹 3"/>
              <p:cNvGrpSpPr/>
              <p:nvPr/>
            </p:nvGrpSpPr>
            <p:grpSpPr>
              <a:xfrm>
                <a:off x="4824187" y="5892774"/>
                <a:ext cx="2879531" cy="504000"/>
                <a:chOff x="4824187" y="5892774"/>
                <a:chExt cx="2879531" cy="504000"/>
              </a:xfrm>
            </p:grpSpPr>
            <p:sp>
              <p:nvSpPr>
                <p:cNvPr id="299" name="직사각형 298">
                  <a:extLst>
                    <a:ext uri="{FF2B5EF4-FFF2-40B4-BE49-F238E27FC236}">
                      <a16:creationId xmlns:a16="http://schemas.microsoft.com/office/drawing/2014/main" xmlns="" id="{19FD5FA0-B111-4EF7-BC86-418441928DD3}"/>
                    </a:ext>
                  </a:extLst>
                </p:cNvPr>
                <p:cNvSpPr/>
                <p:nvPr/>
              </p:nvSpPr>
              <p:spPr>
                <a:xfrm>
                  <a:off x="4824187" y="5892774"/>
                  <a:ext cx="2879531" cy="504000"/>
                </a:xfrm>
                <a:prstGeom prst="rect">
                  <a:avLst/>
                </a:prstGeom>
                <a:solidFill>
                  <a:schemeClr val="bg1"/>
                </a:solidFill>
                <a:ln w="3175"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700"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맑은 고딕" panose="020B0503020000020004" pitchFamily="50" charset="-127"/>
                  </a:endParaRPr>
                </a:p>
              </p:txBody>
            </p:sp>
            <p:sp>
              <p:nvSpPr>
                <p:cNvPr id="300" name="모서리가 둥근 직사각형 299">
                  <a:extLst>
                    <a:ext uri="{FF2B5EF4-FFF2-40B4-BE49-F238E27FC236}">
                      <a16:creationId xmlns="" xmlns:a16="http://schemas.microsoft.com/office/drawing/2014/main" id="{19FD5FA0-B111-4EF7-BC86-418441928DD3}"/>
                    </a:ext>
                  </a:extLst>
                </p:cNvPr>
                <p:cNvSpPr/>
                <p:nvPr/>
              </p:nvSpPr>
              <p:spPr>
                <a:xfrm>
                  <a:off x="6477456" y="5964803"/>
                  <a:ext cx="1153187" cy="359942"/>
                </a:xfrm>
                <a:prstGeom prst="roundRect">
                  <a:avLst>
                    <a:gd name="adj" fmla="val 9391"/>
                  </a:avLst>
                </a:prstGeom>
                <a:solidFill>
                  <a:schemeClr val="tx1">
                    <a:lumMod val="75000"/>
                    <a:lumOff val="25000"/>
                  </a:schemeClr>
                </a:solidFill>
                <a:ln w="3175">
                  <a:solidFill>
                    <a:schemeClr val="tx1">
                      <a:lumMod val="75000"/>
                      <a:lumOff val="2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ko-KR" altLang="en-US" sz="700" smtClean="0">
                      <a:solidFill>
                        <a:schemeClr val="bg1"/>
                      </a:solidFill>
                      <a:latin typeface="맑은 고딕" panose="020B0503020000020004" pitchFamily="50" charset="-127"/>
                    </a:rPr>
                    <a:t>구매하기</a:t>
                  </a:r>
                  <a:endParaRPr lang="ko-KR" altLang="en-US" sz="700">
                    <a:solidFill>
                      <a:schemeClr val="bg1"/>
                    </a:solidFill>
                    <a:latin typeface="맑은 고딕" panose="020B0503020000020004" pitchFamily="50" charset="-127"/>
                  </a:endParaRPr>
                </a:p>
              </p:txBody>
            </p:sp>
            <p:sp>
              <p:nvSpPr>
                <p:cNvPr id="301" name="모서리가 둥근 직사각형 300">
                  <a:extLst>
                    <a:ext uri="{FF2B5EF4-FFF2-40B4-BE49-F238E27FC236}">
                      <a16:creationId xmlns="" xmlns:a16="http://schemas.microsoft.com/office/drawing/2014/main" id="{19FD5FA0-B111-4EF7-BC86-418441928DD3}"/>
                    </a:ext>
                  </a:extLst>
                </p:cNvPr>
                <p:cNvSpPr/>
                <p:nvPr/>
              </p:nvSpPr>
              <p:spPr>
                <a:xfrm>
                  <a:off x="4895277" y="5964803"/>
                  <a:ext cx="360000" cy="359942"/>
                </a:xfrm>
                <a:prstGeom prst="roundRect">
                  <a:avLst>
                    <a:gd name="adj" fmla="val 9391"/>
                  </a:avLst>
                </a:prstGeom>
                <a:solidFill>
                  <a:schemeClr val="bg1"/>
                </a:solidFill>
                <a:ln w="3175">
                  <a:solidFill>
                    <a:schemeClr val="tx1">
                      <a:lumMod val="75000"/>
                      <a:lumOff val="2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700" b="1">
                    <a:solidFill>
                      <a:srgbClr val="DC2832"/>
                    </a:solidFill>
                    <a:latin typeface="맑은 고딕" panose="020B0503020000020004" pitchFamily="50" charset="-127"/>
                  </a:endParaRPr>
                </a:p>
              </p:txBody>
            </p:sp>
            <p:grpSp>
              <p:nvGrpSpPr>
                <p:cNvPr id="302" name="그룹 301"/>
                <p:cNvGrpSpPr/>
                <p:nvPr/>
              </p:nvGrpSpPr>
              <p:grpSpPr>
                <a:xfrm>
                  <a:off x="4996540" y="6026179"/>
                  <a:ext cx="157474" cy="237190"/>
                  <a:chOff x="5491883" y="6027689"/>
                  <a:chExt cx="157474" cy="237190"/>
                </a:xfrm>
              </p:grpSpPr>
              <p:sp>
                <p:nvSpPr>
                  <p:cNvPr id="303" name="Like"/>
                  <p:cNvSpPr>
                    <a:spLocks noChangeAspect="1" noEditPoints="1"/>
                  </p:cNvSpPr>
                  <p:nvPr/>
                </p:nvSpPr>
                <p:spPr bwMode="auto">
                  <a:xfrm>
                    <a:off x="5491883" y="6027689"/>
                    <a:ext cx="157474" cy="157474"/>
                  </a:xfrm>
                  <a:custGeom>
                    <a:avLst/>
                    <a:gdLst>
                      <a:gd name="T0" fmla="*/ 174 w 614"/>
                      <a:gd name="T1" fmla="*/ 0 h 538"/>
                      <a:gd name="T2" fmla="*/ 0 w 614"/>
                      <a:gd name="T3" fmla="*/ 174 h 538"/>
                      <a:gd name="T4" fmla="*/ 299 w 614"/>
                      <a:gd name="T5" fmla="*/ 531 h 538"/>
                      <a:gd name="T6" fmla="*/ 307 w 614"/>
                      <a:gd name="T7" fmla="*/ 538 h 538"/>
                      <a:gd name="T8" fmla="*/ 315 w 614"/>
                      <a:gd name="T9" fmla="*/ 531 h 538"/>
                      <a:gd name="T10" fmla="*/ 614 w 614"/>
                      <a:gd name="T11" fmla="*/ 174 h 538"/>
                      <a:gd name="T12" fmla="*/ 440 w 614"/>
                      <a:gd name="T13" fmla="*/ 0 h 538"/>
                      <a:gd name="T14" fmla="*/ 307 w 614"/>
                      <a:gd name="T15" fmla="*/ 65 h 538"/>
                      <a:gd name="T16" fmla="*/ 174 w 614"/>
                      <a:gd name="T17" fmla="*/ 0 h 538"/>
                      <a:gd name="T18" fmla="*/ 174 w 614"/>
                      <a:gd name="T19" fmla="*/ 27 h 538"/>
                      <a:gd name="T20" fmla="*/ 296 w 614"/>
                      <a:gd name="T21" fmla="*/ 93 h 538"/>
                      <a:gd name="T22" fmla="*/ 307 w 614"/>
                      <a:gd name="T23" fmla="*/ 110 h 538"/>
                      <a:gd name="T24" fmla="*/ 318 w 614"/>
                      <a:gd name="T25" fmla="*/ 93 h 538"/>
                      <a:gd name="T26" fmla="*/ 440 w 614"/>
                      <a:gd name="T27" fmla="*/ 27 h 538"/>
                      <a:gd name="T28" fmla="*/ 587 w 614"/>
                      <a:gd name="T29" fmla="*/ 174 h 538"/>
                      <a:gd name="T30" fmla="*/ 307 w 614"/>
                      <a:gd name="T31" fmla="*/ 504 h 538"/>
                      <a:gd name="T32" fmla="*/ 27 w 614"/>
                      <a:gd name="T33" fmla="*/ 174 h 538"/>
                      <a:gd name="T34" fmla="*/ 174 w 614"/>
                      <a:gd name="T35" fmla="*/ 27 h 53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</a:cxnLst>
                    <a:rect l="0" t="0" r="r" b="b"/>
                    <a:pathLst>
                      <a:path w="614" h="538">
                        <a:moveTo>
                          <a:pt x="174" y="0"/>
                        </a:moveTo>
                        <a:cubicBezTo>
                          <a:pt x="78" y="0"/>
                          <a:pt x="0" y="78"/>
                          <a:pt x="0" y="174"/>
                        </a:cubicBezTo>
                        <a:cubicBezTo>
                          <a:pt x="0" y="371"/>
                          <a:pt x="223" y="468"/>
                          <a:pt x="299" y="531"/>
                        </a:cubicBezTo>
                        <a:lnTo>
                          <a:pt x="307" y="538"/>
                        </a:lnTo>
                        <a:lnTo>
                          <a:pt x="315" y="531"/>
                        </a:lnTo>
                        <a:cubicBezTo>
                          <a:pt x="391" y="468"/>
                          <a:pt x="614" y="371"/>
                          <a:pt x="614" y="174"/>
                        </a:cubicBezTo>
                        <a:cubicBezTo>
                          <a:pt x="614" y="78"/>
                          <a:pt x="536" y="0"/>
                          <a:pt x="440" y="0"/>
                        </a:cubicBezTo>
                        <a:cubicBezTo>
                          <a:pt x="386" y="0"/>
                          <a:pt x="339" y="26"/>
                          <a:pt x="307" y="65"/>
                        </a:cubicBezTo>
                        <a:cubicBezTo>
                          <a:pt x="275" y="26"/>
                          <a:pt x="228" y="0"/>
                          <a:pt x="174" y="0"/>
                        </a:cubicBezTo>
                        <a:close/>
                        <a:moveTo>
                          <a:pt x="174" y="27"/>
                        </a:moveTo>
                        <a:cubicBezTo>
                          <a:pt x="225" y="27"/>
                          <a:pt x="269" y="53"/>
                          <a:pt x="296" y="93"/>
                        </a:cubicBezTo>
                        <a:lnTo>
                          <a:pt x="307" y="110"/>
                        </a:lnTo>
                        <a:lnTo>
                          <a:pt x="318" y="93"/>
                        </a:lnTo>
                        <a:cubicBezTo>
                          <a:pt x="344" y="53"/>
                          <a:pt x="389" y="27"/>
                          <a:pt x="440" y="27"/>
                        </a:cubicBezTo>
                        <a:cubicBezTo>
                          <a:pt x="521" y="27"/>
                          <a:pt x="587" y="93"/>
                          <a:pt x="587" y="174"/>
                        </a:cubicBezTo>
                        <a:cubicBezTo>
                          <a:pt x="587" y="346"/>
                          <a:pt x="395" y="435"/>
                          <a:pt x="307" y="504"/>
                        </a:cubicBezTo>
                        <a:cubicBezTo>
                          <a:pt x="219" y="435"/>
                          <a:pt x="27" y="346"/>
                          <a:pt x="27" y="174"/>
                        </a:cubicBezTo>
                        <a:cubicBezTo>
                          <a:pt x="27" y="93"/>
                          <a:pt x="92" y="27"/>
                          <a:pt x="174" y="27"/>
                        </a:cubicBezTo>
                        <a:close/>
                      </a:path>
                    </a:pathLst>
                  </a:custGeom>
                  <a:solidFill>
                    <a:srgbClr val="5F5F5F"/>
                  </a:soli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>
                    <a:defPPr>
                      <a:defRPr lang="en-US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endParaRPr lang="en-US" sz="800">
                      <a:latin typeface="Segoe UI" panose="020B0502040204020203" pitchFamily="34" charset="0"/>
                      <a:cs typeface="Segoe UI" panose="020B0502040204020203" pitchFamily="34" charset="0"/>
                    </a:endParaRPr>
                  </a:p>
                </p:txBody>
              </p:sp>
              <p:sp>
                <p:nvSpPr>
                  <p:cNvPr id="304" name="TextBox 303"/>
                  <p:cNvSpPr txBox="1"/>
                  <p:nvPr/>
                </p:nvSpPr>
                <p:spPr>
                  <a:xfrm>
                    <a:off x="5535354" y="6187935"/>
                    <a:ext cx="70532" cy="76944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 anchor="ctr">
                    <a:spAutoFit/>
                  </a:bodyPr>
                  <a:lstStyle/>
                  <a:p>
                    <a:r>
                      <a:rPr lang="en-US" altLang="ko-KR" sz="50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rPr>
                      <a:t>54</a:t>
                    </a:r>
                    <a:endParaRPr lang="ko-KR" altLang="en-US" sz="500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맑은 고딕" panose="020B0503020000020004" pitchFamily="50" charset="-127"/>
                      <a:ea typeface="맑은 고딕" panose="020B0503020000020004" pitchFamily="50" charset="-127"/>
                    </a:endParaRPr>
                  </a:p>
                </p:txBody>
              </p:sp>
            </p:grpSp>
            <p:sp>
              <p:nvSpPr>
                <p:cNvPr id="220" name="모서리가 둥근 직사각형 219">
                  <a:extLst>
                    <a:ext uri="{FF2B5EF4-FFF2-40B4-BE49-F238E27FC236}">
                      <a16:creationId xmlns="" xmlns:a16="http://schemas.microsoft.com/office/drawing/2014/main" id="{19FD5FA0-B111-4EF7-BC86-418441928DD3}"/>
                    </a:ext>
                  </a:extLst>
                </p:cNvPr>
                <p:cNvSpPr/>
                <p:nvPr/>
              </p:nvSpPr>
              <p:spPr>
                <a:xfrm>
                  <a:off x="5326367" y="5964803"/>
                  <a:ext cx="1080000" cy="359942"/>
                </a:xfrm>
                <a:prstGeom prst="roundRect">
                  <a:avLst>
                    <a:gd name="adj" fmla="val 9391"/>
                  </a:avLst>
                </a:prstGeom>
                <a:solidFill>
                  <a:schemeClr val="bg1"/>
                </a:solidFill>
                <a:ln w="3175">
                  <a:solidFill>
                    <a:schemeClr val="tx1">
                      <a:lumMod val="75000"/>
                      <a:lumOff val="2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180000" tIns="0" rIns="0" bIns="0" rtlCol="0" anchor="ctr"/>
                <a:lstStyle/>
                <a:p>
                  <a:pPr algn="ctr"/>
                  <a:r>
                    <a:rPr lang="ko-KR" altLang="en-US" sz="700" b="1" smtClean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맑은 고딕" panose="020B0503020000020004" pitchFamily="50" charset="-127"/>
                    </a:rPr>
                    <a:t>선물하기</a:t>
                  </a:r>
                  <a:endParaRPr lang="ko-KR" altLang="en-US" sz="700" b="1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맑은 고딕" panose="020B0503020000020004" pitchFamily="50" charset="-127"/>
                  </a:endParaRPr>
                </a:p>
              </p:txBody>
            </p:sp>
            <p:sp>
              <p:nvSpPr>
                <p:cNvPr id="221" name="Gift"/>
                <p:cNvSpPr>
                  <a:spLocks noChangeAspect="1" noEditPoints="1"/>
                </p:cNvSpPr>
                <p:nvPr/>
              </p:nvSpPr>
              <p:spPr bwMode="auto">
                <a:xfrm>
                  <a:off x="5582428" y="6072774"/>
                  <a:ext cx="142545" cy="144000"/>
                </a:xfrm>
                <a:custGeom>
                  <a:avLst/>
                  <a:gdLst>
                    <a:gd name="T0" fmla="*/ 95 w 640"/>
                    <a:gd name="T1" fmla="*/ 23 h 640"/>
                    <a:gd name="T2" fmla="*/ 124 w 640"/>
                    <a:gd name="T3" fmla="*/ 147 h 640"/>
                    <a:gd name="T4" fmla="*/ 0 w 640"/>
                    <a:gd name="T5" fmla="*/ 160 h 640"/>
                    <a:gd name="T6" fmla="*/ 27 w 640"/>
                    <a:gd name="T7" fmla="*/ 307 h 640"/>
                    <a:gd name="T8" fmla="*/ 614 w 640"/>
                    <a:gd name="T9" fmla="*/ 640 h 640"/>
                    <a:gd name="T10" fmla="*/ 640 w 640"/>
                    <a:gd name="T11" fmla="*/ 307 h 640"/>
                    <a:gd name="T12" fmla="*/ 492 w 640"/>
                    <a:gd name="T13" fmla="*/ 160 h 640"/>
                    <a:gd name="T14" fmla="*/ 560 w 640"/>
                    <a:gd name="T15" fmla="*/ 67 h 640"/>
                    <a:gd name="T16" fmla="*/ 489 w 640"/>
                    <a:gd name="T17" fmla="*/ 0 h 640"/>
                    <a:gd name="T18" fmla="*/ 387 w 640"/>
                    <a:gd name="T19" fmla="*/ 80 h 640"/>
                    <a:gd name="T20" fmla="*/ 320 w 640"/>
                    <a:gd name="T21" fmla="*/ 147 h 640"/>
                    <a:gd name="T22" fmla="*/ 254 w 640"/>
                    <a:gd name="T23" fmla="*/ 80 h 640"/>
                    <a:gd name="T24" fmla="*/ 151 w 640"/>
                    <a:gd name="T25" fmla="*/ 0 h 640"/>
                    <a:gd name="T26" fmla="*/ 197 w 640"/>
                    <a:gd name="T27" fmla="*/ 46 h 640"/>
                    <a:gd name="T28" fmla="*/ 265 w 640"/>
                    <a:gd name="T29" fmla="*/ 146 h 640"/>
                    <a:gd name="T30" fmla="*/ 214 w 640"/>
                    <a:gd name="T31" fmla="*/ 147 h 640"/>
                    <a:gd name="T32" fmla="*/ 107 w 640"/>
                    <a:gd name="T33" fmla="*/ 67 h 640"/>
                    <a:gd name="T34" fmla="*/ 151 w 640"/>
                    <a:gd name="T35" fmla="*/ 27 h 640"/>
                    <a:gd name="T36" fmla="*/ 525 w 640"/>
                    <a:gd name="T37" fmla="*/ 40 h 640"/>
                    <a:gd name="T38" fmla="*/ 501 w 640"/>
                    <a:gd name="T39" fmla="*/ 125 h 640"/>
                    <a:gd name="T40" fmla="*/ 375 w 640"/>
                    <a:gd name="T41" fmla="*/ 147 h 640"/>
                    <a:gd name="T42" fmla="*/ 410 w 640"/>
                    <a:gd name="T43" fmla="*/ 94 h 640"/>
                    <a:gd name="T44" fmla="*/ 489 w 640"/>
                    <a:gd name="T45" fmla="*/ 27 h 640"/>
                    <a:gd name="T46" fmla="*/ 240 w 640"/>
                    <a:gd name="T47" fmla="*/ 187 h 640"/>
                    <a:gd name="T48" fmla="*/ 27 w 640"/>
                    <a:gd name="T49" fmla="*/ 280 h 640"/>
                    <a:gd name="T50" fmla="*/ 267 w 640"/>
                    <a:gd name="T51" fmla="*/ 187 h 640"/>
                    <a:gd name="T52" fmla="*/ 374 w 640"/>
                    <a:gd name="T53" fmla="*/ 614 h 640"/>
                    <a:gd name="T54" fmla="*/ 267 w 640"/>
                    <a:gd name="T55" fmla="*/ 187 h 640"/>
                    <a:gd name="T56" fmla="*/ 614 w 640"/>
                    <a:gd name="T57" fmla="*/ 187 h 640"/>
                    <a:gd name="T58" fmla="*/ 400 w 640"/>
                    <a:gd name="T59" fmla="*/ 280 h 640"/>
                    <a:gd name="T60" fmla="*/ 54 w 640"/>
                    <a:gd name="T61" fmla="*/ 307 h 640"/>
                    <a:gd name="T62" fmla="*/ 240 w 640"/>
                    <a:gd name="T63" fmla="*/ 614 h 640"/>
                    <a:gd name="T64" fmla="*/ 54 w 640"/>
                    <a:gd name="T65" fmla="*/ 307 h 640"/>
                    <a:gd name="T66" fmla="*/ 587 w 640"/>
                    <a:gd name="T67" fmla="*/ 307 h 640"/>
                    <a:gd name="T68" fmla="*/ 400 w 640"/>
                    <a:gd name="T69" fmla="*/ 614 h 64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</a:cxnLst>
                  <a:rect l="0" t="0" r="r" b="b"/>
                  <a:pathLst>
                    <a:path w="640" h="640">
                      <a:moveTo>
                        <a:pt x="151" y="0"/>
                      </a:moveTo>
                      <a:cubicBezTo>
                        <a:pt x="126" y="0"/>
                        <a:pt x="106" y="9"/>
                        <a:pt x="95" y="23"/>
                      </a:cubicBezTo>
                      <a:cubicBezTo>
                        <a:pt x="84" y="36"/>
                        <a:pt x="80" y="53"/>
                        <a:pt x="80" y="67"/>
                      </a:cubicBezTo>
                      <a:cubicBezTo>
                        <a:pt x="80" y="101"/>
                        <a:pt x="99" y="129"/>
                        <a:pt x="124" y="147"/>
                      </a:cubicBezTo>
                      <a:cubicBezTo>
                        <a:pt x="132" y="152"/>
                        <a:pt x="140" y="157"/>
                        <a:pt x="149" y="160"/>
                      </a:cubicBezTo>
                      <a:lnTo>
                        <a:pt x="0" y="160"/>
                      </a:lnTo>
                      <a:lnTo>
                        <a:pt x="0" y="307"/>
                      </a:lnTo>
                      <a:lnTo>
                        <a:pt x="27" y="307"/>
                      </a:lnTo>
                      <a:lnTo>
                        <a:pt x="27" y="640"/>
                      </a:lnTo>
                      <a:lnTo>
                        <a:pt x="614" y="640"/>
                      </a:lnTo>
                      <a:lnTo>
                        <a:pt x="614" y="307"/>
                      </a:lnTo>
                      <a:lnTo>
                        <a:pt x="640" y="307"/>
                      </a:lnTo>
                      <a:lnTo>
                        <a:pt x="640" y="160"/>
                      </a:lnTo>
                      <a:lnTo>
                        <a:pt x="492" y="160"/>
                      </a:lnTo>
                      <a:cubicBezTo>
                        <a:pt x="501" y="157"/>
                        <a:pt x="509" y="152"/>
                        <a:pt x="517" y="147"/>
                      </a:cubicBezTo>
                      <a:cubicBezTo>
                        <a:pt x="542" y="129"/>
                        <a:pt x="560" y="101"/>
                        <a:pt x="560" y="67"/>
                      </a:cubicBezTo>
                      <a:cubicBezTo>
                        <a:pt x="560" y="53"/>
                        <a:pt x="557" y="36"/>
                        <a:pt x="546" y="23"/>
                      </a:cubicBezTo>
                      <a:cubicBezTo>
                        <a:pt x="534" y="9"/>
                        <a:pt x="515" y="0"/>
                        <a:pt x="489" y="0"/>
                      </a:cubicBezTo>
                      <a:cubicBezTo>
                        <a:pt x="463" y="0"/>
                        <a:pt x="442" y="12"/>
                        <a:pt x="425" y="27"/>
                      </a:cubicBezTo>
                      <a:cubicBezTo>
                        <a:pt x="409" y="43"/>
                        <a:pt x="398" y="62"/>
                        <a:pt x="387" y="80"/>
                      </a:cubicBezTo>
                      <a:cubicBezTo>
                        <a:pt x="376" y="99"/>
                        <a:pt x="366" y="117"/>
                        <a:pt x="356" y="129"/>
                      </a:cubicBezTo>
                      <a:cubicBezTo>
                        <a:pt x="345" y="141"/>
                        <a:pt x="335" y="147"/>
                        <a:pt x="320" y="147"/>
                      </a:cubicBezTo>
                      <a:cubicBezTo>
                        <a:pt x="306" y="147"/>
                        <a:pt x="296" y="141"/>
                        <a:pt x="285" y="129"/>
                      </a:cubicBezTo>
                      <a:cubicBezTo>
                        <a:pt x="274" y="117"/>
                        <a:pt x="265" y="99"/>
                        <a:pt x="254" y="80"/>
                      </a:cubicBezTo>
                      <a:cubicBezTo>
                        <a:pt x="243" y="62"/>
                        <a:pt x="231" y="43"/>
                        <a:pt x="215" y="27"/>
                      </a:cubicBezTo>
                      <a:cubicBezTo>
                        <a:pt x="199" y="12"/>
                        <a:pt x="178" y="0"/>
                        <a:pt x="151" y="0"/>
                      </a:cubicBezTo>
                      <a:close/>
                      <a:moveTo>
                        <a:pt x="151" y="27"/>
                      </a:moveTo>
                      <a:cubicBezTo>
                        <a:pt x="171" y="27"/>
                        <a:pt x="184" y="34"/>
                        <a:pt x="197" y="46"/>
                      </a:cubicBezTo>
                      <a:cubicBezTo>
                        <a:pt x="209" y="58"/>
                        <a:pt x="220" y="76"/>
                        <a:pt x="231" y="94"/>
                      </a:cubicBezTo>
                      <a:cubicBezTo>
                        <a:pt x="241" y="112"/>
                        <a:pt x="252" y="131"/>
                        <a:pt x="265" y="146"/>
                      </a:cubicBezTo>
                      <a:cubicBezTo>
                        <a:pt x="266" y="147"/>
                        <a:pt x="266" y="147"/>
                        <a:pt x="266" y="147"/>
                      </a:cubicBezTo>
                      <a:lnTo>
                        <a:pt x="214" y="147"/>
                      </a:lnTo>
                      <a:cubicBezTo>
                        <a:pt x="187" y="147"/>
                        <a:pt x="159" y="139"/>
                        <a:pt x="139" y="125"/>
                      </a:cubicBezTo>
                      <a:cubicBezTo>
                        <a:pt x="119" y="111"/>
                        <a:pt x="107" y="92"/>
                        <a:pt x="107" y="67"/>
                      </a:cubicBezTo>
                      <a:cubicBezTo>
                        <a:pt x="107" y="57"/>
                        <a:pt x="110" y="47"/>
                        <a:pt x="116" y="40"/>
                      </a:cubicBezTo>
                      <a:cubicBezTo>
                        <a:pt x="121" y="33"/>
                        <a:pt x="131" y="27"/>
                        <a:pt x="151" y="27"/>
                      </a:cubicBezTo>
                      <a:close/>
                      <a:moveTo>
                        <a:pt x="489" y="27"/>
                      </a:moveTo>
                      <a:cubicBezTo>
                        <a:pt x="510" y="27"/>
                        <a:pt x="519" y="33"/>
                        <a:pt x="525" y="40"/>
                      </a:cubicBezTo>
                      <a:cubicBezTo>
                        <a:pt x="531" y="47"/>
                        <a:pt x="534" y="57"/>
                        <a:pt x="534" y="67"/>
                      </a:cubicBezTo>
                      <a:cubicBezTo>
                        <a:pt x="534" y="92"/>
                        <a:pt x="521" y="111"/>
                        <a:pt x="501" y="125"/>
                      </a:cubicBezTo>
                      <a:cubicBezTo>
                        <a:pt x="482" y="139"/>
                        <a:pt x="454" y="147"/>
                        <a:pt x="427" y="147"/>
                      </a:cubicBezTo>
                      <a:lnTo>
                        <a:pt x="375" y="147"/>
                      </a:lnTo>
                      <a:cubicBezTo>
                        <a:pt x="375" y="147"/>
                        <a:pt x="375" y="147"/>
                        <a:pt x="376" y="146"/>
                      </a:cubicBezTo>
                      <a:cubicBezTo>
                        <a:pt x="389" y="131"/>
                        <a:pt x="399" y="112"/>
                        <a:pt x="410" y="94"/>
                      </a:cubicBezTo>
                      <a:cubicBezTo>
                        <a:pt x="421" y="76"/>
                        <a:pt x="431" y="58"/>
                        <a:pt x="444" y="46"/>
                      </a:cubicBezTo>
                      <a:cubicBezTo>
                        <a:pt x="456" y="34"/>
                        <a:pt x="470" y="27"/>
                        <a:pt x="489" y="27"/>
                      </a:cubicBezTo>
                      <a:close/>
                      <a:moveTo>
                        <a:pt x="27" y="187"/>
                      </a:moveTo>
                      <a:lnTo>
                        <a:pt x="240" y="187"/>
                      </a:lnTo>
                      <a:lnTo>
                        <a:pt x="240" y="280"/>
                      </a:lnTo>
                      <a:lnTo>
                        <a:pt x="27" y="280"/>
                      </a:lnTo>
                      <a:lnTo>
                        <a:pt x="27" y="187"/>
                      </a:lnTo>
                      <a:close/>
                      <a:moveTo>
                        <a:pt x="267" y="187"/>
                      </a:moveTo>
                      <a:lnTo>
                        <a:pt x="374" y="187"/>
                      </a:lnTo>
                      <a:cubicBezTo>
                        <a:pt x="374" y="329"/>
                        <a:pt x="374" y="471"/>
                        <a:pt x="374" y="614"/>
                      </a:cubicBezTo>
                      <a:lnTo>
                        <a:pt x="267" y="614"/>
                      </a:lnTo>
                      <a:cubicBezTo>
                        <a:pt x="267" y="471"/>
                        <a:pt x="267" y="329"/>
                        <a:pt x="267" y="187"/>
                      </a:cubicBezTo>
                      <a:close/>
                      <a:moveTo>
                        <a:pt x="400" y="187"/>
                      </a:moveTo>
                      <a:lnTo>
                        <a:pt x="614" y="187"/>
                      </a:lnTo>
                      <a:lnTo>
                        <a:pt x="614" y="280"/>
                      </a:lnTo>
                      <a:lnTo>
                        <a:pt x="400" y="280"/>
                      </a:lnTo>
                      <a:lnTo>
                        <a:pt x="400" y="187"/>
                      </a:lnTo>
                      <a:close/>
                      <a:moveTo>
                        <a:pt x="54" y="307"/>
                      </a:moveTo>
                      <a:lnTo>
                        <a:pt x="240" y="307"/>
                      </a:lnTo>
                      <a:lnTo>
                        <a:pt x="240" y="614"/>
                      </a:lnTo>
                      <a:lnTo>
                        <a:pt x="54" y="614"/>
                      </a:lnTo>
                      <a:lnTo>
                        <a:pt x="54" y="307"/>
                      </a:lnTo>
                      <a:close/>
                      <a:moveTo>
                        <a:pt x="400" y="307"/>
                      </a:moveTo>
                      <a:lnTo>
                        <a:pt x="587" y="307"/>
                      </a:lnTo>
                      <a:lnTo>
                        <a:pt x="587" y="614"/>
                      </a:lnTo>
                      <a:lnTo>
                        <a:pt x="400" y="614"/>
                      </a:lnTo>
                      <a:lnTo>
                        <a:pt x="400" y="307"/>
                      </a:lnTo>
                      <a:close/>
                    </a:path>
                  </a:pathLst>
                </a:custGeom>
                <a:solidFill>
                  <a:srgbClr val="5F5F5F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en-US" sz="900" dirty="0">
                    <a:latin typeface="Segoe UI" panose="020B0502040204020203" pitchFamily="34" charset="0"/>
                    <a:cs typeface="Segoe UI" panose="020B0502040204020203" pitchFamily="34" charset="0"/>
                  </a:endParaRPr>
                </a:p>
              </p:txBody>
            </p:sp>
          </p:grpSp>
        </p:grpSp>
        <p:sp>
          <p:nvSpPr>
            <p:cNvPr id="426" name="직사각형 425"/>
            <p:cNvSpPr/>
            <p:nvPr/>
          </p:nvSpPr>
          <p:spPr>
            <a:xfrm>
              <a:off x="4824696" y="709700"/>
              <a:ext cx="2880000" cy="5688023"/>
            </a:xfrm>
            <a:prstGeom prst="rect">
              <a:avLst/>
            </a:prstGeom>
            <a:solidFill>
              <a:schemeClr val="tx1">
                <a:lumMod val="75000"/>
                <a:lumOff val="25000"/>
                <a:alpha val="50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427" name="직사각형 426"/>
            <p:cNvSpPr/>
            <p:nvPr/>
          </p:nvSpPr>
          <p:spPr>
            <a:xfrm>
              <a:off x="4824696" y="2293366"/>
              <a:ext cx="2880000" cy="4104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434" name="Delete"/>
            <p:cNvSpPr>
              <a:spLocks noChangeAspect="1"/>
            </p:cNvSpPr>
            <p:nvPr/>
          </p:nvSpPr>
          <p:spPr bwMode="auto">
            <a:xfrm>
              <a:off x="7416985" y="4242053"/>
              <a:ext cx="143992" cy="143991"/>
            </a:xfrm>
            <a:custGeom>
              <a:avLst/>
              <a:gdLst>
                <a:gd name="T0" fmla="*/ 3 w 77"/>
                <a:gd name="T1" fmla="*/ 0 h 77"/>
                <a:gd name="T2" fmla="*/ 0 w 77"/>
                <a:gd name="T3" fmla="*/ 3 h 77"/>
                <a:gd name="T4" fmla="*/ 36 w 77"/>
                <a:gd name="T5" fmla="*/ 38 h 77"/>
                <a:gd name="T6" fmla="*/ 0 w 77"/>
                <a:gd name="T7" fmla="*/ 74 h 77"/>
                <a:gd name="T8" fmla="*/ 3 w 77"/>
                <a:gd name="T9" fmla="*/ 77 h 77"/>
                <a:gd name="T10" fmla="*/ 39 w 77"/>
                <a:gd name="T11" fmla="*/ 41 h 77"/>
                <a:gd name="T12" fmla="*/ 74 w 77"/>
                <a:gd name="T13" fmla="*/ 77 h 77"/>
                <a:gd name="T14" fmla="*/ 77 w 77"/>
                <a:gd name="T15" fmla="*/ 74 h 77"/>
                <a:gd name="T16" fmla="*/ 42 w 77"/>
                <a:gd name="T17" fmla="*/ 38 h 77"/>
                <a:gd name="T18" fmla="*/ 77 w 77"/>
                <a:gd name="T19" fmla="*/ 3 h 77"/>
                <a:gd name="T20" fmla="*/ 74 w 77"/>
                <a:gd name="T21" fmla="*/ 0 h 77"/>
                <a:gd name="T22" fmla="*/ 39 w 77"/>
                <a:gd name="T23" fmla="*/ 35 h 77"/>
                <a:gd name="T24" fmla="*/ 3 w 77"/>
                <a:gd name="T25" fmla="*/ 0 h 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7" h="77">
                  <a:moveTo>
                    <a:pt x="3" y="0"/>
                  </a:moveTo>
                  <a:lnTo>
                    <a:pt x="0" y="3"/>
                  </a:lnTo>
                  <a:lnTo>
                    <a:pt x="36" y="38"/>
                  </a:lnTo>
                  <a:lnTo>
                    <a:pt x="0" y="74"/>
                  </a:lnTo>
                  <a:lnTo>
                    <a:pt x="3" y="77"/>
                  </a:lnTo>
                  <a:lnTo>
                    <a:pt x="39" y="41"/>
                  </a:lnTo>
                  <a:lnTo>
                    <a:pt x="74" y="77"/>
                  </a:lnTo>
                  <a:lnTo>
                    <a:pt x="77" y="74"/>
                  </a:lnTo>
                  <a:lnTo>
                    <a:pt x="42" y="38"/>
                  </a:lnTo>
                  <a:lnTo>
                    <a:pt x="77" y="3"/>
                  </a:lnTo>
                  <a:lnTo>
                    <a:pt x="74" y="0"/>
                  </a:lnTo>
                  <a:lnTo>
                    <a:pt x="39" y="35"/>
                  </a:lnTo>
                  <a:lnTo>
                    <a:pt x="3" y="0"/>
                  </a:lnTo>
                  <a:close/>
                </a:path>
              </a:pathLst>
            </a:custGeom>
            <a:solidFill>
              <a:srgbClr val="5F5F5F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80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492" name="TextBox 491">
              <a:extLst>
                <a:ext uri="{FF2B5EF4-FFF2-40B4-BE49-F238E27FC236}">
                  <a16:creationId xmlns="" xmlns:a16="http://schemas.microsoft.com/office/drawing/2014/main" id="{0C96C875-C47F-4F5B-B4C1-F9D666A7BD9D}"/>
                </a:ext>
              </a:extLst>
            </p:cNvPr>
            <p:cNvSpPr txBox="1"/>
            <p:nvPr/>
          </p:nvSpPr>
          <p:spPr>
            <a:xfrm>
              <a:off x="4968415" y="2453740"/>
              <a:ext cx="463836" cy="180425"/>
            </a:xfrm>
            <a:prstGeom prst="rect">
              <a:avLst/>
            </a:prstGeom>
            <a:noFill/>
            <a:ln w="3175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none" lIns="36000" tIns="36000" rIns="36000" bIns="36000" numCol="1" rtlCol="0" anchor="ctr" anchorCtr="0" compatLnSpc="1">
              <a:prstTxWarp prst="textNoShape">
                <a:avLst/>
              </a:prstTxWarp>
              <a:spAutoFit/>
            </a:bodyPr>
            <a:lstStyle/>
            <a:p>
              <a:r>
                <a:rPr lang="ko-KR" altLang="en-US" sz="700" b="1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컬러</a:t>
              </a:r>
              <a:r>
                <a:rPr lang="ko-KR" altLang="en-US" sz="70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 블랙</a:t>
              </a:r>
              <a:endParaRPr lang="ko-KR" altLang="en-US" sz="7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493" name="모서리가 둥근 직사각형 492"/>
            <p:cNvSpPr/>
            <p:nvPr/>
          </p:nvSpPr>
          <p:spPr>
            <a:xfrm>
              <a:off x="4968415" y="2653350"/>
              <a:ext cx="432000" cy="539912"/>
            </a:xfrm>
            <a:prstGeom prst="roundRect">
              <a:avLst>
                <a:gd name="adj" fmla="val 11375"/>
              </a:avLst>
            </a:prstGeom>
            <a:pattFill prst="openDmnd">
              <a:fgClr>
                <a:schemeClr val="bg1">
                  <a:lumMod val="85000"/>
                </a:schemeClr>
              </a:fgClr>
              <a:bgClr>
                <a:schemeClr val="bg1"/>
              </a:bgClr>
            </a:patt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60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PROD</a:t>
              </a:r>
            </a:p>
            <a:p>
              <a:pPr algn="ctr"/>
              <a:r>
                <a:rPr lang="en-US" altLang="ko-KR" sz="60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IMG</a:t>
              </a:r>
              <a:endParaRPr lang="ko-KR" altLang="en-US" sz="6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494" name="모서리가 둥근 직사각형 493"/>
            <p:cNvSpPr/>
            <p:nvPr/>
          </p:nvSpPr>
          <p:spPr>
            <a:xfrm>
              <a:off x="5472836" y="2653350"/>
              <a:ext cx="432000" cy="539912"/>
            </a:xfrm>
            <a:prstGeom prst="roundRect">
              <a:avLst>
                <a:gd name="adj" fmla="val 11375"/>
              </a:avLst>
            </a:prstGeom>
            <a:pattFill prst="openDmnd">
              <a:fgClr>
                <a:schemeClr val="bg1">
                  <a:lumMod val="85000"/>
                </a:schemeClr>
              </a:fgClr>
              <a:bgClr>
                <a:schemeClr val="bg1"/>
              </a:bgClr>
            </a:patt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60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PROD</a:t>
              </a:r>
            </a:p>
            <a:p>
              <a:pPr algn="ctr"/>
              <a:r>
                <a:rPr lang="en-US" altLang="ko-KR" sz="60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IMG</a:t>
              </a:r>
              <a:endParaRPr lang="ko-KR" altLang="en-US" sz="6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495" name="TextBox 494">
              <a:extLst>
                <a:ext uri="{FF2B5EF4-FFF2-40B4-BE49-F238E27FC236}">
                  <a16:creationId xmlns="" xmlns:a16="http://schemas.microsoft.com/office/drawing/2014/main" id="{0C96C875-C47F-4F5B-B4C1-F9D666A7BD9D}"/>
                </a:ext>
              </a:extLst>
            </p:cNvPr>
            <p:cNvSpPr txBox="1"/>
            <p:nvPr/>
          </p:nvSpPr>
          <p:spPr>
            <a:xfrm>
              <a:off x="4968415" y="3282961"/>
              <a:ext cx="342008" cy="180425"/>
            </a:xfrm>
            <a:prstGeom prst="rect">
              <a:avLst/>
            </a:prstGeom>
            <a:noFill/>
            <a:ln w="3175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none" lIns="36000" tIns="36000" rIns="36000" bIns="36000" numCol="1" rtlCol="0" anchor="ctr" anchorCtr="0" compatLnSpc="1">
              <a:prstTxWarp prst="textNoShape">
                <a:avLst/>
              </a:prstTxWarp>
              <a:spAutoFit/>
            </a:bodyPr>
            <a:lstStyle/>
            <a:p>
              <a:r>
                <a:rPr lang="ko-KR" altLang="en-US" sz="700" b="1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사이즈</a:t>
              </a:r>
              <a:endParaRPr lang="ko-KR" altLang="en-US" sz="7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496" name="모서리가 둥근 직사각형 495"/>
            <p:cNvSpPr/>
            <p:nvPr/>
          </p:nvSpPr>
          <p:spPr>
            <a:xfrm>
              <a:off x="4968415" y="3482095"/>
              <a:ext cx="359942" cy="288000"/>
            </a:xfrm>
            <a:prstGeom prst="roundRect">
              <a:avLst>
                <a:gd name="adj" fmla="val 11375"/>
              </a:avLst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80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95</a:t>
              </a:r>
              <a:endParaRPr lang="ko-KR" altLang="en-US" sz="8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497" name="모서리가 둥근 직사각형 496"/>
            <p:cNvSpPr/>
            <p:nvPr/>
          </p:nvSpPr>
          <p:spPr>
            <a:xfrm>
              <a:off x="5401281" y="3482095"/>
              <a:ext cx="359942" cy="288000"/>
            </a:xfrm>
            <a:prstGeom prst="roundRect">
              <a:avLst>
                <a:gd name="adj" fmla="val 11375"/>
              </a:avLst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80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100</a:t>
              </a:r>
              <a:endParaRPr lang="ko-KR" altLang="en-US" sz="8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498" name="모서리가 둥근 직사각형 497"/>
            <p:cNvSpPr/>
            <p:nvPr/>
          </p:nvSpPr>
          <p:spPr>
            <a:xfrm>
              <a:off x="5833016" y="3482095"/>
              <a:ext cx="359942" cy="288000"/>
            </a:xfrm>
            <a:prstGeom prst="roundRect">
              <a:avLst>
                <a:gd name="adj" fmla="val 11375"/>
              </a:avLst>
            </a:prstGeom>
            <a:solidFill>
              <a:schemeClr val="accent1">
                <a:lumMod val="20000"/>
                <a:lumOff val="80000"/>
              </a:schemeClr>
            </a:solidFill>
            <a:ln w="31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80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105</a:t>
              </a:r>
              <a:endParaRPr lang="ko-KR" altLang="en-US" sz="8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499" name="모서리가 둥근 직사각형 498"/>
            <p:cNvSpPr/>
            <p:nvPr/>
          </p:nvSpPr>
          <p:spPr>
            <a:xfrm>
              <a:off x="6263692" y="3482095"/>
              <a:ext cx="359942" cy="288000"/>
            </a:xfrm>
            <a:prstGeom prst="roundRect">
              <a:avLst>
                <a:gd name="adj" fmla="val 11375"/>
              </a:avLst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80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110</a:t>
              </a:r>
              <a:endParaRPr lang="ko-KR" altLang="en-US" sz="8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500" name="모서리가 둥근 직사각형 499"/>
            <p:cNvSpPr/>
            <p:nvPr/>
          </p:nvSpPr>
          <p:spPr>
            <a:xfrm>
              <a:off x="6696361" y="3482095"/>
              <a:ext cx="359942" cy="288000"/>
            </a:xfrm>
            <a:prstGeom prst="roundRect">
              <a:avLst>
                <a:gd name="adj" fmla="val 11375"/>
              </a:avLst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80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115</a:t>
              </a:r>
              <a:endParaRPr lang="ko-KR" altLang="en-US" sz="8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501" name="모서리가 둥근 직사각형 500"/>
            <p:cNvSpPr/>
            <p:nvPr/>
          </p:nvSpPr>
          <p:spPr>
            <a:xfrm>
              <a:off x="7128884" y="3482095"/>
              <a:ext cx="359942" cy="288000"/>
            </a:xfrm>
            <a:prstGeom prst="roundRect">
              <a:avLst>
                <a:gd name="adj" fmla="val 11375"/>
              </a:avLst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800" strike="sngStrike" smtClean="0">
                  <a:solidFill>
                    <a:schemeClr val="bg1">
                      <a:lumMod val="75000"/>
                    </a:schemeClr>
                  </a:solidFill>
                  <a:latin typeface="맑은 고딕" panose="020B0503020000020004" pitchFamily="50" charset="-127"/>
                </a:rPr>
                <a:t>120</a:t>
              </a:r>
              <a:endParaRPr lang="ko-KR" altLang="en-US" sz="800" strike="sngStrike">
                <a:solidFill>
                  <a:schemeClr val="bg1">
                    <a:lumMod val="75000"/>
                  </a:schemeClr>
                </a:solidFill>
                <a:latin typeface="맑은 고딕" panose="020B0503020000020004" pitchFamily="50" charset="-127"/>
              </a:endParaRPr>
            </a:p>
          </p:txBody>
        </p:sp>
        <p:grpSp>
          <p:nvGrpSpPr>
            <p:cNvPr id="502" name="그룹 501"/>
            <p:cNvGrpSpPr/>
            <p:nvPr/>
          </p:nvGrpSpPr>
          <p:grpSpPr>
            <a:xfrm>
              <a:off x="7343583" y="3445386"/>
              <a:ext cx="179970" cy="179970"/>
              <a:chOff x="7589341" y="3009028"/>
              <a:chExt cx="180000" cy="180000"/>
            </a:xfrm>
          </p:grpSpPr>
          <p:sp>
            <p:nvSpPr>
              <p:cNvPr id="515" name="타원 514"/>
              <p:cNvSpPr/>
              <p:nvPr/>
            </p:nvSpPr>
            <p:spPr>
              <a:xfrm>
                <a:off x="7589341" y="3009028"/>
                <a:ext cx="180000" cy="180000"/>
              </a:xfrm>
              <a:prstGeom prst="ellipse">
                <a:avLst/>
              </a:prstGeom>
              <a:solidFill>
                <a:schemeClr val="bg1"/>
              </a:solidFill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ko-KR" altLang="en-US" sz="500" b="1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  <p:grpSp>
            <p:nvGrpSpPr>
              <p:cNvPr id="516" name="그룹 515"/>
              <p:cNvGrpSpPr/>
              <p:nvPr/>
            </p:nvGrpSpPr>
            <p:grpSpPr>
              <a:xfrm>
                <a:off x="7625341" y="3045028"/>
                <a:ext cx="108000" cy="108000"/>
                <a:chOff x="531806" y="1604594"/>
                <a:chExt cx="180000" cy="180738"/>
              </a:xfrm>
            </p:grpSpPr>
            <p:grpSp>
              <p:nvGrpSpPr>
                <p:cNvPr id="517" name="그룹 516"/>
                <p:cNvGrpSpPr/>
                <p:nvPr/>
              </p:nvGrpSpPr>
              <p:grpSpPr>
                <a:xfrm>
                  <a:off x="549806" y="1604594"/>
                  <a:ext cx="144000" cy="180738"/>
                  <a:chOff x="691953" y="1723346"/>
                  <a:chExt cx="144000" cy="180738"/>
                </a:xfrm>
                <a:solidFill>
                  <a:schemeClr val="bg1"/>
                </a:solidFill>
              </p:grpSpPr>
              <p:sp>
                <p:nvSpPr>
                  <p:cNvPr id="519" name="양쪽 모서리가 둥근 사각형 518"/>
                  <p:cNvSpPr/>
                  <p:nvPr/>
                </p:nvSpPr>
                <p:spPr>
                  <a:xfrm>
                    <a:off x="700953" y="1723346"/>
                    <a:ext cx="126000" cy="126000"/>
                  </a:xfrm>
                  <a:prstGeom prst="round2SameRect">
                    <a:avLst>
                      <a:gd name="adj1" fmla="val 50000"/>
                      <a:gd name="adj2" fmla="val 0"/>
                    </a:avLst>
                  </a:prstGeom>
                  <a:grpFill/>
                  <a:ln w="3175">
                    <a:solidFill>
                      <a:srgbClr val="DC283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 sz="70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맑은 고딕" panose="020B0503020000020004" pitchFamily="50" charset="-127"/>
                      <a:ea typeface="맑은 고딕" panose="020B0503020000020004" pitchFamily="50" charset="-127"/>
                    </a:endParaRPr>
                  </a:p>
                </p:txBody>
              </p:sp>
              <p:sp>
                <p:nvSpPr>
                  <p:cNvPr id="520" name="타원 519"/>
                  <p:cNvSpPr/>
                  <p:nvPr/>
                </p:nvSpPr>
                <p:spPr>
                  <a:xfrm>
                    <a:off x="736953" y="1850084"/>
                    <a:ext cx="54000" cy="54000"/>
                  </a:xfrm>
                  <a:prstGeom prst="ellipse">
                    <a:avLst/>
                  </a:prstGeom>
                  <a:grpFill/>
                  <a:ln w="3175">
                    <a:solidFill>
                      <a:srgbClr val="DC283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 sz="70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맑은 고딕" panose="020B0503020000020004" pitchFamily="50" charset="-127"/>
                      <a:ea typeface="맑은 고딕" panose="020B0503020000020004" pitchFamily="50" charset="-127"/>
                    </a:endParaRPr>
                  </a:p>
                </p:txBody>
              </p:sp>
              <p:sp>
                <p:nvSpPr>
                  <p:cNvPr id="521" name="직사각형 520"/>
                  <p:cNvSpPr/>
                  <p:nvPr/>
                </p:nvSpPr>
                <p:spPr>
                  <a:xfrm>
                    <a:off x="691953" y="1811453"/>
                    <a:ext cx="144000" cy="18000"/>
                  </a:xfrm>
                  <a:prstGeom prst="rect">
                    <a:avLst/>
                  </a:prstGeom>
                  <a:grpFill/>
                  <a:ln w="3175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 sz="70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맑은 고딕" panose="020B0503020000020004" pitchFamily="50" charset="-127"/>
                      <a:ea typeface="맑은 고딕" panose="020B0503020000020004" pitchFamily="50" charset="-127"/>
                    </a:endParaRPr>
                  </a:p>
                </p:txBody>
              </p:sp>
              <p:sp>
                <p:nvSpPr>
                  <p:cNvPr id="522" name="직사각형 521"/>
                  <p:cNvSpPr/>
                  <p:nvPr/>
                </p:nvSpPr>
                <p:spPr>
                  <a:xfrm>
                    <a:off x="691953" y="1859609"/>
                    <a:ext cx="144000" cy="18000"/>
                  </a:xfrm>
                  <a:prstGeom prst="rect">
                    <a:avLst/>
                  </a:prstGeom>
                  <a:grpFill/>
                  <a:ln w="3175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 sz="70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맑은 고딕" panose="020B0503020000020004" pitchFamily="50" charset="-127"/>
                      <a:ea typeface="맑은 고딕" panose="020B0503020000020004" pitchFamily="50" charset="-127"/>
                    </a:endParaRPr>
                  </a:p>
                </p:txBody>
              </p:sp>
              <p:sp>
                <p:nvSpPr>
                  <p:cNvPr id="523" name="직사각형 522"/>
                  <p:cNvSpPr/>
                  <p:nvPr/>
                </p:nvSpPr>
                <p:spPr>
                  <a:xfrm>
                    <a:off x="691953" y="1832609"/>
                    <a:ext cx="144000" cy="25200"/>
                  </a:xfrm>
                  <a:prstGeom prst="rect">
                    <a:avLst/>
                  </a:prstGeom>
                  <a:grpFill/>
                  <a:ln w="3175">
                    <a:solidFill>
                      <a:srgbClr val="DC283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 sz="70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맑은 고딕" panose="020B0503020000020004" pitchFamily="50" charset="-127"/>
                      <a:ea typeface="맑은 고딕" panose="020B0503020000020004" pitchFamily="50" charset="-127"/>
                    </a:endParaRPr>
                  </a:p>
                </p:txBody>
              </p:sp>
            </p:grpSp>
            <p:sp>
              <p:nvSpPr>
                <p:cNvPr id="518" name="직사각형 517"/>
                <p:cNvSpPr/>
                <p:nvPr/>
              </p:nvSpPr>
              <p:spPr>
                <a:xfrm>
                  <a:off x="531806" y="1604594"/>
                  <a:ext cx="180000" cy="180000"/>
                </a:xfrm>
                <a:prstGeom prst="rect">
                  <a:avLst/>
                </a:prstGeom>
                <a:noFill/>
                <a:ln w="3175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7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endParaRPr>
                </a:p>
              </p:txBody>
            </p:sp>
          </p:grpSp>
        </p:grpSp>
        <p:sp>
          <p:nvSpPr>
            <p:cNvPr id="503" name="TextBox 502">
              <a:extLst>
                <a:ext uri="{FF2B5EF4-FFF2-40B4-BE49-F238E27FC236}">
                  <a16:creationId xmlns="" xmlns:a16="http://schemas.microsoft.com/office/drawing/2014/main" id="{0C96C875-C47F-4F5B-B4C1-F9D666A7BD9D}"/>
                </a:ext>
              </a:extLst>
            </p:cNvPr>
            <p:cNvSpPr txBox="1"/>
            <p:nvPr/>
          </p:nvSpPr>
          <p:spPr>
            <a:xfrm>
              <a:off x="6958298" y="3282962"/>
              <a:ext cx="601695" cy="180425"/>
            </a:xfrm>
            <a:prstGeom prst="rect">
              <a:avLst/>
            </a:prstGeom>
            <a:noFill/>
            <a:ln w="3175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none" lIns="36000" tIns="36000" rIns="36000" bIns="36000" numCol="1" rtlCol="0" anchor="ctr" anchorCtr="0" compatLnSpc="1">
              <a:prstTxWarp prst="textNoShape">
                <a:avLst/>
              </a:prstTxWarp>
              <a:spAutoFit/>
            </a:bodyPr>
            <a:lstStyle/>
            <a:p>
              <a:pPr algn="r"/>
              <a:r>
                <a:rPr lang="ko-KR" altLang="en-US" sz="70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사이즈안내 </a:t>
              </a:r>
              <a:r>
                <a:rPr lang="en-US" altLang="ko-KR" sz="70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〉</a:t>
              </a:r>
              <a:endParaRPr lang="ko-KR" altLang="en-US" sz="7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504" name="타원 503"/>
            <p:cNvSpPr/>
            <p:nvPr/>
          </p:nvSpPr>
          <p:spPr>
            <a:xfrm>
              <a:off x="5238357" y="3536095"/>
              <a:ext cx="36000" cy="36000"/>
            </a:xfrm>
            <a:prstGeom prst="ellipse">
              <a:avLst/>
            </a:prstGeom>
            <a:solidFill>
              <a:srgbClr val="C00000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8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505" name="TextBox 504"/>
            <p:cNvSpPr txBox="1"/>
            <p:nvPr/>
          </p:nvSpPr>
          <p:spPr>
            <a:xfrm>
              <a:off x="5022800" y="3841259"/>
              <a:ext cx="250068" cy="76944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r>
                <a:rPr lang="en-US" altLang="ko-KR" sz="500" smtClean="0">
                  <a:solidFill>
                    <a:schemeClr val="bg1">
                      <a:lumMod val="50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3</a:t>
              </a:r>
              <a:r>
                <a:rPr lang="ko-KR" altLang="en-US" sz="500" smtClean="0">
                  <a:solidFill>
                    <a:schemeClr val="bg1">
                      <a:lumMod val="50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개 남음</a:t>
              </a:r>
              <a:endParaRPr lang="ko-KR" altLang="en-US" sz="500" dirty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cxnSp>
          <p:nvCxnSpPr>
            <p:cNvPr id="506" name="직선 연결선 505"/>
            <p:cNvCxnSpPr/>
            <p:nvPr/>
          </p:nvCxnSpPr>
          <p:spPr>
            <a:xfrm>
              <a:off x="4968415" y="4093722"/>
              <a:ext cx="2591578" cy="0"/>
            </a:xfrm>
            <a:prstGeom prst="line">
              <a:avLst/>
            </a:prstGeom>
            <a:ln w="31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507" name="그룹 506"/>
            <p:cNvGrpSpPr/>
            <p:nvPr/>
          </p:nvGrpSpPr>
          <p:grpSpPr>
            <a:xfrm>
              <a:off x="5833016" y="3808670"/>
              <a:ext cx="431047" cy="215060"/>
              <a:chOff x="9792952" y="3338758"/>
              <a:chExt cx="431047" cy="215060"/>
            </a:xfrm>
          </p:grpSpPr>
          <p:sp>
            <p:nvSpPr>
              <p:cNvPr id="513" name="직사각형 512"/>
              <p:cNvSpPr/>
              <p:nvPr/>
            </p:nvSpPr>
            <p:spPr>
              <a:xfrm>
                <a:off x="9792952" y="3373818"/>
                <a:ext cx="360000" cy="18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5">
                      <a:lumMod val="75000"/>
                    </a:schemeClr>
                  </a:gs>
                  <a:gs pos="50000">
                    <a:schemeClr val="accent5"/>
                  </a:gs>
                  <a:gs pos="100000">
                    <a:schemeClr val="accent5">
                      <a:lumMod val="60000"/>
                      <a:lumOff val="40000"/>
                    </a:schemeClr>
                  </a:gs>
                </a:gsLst>
                <a:lin ang="0" scaled="1"/>
                <a:tileRect/>
              </a:gradFill>
              <a:ln w="31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ko-KR" altLang="en-US" sz="600" smtClean="0">
                    <a:solidFill>
                      <a:schemeClr val="bg1"/>
                    </a:solidFill>
                    <a:latin typeface="맑은 고딕" panose="020B0503020000020004" pitchFamily="50" charset="-127"/>
                  </a:rPr>
                  <a:t>매장배송</a:t>
                </a:r>
                <a:endParaRPr lang="ko-KR" altLang="en-US" sz="600">
                  <a:solidFill>
                    <a:schemeClr val="bg1"/>
                  </a:solidFill>
                  <a:latin typeface="맑은 고딕" panose="020B0503020000020004" pitchFamily="50" charset="-127"/>
                </a:endParaRPr>
              </a:p>
            </p:txBody>
          </p:sp>
          <p:sp>
            <p:nvSpPr>
              <p:cNvPr id="514" name="타원 513"/>
              <p:cNvSpPr/>
              <p:nvPr/>
            </p:nvSpPr>
            <p:spPr>
              <a:xfrm>
                <a:off x="10080022" y="3338758"/>
                <a:ext cx="143977" cy="143976"/>
              </a:xfrm>
              <a:prstGeom prst="ellipse">
                <a:avLst/>
              </a:prstGeom>
              <a:solidFill>
                <a:schemeClr val="bg1"/>
              </a:solidFill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700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?</a:t>
                </a:r>
                <a:endParaRPr lang="ko-KR" altLang="en-US" sz="70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</p:grpSp>
        <p:sp>
          <p:nvSpPr>
            <p:cNvPr id="525" name="모서리가 둥근 직사각형 524"/>
            <p:cNvSpPr/>
            <p:nvPr/>
          </p:nvSpPr>
          <p:spPr>
            <a:xfrm>
              <a:off x="6084725" y="2364982"/>
              <a:ext cx="359942" cy="36000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8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ko-KR" altLang="en-US" sz="8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531" name="직사각형 530">
              <a:extLst>
                <a:ext uri="{FF2B5EF4-FFF2-40B4-BE49-F238E27FC236}">
                  <a16:creationId xmlns:a16="http://schemas.microsoft.com/office/drawing/2014/main" xmlns="" id="{19FD5FA0-B111-4EF7-BC86-418441928DD3}"/>
                </a:ext>
              </a:extLst>
            </p:cNvPr>
            <p:cNvSpPr/>
            <p:nvPr/>
          </p:nvSpPr>
          <p:spPr>
            <a:xfrm>
              <a:off x="4968415" y="4242053"/>
              <a:ext cx="360000" cy="432000"/>
            </a:xfrm>
            <a:prstGeom prst="rect">
              <a:avLst/>
            </a:prstGeom>
            <a:pattFill prst="openDmnd">
              <a:fgClr>
                <a:schemeClr val="bg1">
                  <a:lumMod val="85000"/>
                </a:schemeClr>
              </a:fgClr>
              <a:bgClr>
                <a:schemeClr val="bg1"/>
              </a:bgClr>
            </a:patt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ko-KR" altLang="en-US" sz="6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532" name="TextBox 531">
              <a:extLst>
                <a:ext uri="{FF2B5EF4-FFF2-40B4-BE49-F238E27FC236}">
                  <a16:creationId xmlns="" xmlns:a16="http://schemas.microsoft.com/office/drawing/2014/main" id="{0C96C875-C47F-4F5B-B4C1-F9D666A7BD9D}"/>
                </a:ext>
              </a:extLst>
            </p:cNvPr>
            <p:cNvSpPr txBox="1"/>
            <p:nvPr/>
          </p:nvSpPr>
          <p:spPr>
            <a:xfrm>
              <a:off x="5328272" y="4242052"/>
              <a:ext cx="2088000" cy="216000"/>
            </a:xfrm>
            <a:prstGeom prst="rect">
              <a:avLst/>
            </a:prstGeom>
            <a:noFill/>
            <a:ln w="3175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square" lIns="72000" tIns="36000" rIns="72000" bIns="36000" numCol="1" rtlCol="0" anchor="ctr" anchorCtr="0" compatLnSpc="1">
              <a:prstTxWarp prst="textNoShape">
                <a:avLst/>
              </a:prstTxWarp>
              <a:spAutoFit/>
            </a:bodyPr>
            <a:lstStyle/>
            <a:p>
              <a:r>
                <a:rPr lang="en-US" altLang="ko-KR" sz="70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[</a:t>
              </a:r>
              <a:r>
                <a:rPr lang="ko-KR" altLang="en-US" sz="70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시즌오프</a:t>
              </a:r>
              <a:r>
                <a:rPr lang="en-US" altLang="ko-KR" sz="70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][</a:t>
              </a:r>
              <a:r>
                <a:rPr lang="ko-KR" altLang="en-US" sz="70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인기급상승</a:t>
              </a:r>
              <a:r>
                <a:rPr lang="en-US" altLang="ko-KR" sz="70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] </a:t>
              </a:r>
              <a:r>
                <a:rPr lang="ko-KR" altLang="en-US" sz="70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다이아 패턴 구스 다운 점퍼 블랙</a:t>
              </a:r>
            </a:p>
          </p:txBody>
        </p:sp>
        <p:sp>
          <p:nvSpPr>
            <p:cNvPr id="533" name="TextBox 532">
              <a:extLst>
                <a:ext uri="{FF2B5EF4-FFF2-40B4-BE49-F238E27FC236}">
                  <a16:creationId xmlns="" xmlns:a16="http://schemas.microsoft.com/office/drawing/2014/main" id="{0C96C875-C47F-4F5B-B4C1-F9D666A7BD9D}"/>
                </a:ext>
              </a:extLst>
            </p:cNvPr>
            <p:cNvSpPr txBox="1"/>
            <p:nvPr/>
          </p:nvSpPr>
          <p:spPr>
            <a:xfrm>
              <a:off x="5328272" y="4493628"/>
              <a:ext cx="2088000" cy="180425"/>
            </a:xfrm>
            <a:prstGeom prst="rect">
              <a:avLst/>
            </a:prstGeom>
            <a:noFill/>
            <a:ln w="3175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square" lIns="72000" tIns="36000" rIns="72000" bIns="36000" numCol="1" rtlCol="0" anchor="ctr" anchorCtr="0" compatLnSpc="1">
              <a:prstTxWarp prst="textNoShape">
                <a:avLst/>
              </a:prstTxWarp>
              <a:spAutoFit/>
            </a:bodyPr>
            <a:lstStyle/>
            <a:p>
              <a:r>
                <a:rPr lang="en-US" altLang="ko-KR" sz="700" smtClean="0">
                  <a:solidFill>
                    <a:schemeClr val="tx1">
                      <a:lumMod val="50000"/>
                      <a:lumOff val="50000"/>
                    </a:schemeClr>
                  </a:solidFill>
                  <a:latin typeface="맑은 고딕" panose="020B0503020000020004" pitchFamily="50" charset="-127"/>
                </a:rPr>
                <a:t>105</a:t>
              </a:r>
              <a:endParaRPr lang="ko-KR" altLang="en-US" sz="700">
                <a:solidFill>
                  <a:schemeClr val="tx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216" name="직사각형 215"/>
            <p:cNvSpPr/>
            <p:nvPr/>
          </p:nvSpPr>
          <p:spPr>
            <a:xfrm>
              <a:off x="4968954" y="4819715"/>
              <a:ext cx="216000" cy="216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50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─</a:t>
              </a:r>
              <a:endParaRPr lang="ko-KR" altLang="en-US" sz="5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217" name="직사각형 216"/>
            <p:cNvSpPr/>
            <p:nvPr/>
          </p:nvSpPr>
          <p:spPr>
            <a:xfrm>
              <a:off x="5184565" y="4819715"/>
              <a:ext cx="288000" cy="216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70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1</a:t>
              </a:r>
              <a:endParaRPr lang="ko-KR" altLang="en-US" sz="7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218" name="직사각형 217"/>
            <p:cNvSpPr/>
            <p:nvPr/>
          </p:nvSpPr>
          <p:spPr>
            <a:xfrm>
              <a:off x="5472581" y="4819715"/>
              <a:ext cx="216000" cy="216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50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┼</a:t>
              </a:r>
              <a:endParaRPr lang="ko-KR" altLang="en-US" sz="5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219" name="TextBox 218">
              <a:extLst>
                <a:ext uri="{FF2B5EF4-FFF2-40B4-BE49-F238E27FC236}">
                  <a16:creationId xmlns="" xmlns:a16="http://schemas.microsoft.com/office/drawing/2014/main" id="{0C96C875-C47F-4F5B-B4C1-F9D666A7BD9D}"/>
                </a:ext>
              </a:extLst>
            </p:cNvPr>
            <p:cNvSpPr txBox="1"/>
            <p:nvPr/>
          </p:nvSpPr>
          <p:spPr>
            <a:xfrm>
              <a:off x="6928876" y="4829809"/>
              <a:ext cx="631117" cy="195814"/>
            </a:xfrm>
            <a:prstGeom prst="rect">
              <a:avLst/>
            </a:prstGeom>
            <a:noFill/>
            <a:ln w="3175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none" lIns="108000" tIns="36000" rIns="36000" bIns="36000" numCol="1" rtlCol="0" anchor="ctr" anchorCtr="0" compatLnSpc="1">
              <a:prstTxWarp prst="textNoShape">
                <a:avLst/>
              </a:prstTxWarp>
              <a:spAutoFit/>
            </a:bodyPr>
            <a:lstStyle/>
            <a:p>
              <a:r>
                <a:rPr lang="en-US" altLang="ko-KR" sz="80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433,300</a:t>
              </a:r>
              <a:r>
                <a:rPr lang="ko-KR" altLang="en-US" sz="80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원</a:t>
              </a:r>
              <a:endParaRPr lang="en-US" altLang="ko-KR" sz="8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endParaRPr>
            </a:p>
          </p:txBody>
        </p:sp>
        <p:cxnSp>
          <p:nvCxnSpPr>
            <p:cNvPr id="224" name="직선 연결선 223"/>
            <p:cNvCxnSpPr/>
            <p:nvPr/>
          </p:nvCxnSpPr>
          <p:spPr>
            <a:xfrm>
              <a:off x="4968415" y="5467834"/>
              <a:ext cx="2591578" cy="0"/>
            </a:xfrm>
            <a:prstGeom prst="line">
              <a:avLst/>
            </a:prstGeom>
            <a:ln w="31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6" name="TextBox 225">
              <a:extLst>
                <a:ext uri="{FF2B5EF4-FFF2-40B4-BE49-F238E27FC236}">
                  <a16:creationId xmlns="" xmlns:a16="http://schemas.microsoft.com/office/drawing/2014/main" id="{0C96C875-C47F-4F5B-B4C1-F9D666A7BD9D}"/>
                </a:ext>
              </a:extLst>
            </p:cNvPr>
            <p:cNvSpPr txBox="1"/>
            <p:nvPr/>
          </p:nvSpPr>
          <p:spPr>
            <a:xfrm>
              <a:off x="6249203" y="5567994"/>
              <a:ext cx="1310790" cy="226591"/>
            </a:xfrm>
            <a:prstGeom prst="rect">
              <a:avLst/>
            </a:prstGeom>
            <a:noFill/>
            <a:ln w="3175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none" lIns="108000" tIns="36000" rIns="36000" bIns="36000" numCol="1" rtlCol="0" anchor="ctr" anchorCtr="0" compatLnSpc="1">
              <a:prstTxWarp prst="textNoShape">
                <a:avLst/>
              </a:prstTxWarp>
              <a:spAutoFit/>
            </a:bodyPr>
            <a:lstStyle/>
            <a:p>
              <a:pPr algn="r"/>
              <a:r>
                <a:rPr lang="ko-KR" altLang="en-US" sz="80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총 상품금액 </a:t>
              </a:r>
              <a:r>
                <a:rPr lang="en-US" altLang="ko-KR" sz="1000" b="1" smtClean="0">
                  <a:solidFill>
                    <a:srgbClr val="C00000"/>
                  </a:solidFill>
                  <a:latin typeface="맑은 고딕" panose="020B0503020000020004" pitchFamily="50" charset="-127"/>
                </a:rPr>
                <a:t>433,300</a:t>
              </a:r>
              <a:r>
                <a:rPr lang="ko-KR" altLang="en-US" sz="80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원</a:t>
              </a:r>
              <a:endParaRPr lang="en-US" altLang="ko-KR" sz="8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229" name="TextBox 228">
              <a:extLst>
                <a:ext uri="{FF2B5EF4-FFF2-40B4-BE49-F238E27FC236}">
                  <a16:creationId xmlns="" xmlns:a16="http://schemas.microsoft.com/office/drawing/2014/main" id="{0C96C875-C47F-4F5B-B4C1-F9D666A7BD9D}"/>
                </a:ext>
              </a:extLst>
            </p:cNvPr>
            <p:cNvSpPr txBox="1"/>
            <p:nvPr/>
          </p:nvSpPr>
          <p:spPr>
            <a:xfrm>
              <a:off x="4968415" y="5591077"/>
              <a:ext cx="496464" cy="180425"/>
            </a:xfrm>
            <a:prstGeom prst="rect">
              <a:avLst/>
            </a:prstGeom>
            <a:noFill/>
            <a:ln w="3175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none" lIns="108000" tIns="36000" rIns="36000" bIns="36000" numCol="1" rtlCol="0" anchor="ctr" anchorCtr="0" compatLnSpc="1">
              <a:prstTxWarp prst="textNoShape">
                <a:avLst/>
              </a:prstTxWarp>
              <a:spAutoFit/>
            </a:bodyPr>
            <a:lstStyle/>
            <a:p>
              <a:r>
                <a:rPr lang="en-US" altLang="ko-KR" sz="70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1</a:t>
              </a:r>
              <a:r>
                <a:rPr lang="ko-KR" altLang="en-US" sz="70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개 선택</a:t>
              </a:r>
              <a:endParaRPr lang="en-US" altLang="ko-KR" sz="7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236" name="직사각형 235">
              <a:extLst>
                <a:ext uri="{FF2B5EF4-FFF2-40B4-BE49-F238E27FC236}">
                  <a16:creationId xmlns:a16="http://schemas.microsoft.com/office/drawing/2014/main" xmlns="" id="{19FD5FA0-B111-4EF7-BC86-418441928DD3}"/>
                </a:ext>
              </a:extLst>
            </p:cNvPr>
            <p:cNvSpPr/>
            <p:nvPr/>
          </p:nvSpPr>
          <p:spPr>
            <a:xfrm>
              <a:off x="4824696" y="5893723"/>
              <a:ext cx="2879531" cy="504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700"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238" name="모서리가 둥근 직사각형 237">
              <a:extLst>
                <a:ext uri="{FF2B5EF4-FFF2-40B4-BE49-F238E27FC236}">
                  <a16:creationId xmlns="" xmlns:a16="http://schemas.microsoft.com/office/drawing/2014/main" id="{19FD5FA0-B111-4EF7-BC86-418441928DD3}"/>
                </a:ext>
              </a:extLst>
            </p:cNvPr>
            <p:cNvSpPr/>
            <p:nvPr/>
          </p:nvSpPr>
          <p:spPr>
            <a:xfrm>
              <a:off x="6768461" y="5964803"/>
              <a:ext cx="864000" cy="359942"/>
            </a:xfrm>
            <a:prstGeom prst="roundRect">
              <a:avLst>
                <a:gd name="adj" fmla="val 9391"/>
              </a:avLst>
            </a:prstGeom>
            <a:solidFill>
              <a:schemeClr val="tx1">
                <a:lumMod val="75000"/>
                <a:lumOff val="25000"/>
              </a:schemeClr>
            </a:solidFill>
            <a:ln w="31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700" b="1" smtClean="0">
                  <a:solidFill>
                    <a:schemeClr val="bg1"/>
                  </a:solidFill>
                  <a:latin typeface="맑은 고딕" panose="020B0503020000020004" pitchFamily="50" charset="-127"/>
                </a:rPr>
                <a:t>바로구매</a:t>
              </a:r>
              <a:endParaRPr lang="ko-KR" altLang="en-US" sz="700" b="1">
                <a:solidFill>
                  <a:schemeClr val="bg1"/>
                </a:solidFill>
                <a:latin typeface="맑은 고딕" panose="020B0503020000020004" pitchFamily="50" charset="-127"/>
              </a:endParaRPr>
            </a:p>
          </p:txBody>
        </p:sp>
        <p:grpSp>
          <p:nvGrpSpPr>
            <p:cNvPr id="26" name="그룹 25"/>
            <p:cNvGrpSpPr/>
            <p:nvPr/>
          </p:nvGrpSpPr>
          <p:grpSpPr>
            <a:xfrm>
              <a:off x="4896461" y="5964803"/>
              <a:ext cx="864000" cy="359942"/>
              <a:chOff x="4896696" y="5964803"/>
              <a:chExt cx="864000" cy="359942"/>
            </a:xfrm>
          </p:grpSpPr>
          <p:sp>
            <p:nvSpPr>
              <p:cNvPr id="239" name="모서리가 둥근 직사각형 238">
                <a:extLst>
                  <a:ext uri="{FF2B5EF4-FFF2-40B4-BE49-F238E27FC236}">
                    <a16:creationId xmlns="" xmlns:a16="http://schemas.microsoft.com/office/drawing/2014/main" id="{19FD5FA0-B111-4EF7-BC86-418441928DD3}"/>
                  </a:ext>
                </a:extLst>
              </p:cNvPr>
              <p:cNvSpPr/>
              <p:nvPr/>
            </p:nvSpPr>
            <p:spPr>
              <a:xfrm>
                <a:off x="4896696" y="5964803"/>
                <a:ext cx="864000" cy="359942"/>
              </a:xfrm>
              <a:prstGeom prst="roundRect">
                <a:avLst>
                  <a:gd name="adj" fmla="val 9391"/>
                </a:avLst>
              </a:prstGeom>
              <a:solidFill>
                <a:schemeClr val="bg1"/>
              </a:solidFill>
              <a:ln w="3175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80000" tIns="0" rIns="0" bIns="0" rtlCol="0" anchor="ctr"/>
              <a:lstStyle/>
              <a:p>
                <a:pPr algn="ctr"/>
                <a:r>
                  <a:rPr lang="ko-KR" altLang="en-US" sz="700" b="1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맑은 고딕" panose="020B0503020000020004" pitchFamily="50" charset="-127"/>
                  </a:rPr>
                  <a:t>선물하기</a:t>
                </a:r>
                <a:endParaRPr lang="ko-KR" altLang="en-US" sz="700" b="1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endParaRPr>
              </a:p>
            </p:txBody>
          </p:sp>
          <p:sp>
            <p:nvSpPr>
              <p:cNvPr id="240" name="Gift"/>
              <p:cNvSpPr>
                <a:spLocks noChangeAspect="1" noEditPoints="1"/>
              </p:cNvSpPr>
              <p:nvPr/>
            </p:nvSpPr>
            <p:spPr bwMode="auto">
              <a:xfrm>
                <a:off x="5052958" y="6072774"/>
                <a:ext cx="142545" cy="144000"/>
              </a:xfrm>
              <a:custGeom>
                <a:avLst/>
                <a:gdLst>
                  <a:gd name="T0" fmla="*/ 95 w 640"/>
                  <a:gd name="T1" fmla="*/ 23 h 640"/>
                  <a:gd name="T2" fmla="*/ 124 w 640"/>
                  <a:gd name="T3" fmla="*/ 147 h 640"/>
                  <a:gd name="T4" fmla="*/ 0 w 640"/>
                  <a:gd name="T5" fmla="*/ 160 h 640"/>
                  <a:gd name="T6" fmla="*/ 27 w 640"/>
                  <a:gd name="T7" fmla="*/ 307 h 640"/>
                  <a:gd name="T8" fmla="*/ 614 w 640"/>
                  <a:gd name="T9" fmla="*/ 640 h 640"/>
                  <a:gd name="T10" fmla="*/ 640 w 640"/>
                  <a:gd name="T11" fmla="*/ 307 h 640"/>
                  <a:gd name="T12" fmla="*/ 492 w 640"/>
                  <a:gd name="T13" fmla="*/ 160 h 640"/>
                  <a:gd name="T14" fmla="*/ 560 w 640"/>
                  <a:gd name="T15" fmla="*/ 67 h 640"/>
                  <a:gd name="T16" fmla="*/ 489 w 640"/>
                  <a:gd name="T17" fmla="*/ 0 h 640"/>
                  <a:gd name="T18" fmla="*/ 387 w 640"/>
                  <a:gd name="T19" fmla="*/ 80 h 640"/>
                  <a:gd name="T20" fmla="*/ 320 w 640"/>
                  <a:gd name="T21" fmla="*/ 147 h 640"/>
                  <a:gd name="T22" fmla="*/ 254 w 640"/>
                  <a:gd name="T23" fmla="*/ 80 h 640"/>
                  <a:gd name="T24" fmla="*/ 151 w 640"/>
                  <a:gd name="T25" fmla="*/ 0 h 640"/>
                  <a:gd name="T26" fmla="*/ 197 w 640"/>
                  <a:gd name="T27" fmla="*/ 46 h 640"/>
                  <a:gd name="T28" fmla="*/ 265 w 640"/>
                  <a:gd name="T29" fmla="*/ 146 h 640"/>
                  <a:gd name="T30" fmla="*/ 214 w 640"/>
                  <a:gd name="T31" fmla="*/ 147 h 640"/>
                  <a:gd name="T32" fmla="*/ 107 w 640"/>
                  <a:gd name="T33" fmla="*/ 67 h 640"/>
                  <a:gd name="T34" fmla="*/ 151 w 640"/>
                  <a:gd name="T35" fmla="*/ 27 h 640"/>
                  <a:gd name="T36" fmla="*/ 525 w 640"/>
                  <a:gd name="T37" fmla="*/ 40 h 640"/>
                  <a:gd name="T38" fmla="*/ 501 w 640"/>
                  <a:gd name="T39" fmla="*/ 125 h 640"/>
                  <a:gd name="T40" fmla="*/ 375 w 640"/>
                  <a:gd name="T41" fmla="*/ 147 h 640"/>
                  <a:gd name="T42" fmla="*/ 410 w 640"/>
                  <a:gd name="T43" fmla="*/ 94 h 640"/>
                  <a:gd name="T44" fmla="*/ 489 w 640"/>
                  <a:gd name="T45" fmla="*/ 27 h 640"/>
                  <a:gd name="T46" fmla="*/ 240 w 640"/>
                  <a:gd name="T47" fmla="*/ 187 h 640"/>
                  <a:gd name="T48" fmla="*/ 27 w 640"/>
                  <a:gd name="T49" fmla="*/ 280 h 640"/>
                  <a:gd name="T50" fmla="*/ 267 w 640"/>
                  <a:gd name="T51" fmla="*/ 187 h 640"/>
                  <a:gd name="T52" fmla="*/ 374 w 640"/>
                  <a:gd name="T53" fmla="*/ 614 h 640"/>
                  <a:gd name="T54" fmla="*/ 267 w 640"/>
                  <a:gd name="T55" fmla="*/ 187 h 640"/>
                  <a:gd name="T56" fmla="*/ 614 w 640"/>
                  <a:gd name="T57" fmla="*/ 187 h 640"/>
                  <a:gd name="T58" fmla="*/ 400 w 640"/>
                  <a:gd name="T59" fmla="*/ 280 h 640"/>
                  <a:gd name="T60" fmla="*/ 54 w 640"/>
                  <a:gd name="T61" fmla="*/ 307 h 640"/>
                  <a:gd name="T62" fmla="*/ 240 w 640"/>
                  <a:gd name="T63" fmla="*/ 614 h 640"/>
                  <a:gd name="T64" fmla="*/ 54 w 640"/>
                  <a:gd name="T65" fmla="*/ 307 h 640"/>
                  <a:gd name="T66" fmla="*/ 587 w 640"/>
                  <a:gd name="T67" fmla="*/ 307 h 640"/>
                  <a:gd name="T68" fmla="*/ 400 w 640"/>
                  <a:gd name="T69" fmla="*/ 614 h 6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</a:cxnLst>
                <a:rect l="0" t="0" r="r" b="b"/>
                <a:pathLst>
                  <a:path w="640" h="640">
                    <a:moveTo>
                      <a:pt x="151" y="0"/>
                    </a:moveTo>
                    <a:cubicBezTo>
                      <a:pt x="126" y="0"/>
                      <a:pt x="106" y="9"/>
                      <a:pt x="95" y="23"/>
                    </a:cubicBezTo>
                    <a:cubicBezTo>
                      <a:pt x="84" y="36"/>
                      <a:pt x="80" y="53"/>
                      <a:pt x="80" y="67"/>
                    </a:cubicBezTo>
                    <a:cubicBezTo>
                      <a:pt x="80" y="101"/>
                      <a:pt x="99" y="129"/>
                      <a:pt x="124" y="147"/>
                    </a:cubicBezTo>
                    <a:cubicBezTo>
                      <a:pt x="132" y="152"/>
                      <a:pt x="140" y="157"/>
                      <a:pt x="149" y="160"/>
                    </a:cubicBezTo>
                    <a:lnTo>
                      <a:pt x="0" y="160"/>
                    </a:lnTo>
                    <a:lnTo>
                      <a:pt x="0" y="307"/>
                    </a:lnTo>
                    <a:lnTo>
                      <a:pt x="27" y="307"/>
                    </a:lnTo>
                    <a:lnTo>
                      <a:pt x="27" y="640"/>
                    </a:lnTo>
                    <a:lnTo>
                      <a:pt x="614" y="640"/>
                    </a:lnTo>
                    <a:lnTo>
                      <a:pt x="614" y="307"/>
                    </a:lnTo>
                    <a:lnTo>
                      <a:pt x="640" y="307"/>
                    </a:lnTo>
                    <a:lnTo>
                      <a:pt x="640" y="160"/>
                    </a:lnTo>
                    <a:lnTo>
                      <a:pt x="492" y="160"/>
                    </a:lnTo>
                    <a:cubicBezTo>
                      <a:pt x="501" y="157"/>
                      <a:pt x="509" y="152"/>
                      <a:pt x="517" y="147"/>
                    </a:cubicBezTo>
                    <a:cubicBezTo>
                      <a:pt x="542" y="129"/>
                      <a:pt x="560" y="101"/>
                      <a:pt x="560" y="67"/>
                    </a:cubicBezTo>
                    <a:cubicBezTo>
                      <a:pt x="560" y="53"/>
                      <a:pt x="557" y="36"/>
                      <a:pt x="546" y="23"/>
                    </a:cubicBezTo>
                    <a:cubicBezTo>
                      <a:pt x="534" y="9"/>
                      <a:pt x="515" y="0"/>
                      <a:pt x="489" y="0"/>
                    </a:cubicBezTo>
                    <a:cubicBezTo>
                      <a:pt x="463" y="0"/>
                      <a:pt x="442" y="12"/>
                      <a:pt x="425" y="27"/>
                    </a:cubicBezTo>
                    <a:cubicBezTo>
                      <a:pt x="409" y="43"/>
                      <a:pt x="398" y="62"/>
                      <a:pt x="387" y="80"/>
                    </a:cubicBezTo>
                    <a:cubicBezTo>
                      <a:pt x="376" y="99"/>
                      <a:pt x="366" y="117"/>
                      <a:pt x="356" y="129"/>
                    </a:cubicBezTo>
                    <a:cubicBezTo>
                      <a:pt x="345" y="141"/>
                      <a:pt x="335" y="147"/>
                      <a:pt x="320" y="147"/>
                    </a:cubicBezTo>
                    <a:cubicBezTo>
                      <a:pt x="306" y="147"/>
                      <a:pt x="296" y="141"/>
                      <a:pt x="285" y="129"/>
                    </a:cubicBezTo>
                    <a:cubicBezTo>
                      <a:pt x="274" y="117"/>
                      <a:pt x="265" y="99"/>
                      <a:pt x="254" y="80"/>
                    </a:cubicBezTo>
                    <a:cubicBezTo>
                      <a:pt x="243" y="62"/>
                      <a:pt x="231" y="43"/>
                      <a:pt x="215" y="27"/>
                    </a:cubicBezTo>
                    <a:cubicBezTo>
                      <a:pt x="199" y="12"/>
                      <a:pt x="178" y="0"/>
                      <a:pt x="151" y="0"/>
                    </a:cubicBezTo>
                    <a:close/>
                    <a:moveTo>
                      <a:pt x="151" y="27"/>
                    </a:moveTo>
                    <a:cubicBezTo>
                      <a:pt x="171" y="27"/>
                      <a:pt x="184" y="34"/>
                      <a:pt x="197" y="46"/>
                    </a:cubicBezTo>
                    <a:cubicBezTo>
                      <a:pt x="209" y="58"/>
                      <a:pt x="220" y="76"/>
                      <a:pt x="231" y="94"/>
                    </a:cubicBezTo>
                    <a:cubicBezTo>
                      <a:pt x="241" y="112"/>
                      <a:pt x="252" y="131"/>
                      <a:pt x="265" y="146"/>
                    </a:cubicBezTo>
                    <a:cubicBezTo>
                      <a:pt x="266" y="147"/>
                      <a:pt x="266" y="147"/>
                      <a:pt x="266" y="147"/>
                    </a:cubicBezTo>
                    <a:lnTo>
                      <a:pt x="214" y="147"/>
                    </a:lnTo>
                    <a:cubicBezTo>
                      <a:pt x="187" y="147"/>
                      <a:pt x="159" y="139"/>
                      <a:pt x="139" y="125"/>
                    </a:cubicBezTo>
                    <a:cubicBezTo>
                      <a:pt x="119" y="111"/>
                      <a:pt x="107" y="92"/>
                      <a:pt x="107" y="67"/>
                    </a:cubicBezTo>
                    <a:cubicBezTo>
                      <a:pt x="107" y="57"/>
                      <a:pt x="110" y="47"/>
                      <a:pt x="116" y="40"/>
                    </a:cubicBezTo>
                    <a:cubicBezTo>
                      <a:pt x="121" y="33"/>
                      <a:pt x="131" y="27"/>
                      <a:pt x="151" y="27"/>
                    </a:cubicBezTo>
                    <a:close/>
                    <a:moveTo>
                      <a:pt x="489" y="27"/>
                    </a:moveTo>
                    <a:cubicBezTo>
                      <a:pt x="510" y="27"/>
                      <a:pt x="519" y="33"/>
                      <a:pt x="525" y="40"/>
                    </a:cubicBezTo>
                    <a:cubicBezTo>
                      <a:pt x="531" y="47"/>
                      <a:pt x="534" y="57"/>
                      <a:pt x="534" y="67"/>
                    </a:cubicBezTo>
                    <a:cubicBezTo>
                      <a:pt x="534" y="92"/>
                      <a:pt x="521" y="111"/>
                      <a:pt x="501" y="125"/>
                    </a:cubicBezTo>
                    <a:cubicBezTo>
                      <a:pt x="482" y="139"/>
                      <a:pt x="454" y="147"/>
                      <a:pt x="427" y="147"/>
                    </a:cubicBezTo>
                    <a:lnTo>
                      <a:pt x="375" y="147"/>
                    </a:lnTo>
                    <a:cubicBezTo>
                      <a:pt x="375" y="147"/>
                      <a:pt x="375" y="147"/>
                      <a:pt x="376" y="146"/>
                    </a:cubicBezTo>
                    <a:cubicBezTo>
                      <a:pt x="389" y="131"/>
                      <a:pt x="399" y="112"/>
                      <a:pt x="410" y="94"/>
                    </a:cubicBezTo>
                    <a:cubicBezTo>
                      <a:pt x="421" y="76"/>
                      <a:pt x="431" y="58"/>
                      <a:pt x="444" y="46"/>
                    </a:cubicBezTo>
                    <a:cubicBezTo>
                      <a:pt x="456" y="34"/>
                      <a:pt x="470" y="27"/>
                      <a:pt x="489" y="27"/>
                    </a:cubicBezTo>
                    <a:close/>
                    <a:moveTo>
                      <a:pt x="27" y="187"/>
                    </a:moveTo>
                    <a:lnTo>
                      <a:pt x="240" y="187"/>
                    </a:lnTo>
                    <a:lnTo>
                      <a:pt x="240" y="280"/>
                    </a:lnTo>
                    <a:lnTo>
                      <a:pt x="27" y="280"/>
                    </a:lnTo>
                    <a:lnTo>
                      <a:pt x="27" y="187"/>
                    </a:lnTo>
                    <a:close/>
                    <a:moveTo>
                      <a:pt x="267" y="187"/>
                    </a:moveTo>
                    <a:lnTo>
                      <a:pt x="374" y="187"/>
                    </a:lnTo>
                    <a:cubicBezTo>
                      <a:pt x="374" y="329"/>
                      <a:pt x="374" y="471"/>
                      <a:pt x="374" y="614"/>
                    </a:cubicBezTo>
                    <a:lnTo>
                      <a:pt x="267" y="614"/>
                    </a:lnTo>
                    <a:cubicBezTo>
                      <a:pt x="267" y="471"/>
                      <a:pt x="267" y="329"/>
                      <a:pt x="267" y="187"/>
                    </a:cubicBezTo>
                    <a:close/>
                    <a:moveTo>
                      <a:pt x="400" y="187"/>
                    </a:moveTo>
                    <a:lnTo>
                      <a:pt x="614" y="187"/>
                    </a:lnTo>
                    <a:lnTo>
                      <a:pt x="614" y="280"/>
                    </a:lnTo>
                    <a:lnTo>
                      <a:pt x="400" y="280"/>
                    </a:lnTo>
                    <a:lnTo>
                      <a:pt x="400" y="187"/>
                    </a:lnTo>
                    <a:close/>
                    <a:moveTo>
                      <a:pt x="54" y="307"/>
                    </a:moveTo>
                    <a:lnTo>
                      <a:pt x="240" y="307"/>
                    </a:lnTo>
                    <a:lnTo>
                      <a:pt x="240" y="614"/>
                    </a:lnTo>
                    <a:lnTo>
                      <a:pt x="54" y="614"/>
                    </a:lnTo>
                    <a:lnTo>
                      <a:pt x="54" y="307"/>
                    </a:lnTo>
                    <a:close/>
                    <a:moveTo>
                      <a:pt x="400" y="307"/>
                    </a:moveTo>
                    <a:lnTo>
                      <a:pt x="587" y="307"/>
                    </a:lnTo>
                    <a:lnTo>
                      <a:pt x="587" y="614"/>
                    </a:lnTo>
                    <a:lnTo>
                      <a:pt x="400" y="614"/>
                    </a:lnTo>
                    <a:lnTo>
                      <a:pt x="400" y="307"/>
                    </a:lnTo>
                    <a:close/>
                  </a:path>
                </a:pathLst>
              </a:custGeom>
              <a:solidFill>
                <a:srgbClr val="5F5F5F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sz="900" dirty="0"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p:grpSp>
        <p:sp>
          <p:nvSpPr>
            <p:cNvPr id="242" name="모서리가 둥근 직사각형 241">
              <a:extLst>
                <a:ext uri="{FF2B5EF4-FFF2-40B4-BE49-F238E27FC236}">
                  <a16:creationId xmlns="" xmlns:a16="http://schemas.microsoft.com/office/drawing/2014/main" id="{19FD5FA0-B111-4EF7-BC86-418441928DD3}"/>
                </a:ext>
              </a:extLst>
            </p:cNvPr>
            <p:cNvSpPr/>
            <p:nvPr/>
          </p:nvSpPr>
          <p:spPr>
            <a:xfrm>
              <a:off x="5832461" y="5964803"/>
              <a:ext cx="864000" cy="359942"/>
            </a:xfrm>
            <a:prstGeom prst="roundRect">
              <a:avLst>
                <a:gd name="adj" fmla="val 9391"/>
              </a:avLst>
            </a:prstGeom>
            <a:solidFill>
              <a:schemeClr val="bg1"/>
            </a:solidFill>
            <a:ln w="31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700" b="1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쇼핑백</a:t>
              </a:r>
              <a:endParaRPr lang="ko-KR" altLang="en-US" sz="700" b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320" name="TextBox 319">
              <a:extLst>
                <a:ext uri="{FF2B5EF4-FFF2-40B4-BE49-F238E27FC236}">
                  <a16:creationId xmlns="" xmlns:a16="http://schemas.microsoft.com/office/drawing/2014/main" id="{0C96C875-C47F-4F5B-B4C1-F9D666A7BD9D}"/>
                </a:ext>
              </a:extLst>
            </p:cNvPr>
            <p:cNvSpPr txBox="1"/>
            <p:nvPr/>
          </p:nvSpPr>
          <p:spPr>
            <a:xfrm>
              <a:off x="4968611" y="5191154"/>
              <a:ext cx="2251185" cy="180425"/>
            </a:xfrm>
            <a:prstGeom prst="rect">
              <a:avLst/>
            </a:prstGeom>
            <a:noFill/>
            <a:ln w="3175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none" lIns="36000" tIns="36000" rIns="36000" bIns="36000" numCol="1" rtlCol="0" anchor="ctr" anchorCtr="0" compatLnSpc="1">
              <a:prstTxWarp prst="textNoShape">
                <a:avLst/>
              </a:prstTxWarp>
              <a:spAutoFit/>
            </a:bodyPr>
            <a:lstStyle/>
            <a:p>
              <a:r>
                <a:rPr lang="ko-KR" altLang="en-US" sz="700" b="1" smtClean="0">
                  <a:solidFill>
                    <a:srgbClr val="0070C0"/>
                  </a:solidFill>
                  <a:latin typeface="맑은 고딕" panose="020B0503020000020004" pitchFamily="50" charset="-127"/>
                </a:rPr>
                <a:t>매장상품 배송</a:t>
              </a:r>
              <a:r>
                <a:rPr lang="ko-KR" altLang="en-US" sz="700" b="1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 </a:t>
              </a:r>
              <a:r>
                <a:rPr lang="ko-KR" altLang="en-US" sz="70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서비스는 평균</a:t>
              </a:r>
              <a:r>
                <a:rPr lang="ko-KR" altLang="en-US" sz="700" b="1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 </a:t>
              </a:r>
              <a:r>
                <a:rPr lang="en-US" altLang="ko-KR" sz="700" b="1">
                  <a:solidFill>
                    <a:srgbClr val="0070C0"/>
                  </a:solidFill>
                  <a:latin typeface="맑은 고딕" panose="020B0503020000020004" pitchFamily="50" charset="-127"/>
                </a:rPr>
                <a:t>5~7</a:t>
              </a:r>
              <a:r>
                <a:rPr lang="en-US" altLang="ko-KR" sz="700" b="1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 </a:t>
              </a:r>
              <a:r>
                <a:rPr lang="ko-KR" altLang="en-US" sz="70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영업일 소요됩니다</a:t>
              </a:r>
              <a:r>
                <a:rPr lang="en-US" altLang="ko-KR" sz="70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.</a:t>
              </a:r>
              <a:endParaRPr lang="en-US" altLang="ko-KR" sz="7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7765257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9" name="직사각형 588"/>
          <p:cNvSpPr/>
          <p:nvPr/>
        </p:nvSpPr>
        <p:spPr>
          <a:xfrm>
            <a:off x="3168018" y="1150658"/>
            <a:ext cx="2880000" cy="3816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7" name="제목 1"/>
          <p:cNvSpPr txBox="1">
            <a:spLocks/>
          </p:cNvSpPr>
          <p:nvPr/>
        </p:nvSpPr>
        <p:spPr>
          <a:xfrm>
            <a:off x="1223906" y="358660"/>
            <a:ext cx="1080000" cy="216000"/>
          </a:xfrm>
          <a:prstGeom prst="rect">
            <a:avLst/>
          </a:prstGeom>
        </p:spPr>
        <p:txBody>
          <a:bodyPr lIns="36000" tIns="36000" rIns="36000" bIns="36000" anchor="ctr"/>
          <a:lstStyle>
            <a:lvl1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2pPr>
            <a:lvl3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3pPr>
            <a:lvl4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4pPr>
            <a:lvl5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5pPr>
            <a:lvl6pPr marL="457212" algn="ctr" rtl="0" fontAlgn="base" latinLnBrk="1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6pPr>
            <a:lvl7pPr marL="914423" algn="ctr" rtl="0" fontAlgn="base" latinLnBrk="1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7pPr>
            <a:lvl8pPr marL="1371634" algn="ctr" rtl="0" fontAlgn="base" latinLnBrk="1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8pPr>
            <a:lvl9pPr marL="1828846" algn="ctr" rtl="0" fontAlgn="base" latinLnBrk="1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r>
              <a:rPr lang="en-US" altLang="ko-KR" sz="800" ker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-</a:t>
            </a:r>
            <a:endParaRPr lang="ko-KR" altLang="en-US" sz="800" kern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" name="제목 1">
            <a:extLst>
              <a:ext uri="{FF2B5EF4-FFF2-40B4-BE49-F238E27FC236}">
                <a16:creationId xmlns:a16="http://schemas.microsoft.com/office/drawing/2014/main" xmlns="" id="{03F65532-A01C-4981-B987-5E15F64E3ABB}"/>
              </a:ext>
            </a:extLst>
          </p:cNvPr>
          <p:cNvSpPr txBox="1">
            <a:spLocks/>
          </p:cNvSpPr>
          <p:nvPr/>
        </p:nvSpPr>
        <p:spPr>
          <a:xfrm>
            <a:off x="3383718" y="142660"/>
            <a:ext cx="4320000" cy="216000"/>
          </a:xfrm>
          <a:prstGeom prst="rect">
            <a:avLst/>
          </a:prstGeom>
        </p:spPr>
        <p:txBody>
          <a:bodyPr lIns="180000" tIns="36000" rIns="180000" bIns="36000" anchor="ctr"/>
          <a:lstStyle>
            <a:lvl1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2pPr>
            <a:lvl3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3pPr>
            <a:lvl4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4pPr>
            <a:lvl5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5pPr>
            <a:lvl6pPr marL="457212" algn="ctr" rtl="0" fontAlgn="base" latinLnBrk="1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6pPr>
            <a:lvl7pPr marL="914423" algn="ctr" rtl="0" fontAlgn="base" latinLnBrk="1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7pPr>
            <a:lvl8pPr marL="1371634" algn="ctr" rtl="0" fontAlgn="base" latinLnBrk="1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8pPr>
            <a:lvl9pPr marL="1828846" algn="ctr" rtl="0" fontAlgn="base" latinLnBrk="1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l"/>
            <a:r>
              <a:rPr lang="ko-KR" altLang="en-US" sz="800" b="1" kern="0" smtClean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상품상세</a:t>
            </a:r>
            <a:endParaRPr lang="ko-KR" altLang="en-US" sz="800" b="1" kern="0" dirty="0">
              <a:solidFill>
                <a:srgbClr val="C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" name="제목 1">
            <a:extLst>
              <a:ext uri="{FF2B5EF4-FFF2-40B4-BE49-F238E27FC236}">
                <a16:creationId xmlns:a16="http://schemas.microsoft.com/office/drawing/2014/main" xmlns="" id="{E2CFB5AD-2840-4821-B288-2284D6C0A05E}"/>
              </a:ext>
            </a:extLst>
          </p:cNvPr>
          <p:cNvSpPr txBox="1">
            <a:spLocks/>
          </p:cNvSpPr>
          <p:nvPr/>
        </p:nvSpPr>
        <p:spPr>
          <a:xfrm>
            <a:off x="3383718" y="358660"/>
            <a:ext cx="4320000" cy="216000"/>
          </a:xfrm>
          <a:prstGeom prst="rect">
            <a:avLst/>
          </a:prstGeom>
        </p:spPr>
        <p:txBody>
          <a:bodyPr lIns="180000" tIns="36000" rIns="180000" bIns="36000" anchor="ctr"/>
          <a:lstStyle>
            <a:lvl1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2pPr>
            <a:lvl3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3pPr>
            <a:lvl4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4pPr>
            <a:lvl5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5pPr>
            <a:lvl6pPr marL="457212" algn="ctr" rtl="0" fontAlgn="base" latinLnBrk="1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6pPr>
            <a:lvl7pPr marL="914423" algn="ctr" rtl="0" fontAlgn="base" latinLnBrk="1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7pPr>
            <a:lvl8pPr marL="1371634" algn="ctr" rtl="0" fontAlgn="base" latinLnBrk="1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8pPr>
            <a:lvl9pPr marL="1828846" algn="ctr" rtl="0" fontAlgn="base" latinLnBrk="1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l"/>
            <a:r>
              <a:rPr lang="en-US" altLang="ko-KR" sz="800" ker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https://m.lfmall.co.kr/app/product</a:t>
            </a:r>
            <a:r>
              <a:rPr lang="en-US" altLang="ko-KR" sz="800" kern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/</a:t>
            </a:r>
            <a:r>
              <a:rPr lang="ko-KR" altLang="en-US" sz="800" kern="0" smtClean="0">
                <a:solidFill>
                  <a:srgbClr val="C00000"/>
                </a:solidFill>
                <a:latin typeface="맑은 고딕" panose="020B0503020000020004" pitchFamily="50" charset="-127"/>
              </a:rPr>
              <a:t>코드</a:t>
            </a:r>
            <a:endParaRPr lang="ko-KR" altLang="en-US" sz="800" kern="0" dirty="0">
              <a:solidFill>
                <a:srgbClr val="C00000"/>
              </a:solidFill>
              <a:latin typeface="맑은 고딕" panose="020B0503020000020004" pitchFamily="50" charset="-127"/>
            </a:endParaRPr>
          </a:p>
        </p:txBody>
      </p:sp>
      <p:sp>
        <p:nvSpPr>
          <p:cNvPr id="10" name="제목 1"/>
          <p:cNvSpPr txBox="1">
            <a:spLocks/>
          </p:cNvSpPr>
          <p:nvPr/>
        </p:nvSpPr>
        <p:spPr>
          <a:xfrm>
            <a:off x="1223906" y="142660"/>
            <a:ext cx="1080000" cy="216000"/>
          </a:xfrm>
          <a:prstGeom prst="rect">
            <a:avLst/>
          </a:prstGeom>
        </p:spPr>
        <p:txBody>
          <a:bodyPr lIns="36000" tIns="36000" rIns="36000" bIns="36000" anchor="ctr"/>
          <a:lstStyle>
            <a:lvl1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2pPr>
            <a:lvl3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3pPr>
            <a:lvl4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4pPr>
            <a:lvl5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5pPr>
            <a:lvl6pPr marL="457212" algn="ctr" rtl="0" fontAlgn="base" latinLnBrk="1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6pPr>
            <a:lvl7pPr marL="914423" algn="ctr" rtl="0" fontAlgn="base" latinLnBrk="1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7pPr>
            <a:lvl8pPr marL="1371634" algn="ctr" rtl="0" fontAlgn="base" latinLnBrk="1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8pPr>
            <a:lvl9pPr marL="1828846" algn="ctr" rtl="0" fontAlgn="base" latinLnBrk="1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r>
              <a:rPr lang="en-US" altLang="ko-KR" sz="800" kern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Front-End</a:t>
            </a:r>
            <a:endParaRPr lang="ko-KR" altLang="en-US" sz="800" kern="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11" name="직사각형 310"/>
          <p:cNvSpPr/>
          <p:nvPr/>
        </p:nvSpPr>
        <p:spPr>
          <a:xfrm>
            <a:off x="289179" y="6399549"/>
            <a:ext cx="2592000" cy="144000"/>
          </a:xfrm>
          <a:prstGeom prst="rect">
            <a:avLst/>
          </a:pr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47" name="직사각형 146"/>
          <p:cNvSpPr/>
          <p:nvPr/>
        </p:nvSpPr>
        <p:spPr>
          <a:xfrm>
            <a:off x="145179" y="1150660"/>
            <a:ext cx="2880000" cy="3312966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272" name="TextBox 271">
            <a:extLst>
              <a:ext uri="{FF2B5EF4-FFF2-40B4-BE49-F238E27FC236}">
                <a16:creationId xmlns="" xmlns:a16="http://schemas.microsoft.com/office/drawing/2014/main" id="{0C96C875-C47F-4F5B-B4C1-F9D666A7BD9D}"/>
              </a:ext>
            </a:extLst>
          </p:cNvPr>
          <p:cNvSpPr txBox="1"/>
          <p:nvPr/>
        </p:nvSpPr>
        <p:spPr>
          <a:xfrm>
            <a:off x="289436" y="1527116"/>
            <a:ext cx="463836" cy="180425"/>
          </a:xfrm>
          <a:prstGeom prst="rect">
            <a:avLst/>
          </a:prstGeom>
          <a:noFill/>
          <a:ln w="317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36000" tIns="36000" rIns="36000" bIns="36000" numCol="1" rtlCol="0" anchor="ctr" anchorCtr="0" compatLnSpc="1">
            <a:prstTxWarp prst="textNoShape">
              <a:avLst/>
            </a:prstTxWarp>
            <a:spAutoFit/>
          </a:bodyPr>
          <a:lstStyle/>
          <a:p>
            <a:r>
              <a:rPr lang="ko-KR" altLang="en-US" sz="700" b="1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컬러</a:t>
            </a:r>
            <a:r>
              <a:rPr lang="ko-KR" altLang="en-US" sz="7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 블랙</a:t>
            </a:r>
            <a:endParaRPr lang="ko-KR" altLang="en-US" sz="7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</a:endParaRPr>
          </a:p>
        </p:txBody>
      </p:sp>
      <p:cxnSp>
        <p:nvCxnSpPr>
          <p:cNvPr id="273" name="직선 연결선 272"/>
          <p:cNvCxnSpPr/>
          <p:nvPr/>
        </p:nvCxnSpPr>
        <p:spPr>
          <a:xfrm>
            <a:off x="289436" y="1150660"/>
            <a:ext cx="2591578" cy="0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4" name="TextBox 273">
            <a:extLst>
              <a:ext uri="{FF2B5EF4-FFF2-40B4-BE49-F238E27FC236}">
                <a16:creationId xmlns="" xmlns:a16="http://schemas.microsoft.com/office/drawing/2014/main" id="{0C96C875-C47F-4F5B-B4C1-F9D666A7BD9D}"/>
              </a:ext>
            </a:extLst>
          </p:cNvPr>
          <p:cNvSpPr txBox="1"/>
          <p:nvPr/>
        </p:nvSpPr>
        <p:spPr>
          <a:xfrm>
            <a:off x="289437" y="1232858"/>
            <a:ext cx="519941" cy="195814"/>
          </a:xfrm>
          <a:prstGeom prst="rect">
            <a:avLst/>
          </a:prstGeom>
          <a:noFill/>
          <a:ln w="317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36000" tIns="36000" rIns="36000" bIns="36000" numCol="1" rtlCol="0" anchor="ctr" anchorCtr="0" compatLnSpc="1">
            <a:prstTxWarp prst="textNoShape">
              <a:avLst/>
            </a:prstTxWarp>
            <a:spAutoFit/>
          </a:bodyPr>
          <a:lstStyle/>
          <a:p>
            <a:r>
              <a:rPr lang="ko-KR" altLang="en-US" sz="800" b="1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옵션 선택</a:t>
            </a:r>
            <a:endParaRPr lang="en-US" altLang="ko-KR" sz="800" b="1" smtClean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275" name="모서리가 둥근 직사각형 274"/>
          <p:cNvSpPr/>
          <p:nvPr/>
        </p:nvSpPr>
        <p:spPr>
          <a:xfrm>
            <a:off x="289436" y="1726726"/>
            <a:ext cx="432000" cy="539912"/>
          </a:xfrm>
          <a:prstGeom prst="roundRect">
            <a:avLst>
              <a:gd name="adj" fmla="val 11375"/>
            </a:avLst>
          </a:prstGeom>
          <a:pattFill prst="openDmnd">
            <a:fgClr>
              <a:schemeClr val="bg1">
                <a:lumMod val="85000"/>
              </a:schemeClr>
            </a:fgClr>
            <a:bgClr>
              <a:schemeClr val="bg1"/>
            </a:bgClr>
          </a:patt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6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PROD</a:t>
            </a:r>
          </a:p>
          <a:p>
            <a:pPr algn="ctr"/>
            <a:r>
              <a:rPr lang="en-US" altLang="ko-KR" sz="6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IMG</a:t>
            </a:r>
            <a:endParaRPr lang="ko-KR" altLang="en-US" sz="60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276" name="모서리가 둥근 직사각형 275"/>
          <p:cNvSpPr/>
          <p:nvPr/>
        </p:nvSpPr>
        <p:spPr>
          <a:xfrm>
            <a:off x="793857" y="1726726"/>
            <a:ext cx="432000" cy="539912"/>
          </a:xfrm>
          <a:prstGeom prst="roundRect">
            <a:avLst>
              <a:gd name="adj" fmla="val 11375"/>
            </a:avLst>
          </a:prstGeom>
          <a:pattFill prst="openDmnd">
            <a:fgClr>
              <a:schemeClr val="bg1">
                <a:lumMod val="85000"/>
              </a:schemeClr>
            </a:fgClr>
            <a:bgClr>
              <a:schemeClr val="bg1"/>
            </a:bgClr>
          </a:patt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6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PROD</a:t>
            </a:r>
          </a:p>
          <a:p>
            <a:pPr algn="ctr"/>
            <a:r>
              <a:rPr lang="en-US" altLang="ko-KR" sz="6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IMG</a:t>
            </a:r>
            <a:endParaRPr lang="ko-KR" altLang="en-US" sz="60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277" name="TextBox 276">
            <a:extLst>
              <a:ext uri="{FF2B5EF4-FFF2-40B4-BE49-F238E27FC236}">
                <a16:creationId xmlns="" xmlns:a16="http://schemas.microsoft.com/office/drawing/2014/main" id="{0C96C875-C47F-4F5B-B4C1-F9D666A7BD9D}"/>
              </a:ext>
            </a:extLst>
          </p:cNvPr>
          <p:cNvSpPr txBox="1"/>
          <p:nvPr/>
        </p:nvSpPr>
        <p:spPr>
          <a:xfrm>
            <a:off x="289436" y="2356337"/>
            <a:ext cx="342008" cy="180425"/>
          </a:xfrm>
          <a:prstGeom prst="rect">
            <a:avLst/>
          </a:prstGeom>
          <a:noFill/>
          <a:ln w="317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36000" tIns="36000" rIns="36000" bIns="36000" numCol="1" rtlCol="0" anchor="ctr" anchorCtr="0" compatLnSpc="1">
            <a:prstTxWarp prst="textNoShape">
              <a:avLst/>
            </a:prstTxWarp>
            <a:spAutoFit/>
          </a:bodyPr>
          <a:lstStyle/>
          <a:p>
            <a:r>
              <a:rPr lang="ko-KR" altLang="en-US" sz="700" b="1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사이즈</a:t>
            </a:r>
            <a:endParaRPr lang="ko-KR" altLang="en-US" sz="700" b="1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278" name="모서리가 둥근 직사각형 277"/>
          <p:cNvSpPr/>
          <p:nvPr/>
        </p:nvSpPr>
        <p:spPr>
          <a:xfrm>
            <a:off x="289436" y="2555471"/>
            <a:ext cx="359942" cy="288000"/>
          </a:xfrm>
          <a:prstGeom prst="roundRect">
            <a:avLst>
              <a:gd name="adj" fmla="val 11375"/>
            </a:avLst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8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95</a:t>
            </a:r>
            <a:endParaRPr lang="ko-KR" altLang="en-US" sz="80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279" name="모서리가 둥근 직사각형 278"/>
          <p:cNvSpPr/>
          <p:nvPr/>
        </p:nvSpPr>
        <p:spPr>
          <a:xfrm>
            <a:off x="722302" y="2555471"/>
            <a:ext cx="359942" cy="288000"/>
          </a:xfrm>
          <a:prstGeom prst="roundRect">
            <a:avLst>
              <a:gd name="adj" fmla="val 11375"/>
            </a:avLst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8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100</a:t>
            </a:r>
            <a:endParaRPr lang="ko-KR" altLang="en-US" sz="80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280" name="모서리가 둥근 직사각형 279"/>
          <p:cNvSpPr/>
          <p:nvPr/>
        </p:nvSpPr>
        <p:spPr>
          <a:xfrm>
            <a:off x="1154037" y="2555471"/>
            <a:ext cx="359942" cy="288000"/>
          </a:xfrm>
          <a:prstGeom prst="roundRect">
            <a:avLst>
              <a:gd name="adj" fmla="val 11375"/>
            </a:avLst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8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105</a:t>
            </a:r>
            <a:endParaRPr lang="ko-KR" altLang="en-US" sz="80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281" name="모서리가 둥근 직사각형 280"/>
          <p:cNvSpPr/>
          <p:nvPr/>
        </p:nvSpPr>
        <p:spPr>
          <a:xfrm>
            <a:off x="1584713" y="2555471"/>
            <a:ext cx="359942" cy="288000"/>
          </a:xfrm>
          <a:prstGeom prst="roundRect">
            <a:avLst>
              <a:gd name="adj" fmla="val 11375"/>
            </a:avLst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8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110</a:t>
            </a:r>
            <a:endParaRPr lang="ko-KR" altLang="en-US" sz="80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282" name="모서리가 둥근 직사각형 281"/>
          <p:cNvSpPr/>
          <p:nvPr/>
        </p:nvSpPr>
        <p:spPr>
          <a:xfrm>
            <a:off x="2017382" y="2555471"/>
            <a:ext cx="359942" cy="288000"/>
          </a:xfrm>
          <a:prstGeom prst="roundRect">
            <a:avLst>
              <a:gd name="adj" fmla="val 11375"/>
            </a:avLst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8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115</a:t>
            </a:r>
            <a:endParaRPr lang="ko-KR" altLang="en-US" sz="80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283" name="모서리가 둥근 직사각형 282"/>
          <p:cNvSpPr/>
          <p:nvPr/>
        </p:nvSpPr>
        <p:spPr>
          <a:xfrm>
            <a:off x="2449905" y="2555471"/>
            <a:ext cx="359942" cy="288000"/>
          </a:xfrm>
          <a:prstGeom prst="roundRect">
            <a:avLst>
              <a:gd name="adj" fmla="val 11375"/>
            </a:avLst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800" strike="sngStrike" smtClean="0">
                <a:solidFill>
                  <a:schemeClr val="bg1">
                    <a:lumMod val="75000"/>
                  </a:schemeClr>
                </a:solidFill>
                <a:latin typeface="맑은 고딕" panose="020B0503020000020004" pitchFamily="50" charset="-127"/>
              </a:rPr>
              <a:t>120</a:t>
            </a:r>
            <a:endParaRPr lang="ko-KR" altLang="en-US" sz="800" strike="sngStrike">
              <a:solidFill>
                <a:schemeClr val="bg1">
                  <a:lumMod val="75000"/>
                </a:schemeClr>
              </a:solidFill>
              <a:latin typeface="맑은 고딕" panose="020B0503020000020004" pitchFamily="50" charset="-127"/>
            </a:endParaRPr>
          </a:p>
        </p:txBody>
      </p:sp>
      <p:grpSp>
        <p:nvGrpSpPr>
          <p:cNvPr id="284" name="그룹 283"/>
          <p:cNvGrpSpPr/>
          <p:nvPr/>
        </p:nvGrpSpPr>
        <p:grpSpPr>
          <a:xfrm>
            <a:off x="2664604" y="2518762"/>
            <a:ext cx="179970" cy="179970"/>
            <a:chOff x="7589341" y="3009028"/>
            <a:chExt cx="180000" cy="180000"/>
          </a:xfrm>
        </p:grpSpPr>
        <p:sp>
          <p:nvSpPr>
            <p:cNvPr id="285" name="타원 284"/>
            <p:cNvSpPr/>
            <p:nvPr/>
          </p:nvSpPr>
          <p:spPr>
            <a:xfrm>
              <a:off x="7589341" y="3009028"/>
              <a:ext cx="180000" cy="180000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ko-KR" altLang="en-US" sz="5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grpSp>
          <p:nvGrpSpPr>
            <p:cNvPr id="286" name="그룹 285"/>
            <p:cNvGrpSpPr/>
            <p:nvPr/>
          </p:nvGrpSpPr>
          <p:grpSpPr>
            <a:xfrm>
              <a:off x="7625341" y="3045028"/>
              <a:ext cx="108000" cy="108000"/>
              <a:chOff x="531806" y="1604594"/>
              <a:chExt cx="180000" cy="180738"/>
            </a:xfrm>
          </p:grpSpPr>
          <p:grpSp>
            <p:nvGrpSpPr>
              <p:cNvPr id="287" name="그룹 286"/>
              <p:cNvGrpSpPr/>
              <p:nvPr/>
            </p:nvGrpSpPr>
            <p:grpSpPr>
              <a:xfrm>
                <a:off x="549806" y="1604594"/>
                <a:ext cx="144000" cy="180738"/>
                <a:chOff x="691953" y="1723346"/>
                <a:chExt cx="144000" cy="180738"/>
              </a:xfrm>
              <a:solidFill>
                <a:schemeClr val="bg1"/>
              </a:solidFill>
            </p:grpSpPr>
            <p:sp>
              <p:nvSpPr>
                <p:cNvPr id="289" name="양쪽 모서리가 둥근 사각형 288"/>
                <p:cNvSpPr/>
                <p:nvPr/>
              </p:nvSpPr>
              <p:spPr>
                <a:xfrm>
                  <a:off x="700953" y="1723346"/>
                  <a:ext cx="126000" cy="126000"/>
                </a:xfrm>
                <a:prstGeom prst="round2SameRect">
                  <a:avLst>
                    <a:gd name="adj1" fmla="val 50000"/>
                    <a:gd name="adj2" fmla="val 0"/>
                  </a:avLst>
                </a:prstGeom>
                <a:grpFill/>
                <a:ln w="3175">
                  <a:solidFill>
                    <a:srgbClr val="DC283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7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endParaRPr>
                </a:p>
              </p:txBody>
            </p:sp>
            <p:sp>
              <p:nvSpPr>
                <p:cNvPr id="290" name="타원 289"/>
                <p:cNvSpPr/>
                <p:nvPr/>
              </p:nvSpPr>
              <p:spPr>
                <a:xfrm>
                  <a:off x="736953" y="1850084"/>
                  <a:ext cx="54000" cy="54000"/>
                </a:xfrm>
                <a:prstGeom prst="ellipse">
                  <a:avLst/>
                </a:prstGeom>
                <a:grpFill/>
                <a:ln w="3175">
                  <a:solidFill>
                    <a:srgbClr val="DC283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7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endParaRPr>
                </a:p>
              </p:txBody>
            </p:sp>
            <p:sp>
              <p:nvSpPr>
                <p:cNvPr id="291" name="직사각형 290"/>
                <p:cNvSpPr/>
                <p:nvPr/>
              </p:nvSpPr>
              <p:spPr>
                <a:xfrm>
                  <a:off x="691953" y="1811453"/>
                  <a:ext cx="144000" cy="18000"/>
                </a:xfrm>
                <a:prstGeom prst="rect">
                  <a:avLst/>
                </a:prstGeom>
                <a:grpFill/>
                <a:ln w="3175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7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endParaRPr>
                </a:p>
              </p:txBody>
            </p:sp>
            <p:sp>
              <p:nvSpPr>
                <p:cNvPr id="292" name="직사각형 291"/>
                <p:cNvSpPr/>
                <p:nvPr/>
              </p:nvSpPr>
              <p:spPr>
                <a:xfrm>
                  <a:off x="691953" y="1859609"/>
                  <a:ext cx="144000" cy="18000"/>
                </a:xfrm>
                <a:prstGeom prst="rect">
                  <a:avLst/>
                </a:prstGeom>
                <a:grpFill/>
                <a:ln w="3175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7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endParaRPr>
                </a:p>
              </p:txBody>
            </p:sp>
            <p:sp>
              <p:nvSpPr>
                <p:cNvPr id="293" name="직사각형 292"/>
                <p:cNvSpPr/>
                <p:nvPr/>
              </p:nvSpPr>
              <p:spPr>
                <a:xfrm>
                  <a:off x="691953" y="1832609"/>
                  <a:ext cx="144000" cy="25200"/>
                </a:xfrm>
                <a:prstGeom prst="rect">
                  <a:avLst/>
                </a:prstGeom>
                <a:grpFill/>
                <a:ln w="3175">
                  <a:solidFill>
                    <a:srgbClr val="DC283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7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endParaRPr>
                </a:p>
              </p:txBody>
            </p:sp>
          </p:grpSp>
          <p:sp>
            <p:nvSpPr>
              <p:cNvPr id="288" name="직사각형 287"/>
              <p:cNvSpPr/>
              <p:nvPr/>
            </p:nvSpPr>
            <p:spPr>
              <a:xfrm>
                <a:off x="531806" y="1604594"/>
                <a:ext cx="180000" cy="180000"/>
              </a:xfrm>
              <a:prstGeom prst="rect">
                <a:avLst/>
              </a:prstGeom>
              <a:noFill/>
              <a:ln w="31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70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</p:grpSp>
      </p:grpSp>
      <p:sp>
        <p:nvSpPr>
          <p:cNvPr id="294" name="TextBox 293">
            <a:extLst>
              <a:ext uri="{FF2B5EF4-FFF2-40B4-BE49-F238E27FC236}">
                <a16:creationId xmlns="" xmlns:a16="http://schemas.microsoft.com/office/drawing/2014/main" id="{0C96C875-C47F-4F5B-B4C1-F9D666A7BD9D}"/>
              </a:ext>
            </a:extLst>
          </p:cNvPr>
          <p:cNvSpPr txBox="1"/>
          <p:nvPr/>
        </p:nvSpPr>
        <p:spPr>
          <a:xfrm>
            <a:off x="2279319" y="2356338"/>
            <a:ext cx="601695" cy="180425"/>
          </a:xfrm>
          <a:prstGeom prst="rect">
            <a:avLst/>
          </a:prstGeom>
          <a:noFill/>
          <a:ln w="317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36000" tIns="36000" rIns="36000" bIns="36000" numCol="1" rtlCol="0" anchor="ctr" anchorCtr="0" compatLnSpc="1">
            <a:prstTxWarp prst="textNoShape">
              <a:avLst/>
            </a:prstTxWarp>
            <a:spAutoFit/>
          </a:bodyPr>
          <a:lstStyle/>
          <a:p>
            <a:pPr algn="r"/>
            <a:r>
              <a:rPr lang="ko-KR" altLang="en-US" sz="7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사이즈안내 </a:t>
            </a:r>
            <a:r>
              <a:rPr lang="en-US" altLang="ko-KR" sz="7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〉</a:t>
            </a:r>
            <a:endParaRPr lang="ko-KR" altLang="en-US" sz="7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295" name="타원 294"/>
          <p:cNvSpPr/>
          <p:nvPr/>
        </p:nvSpPr>
        <p:spPr>
          <a:xfrm>
            <a:off x="559378" y="2609471"/>
            <a:ext cx="36000" cy="36000"/>
          </a:xfrm>
          <a:prstGeom prst="ellipse">
            <a:avLst/>
          </a:prstGeom>
          <a:solidFill>
            <a:srgbClr val="C0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96" name="TextBox 295"/>
          <p:cNvSpPr txBox="1"/>
          <p:nvPr/>
        </p:nvSpPr>
        <p:spPr>
          <a:xfrm>
            <a:off x="343821" y="2914635"/>
            <a:ext cx="250068" cy="76944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r>
              <a:rPr lang="en-US" altLang="ko-KR" sz="500" smtClean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3</a:t>
            </a:r>
            <a:r>
              <a:rPr lang="ko-KR" altLang="en-US" sz="500" smtClean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개 남음</a:t>
            </a:r>
            <a:endParaRPr lang="ko-KR" altLang="en-US" sz="500" dirty="0">
              <a:solidFill>
                <a:schemeClr val="bg1">
                  <a:lumMod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297" name="직선 연결선 296"/>
          <p:cNvCxnSpPr/>
          <p:nvPr/>
        </p:nvCxnSpPr>
        <p:spPr>
          <a:xfrm>
            <a:off x="289436" y="3167098"/>
            <a:ext cx="2591578" cy="0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8" name="TextBox 297">
            <a:extLst>
              <a:ext uri="{FF2B5EF4-FFF2-40B4-BE49-F238E27FC236}">
                <a16:creationId xmlns="" xmlns:a16="http://schemas.microsoft.com/office/drawing/2014/main" id="{0C96C875-C47F-4F5B-B4C1-F9D666A7BD9D}"/>
              </a:ext>
            </a:extLst>
          </p:cNvPr>
          <p:cNvSpPr txBox="1"/>
          <p:nvPr/>
        </p:nvSpPr>
        <p:spPr>
          <a:xfrm>
            <a:off x="289437" y="3250768"/>
            <a:ext cx="901456" cy="195814"/>
          </a:xfrm>
          <a:prstGeom prst="rect">
            <a:avLst/>
          </a:prstGeom>
          <a:noFill/>
          <a:ln w="317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36000" tIns="36000" rIns="36000" bIns="36000" numCol="1" rtlCol="0" anchor="ctr" anchorCtr="0" compatLnSpc="1">
            <a:prstTxWarp prst="textNoShape">
              <a:avLst/>
            </a:prstTxWarp>
            <a:spAutoFit/>
          </a:bodyPr>
          <a:lstStyle/>
          <a:p>
            <a:r>
              <a:rPr lang="ko-KR" altLang="en-US" sz="800" b="1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배송 및 혜택 안내</a:t>
            </a:r>
            <a:endParaRPr lang="en-US" altLang="ko-KR" sz="800" b="1" smtClean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317" name="TextBox 316">
            <a:extLst>
              <a:ext uri="{FF2B5EF4-FFF2-40B4-BE49-F238E27FC236}">
                <a16:creationId xmlns="" xmlns:a16="http://schemas.microsoft.com/office/drawing/2014/main" id="{0C96C875-C47F-4F5B-B4C1-F9D666A7BD9D}"/>
              </a:ext>
            </a:extLst>
          </p:cNvPr>
          <p:cNvSpPr txBox="1"/>
          <p:nvPr/>
        </p:nvSpPr>
        <p:spPr>
          <a:xfrm>
            <a:off x="289436" y="3527247"/>
            <a:ext cx="431776" cy="180425"/>
          </a:xfrm>
          <a:prstGeom prst="rect">
            <a:avLst/>
          </a:prstGeom>
          <a:noFill/>
          <a:ln w="317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36000" tIns="36000" rIns="36000" bIns="36000" numCol="1" rtlCol="0" anchor="ctr" anchorCtr="0" compatLnSpc="1">
            <a:prstTxWarp prst="textNoShape">
              <a:avLst/>
            </a:prstTxWarp>
            <a:spAutoFit/>
          </a:bodyPr>
          <a:lstStyle/>
          <a:p>
            <a:r>
              <a:rPr lang="ko-KR" altLang="en-US" sz="700" smtClean="0">
                <a:solidFill>
                  <a:schemeClr val="tx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</a:rPr>
              <a:t>배송정보</a:t>
            </a:r>
            <a:endParaRPr lang="ko-KR" altLang="en-US" sz="700" dirty="0">
              <a:solidFill>
                <a:schemeClr val="tx1">
                  <a:lumMod val="50000"/>
                  <a:lumOff val="50000"/>
                </a:schemeClr>
              </a:solidFill>
              <a:latin typeface="맑은 고딕" panose="020B0503020000020004" pitchFamily="50" charset="-127"/>
            </a:endParaRPr>
          </a:p>
        </p:txBody>
      </p:sp>
      <p:grpSp>
        <p:nvGrpSpPr>
          <p:cNvPr id="324" name="그룹 323"/>
          <p:cNvGrpSpPr/>
          <p:nvPr/>
        </p:nvGrpSpPr>
        <p:grpSpPr>
          <a:xfrm>
            <a:off x="937460" y="3581428"/>
            <a:ext cx="126000" cy="72000"/>
            <a:chOff x="4549384" y="3972353"/>
            <a:chExt cx="180000" cy="108000"/>
          </a:xfrm>
        </p:grpSpPr>
        <p:sp>
          <p:nvSpPr>
            <p:cNvPr id="326" name="직사각형 325"/>
            <p:cNvSpPr/>
            <p:nvPr/>
          </p:nvSpPr>
          <p:spPr>
            <a:xfrm>
              <a:off x="4549384" y="3972353"/>
              <a:ext cx="35644" cy="108000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8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327" name="타원 326"/>
            <p:cNvSpPr/>
            <p:nvPr/>
          </p:nvSpPr>
          <p:spPr>
            <a:xfrm>
              <a:off x="4595721" y="4044353"/>
              <a:ext cx="35644" cy="36000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8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328" name="직사각형 327"/>
            <p:cNvSpPr/>
            <p:nvPr/>
          </p:nvSpPr>
          <p:spPr>
            <a:xfrm>
              <a:off x="4647404" y="3972353"/>
              <a:ext cx="35644" cy="108000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8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329" name="타원 328"/>
            <p:cNvSpPr/>
            <p:nvPr/>
          </p:nvSpPr>
          <p:spPr>
            <a:xfrm>
              <a:off x="4693740" y="3972353"/>
              <a:ext cx="35644" cy="36000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8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330" name="타원 329"/>
            <p:cNvSpPr/>
            <p:nvPr/>
          </p:nvSpPr>
          <p:spPr>
            <a:xfrm>
              <a:off x="4693740" y="4026353"/>
              <a:ext cx="35644" cy="36000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8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sp>
        <p:nvSpPr>
          <p:cNvPr id="325" name="TextBox 324"/>
          <p:cNvSpPr txBox="1"/>
          <p:nvPr/>
        </p:nvSpPr>
        <p:spPr>
          <a:xfrm>
            <a:off x="1099121" y="3563598"/>
            <a:ext cx="269304" cy="107722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r>
              <a:rPr lang="ko-KR" altLang="en-US" sz="700" smtClean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슝배송</a:t>
            </a:r>
            <a:endParaRPr lang="ko-KR" altLang="en-US" sz="700" dirty="0">
              <a:solidFill>
                <a:srgbClr val="C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33" name="TextBox 332">
            <a:extLst>
              <a:ext uri="{FF2B5EF4-FFF2-40B4-BE49-F238E27FC236}">
                <a16:creationId xmlns="" xmlns:a16="http://schemas.microsoft.com/office/drawing/2014/main" id="{0C96C875-C47F-4F5B-B4C1-F9D666A7BD9D}"/>
              </a:ext>
            </a:extLst>
          </p:cNvPr>
          <p:cNvSpPr txBox="1"/>
          <p:nvPr/>
        </p:nvSpPr>
        <p:spPr>
          <a:xfrm>
            <a:off x="1512781" y="3527247"/>
            <a:ext cx="448841" cy="180425"/>
          </a:xfrm>
          <a:prstGeom prst="rect">
            <a:avLst/>
          </a:prstGeom>
          <a:noFill/>
          <a:ln w="317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0" tIns="36000" rIns="0" bIns="36000" numCol="1" rtlCol="0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altLang="ko-KR" sz="7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CJ</a:t>
            </a:r>
            <a:r>
              <a:rPr lang="ko-KR" altLang="en-US" sz="7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대한통운</a:t>
            </a:r>
            <a:endParaRPr lang="ko-KR" altLang="en-US" sz="7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</a:endParaRPr>
          </a:p>
        </p:txBody>
      </p:sp>
      <p:cxnSp>
        <p:nvCxnSpPr>
          <p:cNvPr id="334" name="직선 연결선 333"/>
          <p:cNvCxnSpPr/>
          <p:nvPr/>
        </p:nvCxnSpPr>
        <p:spPr>
          <a:xfrm>
            <a:off x="1440603" y="3563459"/>
            <a:ext cx="0" cy="108000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7" name="TextBox 336">
            <a:extLst>
              <a:ext uri="{FF2B5EF4-FFF2-40B4-BE49-F238E27FC236}">
                <a16:creationId xmlns="" xmlns:a16="http://schemas.microsoft.com/office/drawing/2014/main" id="{0C96C875-C47F-4F5B-B4C1-F9D666A7BD9D}"/>
              </a:ext>
            </a:extLst>
          </p:cNvPr>
          <p:cNvSpPr txBox="1"/>
          <p:nvPr/>
        </p:nvSpPr>
        <p:spPr>
          <a:xfrm>
            <a:off x="937460" y="3708596"/>
            <a:ext cx="359073" cy="180425"/>
          </a:xfrm>
          <a:prstGeom prst="rect">
            <a:avLst/>
          </a:prstGeom>
          <a:noFill/>
          <a:ln w="317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0" tIns="36000" rIns="0" bIns="36000" numCol="1" rtlCol="0" anchor="ctr" anchorCtr="0" compatLnSpc="1">
            <a:prstTxWarp prst="textNoShape">
              <a:avLst/>
            </a:prstTxWarp>
            <a:spAutoFit/>
          </a:bodyPr>
          <a:lstStyle/>
          <a:p>
            <a:r>
              <a:rPr lang="ko-KR" altLang="en-US" sz="7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무료배송</a:t>
            </a:r>
            <a:endParaRPr lang="ko-KR" altLang="en-US" sz="7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</a:endParaRPr>
          </a:p>
        </p:txBody>
      </p:sp>
      <p:cxnSp>
        <p:nvCxnSpPr>
          <p:cNvPr id="338" name="직선 연결선 337"/>
          <p:cNvCxnSpPr/>
          <p:nvPr/>
        </p:nvCxnSpPr>
        <p:spPr>
          <a:xfrm>
            <a:off x="937460" y="3960943"/>
            <a:ext cx="1944000" cy="0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2" name="TextBox 341">
            <a:extLst>
              <a:ext uri="{FF2B5EF4-FFF2-40B4-BE49-F238E27FC236}">
                <a16:creationId xmlns="" xmlns:a16="http://schemas.microsoft.com/office/drawing/2014/main" id="{0C96C875-C47F-4F5B-B4C1-F9D666A7BD9D}"/>
              </a:ext>
            </a:extLst>
          </p:cNvPr>
          <p:cNvSpPr txBox="1"/>
          <p:nvPr/>
        </p:nvSpPr>
        <p:spPr>
          <a:xfrm>
            <a:off x="937460" y="4032707"/>
            <a:ext cx="1247136" cy="180425"/>
          </a:xfrm>
          <a:prstGeom prst="rect">
            <a:avLst/>
          </a:prstGeom>
          <a:noFill/>
          <a:ln w="317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0" tIns="36000" rIns="0" bIns="36000" numCol="1" rtlCol="0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altLang="ko-KR" sz="700" b="1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12/13 (</a:t>
            </a:r>
            <a:r>
              <a:rPr lang="ko-KR" altLang="en-US" sz="700" b="1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토</a:t>
            </a:r>
            <a:r>
              <a:rPr lang="en-US" altLang="ko-KR" sz="700" b="1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) </a:t>
            </a:r>
            <a:r>
              <a:rPr lang="ko-KR" altLang="en-US" sz="700" b="1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이내 도착확률 </a:t>
            </a:r>
            <a:r>
              <a:rPr lang="en-US" altLang="ko-KR" sz="700" b="1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96%</a:t>
            </a:r>
            <a:endParaRPr lang="ko-KR" altLang="en-US" sz="700" b="1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344" name="TextBox 343">
            <a:extLst>
              <a:ext uri="{FF2B5EF4-FFF2-40B4-BE49-F238E27FC236}">
                <a16:creationId xmlns="" xmlns:a16="http://schemas.microsoft.com/office/drawing/2014/main" id="{0C96C875-C47F-4F5B-B4C1-F9D666A7BD9D}"/>
              </a:ext>
            </a:extLst>
          </p:cNvPr>
          <p:cNvSpPr txBox="1"/>
          <p:nvPr/>
        </p:nvSpPr>
        <p:spPr>
          <a:xfrm>
            <a:off x="937460" y="4214135"/>
            <a:ext cx="1513235" cy="180425"/>
          </a:xfrm>
          <a:prstGeom prst="rect">
            <a:avLst/>
          </a:prstGeom>
          <a:noFill/>
          <a:ln w="317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0" tIns="36000" rIns="0" bIns="36000" numCol="1" rtlCol="0" anchor="ctr" anchorCtr="0" compatLnSpc="1">
            <a:prstTxWarp prst="textNoShape">
              <a:avLst/>
            </a:prstTxWarp>
            <a:spAutoFit/>
          </a:bodyPr>
          <a:lstStyle/>
          <a:p>
            <a:r>
              <a:rPr lang="ko-KR" altLang="en-US" sz="700" smtClean="0">
                <a:solidFill>
                  <a:schemeClr val="tx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</a:rPr>
              <a:t>서울 노원구 기준 </a:t>
            </a:r>
            <a:r>
              <a:rPr lang="en-US" altLang="ko-KR" sz="700" smtClean="0">
                <a:solidFill>
                  <a:schemeClr val="tx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</a:rPr>
              <a:t>(18</a:t>
            </a:r>
            <a:r>
              <a:rPr lang="ko-KR" altLang="en-US" sz="700" smtClean="0">
                <a:solidFill>
                  <a:schemeClr val="tx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</a:rPr>
              <a:t>시 이전 결제 시</a:t>
            </a:r>
            <a:r>
              <a:rPr lang="en-US" altLang="ko-KR" sz="700" smtClean="0">
                <a:solidFill>
                  <a:schemeClr val="tx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</a:rPr>
              <a:t>)</a:t>
            </a:r>
            <a:endParaRPr lang="ko-KR" altLang="en-US" sz="700" dirty="0">
              <a:solidFill>
                <a:schemeClr val="tx1">
                  <a:lumMod val="50000"/>
                  <a:lumOff val="50000"/>
                </a:scheme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365" name="TextBox 364">
            <a:extLst>
              <a:ext uri="{FF2B5EF4-FFF2-40B4-BE49-F238E27FC236}">
                <a16:creationId xmlns="" xmlns:a16="http://schemas.microsoft.com/office/drawing/2014/main" id="{0C96C875-C47F-4F5B-B4C1-F9D666A7BD9D}"/>
              </a:ext>
            </a:extLst>
          </p:cNvPr>
          <p:cNvSpPr txBox="1"/>
          <p:nvPr/>
        </p:nvSpPr>
        <p:spPr>
          <a:xfrm rot="5400000">
            <a:off x="2803108" y="4157999"/>
            <a:ext cx="48090" cy="107722"/>
          </a:xfrm>
          <a:prstGeom prst="rect">
            <a:avLst/>
          </a:prstGeom>
          <a:noFill/>
          <a:ln w="317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0" tIns="0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altLang="ko-KR" sz="700" b="1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〉</a:t>
            </a:r>
            <a:endParaRPr lang="ko-KR" altLang="en-US" sz="700" b="1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379" name="타원 378"/>
          <p:cNvSpPr/>
          <p:nvPr/>
        </p:nvSpPr>
        <p:spPr>
          <a:xfrm>
            <a:off x="2220630" y="4068919"/>
            <a:ext cx="108000" cy="108000"/>
          </a:xfrm>
          <a:prstGeom prst="ellipse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6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?</a:t>
            </a:r>
            <a:endParaRPr lang="ko-KR" altLang="en-US" sz="60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52" name="모서리가 둥근 직사각형 151"/>
          <p:cNvSpPr/>
          <p:nvPr/>
        </p:nvSpPr>
        <p:spPr>
          <a:xfrm>
            <a:off x="323906" y="718660"/>
            <a:ext cx="2520000" cy="28800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b="1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CASE1</a:t>
            </a:r>
            <a:r>
              <a:rPr lang="en-US" altLang="ko-KR" sz="8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 sz="8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모든 옵션 온라인재고</a:t>
            </a:r>
            <a:r>
              <a:rPr lang="en-US" altLang="ko-KR" sz="8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8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존재 </a:t>
            </a:r>
            <a:r>
              <a:rPr lang="en-US" altLang="ko-KR" sz="8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(As-Is)</a:t>
            </a:r>
            <a:endParaRPr lang="ko-KR" altLang="en-US" sz="80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13" name="모서리가 둥근 직사각형 312"/>
          <p:cNvSpPr/>
          <p:nvPr/>
        </p:nvSpPr>
        <p:spPr>
          <a:xfrm>
            <a:off x="3346539" y="718660"/>
            <a:ext cx="2520000" cy="28800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b="1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CASE2.</a:t>
            </a:r>
            <a:r>
              <a:rPr lang="en-US" altLang="ko-KR" sz="8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8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온라인재고 </a:t>
            </a:r>
            <a:r>
              <a:rPr lang="en-US" altLang="ko-KR" sz="8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&amp; </a:t>
            </a:r>
            <a:r>
              <a:rPr lang="ko-KR" altLang="en-US" sz="8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오프라인재고 공존</a:t>
            </a:r>
            <a:endParaRPr lang="ko-KR" altLang="en-US" sz="80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74" name="직사각형 473"/>
          <p:cNvSpPr/>
          <p:nvPr/>
        </p:nvSpPr>
        <p:spPr>
          <a:xfrm>
            <a:off x="6190164" y="1150659"/>
            <a:ext cx="2880000" cy="2807993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475" name="TextBox 474">
            <a:extLst>
              <a:ext uri="{FF2B5EF4-FFF2-40B4-BE49-F238E27FC236}">
                <a16:creationId xmlns="" xmlns:a16="http://schemas.microsoft.com/office/drawing/2014/main" id="{0C96C875-C47F-4F5B-B4C1-F9D666A7BD9D}"/>
              </a:ext>
            </a:extLst>
          </p:cNvPr>
          <p:cNvSpPr txBox="1"/>
          <p:nvPr/>
        </p:nvSpPr>
        <p:spPr>
          <a:xfrm>
            <a:off x="6334421" y="1527116"/>
            <a:ext cx="463836" cy="180425"/>
          </a:xfrm>
          <a:prstGeom prst="rect">
            <a:avLst/>
          </a:prstGeom>
          <a:noFill/>
          <a:ln w="317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36000" tIns="36000" rIns="36000" bIns="36000" numCol="1" rtlCol="0" anchor="ctr" anchorCtr="0" compatLnSpc="1">
            <a:prstTxWarp prst="textNoShape">
              <a:avLst/>
            </a:prstTxWarp>
            <a:spAutoFit/>
          </a:bodyPr>
          <a:lstStyle/>
          <a:p>
            <a:r>
              <a:rPr lang="ko-KR" altLang="en-US" sz="700" b="1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컬러</a:t>
            </a:r>
            <a:r>
              <a:rPr lang="ko-KR" altLang="en-US" sz="7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 블랙</a:t>
            </a:r>
            <a:endParaRPr lang="ko-KR" altLang="en-US" sz="7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</a:endParaRPr>
          </a:p>
        </p:txBody>
      </p:sp>
      <p:cxnSp>
        <p:nvCxnSpPr>
          <p:cNvPr id="476" name="직선 연결선 475"/>
          <p:cNvCxnSpPr/>
          <p:nvPr/>
        </p:nvCxnSpPr>
        <p:spPr>
          <a:xfrm>
            <a:off x="6334421" y="1150660"/>
            <a:ext cx="2591578" cy="0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7" name="TextBox 476">
            <a:extLst>
              <a:ext uri="{FF2B5EF4-FFF2-40B4-BE49-F238E27FC236}">
                <a16:creationId xmlns="" xmlns:a16="http://schemas.microsoft.com/office/drawing/2014/main" id="{0C96C875-C47F-4F5B-B4C1-F9D666A7BD9D}"/>
              </a:ext>
            </a:extLst>
          </p:cNvPr>
          <p:cNvSpPr txBox="1"/>
          <p:nvPr/>
        </p:nvSpPr>
        <p:spPr>
          <a:xfrm>
            <a:off x="6334422" y="1232858"/>
            <a:ext cx="519941" cy="195814"/>
          </a:xfrm>
          <a:prstGeom prst="rect">
            <a:avLst/>
          </a:prstGeom>
          <a:noFill/>
          <a:ln w="317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36000" tIns="36000" rIns="36000" bIns="36000" numCol="1" rtlCol="0" anchor="ctr" anchorCtr="0" compatLnSpc="1">
            <a:prstTxWarp prst="textNoShape">
              <a:avLst/>
            </a:prstTxWarp>
            <a:spAutoFit/>
          </a:bodyPr>
          <a:lstStyle/>
          <a:p>
            <a:r>
              <a:rPr lang="ko-KR" altLang="en-US" sz="800" b="1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옵션 선택</a:t>
            </a:r>
            <a:endParaRPr lang="en-US" altLang="ko-KR" sz="800" b="1" smtClean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478" name="모서리가 둥근 직사각형 477"/>
          <p:cNvSpPr/>
          <p:nvPr/>
        </p:nvSpPr>
        <p:spPr>
          <a:xfrm>
            <a:off x="6334421" y="1726726"/>
            <a:ext cx="432000" cy="539912"/>
          </a:xfrm>
          <a:prstGeom prst="roundRect">
            <a:avLst>
              <a:gd name="adj" fmla="val 11375"/>
            </a:avLst>
          </a:prstGeom>
          <a:pattFill prst="openDmnd">
            <a:fgClr>
              <a:schemeClr val="bg1">
                <a:lumMod val="85000"/>
              </a:schemeClr>
            </a:fgClr>
            <a:bgClr>
              <a:schemeClr val="bg1"/>
            </a:bgClr>
          </a:patt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6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PROD</a:t>
            </a:r>
          </a:p>
          <a:p>
            <a:pPr algn="ctr"/>
            <a:r>
              <a:rPr lang="en-US" altLang="ko-KR" sz="6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IMG</a:t>
            </a:r>
            <a:endParaRPr lang="ko-KR" altLang="en-US" sz="60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479" name="모서리가 둥근 직사각형 478"/>
          <p:cNvSpPr/>
          <p:nvPr/>
        </p:nvSpPr>
        <p:spPr>
          <a:xfrm>
            <a:off x="6838842" y="1726726"/>
            <a:ext cx="432000" cy="539912"/>
          </a:xfrm>
          <a:prstGeom prst="roundRect">
            <a:avLst>
              <a:gd name="adj" fmla="val 11375"/>
            </a:avLst>
          </a:prstGeom>
          <a:pattFill prst="openDmnd">
            <a:fgClr>
              <a:schemeClr val="bg1">
                <a:lumMod val="85000"/>
              </a:schemeClr>
            </a:fgClr>
            <a:bgClr>
              <a:schemeClr val="bg1"/>
            </a:bgClr>
          </a:patt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6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PROD</a:t>
            </a:r>
          </a:p>
          <a:p>
            <a:pPr algn="ctr"/>
            <a:r>
              <a:rPr lang="en-US" altLang="ko-KR" sz="6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IMG</a:t>
            </a:r>
            <a:endParaRPr lang="ko-KR" altLang="en-US" sz="60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480" name="TextBox 479">
            <a:extLst>
              <a:ext uri="{FF2B5EF4-FFF2-40B4-BE49-F238E27FC236}">
                <a16:creationId xmlns="" xmlns:a16="http://schemas.microsoft.com/office/drawing/2014/main" id="{0C96C875-C47F-4F5B-B4C1-F9D666A7BD9D}"/>
              </a:ext>
            </a:extLst>
          </p:cNvPr>
          <p:cNvSpPr txBox="1"/>
          <p:nvPr/>
        </p:nvSpPr>
        <p:spPr>
          <a:xfrm>
            <a:off x="6334421" y="2356337"/>
            <a:ext cx="342008" cy="180425"/>
          </a:xfrm>
          <a:prstGeom prst="rect">
            <a:avLst/>
          </a:prstGeom>
          <a:noFill/>
          <a:ln w="317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36000" tIns="36000" rIns="36000" bIns="36000" numCol="1" rtlCol="0" anchor="ctr" anchorCtr="0" compatLnSpc="1">
            <a:prstTxWarp prst="textNoShape">
              <a:avLst/>
            </a:prstTxWarp>
            <a:spAutoFit/>
          </a:bodyPr>
          <a:lstStyle/>
          <a:p>
            <a:r>
              <a:rPr lang="ko-KR" altLang="en-US" sz="700" b="1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사이즈</a:t>
            </a:r>
            <a:endParaRPr lang="ko-KR" altLang="en-US" sz="700" b="1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481" name="모서리가 둥근 직사각형 480"/>
          <p:cNvSpPr/>
          <p:nvPr/>
        </p:nvSpPr>
        <p:spPr>
          <a:xfrm>
            <a:off x="6334421" y="2555471"/>
            <a:ext cx="359942" cy="288000"/>
          </a:xfrm>
          <a:prstGeom prst="roundRect">
            <a:avLst>
              <a:gd name="adj" fmla="val 11375"/>
            </a:avLst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800" strike="sngStrike">
                <a:solidFill>
                  <a:schemeClr val="bg1">
                    <a:lumMod val="75000"/>
                  </a:schemeClr>
                </a:solidFill>
                <a:latin typeface="맑은 고딕" panose="020B0503020000020004" pitchFamily="50" charset="-127"/>
              </a:rPr>
              <a:t>95</a:t>
            </a:r>
            <a:endParaRPr lang="ko-KR" altLang="en-US" sz="800" strike="sngStrike">
              <a:solidFill>
                <a:schemeClr val="bg1">
                  <a:lumMod val="75000"/>
                </a:scheme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482" name="모서리가 둥근 직사각형 481"/>
          <p:cNvSpPr/>
          <p:nvPr/>
        </p:nvSpPr>
        <p:spPr>
          <a:xfrm>
            <a:off x="6767287" y="2555471"/>
            <a:ext cx="359942" cy="288000"/>
          </a:xfrm>
          <a:prstGeom prst="roundRect">
            <a:avLst>
              <a:gd name="adj" fmla="val 11375"/>
            </a:avLst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8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100</a:t>
            </a:r>
            <a:endParaRPr lang="ko-KR" altLang="en-US" sz="80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483" name="모서리가 둥근 직사각형 482"/>
          <p:cNvSpPr/>
          <p:nvPr/>
        </p:nvSpPr>
        <p:spPr>
          <a:xfrm>
            <a:off x="7199022" y="2555471"/>
            <a:ext cx="359942" cy="288000"/>
          </a:xfrm>
          <a:prstGeom prst="roundRect">
            <a:avLst>
              <a:gd name="adj" fmla="val 11375"/>
            </a:avLst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800" strike="sngStrike">
                <a:solidFill>
                  <a:schemeClr val="bg1">
                    <a:lumMod val="75000"/>
                  </a:schemeClr>
                </a:solidFill>
                <a:latin typeface="맑은 고딕" panose="020B0503020000020004" pitchFamily="50" charset="-127"/>
              </a:rPr>
              <a:t>105</a:t>
            </a:r>
            <a:endParaRPr lang="ko-KR" altLang="en-US" sz="800" strike="sngStrike">
              <a:solidFill>
                <a:schemeClr val="bg1">
                  <a:lumMod val="75000"/>
                </a:scheme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484" name="모서리가 둥근 직사각형 483"/>
          <p:cNvSpPr/>
          <p:nvPr/>
        </p:nvSpPr>
        <p:spPr>
          <a:xfrm>
            <a:off x="7629698" y="2555471"/>
            <a:ext cx="359942" cy="288000"/>
          </a:xfrm>
          <a:prstGeom prst="roundRect">
            <a:avLst>
              <a:gd name="adj" fmla="val 11375"/>
            </a:avLst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800" strike="sngStrike">
                <a:solidFill>
                  <a:schemeClr val="bg1">
                    <a:lumMod val="75000"/>
                  </a:schemeClr>
                </a:solidFill>
                <a:latin typeface="맑은 고딕" panose="020B0503020000020004" pitchFamily="50" charset="-127"/>
              </a:rPr>
              <a:t>110</a:t>
            </a:r>
            <a:endParaRPr lang="ko-KR" altLang="en-US" sz="800" strike="sngStrike">
              <a:solidFill>
                <a:schemeClr val="bg1">
                  <a:lumMod val="75000"/>
                </a:scheme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485" name="모서리가 둥근 직사각형 484"/>
          <p:cNvSpPr/>
          <p:nvPr/>
        </p:nvSpPr>
        <p:spPr>
          <a:xfrm>
            <a:off x="8062367" y="2555471"/>
            <a:ext cx="359942" cy="288000"/>
          </a:xfrm>
          <a:prstGeom prst="roundRect">
            <a:avLst>
              <a:gd name="adj" fmla="val 11375"/>
            </a:avLst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8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115</a:t>
            </a:r>
            <a:endParaRPr lang="ko-KR" altLang="en-US" sz="80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486" name="모서리가 둥근 직사각형 485"/>
          <p:cNvSpPr/>
          <p:nvPr/>
        </p:nvSpPr>
        <p:spPr>
          <a:xfrm>
            <a:off x="8494890" y="2555471"/>
            <a:ext cx="359942" cy="288000"/>
          </a:xfrm>
          <a:prstGeom prst="roundRect">
            <a:avLst>
              <a:gd name="adj" fmla="val 11375"/>
            </a:avLst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800" strike="sngStrike" smtClean="0">
                <a:solidFill>
                  <a:schemeClr val="bg1">
                    <a:lumMod val="75000"/>
                  </a:schemeClr>
                </a:solidFill>
                <a:latin typeface="맑은 고딕" panose="020B0503020000020004" pitchFamily="50" charset="-127"/>
              </a:rPr>
              <a:t>120</a:t>
            </a:r>
            <a:endParaRPr lang="ko-KR" altLang="en-US" sz="800" strike="sngStrike">
              <a:solidFill>
                <a:schemeClr val="bg1">
                  <a:lumMod val="75000"/>
                </a:schemeClr>
              </a:solidFill>
              <a:latin typeface="맑은 고딕" panose="020B0503020000020004" pitchFamily="50" charset="-127"/>
            </a:endParaRPr>
          </a:p>
        </p:txBody>
      </p:sp>
      <p:grpSp>
        <p:nvGrpSpPr>
          <p:cNvPr id="487" name="그룹 486"/>
          <p:cNvGrpSpPr/>
          <p:nvPr/>
        </p:nvGrpSpPr>
        <p:grpSpPr>
          <a:xfrm>
            <a:off x="8709589" y="2518762"/>
            <a:ext cx="179970" cy="179970"/>
            <a:chOff x="7589341" y="3009028"/>
            <a:chExt cx="180000" cy="180000"/>
          </a:xfrm>
        </p:grpSpPr>
        <p:sp>
          <p:nvSpPr>
            <p:cNvPr id="488" name="타원 487"/>
            <p:cNvSpPr/>
            <p:nvPr/>
          </p:nvSpPr>
          <p:spPr>
            <a:xfrm>
              <a:off x="7589341" y="3009028"/>
              <a:ext cx="180000" cy="180000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ko-KR" altLang="en-US" sz="5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grpSp>
          <p:nvGrpSpPr>
            <p:cNvPr id="489" name="그룹 488"/>
            <p:cNvGrpSpPr/>
            <p:nvPr/>
          </p:nvGrpSpPr>
          <p:grpSpPr>
            <a:xfrm>
              <a:off x="7625341" y="3045028"/>
              <a:ext cx="108000" cy="108000"/>
              <a:chOff x="531806" y="1604594"/>
              <a:chExt cx="180000" cy="180738"/>
            </a:xfrm>
          </p:grpSpPr>
          <p:grpSp>
            <p:nvGrpSpPr>
              <p:cNvPr id="490" name="그룹 489"/>
              <p:cNvGrpSpPr/>
              <p:nvPr/>
            </p:nvGrpSpPr>
            <p:grpSpPr>
              <a:xfrm>
                <a:off x="549806" y="1604594"/>
                <a:ext cx="144000" cy="180738"/>
                <a:chOff x="691953" y="1723346"/>
                <a:chExt cx="144000" cy="180738"/>
              </a:xfrm>
              <a:solidFill>
                <a:schemeClr val="bg1"/>
              </a:solidFill>
            </p:grpSpPr>
            <p:sp>
              <p:nvSpPr>
                <p:cNvPr id="492" name="양쪽 모서리가 둥근 사각형 491"/>
                <p:cNvSpPr/>
                <p:nvPr/>
              </p:nvSpPr>
              <p:spPr>
                <a:xfrm>
                  <a:off x="700953" y="1723346"/>
                  <a:ext cx="126000" cy="126000"/>
                </a:xfrm>
                <a:prstGeom prst="round2SameRect">
                  <a:avLst>
                    <a:gd name="adj1" fmla="val 50000"/>
                    <a:gd name="adj2" fmla="val 0"/>
                  </a:avLst>
                </a:prstGeom>
                <a:grpFill/>
                <a:ln w="3175">
                  <a:solidFill>
                    <a:srgbClr val="DC283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7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endParaRPr>
                </a:p>
              </p:txBody>
            </p:sp>
            <p:sp>
              <p:nvSpPr>
                <p:cNvPr id="493" name="타원 492"/>
                <p:cNvSpPr/>
                <p:nvPr/>
              </p:nvSpPr>
              <p:spPr>
                <a:xfrm>
                  <a:off x="736953" y="1850084"/>
                  <a:ext cx="54000" cy="54000"/>
                </a:xfrm>
                <a:prstGeom prst="ellipse">
                  <a:avLst/>
                </a:prstGeom>
                <a:grpFill/>
                <a:ln w="3175">
                  <a:solidFill>
                    <a:srgbClr val="DC283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7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endParaRPr>
                </a:p>
              </p:txBody>
            </p:sp>
            <p:sp>
              <p:nvSpPr>
                <p:cNvPr id="494" name="직사각형 493"/>
                <p:cNvSpPr/>
                <p:nvPr/>
              </p:nvSpPr>
              <p:spPr>
                <a:xfrm>
                  <a:off x="691953" y="1811453"/>
                  <a:ext cx="144000" cy="18000"/>
                </a:xfrm>
                <a:prstGeom prst="rect">
                  <a:avLst/>
                </a:prstGeom>
                <a:grpFill/>
                <a:ln w="3175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7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endParaRPr>
                </a:p>
              </p:txBody>
            </p:sp>
            <p:sp>
              <p:nvSpPr>
                <p:cNvPr id="495" name="직사각형 494"/>
                <p:cNvSpPr/>
                <p:nvPr/>
              </p:nvSpPr>
              <p:spPr>
                <a:xfrm>
                  <a:off x="691953" y="1859609"/>
                  <a:ext cx="144000" cy="18000"/>
                </a:xfrm>
                <a:prstGeom prst="rect">
                  <a:avLst/>
                </a:prstGeom>
                <a:grpFill/>
                <a:ln w="3175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7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endParaRPr>
                </a:p>
              </p:txBody>
            </p:sp>
            <p:sp>
              <p:nvSpPr>
                <p:cNvPr id="496" name="직사각형 495"/>
                <p:cNvSpPr/>
                <p:nvPr/>
              </p:nvSpPr>
              <p:spPr>
                <a:xfrm>
                  <a:off x="691953" y="1832609"/>
                  <a:ext cx="144000" cy="25200"/>
                </a:xfrm>
                <a:prstGeom prst="rect">
                  <a:avLst/>
                </a:prstGeom>
                <a:grpFill/>
                <a:ln w="3175">
                  <a:solidFill>
                    <a:srgbClr val="DC283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7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endParaRPr>
                </a:p>
              </p:txBody>
            </p:sp>
          </p:grpSp>
          <p:sp>
            <p:nvSpPr>
              <p:cNvPr id="491" name="직사각형 490"/>
              <p:cNvSpPr/>
              <p:nvPr/>
            </p:nvSpPr>
            <p:spPr>
              <a:xfrm>
                <a:off x="531806" y="1604594"/>
                <a:ext cx="180000" cy="180000"/>
              </a:xfrm>
              <a:prstGeom prst="rect">
                <a:avLst/>
              </a:prstGeom>
              <a:noFill/>
              <a:ln w="31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70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</p:grpSp>
      </p:grpSp>
      <p:sp>
        <p:nvSpPr>
          <p:cNvPr id="497" name="TextBox 496">
            <a:extLst>
              <a:ext uri="{FF2B5EF4-FFF2-40B4-BE49-F238E27FC236}">
                <a16:creationId xmlns="" xmlns:a16="http://schemas.microsoft.com/office/drawing/2014/main" id="{0C96C875-C47F-4F5B-B4C1-F9D666A7BD9D}"/>
              </a:ext>
            </a:extLst>
          </p:cNvPr>
          <p:cNvSpPr txBox="1"/>
          <p:nvPr/>
        </p:nvSpPr>
        <p:spPr>
          <a:xfrm>
            <a:off x="8324304" y="2356338"/>
            <a:ext cx="601695" cy="180425"/>
          </a:xfrm>
          <a:prstGeom prst="rect">
            <a:avLst/>
          </a:prstGeom>
          <a:noFill/>
          <a:ln w="317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36000" tIns="36000" rIns="36000" bIns="36000" numCol="1" rtlCol="0" anchor="ctr" anchorCtr="0" compatLnSpc="1">
            <a:prstTxWarp prst="textNoShape">
              <a:avLst/>
            </a:prstTxWarp>
            <a:spAutoFit/>
          </a:bodyPr>
          <a:lstStyle/>
          <a:p>
            <a:pPr algn="r"/>
            <a:r>
              <a:rPr lang="ko-KR" altLang="en-US" sz="7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사이즈안내 </a:t>
            </a:r>
            <a:r>
              <a:rPr lang="en-US" altLang="ko-KR" sz="7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〉</a:t>
            </a:r>
            <a:endParaRPr lang="ko-KR" altLang="en-US" sz="7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</a:endParaRPr>
          </a:p>
        </p:txBody>
      </p:sp>
      <p:cxnSp>
        <p:nvCxnSpPr>
          <p:cNvPr id="498" name="직선 연결선 497"/>
          <p:cNvCxnSpPr/>
          <p:nvPr/>
        </p:nvCxnSpPr>
        <p:spPr>
          <a:xfrm>
            <a:off x="6334421" y="3167098"/>
            <a:ext cx="2591578" cy="0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9" name="TextBox 498">
            <a:extLst>
              <a:ext uri="{FF2B5EF4-FFF2-40B4-BE49-F238E27FC236}">
                <a16:creationId xmlns="" xmlns:a16="http://schemas.microsoft.com/office/drawing/2014/main" id="{0C96C875-C47F-4F5B-B4C1-F9D666A7BD9D}"/>
              </a:ext>
            </a:extLst>
          </p:cNvPr>
          <p:cNvSpPr txBox="1"/>
          <p:nvPr/>
        </p:nvSpPr>
        <p:spPr>
          <a:xfrm>
            <a:off x="6334422" y="3250768"/>
            <a:ext cx="901456" cy="195814"/>
          </a:xfrm>
          <a:prstGeom prst="rect">
            <a:avLst/>
          </a:prstGeom>
          <a:noFill/>
          <a:ln w="317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36000" tIns="36000" rIns="36000" bIns="36000" numCol="1" rtlCol="0" anchor="ctr" anchorCtr="0" compatLnSpc="1">
            <a:prstTxWarp prst="textNoShape">
              <a:avLst/>
            </a:prstTxWarp>
            <a:spAutoFit/>
          </a:bodyPr>
          <a:lstStyle/>
          <a:p>
            <a:r>
              <a:rPr lang="ko-KR" altLang="en-US" sz="800" b="1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배송 및 혜택 안내</a:t>
            </a:r>
            <a:endParaRPr lang="en-US" altLang="ko-KR" sz="800" b="1" smtClean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503" name="TextBox 502">
            <a:extLst>
              <a:ext uri="{FF2B5EF4-FFF2-40B4-BE49-F238E27FC236}">
                <a16:creationId xmlns="" xmlns:a16="http://schemas.microsoft.com/office/drawing/2014/main" id="{0C96C875-C47F-4F5B-B4C1-F9D666A7BD9D}"/>
              </a:ext>
            </a:extLst>
          </p:cNvPr>
          <p:cNvSpPr txBox="1"/>
          <p:nvPr/>
        </p:nvSpPr>
        <p:spPr>
          <a:xfrm>
            <a:off x="6334421" y="3527247"/>
            <a:ext cx="431776" cy="180425"/>
          </a:xfrm>
          <a:prstGeom prst="rect">
            <a:avLst/>
          </a:prstGeom>
          <a:noFill/>
          <a:ln w="317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36000" tIns="36000" rIns="36000" bIns="36000" numCol="1" rtlCol="0" anchor="ctr" anchorCtr="0" compatLnSpc="1">
            <a:prstTxWarp prst="textNoShape">
              <a:avLst/>
            </a:prstTxWarp>
            <a:spAutoFit/>
          </a:bodyPr>
          <a:lstStyle/>
          <a:p>
            <a:r>
              <a:rPr lang="ko-KR" altLang="en-US" sz="700" smtClean="0">
                <a:solidFill>
                  <a:schemeClr val="tx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</a:rPr>
              <a:t>배송정보</a:t>
            </a:r>
            <a:endParaRPr lang="ko-KR" altLang="en-US" sz="700" dirty="0">
              <a:solidFill>
                <a:schemeClr val="tx1">
                  <a:lumMod val="50000"/>
                  <a:lumOff val="50000"/>
                </a:scheme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504" name="모서리가 둥근 직사각형 503"/>
          <p:cNvSpPr/>
          <p:nvPr/>
        </p:nvSpPr>
        <p:spPr>
          <a:xfrm>
            <a:off x="6368891" y="718660"/>
            <a:ext cx="2520000" cy="28800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b="1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CASE3.</a:t>
            </a:r>
            <a:r>
              <a:rPr lang="en-US" altLang="ko-KR" sz="8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8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모든 옵션 오프라인재고 존재</a:t>
            </a:r>
            <a:endParaRPr lang="ko-KR" altLang="en-US" sz="80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505" name="그룹 504"/>
          <p:cNvGrpSpPr/>
          <p:nvPr/>
        </p:nvGrpSpPr>
        <p:grpSpPr>
          <a:xfrm>
            <a:off x="6767287" y="2882046"/>
            <a:ext cx="431047" cy="215060"/>
            <a:chOff x="9792952" y="3338758"/>
            <a:chExt cx="431047" cy="215060"/>
          </a:xfrm>
        </p:grpSpPr>
        <p:sp>
          <p:nvSpPr>
            <p:cNvPr id="506" name="직사각형 505"/>
            <p:cNvSpPr/>
            <p:nvPr/>
          </p:nvSpPr>
          <p:spPr>
            <a:xfrm>
              <a:off x="9792952" y="3373818"/>
              <a:ext cx="360000" cy="180000"/>
            </a:xfrm>
            <a:prstGeom prst="rect">
              <a:avLst/>
            </a:prstGeom>
            <a:gradFill flip="none" rotWithShape="1">
              <a:gsLst>
                <a:gs pos="0">
                  <a:schemeClr val="accent5">
                    <a:lumMod val="75000"/>
                  </a:schemeClr>
                </a:gs>
                <a:gs pos="50000">
                  <a:schemeClr val="accent5"/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0" scaled="1"/>
              <a:tileRect/>
            </a:gra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600" smtClean="0">
                  <a:solidFill>
                    <a:schemeClr val="bg1"/>
                  </a:solidFill>
                  <a:latin typeface="맑은 고딕" panose="020B0503020000020004" pitchFamily="50" charset="-127"/>
                </a:rPr>
                <a:t>매장배송</a:t>
              </a:r>
              <a:endParaRPr lang="ko-KR" altLang="en-US" sz="600">
                <a:solidFill>
                  <a:schemeClr val="bg1"/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507" name="타원 506"/>
            <p:cNvSpPr/>
            <p:nvPr/>
          </p:nvSpPr>
          <p:spPr>
            <a:xfrm>
              <a:off x="10080022" y="3338758"/>
              <a:ext cx="143977" cy="143976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70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?</a:t>
              </a:r>
              <a:endParaRPr lang="ko-KR" altLang="en-US" sz="7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grpSp>
        <p:nvGrpSpPr>
          <p:cNvPr id="508" name="그룹 507"/>
          <p:cNvGrpSpPr/>
          <p:nvPr/>
        </p:nvGrpSpPr>
        <p:grpSpPr>
          <a:xfrm>
            <a:off x="8062367" y="2882046"/>
            <a:ext cx="431047" cy="215060"/>
            <a:chOff x="9792952" y="3338758"/>
            <a:chExt cx="431047" cy="215060"/>
          </a:xfrm>
        </p:grpSpPr>
        <p:sp>
          <p:nvSpPr>
            <p:cNvPr id="509" name="직사각형 508"/>
            <p:cNvSpPr/>
            <p:nvPr/>
          </p:nvSpPr>
          <p:spPr>
            <a:xfrm>
              <a:off x="9792952" y="3373818"/>
              <a:ext cx="360000" cy="180000"/>
            </a:xfrm>
            <a:prstGeom prst="rect">
              <a:avLst/>
            </a:prstGeom>
            <a:gradFill flip="none" rotWithShape="1">
              <a:gsLst>
                <a:gs pos="0">
                  <a:schemeClr val="accent5">
                    <a:lumMod val="75000"/>
                  </a:schemeClr>
                </a:gs>
                <a:gs pos="50000">
                  <a:schemeClr val="accent5"/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0" scaled="1"/>
              <a:tileRect/>
            </a:gra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600" smtClean="0">
                  <a:solidFill>
                    <a:schemeClr val="bg1"/>
                  </a:solidFill>
                  <a:latin typeface="맑은 고딕" panose="020B0503020000020004" pitchFamily="50" charset="-127"/>
                </a:rPr>
                <a:t>매장배송</a:t>
              </a:r>
              <a:endParaRPr lang="ko-KR" altLang="en-US" sz="600">
                <a:solidFill>
                  <a:schemeClr val="bg1"/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510" name="타원 509"/>
            <p:cNvSpPr/>
            <p:nvPr/>
          </p:nvSpPr>
          <p:spPr>
            <a:xfrm>
              <a:off x="10080022" y="3338758"/>
              <a:ext cx="143977" cy="143976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70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?</a:t>
              </a:r>
              <a:endParaRPr lang="ko-KR" altLang="en-US" sz="7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grpSp>
        <p:nvGrpSpPr>
          <p:cNvPr id="511" name="그룹 510"/>
          <p:cNvGrpSpPr/>
          <p:nvPr/>
        </p:nvGrpSpPr>
        <p:grpSpPr>
          <a:xfrm>
            <a:off x="7844397" y="2518762"/>
            <a:ext cx="179970" cy="179970"/>
            <a:chOff x="7589341" y="3009028"/>
            <a:chExt cx="180000" cy="180000"/>
          </a:xfrm>
        </p:grpSpPr>
        <p:sp>
          <p:nvSpPr>
            <p:cNvPr id="512" name="타원 511"/>
            <p:cNvSpPr/>
            <p:nvPr/>
          </p:nvSpPr>
          <p:spPr>
            <a:xfrm>
              <a:off x="7589341" y="3009028"/>
              <a:ext cx="180000" cy="180000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ko-KR" altLang="en-US" sz="5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grpSp>
          <p:nvGrpSpPr>
            <p:cNvPr id="513" name="그룹 512"/>
            <p:cNvGrpSpPr/>
            <p:nvPr/>
          </p:nvGrpSpPr>
          <p:grpSpPr>
            <a:xfrm>
              <a:off x="7625341" y="3045028"/>
              <a:ext cx="108000" cy="108000"/>
              <a:chOff x="531806" y="1604594"/>
              <a:chExt cx="180000" cy="180738"/>
            </a:xfrm>
          </p:grpSpPr>
          <p:grpSp>
            <p:nvGrpSpPr>
              <p:cNvPr id="514" name="그룹 513"/>
              <p:cNvGrpSpPr/>
              <p:nvPr/>
            </p:nvGrpSpPr>
            <p:grpSpPr>
              <a:xfrm>
                <a:off x="549806" y="1604594"/>
                <a:ext cx="144000" cy="180738"/>
                <a:chOff x="691953" y="1723346"/>
                <a:chExt cx="144000" cy="180738"/>
              </a:xfrm>
              <a:solidFill>
                <a:schemeClr val="bg1"/>
              </a:solidFill>
            </p:grpSpPr>
            <p:sp>
              <p:nvSpPr>
                <p:cNvPr id="516" name="양쪽 모서리가 둥근 사각형 515"/>
                <p:cNvSpPr/>
                <p:nvPr/>
              </p:nvSpPr>
              <p:spPr>
                <a:xfrm>
                  <a:off x="700953" y="1723346"/>
                  <a:ext cx="126000" cy="126000"/>
                </a:xfrm>
                <a:prstGeom prst="round2SameRect">
                  <a:avLst>
                    <a:gd name="adj1" fmla="val 50000"/>
                    <a:gd name="adj2" fmla="val 0"/>
                  </a:avLst>
                </a:prstGeom>
                <a:grpFill/>
                <a:ln w="3175">
                  <a:solidFill>
                    <a:srgbClr val="DC283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7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endParaRPr>
                </a:p>
              </p:txBody>
            </p:sp>
            <p:sp>
              <p:nvSpPr>
                <p:cNvPr id="517" name="타원 516"/>
                <p:cNvSpPr/>
                <p:nvPr/>
              </p:nvSpPr>
              <p:spPr>
                <a:xfrm>
                  <a:off x="736953" y="1850084"/>
                  <a:ext cx="54000" cy="54000"/>
                </a:xfrm>
                <a:prstGeom prst="ellipse">
                  <a:avLst/>
                </a:prstGeom>
                <a:grpFill/>
                <a:ln w="3175">
                  <a:solidFill>
                    <a:srgbClr val="DC283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7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endParaRPr>
                </a:p>
              </p:txBody>
            </p:sp>
            <p:sp>
              <p:nvSpPr>
                <p:cNvPr id="518" name="직사각형 517"/>
                <p:cNvSpPr/>
                <p:nvPr/>
              </p:nvSpPr>
              <p:spPr>
                <a:xfrm>
                  <a:off x="691953" y="1811453"/>
                  <a:ext cx="144000" cy="18000"/>
                </a:xfrm>
                <a:prstGeom prst="rect">
                  <a:avLst/>
                </a:prstGeom>
                <a:grpFill/>
                <a:ln w="3175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7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endParaRPr>
                </a:p>
              </p:txBody>
            </p:sp>
            <p:sp>
              <p:nvSpPr>
                <p:cNvPr id="519" name="직사각형 518"/>
                <p:cNvSpPr/>
                <p:nvPr/>
              </p:nvSpPr>
              <p:spPr>
                <a:xfrm>
                  <a:off x="691953" y="1859609"/>
                  <a:ext cx="144000" cy="18000"/>
                </a:xfrm>
                <a:prstGeom prst="rect">
                  <a:avLst/>
                </a:prstGeom>
                <a:grpFill/>
                <a:ln w="3175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7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endParaRPr>
                </a:p>
              </p:txBody>
            </p:sp>
            <p:sp>
              <p:nvSpPr>
                <p:cNvPr id="520" name="직사각형 519"/>
                <p:cNvSpPr/>
                <p:nvPr/>
              </p:nvSpPr>
              <p:spPr>
                <a:xfrm>
                  <a:off x="691953" y="1832609"/>
                  <a:ext cx="144000" cy="25200"/>
                </a:xfrm>
                <a:prstGeom prst="rect">
                  <a:avLst/>
                </a:prstGeom>
                <a:grpFill/>
                <a:ln w="3175">
                  <a:solidFill>
                    <a:srgbClr val="DC283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7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endParaRPr>
                </a:p>
              </p:txBody>
            </p:sp>
          </p:grpSp>
          <p:sp>
            <p:nvSpPr>
              <p:cNvPr id="515" name="직사각형 514"/>
              <p:cNvSpPr/>
              <p:nvPr/>
            </p:nvSpPr>
            <p:spPr>
              <a:xfrm>
                <a:off x="531806" y="1604594"/>
                <a:ext cx="180000" cy="180000"/>
              </a:xfrm>
              <a:prstGeom prst="rect">
                <a:avLst/>
              </a:prstGeom>
              <a:noFill/>
              <a:ln w="31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70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</p:grpSp>
      </p:grpSp>
      <p:grpSp>
        <p:nvGrpSpPr>
          <p:cNvPr id="521" name="그룹 520"/>
          <p:cNvGrpSpPr/>
          <p:nvPr/>
        </p:nvGrpSpPr>
        <p:grpSpPr>
          <a:xfrm>
            <a:off x="6549120" y="2518762"/>
            <a:ext cx="179970" cy="179970"/>
            <a:chOff x="7589341" y="3009028"/>
            <a:chExt cx="180000" cy="180000"/>
          </a:xfrm>
        </p:grpSpPr>
        <p:sp>
          <p:nvSpPr>
            <p:cNvPr id="522" name="타원 521"/>
            <p:cNvSpPr/>
            <p:nvPr/>
          </p:nvSpPr>
          <p:spPr>
            <a:xfrm>
              <a:off x="7589341" y="3009028"/>
              <a:ext cx="180000" cy="180000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ko-KR" altLang="en-US" sz="5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grpSp>
          <p:nvGrpSpPr>
            <p:cNvPr id="523" name="그룹 522"/>
            <p:cNvGrpSpPr/>
            <p:nvPr/>
          </p:nvGrpSpPr>
          <p:grpSpPr>
            <a:xfrm>
              <a:off x="7625341" y="3045028"/>
              <a:ext cx="108000" cy="108000"/>
              <a:chOff x="531806" y="1604594"/>
              <a:chExt cx="180000" cy="180738"/>
            </a:xfrm>
          </p:grpSpPr>
          <p:grpSp>
            <p:nvGrpSpPr>
              <p:cNvPr id="524" name="그룹 523"/>
              <p:cNvGrpSpPr/>
              <p:nvPr/>
            </p:nvGrpSpPr>
            <p:grpSpPr>
              <a:xfrm>
                <a:off x="549806" y="1604594"/>
                <a:ext cx="144000" cy="180738"/>
                <a:chOff x="691953" y="1723346"/>
                <a:chExt cx="144000" cy="180738"/>
              </a:xfrm>
              <a:solidFill>
                <a:schemeClr val="bg1"/>
              </a:solidFill>
            </p:grpSpPr>
            <p:sp>
              <p:nvSpPr>
                <p:cNvPr id="526" name="양쪽 모서리가 둥근 사각형 525"/>
                <p:cNvSpPr/>
                <p:nvPr/>
              </p:nvSpPr>
              <p:spPr>
                <a:xfrm>
                  <a:off x="700953" y="1723346"/>
                  <a:ext cx="126000" cy="126000"/>
                </a:xfrm>
                <a:prstGeom prst="round2SameRect">
                  <a:avLst>
                    <a:gd name="adj1" fmla="val 50000"/>
                    <a:gd name="adj2" fmla="val 0"/>
                  </a:avLst>
                </a:prstGeom>
                <a:grpFill/>
                <a:ln w="3175">
                  <a:solidFill>
                    <a:srgbClr val="DC283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7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endParaRPr>
                </a:p>
              </p:txBody>
            </p:sp>
            <p:sp>
              <p:nvSpPr>
                <p:cNvPr id="527" name="타원 526"/>
                <p:cNvSpPr/>
                <p:nvPr/>
              </p:nvSpPr>
              <p:spPr>
                <a:xfrm>
                  <a:off x="736953" y="1850084"/>
                  <a:ext cx="54000" cy="54000"/>
                </a:xfrm>
                <a:prstGeom prst="ellipse">
                  <a:avLst/>
                </a:prstGeom>
                <a:grpFill/>
                <a:ln w="3175">
                  <a:solidFill>
                    <a:srgbClr val="DC283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7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endParaRPr>
                </a:p>
              </p:txBody>
            </p:sp>
            <p:sp>
              <p:nvSpPr>
                <p:cNvPr id="528" name="직사각형 527"/>
                <p:cNvSpPr/>
                <p:nvPr/>
              </p:nvSpPr>
              <p:spPr>
                <a:xfrm>
                  <a:off x="691953" y="1811453"/>
                  <a:ext cx="144000" cy="18000"/>
                </a:xfrm>
                <a:prstGeom prst="rect">
                  <a:avLst/>
                </a:prstGeom>
                <a:grpFill/>
                <a:ln w="3175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7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endParaRPr>
                </a:p>
              </p:txBody>
            </p:sp>
            <p:sp>
              <p:nvSpPr>
                <p:cNvPr id="529" name="직사각형 528"/>
                <p:cNvSpPr/>
                <p:nvPr/>
              </p:nvSpPr>
              <p:spPr>
                <a:xfrm>
                  <a:off x="691953" y="1859609"/>
                  <a:ext cx="144000" cy="18000"/>
                </a:xfrm>
                <a:prstGeom prst="rect">
                  <a:avLst/>
                </a:prstGeom>
                <a:grpFill/>
                <a:ln w="3175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7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endParaRPr>
                </a:p>
              </p:txBody>
            </p:sp>
            <p:sp>
              <p:nvSpPr>
                <p:cNvPr id="530" name="직사각형 529"/>
                <p:cNvSpPr/>
                <p:nvPr/>
              </p:nvSpPr>
              <p:spPr>
                <a:xfrm>
                  <a:off x="691953" y="1832609"/>
                  <a:ext cx="144000" cy="25200"/>
                </a:xfrm>
                <a:prstGeom prst="rect">
                  <a:avLst/>
                </a:prstGeom>
                <a:grpFill/>
                <a:ln w="3175">
                  <a:solidFill>
                    <a:srgbClr val="DC283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7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endParaRPr>
                </a:p>
              </p:txBody>
            </p:sp>
          </p:grpSp>
          <p:sp>
            <p:nvSpPr>
              <p:cNvPr id="525" name="직사각형 524"/>
              <p:cNvSpPr/>
              <p:nvPr/>
            </p:nvSpPr>
            <p:spPr>
              <a:xfrm>
                <a:off x="531806" y="1604594"/>
                <a:ext cx="180000" cy="180000"/>
              </a:xfrm>
              <a:prstGeom prst="rect">
                <a:avLst/>
              </a:prstGeom>
              <a:noFill/>
              <a:ln w="31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70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</p:grpSp>
      </p:grpSp>
      <p:sp>
        <p:nvSpPr>
          <p:cNvPr id="531" name="직사각형 530"/>
          <p:cNvSpPr/>
          <p:nvPr/>
        </p:nvSpPr>
        <p:spPr>
          <a:xfrm>
            <a:off x="6982445" y="3546896"/>
            <a:ext cx="540000" cy="144000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75000"/>
                </a:schemeClr>
              </a:gs>
              <a:gs pos="50000">
                <a:schemeClr val="accent5"/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0" scaled="1"/>
            <a:tileRect/>
          </a:gra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500" smtClean="0">
                <a:solidFill>
                  <a:schemeClr val="bg1"/>
                </a:solidFill>
                <a:latin typeface="맑은 고딕" panose="020B0503020000020004" pitchFamily="50" charset="-127"/>
              </a:rPr>
              <a:t>매장상품배송</a:t>
            </a:r>
            <a:endParaRPr lang="ko-KR" altLang="en-US" sz="500">
              <a:solidFill>
                <a:schemeClr val="bg1"/>
              </a:solidFill>
              <a:latin typeface="맑은 고딕" panose="020B0503020000020004" pitchFamily="50" charset="-127"/>
            </a:endParaRPr>
          </a:p>
        </p:txBody>
      </p:sp>
      <p:sp>
        <p:nvSpPr>
          <p:cNvPr id="532" name="타원 531"/>
          <p:cNvSpPr/>
          <p:nvPr/>
        </p:nvSpPr>
        <p:spPr>
          <a:xfrm>
            <a:off x="7557766" y="3564896"/>
            <a:ext cx="108000" cy="108000"/>
          </a:xfrm>
          <a:prstGeom prst="ellipse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6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?</a:t>
            </a:r>
            <a:endParaRPr lang="ko-KR" altLang="en-US" sz="60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33" name="TextBox 532">
            <a:extLst>
              <a:ext uri="{FF2B5EF4-FFF2-40B4-BE49-F238E27FC236}">
                <a16:creationId xmlns="" xmlns:a16="http://schemas.microsoft.com/office/drawing/2014/main" id="{0C96C875-C47F-4F5B-B4C1-F9D666A7BD9D}"/>
              </a:ext>
            </a:extLst>
          </p:cNvPr>
          <p:cNvSpPr txBox="1"/>
          <p:nvPr/>
        </p:nvSpPr>
        <p:spPr>
          <a:xfrm>
            <a:off x="6982445" y="3710615"/>
            <a:ext cx="1207062" cy="180425"/>
          </a:xfrm>
          <a:prstGeom prst="rect">
            <a:avLst/>
          </a:prstGeom>
          <a:noFill/>
          <a:ln w="317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0" tIns="36000" rIns="0" bIns="36000" numCol="1" rtlCol="0" anchor="ctr" anchorCtr="0" compatLnSpc="1">
            <a:prstTxWarp prst="textNoShape">
              <a:avLst/>
            </a:prstTxWarp>
            <a:spAutoFit/>
          </a:bodyPr>
          <a:lstStyle/>
          <a:p>
            <a:r>
              <a:rPr lang="ko-KR" altLang="en-US" sz="700" smtClean="0">
                <a:solidFill>
                  <a:schemeClr val="tx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</a:rPr>
              <a:t>평균 </a:t>
            </a:r>
            <a:r>
              <a:rPr lang="en-US" altLang="ko-KR" sz="700" smtClean="0">
                <a:solidFill>
                  <a:schemeClr val="tx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</a:rPr>
              <a:t>5~7 </a:t>
            </a:r>
            <a:r>
              <a:rPr lang="ko-KR" altLang="en-US" sz="700" smtClean="0">
                <a:solidFill>
                  <a:schemeClr val="tx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</a:rPr>
              <a:t>영업일 소요됩니다</a:t>
            </a:r>
            <a:r>
              <a:rPr lang="en-US" altLang="ko-KR" sz="700" smtClean="0">
                <a:solidFill>
                  <a:schemeClr val="tx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</a:rPr>
              <a:t>.</a:t>
            </a:r>
            <a:endParaRPr lang="ko-KR" altLang="en-US" sz="700" dirty="0">
              <a:solidFill>
                <a:schemeClr val="tx1">
                  <a:lumMod val="50000"/>
                  <a:lumOff val="50000"/>
                </a:schemeClr>
              </a:solidFill>
              <a:latin typeface="맑은 고딕" panose="020B0503020000020004" pitchFamily="50" charset="-127"/>
            </a:endParaRPr>
          </a:p>
        </p:txBody>
      </p:sp>
      <p:grpSp>
        <p:nvGrpSpPr>
          <p:cNvPr id="537" name="그룹 536"/>
          <p:cNvGrpSpPr/>
          <p:nvPr/>
        </p:nvGrpSpPr>
        <p:grpSpPr>
          <a:xfrm>
            <a:off x="3312069" y="1150660"/>
            <a:ext cx="2592024" cy="3820297"/>
            <a:chOff x="4968163" y="709700"/>
            <a:chExt cx="2592024" cy="3820297"/>
          </a:xfrm>
        </p:grpSpPr>
        <p:sp>
          <p:nvSpPr>
            <p:cNvPr id="538" name="TextBox 537">
              <a:extLst>
                <a:ext uri="{FF2B5EF4-FFF2-40B4-BE49-F238E27FC236}">
                  <a16:creationId xmlns="" xmlns:a16="http://schemas.microsoft.com/office/drawing/2014/main" id="{0C96C875-C47F-4F5B-B4C1-F9D666A7BD9D}"/>
                </a:ext>
              </a:extLst>
            </p:cNvPr>
            <p:cNvSpPr txBox="1"/>
            <p:nvPr/>
          </p:nvSpPr>
          <p:spPr>
            <a:xfrm>
              <a:off x="4968163" y="1086156"/>
              <a:ext cx="463836" cy="180425"/>
            </a:xfrm>
            <a:prstGeom prst="rect">
              <a:avLst/>
            </a:prstGeom>
            <a:noFill/>
            <a:ln w="3175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none" lIns="36000" tIns="36000" rIns="36000" bIns="36000" numCol="1" rtlCol="0" anchor="ctr" anchorCtr="0" compatLnSpc="1">
              <a:prstTxWarp prst="textNoShape">
                <a:avLst/>
              </a:prstTxWarp>
              <a:spAutoFit/>
            </a:bodyPr>
            <a:lstStyle/>
            <a:p>
              <a:r>
                <a:rPr lang="ko-KR" altLang="en-US" sz="700" b="1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컬러</a:t>
              </a:r>
              <a:r>
                <a:rPr lang="ko-KR" altLang="en-US" sz="70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 블랙</a:t>
              </a:r>
              <a:endParaRPr lang="ko-KR" altLang="en-US" sz="7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endParaRPr>
            </a:p>
          </p:txBody>
        </p:sp>
        <p:cxnSp>
          <p:nvCxnSpPr>
            <p:cNvPr id="539" name="직선 연결선 538"/>
            <p:cNvCxnSpPr/>
            <p:nvPr/>
          </p:nvCxnSpPr>
          <p:spPr>
            <a:xfrm>
              <a:off x="4968163" y="709700"/>
              <a:ext cx="2591578" cy="0"/>
            </a:xfrm>
            <a:prstGeom prst="line">
              <a:avLst/>
            </a:prstGeom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40" name="TextBox 539">
              <a:extLst>
                <a:ext uri="{FF2B5EF4-FFF2-40B4-BE49-F238E27FC236}">
                  <a16:creationId xmlns="" xmlns:a16="http://schemas.microsoft.com/office/drawing/2014/main" id="{0C96C875-C47F-4F5B-B4C1-F9D666A7BD9D}"/>
                </a:ext>
              </a:extLst>
            </p:cNvPr>
            <p:cNvSpPr txBox="1"/>
            <p:nvPr/>
          </p:nvSpPr>
          <p:spPr>
            <a:xfrm>
              <a:off x="4968164" y="791898"/>
              <a:ext cx="519941" cy="195814"/>
            </a:xfrm>
            <a:prstGeom prst="rect">
              <a:avLst/>
            </a:prstGeom>
            <a:noFill/>
            <a:ln w="3175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none" lIns="36000" tIns="36000" rIns="36000" bIns="36000" numCol="1" rtlCol="0" anchor="ctr" anchorCtr="0" compatLnSpc="1">
              <a:prstTxWarp prst="textNoShape">
                <a:avLst/>
              </a:prstTxWarp>
              <a:spAutoFit/>
            </a:bodyPr>
            <a:lstStyle/>
            <a:p>
              <a:r>
                <a:rPr lang="ko-KR" altLang="en-US" sz="800" b="1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옵션 선택</a:t>
              </a:r>
              <a:endParaRPr lang="en-US" altLang="ko-KR" sz="800" b="1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541" name="모서리가 둥근 직사각형 540"/>
            <p:cNvSpPr/>
            <p:nvPr/>
          </p:nvSpPr>
          <p:spPr>
            <a:xfrm>
              <a:off x="4968163" y="1285766"/>
              <a:ext cx="432000" cy="539912"/>
            </a:xfrm>
            <a:prstGeom prst="roundRect">
              <a:avLst>
                <a:gd name="adj" fmla="val 11375"/>
              </a:avLst>
            </a:prstGeom>
            <a:pattFill prst="openDmnd">
              <a:fgClr>
                <a:schemeClr val="bg1">
                  <a:lumMod val="85000"/>
                </a:schemeClr>
              </a:fgClr>
              <a:bgClr>
                <a:schemeClr val="bg1"/>
              </a:bgClr>
            </a:patt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60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PROD</a:t>
              </a:r>
            </a:p>
            <a:p>
              <a:pPr algn="ctr"/>
              <a:r>
                <a:rPr lang="en-US" altLang="ko-KR" sz="60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IMG</a:t>
              </a:r>
              <a:endParaRPr lang="ko-KR" altLang="en-US" sz="6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542" name="모서리가 둥근 직사각형 541"/>
            <p:cNvSpPr/>
            <p:nvPr/>
          </p:nvSpPr>
          <p:spPr>
            <a:xfrm>
              <a:off x="5472584" y="1285766"/>
              <a:ext cx="432000" cy="539912"/>
            </a:xfrm>
            <a:prstGeom prst="roundRect">
              <a:avLst>
                <a:gd name="adj" fmla="val 11375"/>
              </a:avLst>
            </a:prstGeom>
            <a:pattFill prst="openDmnd">
              <a:fgClr>
                <a:schemeClr val="bg1">
                  <a:lumMod val="85000"/>
                </a:schemeClr>
              </a:fgClr>
              <a:bgClr>
                <a:schemeClr val="bg1"/>
              </a:bgClr>
            </a:patt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60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PROD</a:t>
              </a:r>
            </a:p>
            <a:p>
              <a:pPr algn="ctr"/>
              <a:r>
                <a:rPr lang="en-US" altLang="ko-KR" sz="60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IMG</a:t>
              </a:r>
              <a:endParaRPr lang="ko-KR" altLang="en-US" sz="6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543" name="TextBox 542">
              <a:extLst>
                <a:ext uri="{FF2B5EF4-FFF2-40B4-BE49-F238E27FC236}">
                  <a16:creationId xmlns="" xmlns:a16="http://schemas.microsoft.com/office/drawing/2014/main" id="{0C96C875-C47F-4F5B-B4C1-F9D666A7BD9D}"/>
                </a:ext>
              </a:extLst>
            </p:cNvPr>
            <p:cNvSpPr txBox="1"/>
            <p:nvPr/>
          </p:nvSpPr>
          <p:spPr>
            <a:xfrm>
              <a:off x="4968163" y="1915377"/>
              <a:ext cx="342008" cy="180425"/>
            </a:xfrm>
            <a:prstGeom prst="rect">
              <a:avLst/>
            </a:prstGeom>
            <a:noFill/>
            <a:ln w="3175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none" lIns="36000" tIns="36000" rIns="36000" bIns="36000" numCol="1" rtlCol="0" anchor="ctr" anchorCtr="0" compatLnSpc="1">
              <a:prstTxWarp prst="textNoShape">
                <a:avLst/>
              </a:prstTxWarp>
              <a:spAutoFit/>
            </a:bodyPr>
            <a:lstStyle/>
            <a:p>
              <a:r>
                <a:rPr lang="ko-KR" altLang="en-US" sz="700" b="1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사이즈</a:t>
              </a:r>
              <a:endParaRPr lang="ko-KR" altLang="en-US" sz="7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544" name="모서리가 둥근 직사각형 543"/>
            <p:cNvSpPr/>
            <p:nvPr/>
          </p:nvSpPr>
          <p:spPr>
            <a:xfrm>
              <a:off x="4968163" y="2114511"/>
              <a:ext cx="359942" cy="288000"/>
            </a:xfrm>
            <a:prstGeom prst="roundRect">
              <a:avLst>
                <a:gd name="adj" fmla="val 11375"/>
              </a:avLst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80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95</a:t>
              </a:r>
              <a:endParaRPr lang="ko-KR" altLang="en-US" sz="8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545" name="모서리가 둥근 직사각형 544"/>
            <p:cNvSpPr/>
            <p:nvPr/>
          </p:nvSpPr>
          <p:spPr>
            <a:xfrm>
              <a:off x="5401029" y="2114511"/>
              <a:ext cx="359942" cy="288000"/>
            </a:xfrm>
            <a:prstGeom prst="roundRect">
              <a:avLst>
                <a:gd name="adj" fmla="val 11375"/>
              </a:avLst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80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100</a:t>
              </a:r>
              <a:endParaRPr lang="ko-KR" altLang="en-US" sz="8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546" name="모서리가 둥근 직사각형 545"/>
            <p:cNvSpPr/>
            <p:nvPr/>
          </p:nvSpPr>
          <p:spPr>
            <a:xfrm>
              <a:off x="5832764" y="2114511"/>
              <a:ext cx="359942" cy="288000"/>
            </a:xfrm>
            <a:prstGeom prst="roundRect">
              <a:avLst>
                <a:gd name="adj" fmla="val 11375"/>
              </a:avLst>
            </a:prstGeom>
            <a:solidFill>
              <a:schemeClr val="accent1">
                <a:lumMod val="20000"/>
                <a:lumOff val="80000"/>
              </a:schemeClr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80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105</a:t>
              </a:r>
              <a:endParaRPr lang="ko-KR" altLang="en-US" sz="8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547" name="모서리가 둥근 직사각형 546"/>
            <p:cNvSpPr/>
            <p:nvPr/>
          </p:nvSpPr>
          <p:spPr>
            <a:xfrm>
              <a:off x="6263440" y="2114511"/>
              <a:ext cx="359942" cy="288000"/>
            </a:xfrm>
            <a:prstGeom prst="roundRect">
              <a:avLst>
                <a:gd name="adj" fmla="val 11375"/>
              </a:avLst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80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110</a:t>
              </a:r>
              <a:endParaRPr lang="ko-KR" altLang="en-US" sz="8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548" name="모서리가 둥근 직사각형 547"/>
            <p:cNvSpPr/>
            <p:nvPr/>
          </p:nvSpPr>
          <p:spPr>
            <a:xfrm>
              <a:off x="6696109" y="2114511"/>
              <a:ext cx="359942" cy="288000"/>
            </a:xfrm>
            <a:prstGeom prst="roundRect">
              <a:avLst>
                <a:gd name="adj" fmla="val 11375"/>
              </a:avLst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80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115</a:t>
              </a:r>
              <a:endParaRPr lang="ko-KR" altLang="en-US" sz="8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549" name="모서리가 둥근 직사각형 548"/>
            <p:cNvSpPr/>
            <p:nvPr/>
          </p:nvSpPr>
          <p:spPr>
            <a:xfrm>
              <a:off x="7128632" y="2114511"/>
              <a:ext cx="359942" cy="288000"/>
            </a:xfrm>
            <a:prstGeom prst="roundRect">
              <a:avLst>
                <a:gd name="adj" fmla="val 11375"/>
              </a:avLst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800" strike="sngStrike" smtClean="0">
                  <a:solidFill>
                    <a:schemeClr val="bg1">
                      <a:lumMod val="75000"/>
                    </a:schemeClr>
                  </a:solidFill>
                  <a:latin typeface="맑은 고딕" panose="020B0503020000020004" pitchFamily="50" charset="-127"/>
                </a:rPr>
                <a:t>120</a:t>
              </a:r>
              <a:endParaRPr lang="ko-KR" altLang="en-US" sz="800" strike="sngStrike">
                <a:solidFill>
                  <a:schemeClr val="bg1">
                    <a:lumMod val="75000"/>
                  </a:schemeClr>
                </a:solidFill>
                <a:latin typeface="맑은 고딕" panose="020B0503020000020004" pitchFamily="50" charset="-127"/>
              </a:endParaRPr>
            </a:p>
          </p:txBody>
        </p:sp>
        <p:grpSp>
          <p:nvGrpSpPr>
            <p:cNvPr id="550" name="그룹 549"/>
            <p:cNvGrpSpPr/>
            <p:nvPr/>
          </p:nvGrpSpPr>
          <p:grpSpPr>
            <a:xfrm>
              <a:off x="7343331" y="2077802"/>
              <a:ext cx="179970" cy="179970"/>
              <a:chOff x="7589341" y="3009028"/>
              <a:chExt cx="180000" cy="180000"/>
            </a:xfrm>
          </p:grpSpPr>
          <p:sp>
            <p:nvSpPr>
              <p:cNvPr id="580" name="타원 579"/>
              <p:cNvSpPr/>
              <p:nvPr/>
            </p:nvSpPr>
            <p:spPr>
              <a:xfrm>
                <a:off x="7589341" y="3009028"/>
                <a:ext cx="180000" cy="180000"/>
              </a:xfrm>
              <a:prstGeom prst="ellipse">
                <a:avLst/>
              </a:prstGeom>
              <a:solidFill>
                <a:schemeClr val="bg1"/>
              </a:solidFill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ko-KR" altLang="en-US" sz="500" b="1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  <p:grpSp>
            <p:nvGrpSpPr>
              <p:cNvPr id="581" name="그룹 580"/>
              <p:cNvGrpSpPr/>
              <p:nvPr/>
            </p:nvGrpSpPr>
            <p:grpSpPr>
              <a:xfrm>
                <a:off x="7625341" y="3045028"/>
                <a:ext cx="108000" cy="108000"/>
                <a:chOff x="531806" y="1604594"/>
                <a:chExt cx="180000" cy="180738"/>
              </a:xfrm>
            </p:grpSpPr>
            <p:grpSp>
              <p:nvGrpSpPr>
                <p:cNvPr id="582" name="그룹 581"/>
                <p:cNvGrpSpPr/>
                <p:nvPr/>
              </p:nvGrpSpPr>
              <p:grpSpPr>
                <a:xfrm>
                  <a:off x="549806" y="1604594"/>
                  <a:ext cx="144000" cy="180738"/>
                  <a:chOff x="691953" y="1723346"/>
                  <a:chExt cx="144000" cy="180738"/>
                </a:xfrm>
                <a:solidFill>
                  <a:schemeClr val="bg1"/>
                </a:solidFill>
              </p:grpSpPr>
              <p:sp>
                <p:nvSpPr>
                  <p:cNvPr id="584" name="양쪽 모서리가 둥근 사각형 583"/>
                  <p:cNvSpPr/>
                  <p:nvPr/>
                </p:nvSpPr>
                <p:spPr>
                  <a:xfrm>
                    <a:off x="700953" y="1723346"/>
                    <a:ext cx="126000" cy="126000"/>
                  </a:xfrm>
                  <a:prstGeom prst="round2SameRect">
                    <a:avLst>
                      <a:gd name="adj1" fmla="val 50000"/>
                      <a:gd name="adj2" fmla="val 0"/>
                    </a:avLst>
                  </a:prstGeom>
                  <a:grpFill/>
                  <a:ln w="3175">
                    <a:solidFill>
                      <a:srgbClr val="DC283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 sz="70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맑은 고딕" panose="020B0503020000020004" pitchFamily="50" charset="-127"/>
                      <a:ea typeface="맑은 고딕" panose="020B0503020000020004" pitchFamily="50" charset="-127"/>
                    </a:endParaRPr>
                  </a:p>
                </p:txBody>
              </p:sp>
              <p:sp>
                <p:nvSpPr>
                  <p:cNvPr id="585" name="타원 584"/>
                  <p:cNvSpPr/>
                  <p:nvPr/>
                </p:nvSpPr>
                <p:spPr>
                  <a:xfrm>
                    <a:off x="736953" y="1850084"/>
                    <a:ext cx="54000" cy="54000"/>
                  </a:xfrm>
                  <a:prstGeom prst="ellipse">
                    <a:avLst/>
                  </a:prstGeom>
                  <a:grpFill/>
                  <a:ln w="3175">
                    <a:solidFill>
                      <a:srgbClr val="DC283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 sz="70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맑은 고딕" panose="020B0503020000020004" pitchFamily="50" charset="-127"/>
                      <a:ea typeface="맑은 고딕" panose="020B0503020000020004" pitchFamily="50" charset="-127"/>
                    </a:endParaRPr>
                  </a:p>
                </p:txBody>
              </p:sp>
              <p:sp>
                <p:nvSpPr>
                  <p:cNvPr id="586" name="직사각형 585"/>
                  <p:cNvSpPr/>
                  <p:nvPr/>
                </p:nvSpPr>
                <p:spPr>
                  <a:xfrm>
                    <a:off x="691953" y="1811453"/>
                    <a:ext cx="144000" cy="18000"/>
                  </a:xfrm>
                  <a:prstGeom prst="rect">
                    <a:avLst/>
                  </a:prstGeom>
                  <a:grpFill/>
                  <a:ln w="3175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 sz="70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맑은 고딕" panose="020B0503020000020004" pitchFamily="50" charset="-127"/>
                      <a:ea typeface="맑은 고딕" panose="020B0503020000020004" pitchFamily="50" charset="-127"/>
                    </a:endParaRPr>
                  </a:p>
                </p:txBody>
              </p:sp>
              <p:sp>
                <p:nvSpPr>
                  <p:cNvPr id="587" name="직사각형 586"/>
                  <p:cNvSpPr/>
                  <p:nvPr/>
                </p:nvSpPr>
                <p:spPr>
                  <a:xfrm>
                    <a:off x="691953" y="1859609"/>
                    <a:ext cx="144000" cy="18000"/>
                  </a:xfrm>
                  <a:prstGeom prst="rect">
                    <a:avLst/>
                  </a:prstGeom>
                  <a:grpFill/>
                  <a:ln w="3175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 sz="70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맑은 고딕" panose="020B0503020000020004" pitchFamily="50" charset="-127"/>
                      <a:ea typeface="맑은 고딕" panose="020B0503020000020004" pitchFamily="50" charset="-127"/>
                    </a:endParaRPr>
                  </a:p>
                </p:txBody>
              </p:sp>
              <p:sp>
                <p:nvSpPr>
                  <p:cNvPr id="588" name="직사각형 587"/>
                  <p:cNvSpPr/>
                  <p:nvPr/>
                </p:nvSpPr>
                <p:spPr>
                  <a:xfrm>
                    <a:off x="691953" y="1832609"/>
                    <a:ext cx="144000" cy="25200"/>
                  </a:xfrm>
                  <a:prstGeom prst="rect">
                    <a:avLst/>
                  </a:prstGeom>
                  <a:grpFill/>
                  <a:ln w="3175">
                    <a:solidFill>
                      <a:srgbClr val="DC283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 sz="70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맑은 고딕" panose="020B0503020000020004" pitchFamily="50" charset="-127"/>
                      <a:ea typeface="맑은 고딕" panose="020B0503020000020004" pitchFamily="50" charset="-127"/>
                    </a:endParaRPr>
                  </a:p>
                </p:txBody>
              </p:sp>
            </p:grpSp>
            <p:sp>
              <p:nvSpPr>
                <p:cNvPr id="583" name="직사각형 582"/>
                <p:cNvSpPr/>
                <p:nvPr/>
              </p:nvSpPr>
              <p:spPr>
                <a:xfrm>
                  <a:off x="531806" y="1604594"/>
                  <a:ext cx="180000" cy="180000"/>
                </a:xfrm>
                <a:prstGeom prst="rect">
                  <a:avLst/>
                </a:prstGeom>
                <a:noFill/>
                <a:ln w="3175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7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endParaRPr>
                </a:p>
              </p:txBody>
            </p:sp>
          </p:grpSp>
        </p:grpSp>
        <p:sp>
          <p:nvSpPr>
            <p:cNvPr id="551" name="TextBox 550">
              <a:extLst>
                <a:ext uri="{FF2B5EF4-FFF2-40B4-BE49-F238E27FC236}">
                  <a16:creationId xmlns="" xmlns:a16="http://schemas.microsoft.com/office/drawing/2014/main" id="{0C96C875-C47F-4F5B-B4C1-F9D666A7BD9D}"/>
                </a:ext>
              </a:extLst>
            </p:cNvPr>
            <p:cNvSpPr txBox="1"/>
            <p:nvPr/>
          </p:nvSpPr>
          <p:spPr>
            <a:xfrm>
              <a:off x="6958046" y="1915378"/>
              <a:ext cx="601695" cy="180425"/>
            </a:xfrm>
            <a:prstGeom prst="rect">
              <a:avLst/>
            </a:prstGeom>
            <a:noFill/>
            <a:ln w="3175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none" lIns="36000" tIns="36000" rIns="36000" bIns="36000" numCol="1" rtlCol="0" anchor="ctr" anchorCtr="0" compatLnSpc="1">
              <a:prstTxWarp prst="textNoShape">
                <a:avLst/>
              </a:prstTxWarp>
              <a:spAutoFit/>
            </a:bodyPr>
            <a:lstStyle/>
            <a:p>
              <a:pPr algn="r"/>
              <a:r>
                <a:rPr lang="ko-KR" altLang="en-US" sz="70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사이즈안내 </a:t>
              </a:r>
              <a:r>
                <a:rPr lang="en-US" altLang="ko-KR" sz="70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〉</a:t>
              </a:r>
              <a:endParaRPr lang="ko-KR" altLang="en-US" sz="7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552" name="타원 551"/>
            <p:cNvSpPr/>
            <p:nvPr/>
          </p:nvSpPr>
          <p:spPr>
            <a:xfrm>
              <a:off x="5238105" y="2168511"/>
              <a:ext cx="36000" cy="36000"/>
            </a:xfrm>
            <a:prstGeom prst="ellipse">
              <a:avLst/>
            </a:prstGeom>
            <a:solidFill>
              <a:srgbClr val="C00000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8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553" name="TextBox 552"/>
            <p:cNvSpPr txBox="1"/>
            <p:nvPr/>
          </p:nvSpPr>
          <p:spPr>
            <a:xfrm>
              <a:off x="5022548" y="2473675"/>
              <a:ext cx="250068" cy="76944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r>
                <a:rPr lang="en-US" altLang="ko-KR" sz="500" smtClean="0">
                  <a:solidFill>
                    <a:schemeClr val="bg1">
                      <a:lumMod val="50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3</a:t>
              </a:r>
              <a:r>
                <a:rPr lang="ko-KR" altLang="en-US" sz="500" smtClean="0">
                  <a:solidFill>
                    <a:schemeClr val="bg1">
                      <a:lumMod val="50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개 남음</a:t>
              </a:r>
              <a:endParaRPr lang="ko-KR" altLang="en-US" sz="500" dirty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cxnSp>
          <p:nvCxnSpPr>
            <p:cNvPr id="554" name="직선 연결선 553"/>
            <p:cNvCxnSpPr/>
            <p:nvPr/>
          </p:nvCxnSpPr>
          <p:spPr>
            <a:xfrm>
              <a:off x="4968163" y="2726138"/>
              <a:ext cx="2591578" cy="0"/>
            </a:xfrm>
            <a:prstGeom prst="line">
              <a:avLst/>
            </a:prstGeom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55" name="TextBox 554">
              <a:extLst>
                <a:ext uri="{FF2B5EF4-FFF2-40B4-BE49-F238E27FC236}">
                  <a16:creationId xmlns="" xmlns:a16="http://schemas.microsoft.com/office/drawing/2014/main" id="{0C96C875-C47F-4F5B-B4C1-F9D666A7BD9D}"/>
                </a:ext>
              </a:extLst>
            </p:cNvPr>
            <p:cNvSpPr txBox="1"/>
            <p:nvPr/>
          </p:nvSpPr>
          <p:spPr>
            <a:xfrm>
              <a:off x="4968164" y="2809808"/>
              <a:ext cx="901456" cy="195814"/>
            </a:xfrm>
            <a:prstGeom prst="rect">
              <a:avLst/>
            </a:prstGeom>
            <a:noFill/>
            <a:ln w="3175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none" lIns="36000" tIns="36000" rIns="36000" bIns="36000" numCol="1" rtlCol="0" anchor="ctr" anchorCtr="0" compatLnSpc="1">
              <a:prstTxWarp prst="textNoShape">
                <a:avLst/>
              </a:prstTxWarp>
              <a:spAutoFit/>
            </a:bodyPr>
            <a:lstStyle/>
            <a:p>
              <a:r>
                <a:rPr lang="ko-KR" altLang="en-US" sz="800" b="1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배송 및 혜택 안내</a:t>
              </a:r>
              <a:endParaRPr lang="en-US" altLang="ko-KR" sz="800" b="1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endParaRPr>
            </a:p>
          </p:txBody>
        </p:sp>
        <p:grpSp>
          <p:nvGrpSpPr>
            <p:cNvPr id="556" name="그룹 555"/>
            <p:cNvGrpSpPr/>
            <p:nvPr/>
          </p:nvGrpSpPr>
          <p:grpSpPr>
            <a:xfrm>
              <a:off x="5832764" y="2441086"/>
              <a:ext cx="431047" cy="215060"/>
              <a:chOff x="9792952" y="3338758"/>
              <a:chExt cx="431047" cy="215060"/>
            </a:xfrm>
          </p:grpSpPr>
          <p:sp>
            <p:nvSpPr>
              <p:cNvPr id="578" name="직사각형 577"/>
              <p:cNvSpPr/>
              <p:nvPr/>
            </p:nvSpPr>
            <p:spPr>
              <a:xfrm>
                <a:off x="9792952" y="3373818"/>
                <a:ext cx="360000" cy="18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5">
                      <a:lumMod val="75000"/>
                    </a:schemeClr>
                  </a:gs>
                  <a:gs pos="50000">
                    <a:schemeClr val="accent5"/>
                  </a:gs>
                  <a:gs pos="100000">
                    <a:schemeClr val="accent5">
                      <a:lumMod val="60000"/>
                      <a:lumOff val="40000"/>
                    </a:schemeClr>
                  </a:gs>
                </a:gsLst>
                <a:lin ang="0" scaled="1"/>
                <a:tileRect/>
              </a:gradFill>
              <a:ln w="31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ko-KR" altLang="en-US" sz="600" smtClean="0">
                    <a:solidFill>
                      <a:schemeClr val="bg1"/>
                    </a:solidFill>
                    <a:latin typeface="맑은 고딕" panose="020B0503020000020004" pitchFamily="50" charset="-127"/>
                  </a:rPr>
                  <a:t>매장배송</a:t>
                </a:r>
                <a:endParaRPr lang="ko-KR" altLang="en-US" sz="600">
                  <a:solidFill>
                    <a:schemeClr val="bg1"/>
                  </a:solidFill>
                  <a:latin typeface="맑은 고딕" panose="020B0503020000020004" pitchFamily="50" charset="-127"/>
                </a:endParaRPr>
              </a:p>
            </p:txBody>
          </p:sp>
          <p:sp>
            <p:nvSpPr>
              <p:cNvPr id="579" name="타원 578"/>
              <p:cNvSpPr/>
              <p:nvPr/>
            </p:nvSpPr>
            <p:spPr>
              <a:xfrm>
                <a:off x="10080022" y="3338758"/>
                <a:ext cx="143977" cy="143976"/>
              </a:xfrm>
              <a:prstGeom prst="ellipse">
                <a:avLst/>
              </a:prstGeom>
              <a:solidFill>
                <a:schemeClr val="bg1"/>
              </a:solidFill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700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?</a:t>
                </a:r>
                <a:endParaRPr lang="ko-KR" altLang="en-US" sz="70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</p:grpSp>
        <p:sp>
          <p:nvSpPr>
            <p:cNvPr id="557" name="TextBox 556">
              <a:extLst>
                <a:ext uri="{FF2B5EF4-FFF2-40B4-BE49-F238E27FC236}">
                  <a16:creationId xmlns="" xmlns:a16="http://schemas.microsoft.com/office/drawing/2014/main" id="{0C96C875-C47F-4F5B-B4C1-F9D666A7BD9D}"/>
                </a:ext>
              </a:extLst>
            </p:cNvPr>
            <p:cNvSpPr txBox="1"/>
            <p:nvPr/>
          </p:nvSpPr>
          <p:spPr>
            <a:xfrm>
              <a:off x="4968163" y="3086287"/>
              <a:ext cx="431776" cy="180425"/>
            </a:xfrm>
            <a:prstGeom prst="rect">
              <a:avLst/>
            </a:prstGeom>
            <a:noFill/>
            <a:ln w="3175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none" lIns="36000" tIns="36000" rIns="36000" bIns="36000" numCol="1" rtlCol="0" anchor="ctr" anchorCtr="0" compatLnSpc="1">
              <a:prstTxWarp prst="textNoShape">
                <a:avLst/>
              </a:prstTxWarp>
              <a:spAutoFit/>
            </a:bodyPr>
            <a:lstStyle/>
            <a:p>
              <a:r>
                <a:rPr lang="ko-KR" altLang="en-US" sz="700" smtClean="0">
                  <a:solidFill>
                    <a:schemeClr val="tx1">
                      <a:lumMod val="50000"/>
                      <a:lumOff val="50000"/>
                    </a:schemeClr>
                  </a:solidFill>
                  <a:latin typeface="맑은 고딕" panose="020B0503020000020004" pitchFamily="50" charset="-127"/>
                </a:rPr>
                <a:t>배송정보</a:t>
              </a:r>
              <a:endParaRPr lang="ko-KR" altLang="en-US" sz="700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</a:endParaRPr>
            </a:p>
          </p:txBody>
        </p:sp>
        <p:grpSp>
          <p:nvGrpSpPr>
            <p:cNvPr id="558" name="그룹 557"/>
            <p:cNvGrpSpPr/>
            <p:nvPr/>
          </p:nvGrpSpPr>
          <p:grpSpPr>
            <a:xfrm>
              <a:off x="5616187" y="3140468"/>
              <a:ext cx="126000" cy="72000"/>
              <a:chOff x="4549384" y="3972353"/>
              <a:chExt cx="180000" cy="108000"/>
            </a:xfrm>
          </p:grpSpPr>
          <p:sp>
            <p:nvSpPr>
              <p:cNvPr id="573" name="직사각형 572"/>
              <p:cNvSpPr/>
              <p:nvPr/>
            </p:nvSpPr>
            <p:spPr>
              <a:xfrm>
                <a:off x="4549384" y="3972353"/>
                <a:ext cx="35644" cy="108000"/>
              </a:xfrm>
              <a:prstGeom prst="rect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 w="31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80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  <p:sp>
            <p:nvSpPr>
              <p:cNvPr id="574" name="타원 573"/>
              <p:cNvSpPr/>
              <p:nvPr/>
            </p:nvSpPr>
            <p:spPr>
              <a:xfrm>
                <a:off x="4595721" y="4044353"/>
                <a:ext cx="35644" cy="36000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 w="31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80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  <p:sp>
            <p:nvSpPr>
              <p:cNvPr id="575" name="직사각형 574"/>
              <p:cNvSpPr/>
              <p:nvPr/>
            </p:nvSpPr>
            <p:spPr>
              <a:xfrm>
                <a:off x="4647404" y="3972353"/>
                <a:ext cx="35644" cy="108000"/>
              </a:xfrm>
              <a:prstGeom prst="rect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 w="31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80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  <p:sp>
            <p:nvSpPr>
              <p:cNvPr id="576" name="타원 575"/>
              <p:cNvSpPr/>
              <p:nvPr/>
            </p:nvSpPr>
            <p:spPr>
              <a:xfrm>
                <a:off x="4693740" y="3972353"/>
                <a:ext cx="35644" cy="36000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 w="31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80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  <p:sp>
            <p:nvSpPr>
              <p:cNvPr id="577" name="타원 576"/>
              <p:cNvSpPr/>
              <p:nvPr/>
            </p:nvSpPr>
            <p:spPr>
              <a:xfrm>
                <a:off x="4693740" y="4026353"/>
                <a:ext cx="35644" cy="36000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 w="31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80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</p:grpSp>
        <p:sp>
          <p:nvSpPr>
            <p:cNvPr id="559" name="TextBox 558"/>
            <p:cNvSpPr txBox="1"/>
            <p:nvPr/>
          </p:nvSpPr>
          <p:spPr>
            <a:xfrm>
              <a:off x="5777848" y="3122638"/>
              <a:ext cx="269304" cy="107722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r>
                <a:rPr lang="ko-KR" altLang="en-US" sz="700" smtClean="0">
                  <a:solidFill>
                    <a:srgbClr val="C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슝배송</a:t>
              </a:r>
              <a:endParaRPr lang="ko-KR" altLang="en-US" sz="70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560" name="TextBox 559">
              <a:extLst>
                <a:ext uri="{FF2B5EF4-FFF2-40B4-BE49-F238E27FC236}">
                  <a16:creationId xmlns="" xmlns:a16="http://schemas.microsoft.com/office/drawing/2014/main" id="{0C96C875-C47F-4F5B-B4C1-F9D666A7BD9D}"/>
                </a:ext>
              </a:extLst>
            </p:cNvPr>
            <p:cNvSpPr txBox="1"/>
            <p:nvPr/>
          </p:nvSpPr>
          <p:spPr>
            <a:xfrm>
              <a:off x="6191508" y="3086287"/>
              <a:ext cx="448841" cy="180425"/>
            </a:xfrm>
            <a:prstGeom prst="rect">
              <a:avLst/>
            </a:prstGeom>
            <a:noFill/>
            <a:ln w="3175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none" lIns="0" tIns="36000" rIns="0" bIns="36000" numCol="1" rtlCol="0" anchor="ctr" anchorCtr="0" compatLnSpc="1">
              <a:prstTxWarp prst="textNoShape">
                <a:avLst/>
              </a:prstTxWarp>
              <a:spAutoFit/>
            </a:bodyPr>
            <a:lstStyle/>
            <a:p>
              <a:r>
                <a:rPr lang="en-US" altLang="ko-KR" sz="70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CJ</a:t>
              </a:r>
              <a:r>
                <a:rPr lang="ko-KR" altLang="en-US" sz="70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대한통운</a:t>
              </a:r>
              <a:endParaRPr lang="ko-KR" altLang="en-US" sz="7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endParaRPr>
            </a:p>
          </p:txBody>
        </p:sp>
        <p:cxnSp>
          <p:nvCxnSpPr>
            <p:cNvPr id="561" name="직선 연결선 560"/>
            <p:cNvCxnSpPr/>
            <p:nvPr/>
          </p:nvCxnSpPr>
          <p:spPr>
            <a:xfrm>
              <a:off x="6119330" y="3122499"/>
              <a:ext cx="0" cy="108000"/>
            </a:xfrm>
            <a:prstGeom prst="line">
              <a:avLst/>
            </a:prstGeom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62" name="TextBox 561">
              <a:extLst>
                <a:ext uri="{FF2B5EF4-FFF2-40B4-BE49-F238E27FC236}">
                  <a16:creationId xmlns="" xmlns:a16="http://schemas.microsoft.com/office/drawing/2014/main" id="{0C96C875-C47F-4F5B-B4C1-F9D666A7BD9D}"/>
                </a:ext>
              </a:extLst>
            </p:cNvPr>
            <p:cNvSpPr txBox="1"/>
            <p:nvPr/>
          </p:nvSpPr>
          <p:spPr>
            <a:xfrm>
              <a:off x="5616187" y="3267636"/>
              <a:ext cx="359073" cy="180425"/>
            </a:xfrm>
            <a:prstGeom prst="rect">
              <a:avLst/>
            </a:prstGeom>
            <a:noFill/>
            <a:ln w="3175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none" lIns="0" tIns="36000" rIns="0" bIns="36000" numCol="1" rtlCol="0" anchor="ctr" anchorCtr="0" compatLnSpc="1">
              <a:prstTxWarp prst="textNoShape">
                <a:avLst/>
              </a:prstTxWarp>
              <a:spAutoFit/>
            </a:bodyPr>
            <a:lstStyle/>
            <a:p>
              <a:r>
                <a:rPr lang="ko-KR" altLang="en-US" sz="70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무료배송</a:t>
              </a:r>
              <a:endParaRPr lang="ko-KR" altLang="en-US" sz="7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endParaRPr>
            </a:p>
          </p:txBody>
        </p:sp>
        <p:cxnSp>
          <p:nvCxnSpPr>
            <p:cNvPr id="563" name="직선 연결선 562"/>
            <p:cNvCxnSpPr/>
            <p:nvPr/>
          </p:nvCxnSpPr>
          <p:spPr>
            <a:xfrm>
              <a:off x="5616187" y="3519983"/>
              <a:ext cx="1944000" cy="0"/>
            </a:xfrm>
            <a:prstGeom prst="line">
              <a:avLst/>
            </a:prstGeom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64" name="TextBox 563">
              <a:extLst>
                <a:ext uri="{FF2B5EF4-FFF2-40B4-BE49-F238E27FC236}">
                  <a16:creationId xmlns="" xmlns:a16="http://schemas.microsoft.com/office/drawing/2014/main" id="{0C96C875-C47F-4F5B-B4C1-F9D666A7BD9D}"/>
                </a:ext>
              </a:extLst>
            </p:cNvPr>
            <p:cNvSpPr txBox="1"/>
            <p:nvPr/>
          </p:nvSpPr>
          <p:spPr>
            <a:xfrm>
              <a:off x="5616187" y="3591747"/>
              <a:ext cx="1247136" cy="180425"/>
            </a:xfrm>
            <a:prstGeom prst="rect">
              <a:avLst/>
            </a:prstGeom>
            <a:noFill/>
            <a:ln w="3175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none" lIns="0" tIns="36000" rIns="0" bIns="36000" numCol="1" rtlCol="0" anchor="ctr" anchorCtr="0" compatLnSpc="1">
              <a:prstTxWarp prst="textNoShape">
                <a:avLst/>
              </a:prstTxWarp>
              <a:spAutoFit/>
            </a:bodyPr>
            <a:lstStyle/>
            <a:p>
              <a:r>
                <a:rPr lang="en-US" altLang="ko-KR" sz="700" b="1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12/13 (</a:t>
              </a:r>
              <a:r>
                <a:rPr lang="ko-KR" altLang="en-US" sz="700" b="1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토</a:t>
              </a:r>
              <a:r>
                <a:rPr lang="en-US" altLang="ko-KR" sz="700" b="1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) </a:t>
              </a:r>
              <a:r>
                <a:rPr lang="ko-KR" altLang="en-US" sz="700" b="1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이내 도착확률 </a:t>
              </a:r>
              <a:r>
                <a:rPr lang="en-US" altLang="ko-KR" sz="700" b="1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96%</a:t>
              </a:r>
              <a:endParaRPr lang="ko-KR" altLang="en-US" sz="7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565" name="TextBox 564">
              <a:extLst>
                <a:ext uri="{FF2B5EF4-FFF2-40B4-BE49-F238E27FC236}">
                  <a16:creationId xmlns="" xmlns:a16="http://schemas.microsoft.com/office/drawing/2014/main" id="{0C96C875-C47F-4F5B-B4C1-F9D666A7BD9D}"/>
                </a:ext>
              </a:extLst>
            </p:cNvPr>
            <p:cNvSpPr txBox="1"/>
            <p:nvPr/>
          </p:nvSpPr>
          <p:spPr>
            <a:xfrm>
              <a:off x="5616187" y="3773175"/>
              <a:ext cx="1513235" cy="180425"/>
            </a:xfrm>
            <a:prstGeom prst="rect">
              <a:avLst/>
            </a:prstGeom>
            <a:noFill/>
            <a:ln w="3175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none" lIns="0" tIns="36000" rIns="0" bIns="36000" numCol="1" rtlCol="0" anchor="ctr" anchorCtr="0" compatLnSpc="1">
              <a:prstTxWarp prst="textNoShape">
                <a:avLst/>
              </a:prstTxWarp>
              <a:spAutoFit/>
            </a:bodyPr>
            <a:lstStyle/>
            <a:p>
              <a:r>
                <a:rPr lang="ko-KR" altLang="en-US" sz="700" smtClean="0">
                  <a:solidFill>
                    <a:schemeClr val="tx1">
                      <a:lumMod val="50000"/>
                      <a:lumOff val="50000"/>
                    </a:schemeClr>
                  </a:solidFill>
                  <a:latin typeface="맑은 고딕" panose="020B0503020000020004" pitchFamily="50" charset="-127"/>
                </a:rPr>
                <a:t>서울 노원구 기준 </a:t>
              </a:r>
              <a:r>
                <a:rPr lang="en-US" altLang="ko-KR" sz="700" smtClean="0">
                  <a:solidFill>
                    <a:schemeClr val="tx1">
                      <a:lumMod val="50000"/>
                      <a:lumOff val="50000"/>
                    </a:schemeClr>
                  </a:solidFill>
                  <a:latin typeface="맑은 고딕" panose="020B0503020000020004" pitchFamily="50" charset="-127"/>
                </a:rPr>
                <a:t>(18</a:t>
              </a:r>
              <a:r>
                <a:rPr lang="ko-KR" altLang="en-US" sz="700" smtClean="0">
                  <a:solidFill>
                    <a:schemeClr val="tx1">
                      <a:lumMod val="50000"/>
                      <a:lumOff val="50000"/>
                    </a:schemeClr>
                  </a:solidFill>
                  <a:latin typeface="맑은 고딕" panose="020B0503020000020004" pitchFamily="50" charset="-127"/>
                </a:rPr>
                <a:t>시 이전 결제 시</a:t>
              </a:r>
              <a:r>
                <a:rPr lang="en-US" altLang="ko-KR" sz="700" smtClean="0">
                  <a:solidFill>
                    <a:schemeClr val="tx1">
                      <a:lumMod val="50000"/>
                      <a:lumOff val="50000"/>
                    </a:schemeClr>
                  </a:solidFill>
                  <a:latin typeface="맑은 고딕" panose="020B0503020000020004" pitchFamily="50" charset="-127"/>
                </a:rPr>
                <a:t>)</a:t>
              </a:r>
              <a:endParaRPr lang="ko-KR" altLang="en-US" sz="700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</a:endParaRPr>
            </a:p>
          </p:txBody>
        </p:sp>
        <p:cxnSp>
          <p:nvCxnSpPr>
            <p:cNvPr id="566" name="직선 연결선 565"/>
            <p:cNvCxnSpPr/>
            <p:nvPr/>
          </p:nvCxnSpPr>
          <p:spPr>
            <a:xfrm>
              <a:off x="4968163" y="4529997"/>
              <a:ext cx="2591578" cy="0"/>
            </a:xfrm>
            <a:prstGeom prst="line">
              <a:avLst/>
            </a:prstGeom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67" name="TextBox 566">
              <a:extLst>
                <a:ext uri="{FF2B5EF4-FFF2-40B4-BE49-F238E27FC236}">
                  <a16:creationId xmlns="" xmlns:a16="http://schemas.microsoft.com/office/drawing/2014/main" id="{0C96C875-C47F-4F5B-B4C1-F9D666A7BD9D}"/>
                </a:ext>
              </a:extLst>
            </p:cNvPr>
            <p:cNvSpPr txBox="1"/>
            <p:nvPr/>
          </p:nvSpPr>
          <p:spPr>
            <a:xfrm rot="5400000">
              <a:off x="7481835" y="3717039"/>
              <a:ext cx="48090" cy="107722"/>
            </a:xfrm>
            <a:prstGeom prst="rect">
              <a:avLst/>
            </a:prstGeom>
            <a:noFill/>
            <a:ln w="3175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none" lIns="0" tIns="0" rIns="0" bIns="0" numCol="1" rtlCol="0" anchor="ctr" anchorCtr="0" compatLnSpc="1">
              <a:prstTxWarp prst="textNoShape">
                <a:avLst/>
              </a:prstTxWarp>
              <a:spAutoFit/>
            </a:bodyPr>
            <a:lstStyle/>
            <a:p>
              <a:r>
                <a:rPr lang="en-US" altLang="ko-KR" sz="700" b="1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〉</a:t>
              </a:r>
              <a:endParaRPr lang="ko-KR" altLang="en-US" sz="7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endParaRPr>
            </a:p>
          </p:txBody>
        </p:sp>
        <p:cxnSp>
          <p:nvCxnSpPr>
            <p:cNvPr id="568" name="직선 연결선 567"/>
            <p:cNvCxnSpPr/>
            <p:nvPr/>
          </p:nvCxnSpPr>
          <p:spPr>
            <a:xfrm>
              <a:off x="5616187" y="4023044"/>
              <a:ext cx="1944000" cy="0"/>
            </a:xfrm>
            <a:prstGeom prst="line">
              <a:avLst/>
            </a:prstGeom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69" name="직사각형 568"/>
            <p:cNvSpPr/>
            <p:nvPr/>
          </p:nvSpPr>
          <p:spPr>
            <a:xfrm>
              <a:off x="5616187" y="4113740"/>
              <a:ext cx="540000" cy="144000"/>
            </a:xfrm>
            <a:prstGeom prst="rect">
              <a:avLst/>
            </a:prstGeom>
            <a:gradFill flip="none" rotWithShape="1">
              <a:gsLst>
                <a:gs pos="0">
                  <a:schemeClr val="accent5">
                    <a:lumMod val="75000"/>
                  </a:schemeClr>
                </a:gs>
                <a:gs pos="50000">
                  <a:schemeClr val="accent5"/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0" scaled="1"/>
              <a:tileRect/>
            </a:gra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500" smtClean="0">
                  <a:solidFill>
                    <a:schemeClr val="bg1"/>
                  </a:solidFill>
                  <a:latin typeface="맑은 고딕" panose="020B0503020000020004" pitchFamily="50" charset="-127"/>
                </a:rPr>
                <a:t>매장상품배송</a:t>
              </a:r>
              <a:endParaRPr lang="ko-KR" altLang="en-US" sz="500">
                <a:solidFill>
                  <a:schemeClr val="bg1"/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570" name="타원 569"/>
            <p:cNvSpPr/>
            <p:nvPr/>
          </p:nvSpPr>
          <p:spPr>
            <a:xfrm>
              <a:off x="6899357" y="3627959"/>
              <a:ext cx="108000" cy="108000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60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?</a:t>
              </a:r>
              <a:endParaRPr lang="ko-KR" altLang="en-US" sz="6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571" name="타원 570"/>
            <p:cNvSpPr/>
            <p:nvPr/>
          </p:nvSpPr>
          <p:spPr>
            <a:xfrm>
              <a:off x="6191508" y="4131740"/>
              <a:ext cx="108000" cy="108000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60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?</a:t>
              </a:r>
              <a:endParaRPr lang="ko-KR" altLang="en-US" sz="6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572" name="TextBox 571">
              <a:extLst>
                <a:ext uri="{FF2B5EF4-FFF2-40B4-BE49-F238E27FC236}">
                  <a16:creationId xmlns="" xmlns:a16="http://schemas.microsoft.com/office/drawing/2014/main" id="{0C96C875-C47F-4F5B-B4C1-F9D666A7BD9D}"/>
                </a:ext>
              </a:extLst>
            </p:cNvPr>
            <p:cNvSpPr txBox="1"/>
            <p:nvPr/>
          </p:nvSpPr>
          <p:spPr>
            <a:xfrm>
              <a:off x="5616187" y="4277459"/>
              <a:ext cx="1207062" cy="180425"/>
            </a:xfrm>
            <a:prstGeom prst="rect">
              <a:avLst/>
            </a:prstGeom>
            <a:noFill/>
            <a:ln w="3175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none" lIns="0" tIns="36000" rIns="0" bIns="36000" numCol="1" rtlCol="0" anchor="ctr" anchorCtr="0" compatLnSpc="1">
              <a:prstTxWarp prst="textNoShape">
                <a:avLst/>
              </a:prstTxWarp>
              <a:spAutoFit/>
            </a:bodyPr>
            <a:lstStyle/>
            <a:p>
              <a:r>
                <a:rPr lang="ko-KR" altLang="en-US" sz="700" smtClean="0">
                  <a:solidFill>
                    <a:schemeClr val="tx1">
                      <a:lumMod val="50000"/>
                      <a:lumOff val="50000"/>
                    </a:schemeClr>
                  </a:solidFill>
                  <a:latin typeface="맑은 고딕" panose="020B0503020000020004" pitchFamily="50" charset="-127"/>
                </a:rPr>
                <a:t>평균 </a:t>
              </a:r>
              <a:r>
                <a:rPr lang="en-US" altLang="ko-KR" sz="700" smtClean="0">
                  <a:solidFill>
                    <a:schemeClr val="tx1">
                      <a:lumMod val="50000"/>
                      <a:lumOff val="50000"/>
                    </a:schemeClr>
                  </a:solidFill>
                  <a:latin typeface="맑은 고딕" panose="020B0503020000020004" pitchFamily="50" charset="-127"/>
                </a:rPr>
                <a:t>5~7 </a:t>
              </a:r>
              <a:r>
                <a:rPr lang="ko-KR" altLang="en-US" sz="700" smtClean="0">
                  <a:solidFill>
                    <a:schemeClr val="tx1">
                      <a:lumMod val="50000"/>
                      <a:lumOff val="50000"/>
                    </a:schemeClr>
                  </a:solidFill>
                  <a:latin typeface="맑은 고딕" panose="020B0503020000020004" pitchFamily="50" charset="-127"/>
                </a:rPr>
                <a:t>영업일 소요됩니다</a:t>
              </a:r>
              <a:r>
                <a:rPr lang="en-US" altLang="ko-KR" sz="700" smtClean="0">
                  <a:solidFill>
                    <a:schemeClr val="tx1">
                      <a:lumMod val="50000"/>
                      <a:lumOff val="50000"/>
                    </a:schemeClr>
                  </a:solidFill>
                  <a:latin typeface="맑은 고딕" panose="020B0503020000020004" pitchFamily="50" charset="-127"/>
                </a:rPr>
                <a:t>.</a:t>
              </a:r>
              <a:endParaRPr lang="ko-KR" altLang="en-US" sz="700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</a:endParaRPr>
            </a:p>
          </p:txBody>
        </p:sp>
      </p:grpSp>
      <p:grpSp>
        <p:nvGrpSpPr>
          <p:cNvPr id="591" name="그룹 590"/>
          <p:cNvGrpSpPr/>
          <p:nvPr/>
        </p:nvGrpSpPr>
        <p:grpSpPr>
          <a:xfrm>
            <a:off x="7413721" y="2518762"/>
            <a:ext cx="179970" cy="179970"/>
            <a:chOff x="7589341" y="3009028"/>
            <a:chExt cx="180000" cy="180000"/>
          </a:xfrm>
        </p:grpSpPr>
        <p:sp>
          <p:nvSpPr>
            <p:cNvPr id="592" name="타원 591"/>
            <p:cNvSpPr/>
            <p:nvPr/>
          </p:nvSpPr>
          <p:spPr>
            <a:xfrm>
              <a:off x="7589341" y="3009028"/>
              <a:ext cx="180000" cy="180000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ko-KR" altLang="en-US" sz="5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grpSp>
          <p:nvGrpSpPr>
            <p:cNvPr id="593" name="그룹 592"/>
            <p:cNvGrpSpPr/>
            <p:nvPr/>
          </p:nvGrpSpPr>
          <p:grpSpPr>
            <a:xfrm>
              <a:off x="7625341" y="3045028"/>
              <a:ext cx="108000" cy="108000"/>
              <a:chOff x="531806" y="1604594"/>
              <a:chExt cx="180000" cy="180738"/>
            </a:xfrm>
          </p:grpSpPr>
          <p:grpSp>
            <p:nvGrpSpPr>
              <p:cNvPr id="594" name="그룹 593"/>
              <p:cNvGrpSpPr/>
              <p:nvPr/>
            </p:nvGrpSpPr>
            <p:grpSpPr>
              <a:xfrm>
                <a:off x="549806" y="1604594"/>
                <a:ext cx="144000" cy="180738"/>
                <a:chOff x="691953" y="1723346"/>
                <a:chExt cx="144000" cy="180738"/>
              </a:xfrm>
              <a:solidFill>
                <a:schemeClr val="bg1"/>
              </a:solidFill>
            </p:grpSpPr>
            <p:sp>
              <p:nvSpPr>
                <p:cNvPr id="596" name="양쪽 모서리가 둥근 사각형 595"/>
                <p:cNvSpPr/>
                <p:nvPr/>
              </p:nvSpPr>
              <p:spPr>
                <a:xfrm>
                  <a:off x="700953" y="1723346"/>
                  <a:ext cx="126000" cy="126000"/>
                </a:xfrm>
                <a:prstGeom prst="round2SameRect">
                  <a:avLst>
                    <a:gd name="adj1" fmla="val 50000"/>
                    <a:gd name="adj2" fmla="val 0"/>
                  </a:avLst>
                </a:prstGeom>
                <a:grpFill/>
                <a:ln w="3175">
                  <a:solidFill>
                    <a:srgbClr val="DC283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7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endParaRPr>
                </a:p>
              </p:txBody>
            </p:sp>
            <p:sp>
              <p:nvSpPr>
                <p:cNvPr id="597" name="타원 596"/>
                <p:cNvSpPr/>
                <p:nvPr/>
              </p:nvSpPr>
              <p:spPr>
                <a:xfrm>
                  <a:off x="736953" y="1850084"/>
                  <a:ext cx="54000" cy="54000"/>
                </a:xfrm>
                <a:prstGeom prst="ellipse">
                  <a:avLst/>
                </a:prstGeom>
                <a:grpFill/>
                <a:ln w="3175">
                  <a:solidFill>
                    <a:srgbClr val="DC283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7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endParaRPr>
                </a:p>
              </p:txBody>
            </p:sp>
            <p:sp>
              <p:nvSpPr>
                <p:cNvPr id="598" name="직사각형 597"/>
                <p:cNvSpPr/>
                <p:nvPr/>
              </p:nvSpPr>
              <p:spPr>
                <a:xfrm>
                  <a:off x="691953" y="1811453"/>
                  <a:ext cx="144000" cy="18000"/>
                </a:xfrm>
                <a:prstGeom prst="rect">
                  <a:avLst/>
                </a:prstGeom>
                <a:grpFill/>
                <a:ln w="3175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7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endParaRPr>
                </a:p>
              </p:txBody>
            </p:sp>
            <p:sp>
              <p:nvSpPr>
                <p:cNvPr id="599" name="직사각형 598"/>
                <p:cNvSpPr/>
                <p:nvPr/>
              </p:nvSpPr>
              <p:spPr>
                <a:xfrm>
                  <a:off x="691953" y="1859609"/>
                  <a:ext cx="144000" cy="18000"/>
                </a:xfrm>
                <a:prstGeom prst="rect">
                  <a:avLst/>
                </a:prstGeom>
                <a:grpFill/>
                <a:ln w="3175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7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endParaRPr>
                </a:p>
              </p:txBody>
            </p:sp>
            <p:sp>
              <p:nvSpPr>
                <p:cNvPr id="600" name="직사각형 599"/>
                <p:cNvSpPr/>
                <p:nvPr/>
              </p:nvSpPr>
              <p:spPr>
                <a:xfrm>
                  <a:off x="691953" y="1832609"/>
                  <a:ext cx="144000" cy="25200"/>
                </a:xfrm>
                <a:prstGeom prst="rect">
                  <a:avLst/>
                </a:prstGeom>
                <a:grpFill/>
                <a:ln w="3175">
                  <a:solidFill>
                    <a:srgbClr val="DC283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7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endParaRPr>
                </a:p>
              </p:txBody>
            </p:sp>
          </p:grpSp>
          <p:sp>
            <p:nvSpPr>
              <p:cNvPr id="595" name="직사각형 594"/>
              <p:cNvSpPr/>
              <p:nvPr/>
            </p:nvSpPr>
            <p:spPr>
              <a:xfrm>
                <a:off x="531806" y="1604594"/>
                <a:ext cx="180000" cy="180000"/>
              </a:xfrm>
              <a:prstGeom prst="rect">
                <a:avLst/>
              </a:prstGeom>
              <a:noFill/>
              <a:ln w="31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70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8791866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직사각형 140"/>
          <p:cNvSpPr/>
          <p:nvPr/>
        </p:nvSpPr>
        <p:spPr>
          <a:xfrm>
            <a:off x="145179" y="709700"/>
            <a:ext cx="2880000" cy="5688023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98" name="직사각형 97"/>
          <p:cNvSpPr/>
          <p:nvPr/>
        </p:nvSpPr>
        <p:spPr>
          <a:xfrm>
            <a:off x="4823906" y="709700"/>
            <a:ext cx="2880000" cy="5688023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114" name="직사각형 113"/>
          <p:cNvSpPr/>
          <p:nvPr/>
        </p:nvSpPr>
        <p:spPr>
          <a:xfrm>
            <a:off x="4968163" y="1573286"/>
            <a:ext cx="720000" cy="1440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7" name="제목 1"/>
          <p:cNvSpPr txBox="1">
            <a:spLocks/>
          </p:cNvSpPr>
          <p:nvPr/>
        </p:nvSpPr>
        <p:spPr>
          <a:xfrm>
            <a:off x="1223906" y="358660"/>
            <a:ext cx="1080000" cy="216000"/>
          </a:xfrm>
          <a:prstGeom prst="rect">
            <a:avLst/>
          </a:prstGeom>
        </p:spPr>
        <p:txBody>
          <a:bodyPr lIns="36000" tIns="36000" rIns="36000" bIns="36000" anchor="ctr"/>
          <a:lstStyle>
            <a:lvl1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2pPr>
            <a:lvl3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3pPr>
            <a:lvl4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4pPr>
            <a:lvl5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5pPr>
            <a:lvl6pPr marL="457212" algn="ctr" rtl="0" fontAlgn="base" latinLnBrk="1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6pPr>
            <a:lvl7pPr marL="914423" algn="ctr" rtl="0" fontAlgn="base" latinLnBrk="1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7pPr>
            <a:lvl8pPr marL="1371634" algn="ctr" rtl="0" fontAlgn="base" latinLnBrk="1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8pPr>
            <a:lvl9pPr marL="1828846" algn="ctr" rtl="0" fontAlgn="base" latinLnBrk="1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r>
              <a:rPr lang="en-US" altLang="ko-KR" sz="800" ker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-</a:t>
            </a:r>
            <a:endParaRPr lang="ko-KR" altLang="en-US" sz="800" kern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" name="제목 1">
            <a:extLst>
              <a:ext uri="{FF2B5EF4-FFF2-40B4-BE49-F238E27FC236}">
                <a16:creationId xmlns:a16="http://schemas.microsoft.com/office/drawing/2014/main" xmlns="" id="{03F65532-A01C-4981-B987-5E15F64E3ABB}"/>
              </a:ext>
            </a:extLst>
          </p:cNvPr>
          <p:cNvSpPr txBox="1">
            <a:spLocks/>
          </p:cNvSpPr>
          <p:nvPr/>
        </p:nvSpPr>
        <p:spPr>
          <a:xfrm>
            <a:off x="3383718" y="142660"/>
            <a:ext cx="4320000" cy="216000"/>
          </a:xfrm>
          <a:prstGeom prst="rect">
            <a:avLst/>
          </a:prstGeom>
        </p:spPr>
        <p:txBody>
          <a:bodyPr lIns="180000" tIns="36000" rIns="180000" bIns="36000" anchor="ctr"/>
          <a:lstStyle>
            <a:lvl1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2pPr>
            <a:lvl3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3pPr>
            <a:lvl4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4pPr>
            <a:lvl5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5pPr>
            <a:lvl6pPr marL="457212" algn="ctr" rtl="0" fontAlgn="base" latinLnBrk="1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6pPr>
            <a:lvl7pPr marL="914423" algn="ctr" rtl="0" fontAlgn="base" latinLnBrk="1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7pPr>
            <a:lvl8pPr marL="1371634" algn="ctr" rtl="0" fontAlgn="base" latinLnBrk="1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8pPr>
            <a:lvl9pPr marL="1828846" algn="ctr" rtl="0" fontAlgn="base" latinLnBrk="1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l"/>
            <a:r>
              <a:rPr lang="ko-KR" altLang="en-US" sz="800" b="1" kern="0" smtClean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상품상세</a:t>
            </a:r>
            <a:endParaRPr lang="ko-KR" altLang="en-US" sz="800" b="1" kern="0" dirty="0">
              <a:solidFill>
                <a:srgbClr val="C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" name="제목 1">
            <a:extLst>
              <a:ext uri="{FF2B5EF4-FFF2-40B4-BE49-F238E27FC236}">
                <a16:creationId xmlns:a16="http://schemas.microsoft.com/office/drawing/2014/main" xmlns="" id="{E2CFB5AD-2840-4821-B288-2284D6C0A05E}"/>
              </a:ext>
            </a:extLst>
          </p:cNvPr>
          <p:cNvSpPr txBox="1">
            <a:spLocks/>
          </p:cNvSpPr>
          <p:nvPr/>
        </p:nvSpPr>
        <p:spPr>
          <a:xfrm>
            <a:off x="3383718" y="358660"/>
            <a:ext cx="4320000" cy="216000"/>
          </a:xfrm>
          <a:prstGeom prst="rect">
            <a:avLst/>
          </a:prstGeom>
        </p:spPr>
        <p:txBody>
          <a:bodyPr lIns="180000" tIns="36000" rIns="180000" bIns="36000" anchor="ctr"/>
          <a:lstStyle>
            <a:lvl1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2pPr>
            <a:lvl3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3pPr>
            <a:lvl4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4pPr>
            <a:lvl5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5pPr>
            <a:lvl6pPr marL="457212" algn="ctr" rtl="0" fontAlgn="base" latinLnBrk="1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6pPr>
            <a:lvl7pPr marL="914423" algn="ctr" rtl="0" fontAlgn="base" latinLnBrk="1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7pPr>
            <a:lvl8pPr marL="1371634" algn="ctr" rtl="0" fontAlgn="base" latinLnBrk="1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8pPr>
            <a:lvl9pPr marL="1828846" algn="ctr" rtl="0" fontAlgn="base" latinLnBrk="1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l"/>
            <a:r>
              <a:rPr lang="en-US" altLang="ko-KR" sz="800" ker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https://m.lfmall.co.kr/app/product</a:t>
            </a:r>
            <a:r>
              <a:rPr lang="en-US" altLang="ko-KR" sz="800" kern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/</a:t>
            </a:r>
            <a:r>
              <a:rPr lang="ko-KR" altLang="en-US" sz="800" kern="0" smtClean="0">
                <a:solidFill>
                  <a:srgbClr val="C00000"/>
                </a:solidFill>
                <a:latin typeface="맑은 고딕" panose="020B0503020000020004" pitchFamily="50" charset="-127"/>
              </a:rPr>
              <a:t>코드</a:t>
            </a:r>
            <a:endParaRPr lang="ko-KR" altLang="en-US" sz="800" kern="0" dirty="0">
              <a:solidFill>
                <a:srgbClr val="C00000"/>
              </a:solidFill>
              <a:latin typeface="맑은 고딕" panose="020B0503020000020004" pitchFamily="50" charset="-127"/>
            </a:endParaRPr>
          </a:p>
        </p:txBody>
      </p:sp>
      <p:sp>
        <p:nvSpPr>
          <p:cNvPr id="10" name="제목 1"/>
          <p:cNvSpPr txBox="1">
            <a:spLocks/>
          </p:cNvSpPr>
          <p:nvPr/>
        </p:nvSpPr>
        <p:spPr>
          <a:xfrm>
            <a:off x="1223906" y="142660"/>
            <a:ext cx="1080000" cy="216000"/>
          </a:xfrm>
          <a:prstGeom prst="rect">
            <a:avLst/>
          </a:prstGeom>
        </p:spPr>
        <p:txBody>
          <a:bodyPr lIns="36000" tIns="36000" rIns="36000" bIns="36000" anchor="ctr"/>
          <a:lstStyle>
            <a:lvl1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2pPr>
            <a:lvl3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3pPr>
            <a:lvl4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4pPr>
            <a:lvl5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5pPr>
            <a:lvl6pPr marL="457212" algn="ctr" rtl="0" fontAlgn="base" latinLnBrk="1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6pPr>
            <a:lvl7pPr marL="914423" algn="ctr" rtl="0" fontAlgn="base" latinLnBrk="1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7pPr>
            <a:lvl8pPr marL="1371634" algn="ctr" rtl="0" fontAlgn="base" latinLnBrk="1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8pPr>
            <a:lvl9pPr marL="1828846" algn="ctr" rtl="0" fontAlgn="base" latinLnBrk="1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r>
              <a:rPr lang="en-US" altLang="ko-KR" sz="800" kern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Front-End</a:t>
            </a:r>
            <a:endParaRPr lang="ko-KR" altLang="en-US" sz="800" kern="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11" name="Group 118">
            <a:extLst>
              <a:ext uri="{FF2B5EF4-FFF2-40B4-BE49-F238E27FC236}">
                <a16:creationId xmlns:a16="http://schemas.microsoft.com/office/drawing/2014/main" xmlns="" id="{41B5A014-BEDB-439E-A302-DBCECEC856B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48975486"/>
              </p:ext>
            </p:extLst>
          </p:nvPr>
        </p:nvGraphicFramePr>
        <p:xfrm>
          <a:off x="9647906" y="709700"/>
          <a:ext cx="2376000" cy="865392"/>
        </p:xfrm>
        <a:graphic>
          <a:graphicData uri="http://schemas.openxmlformats.org/drawingml/2006/table">
            <a:tbl>
              <a:tblPr/>
              <a:tblGrid>
                <a:gridCol w="21600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21600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2520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 Semilight" panose="020B0502040204020203" pitchFamily="50" charset="-127"/>
                        </a:rPr>
                        <a:t>No</a:t>
                      </a:r>
                    </a:p>
                  </a:txBody>
                  <a:tcPr marL="42203" marR="42203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en-US" altLang="ko-KR" sz="700" b="0" baseline="0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 Semilight" panose="020B0502040204020203" pitchFamily="50" charset="-127"/>
                        </a:rPr>
                        <a:t>Description</a:t>
                      </a:r>
                    </a:p>
                  </a:txBody>
                  <a:tcPr marL="108000" marR="108000" marT="36000" marB="3600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 Semilight" panose="020B0502040204020203" pitchFamily="50" charset="-127"/>
                        </a:rPr>
                        <a:t>1</a:t>
                      </a:r>
                    </a:p>
                  </a:txBody>
                  <a:tcPr marL="42203" marR="42203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ko-KR" altLang="en-US" sz="700" b="0" baseline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 Semilight" panose="020B0502040204020203" pitchFamily="50" charset="-127"/>
                        </a:rPr>
                        <a:t>배송</a:t>
                      </a:r>
                      <a:r>
                        <a:rPr lang="en-US" altLang="ko-KR" sz="700" b="0" baseline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 Semilight" panose="020B0502040204020203" pitchFamily="50" charset="-127"/>
                        </a:rPr>
                        <a:t>,</a:t>
                      </a:r>
                      <a:r>
                        <a:rPr lang="ko-KR" altLang="en-US" sz="700" b="0" baseline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 Semilight" panose="020B0502040204020203" pitchFamily="50" charset="-127"/>
                        </a:rPr>
                        <a:t>교환</a:t>
                      </a:r>
                      <a:r>
                        <a:rPr lang="en-US" altLang="ko-KR" sz="700" b="0" baseline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 Semilight" panose="020B0502040204020203" pitchFamily="50" charset="-127"/>
                        </a:rPr>
                        <a:t>,</a:t>
                      </a:r>
                      <a:r>
                        <a:rPr lang="ko-KR" altLang="en-US" sz="700" b="0" baseline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 Semilight" panose="020B0502040204020203" pitchFamily="50" charset="-127"/>
                        </a:rPr>
                        <a:t>환불</a:t>
                      </a:r>
                      <a:r>
                        <a:rPr lang="en-US" altLang="ko-KR" sz="700" b="0" baseline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 Semilight" panose="020B0502040204020203" pitchFamily="50" charset="-127"/>
                        </a:rPr>
                        <a:t>,A/S </a:t>
                      </a:r>
                      <a:r>
                        <a:rPr lang="ko-KR" altLang="en-US" sz="700" b="0" baseline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 Semilight" panose="020B0502040204020203" pitchFamily="50" charset="-127"/>
                        </a:rPr>
                        <a:t>안내 영역</a:t>
                      </a:r>
                      <a:endParaRPr lang="en-US" altLang="ko-KR" sz="700" b="0" baseline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Malgun Gothic Semilight" panose="020B0502040204020203" pitchFamily="50" charset="-127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en-US" altLang="ko-KR" sz="700" b="0" baseline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 Semilight" panose="020B0502040204020203" pitchFamily="50" charset="-127"/>
                        </a:rPr>
                        <a:t> - </a:t>
                      </a:r>
                      <a:r>
                        <a:rPr lang="ko-KR" altLang="en-US" sz="700" b="0" baseline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 Semilight" panose="020B0502040204020203" pitchFamily="50" charset="-127"/>
                        </a:rPr>
                        <a:t>클릭 시</a:t>
                      </a:r>
                      <a:r>
                        <a:rPr lang="en-US" altLang="ko-KR" sz="700" b="0" baseline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 Semilight" panose="020B0502040204020203" pitchFamily="50" charset="-127"/>
                        </a:rPr>
                        <a:t>, </a:t>
                      </a:r>
                      <a:r>
                        <a:rPr lang="ko-KR" altLang="en-US" sz="700" b="0" baseline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 Semilight" panose="020B0502040204020203" pitchFamily="50" charset="-127"/>
                        </a:rPr>
                        <a:t>팝업 호출 </a:t>
                      </a:r>
                      <a:r>
                        <a:rPr lang="en-US" altLang="ko-KR" sz="700" b="0" baseline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 Semilight" panose="020B0502040204020203" pitchFamily="50" charset="-127"/>
                        </a:rPr>
                        <a:t>(</a:t>
                      </a:r>
                      <a:r>
                        <a:rPr lang="ko-KR" altLang="en-US" sz="700" b="0" baseline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 Semilight" panose="020B0502040204020203" pitchFamily="50" charset="-127"/>
                        </a:rPr>
                        <a:t>기존과 동일</a:t>
                      </a:r>
                      <a:r>
                        <a:rPr lang="en-US" altLang="ko-KR" sz="700" b="0" baseline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 Semilight" panose="020B0502040204020203" pitchFamily="50" charset="-127"/>
                        </a:rPr>
                        <a:t>)</a:t>
                      </a:r>
                    </a:p>
                  </a:txBody>
                  <a:tcPr marL="108000" marR="108000" marT="36000" marB="3600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 Semilight" panose="020B0502040204020203" pitchFamily="50" charset="-127"/>
                        </a:rPr>
                        <a:t>2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42203" marR="42203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ko-KR" altLang="en-US" sz="700" b="0" baseline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  <a:cs typeface="Malgun Gothic Semilight" panose="020B0502040204020203" pitchFamily="50" charset="-127"/>
                        </a:rPr>
                        <a:t>팝업 內 </a:t>
                      </a:r>
                      <a:r>
                        <a:rPr lang="en-US" altLang="ko-KR" sz="700" b="0" baseline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  <a:cs typeface="Malgun Gothic Semilight" panose="020B0502040204020203" pitchFamily="50" charset="-127"/>
                        </a:rPr>
                        <a:t>‘</a:t>
                      </a:r>
                      <a:r>
                        <a:rPr lang="ko-KR" altLang="en-US" sz="700" b="0" baseline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  <a:cs typeface="Malgun Gothic Semilight" panose="020B0502040204020203" pitchFamily="50" charset="-127"/>
                        </a:rPr>
                        <a:t>배송 기간</a:t>
                      </a:r>
                      <a:r>
                        <a:rPr lang="en-US" altLang="ko-KR" sz="700" b="0" baseline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  <a:cs typeface="Malgun Gothic Semilight" panose="020B0502040204020203" pitchFamily="50" charset="-127"/>
                        </a:rPr>
                        <a:t>’ </a:t>
                      </a:r>
                      <a:r>
                        <a:rPr lang="ko-KR" altLang="en-US" sz="700" b="0" baseline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  <a:cs typeface="Malgun Gothic Semilight" panose="020B0502040204020203" pitchFamily="50" charset="-127"/>
                        </a:rPr>
                        <a:t>안내</a:t>
                      </a:r>
                      <a:endParaRPr lang="en-US" altLang="ko-KR" sz="700" b="0" baseline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  <a:cs typeface="Malgun Gothic Semilight" panose="020B0502040204020203" pitchFamily="50" charset="-127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en-US" altLang="ko-KR" sz="700" b="0" baseline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  <a:cs typeface="Malgun Gothic Semilight" panose="020B0502040204020203" pitchFamily="50" charset="-127"/>
                        </a:rPr>
                        <a:t> - </a:t>
                      </a:r>
                      <a:r>
                        <a:rPr lang="ko-KR" altLang="en-US" sz="700" b="0" baseline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  <a:cs typeface="Malgun Gothic Semilight" panose="020B0502040204020203" pitchFamily="50" charset="-127"/>
                        </a:rPr>
                        <a:t>매장상품배송 관련 문구 추가 </a:t>
                      </a:r>
                      <a:r>
                        <a:rPr lang="en-US" altLang="ko-KR" sz="700" b="0" baseline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  <a:cs typeface="Malgun Gothic Semilight" panose="020B0502040204020203" pitchFamily="50" charset="-127"/>
                        </a:rPr>
                        <a:t>(</a:t>
                      </a:r>
                      <a:r>
                        <a:rPr lang="ko-KR" altLang="en-US" sz="700" b="0" baseline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  <a:cs typeface="Malgun Gothic Semilight" panose="020B0502040204020203" pitchFamily="50" charset="-127"/>
                        </a:rPr>
                        <a:t>공통</a:t>
                      </a:r>
                      <a:r>
                        <a:rPr lang="en-US" altLang="ko-KR" sz="700" b="0" baseline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  <a:cs typeface="Malgun Gothic Semilight" panose="020B0502040204020203" pitchFamily="50" charset="-127"/>
                        </a:rPr>
                        <a:t>)</a:t>
                      </a:r>
                    </a:p>
                  </a:txBody>
                  <a:tcPr marL="108000" marR="108000" marT="36000" marB="3600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</a:tbl>
          </a:graphicData>
        </a:graphic>
      </p:graphicFrame>
      <p:sp>
        <p:nvSpPr>
          <p:cNvPr id="187" name="직사각형 186">
            <a:extLst>
              <a:ext uri="{FF2B5EF4-FFF2-40B4-BE49-F238E27FC236}">
                <a16:creationId xmlns:a16="http://schemas.microsoft.com/office/drawing/2014/main" xmlns="" id="{19FD5FA0-B111-4EF7-BC86-418441928DD3}"/>
              </a:ext>
            </a:extLst>
          </p:cNvPr>
          <p:cNvSpPr/>
          <p:nvPr/>
        </p:nvSpPr>
        <p:spPr>
          <a:xfrm>
            <a:off x="145179" y="709700"/>
            <a:ext cx="2879531" cy="720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700">
              <a:solidFill>
                <a:prstClr val="black">
                  <a:lumMod val="75000"/>
                  <a:lumOff val="25000"/>
                </a:prstClr>
              </a:solidFill>
              <a:latin typeface="맑은 고딕" panose="020B0503020000020004" pitchFamily="50" charset="-127"/>
            </a:endParaRPr>
          </a:p>
        </p:txBody>
      </p:sp>
      <p:pic>
        <p:nvPicPr>
          <p:cNvPr id="188" name="Picture 2" descr="https://img.lfmall.co.kr/file/WAS/display/lf2022/mobile/gnb_fnb_sp.png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00" t="38037" r="84922" b="38044"/>
          <a:stretch/>
        </p:blipFill>
        <p:spPr bwMode="auto">
          <a:xfrm>
            <a:off x="289156" y="799715"/>
            <a:ext cx="181562" cy="1799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89" name="그룹 188"/>
          <p:cNvGrpSpPr/>
          <p:nvPr/>
        </p:nvGrpSpPr>
        <p:grpSpPr>
          <a:xfrm>
            <a:off x="2384713" y="799715"/>
            <a:ext cx="179971" cy="179971"/>
            <a:chOff x="3851495" y="6190100"/>
            <a:chExt cx="180000" cy="180000"/>
          </a:xfrm>
        </p:grpSpPr>
        <p:sp>
          <p:nvSpPr>
            <p:cNvPr id="266" name="직사각형 265"/>
            <p:cNvSpPr/>
            <p:nvPr/>
          </p:nvSpPr>
          <p:spPr>
            <a:xfrm>
              <a:off x="3851495" y="6190100"/>
              <a:ext cx="180000" cy="180000"/>
            </a:xfrm>
            <a:prstGeom prst="rect">
              <a:avLst/>
            </a:prstGeom>
            <a:no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7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267" name="오각형 266"/>
            <p:cNvSpPr/>
            <p:nvPr/>
          </p:nvSpPr>
          <p:spPr>
            <a:xfrm rot="16200000">
              <a:off x="3869495" y="6217101"/>
              <a:ext cx="144000" cy="126000"/>
            </a:xfrm>
            <a:prstGeom prst="homePlate">
              <a:avLst/>
            </a:prstGeom>
            <a:grpFill/>
            <a:ln w="952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7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cxnSp>
          <p:nvCxnSpPr>
            <p:cNvPr id="268" name="직선 연결선 267"/>
            <p:cNvCxnSpPr/>
            <p:nvPr/>
          </p:nvCxnSpPr>
          <p:spPr>
            <a:xfrm>
              <a:off x="3860495" y="6282659"/>
              <a:ext cx="162000" cy="0"/>
            </a:xfrm>
            <a:prstGeom prst="line">
              <a:avLst/>
            </a:prstGeom>
            <a:ln w="952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9" name="직선 연결선 268"/>
            <p:cNvCxnSpPr/>
            <p:nvPr/>
          </p:nvCxnSpPr>
          <p:spPr>
            <a:xfrm rot="5400000">
              <a:off x="3923495" y="6348290"/>
              <a:ext cx="36000" cy="0"/>
            </a:xfrm>
            <a:prstGeom prst="line">
              <a:avLst/>
            </a:prstGeom>
            <a:ln w="952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90" name="그룹 189"/>
          <p:cNvGrpSpPr/>
          <p:nvPr/>
        </p:nvGrpSpPr>
        <p:grpSpPr>
          <a:xfrm>
            <a:off x="2087331" y="799715"/>
            <a:ext cx="179971" cy="179971"/>
            <a:chOff x="1007189" y="1604594"/>
            <a:chExt cx="180000" cy="180000"/>
          </a:xfrm>
        </p:grpSpPr>
        <p:sp>
          <p:nvSpPr>
            <p:cNvPr id="262" name="직사각형 261"/>
            <p:cNvSpPr/>
            <p:nvPr/>
          </p:nvSpPr>
          <p:spPr>
            <a:xfrm>
              <a:off x="1007189" y="1604594"/>
              <a:ext cx="180000" cy="180000"/>
            </a:xfrm>
            <a:prstGeom prst="rect">
              <a:avLst/>
            </a:prstGeom>
            <a:no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7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grpSp>
          <p:nvGrpSpPr>
            <p:cNvPr id="263" name="그룹 262"/>
            <p:cNvGrpSpPr/>
            <p:nvPr/>
          </p:nvGrpSpPr>
          <p:grpSpPr>
            <a:xfrm>
              <a:off x="1007190" y="1604594"/>
              <a:ext cx="179999" cy="180000"/>
              <a:chOff x="774028" y="1604594"/>
              <a:chExt cx="179999" cy="180000"/>
            </a:xfrm>
          </p:grpSpPr>
          <p:sp>
            <p:nvSpPr>
              <p:cNvPr id="264" name="타원 263"/>
              <p:cNvSpPr/>
              <p:nvPr/>
            </p:nvSpPr>
            <p:spPr>
              <a:xfrm>
                <a:off x="774028" y="1604594"/>
                <a:ext cx="126000" cy="126000"/>
              </a:xfrm>
              <a:prstGeom prst="ellipse">
                <a:avLst/>
              </a:prstGeom>
              <a:noFill/>
              <a:ln w="9525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70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  <p:cxnSp>
            <p:nvCxnSpPr>
              <p:cNvPr id="265" name="직선 연결선 264"/>
              <p:cNvCxnSpPr/>
              <p:nvPr/>
            </p:nvCxnSpPr>
            <p:spPr>
              <a:xfrm>
                <a:off x="900027" y="1730594"/>
                <a:ext cx="54000" cy="54000"/>
              </a:xfrm>
              <a:prstGeom prst="line">
                <a:avLst/>
              </a:prstGeom>
              <a:solidFill>
                <a:schemeClr val="bg1"/>
              </a:solidFill>
              <a:ln w="9525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</p:grpSp>
      <p:grpSp>
        <p:nvGrpSpPr>
          <p:cNvPr id="191" name="그룹 190"/>
          <p:cNvGrpSpPr/>
          <p:nvPr/>
        </p:nvGrpSpPr>
        <p:grpSpPr>
          <a:xfrm>
            <a:off x="2664574" y="799715"/>
            <a:ext cx="179971" cy="179971"/>
            <a:chOff x="3342086" y="1590527"/>
            <a:chExt cx="180000" cy="180000"/>
          </a:xfrm>
        </p:grpSpPr>
        <p:sp>
          <p:nvSpPr>
            <p:cNvPr id="256" name="직사각형 255"/>
            <p:cNvSpPr/>
            <p:nvPr/>
          </p:nvSpPr>
          <p:spPr>
            <a:xfrm>
              <a:off x="3342086" y="1590527"/>
              <a:ext cx="180000" cy="180000"/>
            </a:xfrm>
            <a:prstGeom prst="rect">
              <a:avLst/>
            </a:prstGeom>
            <a:no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7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257" name="사다리꼴 256"/>
            <p:cNvSpPr/>
            <p:nvPr/>
          </p:nvSpPr>
          <p:spPr>
            <a:xfrm>
              <a:off x="3359831" y="1633195"/>
              <a:ext cx="144000" cy="126000"/>
            </a:xfrm>
            <a:prstGeom prst="trapezoid">
              <a:avLst>
                <a:gd name="adj" fmla="val 8369"/>
              </a:avLst>
            </a:prstGeom>
            <a:noFill/>
            <a:ln w="952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7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258" name="양쪽 모서리가 둥근 사각형 257"/>
            <p:cNvSpPr/>
            <p:nvPr/>
          </p:nvSpPr>
          <p:spPr>
            <a:xfrm>
              <a:off x="3395831" y="1601860"/>
              <a:ext cx="72000" cy="72000"/>
            </a:xfrm>
            <a:prstGeom prst="round2SameRect">
              <a:avLst>
                <a:gd name="adj1" fmla="val 50000"/>
                <a:gd name="adj2" fmla="val 0"/>
              </a:avLst>
            </a:prstGeom>
            <a:noFill/>
            <a:ln w="952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7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grpSp>
          <p:nvGrpSpPr>
            <p:cNvPr id="259" name="그룹 258"/>
            <p:cNvGrpSpPr/>
            <p:nvPr/>
          </p:nvGrpSpPr>
          <p:grpSpPr>
            <a:xfrm>
              <a:off x="3386831" y="1626527"/>
              <a:ext cx="90000" cy="66383"/>
              <a:chOff x="3386831" y="1626527"/>
              <a:chExt cx="90000" cy="66383"/>
            </a:xfrm>
          </p:grpSpPr>
          <p:sp>
            <p:nvSpPr>
              <p:cNvPr id="260" name="직사각형 259"/>
              <p:cNvSpPr/>
              <p:nvPr/>
            </p:nvSpPr>
            <p:spPr>
              <a:xfrm>
                <a:off x="3423086" y="1626527"/>
                <a:ext cx="18000" cy="36000"/>
              </a:xfrm>
              <a:prstGeom prst="rect">
                <a:avLst/>
              </a:prstGeom>
              <a:solidFill>
                <a:schemeClr val="bg1"/>
              </a:solidFill>
              <a:ln w="31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70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  <p:sp>
            <p:nvSpPr>
              <p:cNvPr id="261" name="직사각형 260"/>
              <p:cNvSpPr/>
              <p:nvPr/>
            </p:nvSpPr>
            <p:spPr>
              <a:xfrm>
                <a:off x="3386831" y="1656910"/>
                <a:ext cx="90000" cy="36000"/>
              </a:xfrm>
              <a:prstGeom prst="rect">
                <a:avLst/>
              </a:prstGeom>
              <a:solidFill>
                <a:schemeClr val="bg1"/>
              </a:solidFill>
              <a:ln w="31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70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</p:grpSp>
      </p:grpSp>
      <p:sp>
        <p:nvSpPr>
          <p:cNvPr id="192" name="타원 191"/>
          <p:cNvSpPr/>
          <p:nvPr/>
        </p:nvSpPr>
        <p:spPr>
          <a:xfrm>
            <a:off x="2772751" y="835709"/>
            <a:ext cx="107982" cy="107982"/>
          </a:xfrm>
          <a:prstGeom prst="ellipse">
            <a:avLst/>
          </a:prstGeom>
          <a:solidFill>
            <a:srgbClr val="DC2832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500" b="1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7</a:t>
            </a:r>
            <a:endParaRPr lang="ko-KR" altLang="en-US" sz="500" b="1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13" name="그룹 12"/>
          <p:cNvGrpSpPr/>
          <p:nvPr/>
        </p:nvGrpSpPr>
        <p:grpSpPr>
          <a:xfrm>
            <a:off x="288944" y="1572843"/>
            <a:ext cx="2592000" cy="288000"/>
            <a:chOff x="326451" y="1790702"/>
            <a:chExt cx="2592000" cy="288000"/>
          </a:xfrm>
        </p:grpSpPr>
        <p:sp>
          <p:nvSpPr>
            <p:cNvPr id="215" name="모서리가 둥근 직사각형 214">
              <a:extLst>
                <a:ext uri="{FF2B5EF4-FFF2-40B4-BE49-F238E27FC236}">
                  <a16:creationId xmlns="" xmlns:a16="http://schemas.microsoft.com/office/drawing/2014/main" id="{19FD5FA0-B111-4EF7-BC86-418441928DD3}"/>
                </a:ext>
              </a:extLst>
            </p:cNvPr>
            <p:cNvSpPr/>
            <p:nvPr/>
          </p:nvSpPr>
          <p:spPr>
            <a:xfrm>
              <a:off x="326451" y="1790702"/>
              <a:ext cx="2592000" cy="288000"/>
            </a:xfrm>
            <a:prstGeom prst="roundRect">
              <a:avLst>
                <a:gd name="adj" fmla="val 9391"/>
              </a:avLst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108000" bIns="0" rtlCol="0" anchor="ctr"/>
            <a:lstStyle/>
            <a:p>
              <a:pPr algn="ctr"/>
              <a:r>
                <a:rPr lang="ko-KR" altLang="en-US" sz="70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상품리뷰 더보기</a:t>
              </a:r>
              <a:endParaRPr lang="ko-KR" altLang="en-US" sz="7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365" name="TextBox 364">
              <a:extLst>
                <a:ext uri="{FF2B5EF4-FFF2-40B4-BE49-F238E27FC236}">
                  <a16:creationId xmlns="" xmlns:a16="http://schemas.microsoft.com/office/drawing/2014/main" id="{0C96C875-C47F-4F5B-B4C1-F9D666A7BD9D}"/>
                </a:ext>
              </a:extLst>
            </p:cNvPr>
            <p:cNvSpPr txBox="1"/>
            <p:nvPr/>
          </p:nvSpPr>
          <p:spPr>
            <a:xfrm rot="5400000">
              <a:off x="1964548" y="1880841"/>
              <a:ext cx="48090" cy="107722"/>
            </a:xfrm>
            <a:prstGeom prst="rect">
              <a:avLst/>
            </a:prstGeom>
            <a:noFill/>
            <a:ln w="3175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none" lIns="0" tIns="0" rIns="0" bIns="0" numCol="1" rtlCol="0" anchor="ctr" anchorCtr="0" compatLnSpc="1">
              <a:prstTxWarp prst="textNoShape">
                <a:avLst/>
              </a:prstTxWarp>
              <a:spAutoFit/>
            </a:bodyPr>
            <a:lstStyle/>
            <a:p>
              <a:r>
                <a:rPr lang="en-US" altLang="ko-KR" sz="700" b="1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〉</a:t>
              </a:r>
              <a:endParaRPr lang="ko-KR" altLang="en-US" sz="7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endParaRPr>
            </a:p>
          </p:txBody>
        </p:sp>
      </p:grpSp>
      <p:sp>
        <p:nvSpPr>
          <p:cNvPr id="4" name="TextBox 3"/>
          <p:cNvSpPr txBox="1"/>
          <p:nvPr/>
        </p:nvSpPr>
        <p:spPr>
          <a:xfrm>
            <a:off x="289179" y="1152847"/>
            <a:ext cx="483072" cy="195814"/>
          </a:xfrm>
          <a:prstGeom prst="rect">
            <a:avLst/>
          </a:prstGeom>
          <a:noFill/>
        </p:spPr>
        <p:txBody>
          <a:bodyPr wrap="none" lIns="36000" tIns="36000" rIns="36000" bIns="36000" rtlCol="0" anchor="ctr">
            <a:spAutoFit/>
          </a:bodyPr>
          <a:lstStyle/>
          <a:p>
            <a:r>
              <a:rPr lang="ko-KR" altLang="en-US" sz="8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상품정보</a:t>
            </a:r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79" name="TextBox 178"/>
          <p:cNvSpPr txBox="1"/>
          <p:nvPr/>
        </p:nvSpPr>
        <p:spPr>
          <a:xfrm>
            <a:off x="1596814" y="1152847"/>
            <a:ext cx="579252" cy="195814"/>
          </a:xfrm>
          <a:prstGeom prst="rect">
            <a:avLst/>
          </a:prstGeom>
          <a:noFill/>
        </p:spPr>
        <p:txBody>
          <a:bodyPr wrap="none" lIns="36000" tIns="36000" rIns="36000" bIns="36000" rtlCol="0" anchor="ctr">
            <a:spAutoFit/>
          </a:bodyPr>
          <a:lstStyle/>
          <a:p>
            <a:pPr algn="ctr"/>
            <a:r>
              <a:rPr lang="ko-KR" altLang="en-US" sz="800" b="1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리뷰 </a:t>
            </a:r>
            <a:r>
              <a:rPr lang="en-US" altLang="ko-KR" sz="800" b="1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1,234</a:t>
            </a:r>
            <a:endParaRPr lang="ko-KR" altLang="en-US" sz="800" b="1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81" name="TextBox 180"/>
          <p:cNvSpPr txBox="1"/>
          <p:nvPr/>
        </p:nvSpPr>
        <p:spPr>
          <a:xfrm>
            <a:off x="2398107" y="1152847"/>
            <a:ext cx="483072" cy="195814"/>
          </a:xfrm>
          <a:prstGeom prst="rect">
            <a:avLst/>
          </a:prstGeom>
          <a:noFill/>
        </p:spPr>
        <p:txBody>
          <a:bodyPr wrap="none" lIns="36000" tIns="36000" rIns="36000" bIns="36000" rtlCol="0" anchor="ctr">
            <a:spAutoFit/>
          </a:bodyPr>
          <a:lstStyle/>
          <a:p>
            <a:pPr algn="r"/>
            <a:r>
              <a:rPr lang="ko-KR" altLang="en-US" sz="8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상품추천</a:t>
            </a:r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83" name="TextBox 182"/>
          <p:cNvSpPr txBox="1"/>
          <p:nvPr/>
        </p:nvSpPr>
        <p:spPr>
          <a:xfrm>
            <a:off x="994292" y="1152847"/>
            <a:ext cx="380481" cy="195814"/>
          </a:xfrm>
          <a:prstGeom prst="rect">
            <a:avLst/>
          </a:prstGeom>
          <a:noFill/>
        </p:spPr>
        <p:txBody>
          <a:bodyPr wrap="none" lIns="36000" tIns="36000" rIns="36000" bIns="36000" rtlCol="0" anchor="ctr">
            <a:spAutoFit/>
          </a:bodyPr>
          <a:lstStyle/>
          <a:p>
            <a:pPr algn="ctr"/>
            <a:r>
              <a:rPr lang="ko-KR" altLang="en-US" sz="8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사이즈</a:t>
            </a:r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198" name="직선 연결선 197"/>
          <p:cNvCxnSpPr/>
          <p:nvPr/>
        </p:nvCxnSpPr>
        <p:spPr>
          <a:xfrm>
            <a:off x="1565311" y="1429700"/>
            <a:ext cx="64800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2" name="직사각형 221">
            <a:extLst>
              <a:ext uri="{FF2B5EF4-FFF2-40B4-BE49-F238E27FC236}">
                <a16:creationId xmlns:a16="http://schemas.microsoft.com/office/drawing/2014/main" xmlns="" id="{19FD5FA0-B111-4EF7-BC86-418441928DD3}"/>
              </a:ext>
            </a:extLst>
          </p:cNvPr>
          <p:cNvSpPr/>
          <p:nvPr/>
        </p:nvSpPr>
        <p:spPr>
          <a:xfrm>
            <a:off x="145179" y="2003318"/>
            <a:ext cx="2880000" cy="72000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>
              <a:solidFill>
                <a:prstClr val="black">
                  <a:lumMod val="75000"/>
                  <a:lumOff val="25000"/>
                </a:prst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223" name="TextBox 222">
            <a:extLst>
              <a:ext uri="{FF2B5EF4-FFF2-40B4-BE49-F238E27FC236}">
                <a16:creationId xmlns="" xmlns:a16="http://schemas.microsoft.com/office/drawing/2014/main" id="{0C96C875-C47F-4F5B-B4C1-F9D666A7BD9D}"/>
              </a:ext>
            </a:extLst>
          </p:cNvPr>
          <p:cNvSpPr txBox="1"/>
          <p:nvPr/>
        </p:nvSpPr>
        <p:spPr>
          <a:xfrm>
            <a:off x="289156" y="2158360"/>
            <a:ext cx="651388" cy="195814"/>
          </a:xfrm>
          <a:prstGeom prst="rect">
            <a:avLst/>
          </a:prstGeom>
          <a:noFill/>
          <a:ln w="317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36000" tIns="36000" rIns="36000" bIns="36000" numCol="1" rtlCol="0" anchor="ctr" anchorCtr="0" compatLnSpc="1">
            <a:prstTxWarp prst="textNoShape">
              <a:avLst/>
            </a:prstTxWarp>
            <a:spAutoFit/>
          </a:bodyPr>
          <a:lstStyle/>
          <a:p>
            <a:r>
              <a:rPr lang="ko-KR" altLang="en-US" sz="800" b="1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상품 </a:t>
            </a:r>
            <a:r>
              <a:rPr lang="en-US" altLang="ko-KR" sz="800" b="1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Q&amp;A 1</a:t>
            </a:r>
          </a:p>
        </p:txBody>
      </p:sp>
      <p:sp>
        <p:nvSpPr>
          <p:cNvPr id="225" name="TextBox 224">
            <a:extLst>
              <a:ext uri="{FF2B5EF4-FFF2-40B4-BE49-F238E27FC236}">
                <a16:creationId xmlns="" xmlns:a16="http://schemas.microsoft.com/office/drawing/2014/main" id="{0C96C875-C47F-4F5B-B4C1-F9D666A7BD9D}"/>
              </a:ext>
            </a:extLst>
          </p:cNvPr>
          <p:cNvSpPr txBox="1"/>
          <p:nvPr/>
        </p:nvSpPr>
        <p:spPr>
          <a:xfrm>
            <a:off x="2230125" y="2163697"/>
            <a:ext cx="650819" cy="180425"/>
          </a:xfrm>
          <a:prstGeom prst="rect">
            <a:avLst/>
          </a:prstGeom>
          <a:noFill/>
          <a:ln w="317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0" tIns="36000" rIns="0" bIns="36000" numCol="1" rtlCol="0" anchor="ctr" anchorCtr="0" compatLnSpc="1">
            <a:prstTxWarp prst="textNoShape">
              <a:avLst/>
            </a:prstTxWarp>
            <a:spAutoFit/>
          </a:bodyPr>
          <a:lstStyle/>
          <a:p>
            <a:pPr algn="r"/>
            <a:r>
              <a:rPr lang="ko-KR" altLang="en-US" sz="700" smtClean="0">
                <a:solidFill>
                  <a:schemeClr val="tx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</a:rPr>
              <a:t>상품</a:t>
            </a:r>
            <a:r>
              <a:rPr lang="en-US" altLang="ko-KR" sz="700" smtClean="0">
                <a:solidFill>
                  <a:schemeClr val="tx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</a:rPr>
              <a:t> </a:t>
            </a:r>
            <a:r>
              <a:rPr lang="ko-KR" altLang="en-US" sz="700" smtClean="0">
                <a:solidFill>
                  <a:schemeClr val="tx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</a:rPr>
              <a:t>문의하기 </a:t>
            </a:r>
            <a:r>
              <a:rPr lang="en-US" altLang="ko-KR" sz="700" smtClean="0">
                <a:solidFill>
                  <a:schemeClr val="tx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</a:rPr>
              <a:t>〉</a:t>
            </a:r>
            <a:endParaRPr lang="ko-KR" altLang="en-US" sz="700" dirty="0">
              <a:solidFill>
                <a:schemeClr val="tx1">
                  <a:lumMod val="50000"/>
                  <a:lumOff val="50000"/>
                </a:schemeClr>
              </a:solidFill>
              <a:latin typeface="맑은 고딕" panose="020B0503020000020004" pitchFamily="50" charset="-127"/>
            </a:endParaRPr>
          </a:p>
        </p:txBody>
      </p:sp>
      <p:grpSp>
        <p:nvGrpSpPr>
          <p:cNvPr id="23" name="그룹 22"/>
          <p:cNvGrpSpPr/>
          <p:nvPr/>
        </p:nvGrpSpPr>
        <p:grpSpPr>
          <a:xfrm>
            <a:off x="288944" y="2506081"/>
            <a:ext cx="180000" cy="180000"/>
            <a:chOff x="536448" y="2653406"/>
            <a:chExt cx="180000" cy="180000"/>
          </a:xfrm>
        </p:grpSpPr>
        <p:sp>
          <p:nvSpPr>
            <p:cNvPr id="22" name="모서리가 둥근 직사각형 21"/>
            <p:cNvSpPr/>
            <p:nvPr/>
          </p:nvSpPr>
          <p:spPr>
            <a:xfrm>
              <a:off x="536448" y="2653406"/>
              <a:ext cx="180000" cy="180000"/>
            </a:xfrm>
            <a:prstGeom prst="roundRect">
              <a:avLst/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8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226" name="Accept"/>
            <p:cNvSpPr>
              <a:spLocks noChangeAspect="1"/>
            </p:cNvSpPr>
            <p:nvPr/>
          </p:nvSpPr>
          <p:spPr bwMode="auto">
            <a:xfrm>
              <a:off x="572448" y="2695482"/>
              <a:ext cx="108000" cy="95849"/>
            </a:xfrm>
            <a:custGeom>
              <a:avLst/>
              <a:gdLst>
                <a:gd name="T0" fmla="*/ 504 w 525"/>
                <a:gd name="T1" fmla="*/ 3 h 467"/>
                <a:gd name="T2" fmla="*/ 495 w 525"/>
                <a:gd name="T3" fmla="*/ 9 h 467"/>
                <a:gd name="T4" fmla="*/ 223 w 525"/>
                <a:gd name="T5" fmla="*/ 431 h 467"/>
                <a:gd name="T6" fmla="*/ 35 w 525"/>
                <a:gd name="T7" fmla="*/ 262 h 467"/>
                <a:gd name="T8" fmla="*/ 18 w 525"/>
                <a:gd name="T9" fmla="*/ 282 h 467"/>
                <a:gd name="T10" fmla="*/ 217 w 525"/>
                <a:gd name="T11" fmla="*/ 462 h 467"/>
                <a:gd name="T12" fmla="*/ 237 w 525"/>
                <a:gd name="T13" fmla="*/ 459 h 467"/>
                <a:gd name="T14" fmla="*/ 518 w 525"/>
                <a:gd name="T15" fmla="*/ 23 h 467"/>
                <a:gd name="T16" fmla="*/ 504 w 525"/>
                <a:gd name="T17" fmla="*/ 3 h 4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25" h="467">
                  <a:moveTo>
                    <a:pt x="504" y="3"/>
                  </a:moveTo>
                  <a:cubicBezTo>
                    <a:pt x="500" y="3"/>
                    <a:pt x="497" y="6"/>
                    <a:pt x="495" y="9"/>
                  </a:cubicBezTo>
                  <a:lnTo>
                    <a:pt x="223" y="431"/>
                  </a:lnTo>
                  <a:lnTo>
                    <a:pt x="35" y="262"/>
                  </a:lnTo>
                  <a:cubicBezTo>
                    <a:pt x="22" y="245"/>
                    <a:pt x="0" y="271"/>
                    <a:pt x="18" y="282"/>
                  </a:cubicBezTo>
                  <a:lnTo>
                    <a:pt x="217" y="462"/>
                  </a:lnTo>
                  <a:cubicBezTo>
                    <a:pt x="223" y="467"/>
                    <a:pt x="232" y="466"/>
                    <a:pt x="237" y="459"/>
                  </a:cubicBezTo>
                  <a:lnTo>
                    <a:pt x="518" y="23"/>
                  </a:lnTo>
                  <a:cubicBezTo>
                    <a:pt x="525" y="13"/>
                    <a:pt x="515" y="0"/>
                    <a:pt x="504" y="3"/>
                  </a:cubicBezTo>
                  <a:close/>
                </a:path>
              </a:pathLst>
            </a:custGeom>
            <a:solidFill>
              <a:schemeClr val="bg1">
                <a:lumMod val="7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sp>
        <p:nvSpPr>
          <p:cNvPr id="25" name="TextBox 24"/>
          <p:cNvSpPr txBox="1"/>
          <p:nvPr/>
        </p:nvSpPr>
        <p:spPr>
          <a:xfrm>
            <a:off x="469497" y="2506081"/>
            <a:ext cx="589956" cy="180425"/>
          </a:xfrm>
          <a:prstGeom prst="rect">
            <a:avLst/>
          </a:prstGeom>
          <a:noFill/>
        </p:spPr>
        <p:txBody>
          <a:bodyPr wrap="none" lIns="72000" tIns="36000" rIns="36000" bIns="36000" rtlCol="0" anchor="ctr">
            <a:spAutoFit/>
          </a:bodyPr>
          <a:lstStyle/>
          <a:p>
            <a:r>
              <a:rPr lang="ko-KR" altLang="en-US" sz="7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비밀글 제외</a:t>
            </a:r>
            <a:endParaRPr lang="ko-KR" altLang="en-US" sz="7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31" name="TextBox 230"/>
          <p:cNvSpPr txBox="1"/>
          <p:nvPr/>
        </p:nvSpPr>
        <p:spPr>
          <a:xfrm>
            <a:off x="288944" y="2755827"/>
            <a:ext cx="1958920" cy="288147"/>
          </a:xfrm>
          <a:prstGeom prst="rect">
            <a:avLst/>
          </a:prstGeom>
          <a:noFill/>
        </p:spPr>
        <p:txBody>
          <a:bodyPr wrap="none" lIns="72000" tIns="36000" rIns="36000" bIns="36000" rtlCol="0" anchor="ctr">
            <a:spAutoFit/>
          </a:bodyPr>
          <a:lstStyle/>
          <a:p>
            <a:r>
              <a:rPr lang="ko-KR" altLang="en-US" sz="7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드라이클리닝을 꼭 해야 하나요</a:t>
            </a:r>
            <a:r>
              <a:rPr lang="en-US" altLang="ko-KR" sz="7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?</a:t>
            </a:r>
          </a:p>
          <a:p>
            <a:r>
              <a:rPr lang="ko-KR" altLang="en-US" sz="7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울세제로 집에서 단독 손세탁 할 수 있을까요</a:t>
            </a:r>
            <a:r>
              <a:rPr lang="en-US" altLang="ko-KR" sz="7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?</a:t>
            </a:r>
            <a:endParaRPr lang="ko-KR" altLang="en-US" sz="7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32" name="TextBox 231">
            <a:extLst>
              <a:ext uri="{FF2B5EF4-FFF2-40B4-BE49-F238E27FC236}">
                <a16:creationId xmlns="" xmlns:a16="http://schemas.microsoft.com/office/drawing/2014/main" id="{0C96C875-C47F-4F5B-B4C1-F9D666A7BD9D}"/>
              </a:ext>
            </a:extLst>
          </p:cNvPr>
          <p:cNvSpPr txBox="1"/>
          <p:nvPr/>
        </p:nvSpPr>
        <p:spPr>
          <a:xfrm rot="5400000">
            <a:off x="2803038" y="2846113"/>
            <a:ext cx="48090" cy="107722"/>
          </a:xfrm>
          <a:prstGeom prst="rect">
            <a:avLst/>
          </a:prstGeom>
          <a:noFill/>
          <a:ln w="317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0" tIns="0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altLang="ko-KR" sz="700" b="1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〉</a:t>
            </a:r>
            <a:endParaRPr lang="ko-KR" altLang="en-US" sz="700" b="1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235" name="TextBox 234"/>
          <p:cNvSpPr txBox="1"/>
          <p:nvPr/>
        </p:nvSpPr>
        <p:spPr>
          <a:xfrm>
            <a:off x="288944" y="3113906"/>
            <a:ext cx="1085284" cy="180425"/>
          </a:xfrm>
          <a:prstGeom prst="rect">
            <a:avLst/>
          </a:prstGeom>
          <a:noFill/>
        </p:spPr>
        <p:txBody>
          <a:bodyPr wrap="none" lIns="72000" tIns="36000" rIns="36000" bIns="36000" rtlCol="0" anchor="ctr">
            <a:spAutoFit/>
          </a:bodyPr>
          <a:lstStyle/>
          <a:p>
            <a:r>
              <a:rPr lang="en-US" altLang="ko-KR" sz="700" smtClean="0">
                <a:solidFill>
                  <a:schemeClr val="tx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2025-12-26 </a:t>
            </a:r>
            <a:r>
              <a:rPr lang="ko-KR" altLang="en-US" sz="700" smtClean="0">
                <a:solidFill>
                  <a:schemeClr val="tx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│ </a:t>
            </a:r>
            <a:r>
              <a:rPr lang="en-US" altLang="ko-KR" sz="700" smtClean="0">
                <a:solidFill>
                  <a:schemeClr val="tx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abcd****</a:t>
            </a:r>
            <a:endParaRPr lang="ko-KR" altLang="en-US" sz="700" dirty="0">
              <a:solidFill>
                <a:schemeClr val="tx1">
                  <a:lumMod val="50000"/>
                  <a:lumOff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36" name="TextBox 235"/>
          <p:cNvSpPr txBox="1"/>
          <p:nvPr/>
        </p:nvSpPr>
        <p:spPr>
          <a:xfrm>
            <a:off x="2412817" y="3113906"/>
            <a:ext cx="468127" cy="180425"/>
          </a:xfrm>
          <a:prstGeom prst="rect">
            <a:avLst/>
          </a:prstGeom>
          <a:noFill/>
        </p:spPr>
        <p:txBody>
          <a:bodyPr wrap="none" lIns="72000" tIns="36000" rIns="36000" bIns="36000" rtlCol="0" anchor="ctr">
            <a:spAutoFit/>
          </a:bodyPr>
          <a:lstStyle/>
          <a:p>
            <a:pPr algn="r"/>
            <a:r>
              <a:rPr lang="ko-KR" altLang="en-US" sz="700" b="1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답변완료</a:t>
            </a:r>
            <a:endParaRPr lang="ko-KR" altLang="en-US" sz="700" b="1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237" name="직선 연결선 236"/>
          <p:cNvCxnSpPr/>
          <p:nvPr/>
        </p:nvCxnSpPr>
        <p:spPr>
          <a:xfrm>
            <a:off x="145179" y="3365906"/>
            <a:ext cx="2880000" cy="0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2" name="TextBox 241"/>
          <p:cNvSpPr txBox="1"/>
          <p:nvPr/>
        </p:nvSpPr>
        <p:spPr>
          <a:xfrm>
            <a:off x="288944" y="3436141"/>
            <a:ext cx="647664" cy="180425"/>
          </a:xfrm>
          <a:prstGeom prst="rect">
            <a:avLst/>
          </a:prstGeom>
          <a:noFill/>
        </p:spPr>
        <p:txBody>
          <a:bodyPr wrap="none" lIns="72000" tIns="36000" rIns="36000" bIns="36000" rtlCol="0" anchor="ctr">
            <a:spAutoFit/>
          </a:bodyPr>
          <a:lstStyle/>
          <a:p>
            <a:r>
              <a:rPr lang="ko-KR" altLang="en-US" sz="700" b="1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상품정보고시</a:t>
            </a:r>
            <a:endParaRPr lang="ko-KR" altLang="en-US" sz="700" b="1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244" name="직선 연결선 243"/>
          <p:cNvCxnSpPr/>
          <p:nvPr/>
        </p:nvCxnSpPr>
        <p:spPr>
          <a:xfrm>
            <a:off x="145179" y="3688141"/>
            <a:ext cx="2880000" cy="0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0" name="TextBox 269"/>
          <p:cNvSpPr txBox="1"/>
          <p:nvPr/>
        </p:nvSpPr>
        <p:spPr>
          <a:xfrm>
            <a:off x="288944" y="3758376"/>
            <a:ext cx="873688" cy="180425"/>
          </a:xfrm>
          <a:prstGeom prst="rect">
            <a:avLst/>
          </a:prstGeom>
          <a:noFill/>
        </p:spPr>
        <p:txBody>
          <a:bodyPr wrap="none" lIns="72000" tIns="36000" rIns="36000" bIns="36000" rtlCol="0" anchor="ctr">
            <a:spAutoFit/>
          </a:bodyPr>
          <a:lstStyle/>
          <a:p>
            <a:r>
              <a:rPr lang="ko-KR" altLang="en-US" sz="700" b="1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배송</a:t>
            </a:r>
            <a:r>
              <a:rPr lang="en-US" altLang="ko-KR" sz="700" b="1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</a:t>
            </a:r>
            <a:r>
              <a:rPr lang="ko-KR" altLang="en-US" sz="700" b="1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교환</a:t>
            </a:r>
            <a:r>
              <a:rPr lang="en-US" altLang="ko-KR" sz="700" b="1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</a:t>
            </a:r>
            <a:r>
              <a:rPr lang="ko-KR" altLang="en-US" sz="700" b="1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환불</a:t>
            </a:r>
            <a:r>
              <a:rPr lang="en-US" altLang="ko-KR" sz="700" b="1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,A/S</a:t>
            </a:r>
            <a:endParaRPr lang="ko-KR" altLang="en-US" sz="700" b="1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08" name="TextBox 307">
            <a:extLst>
              <a:ext uri="{FF2B5EF4-FFF2-40B4-BE49-F238E27FC236}">
                <a16:creationId xmlns="" xmlns:a16="http://schemas.microsoft.com/office/drawing/2014/main" id="{0C96C875-C47F-4F5B-B4C1-F9D666A7BD9D}"/>
              </a:ext>
            </a:extLst>
          </p:cNvPr>
          <p:cNvSpPr txBox="1"/>
          <p:nvPr/>
        </p:nvSpPr>
        <p:spPr>
          <a:xfrm>
            <a:off x="2832643" y="3436353"/>
            <a:ext cx="48090" cy="180425"/>
          </a:xfrm>
          <a:prstGeom prst="rect">
            <a:avLst/>
          </a:prstGeom>
          <a:noFill/>
          <a:ln w="317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0" tIns="36000" rIns="0" bIns="36000" numCol="1" rtlCol="0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altLang="ko-KR" sz="700" b="1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〉</a:t>
            </a:r>
            <a:endParaRPr lang="ko-KR" altLang="en-US" sz="700" b="1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309" name="TextBox 308">
            <a:extLst>
              <a:ext uri="{FF2B5EF4-FFF2-40B4-BE49-F238E27FC236}">
                <a16:creationId xmlns="" xmlns:a16="http://schemas.microsoft.com/office/drawing/2014/main" id="{0C96C875-C47F-4F5B-B4C1-F9D666A7BD9D}"/>
              </a:ext>
            </a:extLst>
          </p:cNvPr>
          <p:cNvSpPr txBox="1"/>
          <p:nvPr/>
        </p:nvSpPr>
        <p:spPr>
          <a:xfrm>
            <a:off x="2832643" y="3758376"/>
            <a:ext cx="48090" cy="180425"/>
          </a:xfrm>
          <a:prstGeom prst="rect">
            <a:avLst/>
          </a:prstGeom>
          <a:noFill/>
          <a:ln w="317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0" tIns="36000" rIns="0" bIns="36000" numCol="1" rtlCol="0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altLang="ko-KR" sz="700" b="1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〉</a:t>
            </a:r>
            <a:endParaRPr lang="ko-KR" altLang="en-US" sz="700" b="1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</a:endParaRPr>
          </a:p>
        </p:txBody>
      </p:sp>
      <p:cxnSp>
        <p:nvCxnSpPr>
          <p:cNvPr id="313" name="직선 연결선 312"/>
          <p:cNvCxnSpPr/>
          <p:nvPr/>
        </p:nvCxnSpPr>
        <p:spPr>
          <a:xfrm>
            <a:off x="145179" y="4010801"/>
            <a:ext cx="2880000" cy="0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3" name="TextBox 322">
            <a:extLst>
              <a:ext uri="{FF2B5EF4-FFF2-40B4-BE49-F238E27FC236}">
                <a16:creationId xmlns="" xmlns:a16="http://schemas.microsoft.com/office/drawing/2014/main" id="{0C96C875-C47F-4F5B-B4C1-F9D666A7BD9D}"/>
              </a:ext>
            </a:extLst>
          </p:cNvPr>
          <p:cNvSpPr txBox="1"/>
          <p:nvPr/>
        </p:nvSpPr>
        <p:spPr>
          <a:xfrm>
            <a:off x="289156" y="4094966"/>
            <a:ext cx="1108243" cy="195814"/>
          </a:xfrm>
          <a:prstGeom prst="rect">
            <a:avLst/>
          </a:prstGeom>
          <a:noFill/>
          <a:ln w="317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36000" tIns="36000" rIns="36000" bIns="36000" numCol="1" rtlCol="0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altLang="ko-KR" sz="800" b="1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AI</a:t>
            </a:r>
            <a:r>
              <a:rPr lang="ko-KR" altLang="en-US" sz="800" b="1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가 추천한 코디 상품</a:t>
            </a:r>
            <a:endParaRPr lang="en-US" altLang="ko-KR" sz="800" b="1" smtClean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345" name="직사각형 344">
            <a:extLst>
              <a:ext uri="{FF2B5EF4-FFF2-40B4-BE49-F238E27FC236}">
                <a16:creationId xmlns:a16="http://schemas.microsoft.com/office/drawing/2014/main" xmlns="" id="{19FD5FA0-B111-4EF7-BC86-418441928DD3}"/>
              </a:ext>
            </a:extLst>
          </p:cNvPr>
          <p:cNvSpPr/>
          <p:nvPr/>
        </p:nvSpPr>
        <p:spPr>
          <a:xfrm>
            <a:off x="288944" y="4370372"/>
            <a:ext cx="540000" cy="720000"/>
          </a:xfrm>
          <a:prstGeom prst="rect">
            <a:avLst/>
          </a:prstGeom>
          <a:pattFill prst="openDmnd">
            <a:fgClr>
              <a:schemeClr val="bg1">
                <a:lumMod val="85000"/>
              </a:schemeClr>
            </a:fgClr>
            <a:bgClr>
              <a:schemeClr val="bg1"/>
            </a:bgClr>
          </a:patt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ko-KR" altLang="en-US" sz="60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84" name="TextBox 83">
            <a:extLst>
              <a:ext uri="{FF2B5EF4-FFF2-40B4-BE49-F238E27FC236}">
                <a16:creationId xmlns="" xmlns:a16="http://schemas.microsoft.com/office/drawing/2014/main" id="{0C96C875-C47F-4F5B-B4C1-F9D666A7BD9D}"/>
              </a:ext>
            </a:extLst>
          </p:cNvPr>
          <p:cNvSpPr txBox="1"/>
          <p:nvPr/>
        </p:nvSpPr>
        <p:spPr>
          <a:xfrm>
            <a:off x="829615" y="4370372"/>
            <a:ext cx="2052000" cy="415498"/>
          </a:xfrm>
          <a:prstGeom prst="rect">
            <a:avLst/>
          </a:prstGeom>
          <a:noFill/>
          <a:ln w="317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square" lIns="108000" tIns="0" rIns="3600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6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HAZZYS LADIES</a:t>
            </a:r>
          </a:p>
          <a:p>
            <a:pPr>
              <a:lnSpc>
                <a:spcPct val="150000"/>
              </a:lnSpc>
            </a:pPr>
            <a:r>
              <a:rPr lang="en-US" altLang="ko-KR" sz="6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[</a:t>
            </a:r>
            <a:r>
              <a:rPr lang="ko-KR" altLang="en-US" sz="6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시즌오프</a:t>
            </a:r>
            <a:r>
              <a:rPr lang="en-US" altLang="ko-KR" sz="6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][</a:t>
            </a:r>
            <a:r>
              <a:rPr lang="ko-KR" altLang="en-US" sz="6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인기급상승</a:t>
            </a:r>
            <a:r>
              <a:rPr lang="en-US" altLang="ko-KR" sz="6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] </a:t>
            </a:r>
            <a:r>
              <a:rPr lang="ko-KR" altLang="en-US" sz="6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다이아 패턴 구스 다운 점퍼 </a:t>
            </a:r>
            <a:r>
              <a:rPr lang="ko-KR" altLang="en-US" sz="6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블랙</a:t>
            </a:r>
            <a:endParaRPr lang="en-US" altLang="ko-KR" sz="600" smtClean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85" name="직사각형 84">
            <a:extLst>
              <a:ext uri="{FF2B5EF4-FFF2-40B4-BE49-F238E27FC236}">
                <a16:creationId xmlns:a16="http://schemas.microsoft.com/office/drawing/2014/main" xmlns="" id="{19FD5FA0-B111-4EF7-BC86-418441928DD3}"/>
              </a:ext>
            </a:extLst>
          </p:cNvPr>
          <p:cNvSpPr/>
          <p:nvPr/>
        </p:nvSpPr>
        <p:spPr>
          <a:xfrm>
            <a:off x="288944" y="4946372"/>
            <a:ext cx="540000" cy="144000"/>
          </a:xfrm>
          <a:prstGeom prst="rect">
            <a:avLst/>
          </a:prstGeom>
          <a:solidFill>
            <a:schemeClr val="tx1">
              <a:lumMod val="75000"/>
              <a:lumOff val="25000"/>
              <a:alpha val="9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600" smtClean="0">
                <a:solidFill>
                  <a:schemeClr val="bg1"/>
                </a:solidFill>
                <a:latin typeface="맑은 고딕" panose="020B0503020000020004" pitchFamily="50" charset="-127"/>
              </a:rPr>
              <a:t>현재상품</a:t>
            </a:r>
            <a:endParaRPr lang="ko-KR" altLang="en-US" sz="600">
              <a:solidFill>
                <a:schemeClr val="bg1"/>
              </a:solidFill>
              <a:latin typeface="맑은 고딕" panose="020B0503020000020004" pitchFamily="50" charset="-127"/>
            </a:endParaRPr>
          </a:p>
        </p:txBody>
      </p:sp>
      <p:sp>
        <p:nvSpPr>
          <p:cNvPr id="86" name="TextBox 85"/>
          <p:cNvSpPr txBox="1"/>
          <p:nvPr/>
        </p:nvSpPr>
        <p:spPr>
          <a:xfrm>
            <a:off x="2332667" y="4100303"/>
            <a:ext cx="548277" cy="180425"/>
          </a:xfrm>
          <a:prstGeom prst="rect">
            <a:avLst/>
          </a:prstGeom>
          <a:noFill/>
        </p:spPr>
        <p:txBody>
          <a:bodyPr wrap="none" lIns="72000" tIns="36000" rIns="36000" bIns="36000" rtlCol="0" anchor="ctr">
            <a:spAutoFit/>
          </a:bodyPr>
          <a:lstStyle/>
          <a:p>
            <a:pPr algn="r"/>
            <a:r>
              <a:rPr lang="ko-KR" altLang="en-US" sz="7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전체보기 </a:t>
            </a:r>
            <a:r>
              <a:rPr lang="en-US" altLang="ko-KR" sz="7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〉</a:t>
            </a:r>
            <a:endParaRPr lang="ko-KR" altLang="en-US" sz="7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9" name="직사각형 88">
            <a:extLst>
              <a:ext uri="{FF2B5EF4-FFF2-40B4-BE49-F238E27FC236}">
                <a16:creationId xmlns:a16="http://schemas.microsoft.com/office/drawing/2014/main" xmlns="" id="{19FD5FA0-B111-4EF7-BC86-418441928DD3}"/>
              </a:ext>
            </a:extLst>
          </p:cNvPr>
          <p:cNvSpPr/>
          <p:nvPr/>
        </p:nvSpPr>
        <p:spPr>
          <a:xfrm>
            <a:off x="288944" y="5233560"/>
            <a:ext cx="792000" cy="1080000"/>
          </a:xfrm>
          <a:prstGeom prst="rect">
            <a:avLst/>
          </a:prstGeom>
          <a:pattFill prst="openDmnd">
            <a:fgClr>
              <a:schemeClr val="bg1">
                <a:lumMod val="85000"/>
              </a:schemeClr>
            </a:fgClr>
            <a:bgClr>
              <a:schemeClr val="bg1"/>
            </a:bgClr>
          </a:patt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ko-KR" altLang="en-US" sz="60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92" name="직사각형 91">
            <a:extLst>
              <a:ext uri="{FF2B5EF4-FFF2-40B4-BE49-F238E27FC236}">
                <a16:creationId xmlns:a16="http://schemas.microsoft.com/office/drawing/2014/main" xmlns="" id="{19FD5FA0-B111-4EF7-BC86-418441928DD3}"/>
              </a:ext>
            </a:extLst>
          </p:cNvPr>
          <p:cNvSpPr/>
          <p:nvPr/>
        </p:nvSpPr>
        <p:spPr>
          <a:xfrm>
            <a:off x="1189179" y="5233560"/>
            <a:ext cx="792000" cy="1080000"/>
          </a:xfrm>
          <a:prstGeom prst="rect">
            <a:avLst/>
          </a:prstGeom>
          <a:pattFill prst="openDmnd">
            <a:fgClr>
              <a:schemeClr val="bg1">
                <a:lumMod val="85000"/>
              </a:schemeClr>
            </a:fgClr>
            <a:bgClr>
              <a:schemeClr val="bg1"/>
            </a:bgClr>
          </a:patt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ko-KR" altLang="en-US" sz="60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93" name="직사각형 92">
            <a:extLst>
              <a:ext uri="{FF2B5EF4-FFF2-40B4-BE49-F238E27FC236}">
                <a16:creationId xmlns:a16="http://schemas.microsoft.com/office/drawing/2014/main" xmlns="" id="{19FD5FA0-B111-4EF7-BC86-418441928DD3}"/>
              </a:ext>
            </a:extLst>
          </p:cNvPr>
          <p:cNvSpPr/>
          <p:nvPr/>
        </p:nvSpPr>
        <p:spPr>
          <a:xfrm>
            <a:off x="2089179" y="5233560"/>
            <a:ext cx="792000" cy="1080000"/>
          </a:xfrm>
          <a:prstGeom prst="rect">
            <a:avLst/>
          </a:prstGeom>
          <a:pattFill prst="openDmnd">
            <a:fgClr>
              <a:schemeClr val="bg1">
                <a:lumMod val="85000"/>
              </a:schemeClr>
            </a:fgClr>
            <a:bgClr>
              <a:schemeClr val="bg1"/>
            </a:bgClr>
          </a:patt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ko-KR" altLang="en-US" sz="60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5" name="모서리가 둥근 직사각형 4"/>
          <p:cNvSpPr/>
          <p:nvPr/>
        </p:nvSpPr>
        <p:spPr>
          <a:xfrm>
            <a:off x="145179" y="3688423"/>
            <a:ext cx="2879531" cy="322374"/>
          </a:xfrm>
          <a:prstGeom prst="roundRect">
            <a:avLst/>
          </a:prstGeom>
          <a:noFill/>
          <a:ln w="6350">
            <a:solidFill>
              <a:schemeClr val="accent2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0" name="TextBox 99">
            <a:extLst>
              <a:ext uri="{FF2B5EF4-FFF2-40B4-BE49-F238E27FC236}">
                <a16:creationId xmlns="" xmlns:a16="http://schemas.microsoft.com/office/drawing/2014/main" id="{0C96C875-C47F-4F5B-B4C1-F9D666A7BD9D}"/>
              </a:ext>
            </a:extLst>
          </p:cNvPr>
          <p:cNvSpPr txBox="1"/>
          <p:nvPr/>
        </p:nvSpPr>
        <p:spPr>
          <a:xfrm>
            <a:off x="4968164" y="858457"/>
            <a:ext cx="1326251" cy="211203"/>
          </a:xfrm>
          <a:prstGeom prst="rect">
            <a:avLst/>
          </a:prstGeom>
          <a:noFill/>
          <a:ln w="317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36000" tIns="36000" rIns="36000" bIns="36000" numCol="1" rtlCol="0" anchor="ctr" anchorCtr="0" compatLnSpc="1">
            <a:prstTxWarp prst="textNoShape">
              <a:avLst/>
            </a:prstTxWarp>
            <a:spAutoFit/>
          </a:bodyPr>
          <a:lstStyle/>
          <a:p>
            <a:r>
              <a:rPr lang="ko-KR" altLang="en-US" sz="900" b="1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배송</a:t>
            </a:r>
            <a:r>
              <a:rPr lang="en-US" altLang="ko-KR" sz="900" b="1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,</a:t>
            </a:r>
            <a:r>
              <a:rPr lang="ko-KR" altLang="en-US" sz="900" b="1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교환</a:t>
            </a:r>
            <a:r>
              <a:rPr lang="en-US" altLang="ko-KR" sz="900" b="1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,</a:t>
            </a:r>
            <a:r>
              <a:rPr lang="ko-KR" altLang="en-US" sz="900" b="1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환불</a:t>
            </a:r>
            <a:r>
              <a:rPr lang="en-US" altLang="ko-KR" sz="900" b="1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,A/S </a:t>
            </a:r>
            <a:r>
              <a:rPr lang="ko-KR" altLang="en-US" sz="900" b="1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안내</a:t>
            </a:r>
            <a:endParaRPr lang="en-US" altLang="ko-KR" sz="900" b="1" smtClean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102" name="Delete"/>
          <p:cNvSpPr>
            <a:spLocks noChangeAspect="1"/>
          </p:cNvSpPr>
          <p:nvPr/>
        </p:nvSpPr>
        <p:spPr bwMode="auto">
          <a:xfrm>
            <a:off x="7416195" y="889705"/>
            <a:ext cx="143992" cy="143991"/>
          </a:xfrm>
          <a:custGeom>
            <a:avLst/>
            <a:gdLst>
              <a:gd name="T0" fmla="*/ 3 w 77"/>
              <a:gd name="T1" fmla="*/ 0 h 77"/>
              <a:gd name="T2" fmla="*/ 0 w 77"/>
              <a:gd name="T3" fmla="*/ 3 h 77"/>
              <a:gd name="T4" fmla="*/ 36 w 77"/>
              <a:gd name="T5" fmla="*/ 38 h 77"/>
              <a:gd name="T6" fmla="*/ 0 w 77"/>
              <a:gd name="T7" fmla="*/ 74 h 77"/>
              <a:gd name="T8" fmla="*/ 3 w 77"/>
              <a:gd name="T9" fmla="*/ 77 h 77"/>
              <a:gd name="T10" fmla="*/ 39 w 77"/>
              <a:gd name="T11" fmla="*/ 41 h 77"/>
              <a:gd name="T12" fmla="*/ 74 w 77"/>
              <a:gd name="T13" fmla="*/ 77 h 77"/>
              <a:gd name="T14" fmla="*/ 77 w 77"/>
              <a:gd name="T15" fmla="*/ 74 h 77"/>
              <a:gd name="T16" fmla="*/ 42 w 77"/>
              <a:gd name="T17" fmla="*/ 38 h 77"/>
              <a:gd name="T18" fmla="*/ 77 w 77"/>
              <a:gd name="T19" fmla="*/ 3 h 77"/>
              <a:gd name="T20" fmla="*/ 74 w 77"/>
              <a:gd name="T21" fmla="*/ 0 h 77"/>
              <a:gd name="T22" fmla="*/ 39 w 77"/>
              <a:gd name="T23" fmla="*/ 35 h 77"/>
              <a:gd name="T24" fmla="*/ 3 w 77"/>
              <a:gd name="T25" fmla="*/ 0 h 7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77" h="77">
                <a:moveTo>
                  <a:pt x="3" y="0"/>
                </a:moveTo>
                <a:lnTo>
                  <a:pt x="0" y="3"/>
                </a:lnTo>
                <a:lnTo>
                  <a:pt x="36" y="38"/>
                </a:lnTo>
                <a:lnTo>
                  <a:pt x="0" y="74"/>
                </a:lnTo>
                <a:lnTo>
                  <a:pt x="3" y="77"/>
                </a:lnTo>
                <a:lnTo>
                  <a:pt x="39" y="41"/>
                </a:lnTo>
                <a:lnTo>
                  <a:pt x="74" y="77"/>
                </a:lnTo>
                <a:lnTo>
                  <a:pt x="77" y="74"/>
                </a:lnTo>
                <a:lnTo>
                  <a:pt x="42" y="38"/>
                </a:lnTo>
                <a:lnTo>
                  <a:pt x="77" y="3"/>
                </a:lnTo>
                <a:lnTo>
                  <a:pt x="74" y="0"/>
                </a:lnTo>
                <a:lnTo>
                  <a:pt x="39" y="35"/>
                </a:lnTo>
                <a:lnTo>
                  <a:pt x="3" y="0"/>
                </a:lnTo>
                <a:close/>
              </a:path>
            </a:pathLst>
          </a:custGeom>
          <a:solidFill>
            <a:srgbClr val="5F5F5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80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06" name="TextBox 105">
            <a:extLst>
              <a:ext uri="{FF2B5EF4-FFF2-40B4-BE49-F238E27FC236}">
                <a16:creationId xmlns="" xmlns:a16="http://schemas.microsoft.com/office/drawing/2014/main" id="{0C96C875-C47F-4F5B-B4C1-F9D666A7BD9D}"/>
              </a:ext>
            </a:extLst>
          </p:cNvPr>
          <p:cNvSpPr txBox="1"/>
          <p:nvPr/>
        </p:nvSpPr>
        <p:spPr>
          <a:xfrm>
            <a:off x="4968164" y="1297737"/>
            <a:ext cx="277888" cy="195814"/>
          </a:xfrm>
          <a:prstGeom prst="rect">
            <a:avLst/>
          </a:prstGeom>
          <a:noFill/>
          <a:ln w="317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36000" tIns="36000" rIns="36000" bIns="36000" numCol="1" rtlCol="0" anchor="ctr" anchorCtr="0" compatLnSpc="1">
            <a:prstTxWarp prst="textNoShape">
              <a:avLst/>
            </a:prstTxWarp>
            <a:spAutoFit/>
          </a:bodyPr>
          <a:lstStyle/>
          <a:p>
            <a:r>
              <a:rPr lang="ko-KR" altLang="en-US" sz="800" b="1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배송</a:t>
            </a:r>
            <a:endParaRPr lang="en-US" altLang="ko-KR" sz="800" b="1" smtClean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</a:endParaRPr>
          </a:p>
        </p:txBody>
      </p:sp>
      <p:cxnSp>
        <p:nvCxnSpPr>
          <p:cNvPr id="109" name="직선 연결선 108"/>
          <p:cNvCxnSpPr/>
          <p:nvPr/>
        </p:nvCxnSpPr>
        <p:spPr>
          <a:xfrm>
            <a:off x="4968163" y="1573286"/>
            <a:ext cx="2592000" cy="0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1" name="TextBox 110">
            <a:extLst>
              <a:ext uri="{FF2B5EF4-FFF2-40B4-BE49-F238E27FC236}">
                <a16:creationId xmlns="" xmlns:a16="http://schemas.microsoft.com/office/drawing/2014/main" id="{0C96C875-C47F-4F5B-B4C1-F9D666A7BD9D}"/>
              </a:ext>
            </a:extLst>
          </p:cNvPr>
          <p:cNvSpPr txBox="1"/>
          <p:nvPr/>
        </p:nvSpPr>
        <p:spPr>
          <a:xfrm>
            <a:off x="4968164" y="1635723"/>
            <a:ext cx="553137" cy="165036"/>
          </a:xfrm>
          <a:prstGeom prst="rect">
            <a:avLst/>
          </a:prstGeom>
          <a:noFill/>
          <a:ln w="317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108000" tIns="36000" rIns="108000" bIns="36000" numCol="1" rtlCol="0" anchor="ctr" anchorCtr="0" compatLnSpc="1">
            <a:prstTxWarp prst="textNoShape">
              <a:avLst/>
            </a:prstTxWarp>
            <a:spAutoFit/>
          </a:bodyPr>
          <a:lstStyle/>
          <a:p>
            <a:r>
              <a:rPr lang="ko-KR" altLang="en-US" sz="6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배송 기간</a:t>
            </a:r>
            <a:endParaRPr lang="en-US" altLang="ko-KR" sz="600" smtClean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115" name="TextBox 114">
            <a:extLst>
              <a:ext uri="{FF2B5EF4-FFF2-40B4-BE49-F238E27FC236}">
                <a16:creationId xmlns="" xmlns:a16="http://schemas.microsoft.com/office/drawing/2014/main" id="{0C96C875-C47F-4F5B-B4C1-F9D666A7BD9D}"/>
              </a:ext>
            </a:extLst>
          </p:cNvPr>
          <p:cNvSpPr txBox="1"/>
          <p:nvPr/>
        </p:nvSpPr>
        <p:spPr>
          <a:xfrm>
            <a:off x="5690068" y="1635723"/>
            <a:ext cx="1872000" cy="1334587"/>
          </a:xfrm>
          <a:prstGeom prst="rect">
            <a:avLst/>
          </a:prstGeom>
          <a:noFill/>
          <a:ln w="317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square" lIns="108000" tIns="36000" rIns="108000" bIns="3600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88900" indent="-88900">
              <a:buFont typeface="Arial" panose="020B0604020202020204" pitchFamily="34" charset="0"/>
              <a:buChar char="•"/>
            </a:pPr>
            <a:r>
              <a:rPr lang="ko-KR" altLang="en-US" sz="6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상품 상단의 도착 확률은 해당 상품의 최근 배송 데이터를 분석하여 예측한 도착예정일로 배송 상황에 따라 실제 도착일과 다를 수 있습니다</a:t>
            </a:r>
            <a:r>
              <a:rPr lang="en-US" altLang="ko-KR" sz="6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.</a:t>
            </a:r>
          </a:p>
          <a:p>
            <a:pPr marL="88900" indent="-88900">
              <a:buFont typeface="Arial" panose="020B0604020202020204" pitchFamily="34" charset="0"/>
              <a:buChar char="•"/>
            </a:pPr>
            <a:endParaRPr lang="en-US" altLang="ko-KR" sz="500" smtClean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</a:endParaRPr>
          </a:p>
          <a:p>
            <a:pPr marL="88900" indent="-88900">
              <a:buFont typeface="Arial" panose="020B0604020202020204" pitchFamily="34" charset="0"/>
              <a:buChar char="•"/>
            </a:pPr>
            <a:r>
              <a:rPr lang="en-US" altLang="ko-KR" sz="600" b="1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LF</a:t>
            </a:r>
            <a:r>
              <a:rPr lang="ko-KR" altLang="en-US" sz="600" b="1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슝배송</a:t>
            </a:r>
            <a:r>
              <a:rPr lang="en-US" altLang="ko-KR" sz="600" b="1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:</a:t>
            </a:r>
            <a:br>
              <a:rPr lang="en-US" altLang="ko-KR" sz="600" b="1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</a:br>
            <a:r>
              <a:rPr lang="en-US" altLang="ko-KR" sz="6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18</a:t>
            </a:r>
            <a:r>
              <a:rPr lang="ko-KR" altLang="en-US" sz="6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시 이전 결제 시 당일 출고가 가능한 </a:t>
            </a:r>
            <a:r>
              <a:rPr lang="en-US" altLang="ko-KR" sz="6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LF </a:t>
            </a:r>
            <a:r>
              <a:rPr lang="ko-KR" altLang="en-US" sz="6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브랜드 상품만의 빠른 배송 서비스입니다</a:t>
            </a:r>
            <a:r>
              <a:rPr lang="en-US" altLang="ko-KR" sz="6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.</a:t>
            </a:r>
          </a:p>
          <a:p>
            <a:pPr marL="88900" indent="-88900">
              <a:buFont typeface="Arial" panose="020B0604020202020204" pitchFamily="34" charset="0"/>
              <a:buChar char="•"/>
            </a:pPr>
            <a:endParaRPr lang="en-US" altLang="ko-KR" sz="500" smtClean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</a:endParaRPr>
          </a:p>
          <a:p>
            <a:pPr marL="88900" indent="-88900">
              <a:buFont typeface="Arial" panose="020B0604020202020204" pitchFamily="34" charset="0"/>
              <a:buChar char="•"/>
            </a:pPr>
            <a:r>
              <a:rPr lang="ko-KR" altLang="en-US" sz="600" b="1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매장상품배송</a:t>
            </a:r>
            <a:r>
              <a:rPr lang="en-US" altLang="ko-KR" sz="600" b="1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:</a:t>
            </a:r>
            <a:br>
              <a:rPr lang="en-US" altLang="ko-KR" sz="600" b="1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</a:br>
            <a:r>
              <a:rPr lang="ko-KR" altLang="en-US" sz="6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온라인 </a:t>
            </a:r>
            <a:r>
              <a:rPr lang="ko-KR" altLang="en-US" sz="6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품절 상품을 오프라인 매장에서 찾아 배송해 드리는 </a:t>
            </a:r>
            <a:r>
              <a:rPr lang="ko-KR" altLang="en-US" sz="6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서비스로</a:t>
            </a:r>
            <a:r>
              <a:rPr lang="en-US" altLang="ko-KR" sz="6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, </a:t>
            </a:r>
            <a:r>
              <a:rPr lang="ko-KR" altLang="en-US" sz="6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매장상품을 </a:t>
            </a:r>
            <a:r>
              <a:rPr lang="ko-KR" altLang="en-US" sz="6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물류센터에서 검수 후 발송하여 평균 배송일이 </a:t>
            </a:r>
            <a:r>
              <a:rPr lang="ko-KR" altLang="en-US" sz="6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영업일 </a:t>
            </a:r>
            <a:r>
              <a:rPr lang="ko-KR" altLang="en-US" sz="6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기준 </a:t>
            </a:r>
            <a:r>
              <a:rPr lang="en-US" altLang="ko-KR" sz="6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5~7</a:t>
            </a:r>
            <a:r>
              <a:rPr lang="ko-KR" altLang="en-US" sz="6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일 소요될 수 있습니다</a:t>
            </a:r>
            <a:r>
              <a:rPr lang="en-US" altLang="ko-KR" sz="6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.</a:t>
            </a:r>
            <a:endParaRPr lang="en-US" altLang="ko-KR" sz="60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121" name="직사각형 120"/>
          <p:cNvSpPr/>
          <p:nvPr/>
        </p:nvSpPr>
        <p:spPr>
          <a:xfrm>
            <a:off x="4968163" y="3012933"/>
            <a:ext cx="720000" cy="288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prstClr val="white"/>
              </a:solidFill>
            </a:endParaRPr>
          </a:p>
        </p:txBody>
      </p:sp>
      <p:cxnSp>
        <p:nvCxnSpPr>
          <p:cNvPr id="120" name="직선 연결선 119"/>
          <p:cNvCxnSpPr/>
          <p:nvPr/>
        </p:nvCxnSpPr>
        <p:spPr>
          <a:xfrm>
            <a:off x="4968163" y="3013286"/>
            <a:ext cx="2592000" cy="0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7" name="TextBox 116">
            <a:extLst>
              <a:ext uri="{FF2B5EF4-FFF2-40B4-BE49-F238E27FC236}">
                <a16:creationId xmlns="" xmlns:a16="http://schemas.microsoft.com/office/drawing/2014/main" id="{0C96C875-C47F-4F5B-B4C1-F9D666A7BD9D}"/>
              </a:ext>
            </a:extLst>
          </p:cNvPr>
          <p:cNvSpPr txBox="1"/>
          <p:nvPr/>
        </p:nvSpPr>
        <p:spPr>
          <a:xfrm>
            <a:off x="4968164" y="3074415"/>
            <a:ext cx="448942" cy="165036"/>
          </a:xfrm>
          <a:prstGeom prst="rect">
            <a:avLst/>
          </a:prstGeom>
          <a:noFill/>
          <a:ln w="317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108000" tIns="36000" rIns="108000" bIns="36000" numCol="1" rtlCol="0" anchor="ctr" anchorCtr="0" compatLnSpc="1">
            <a:prstTxWarp prst="textNoShape">
              <a:avLst/>
            </a:prstTxWarp>
            <a:spAutoFit/>
          </a:bodyPr>
          <a:lstStyle/>
          <a:p>
            <a:r>
              <a:rPr lang="ko-KR" altLang="en-US" sz="6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배송비</a:t>
            </a:r>
            <a:endParaRPr lang="en-US" altLang="ko-KR" sz="600" smtClean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118" name="TextBox 117">
            <a:extLst>
              <a:ext uri="{FF2B5EF4-FFF2-40B4-BE49-F238E27FC236}">
                <a16:creationId xmlns="" xmlns:a16="http://schemas.microsoft.com/office/drawing/2014/main" id="{0C96C875-C47F-4F5B-B4C1-F9D666A7BD9D}"/>
              </a:ext>
            </a:extLst>
          </p:cNvPr>
          <p:cNvSpPr txBox="1"/>
          <p:nvPr/>
        </p:nvSpPr>
        <p:spPr>
          <a:xfrm>
            <a:off x="5690068" y="3074415"/>
            <a:ext cx="371998" cy="165036"/>
          </a:xfrm>
          <a:prstGeom prst="rect">
            <a:avLst/>
          </a:prstGeom>
          <a:noFill/>
          <a:ln w="317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108000" tIns="36000" rIns="108000" bIns="36000" numCol="1" rtlCol="0" anchor="ctr" anchorCtr="0" compatLnSpc="1">
            <a:prstTxWarp prst="textNoShape">
              <a:avLst/>
            </a:prstTxWarp>
            <a:spAutoFit/>
          </a:bodyPr>
          <a:lstStyle/>
          <a:p>
            <a:r>
              <a:rPr lang="ko-KR" altLang="en-US" sz="6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무료</a:t>
            </a:r>
            <a:endParaRPr lang="en-US" altLang="ko-KR" sz="600" smtClean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</a:endParaRPr>
          </a:p>
        </p:txBody>
      </p:sp>
      <p:cxnSp>
        <p:nvCxnSpPr>
          <p:cNvPr id="122" name="직선 연결선 121"/>
          <p:cNvCxnSpPr/>
          <p:nvPr/>
        </p:nvCxnSpPr>
        <p:spPr>
          <a:xfrm>
            <a:off x="4968163" y="3300933"/>
            <a:ext cx="2592000" cy="0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4" name="TextBox 123">
            <a:extLst>
              <a:ext uri="{FF2B5EF4-FFF2-40B4-BE49-F238E27FC236}">
                <a16:creationId xmlns="" xmlns:a16="http://schemas.microsoft.com/office/drawing/2014/main" id="{0C96C875-C47F-4F5B-B4C1-F9D666A7BD9D}"/>
              </a:ext>
            </a:extLst>
          </p:cNvPr>
          <p:cNvSpPr txBox="1"/>
          <p:nvPr/>
        </p:nvSpPr>
        <p:spPr>
          <a:xfrm>
            <a:off x="4968164" y="3379685"/>
            <a:ext cx="2547740" cy="349702"/>
          </a:xfrm>
          <a:prstGeom prst="rect">
            <a:avLst/>
          </a:prstGeom>
          <a:noFill/>
          <a:ln w="317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36000" tIns="36000" rIns="36000" bIns="36000" numCol="1" rtlCol="0" anchor="ctr" anchorCtr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6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* </a:t>
            </a:r>
            <a:r>
              <a:rPr lang="ko-KR" altLang="en-US" sz="6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도서산간지역은 배송일과 배송비가 추가 될 수 있습니다</a:t>
            </a:r>
            <a:r>
              <a:rPr lang="en-US" altLang="ko-KR" sz="6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en-US" altLang="ko-KR" sz="6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* LF</a:t>
            </a:r>
            <a:r>
              <a:rPr lang="ko-KR" altLang="en-US" sz="6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에서 직접 배송하는 상품으로 출고 전 검품 과정을 거쳐 발송됩니다</a:t>
            </a:r>
            <a:r>
              <a:rPr lang="en-US" altLang="ko-KR" sz="6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.</a:t>
            </a:r>
          </a:p>
        </p:txBody>
      </p:sp>
      <p:sp>
        <p:nvSpPr>
          <p:cNvPr id="127" name="직사각형 126"/>
          <p:cNvSpPr/>
          <p:nvPr/>
        </p:nvSpPr>
        <p:spPr>
          <a:xfrm>
            <a:off x="4968163" y="4165988"/>
            <a:ext cx="720000" cy="504955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129" name="TextBox 128">
            <a:extLst>
              <a:ext uri="{FF2B5EF4-FFF2-40B4-BE49-F238E27FC236}">
                <a16:creationId xmlns="" xmlns:a16="http://schemas.microsoft.com/office/drawing/2014/main" id="{0C96C875-C47F-4F5B-B4C1-F9D666A7BD9D}"/>
              </a:ext>
            </a:extLst>
          </p:cNvPr>
          <p:cNvSpPr txBox="1"/>
          <p:nvPr/>
        </p:nvSpPr>
        <p:spPr>
          <a:xfrm>
            <a:off x="4968164" y="3890439"/>
            <a:ext cx="527956" cy="195814"/>
          </a:xfrm>
          <a:prstGeom prst="rect">
            <a:avLst/>
          </a:prstGeom>
          <a:noFill/>
          <a:ln w="317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36000" tIns="36000" rIns="36000" bIns="36000" numCol="1" rtlCol="0" anchor="ctr" anchorCtr="0" compatLnSpc="1">
            <a:prstTxWarp prst="textNoShape">
              <a:avLst/>
            </a:prstTxWarp>
            <a:spAutoFit/>
          </a:bodyPr>
          <a:lstStyle/>
          <a:p>
            <a:r>
              <a:rPr lang="ko-KR" altLang="en-US" sz="800" b="1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교환</a:t>
            </a:r>
            <a:r>
              <a:rPr lang="en-US" altLang="ko-KR" sz="800" b="1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/</a:t>
            </a:r>
            <a:r>
              <a:rPr lang="ko-KR" altLang="en-US" sz="800" b="1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반품</a:t>
            </a:r>
            <a:endParaRPr lang="en-US" altLang="ko-KR" sz="800" b="1" smtClean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</a:endParaRPr>
          </a:p>
        </p:txBody>
      </p:sp>
      <p:cxnSp>
        <p:nvCxnSpPr>
          <p:cNvPr id="131" name="직선 연결선 130"/>
          <p:cNvCxnSpPr/>
          <p:nvPr/>
        </p:nvCxnSpPr>
        <p:spPr>
          <a:xfrm>
            <a:off x="4968163" y="4165988"/>
            <a:ext cx="2592000" cy="0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3" name="TextBox 132">
            <a:extLst>
              <a:ext uri="{FF2B5EF4-FFF2-40B4-BE49-F238E27FC236}">
                <a16:creationId xmlns="" xmlns:a16="http://schemas.microsoft.com/office/drawing/2014/main" id="{0C96C875-C47F-4F5B-B4C1-F9D666A7BD9D}"/>
              </a:ext>
            </a:extLst>
          </p:cNvPr>
          <p:cNvSpPr txBox="1"/>
          <p:nvPr/>
        </p:nvSpPr>
        <p:spPr>
          <a:xfrm>
            <a:off x="4968164" y="4228425"/>
            <a:ext cx="737482" cy="165036"/>
          </a:xfrm>
          <a:prstGeom prst="rect">
            <a:avLst/>
          </a:prstGeom>
          <a:noFill/>
          <a:ln w="317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108000" tIns="36000" rIns="108000" bIns="36000" numCol="1" rtlCol="0" anchor="ctr" anchorCtr="0" compatLnSpc="1">
            <a:prstTxWarp prst="textNoShape">
              <a:avLst/>
            </a:prstTxWarp>
            <a:spAutoFit/>
          </a:bodyPr>
          <a:lstStyle/>
          <a:p>
            <a:r>
              <a:rPr lang="ko-KR" altLang="en-US" sz="6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교환</a:t>
            </a:r>
            <a:r>
              <a:rPr lang="en-US" altLang="ko-KR" sz="6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/</a:t>
            </a:r>
            <a:r>
              <a:rPr lang="ko-KR" altLang="en-US" sz="6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반품 신청</a:t>
            </a:r>
            <a:endParaRPr lang="en-US" altLang="ko-KR" sz="600" smtClean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134" name="TextBox 133">
            <a:extLst>
              <a:ext uri="{FF2B5EF4-FFF2-40B4-BE49-F238E27FC236}">
                <a16:creationId xmlns="" xmlns:a16="http://schemas.microsoft.com/office/drawing/2014/main" id="{0C96C875-C47F-4F5B-B4C1-F9D666A7BD9D}"/>
              </a:ext>
            </a:extLst>
          </p:cNvPr>
          <p:cNvSpPr txBox="1"/>
          <p:nvPr/>
        </p:nvSpPr>
        <p:spPr>
          <a:xfrm>
            <a:off x="5690068" y="4228425"/>
            <a:ext cx="1872000" cy="349702"/>
          </a:xfrm>
          <a:prstGeom prst="rect">
            <a:avLst/>
          </a:prstGeom>
          <a:noFill/>
          <a:ln w="317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square" lIns="108000" tIns="36000" rIns="108000" bIns="36000" numCol="1" rtlCol="0" anchor="t" anchorCtr="0" compatLnSpc="1">
            <a:prstTxWarp prst="textNoShape">
              <a:avLst/>
            </a:prstTxWarp>
            <a:spAutoFit/>
          </a:bodyPr>
          <a:lstStyle/>
          <a:p>
            <a:r>
              <a:rPr lang="ko-KR" altLang="en-US" sz="600" b="1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마이페이지 </a:t>
            </a:r>
            <a:r>
              <a:rPr lang="en-US" altLang="ko-KR" sz="600" b="1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– </a:t>
            </a:r>
            <a:r>
              <a:rPr lang="ko-KR" altLang="en-US" sz="600" b="1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주문</a:t>
            </a:r>
            <a:r>
              <a:rPr lang="en-US" altLang="ko-KR" sz="600" b="1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/</a:t>
            </a:r>
            <a:r>
              <a:rPr lang="ko-KR" altLang="en-US" sz="600" b="1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배송조회 화면에서</a:t>
            </a:r>
            <a:r>
              <a:rPr lang="ko-KR" altLang="en-US" sz="6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 가능합니다</a:t>
            </a:r>
            <a:r>
              <a:rPr lang="en-US" altLang="ko-KR" sz="6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.</a:t>
            </a:r>
          </a:p>
          <a:p>
            <a:r>
              <a:rPr lang="ko-KR" altLang="en-US" sz="600" b="1" smtClean="0">
                <a:solidFill>
                  <a:srgbClr val="C00000"/>
                </a:solidFill>
                <a:latin typeface="맑은 고딕" panose="020B0503020000020004" pitchFamily="50" charset="-127"/>
              </a:rPr>
              <a:t>교환</a:t>
            </a:r>
            <a:r>
              <a:rPr lang="en-US" altLang="ko-KR" sz="600" b="1" smtClean="0">
                <a:solidFill>
                  <a:srgbClr val="C00000"/>
                </a:solidFill>
                <a:latin typeface="맑은 고딕" panose="020B0503020000020004" pitchFamily="50" charset="-127"/>
              </a:rPr>
              <a:t>/</a:t>
            </a:r>
            <a:r>
              <a:rPr lang="ko-KR" altLang="en-US" sz="600" b="1" smtClean="0">
                <a:solidFill>
                  <a:srgbClr val="C00000"/>
                </a:solidFill>
                <a:latin typeface="맑은 고딕" panose="020B0503020000020004" pitchFamily="50" charset="-127"/>
              </a:rPr>
              <a:t>반품 신청하러가기 </a:t>
            </a:r>
            <a:r>
              <a:rPr lang="en-US" altLang="ko-KR" sz="600" b="1" smtClean="0">
                <a:solidFill>
                  <a:srgbClr val="C00000"/>
                </a:solidFill>
                <a:latin typeface="맑은 고딕" panose="020B0503020000020004" pitchFamily="50" charset="-127"/>
              </a:rPr>
              <a:t>&gt;</a:t>
            </a:r>
            <a:endParaRPr lang="en-US" altLang="ko-KR" sz="600" b="1">
              <a:solidFill>
                <a:srgbClr val="C00000"/>
              </a:solidFill>
              <a:latin typeface="맑은 고딕" panose="020B0503020000020004" pitchFamily="50" charset="-127"/>
            </a:endParaRPr>
          </a:p>
        </p:txBody>
      </p:sp>
      <p:sp>
        <p:nvSpPr>
          <p:cNvPr id="144" name="직사각형 143"/>
          <p:cNvSpPr/>
          <p:nvPr/>
        </p:nvSpPr>
        <p:spPr>
          <a:xfrm>
            <a:off x="4968163" y="4670942"/>
            <a:ext cx="720000" cy="864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prstClr val="white"/>
              </a:solidFill>
            </a:endParaRPr>
          </a:p>
        </p:txBody>
      </p:sp>
      <p:cxnSp>
        <p:nvCxnSpPr>
          <p:cNvPr id="138" name="직선 연결선 137"/>
          <p:cNvCxnSpPr/>
          <p:nvPr/>
        </p:nvCxnSpPr>
        <p:spPr>
          <a:xfrm>
            <a:off x="4968163" y="4670943"/>
            <a:ext cx="2592000" cy="0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0" name="TextBox 139">
            <a:extLst>
              <a:ext uri="{FF2B5EF4-FFF2-40B4-BE49-F238E27FC236}">
                <a16:creationId xmlns="" xmlns:a16="http://schemas.microsoft.com/office/drawing/2014/main" id="{0C96C875-C47F-4F5B-B4C1-F9D666A7BD9D}"/>
              </a:ext>
            </a:extLst>
          </p:cNvPr>
          <p:cNvSpPr txBox="1"/>
          <p:nvPr/>
        </p:nvSpPr>
        <p:spPr>
          <a:xfrm>
            <a:off x="4968164" y="4732425"/>
            <a:ext cx="583594" cy="257369"/>
          </a:xfrm>
          <a:prstGeom prst="rect">
            <a:avLst/>
          </a:prstGeom>
          <a:noFill/>
          <a:ln w="317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108000" tIns="36000" rIns="108000" bIns="36000" numCol="1" rtlCol="0" anchor="t" anchorCtr="0" compatLnSpc="1">
            <a:prstTxWarp prst="textNoShape">
              <a:avLst/>
            </a:prstTxWarp>
            <a:spAutoFit/>
          </a:bodyPr>
          <a:lstStyle/>
          <a:p>
            <a:r>
              <a:rPr lang="ko-KR" altLang="en-US" sz="6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교환</a:t>
            </a:r>
            <a:r>
              <a:rPr lang="en-US" altLang="ko-KR" sz="6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/</a:t>
            </a:r>
            <a:r>
              <a:rPr lang="ko-KR" altLang="en-US" sz="6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반품 </a:t>
            </a:r>
            <a:endParaRPr lang="en-US" altLang="ko-KR" sz="600" smtClean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</a:endParaRPr>
          </a:p>
          <a:p>
            <a:r>
              <a:rPr lang="ko-KR" altLang="en-US" sz="6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신청기간</a:t>
            </a:r>
            <a:endParaRPr lang="en-US" altLang="ko-KR" sz="600" smtClean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143" name="TextBox 142">
            <a:extLst>
              <a:ext uri="{FF2B5EF4-FFF2-40B4-BE49-F238E27FC236}">
                <a16:creationId xmlns="" xmlns:a16="http://schemas.microsoft.com/office/drawing/2014/main" id="{0C96C875-C47F-4F5B-B4C1-F9D666A7BD9D}"/>
              </a:ext>
            </a:extLst>
          </p:cNvPr>
          <p:cNvSpPr txBox="1"/>
          <p:nvPr/>
        </p:nvSpPr>
        <p:spPr>
          <a:xfrm>
            <a:off x="5690068" y="4732425"/>
            <a:ext cx="1872000" cy="719034"/>
          </a:xfrm>
          <a:prstGeom prst="rect">
            <a:avLst/>
          </a:prstGeom>
          <a:noFill/>
          <a:ln w="317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square" lIns="108000" tIns="36000" rIns="108000" bIns="3600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88900" indent="-88900">
              <a:buFont typeface="Arial" panose="020B0604020202020204" pitchFamily="34" charset="0"/>
              <a:buChar char="•"/>
            </a:pPr>
            <a:r>
              <a:rPr lang="ko-KR" altLang="en-US" sz="6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상품 수령 후 사용 전 </a:t>
            </a:r>
            <a:r>
              <a:rPr lang="en-US" altLang="ko-KR" sz="6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7</a:t>
            </a:r>
            <a:r>
              <a:rPr lang="ko-KR" altLang="en-US" sz="6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일 이내 신청이 가능합니다</a:t>
            </a:r>
            <a:r>
              <a:rPr lang="en-US" altLang="ko-KR" sz="6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.</a:t>
            </a:r>
          </a:p>
          <a:p>
            <a:pPr marL="88900" indent="-88900">
              <a:buFont typeface="Arial" panose="020B0604020202020204" pitchFamily="34" charset="0"/>
              <a:buChar char="•"/>
            </a:pPr>
            <a:endParaRPr lang="en-US" altLang="ko-KR" sz="500" smtClean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</a:endParaRPr>
          </a:p>
          <a:p>
            <a:pPr marL="88900" indent="-88900">
              <a:buFont typeface="Arial" panose="020B0604020202020204" pitchFamily="34" charset="0"/>
              <a:buChar char="•"/>
            </a:pPr>
            <a:r>
              <a:rPr lang="ko-KR" altLang="en-US" sz="6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상품의 내용이 표시</a:t>
            </a:r>
            <a:r>
              <a:rPr lang="en-US" altLang="ko-KR" sz="6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, </a:t>
            </a:r>
            <a:r>
              <a:rPr lang="ko-KR" altLang="en-US" sz="6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광고 내용과 다를 경우 상품을 공급 받은 날로부터 </a:t>
            </a:r>
            <a:r>
              <a:rPr lang="en-US" altLang="ko-KR" sz="6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3</a:t>
            </a:r>
            <a:r>
              <a:rPr lang="ko-KR" altLang="en-US" sz="6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개월 이내</a:t>
            </a:r>
            <a:r>
              <a:rPr lang="en-US" altLang="ko-KR" sz="6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, </a:t>
            </a:r>
            <a:r>
              <a:rPr lang="ko-KR" altLang="en-US" sz="6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그 사실을 알게 된 날로부터 </a:t>
            </a:r>
            <a:r>
              <a:rPr lang="en-US" altLang="ko-KR" sz="6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30</a:t>
            </a:r>
            <a:r>
              <a:rPr lang="ko-KR" altLang="en-US" sz="6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일 이내에 청약 철회 신청이 가능합니다</a:t>
            </a:r>
            <a:r>
              <a:rPr lang="en-US" altLang="ko-KR" sz="6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.</a:t>
            </a:r>
            <a:endParaRPr lang="en-US" altLang="ko-KR" sz="60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146" name="직사각형 145"/>
          <p:cNvSpPr/>
          <p:nvPr/>
        </p:nvSpPr>
        <p:spPr>
          <a:xfrm>
            <a:off x="4968163" y="5532427"/>
            <a:ext cx="720000" cy="864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148" name="TextBox 147">
            <a:extLst>
              <a:ext uri="{FF2B5EF4-FFF2-40B4-BE49-F238E27FC236}">
                <a16:creationId xmlns="" xmlns:a16="http://schemas.microsoft.com/office/drawing/2014/main" id="{0C96C875-C47F-4F5B-B4C1-F9D666A7BD9D}"/>
              </a:ext>
            </a:extLst>
          </p:cNvPr>
          <p:cNvSpPr txBox="1"/>
          <p:nvPr/>
        </p:nvSpPr>
        <p:spPr>
          <a:xfrm>
            <a:off x="4968164" y="5593910"/>
            <a:ext cx="583594" cy="257369"/>
          </a:xfrm>
          <a:prstGeom prst="rect">
            <a:avLst/>
          </a:prstGeom>
          <a:noFill/>
          <a:ln w="317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108000" tIns="36000" rIns="108000" bIns="36000" numCol="1" rtlCol="0" anchor="t" anchorCtr="0" compatLnSpc="1">
            <a:prstTxWarp prst="textNoShape">
              <a:avLst/>
            </a:prstTxWarp>
            <a:spAutoFit/>
          </a:bodyPr>
          <a:lstStyle/>
          <a:p>
            <a:r>
              <a:rPr lang="ko-KR" altLang="en-US" sz="6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교환</a:t>
            </a:r>
            <a:r>
              <a:rPr lang="en-US" altLang="ko-KR" sz="6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/</a:t>
            </a:r>
            <a:r>
              <a:rPr lang="ko-KR" altLang="en-US" sz="6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반품 </a:t>
            </a:r>
            <a:endParaRPr lang="en-US" altLang="ko-KR" sz="600" smtClean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</a:endParaRPr>
          </a:p>
          <a:p>
            <a:r>
              <a:rPr lang="ko-KR" altLang="en-US" sz="6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배송비</a:t>
            </a:r>
            <a:endParaRPr lang="en-US" altLang="ko-KR" sz="600" smtClean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</a:endParaRPr>
          </a:p>
        </p:txBody>
      </p:sp>
      <p:cxnSp>
        <p:nvCxnSpPr>
          <p:cNvPr id="145" name="직선 연결선 144"/>
          <p:cNvCxnSpPr/>
          <p:nvPr/>
        </p:nvCxnSpPr>
        <p:spPr>
          <a:xfrm>
            <a:off x="4968163" y="5534942"/>
            <a:ext cx="2592000" cy="0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0" name="표 1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55654011"/>
              </p:ext>
            </p:extLst>
          </p:nvPr>
        </p:nvGraphicFramePr>
        <p:xfrm>
          <a:off x="5756631" y="5606942"/>
          <a:ext cx="1800000" cy="64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20000"/>
                <a:gridCol w="540000"/>
                <a:gridCol w="540000"/>
              </a:tblGrid>
              <a:tr h="2160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구분</a:t>
                      </a:r>
                      <a:endParaRPr lang="ko-KR" altLang="en-US" sz="700" b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반품 배송비</a:t>
                      </a:r>
                      <a:endParaRPr lang="ko-KR" altLang="en-US" sz="700" b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교환 배송비</a:t>
                      </a:r>
                      <a:endParaRPr lang="ko-KR" altLang="en-US" sz="700" b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구매자 귀책</a:t>
                      </a:r>
                      <a:endParaRPr lang="ko-KR" altLang="en-US" sz="700" b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3,000</a:t>
                      </a:r>
                      <a:r>
                        <a:rPr lang="ko-KR" altLang="en-US" sz="700" b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원</a:t>
                      </a:r>
                      <a:endParaRPr lang="ko-KR" altLang="en-US" sz="700" b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6,000</a:t>
                      </a:r>
                      <a:r>
                        <a:rPr lang="ko-KR" altLang="en-US" sz="700" b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원</a:t>
                      </a:r>
                      <a:endParaRPr lang="ko-KR" altLang="en-US" sz="700" b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판매자 귀책</a:t>
                      </a:r>
                      <a:endParaRPr lang="ko-KR" altLang="en-US" sz="700" b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무료</a:t>
                      </a:r>
                      <a:endParaRPr lang="ko-KR" altLang="en-US" sz="700" b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53" name="모서리가 둥근 직사각형 152"/>
          <p:cNvSpPr/>
          <p:nvPr/>
        </p:nvSpPr>
        <p:spPr>
          <a:xfrm>
            <a:off x="4823906" y="2402064"/>
            <a:ext cx="2879531" cy="576000"/>
          </a:xfrm>
          <a:prstGeom prst="roundRect">
            <a:avLst/>
          </a:prstGeom>
          <a:noFill/>
          <a:ln w="6350">
            <a:solidFill>
              <a:schemeClr val="accent2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135" name="꺾인 연결선 134"/>
          <p:cNvCxnSpPr>
            <a:stCxn id="5" idx="3"/>
            <a:endCxn id="98" idx="1"/>
          </p:cNvCxnSpPr>
          <p:nvPr/>
        </p:nvCxnSpPr>
        <p:spPr>
          <a:xfrm flipV="1">
            <a:off x="3024710" y="3553712"/>
            <a:ext cx="1799196" cy="295898"/>
          </a:xfrm>
          <a:prstGeom prst="bentConnector3">
            <a:avLst>
              <a:gd name="adj1" fmla="val 50000"/>
            </a:avLst>
          </a:prstGeom>
          <a:ln>
            <a:solidFill>
              <a:schemeClr val="accent2"/>
            </a:solidFill>
            <a:prstDash val="lg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6" name="타원 135">
            <a:extLst>
              <a:ext uri="{FF2B5EF4-FFF2-40B4-BE49-F238E27FC236}">
                <a16:creationId xmlns:a16="http://schemas.microsoft.com/office/drawing/2014/main" xmlns="" id="{05928B69-0142-4C14-A783-3D8762E5BBE2}"/>
              </a:ext>
            </a:extLst>
          </p:cNvPr>
          <p:cNvSpPr/>
          <p:nvPr/>
        </p:nvSpPr>
        <p:spPr>
          <a:xfrm>
            <a:off x="0" y="3776588"/>
            <a:ext cx="144000" cy="144000"/>
          </a:xfrm>
          <a:prstGeom prst="ellipse">
            <a:avLst/>
          </a:prstGeom>
          <a:solidFill>
            <a:srgbClr val="C00000"/>
          </a:solidFill>
          <a:ln w="3175">
            <a:noFill/>
          </a:ln>
          <a:effectLst>
            <a:outerShdw blurRad="25400" dist="25400" dir="2700000" algn="tl" rotWithShape="0">
              <a:schemeClr val="tx1">
                <a:lumMod val="75000"/>
                <a:lumOff val="2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700" dirty="0">
                <a:solidFill>
                  <a:prstClr val="white"/>
                </a:solidFill>
                <a:latin typeface="맑은 고딕" panose="020B0503020000020004" pitchFamily="50" charset="-127"/>
              </a:rPr>
              <a:t>1</a:t>
            </a:r>
            <a:endParaRPr lang="ko-KR" altLang="en-US" sz="700" dirty="0">
              <a:solidFill>
                <a:prstClr val="white"/>
              </a:solidFill>
              <a:latin typeface="맑은 고딕" panose="020B0503020000020004" pitchFamily="50" charset="-127"/>
            </a:endParaRPr>
          </a:p>
        </p:txBody>
      </p:sp>
      <p:sp>
        <p:nvSpPr>
          <p:cNvPr id="137" name="타원 136">
            <a:extLst>
              <a:ext uri="{FF2B5EF4-FFF2-40B4-BE49-F238E27FC236}">
                <a16:creationId xmlns:a16="http://schemas.microsoft.com/office/drawing/2014/main" xmlns="" id="{05928B69-0142-4C14-A783-3D8762E5BBE2}"/>
              </a:ext>
            </a:extLst>
          </p:cNvPr>
          <p:cNvSpPr/>
          <p:nvPr/>
        </p:nvSpPr>
        <p:spPr>
          <a:xfrm>
            <a:off x="4679531" y="2402064"/>
            <a:ext cx="144000" cy="144000"/>
          </a:xfrm>
          <a:prstGeom prst="ellipse">
            <a:avLst/>
          </a:prstGeom>
          <a:solidFill>
            <a:srgbClr val="C00000"/>
          </a:solidFill>
          <a:ln w="3175">
            <a:noFill/>
          </a:ln>
          <a:effectLst>
            <a:outerShdw blurRad="25400" dist="25400" dir="2700000" algn="tl" rotWithShape="0">
              <a:schemeClr val="tx1">
                <a:lumMod val="75000"/>
                <a:lumOff val="2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700" smtClean="0">
                <a:solidFill>
                  <a:prstClr val="white"/>
                </a:solidFill>
                <a:latin typeface="맑은 고딕" panose="020B0503020000020004" pitchFamily="50" charset="-127"/>
              </a:rPr>
              <a:t>2</a:t>
            </a:r>
            <a:endParaRPr lang="ko-KR" altLang="en-US" sz="700" dirty="0">
              <a:solidFill>
                <a:prstClr val="white"/>
              </a:solidFill>
              <a:latin typeface="맑은 고딕" panose="020B0503020000020004" pitchFamily="50" charset="-127"/>
            </a:endParaRPr>
          </a:p>
        </p:txBody>
      </p:sp>
      <p:grpSp>
        <p:nvGrpSpPr>
          <p:cNvPr id="94" name="Click"/>
          <p:cNvGrpSpPr>
            <a:grpSpLocks noChangeAspect="1"/>
          </p:cNvGrpSpPr>
          <p:nvPr/>
        </p:nvGrpSpPr>
        <p:grpSpPr>
          <a:xfrm>
            <a:off x="1878391" y="3831297"/>
            <a:ext cx="151563" cy="216000"/>
            <a:chOff x="5294313" y="2197100"/>
            <a:chExt cx="530225" cy="755651"/>
          </a:xfrm>
        </p:grpSpPr>
        <p:sp>
          <p:nvSpPr>
            <p:cNvPr id="95" name="Arrow Cursor"/>
            <p:cNvSpPr>
              <a:spLocks noChangeAspect="1"/>
            </p:cNvSpPr>
            <p:nvPr/>
          </p:nvSpPr>
          <p:spPr bwMode="auto">
            <a:xfrm>
              <a:off x="5448300" y="2363788"/>
              <a:ext cx="376238" cy="588963"/>
            </a:xfrm>
            <a:custGeom>
              <a:avLst/>
              <a:gdLst>
                <a:gd name="T0" fmla="*/ 379 w 495"/>
                <a:gd name="T1" fmla="*/ 721 h 773"/>
                <a:gd name="T2" fmla="*/ 269 w 495"/>
                <a:gd name="T3" fmla="*/ 494 h 773"/>
                <a:gd name="T4" fmla="*/ 495 w 495"/>
                <a:gd name="T5" fmla="*/ 494 h 773"/>
                <a:gd name="T6" fmla="*/ 0 w 495"/>
                <a:gd name="T7" fmla="*/ 0 h 773"/>
                <a:gd name="T8" fmla="*/ 0 w 495"/>
                <a:gd name="T9" fmla="*/ 702 h 773"/>
                <a:gd name="T10" fmla="*/ 167 w 495"/>
                <a:gd name="T11" fmla="*/ 536 h 773"/>
                <a:gd name="T12" fmla="*/ 282 w 495"/>
                <a:gd name="T13" fmla="*/ 773 h 773"/>
                <a:gd name="T14" fmla="*/ 379 w 495"/>
                <a:gd name="T15" fmla="*/ 721 h 7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95" h="773">
                  <a:moveTo>
                    <a:pt x="379" y="721"/>
                  </a:moveTo>
                  <a:lnTo>
                    <a:pt x="269" y="494"/>
                  </a:lnTo>
                  <a:lnTo>
                    <a:pt x="495" y="494"/>
                  </a:lnTo>
                  <a:lnTo>
                    <a:pt x="0" y="0"/>
                  </a:lnTo>
                  <a:lnTo>
                    <a:pt x="0" y="702"/>
                  </a:lnTo>
                  <a:lnTo>
                    <a:pt x="167" y="536"/>
                  </a:lnTo>
                  <a:lnTo>
                    <a:pt x="282" y="773"/>
                  </a:lnTo>
                  <a:lnTo>
                    <a:pt x="379" y="721"/>
                  </a:lnTo>
                  <a:close/>
                </a:path>
              </a:pathLst>
            </a:custGeom>
            <a:solidFill>
              <a:srgbClr val="FFFFFF"/>
            </a:solidFill>
            <a:ln w="3175" cap="flat">
              <a:solidFill>
                <a:schemeClr val="tx1">
                  <a:lumMod val="75000"/>
                  <a:lumOff val="25000"/>
                </a:schemeClr>
              </a:solidFill>
              <a:prstDash val="solid"/>
              <a:miter lim="800000"/>
              <a:headEnd/>
              <a:tailEnd/>
            </a:ln>
            <a:effectLst>
              <a:outerShdw blurRad="12700" dist="12700" dir="2700000" algn="tl" rotWithShape="0">
                <a:schemeClr val="tx1">
                  <a:lumMod val="75000"/>
                  <a:lumOff val="25000"/>
                  <a:alpha val="50000"/>
                </a:schemeClr>
              </a:outerShdw>
            </a:effec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96" name="Click"/>
            <p:cNvSpPr>
              <a:spLocks noEditPoints="1"/>
            </p:cNvSpPr>
            <p:nvPr/>
          </p:nvSpPr>
          <p:spPr bwMode="auto">
            <a:xfrm>
              <a:off x="5294313" y="2197100"/>
              <a:ext cx="307975" cy="231775"/>
            </a:xfrm>
            <a:custGeom>
              <a:avLst/>
              <a:gdLst>
                <a:gd name="T0" fmla="*/ 156 w 405"/>
                <a:gd name="T1" fmla="*/ 248 h 303"/>
                <a:gd name="T2" fmla="*/ 101 w 405"/>
                <a:gd name="T3" fmla="*/ 303 h 303"/>
                <a:gd name="T4" fmla="*/ 156 w 405"/>
                <a:gd name="T5" fmla="*/ 155 h 303"/>
                <a:gd name="T6" fmla="*/ 101 w 405"/>
                <a:gd name="T7" fmla="*/ 101 h 303"/>
                <a:gd name="T8" fmla="*/ 249 w 405"/>
                <a:gd name="T9" fmla="*/ 155 h 303"/>
                <a:gd name="T10" fmla="*/ 303 w 405"/>
                <a:gd name="T11" fmla="*/ 101 h 303"/>
                <a:gd name="T12" fmla="*/ 137 w 405"/>
                <a:gd name="T13" fmla="*/ 202 h 303"/>
                <a:gd name="T14" fmla="*/ 0 w 405"/>
                <a:gd name="T15" fmla="*/ 202 h 303"/>
                <a:gd name="T16" fmla="*/ 202 w 405"/>
                <a:gd name="T17" fmla="*/ 136 h 303"/>
                <a:gd name="T18" fmla="*/ 202 w 405"/>
                <a:gd name="T19" fmla="*/ 0 h 303"/>
                <a:gd name="T20" fmla="*/ 268 w 405"/>
                <a:gd name="T21" fmla="*/ 202 h 303"/>
                <a:gd name="T22" fmla="*/ 405 w 405"/>
                <a:gd name="T23" fmla="*/ 202 h 3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405" h="303">
                  <a:moveTo>
                    <a:pt x="156" y="248"/>
                  </a:moveTo>
                  <a:lnTo>
                    <a:pt x="101" y="303"/>
                  </a:lnTo>
                  <a:moveTo>
                    <a:pt x="156" y="155"/>
                  </a:moveTo>
                  <a:lnTo>
                    <a:pt x="101" y="101"/>
                  </a:lnTo>
                  <a:moveTo>
                    <a:pt x="249" y="155"/>
                  </a:moveTo>
                  <a:lnTo>
                    <a:pt x="303" y="101"/>
                  </a:lnTo>
                  <a:moveTo>
                    <a:pt x="137" y="202"/>
                  </a:moveTo>
                  <a:lnTo>
                    <a:pt x="0" y="202"/>
                  </a:lnTo>
                  <a:moveTo>
                    <a:pt x="202" y="136"/>
                  </a:moveTo>
                  <a:lnTo>
                    <a:pt x="202" y="0"/>
                  </a:lnTo>
                  <a:moveTo>
                    <a:pt x="268" y="202"/>
                  </a:moveTo>
                  <a:lnTo>
                    <a:pt x="405" y="202"/>
                  </a:lnTo>
                </a:path>
              </a:pathLst>
            </a:custGeom>
            <a:noFill/>
            <a:ln w="9525" cap="rnd">
              <a:solidFill>
                <a:schemeClr val="accent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4530472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제목 1"/>
          <p:cNvSpPr txBox="1">
            <a:spLocks/>
          </p:cNvSpPr>
          <p:nvPr/>
        </p:nvSpPr>
        <p:spPr>
          <a:xfrm>
            <a:off x="1223906" y="358660"/>
            <a:ext cx="1080000" cy="216000"/>
          </a:xfrm>
          <a:prstGeom prst="rect">
            <a:avLst/>
          </a:prstGeom>
        </p:spPr>
        <p:txBody>
          <a:bodyPr lIns="36000" tIns="36000" rIns="36000" bIns="36000" anchor="ctr"/>
          <a:lstStyle>
            <a:lvl1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2pPr>
            <a:lvl3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3pPr>
            <a:lvl4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4pPr>
            <a:lvl5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5pPr>
            <a:lvl6pPr marL="457212" algn="ctr" rtl="0" fontAlgn="base" latinLnBrk="1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6pPr>
            <a:lvl7pPr marL="914423" algn="ctr" rtl="0" fontAlgn="base" latinLnBrk="1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7pPr>
            <a:lvl8pPr marL="1371634" algn="ctr" rtl="0" fontAlgn="base" latinLnBrk="1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8pPr>
            <a:lvl9pPr marL="1828846" algn="ctr" rtl="0" fontAlgn="base" latinLnBrk="1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r>
              <a:rPr lang="en-US" altLang="ko-KR" sz="800" ker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-</a:t>
            </a:r>
            <a:endParaRPr lang="ko-KR" altLang="en-US" sz="800" kern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" name="제목 1">
            <a:extLst>
              <a:ext uri="{FF2B5EF4-FFF2-40B4-BE49-F238E27FC236}">
                <a16:creationId xmlns:a16="http://schemas.microsoft.com/office/drawing/2014/main" xmlns="" id="{03F65532-A01C-4981-B987-5E15F64E3ABB}"/>
              </a:ext>
            </a:extLst>
          </p:cNvPr>
          <p:cNvSpPr txBox="1">
            <a:spLocks/>
          </p:cNvSpPr>
          <p:nvPr/>
        </p:nvSpPr>
        <p:spPr>
          <a:xfrm>
            <a:off x="3383718" y="142660"/>
            <a:ext cx="4320000" cy="216000"/>
          </a:xfrm>
          <a:prstGeom prst="rect">
            <a:avLst/>
          </a:prstGeom>
        </p:spPr>
        <p:txBody>
          <a:bodyPr lIns="180000" tIns="36000" rIns="180000" bIns="36000" anchor="ctr"/>
          <a:lstStyle>
            <a:lvl1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2pPr>
            <a:lvl3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3pPr>
            <a:lvl4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4pPr>
            <a:lvl5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5pPr>
            <a:lvl6pPr marL="457212" algn="ctr" rtl="0" fontAlgn="base" latinLnBrk="1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6pPr>
            <a:lvl7pPr marL="914423" algn="ctr" rtl="0" fontAlgn="base" latinLnBrk="1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7pPr>
            <a:lvl8pPr marL="1371634" algn="ctr" rtl="0" fontAlgn="base" latinLnBrk="1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8pPr>
            <a:lvl9pPr marL="1828846" algn="ctr" rtl="0" fontAlgn="base" latinLnBrk="1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l"/>
            <a:r>
              <a:rPr lang="ko-KR" altLang="en-US" sz="800" b="1" kern="0" smtClean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쇼핑백</a:t>
            </a:r>
            <a:endParaRPr lang="ko-KR" altLang="en-US" sz="800" b="1" kern="0" dirty="0">
              <a:solidFill>
                <a:srgbClr val="C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" name="제목 1">
            <a:extLst>
              <a:ext uri="{FF2B5EF4-FFF2-40B4-BE49-F238E27FC236}">
                <a16:creationId xmlns:a16="http://schemas.microsoft.com/office/drawing/2014/main" xmlns="" id="{E2CFB5AD-2840-4821-B288-2284D6C0A05E}"/>
              </a:ext>
            </a:extLst>
          </p:cNvPr>
          <p:cNvSpPr txBox="1">
            <a:spLocks/>
          </p:cNvSpPr>
          <p:nvPr/>
        </p:nvSpPr>
        <p:spPr>
          <a:xfrm>
            <a:off x="3383718" y="358660"/>
            <a:ext cx="4320000" cy="216000"/>
          </a:xfrm>
          <a:prstGeom prst="rect">
            <a:avLst/>
          </a:prstGeom>
        </p:spPr>
        <p:txBody>
          <a:bodyPr lIns="180000" tIns="36000" rIns="180000" bIns="36000" anchor="ctr"/>
          <a:lstStyle>
            <a:lvl1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2pPr>
            <a:lvl3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3pPr>
            <a:lvl4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4pPr>
            <a:lvl5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5pPr>
            <a:lvl6pPr marL="457212" algn="ctr" rtl="0" fontAlgn="base" latinLnBrk="1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6pPr>
            <a:lvl7pPr marL="914423" algn="ctr" rtl="0" fontAlgn="base" latinLnBrk="1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7pPr>
            <a:lvl8pPr marL="1371634" algn="ctr" rtl="0" fontAlgn="base" latinLnBrk="1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8pPr>
            <a:lvl9pPr marL="1828846" algn="ctr" rtl="0" fontAlgn="base" latinLnBrk="1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l"/>
            <a:r>
              <a:rPr lang="en-US" altLang="ko-KR" sz="800" ker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https://m.lfmall.co.kr/app/cart</a:t>
            </a:r>
            <a:endParaRPr lang="ko-KR" altLang="en-US" sz="800" kern="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10" name="제목 1"/>
          <p:cNvSpPr txBox="1">
            <a:spLocks/>
          </p:cNvSpPr>
          <p:nvPr/>
        </p:nvSpPr>
        <p:spPr>
          <a:xfrm>
            <a:off x="1223906" y="142660"/>
            <a:ext cx="1080000" cy="216000"/>
          </a:xfrm>
          <a:prstGeom prst="rect">
            <a:avLst/>
          </a:prstGeom>
        </p:spPr>
        <p:txBody>
          <a:bodyPr lIns="36000" tIns="36000" rIns="36000" bIns="36000" anchor="ctr"/>
          <a:lstStyle>
            <a:lvl1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2pPr>
            <a:lvl3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3pPr>
            <a:lvl4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4pPr>
            <a:lvl5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5pPr>
            <a:lvl6pPr marL="457212" algn="ctr" rtl="0" fontAlgn="base" latinLnBrk="1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6pPr>
            <a:lvl7pPr marL="914423" algn="ctr" rtl="0" fontAlgn="base" latinLnBrk="1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7pPr>
            <a:lvl8pPr marL="1371634" algn="ctr" rtl="0" fontAlgn="base" latinLnBrk="1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8pPr>
            <a:lvl9pPr marL="1828846" algn="ctr" rtl="0" fontAlgn="base" latinLnBrk="1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r>
              <a:rPr lang="en-US" altLang="ko-KR" sz="800" kern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Front-End</a:t>
            </a:r>
            <a:endParaRPr lang="ko-KR" altLang="en-US" sz="800" kern="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11" name="Group 118">
            <a:extLst>
              <a:ext uri="{FF2B5EF4-FFF2-40B4-BE49-F238E27FC236}">
                <a16:creationId xmlns:a16="http://schemas.microsoft.com/office/drawing/2014/main" xmlns="" id="{41B5A014-BEDB-439E-A302-DBCECEC856B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44494755"/>
              </p:ext>
            </p:extLst>
          </p:nvPr>
        </p:nvGraphicFramePr>
        <p:xfrm>
          <a:off x="9647906" y="709700"/>
          <a:ext cx="2376000" cy="1078752"/>
        </p:xfrm>
        <a:graphic>
          <a:graphicData uri="http://schemas.openxmlformats.org/drawingml/2006/table">
            <a:tbl>
              <a:tblPr/>
              <a:tblGrid>
                <a:gridCol w="21600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21600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2520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 Semilight" panose="020B0502040204020203" pitchFamily="50" charset="-127"/>
                        </a:rPr>
                        <a:t>No</a:t>
                      </a:r>
                    </a:p>
                  </a:txBody>
                  <a:tcPr marL="42203" marR="42203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en-US" altLang="ko-KR" sz="700" b="0" baseline="0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 Semilight" panose="020B0502040204020203" pitchFamily="50" charset="-127"/>
                        </a:rPr>
                        <a:t>Description</a:t>
                      </a:r>
                    </a:p>
                  </a:txBody>
                  <a:tcPr marL="108000" marR="108000" marT="36000" marB="3600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 Semilight" panose="020B0502040204020203" pitchFamily="50" charset="-127"/>
                        </a:rPr>
                        <a:t>1</a:t>
                      </a:r>
                    </a:p>
                  </a:txBody>
                  <a:tcPr marL="42203" marR="42203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ko-KR" altLang="en-US" sz="700" b="0" baseline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 Semilight" panose="020B0502040204020203" pitchFamily="50" charset="-127"/>
                        </a:rPr>
                        <a:t>쇼핑백 담긴 상품</a:t>
                      </a:r>
                      <a:endParaRPr lang="en-US" altLang="ko-KR" sz="700" b="0" baseline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Malgun Gothic Semilight" panose="020B0502040204020203" pitchFamily="50" charset="-127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en-US" altLang="ko-KR" sz="700" b="0" baseline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 Semilight" panose="020B0502040204020203" pitchFamily="50" charset="-127"/>
                        </a:rPr>
                        <a:t> - </a:t>
                      </a:r>
                      <a:r>
                        <a:rPr lang="ko-KR" altLang="en-US" sz="700" b="0" baseline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 Semilight" panose="020B0502040204020203" pitchFamily="50" charset="-127"/>
                        </a:rPr>
                        <a:t>선택 된 옵션이 </a:t>
                      </a:r>
                      <a:r>
                        <a:rPr lang="en-US" altLang="ko-KR" sz="700" b="0" baseline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 Semilight" panose="020B0502040204020203" pitchFamily="50" charset="-127"/>
                        </a:rPr>
                        <a:t>‘</a:t>
                      </a:r>
                      <a:r>
                        <a:rPr lang="ko-KR" altLang="en-US" sz="700" b="0" baseline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 Semilight" panose="020B0502040204020203" pitchFamily="50" charset="-127"/>
                        </a:rPr>
                        <a:t>비직송매장 재고</a:t>
                      </a:r>
                      <a:r>
                        <a:rPr lang="en-US" altLang="ko-KR" sz="700" b="0" baseline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 Semilight" panose="020B0502040204020203" pitchFamily="50" charset="-127"/>
                        </a:rPr>
                        <a:t>’ </a:t>
                      </a:r>
                      <a:r>
                        <a:rPr lang="ko-KR" altLang="en-US" sz="700" b="0" baseline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 Semilight" panose="020B0502040204020203" pitchFamily="50" charset="-127"/>
                        </a:rPr>
                        <a:t>만 존재하는 경우</a:t>
                      </a:r>
                      <a:r>
                        <a:rPr lang="en-US" altLang="ko-KR" sz="700" b="0" baseline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 Semilight" panose="020B0502040204020203" pitchFamily="50" charset="-127"/>
                        </a:rPr>
                        <a:t>,</a:t>
                      </a:r>
                      <a:r>
                        <a:rPr lang="ko-KR" altLang="en-US" sz="700" b="0" baseline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 Semilight" panose="020B0502040204020203" pitchFamily="50" charset="-127"/>
                        </a:rPr>
                        <a:t> 배송 정보 안내 영역에 </a:t>
                      </a:r>
                      <a:r>
                        <a:rPr lang="en-US" altLang="ko-KR" sz="700" b="0" baseline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 Semilight" panose="020B0502040204020203" pitchFamily="50" charset="-127"/>
                        </a:rPr>
                        <a:t>‘</a:t>
                      </a:r>
                      <a:r>
                        <a:rPr lang="ko-KR" altLang="en-US" sz="700" b="0" baseline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 Semilight" panose="020B0502040204020203" pitchFamily="50" charset="-127"/>
                        </a:rPr>
                        <a:t>매장상품배송</a:t>
                      </a:r>
                      <a:r>
                        <a:rPr lang="en-US" altLang="ko-KR" sz="700" b="0" baseline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 Semilight" panose="020B0502040204020203" pitchFamily="50" charset="-127"/>
                        </a:rPr>
                        <a:t>’ </a:t>
                      </a:r>
                      <a:r>
                        <a:rPr lang="ko-KR" altLang="en-US" sz="700" b="0" baseline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 Semilight" panose="020B0502040204020203" pitchFamily="50" charset="-127"/>
                        </a:rPr>
                        <a:t>표현</a:t>
                      </a:r>
                      <a:endParaRPr lang="en-US" altLang="ko-KR" sz="700" b="0" baseline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108000" marR="108000" marT="36000" marB="3600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 Semilight" panose="020B0502040204020203" pitchFamily="50" charset="-127"/>
                        </a:rPr>
                        <a:t>2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42203" marR="42203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ko-KR" altLang="en-US" sz="700" b="0" baseline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  <a:cs typeface="Malgun Gothic Semilight" panose="020B0502040204020203" pitchFamily="50" charset="-127"/>
                        </a:rPr>
                        <a:t>옵션 변경 기능</a:t>
                      </a:r>
                      <a:endParaRPr lang="en-US" altLang="ko-KR" sz="700" b="0" baseline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  <a:cs typeface="Malgun Gothic Semilight" panose="020B0502040204020203" pitchFamily="50" charset="-127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en-US" altLang="ko-KR" sz="700" b="0" baseline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  <a:cs typeface="Malgun Gothic Semilight" panose="020B0502040204020203" pitchFamily="50" charset="-127"/>
                        </a:rPr>
                        <a:t> - </a:t>
                      </a:r>
                      <a:r>
                        <a:rPr lang="ko-KR" altLang="en-US" sz="700" b="0" baseline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  <a:cs typeface="Malgun Gothic Semilight" panose="020B0502040204020203" pitchFamily="50" charset="-127"/>
                        </a:rPr>
                        <a:t>사이즈 단위 </a:t>
                      </a:r>
                      <a:r>
                        <a:rPr lang="en-US" altLang="ko-KR" sz="700" b="0" baseline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  <a:cs typeface="Malgun Gothic Semilight" panose="020B0502040204020203" pitchFamily="50" charset="-127"/>
                        </a:rPr>
                        <a:t>‘</a:t>
                      </a:r>
                      <a:r>
                        <a:rPr lang="ko-KR" altLang="en-US" sz="700" b="0" baseline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  <a:cs typeface="Malgun Gothic Semilight" panose="020B0502040204020203" pitchFamily="50" charset="-127"/>
                        </a:rPr>
                        <a:t>비직송매장 재고</a:t>
                      </a:r>
                      <a:r>
                        <a:rPr lang="en-US" altLang="ko-KR" sz="700" b="0" baseline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  <a:cs typeface="Malgun Gothic Semilight" panose="020B0502040204020203" pitchFamily="50" charset="-127"/>
                        </a:rPr>
                        <a:t>’ </a:t>
                      </a:r>
                      <a:r>
                        <a:rPr lang="ko-KR" altLang="en-US" sz="700" b="0" baseline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  <a:cs typeface="Malgun Gothic Semilight" panose="020B0502040204020203" pitchFamily="50" charset="-127"/>
                        </a:rPr>
                        <a:t>만 존재하는 경우</a:t>
                      </a:r>
                      <a:r>
                        <a:rPr lang="en-US" altLang="ko-KR" sz="700" b="0" baseline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  <a:cs typeface="Malgun Gothic Semilight" panose="020B0502040204020203" pitchFamily="50" charset="-127"/>
                        </a:rPr>
                        <a:t>, </a:t>
                      </a:r>
                      <a:r>
                        <a:rPr lang="ko-KR" altLang="en-US" sz="700" b="0" baseline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  <a:cs typeface="Malgun Gothic Semilight" panose="020B0502040204020203" pitchFamily="50" charset="-127"/>
                        </a:rPr>
                        <a:t>매장상품배송 </a:t>
                      </a:r>
                      <a:r>
                        <a:rPr lang="en-US" altLang="ko-KR" sz="700" b="0" baseline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  <a:cs typeface="Malgun Gothic Semilight" panose="020B0502040204020203" pitchFamily="50" charset="-127"/>
                        </a:rPr>
                        <a:t>Flag </a:t>
                      </a:r>
                      <a:r>
                        <a:rPr lang="ko-KR" altLang="en-US" sz="700" b="0" baseline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  <a:cs typeface="Malgun Gothic Semilight" panose="020B0502040204020203" pitchFamily="50" charset="-127"/>
                        </a:rPr>
                        <a:t>표현</a:t>
                      </a:r>
                      <a:endParaRPr lang="en-US" altLang="ko-KR" sz="700" b="0" baseline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  <a:cs typeface="Malgun Gothic Semilight" panose="020B0502040204020203" pitchFamily="50" charset="-127"/>
                      </a:endParaRPr>
                    </a:p>
                  </a:txBody>
                  <a:tcPr marL="108000" marR="108000" marT="36000" marB="3600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</a:tbl>
          </a:graphicData>
        </a:graphic>
      </p:graphicFrame>
      <p:sp>
        <p:nvSpPr>
          <p:cNvPr id="76" name="직사각형 75">
            <a:extLst>
              <a:ext uri="{FF2B5EF4-FFF2-40B4-BE49-F238E27FC236}">
                <a16:creationId xmlns:a16="http://schemas.microsoft.com/office/drawing/2014/main" xmlns="" id="{19FD5FA0-B111-4EF7-BC86-418441928DD3}"/>
              </a:ext>
            </a:extLst>
          </p:cNvPr>
          <p:cNvSpPr/>
          <p:nvPr/>
        </p:nvSpPr>
        <p:spPr>
          <a:xfrm>
            <a:off x="145179" y="709700"/>
            <a:ext cx="2879209" cy="359774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700">
              <a:solidFill>
                <a:prstClr val="black">
                  <a:lumMod val="75000"/>
                  <a:lumOff val="25000"/>
                </a:prst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229" name="TextBox 228">
            <a:extLst>
              <a:ext uri="{FF2B5EF4-FFF2-40B4-BE49-F238E27FC236}">
                <a16:creationId xmlns="" xmlns:a16="http://schemas.microsoft.com/office/drawing/2014/main" id="{0C96C875-C47F-4F5B-B4C1-F9D666A7BD9D}"/>
              </a:ext>
            </a:extLst>
          </p:cNvPr>
          <p:cNvSpPr txBox="1"/>
          <p:nvPr/>
        </p:nvSpPr>
        <p:spPr>
          <a:xfrm>
            <a:off x="541573" y="777877"/>
            <a:ext cx="600848" cy="223647"/>
          </a:xfrm>
          <a:prstGeom prst="rect">
            <a:avLst/>
          </a:prstGeom>
          <a:noFill/>
          <a:ln w="317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108000" tIns="36000" rIns="108000" bIns="36000" numCol="1" rtlCol="0" anchor="ctr" anchorCtr="0" compatLnSpc="1">
            <a:prstTxWarp prst="textNoShape">
              <a:avLst/>
            </a:prstTxWarp>
            <a:spAutoFit/>
          </a:bodyPr>
          <a:lstStyle/>
          <a:p>
            <a:r>
              <a:rPr lang="ko-KR" altLang="en-US" sz="800" b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쇼핑백</a:t>
            </a:r>
            <a:endParaRPr lang="ko-KR" altLang="en-US" sz="800" b="1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</a:endParaRPr>
          </a:p>
        </p:txBody>
      </p:sp>
      <p:pic>
        <p:nvPicPr>
          <p:cNvPr id="230" name="Picture 2" descr="https://img.lfmall.co.kr/file/WAS/display/lf2022/mobile/gnb_fnb_sp.png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00" t="38037" r="84922" b="38044"/>
          <a:stretch/>
        </p:blipFill>
        <p:spPr bwMode="auto">
          <a:xfrm>
            <a:off x="289140" y="799757"/>
            <a:ext cx="181542" cy="1798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31" name="그룹 230"/>
          <p:cNvGrpSpPr/>
          <p:nvPr/>
        </p:nvGrpSpPr>
        <p:grpSpPr>
          <a:xfrm>
            <a:off x="2663105" y="799757"/>
            <a:ext cx="179951" cy="179887"/>
            <a:chOff x="3851495" y="6190100"/>
            <a:chExt cx="180000" cy="180000"/>
          </a:xfrm>
        </p:grpSpPr>
        <p:sp>
          <p:nvSpPr>
            <p:cNvPr id="290" name="직사각형 289"/>
            <p:cNvSpPr/>
            <p:nvPr/>
          </p:nvSpPr>
          <p:spPr>
            <a:xfrm>
              <a:off x="3851495" y="6190100"/>
              <a:ext cx="180000" cy="180000"/>
            </a:xfrm>
            <a:prstGeom prst="rect">
              <a:avLst/>
            </a:prstGeom>
            <a:no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700"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291" name="오각형 290"/>
            <p:cNvSpPr/>
            <p:nvPr/>
          </p:nvSpPr>
          <p:spPr>
            <a:xfrm rot="16200000">
              <a:off x="3869495" y="6217101"/>
              <a:ext cx="144000" cy="126000"/>
            </a:xfrm>
            <a:prstGeom prst="homePlate">
              <a:avLst/>
            </a:prstGeom>
            <a:grpFill/>
            <a:ln w="952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700"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</a:endParaRPr>
            </a:p>
          </p:txBody>
        </p:sp>
        <p:cxnSp>
          <p:nvCxnSpPr>
            <p:cNvPr id="292" name="직선 연결선 291"/>
            <p:cNvCxnSpPr/>
            <p:nvPr/>
          </p:nvCxnSpPr>
          <p:spPr>
            <a:xfrm>
              <a:off x="3860495" y="6282659"/>
              <a:ext cx="162000" cy="0"/>
            </a:xfrm>
            <a:prstGeom prst="line">
              <a:avLst/>
            </a:prstGeom>
            <a:ln w="952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3" name="직선 연결선 292"/>
            <p:cNvCxnSpPr/>
            <p:nvPr/>
          </p:nvCxnSpPr>
          <p:spPr>
            <a:xfrm rot="5400000">
              <a:off x="3923495" y="6348290"/>
              <a:ext cx="36000" cy="0"/>
            </a:xfrm>
            <a:prstGeom prst="line">
              <a:avLst/>
            </a:prstGeom>
            <a:ln w="952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60" name="직사각형 259">
            <a:extLst>
              <a:ext uri="{FF2B5EF4-FFF2-40B4-BE49-F238E27FC236}">
                <a16:creationId xmlns:a16="http://schemas.microsoft.com/office/drawing/2014/main" xmlns="" id="{F9776C3A-3D6C-4965-9DA5-D76F1E6E1639}"/>
              </a:ext>
            </a:extLst>
          </p:cNvPr>
          <p:cNvSpPr/>
          <p:nvPr/>
        </p:nvSpPr>
        <p:spPr>
          <a:xfrm>
            <a:off x="145180" y="709700"/>
            <a:ext cx="2879209" cy="5684425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700">
              <a:solidFill>
                <a:prstClr val="black">
                  <a:lumMod val="75000"/>
                  <a:lumOff val="25000"/>
                </a:prst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233" name="직사각형 232">
            <a:extLst>
              <a:ext uri="{FF2B5EF4-FFF2-40B4-BE49-F238E27FC236}">
                <a16:creationId xmlns:a16="http://schemas.microsoft.com/office/drawing/2014/main" xmlns="" id="{19FD5FA0-B111-4EF7-BC86-418441928DD3}"/>
              </a:ext>
            </a:extLst>
          </p:cNvPr>
          <p:cNvSpPr/>
          <p:nvPr/>
        </p:nvSpPr>
        <p:spPr>
          <a:xfrm>
            <a:off x="145180" y="1068672"/>
            <a:ext cx="2879209" cy="359774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700">
              <a:solidFill>
                <a:prstClr val="black">
                  <a:lumMod val="75000"/>
                  <a:lumOff val="25000"/>
                </a:prst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234" name="TextBox 233"/>
          <p:cNvSpPr txBox="1"/>
          <p:nvPr/>
        </p:nvSpPr>
        <p:spPr>
          <a:xfrm>
            <a:off x="339057" y="1134314"/>
            <a:ext cx="547985" cy="22849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ko-KR" altLang="en-US" sz="700" b="1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일반</a:t>
            </a:r>
            <a:r>
              <a:rPr lang="en-US" altLang="ko-KR" sz="700" b="1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(4)</a:t>
            </a:r>
            <a:endParaRPr lang="ko-KR" altLang="en-US" sz="700" b="1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35" name="TextBox 234"/>
          <p:cNvSpPr txBox="1"/>
          <p:nvPr/>
        </p:nvSpPr>
        <p:spPr>
          <a:xfrm>
            <a:off x="1214639" y="1134314"/>
            <a:ext cx="740293" cy="22849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ko-KR" altLang="en-US" sz="700" smtClean="0">
                <a:solidFill>
                  <a:schemeClr val="tx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구매대행</a:t>
            </a:r>
            <a:r>
              <a:rPr lang="en-US" altLang="ko-KR" sz="700" smtClean="0">
                <a:solidFill>
                  <a:schemeClr val="tx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(0)</a:t>
            </a:r>
            <a:endParaRPr lang="ko-KR" altLang="en-US" sz="700" dirty="0">
              <a:solidFill>
                <a:schemeClr val="tx1">
                  <a:lumMod val="50000"/>
                  <a:lumOff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36" name="TextBox 235"/>
          <p:cNvSpPr txBox="1"/>
          <p:nvPr/>
        </p:nvSpPr>
        <p:spPr>
          <a:xfrm>
            <a:off x="2237653" y="1134314"/>
            <a:ext cx="637729" cy="22849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ko-KR" altLang="en-US" sz="700" smtClean="0">
                <a:solidFill>
                  <a:schemeClr val="tx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패밀리</a:t>
            </a:r>
            <a:r>
              <a:rPr lang="en-US" altLang="ko-KR" sz="700" smtClean="0">
                <a:solidFill>
                  <a:schemeClr val="tx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(1)</a:t>
            </a:r>
            <a:endParaRPr lang="ko-KR" altLang="en-US" sz="700" dirty="0">
              <a:solidFill>
                <a:schemeClr val="tx1">
                  <a:lumMod val="50000"/>
                  <a:lumOff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37" name="직사각형 236">
            <a:extLst>
              <a:ext uri="{FF2B5EF4-FFF2-40B4-BE49-F238E27FC236}">
                <a16:creationId xmlns:a16="http://schemas.microsoft.com/office/drawing/2014/main" xmlns="" id="{19FD5FA0-B111-4EF7-BC86-418441928DD3}"/>
              </a:ext>
            </a:extLst>
          </p:cNvPr>
          <p:cNvSpPr/>
          <p:nvPr/>
        </p:nvSpPr>
        <p:spPr>
          <a:xfrm>
            <a:off x="145180" y="1427774"/>
            <a:ext cx="2879209" cy="359774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700">
              <a:solidFill>
                <a:prstClr val="black">
                  <a:lumMod val="75000"/>
                  <a:lumOff val="25000"/>
                </a:prstClr>
              </a:solidFill>
              <a:latin typeface="맑은 고딕" panose="020B0503020000020004" pitchFamily="50" charset="-127"/>
            </a:endParaRPr>
          </a:p>
        </p:txBody>
      </p:sp>
      <p:cxnSp>
        <p:nvCxnSpPr>
          <p:cNvPr id="238" name="직선 연결선 237"/>
          <p:cNvCxnSpPr/>
          <p:nvPr/>
        </p:nvCxnSpPr>
        <p:spPr>
          <a:xfrm>
            <a:off x="145179" y="1428446"/>
            <a:ext cx="935743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39" name="그룹 238"/>
          <p:cNvGrpSpPr/>
          <p:nvPr/>
        </p:nvGrpSpPr>
        <p:grpSpPr>
          <a:xfrm>
            <a:off x="323858" y="1504626"/>
            <a:ext cx="958455" cy="206070"/>
            <a:chOff x="323906" y="5645204"/>
            <a:chExt cx="958718" cy="206200"/>
          </a:xfrm>
        </p:grpSpPr>
        <p:sp>
          <p:nvSpPr>
            <p:cNvPr id="287" name="사각형: 둥근 모서리 393">
              <a:extLst>
                <a:ext uri="{FF2B5EF4-FFF2-40B4-BE49-F238E27FC236}">
                  <a16:creationId xmlns="" xmlns:a16="http://schemas.microsoft.com/office/drawing/2014/main" id="{64F9493E-5C70-429B-84F6-3004F8930EFB}"/>
                </a:ext>
              </a:extLst>
            </p:cNvPr>
            <p:cNvSpPr/>
            <p:nvPr/>
          </p:nvSpPr>
          <p:spPr bwMode="auto">
            <a:xfrm>
              <a:off x="323906" y="5658304"/>
              <a:ext cx="180000" cy="180000"/>
            </a:xfrm>
            <a:prstGeom prst="roundRect">
              <a:avLst/>
            </a:prstGeom>
            <a:solidFill>
              <a:schemeClr val="bg1"/>
            </a:solidFill>
            <a:ln w="3175" cap="flat" cmpd="sng" algn="ctr">
              <a:solidFill>
                <a:schemeClr val="bg1">
                  <a:lumMod val="7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>
              <a:innerShdw blurRad="12700" dist="12700" dir="13500000">
                <a:schemeClr val="tx1">
                  <a:lumMod val="75000"/>
                  <a:lumOff val="25000"/>
                  <a:alpha val="30000"/>
                </a:schemeClr>
              </a:innerShdw>
            </a:effectLst>
          </p:spPr>
          <p:txBody>
  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fontAlgn="base" latinLnBrk="0">
                <a:spcBef>
                  <a:spcPct val="0"/>
                </a:spcBef>
                <a:spcAft>
                  <a:spcPct val="0"/>
                </a:spcAft>
              </a:pPr>
              <a:endParaRPr kumimoji="1" lang="ko-KR" altLang="en-US" sz="600" b="1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288" name="Accept"/>
            <p:cNvSpPr>
              <a:spLocks noChangeAspect="1"/>
            </p:cNvSpPr>
            <p:nvPr/>
          </p:nvSpPr>
          <p:spPr bwMode="auto">
            <a:xfrm>
              <a:off x="363202" y="5703304"/>
              <a:ext cx="101409" cy="90000"/>
            </a:xfrm>
            <a:custGeom>
              <a:avLst/>
              <a:gdLst>
                <a:gd name="T0" fmla="*/ 504 w 525"/>
                <a:gd name="T1" fmla="*/ 3 h 467"/>
                <a:gd name="T2" fmla="*/ 495 w 525"/>
                <a:gd name="T3" fmla="*/ 9 h 467"/>
                <a:gd name="T4" fmla="*/ 223 w 525"/>
                <a:gd name="T5" fmla="*/ 431 h 467"/>
                <a:gd name="T6" fmla="*/ 35 w 525"/>
                <a:gd name="T7" fmla="*/ 262 h 467"/>
                <a:gd name="T8" fmla="*/ 18 w 525"/>
                <a:gd name="T9" fmla="*/ 282 h 467"/>
                <a:gd name="T10" fmla="*/ 217 w 525"/>
                <a:gd name="T11" fmla="*/ 462 h 467"/>
                <a:gd name="T12" fmla="*/ 237 w 525"/>
                <a:gd name="T13" fmla="*/ 459 h 467"/>
                <a:gd name="T14" fmla="*/ 518 w 525"/>
                <a:gd name="T15" fmla="*/ 23 h 467"/>
                <a:gd name="T16" fmla="*/ 504 w 525"/>
                <a:gd name="T17" fmla="*/ 3 h 4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25" h="467">
                  <a:moveTo>
                    <a:pt x="504" y="3"/>
                  </a:moveTo>
                  <a:cubicBezTo>
                    <a:pt x="500" y="3"/>
                    <a:pt x="497" y="6"/>
                    <a:pt x="495" y="9"/>
                  </a:cubicBezTo>
                  <a:lnTo>
                    <a:pt x="223" y="431"/>
                  </a:lnTo>
                  <a:lnTo>
                    <a:pt x="35" y="262"/>
                  </a:lnTo>
                  <a:cubicBezTo>
                    <a:pt x="22" y="245"/>
                    <a:pt x="0" y="271"/>
                    <a:pt x="18" y="282"/>
                  </a:cubicBezTo>
                  <a:lnTo>
                    <a:pt x="217" y="462"/>
                  </a:lnTo>
                  <a:cubicBezTo>
                    <a:pt x="223" y="467"/>
                    <a:pt x="232" y="466"/>
                    <a:pt x="237" y="459"/>
                  </a:cubicBezTo>
                  <a:lnTo>
                    <a:pt x="518" y="23"/>
                  </a:lnTo>
                  <a:cubicBezTo>
                    <a:pt x="525" y="13"/>
                    <a:pt x="515" y="0"/>
                    <a:pt x="504" y="3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914400" latinLnBrk="0"/>
              <a:endParaRPr lang="en-US" sz="80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289" name="TextBox 288">
              <a:extLst>
                <a:ext uri="{FF2B5EF4-FFF2-40B4-BE49-F238E27FC236}">
                  <a16:creationId xmlns="" xmlns:a16="http://schemas.microsoft.com/office/drawing/2014/main" id="{0C96C875-C47F-4F5B-B4C1-F9D666A7BD9D}"/>
                </a:ext>
              </a:extLst>
            </p:cNvPr>
            <p:cNvSpPr txBox="1"/>
            <p:nvPr/>
          </p:nvSpPr>
          <p:spPr>
            <a:xfrm>
              <a:off x="503906" y="5645204"/>
              <a:ext cx="778718" cy="206200"/>
            </a:xfrm>
            <a:prstGeom prst="rect">
              <a:avLst/>
            </a:prstGeom>
            <a:noFill/>
            <a:ln w="3175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none" lIns="108000" tIns="36000" rIns="108000" bIns="36000" numCol="1" rtlCol="0" anchor="ctr" anchorCtr="0" compatLnSpc="1">
              <a:prstTxWarp prst="textNoShape">
                <a:avLst/>
              </a:prstTxWarp>
              <a:spAutoFit/>
            </a:bodyPr>
            <a:lstStyle>
              <a:defPPr>
                <a:defRPr lang="ko-KR"/>
              </a:defPPr>
              <a:lvl1pPr>
                <a:defRPr sz="800">
                  <a:solidFill>
                    <a:prstClr val="black">
                      <a:lumMod val="75000"/>
                      <a:lumOff val="25000"/>
                    </a:prstClr>
                  </a:solidFill>
                  <a:latin typeface="맑은 고딕" panose="020B0503020000020004" pitchFamily="50" charset="-127"/>
                </a:defRPr>
              </a:lvl1pPr>
            </a:lstStyle>
            <a:p>
              <a:r>
                <a:rPr lang="ko-KR" altLang="en-US" sz="700" smtClean="0"/>
                <a:t>선택상품</a:t>
              </a:r>
              <a:r>
                <a:rPr lang="en-US" altLang="ko-KR" sz="700" smtClean="0"/>
                <a:t>(1)</a:t>
              </a:r>
              <a:endParaRPr lang="ko-KR" altLang="en-US" sz="700" dirty="0"/>
            </a:p>
          </p:txBody>
        </p:sp>
      </p:grpSp>
      <p:sp>
        <p:nvSpPr>
          <p:cNvPr id="240" name="모서리가 둥근 직사각형 239">
            <a:extLst>
              <a:ext uri="{FF2B5EF4-FFF2-40B4-BE49-F238E27FC236}">
                <a16:creationId xmlns="" xmlns:a16="http://schemas.microsoft.com/office/drawing/2014/main" id="{19FD5FA0-B111-4EF7-BC86-418441928DD3}"/>
              </a:ext>
            </a:extLst>
          </p:cNvPr>
          <p:cNvSpPr/>
          <p:nvPr/>
        </p:nvSpPr>
        <p:spPr>
          <a:xfrm>
            <a:off x="2482117" y="1499729"/>
            <a:ext cx="359901" cy="215864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noAutofit/>
          </a:bodyPr>
          <a:lstStyle/>
          <a:p>
            <a:pPr algn="ctr"/>
            <a:r>
              <a:rPr lang="ko-KR" altLang="en-US" sz="700" smtClean="0"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</a:rPr>
              <a:t>삭제</a:t>
            </a:r>
            <a:endParaRPr lang="ko-KR" altLang="en-US" sz="700">
              <a:solidFill>
                <a:prstClr val="black">
                  <a:lumMod val="75000"/>
                  <a:lumOff val="25000"/>
                </a:prst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241" name="모서리가 둥근 직사각형 240">
            <a:extLst>
              <a:ext uri="{FF2B5EF4-FFF2-40B4-BE49-F238E27FC236}">
                <a16:creationId xmlns="" xmlns:a16="http://schemas.microsoft.com/office/drawing/2014/main" id="{19FD5FA0-B111-4EF7-BC86-418441928DD3}"/>
              </a:ext>
            </a:extLst>
          </p:cNvPr>
          <p:cNvSpPr/>
          <p:nvPr/>
        </p:nvSpPr>
        <p:spPr>
          <a:xfrm>
            <a:off x="1618354" y="1499729"/>
            <a:ext cx="791782" cy="215864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noAutofit/>
          </a:bodyPr>
          <a:lstStyle/>
          <a:p>
            <a:pPr algn="ctr"/>
            <a:r>
              <a:rPr lang="ko-KR" altLang="en-US" sz="700" smtClean="0"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</a:rPr>
              <a:t>패밀리 쇼핑백</a:t>
            </a:r>
            <a:endParaRPr lang="ko-KR" altLang="en-US" sz="700">
              <a:solidFill>
                <a:prstClr val="black">
                  <a:lumMod val="75000"/>
                  <a:lumOff val="25000"/>
                </a:prst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232" name="직사각형 231">
            <a:extLst>
              <a:ext uri="{FF2B5EF4-FFF2-40B4-BE49-F238E27FC236}">
                <a16:creationId xmlns:a16="http://schemas.microsoft.com/office/drawing/2014/main" xmlns="" id="{19FD5FA0-B111-4EF7-BC86-418441928DD3}"/>
              </a:ext>
            </a:extLst>
          </p:cNvPr>
          <p:cNvSpPr/>
          <p:nvPr/>
        </p:nvSpPr>
        <p:spPr>
          <a:xfrm>
            <a:off x="145180" y="1858964"/>
            <a:ext cx="2879209" cy="2052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700">
              <a:solidFill>
                <a:prstClr val="black">
                  <a:lumMod val="75000"/>
                  <a:lumOff val="25000"/>
                </a:prst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242" name="사각형: 둥근 모서리 393">
            <a:extLst>
              <a:ext uri="{FF2B5EF4-FFF2-40B4-BE49-F238E27FC236}">
                <a16:creationId xmlns="" xmlns:a16="http://schemas.microsoft.com/office/drawing/2014/main" id="{64F9493E-5C70-429B-84F6-3004F8930EFB}"/>
              </a:ext>
            </a:extLst>
          </p:cNvPr>
          <p:cNvSpPr/>
          <p:nvPr/>
        </p:nvSpPr>
        <p:spPr bwMode="auto">
          <a:xfrm>
            <a:off x="323858" y="2003478"/>
            <a:ext cx="179951" cy="179887"/>
          </a:xfrm>
          <a:prstGeom prst="roundRect">
            <a:avLst/>
          </a:prstGeom>
          <a:solidFill>
            <a:schemeClr val="bg1"/>
          </a:solidFill>
          <a:ln w="3175" cap="flat" cmpd="sng" algn="ctr">
            <a:solidFill>
              <a:schemeClr val="bg1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>
            <a:innerShdw blurRad="12700" dist="12700" dir="13500000">
              <a:schemeClr val="tx1">
                <a:lumMod val="75000"/>
                <a:lumOff val="25000"/>
                <a:alpha val="30000"/>
              </a:schemeClr>
            </a:innerShdw>
          </a:effectLst>
        </p:spPr>
        <p:txBody>
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fontAlgn="base" latinLnBrk="0">
              <a:spcBef>
                <a:spcPct val="0"/>
              </a:spcBef>
              <a:spcAft>
                <a:spcPct val="0"/>
              </a:spcAft>
            </a:pPr>
            <a:endParaRPr kumimoji="1" lang="ko-KR" altLang="en-US" sz="600" b="1" kern="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243" name="Accept"/>
          <p:cNvSpPr>
            <a:spLocks noChangeAspect="1"/>
          </p:cNvSpPr>
          <p:nvPr/>
        </p:nvSpPr>
        <p:spPr bwMode="auto">
          <a:xfrm>
            <a:off x="363143" y="2048450"/>
            <a:ext cx="101381" cy="89943"/>
          </a:xfrm>
          <a:custGeom>
            <a:avLst/>
            <a:gdLst>
              <a:gd name="T0" fmla="*/ 504 w 525"/>
              <a:gd name="T1" fmla="*/ 3 h 467"/>
              <a:gd name="T2" fmla="*/ 495 w 525"/>
              <a:gd name="T3" fmla="*/ 9 h 467"/>
              <a:gd name="T4" fmla="*/ 223 w 525"/>
              <a:gd name="T5" fmla="*/ 431 h 467"/>
              <a:gd name="T6" fmla="*/ 35 w 525"/>
              <a:gd name="T7" fmla="*/ 262 h 467"/>
              <a:gd name="T8" fmla="*/ 18 w 525"/>
              <a:gd name="T9" fmla="*/ 282 h 467"/>
              <a:gd name="T10" fmla="*/ 217 w 525"/>
              <a:gd name="T11" fmla="*/ 462 h 467"/>
              <a:gd name="T12" fmla="*/ 237 w 525"/>
              <a:gd name="T13" fmla="*/ 459 h 467"/>
              <a:gd name="T14" fmla="*/ 518 w 525"/>
              <a:gd name="T15" fmla="*/ 23 h 467"/>
              <a:gd name="T16" fmla="*/ 504 w 525"/>
              <a:gd name="T17" fmla="*/ 3 h 46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525" h="467">
                <a:moveTo>
                  <a:pt x="504" y="3"/>
                </a:moveTo>
                <a:cubicBezTo>
                  <a:pt x="500" y="3"/>
                  <a:pt x="497" y="6"/>
                  <a:pt x="495" y="9"/>
                </a:cubicBezTo>
                <a:lnTo>
                  <a:pt x="223" y="431"/>
                </a:lnTo>
                <a:lnTo>
                  <a:pt x="35" y="262"/>
                </a:lnTo>
                <a:cubicBezTo>
                  <a:pt x="22" y="245"/>
                  <a:pt x="0" y="271"/>
                  <a:pt x="18" y="282"/>
                </a:cubicBezTo>
                <a:lnTo>
                  <a:pt x="217" y="462"/>
                </a:lnTo>
                <a:cubicBezTo>
                  <a:pt x="223" y="467"/>
                  <a:pt x="232" y="466"/>
                  <a:pt x="237" y="459"/>
                </a:cubicBezTo>
                <a:lnTo>
                  <a:pt x="518" y="23"/>
                </a:lnTo>
                <a:cubicBezTo>
                  <a:pt x="525" y="13"/>
                  <a:pt x="515" y="0"/>
                  <a:pt x="504" y="3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defTabSz="914400" latinLnBrk="0"/>
            <a:endParaRPr lang="en-US" sz="80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44" name="TextBox 243">
            <a:extLst>
              <a:ext uri="{FF2B5EF4-FFF2-40B4-BE49-F238E27FC236}">
                <a16:creationId xmlns="" xmlns:a16="http://schemas.microsoft.com/office/drawing/2014/main" id="{0C96C875-C47F-4F5B-B4C1-F9D666A7BD9D}"/>
              </a:ext>
            </a:extLst>
          </p:cNvPr>
          <p:cNvSpPr txBox="1"/>
          <p:nvPr/>
        </p:nvSpPr>
        <p:spPr>
          <a:xfrm>
            <a:off x="503809" y="2003209"/>
            <a:ext cx="564358" cy="180426"/>
          </a:xfrm>
          <a:prstGeom prst="rect">
            <a:avLst/>
          </a:prstGeom>
          <a:noFill/>
          <a:ln w="317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108000" tIns="36000" rIns="108000" bIns="36000" numCol="1" rtlCol="0" anchor="ctr" anchorCtr="0" compatLnSpc="1">
            <a:prstTxWarp prst="textNoShape">
              <a:avLst/>
            </a:prstTxWarp>
            <a:spAutoFit/>
          </a:bodyPr>
          <a:lstStyle>
            <a:defPPr>
              <a:defRPr lang="ko-KR"/>
            </a:defPPr>
            <a:lvl1pPr>
              <a:defRPr sz="800"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</a:defRPr>
            </a:lvl1pPr>
          </a:lstStyle>
          <a:p>
            <a:r>
              <a:rPr lang="en-US" altLang="ko-KR" sz="700" b="1" smtClean="0"/>
              <a:t>HAZZYS</a:t>
            </a:r>
          </a:p>
        </p:txBody>
      </p:sp>
      <p:sp>
        <p:nvSpPr>
          <p:cNvPr id="245" name="Delete"/>
          <p:cNvSpPr>
            <a:spLocks noChangeAspect="1"/>
          </p:cNvSpPr>
          <p:nvPr/>
        </p:nvSpPr>
        <p:spPr bwMode="auto">
          <a:xfrm>
            <a:off x="2734047" y="2129565"/>
            <a:ext cx="107971" cy="107932"/>
          </a:xfrm>
          <a:custGeom>
            <a:avLst/>
            <a:gdLst>
              <a:gd name="T0" fmla="*/ 3 w 77"/>
              <a:gd name="T1" fmla="*/ 0 h 77"/>
              <a:gd name="T2" fmla="*/ 0 w 77"/>
              <a:gd name="T3" fmla="*/ 3 h 77"/>
              <a:gd name="T4" fmla="*/ 36 w 77"/>
              <a:gd name="T5" fmla="*/ 38 h 77"/>
              <a:gd name="T6" fmla="*/ 0 w 77"/>
              <a:gd name="T7" fmla="*/ 74 h 77"/>
              <a:gd name="T8" fmla="*/ 3 w 77"/>
              <a:gd name="T9" fmla="*/ 77 h 77"/>
              <a:gd name="T10" fmla="*/ 39 w 77"/>
              <a:gd name="T11" fmla="*/ 41 h 77"/>
              <a:gd name="T12" fmla="*/ 74 w 77"/>
              <a:gd name="T13" fmla="*/ 77 h 77"/>
              <a:gd name="T14" fmla="*/ 77 w 77"/>
              <a:gd name="T15" fmla="*/ 74 h 77"/>
              <a:gd name="T16" fmla="*/ 42 w 77"/>
              <a:gd name="T17" fmla="*/ 38 h 77"/>
              <a:gd name="T18" fmla="*/ 77 w 77"/>
              <a:gd name="T19" fmla="*/ 3 h 77"/>
              <a:gd name="T20" fmla="*/ 74 w 77"/>
              <a:gd name="T21" fmla="*/ 0 h 77"/>
              <a:gd name="T22" fmla="*/ 39 w 77"/>
              <a:gd name="T23" fmla="*/ 35 h 77"/>
              <a:gd name="T24" fmla="*/ 3 w 77"/>
              <a:gd name="T25" fmla="*/ 0 h 7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77" h="77">
                <a:moveTo>
                  <a:pt x="3" y="0"/>
                </a:moveTo>
                <a:lnTo>
                  <a:pt x="0" y="3"/>
                </a:lnTo>
                <a:lnTo>
                  <a:pt x="36" y="38"/>
                </a:lnTo>
                <a:lnTo>
                  <a:pt x="0" y="74"/>
                </a:lnTo>
                <a:lnTo>
                  <a:pt x="3" y="77"/>
                </a:lnTo>
                <a:lnTo>
                  <a:pt x="39" y="41"/>
                </a:lnTo>
                <a:lnTo>
                  <a:pt x="74" y="77"/>
                </a:lnTo>
                <a:lnTo>
                  <a:pt x="77" y="74"/>
                </a:lnTo>
                <a:lnTo>
                  <a:pt x="42" y="38"/>
                </a:lnTo>
                <a:lnTo>
                  <a:pt x="77" y="3"/>
                </a:lnTo>
                <a:lnTo>
                  <a:pt x="74" y="0"/>
                </a:lnTo>
                <a:lnTo>
                  <a:pt x="39" y="35"/>
                </a:lnTo>
                <a:lnTo>
                  <a:pt x="3" y="0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800">
              <a:solidFill>
                <a:prstClr val="black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62" name="TextBox 261">
            <a:extLst>
              <a:ext uri="{FF2B5EF4-FFF2-40B4-BE49-F238E27FC236}">
                <a16:creationId xmlns="" xmlns:a16="http://schemas.microsoft.com/office/drawing/2014/main" id="{0C96C875-C47F-4F5B-B4C1-F9D666A7BD9D}"/>
              </a:ext>
            </a:extLst>
          </p:cNvPr>
          <p:cNvSpPr txBox="1"/>
          <p:nvPr/>
        </p:nvSpPr>
        <p:spPr>
          <a:xfrm>
            <a:off x="503809" y="2183854"/>
            <a:ext cx="2258733" cy="180425"/>
          </a:xfrm>
          <a:prstGeom prst="rect">
            <a:avLst/>
          </a:prstGeom>
          <a:noFill/>
          <a:ln w="317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108000" tIns="36000" rIns="108000" bIns="36000" numCol="1" rtlCol="0" anchor="ctr" anchorCtr="0" compatLnSpc="1">
            <a:prstTxWarp prst="textNoShape">
              <a:avLst/>
            </a:prstTxWarp>
            <a:spAutoFit/>
          </a:bodyPr>
          <a:lstStyle>
            <a:defPPr>
              <a:defRPr lang="ko-KR"/>
            </a:defPPr>
            <a:lvl1pPr>
              <a:defRPr sz="800"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</a:defRPr>
            </a:lvl1pPr>
          </a:lstStyle>
          <a:p>
            <a:r>
              <a:rPr lang="en-US" altLang="ko-KR" sz="700">
                <a:solidFill>
                  <a:schemeClr val="tx1">
                    <a:lumMod val="50000"/>
                    <a:lumOff val="50000"/>
                  </a:schemeClr>
                </a:solidFill>
              </a:rPr>
              <a:t>[</a:t>
            </a:r>
            <a:r>
              <a:rPr lang="ko-KR" altLang="en-US" sz="700">
                <a:solidFill>
                  <a:schemeClr val="tx1">
                    <a:lumMod val="50000"/>
                    <a:lumOff val="50000"/>
                  </a:schemeClr>
                </a:solidFill>
              </a:rPr>
              <a:t>시즌오프</a:t>
            </a:r>
            <a:r>
              <a:rPr lang="en-US" altLang="ko-KR" sz="700">
                <a:solidFill>
                  <a:schemeClr val="tx1">
                    <a:lumMod val="50000"/>
                    <a:lumOff val="50000"/>
                  </a:schemeClr>
                </a:solidFill>
              </a:rPr>
              <a:t>][</a:t>
            </a:r>
            <a:r>
              <a:rPr lang="ko-KR" altLang="en-US" sz="700">
                <a:solidFill>
                  <a:schemeClr val="tx1">
                    <a:lumMod val="50000"/>
                    <a:lumOff val="50000"/>
                  </a:schemeClr>
                </a:solidFill>
              </a:rPr>
              <a:t>인기급상승</a:t>
            </a:r>
            <a:r>
              <a:rPr lang="en-US" altLang="ko-KR" sz="700">
                <a:solidFill>
                  <a:schemeClr val="tx1">
                    <a:lumMod val="50000"/>
                    <a:lumOff val="50000"/>
                  </a:schemeClr>
                </a:solidFill>
              </a:rPr>
              <a:t>] </a:t>
            </a:r>
            <a:r>
              <a:rPr lang="ko-KR" altLang="en-US" sz="700">
                <a:solidFill>
                  <a:schemeClr val="tx1">
                    <a:lumMod val="50000"/>
                    <a:lumOff val="50000"/>
                  </a:schemeClr>
                </a:solidFill>
              </a:rPr>
              <a:t>다이아 패턴 구스 다운 </a:t>
            </a:r>
            <a:r>
              <a:rPr lang="ko-KR" altLang="en-US" sz="70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점</a:t>
            </a:r>
            <a:r>
              <a:rPr lang="en-US" altLang="ko-KR" sz="70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…</a:t>
            </a:r>
          </a:p>
        </p:txBody>
      </p:sp>
      <p:sp>
        <p:nvSpPr>
          <p:cNvPr id="263" name="직사각형 262">
            <a:extLst>
              <a:ext uri="{FF2B5EF4-FFF2-40B4-BE49-F238E27FC236}">
                <a16:creationId xmlns="" xmlns:a16="http://schemas.microsoft.com/office/drawing/2014/main" id="{8392E679-C745-496E-8916-C656AE57791E}"/>
              </a:ext>
            </a:extLst>
          </p:cNvPr>
          <p:cNvSpPr/>
          <p:nvPr/>
        </p:nvSpPr>
        <p:spPr>
          <a:xfrm>
            <a:off x="323983" y="2437066"/>
            <a:ext cx="719802" cy="899434"/>
          </a:xfrm>
          <a:prstGeom prst="rect">
            <a:avLst/>
          </a:prstGeom>
          <a:pattFill prst="openDmnd">
            <a:fgClr>
              <a:schemeClr val="bg1">
                <a:lumMod val="75000"/>
              </a:schemeClr>
            </a:fgClr>
            <a:bgClr>
              <a:schemeClr val="bg1"/>
            </a:bgClr>
          </a:patt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7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PROD</a:t>
            </a:r>
          </a:p>
          <a:p>
            <a:pPr algn="ctr"/>
            <a:r>
              <a:rPr lang="en-US" altLang="ko-KR" sz="7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IMG</a:t>
            </a:r>
            <a:endParaRPr lang="ko-KR" altLang="en-US" sz="7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64" name="TextBox 263">
            <a:extLst>
              <a:ext uri="{FF2B5EF4-FFF2-40B4-BE49-F238E27FC236}">
                <a16:creationId xmlns="" xmlns:a16="http://schemas.microsoft.com/office/drawing/2014/main" id="{0C96C875-C47F-4F5B-B4C1-F9D666A7BD9D}"/>
              </a:ext>
            </a:extLst>
          </p:cNvPr>
          <p:cNvSpPr txBox="1"/>
          <p:nvPr/>
        </p:nvSpPr>
        <p:spPr>
          <a:xfrm>
            <a:off x="1043785" y="2437066"/>
            <a:ext cx="974727" cy="180425"/>
          </a:xfrm>
          <a:prstGeom prst="rect">
            <a:avLst/>
          </a:prstGeom>
          <a:noFill/>
          <a:ln w="317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108000" tIns="36000" rIns="108000" bIns="36000" numCol="1" rtlCol="0" anchor="ctr" anchorCtr="0" compatLnSpc="1">
            <a:prstTxWarp prst="textNoShape">
              <a:avLst/>
            </a:prstTxWarp>
            <a:spAutoFit/>
          </a:bodyPr>
          <a:lstStyle>
            <a:defPPr>
              <a:defRPr lang="ko-KR"/>
            </a:defPPr>
            <a:lvl1pPr>
              <a:defRPr sz="800"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</a:defRPr>
            </a:lvl1pPr>
          </a:lstStyle>
          <a:p>
            <a:r>
              <a:rPr lang="ko-KR" altLang="en-US" sz="70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세피아 </a:t>
            </a:r>
            <a:r>
              <a:rPr lang="en-US" altLang="ko-KR" sz="70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/ 105 / 1</a:t>
            </a:r>
            <a:r>
              <a:rPr lang="ko-KR" altLang="en-US" sz="70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개</a:t>
            </a:r>
            <a:endParaRPr lang="ko-KR" altLang="en-US" sz="7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grpSp>
        <p:nvGrpSpPr>
          <p:cNvPr id="294" name="그룹 293"/>
          <p:cNvGrpSpPr/>
          <p:nvPr/>
        </p:nvGrpSpPr>
        <p:grpSpPr>
          <a:xfrm>
            <a:off x="1046417" y="2616127"/>
            <a:ext cx="1168348" cy="180425"/>
            <a:chOff x="1046417" y="2636322"/>
            <a:chExt cx="1168348" cy="180425"/>
          </a:xfrm>
        </p:grpSpPr>
        <p:sp>
          <p:nvSpPr>
            <p:cNvPr id="265" name="사각형: 둥근 모서리 393">
              <a:extLst>
                <a:ext uri="{FF2B5EF4-FFF2-40B4-BE49-F238E27FC236}">
                  <a16:creationId xmlns="" xmlns:a16="http://schemas.microsoft.com/office/drawing/2014/main" id="{64F9493E-5C70-429B-84F6-3004F8930EFB}"/>
                </a:ext>
              </a:extLst>
            </p:cNvPr>
            <p:cNvSpPr/>
            <p:nvPr/>
          </p:nvSpPr>
          <p:spPr bwMode="auto">
            <a:xfrm>
              <a:off x="2070805" y="2654579"/>
              <a:ext cx="143960" cy="143910"/>
            </a:xfrm>
            <a:prstGeom prst="ellipse">
              <a:avLst/>
            </a:prstGeom>
            <a:solidFill>
              <a:schemeClr val="bg1"/>
            </a:solidFill>
            <a:ln w="3175" cap="flat" cmpd="sng" algn="ctr">
              <a:solidFill>
                <a:schemeClr val="bg1">
                  <a:lumMod val="7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fontAlgn="base" latinLnBrk="0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ko-KR" sz="600" b="1" kern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?</a:t>
              </a:r>
              <a:endParaRPr kumimoji="1" lang="ko-KR" altLang="en-US" sz="600" b="1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266" name="TextBox 265">
              <a:extLst>
                <a:ext uri="{FF2B5EF4-FFF2-40B4-BE49-F238E27FC236}">
                  <a16:creationId xmlns:a16="http://schemas.microsoft.com/office/drawing/2014/main" xmlns="" id="{0C96C875-C47F-4F5B-B4C1-F9D666A7BD9D}"/>
                </a:ext>
              </a:extLst>
            </p:cNvPr>
            <p:cNvSpPr txBox="1"/>
            <p:nvPr/>
          </p:nvSpPr>
          <p:spPr>
            <a:xfrm>
              <a:off x="1046417" y="2636322"/>
              <a:ext cx="1020646" cy="180425"/>
            </a:xfrm>
            <a:prstGeom prst="rect">
              <a:avLst/>
            </a:prstGeom>
            <a:noFill/>
            <a:ln w="3175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none" lIns="108000" tIns="36000" rIns="36000" bIns="3600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r>
                <a:rPr lang="en-US" altLang="ko-KR" sz="700" b="1" strike="sngStrike">
                  <a:solidFill>
                    <a:schemeClr val="bg1">
                      <a:lumMod val="75000"/>
                    </a:schemeClr>
                  </a:solidFill>
                  <a:latin typeface="맑은 고딕" panose="020B0503020000020004" pitchFamily="50" charset="-127"/>
                </a:rPr>
                <a:t>619,000</a:t>
              </a:r>
              <a:r>
                <a:rPr lang="ko-KR" altLang="en-US" sz="700" b="1" strike="sngStrike" smtClean="0">
                  <a:solidFill>
                    <a:schemeClr val="bg1">
                      <a:lumMod val="75000"/>
                    </a:schemeClr>
                  </a:solidFill>
                  <a:latin typeface="맑은 고딕" panose="020B0503020000020004" pitchFamily="50" charset="-127"/>
                </a:rPr>
                <a:t>원</a:t>
              </a:r>
              <a:r>
                <a:rPr lang="ko-KR" altLang="en-US" sz="700" b="1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 </a:t>
              </a:r>
              <a:r>
                <a:rPr lang="en-US" altLang="ko-KR" sz="700" b="1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433,300</a:t>
              </a:r>
              <a:r>
                <a:rPr lang="ko-KR" altLang="en-US" sz="700" b="1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원</a:t>
              </a:r>
              <a:endParaRPr lang="en-US" altLang="ko-KR" sz="700" b="1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endParaRPr>
            </a:p>
          </p:txBody>
        </p:sp>
      </p:grpSp>
      <p:sp>
        <p:nvSpPr>
          <p:cNvPr id="267" name="TextBox 266">
            <a:extLst>
              <a:ext uri="{FF2B5EF4-FFF2-40B4-BE49-F238E27FC236}">
                <a16:creationId xmlns="" xmlns:a16="http://schemas.microsoft.com/office/drawing/2014/main" id="{0C96C875-C47F-4F5B-B4C1-F9D666A7BD9D}"/>
              </a:ext>
            </a:extLst>
          </p:cNvPr>
          <p:cNvSpPr txBox="1"/>
          <p:nvPr/>
        </p:nvSpPr>
        <p:spPr>
          <a:xfrm>
            <a:off x="1043785" y="2847459"/>
            <a:ext cx="808014" cy="165036"/>
          </a:xfrm>
          <a:prstGeom prst="rect">
            <a:avLst/>
          </a:prstGeom>
          <a:noFill/>
          <a:ln w="317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108000" tIns="36000" rIns="108000" bIns="36000" numCol="1" rtlCol="0" anchor="ctr" anchorCtr="0" compatLnSpc="1">
            <a:prstTxWarp prst="textNoShape">
              <a:avLst/>
            </a:prstTxWarp>
            <a:spAutoFit/>
          </a:bodyPr>
          <a:lstStyle>
            <a:defPPr>
              <a:defRPr lang="ko-KR"/>
            </a:defPPr>
            <a:lvl1pPr>
              <a:defRPr sz="800"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</a:defRPr>
            </a:lvl1pPr>
          </a:lstStyle>
          <a:p>
            <a:r>
              <a:rPr lang="en-US" altLang="ko-KR" sz="60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3,170M </a:t>
            </a:r>
            <a:r>
              <a:rPr lang="ko-KR" altLang="en-US" sz="60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적립예정</a:t>
            </a:r>
            <a:endParaRPr lang="ko-KR" altLang="en-US" sz="6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grpSp>
        <p:nvGrpSpPr>
          <p:cNvPr id="2" name="그룹 1"/>
          <p:cNvGrpSpPr/>
          <p:nvPr/>
        </p:nvGrpSpPr>
        <p:grpSpPr>
          <a:xfrm>
            <a:off x="1043785" y="3012651"/>
            <a:ext cx="1673422" cy="144000"/>
            <a:chOff x="1043785" y="3012651"/>
            <a:chExt cx="1673422" cy="144000"/>
          </a:xfrm>
        </p:grpSpPr>
        <p:sp>
          <p:nvSpPr>
            <p:cNvPr id="268" name="TextBox 267">
              <a:extLst>
                <a:ext uri="{FF2B5EF4-FFF2-40B4-BE49-F238E27FC236}">
                  <a16:creationId xmlns="" xmlns:a16="http://schemas.microsoft.com/office/drawing/2014/main" id="{0C96C875-C47F-4F5B-B4C1-F9D666A7BD9D}"/>
                </a:ext>
              </a:extLst>
            </p:cNvPr>
            <p:cNvSpPr txBox="1"/>
            <p:nvPr/>
          </p:nvSpPr>
          <p:spPr>
            <a:xfrm>
              <a:off x="1043785" y="3030790"/>
              <a:ext cx="1673422" cy="107722"/>
            </a:xfrm>
            <a:prstGeom prst="rect">
              <a:avLst/>
            </a:prstGeom>
            <a:noFill/>
            <a:ln w="3175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none" lIns="756000" tIns="0" rIns="108000" bIns="0" numCol="1" rtlCol="0" anchor="ctr" anchorCtr="0" compatLnSpc="1">
              <a:prstTxWarp prst="textNoShape">
                <a:avLst/>
              </a:prstTxWarp>
              <a:spAutoFit/>
            </a:bodyPr>
            <a:lstStyle>
              <a:defPPr>
                <a:defRPr lang="ko-KR"/>
              </a:defPPr>
              <a:lvl1pPr>
                <a:defRPr sz="800">
                  <a:solidFill>
                    <a:prstClr val="black">
                      <a:lumMod val="75000"/>
                      <a:lumOff val="25000"/>
                    </a:prstClr>
                  </a:solidFill>
                  <a:latin typeface="맑은 고딕" panose="020B0503020000020004" pitchFamily="50" charset="-127"/>
                </a:defRPr>
              </a:lvl1pPr>
            </a:lstStyle>
            <a:p>
              <a:r>
                <a:rPr lang="ko-KR" altLang="en-US" sz="700" smtClean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평균 배송일 </a:t>
              </a:r>
              <a:r>
                <a:rPr lang="en-US" altLang="ko-KR" sz="700" smtClean="0">
                  <a:solidFill>
                    <a:srgbClr val="C00000"/>
                  </a:solidFill>
                </a:rPr>
                <a:t>5~7</a:t>
              </a:r>
              <a:r>
                <a:rPr lang="ko-KR" altLang="en-US" sz="700" smtClean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일</a:t>
              </a:r>
              <a:endParaRPr lang="ko-KR" altLang="en-US" sz="700" dirty="0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</p:txBody>
        </p:sp>
        <p:sp>
          <p:nvSpPr>
            <p:cNvPr id="269" name="직사각형 268"/>
            <p:cNvSpPr/>
            <p:nvPr/>
          </p:nvSpPr>
          <p:spPr>
            <a:xfrm>
              <a:off x="1151755" y="3012651"/>
              <a:ext cx="576000" cy="144000"/>
            </a:xfrm>
            <a:prstGeom prst="rect">
              <a:avLst/>
            </a:prstGeom>
            <a:gradFill flip="none" rotWithShape="1">
              <a:gsLst>
                <a:gs pos="0">
                  <a:schemeClr val="accent5">
                    <a:lumMod val="75000"/>
                  </a:schemeClr>
                </a:gs>
                <a:gs pos="50000">
                  <a:schemeClr val="accent5"/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0" scaled="1"/>
              <a:tileRect/>
            </a:gra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600" smtClean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매장상품배송</a:t>
              </a:r>
              <a:endParaRPr lang="ko-KR" altLang="en-US" sz="60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sp>
        <p:nvSpPr>
          <p:cNvPr id="82" name="직사각형 81">
            <a:extLst>
              <a:ext uri="{FF2B5EF4-FFF2-40B4-BE49-F238E27FC236}">
                <a16:creationId xmlns="" xmlns:a16="http://schemas.microsoft.com/office/drawing/2014/main" id="{8392E679-C745-496E-8916-C656AE57791E}"/>
              </a:ext>
            </a:extLst>
          </p:cNvPr>
          <p:cNvSpPr/>
          <p:nvPr/>
        </p:nvSpPr>
        <p:spPr>
          <a:xfrm>
            <a:off x="145180" y="1787706"/>
            <a:ext cx="2879209" cy="71955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700" dirty="0">
              <a:solidFill>
                <a:prstClr val="black">
                  <a:lumMod val="75000"/>
                  <a:lumOff val="25000"/>
                </a:prst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246" name="모서리가 둥근 직사각형 245">
            <a:extLst>
              <a:ext uri="{FF2B5EF4-FFF2-40B4-BE49-F238E27FC236}">
                <a16:creationId xmlns="" xmlns:a16="http://schemas.microsoft.com/office/drawing/2014/main" id="{19FD5FA0-B111-4EF7-BC86-418441928DD3}"/>
              </a:ext>
            </a:extLst>
          </p:cNvPr>
          <p:cNvSpPr/>
          <p:nvPr/>
        </p:nvSpPr>
        <p:spPr>
          <a:xfrm>
            <a:off x="323983" y="3482510"/>
            <a:ext cx="1223664" cy="28781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noAutofit/>
          </a:bodyPr>
          <a:lstStyle/>
          <a:p>
            <a:pPr algn="ctr"/>
            <a:r>
              <a:rPr lang="ko-KR" altLang="en-US" sz="700" smtClean="0"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</a:rPr>
              <a:t>옵션</a:t>
            </a:r>
            <a:r>
              <a:rPr lang="en-US" altLang="ko-KR" sz="700" smtClean="0"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</a:rPr>
              <a:t>/</a:t>
            </a:r>
            <a:r>
              <a:rPr lang="ko-KR" altLang="en-US" sz="700" smtClean="0"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</a:rPr>
              <a:t>수량 변경</a:t>
            </a:r>
            <a:endParaRPr lang="ko-KR" altLang="en-US" sz="700">
              <a:solidFill>
                <a:prstClr val="black">
                  <a:lumMod val="75000"/>
                  <a:lumOff val="25000"/>
                </a:prst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247" name="모서리가 둥근 직사각형 246">
            <a:extLst>
              <a:ext uri="{FF2B5EF4-FFF2-40B4-BE49-F238E27FC236}">
                <a16:creationId xmlns="" xmlns:a16="http://schemas.microsoft.com/office/drawing/2014/main" id="{19FD5FA0-B111-4EF7-BC86-418441928DD3}"/>
              </a:ext>
            </a:extLst>
          </p:cNvPr>
          <p:cNvSpPr/>
          <p:nvPr/>
        </p:nvSpPr>
        <p:spPr>
          <a:xfrm>
            <a:off x="1620775" y="3482510"/>
            <a:ext cx="1223664" cy="28781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noAutofit/>
          </a:bodyPr>
          <a:lstStyle/>
          <a:p>
            <a:pPr algn="ctr"/>
            <a:r>
              <a:rPr lang="ko-KR" altLang="en-US" sz="700" smtClean="0"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</a:rPr>
              <a:t>바로구매</a:t>
            </a:r>
            <a:endParaRPr lang="ko-KR" altLang="en-US" sz="700">
              <a:solidFill>
                <a:prstClr val="black">
                  <a:lumMod val="75000"/>
                  <a:lumOff val="25000"/>
                </a:prst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101" name="직사각형 100">
            <a:extLst>
              <a:ext uri="{FF2B5EF4-FFF2-40B4-BE49-F238E27FC236}">
                <a16:creationId xmlns:a16="http://schemas.microsoft.com/office/drawing/2014/main" xmlns="" id="{19FD5FA0-B111-4EF7-BC86-418441928DD3}"/>
              </a:ext>
            </a:extLst>
          </p:cNvPr>
          <p:cNvSpPr/>
          <p:nvPr/>
        </p:nvSpPr>
        <p:spPr>
          <a:xfrm>
            <a:off x="145180" y="3910191"/>
            <a:ext cx="2879209" cy="2052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700">
              <a:solidFill>
                <a:prstClr val="black">
                  <a:lumMod val="75000"/>
                  <a:lumOff val="25000"/>
                </a:prst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102" name="사각형: 둥근 모서리 393">
            <a:extLst>
              <a:ext uri="{FF2B5EF4-FFF2-40B4-BE49-F238E27FC236}">
                <a16:creationId xmlns="" xmlns:a16="http://schemas.microsoft.com/office/drawing/2014/main" id="{64F9493E-5C70-429B-84F6-3004F8930EFB}"/>
              </a:ext>
            </a:extLst>
          </p:cNvPr>
          <p:cNvSpPr/>
          <p:nvPr/>
        </p:nvSpPr>
        <p:spPr bwMode="auto">
          <a:xfrm>
            <a:off x="323858" y="4054705"/>
            <a:ext cx="179951" cy="179887"/>
          </a:xfrm>
          <a:prstGeom prst="roundRect">
            <a:avLst/>
          </a:prstGeom>
          <a:solidFill>
            <a:schemeClr val="bg1"/>
          </a:solidFill>
          <a:ln w="3175" cap="flat" cmpd="sng" algn="ctr">
            <a:solidFill>
              <a:schemeClr val="bg1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>
            <a:innerShdw blurRad="12700" dist="12700" dir="13500000">
              <a:schemeClr val="tx1">
                <a:lumMod val="75000"/>
                <a:lumOff val="25000"/>
                <a:alpha val="30000"/>
              </a:schemeClr>
            </a:innerShdw>
          </a:effectLst>
        </p:spPr>
        <p:txBody>
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fontAlgn="base" latinLnBrk="0">
              <a:spcBef>
                <a:spcPct val="0"/>
              </a:spcBef>
              <a:spcAft>
                <a:spcPct val="0"/>
              </a:spcAft>
            </a:pPr>
            <a:endParaRPr kumimoji="1" lang="ko-KR" altLang="en-US" sz="600" b="1" kern="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103" name="Accept"/>
          <p:cNvSpPr>
            <a:spLocks noChangeAspect="1"/>
          </p:cNvSpPr>
          <p:nvPr/>
        </p:nvSpPr>
        <p:spPr bwMode="auto">
          <a:xfrm>
            <a:off x="363143" y="4099677"/>
            <a:ext cx="101381" cy="89943"/>
          </a:xfrm>
          <a:custGeom>
            <a:avLst/>
            <a:gdLst>
              <a:gd name="T0" fmla="*/ 504 w 525"/>
              <a:gd name="T1" fmla="*/ 3 h 467"/>
              <a:gd name="T2" fmla="*/ 495 w 525"/>
              <a:gd name="T3" fmla="*/ 9 h 467"/>
              <a:gd name="T4" fmla="*/ 223 w 525"/>
              <a:gd name="T5" fmla="*/ 431 h 467"/>
              <a:gd name="T6" fmla="*/ 35 w 525"/>
              <a:gd name="T7" fmla="*/ 262 h 467"/>
              <a:gd name="T8" fmla="*/ 18 w 525"/>
              <a:gd name="T9" fmla="*/ 282 h 467"/>
              <a:gd name="T10" fmla="*/ 217 w 525"/>
              <a:gd name="T11" fmla="*/ 462 h 467"/>
              <a:gd name="T12" fmla="*/ 237 w 525"/>
              <a:gd name="T13" fmla="*/ 459 h 467"/>
              <a:gd name="T14" fmla="*/ 518 w 525"/>
              <a:gd name="T15" fmla="*/ 23 h 467"/>
              <a:gd name="T16" fmla="*/ 504 w 525"/>
              <a:gd name="T17" fmla="*/ 3 h 46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525" h="467">
                <a:moveTo>
                  <a:pt x="504" y="3"/>
                </a:moveTo>
                <a:cubicBezTo>
                  <a:pt x="500" y="3"/>
                  <a:pt x="497" y="6"/>
                  <a:pt x="495" y="9"/>
                </a:cubicBezTo>
                <a:lnTo>
                  <a:pt x="223" y="431"/>
                </a:lnTo>
                <a:lnTo>
                  <a:pt x="35" y="262"/>
                </a:lnTo>
                <a:cubicBezTo>
                  <a:pt x="22" y="245"/>
                  <a:pt x="0" y="271"/>
                  <a:pt x="18" y="282"/>
                </a:cubicBezTo>
                <a:lnTo>
                  <a:pt x="217" y="462"/>
                </a:lnTo>
                <a:cubicBezTo>
                  <a:pt x="223" y="467"/>
                  <a:pt x="232" y="466"/>
                  <a:pt x="237" y="459"/>
                </a:cubicBezTo>
                <a:lnTo>
                  <a:pt x="518" y="23"/>
                </a:lnTo>
                <a:cubicBezTo>
                  <a:pt x="525" y="13"/>
                  <a:pt x="515" y="0"/>
                  <a:pt x="504" y="3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defTabSz="914400" latinLnBrk="0"/>
            <a:endParaRPr lang="en-US" sz="80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04" name="TextBox 103">
            <a:extLst>
              <a:ext uri="{FF2B5EF4-FFF2-40B4-BE49-F238E27FC236}">
                <a16:creationId xmlns="" xmlns:a16="http://schemas.microsoft.com/office/drawing/2014/main" id="{0C96C875-C47F-4F5B-B4C1-F9D666A7BD9D}"/>
              </a:ext>
            </a:extLst>
          </p:cNvPr>
          <p:cNvSpPr txBox="1"/>
          <p:nvPr/>
        </p:nvSpPr>
        <p:spPr>
          <a:xfrm>
            <a:off x="503809" y="4054436"/>
            <a:ext cx="1636767" cy="180425"/>
          </a:xfrm>
          <a:prstGeom prst="rect">
            <a:avLst/>
          </a:prstGeom>
          <a:noFill/>
          <a:ln w="317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108000" tIns="36000" rIns="108000" bIns="36000" numCol="1" rtlCol="0" anchor="ctr" anchorCtr="0" compatLnSpc="1">
            <a:prstTxWarp prst="textNoShape">
              <a:avLst/>
            </a:prstTxWarp>
            <a:spAutoFit/>
          </a:bodyPr>
          <a:lstStyle>
            <a:defPPr>
              <a:defRPr lang="ko-KR"/>
            </a:defPPr>
            <a:lvl1pPr>
              <a:defRPr sz="800"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</a:defRPr>
            </a:lvl1pPr>
          </a:lstStyle>
          <a:p>
            <a:r>
              <a:rPr lang="en-US" altLang="ko-KR" sz="700" b="1"/>
              <a:t>JILLSTUART NEW YORK WOMEN</a:t>
            </a:r>
            <a:endParaRPr lang="en-US" altLang="ko-KR" sz="700" b="1" smtClean="0"/>
          </a:p>
        </p:txBody>
      </p:sp>
      <p:sp>
        <p:nvSpPr>
          <p:cNvPr id="105" name="Delete"/>
          <p:cNvSpPr>
            <a:spLocks noChangeAspect="1"/>
          </p:cNvSpPr>
          <p:nvPr/>
        </p:nvSpPr>
        <p:spPr bwMode="auto">
          <a:xfrm>
            <a:off x="2734047" y="4180792"/>
            <a:ext cx="107971" cy="107932"/>
          </a:xfrm>
          <a:custGeom>
            <a:avLst/>
            <a:gdLst>
              <a:gd name="T0" fmla="*/ 3 w 77"/>
              <a:gd name="T1" fmla="*/ 0 h 77"/>
              <a:gd name="T2" fmla="*/ 0 w 77"/>
              <a:gd name="T3" fmla="*/ 3 h 77"/>
              <a:gd name="T4" fmla="*/ 36 w 77"/>
              <a:gd name="T5" fmla="*/ 38 h 77"/>
              <a:gd name="T6" fmla="*/ 0 w 77"/>
              <a:gd name="T7" fmla="*/ 74 h 77"/>
              <a:gd name="T8" fmla="*/ 3 w 77"/>
              <a:gd name="T9" fmla="*/ 77 h 77"/>
              <a:gd name="T10" fmla="*/ 39 w 77"/>
              <a:gd name="T11" fmla="*/ 41 h 77"/>
              <a:gd name="T12" fmla="*/ 74 w 77"/>
              <a:gd name="T13" fmla="*/ 77 h 77"/>
              <a:gd name="T14" fmla="*/ 77 w 77"/>
              <a:gd name="T15" fmla="*/ 74 h 77"/>
              <a:gd name="T16" fmla="*/ 42 w 77"/>
              <a:gd name="T17" fmla="*/ 38 h 77"/>
              <a:gd name="T18" fmla="*/ 77 w 77"/>
              <a:gd name="T19" fmla="*/ 3 h 77"/>
              <a:gd name="T20" fmla="*/ 74 w 77"/>
              <a:gd name="T21" fmla="*/ 0 h 77"/>
              <a:gd name="T22" fmla="*/ 39 w 77"/>
              <a:gd name="T23" fmla="*/ 35 h 77"/>
              <a:gd name="T24" fmla="*/ 3 w 77"/>
              <a:gd name="T25" fmla="*/ 0 h 7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77" h="77">
                <a:moveTo>
                  <a:pt x="3" y="0"/>
                </a:moveTo>
                <a:lnTo>
                  <a:pt x="0" y="3"/>
                </a:lnTo>
                <a:lnTo>
                  <a:pt x="36" y="38"/>
                </a:lnTo>
                <a:lnTo>
                  <a:pt x="0" y="74"/>
                </a:lnTo>
                <a:lnTo>
                  <a:pt x="3" y="77"/>
                </a:lnTo>
                <a:lnTo>
                  <a:pt x="39" y="41"/>
                </a:lnTo>
                <a:lnTo>
                  <a:pt x="74" y="77"/>
                </a:lnTo>
                <a:lnTo>
                  <a:pt x="77" y="74"/>
                </a:lnTo>
                <a:lnTo>
                  <a:pt x="42" y="38"/>
                </a:lnTo>
                <a:lnTo>
                  <a:pt x="77" y="3"/>
                </a:lnTo>
                <a:lnTo>
                  <a:pt x="74" y="0"/>
                </a:lnTo>
                <a:lnTo>
                  <a:pt x="39" y="35"/>
                </a:lnTo>
                <a:lnTo>
                  <a:pt x="3" y="0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800">
              <a:solidFill>
                <a:prstClr val="black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06" name="TextBox 105">
            <a:extLst>
              <a:ext uri="{FF2B5EF4-FFF2-40B4-BE49-F238E27FC236}">
                <a16:creationId xmlns="" xmlns:a16="http://schemas.microsoft.com/office/drawing/2014/main" id="{0C96C875-C47F-4F5B-B4C1-F9D666A7BD9D}"/>
              </a:ext>
            </a:extLst>
          </p:cNvPr>
          <p:cNvSpPr txBox="1"/>
          <p:nvPr/>
        </p:nvSpPr>
        <p:spPr>
          <a:xfrm>
            <a:off x="503809" y="4235081"/>
            <a:ext cx="2281175" cy="180425"/>
          </a:xfrm>
          <a:prstGeom prst="rect">
            <a:avLst/>
          </a:prstGeom>
          <a:noFill/>
          <a:ln w="317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108000" tIns="36000" rIns="108000" bIns="36000" numCol="1" rtlCol="0" anchor="ctr" anchorCtr="0" compatLnSpc="1">
            <a:prstTxWarp prst="textNoShape">
              <a:avLst/>
            </a:prstTxWarp>
            <a:spAutoFit/>
          </a:bodyPr>
          <a:lstStyle>
            <a:defPPr>
              <a:defRPr lang="ko-KR"/>
            </a:defPPr>
            <a:lvl1pPr>
              <a:defRPr sz="800"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</a:defRPr>
            </a:lvl1pPr>
          </a:lstStyle>
          <a:p>
            <a:r>
              <a:rPr lang="en-US" altLang="ko-KR" sz="700">
                <a:solidFill>
                  <a:schemeClr val="tx1">
                    <a:lumMod val="50000"/>
                    <a:lumOff val="50000"/>
                  </a:schemeClr>
                </a:solidFill>
              </a:rPr>
              <a:t>[25FW][</a:t>
            </a:r>
            <a:r>
              <a:rPr lang="ko-KR" altLang="en-US" sz="700">
                <a:solidFill>
                  <a:schemeClr val="tx1">
                    <a:lumMod val="50000"/>
                    <a:lumOff val="50000"/>
                  </a:schemeClr>
                </a:solidFill>
              </a:rPr>
              <a:t>시즌오프</a:t>
            </a:r>
            <a:r>
              <a:rPr lang="en-US" altLang="ko-KR" sz="700">
                <a:solidFill>
                  <a:schemeClr val="tx1">
                    <a:lumMod val="50000"/>
                    <a:lumOff val="50000"/>
                  </a:schemeClr>
                </a:solidFill>
              </a:rPr>
              <a:t>]</a:t>
            </a:r>
            <a:r>
              <a:rPr lang="ko-KR" altLang="en-US" sz="700">
                <a:solidFill>
                  <a:schemeClr val="tx1">
                    <a:lumMod val="50000"/>
                    <a:lumOff val="50000"/>
                  </a:schemeClr>
                </a:solidFill>
              </a:rPr>
              <a:t>브라운 </a:t>
            </a:r>
            <a:r>
              <a:rPr lang="en-US" altLang="ko-KR" sz="700">
                <a:solidFill>
                  <a:schemeClr val="tx1">
                    <a:lumMod val="50000"/>
                    <a:lumOff val="50000"/>
                  </a:schemeClr>
                </a:solidFill>
              </a:rPr>
              <a:t>Faux </a:t>
            </a:r>
            <a:r>
              <a:rPr lang="ko-KR" altLang="en-US" sz="700">
                <a:solidFill>
                  <a:schemeClr val="tx1">
                    <a:lumMod val="50000"/>
                    <a:lumOff val="50000"/>
                  </a:schemeClr>
                </a:solidFill>
              </a:rPr>
              <a:t>페이크퍼 포켓 </a:t>
            </a:r>
            <a:r>
              <a:rPr lang="ko-KR" altLang="en-US" sz="70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후드</a:t>
            </a:r>
            <a:r>
              <a:rPr lang="en-US" altLang="ko-KR" sz="70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…</a:t>
            </a:r>
          </a:p>
        </p:txBody>
      </p:sp>
      <p:sp>
        <p:nvSpPr>
          <p:cNvPr id="107" name="직사각형 106">
            <a:extLst>
              <a:ext uri="{FF2B5EF4-FFF2-40B4-BE49-F238E27FC236}">
                <a16:creationId xmlns="" xmlns:a16="http://schemas.microsoft.com/office/drawing/2014/main" id="{8392E679-C745-496E-8916-C656AE57791E}"/>
              </a:ext>
            </a:extLst>
          </p:cNvPr>
          <p:cNvSpPr/>
          <p:nvPr/>
        </p:nvSpPr>
        <p:spPr>
          <a:xfrm>
            <a:off x="323983" y="4488293"/>
            <a:ext cx="719802" cy="899434"/>
          </a:xfrm>
          <a:prstGeom prst="rect">
            <a:avLst/>
          </a:prstGeom>
          <a:pattFill prst="openDmnd">
            <a:fgClr>
              <a:schemeClr val="bg1">
                <a:lumMod val="75000"/>
              </a:schemeClr>
            </a:fgClr>
            <a:bgClr>
              <a:schemeClr val="bg1"/>
            </a:bgClr>
          </a:patt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7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PROD</a:t>
            </a:r>
          </a:p>
          <a:p>
            <a:pPr algn="ctr"/>
            <a:r>
              <a:rPr lang="en-US" altLang="ko-KR" sz="7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IMG</a:t>
            </a:r>
            <a:endParaRPr lang="ko-KR" altLang="en-US" sz="7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8" name="TextBox 107">
            <a:extLst>
              <a:ext uri="{FF2B5EF4-FFF2-40B4-BE49-F238E27FC236}">
                <a16:creationId xmlns="" xmlns:a16="http://schemas.microsoft.com/office/drawing/2014/main" id="{0C96C875-C47F-4F5B-B4C1-F9D666A7BD9D}"/>
              </a:ext>
            </a:extLst>
          </p:cNvPr>
          <p:cNvSpPr txBox="1"/>
          <p:nvPr/>
        </p:nvSpPr>
        <p:spPr>
          <a:xfrm>
            <a:off x="1043785" y="4669035"/>
            <a:ext cx="1409141" cy="180425"/>
          </a:xfrm>
          <a:prstGeom prst="rect">
            <a:avLst/>
          </a:prstGeom>
          <a:noFill/>
          <a:ln w="317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108000" tIns="36000" rIns="108000" bIns="36000" numCol="1" rtlCol="0" anchor="ctr" anchorCtr="0" compatLnSpc="1">
            <a:prstTxWarp prst="textNoShape">
              <a:avLst/>
            </a:prstTxWarp>
            <a:spAutoFit/>
          </a:bodyPr>
          <a:lstStyle>
            <a:defPPr>
              <a:defRPr lang="ko-KR"/>
            </a:defPPr>
            <a:lvl1pPr>
              <a:defRPr sz="800"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</a:defRPr>
            </a:lvl1pPr>
          </a:lstStyle>
          <a:p>
            <a:r>
              <a:rPr lang="ko-KR" altLang="en-US" sz="70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진한 브라운 </a:t>
            </a:r>
            <a:r>
              <a:rPr lang="en-US" altLang="ko-KR" sz="70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/ 00S </a:t>
            </a:r>
            <a:r>
              <a:rPr lang="en-US" altLang="ko-KR" sz="700">
                <a:solidFill>
                  <a:schemeClr val="tx1">
                    <a:lumMod val="50000"/>
                    <a:lumOff val="50000"/>
                  </a:schemeClr>
                </a:solidFill>
              </a:rPr>
              <a:t>(90) </a:t>
            </a:r>
            <a:r>
              <a:rPr lang="en-US" altLang="ko-KR" sz="70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/ 1</a:t>
            </a:r>
            <a:r>
              <a:rPr lang="ko-KR" altLang="en-US" sz="70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개</a:t>
            </a:r>
            <a:endParaRPr lang="ko-KR" altLang="en-US" sz="7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grpSp>
        <p:nvGrpSpPr>
          <p:cNvPr id="27" name="그룹 26"/>
          <p:cNvGrpSpPr/>
          <p:nvPr/>
        </p:nvGrpSpPr>
        <p:grpSpPr>
          <a:xfrm>
            <a:off x="1046417" y="4848096"/>
            <a:ext cx="1168348" cy="180425"/>
            <a:chOff x="1046417" y="4886689"/>
            <a:chExt cx="1168348" cy="180425"/>
          </a:xfrm>
        </p:grpSpPr>
        <p:sp>
          <p:nvSpPr>
            <p:cNvPr id="109" name="사각형: 둥근 모서리 393">
              <a:extLst>
                <a:ext uri="{FF2B5EF4-FFF2-40B4-BE49-F238E27FC236}">
                  <a16:creationId xmlns="" xmlns:a16="http://schemas.microsoft.com/office/drawing/2014/main" id="{64F9493E-5C70-429B-84F6-3004F8930EFB}"/>
                </a:ext>
              </a:extLst>
            </p:cNvPr>
            <p:cNvSpPr/>
            <p:nvPr/>
          </p:nvSpPr>
          <p:spPr bwMode="auto">
            <a:xfrm>
              <a:off x="2070805" y="4904946"/>
              <a:ext cx="143960" cy="143910"/>
            </a:xfrm>
            <a:prstGeom prst="ellipse">
              <a:avLst/>
            </a:prstGeom>
            <a:solidFill>
              <a:schemeClr val="bg1"/>
            </a:solidFill>
            <a:ln w="3175" cap="flat" cmpd="sng" algn="ctr">
              <a:solidFill>
                <a:schemeClr val="bg1">
                  <a:lumMod val="7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fontAlgn="base" latinLnBrk="0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ko-KR" sz="600" b="1" kern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?</a:t>
              </a:r>
              <a:endParaRPr kumimoji="1" lang="ko-KR" altLang="en-US" sz="600" b="1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110" name="TextBox 109">
              <a:extLst>
                <a:ext uri="{FF2B5EF4-FFF2-40B4-BE49-F238E27FC236}">
                  <a16:creationId xmlns:a16="http://schemas.microsoft.com/office/drawing/2014/main" xmlns="" id="{0C96C875-C47F-4F5B-B4C1-F9D666A7BD9D}"/>
                </a:ext>
              </a:extLst>
            </p:cNvPr>
            <p:cNvSpPr txBox="1"/>
            <p:nvPr/>
          </p:nvSpPr>
          <p:spPr>
            <a:xfrm>
              <a:off x="1046417" y="4886689"/>
              <a:ext cx="1020646" cy="180425"/>
            </a:xfrm>
            <a:prstGeom prst="rect">
              <a:avLst/>
            </a:prstGeom>
            <a:noFill/>
            <a:ln w="3175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none" lIns="108000" tIns="36000" rIns="36000" bIns="3600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r>
                <a:rPr lang="en-US" altLang="ko-KR" sz="700" b="1" strike="sngStrike" smtClean="0">
                  <a:solidFill>
                    <a:schemeClr val="bg1">
                      <a:lumMod val="75000"/>
                    </a:schemeClr>
                  </a:solidFill>
                  <a:latin typeface="맑은 고딕" panose="020B0503020000020004" pitchFamily="50" charset="-127"/>
                </a:rPr>
                <a:t>799,000</a:t>
              </a:r>
              <a:r>
                <a:rPr lang="ko-KR" altLang="en-US" sz="700" b="1" strike="sngStrike" smtClean="0">
                  <a:solidFill>
                    <a:schemeClr val="bg1">
                      <a:lumMod val="75000"/>
                    </a:schemeClr>
                  </a:solidFill>
                  <a:latin typeface="맑은 고딕" panose="020B0503020000020004" pitchFamily="50" charset="-127"/>
                </a:rPr>
                <a:t>원</a:t>
              </a:r>
              <a:r>
                <a:rPr lang="ko-KR" altLang="en-US" sz="700" b="1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 </a:t>
              </a:r>
              <a:r>
                <a:rPr lang="en-US" altLang="ko-KR" sz="700" b="1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639,200</a:t>
              </a:r>
              <a:r>
                <a:rPr lang="ko-KR" altLang="en-US" sz="700" b="1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원</a:t>
              </a:r>
              <a:endParaRPr lang="en-US" altLang="ko-KR" sz="700" b="1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endParaRPr>
            </a:p>
          </p:txBody>
        </p:sp>
      </p:grpSp>
      <p:sp>
        <p:nvSpPr>
          <p:cNvPr id="120" name="모서리가 둥근 직사각형 119">
            <a:extLst>
              <a:ext uri="{FF2B5EF4-FFF2-40B4-BE49-F238E27FC236}">
                <a16:creationId xmlns="" xmlns:a16="http://schemas.microsoft.com/office/drawing/2014/main" id="{19FD5FA0-B111-4EF7-BC86-418441928DD3}"/>
              </a:ext>
            </a:extLst>
          </p:cNvPr>
          <p:cNvSpPr/>
          <p:nvPr/>
        </p:nvSpPr>
        <p:spPr>
          <a:xfrm>
            <a:off x="323983" y="5679314"/>
            <a:ext cx="1223664" cy="28781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noAutofit/>
          </a:bodyPr>
          <a:lstStyle/>
          <a:p>
            <a:pPr algn="ctr"/>
            <a:r>
              <a:rPr lang="ko-KR" altLang="en-US" sz="700" smtClean="0"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</a:rPr>
              <a:t>옵션</a:t>
            </a:r>
            <a:r>
              <a:rPr lang="en-US" altLang="ko-KR" sz="700" smtClean="0"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</a:rPr>
              <a:t>/</a:t>
            </a:r>
            <a:r>
              <a:rPr lang="ko-KR" altLang="en-US" sz="700" smtClean="0"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</a:rPr>
              <a:t>수량 변경</a:t>
            </a:r>
            <a:endParaRPr lang="ko-KR" altLang="en-US" sz="700">
              <a:solidFill>
                <a:prstClr val="black">
                  <a:lumMod val="75000"/>
                  <a:lumOff val="25000"/>
                </a:prst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121" name="모서리가 둥근 직사각형 120">
            <a:extLst>
              <a:ext uri="{FF2B5EF4-FFF2-40B4-BE49-F238E27FC236}">
                <a16:creationId xmlns="" xmlns:a16="http://schemas.microsoft.com/office/drawing/2014/main" id="{19FD5FA0-B111-4EF7-BC86-418441928DD3}"/>
              </a:ext>
            </a:extLst>
          </p:cNvPr>
          <p:cNvSpPr/>
          <p:nvPr/>
        </p:nvSpPr>
        <p:spPr>
          <a:xfrm>
            <a:off x="1620775" y="5679314"/>
            <a:ext cx="1223664" cy="28781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noAutofit/>
          </a:bodyPr>
          <a:lstStyle/>
          <a:p>
            <a:pPr algn="ctr"/>
            <a:r>
              <a:rPr lang="ko-KR" altLang="en-US" sz="700" smtClean="0"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</a:rPr>
              <a:t>바로구매</a:t>
            </a:r>
            <a:endParaRPr lang="ko-KR" altLang="en-US" sz="700">
              <a:solidFill>
                <a:prstClr val="black">
                  <a:lumMod val="75000"/>
                  <a:lumOff val="25000"/>
                </a:prstClr>
              </a:solidFill>
              <a:latin typeface="맑은 고딕" panose="020B0503020000020004" pitchFamily="50" charset="-127"/>
            </a:endParaRPr>
          </a:p>
        </p:txBody>
      </p:sp>
      <p:grpSp>
        <p:nvGrpSpPr>
          <p:cNvPr id="130" name="그룹 129"/>
          <p:cNvGrpSpPr/>
          <p:nvPr/>
        </p:nvGrpSpPr>
        <p:grpSpPr>
          <a:xfrm>
            <a:off x="1151755" y="4488293"/>
            <a:ext cx="792000" cy="216000"/>
            <a:chOff x="3483429" y="3042796"/>
            <a:chExt cx="792000" cy="216000"/>
          </a:xfrm>
        </p:grpSpPr>
        <p:sp>
          <p:nvSpPr>
            <p:cNvPr id="131" name="직사각형 130"/>
            <p:cNvSpPr/>
            <p:nvPr/>
          </p:nvSpPr>
          <p:spPr>
            <a:xfrm>
              <a:off x="3483429" y="3042796"/>
              <a:ext cx="792000" cy="144000"/>
            </a:xfrm>
            <a:prstGeom prst="rect">
              <a:avLst/>
            </a:prstGeom>
            <a:solidFill>
              <a:srgbClr val="C00000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600" smtClean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품절임박 </a:t>
              </a:r>
              <a:r>
                <a:rPr lang="en-US" altLang="ko-KR" sz="600" smtClean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· 3</a:t>
              </a:r>
              <a:r>
                <a:rPr lang="ko-KR" altLang="en-US" sz="600" smtClean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개 남음</a:t>
              </a:r>
              <a:endParaRPr lang="ko-KR" altLang="en-US" sz="60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32" name="이등변 삼각형 131"/>
            <p:cNvSpPr/>
            <p:nvPr/>
          </p:nvSpPr>
          <p:spPr>
            <a:xfrm flipV="1">
              <a:off x="3483429" y="3186796"/>
              <a:ext cx="72000" cy="72000"/>
            </a:xfrm>
            <a:prstGeom prst="triangle">
              <a:avLst>
                <a:gd name="adj" fmla="val 0"/>
              </a:avLst>
            </a:prstGeom>
            <a:solidFill>
              <a:srgbClr val="C00000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60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grpSp>
        <p:nvGrpSpPr>
          <p:cNvPr id="30" name="그룹 29"/>
          <p:cNvGrpSpPr/>
          <p:nvPr/>
        </p:nvGrpSpPr>
        <p:grpSpPr>
          <a:xfrm>
            <a:off x="1151755" y="5407217"/>
            <a:ext cx="430965" cy="107722"/>
            <a:chOff x="5616187" y="3122638"/>
            <a:chExt cx="430965" cy="107722"/>
          </a:xfrm>
        </p:grpSpPr>
        <p:grpSp>
          <p:nvGrpSpPr>
            <p:cNvPr id="144" name="그룹 143"/>
            <p:cNvGrpSpPr/>
            <p:nvPr/>
          </p:nvGrpSpPr>
          <p:grpSpPr>
            <a:xfrm>
              <a:off x="5616187" y="3140468"/>
              <a:ext cx="126000" cy="72000"/>
              <a:chOff x="4549384" y="3972353"/>
              <a:chExt cx="180000" cy="108000"/>
            </a:xfrm>
          </p:grpSpPr>
          <p:sp>
            <p:nvSpPr>
              <p:cNvPr id="145" name="직사각형 144"/>
              <p:cNvSpPr/>
              <p:nvPr/>
            </p:nvSpPr>
            <p:spPr>
              <a:xfrm>
                <a:off x="4549384" y="3972353"/>
                <a:ext cx="35644" cy="108000"/>
              </a:xfrm>
              <a:prstGeom prst="rect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 w="31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80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  <p:sp>
            <p:nvSpPr>
              <p:cNvPr id="146" name="타원 145"/>
              <p:cNvSpPr/>
              <p:nvPr/>
            </p:nvSpPr>
            <p:spPr>
              <a:xfrm>
                <a:off x="4595721" y="4044353"/>
                <a:ext cx="35644" cy="36000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 w="31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80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  <p:sp>
            <p:nvSpPr>
              <p:cNvPr id="147" name="직사각형 146"/>
              <p:cNvSpPr/>
              <p:nvPr/>
            </p:nvSpPr>
            <p:spPr>
              <a:xfrm>
                <a:off x="4647404" y="3972353"/>
                <a:ext cx="35644" cy="108000"/>
              </a:xfrm>
              <a:prstGeom prst="rect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 w="31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80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  <p:sp>
            <p:nvSpPr>
              <p:cNvPr id="148" name="타원 147"/>
              <p:cNvSpPr/>
              <p:nvPr/>
            </p:nvSpPr>
            <p:spPr>
              <a:xfrm>
                <a:off x="4693740" y="3972353"/>
                <a:ext cx="35644" cy="36000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 w="31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80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  <p:sp>
            <p:nvSpPr>
              <p:cNvPr id="149" name="타원 148"/>
              <p:cNvSpPr/>
              <p:nvPr/>
            </p:nvSpPr>
            <p:spPr>
              <a:xfrm>
                <a:off x="4693740" y="4026353"/>
                <a:ext cx="35644" cy="36000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 w="31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80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</p:grpSp>
        <p:sp>
          <p:nvSpPr>
            <p:cNvPr id="150" name="TextBox 149"/>
            <p:cNvSpPr txBox="1"/>
            <p:nvPr/>
          </p:nvSpPr>
          <p:spPr>
            <a:xfrm>
              <a:off x="5777848" y="3122638"/>
              <a:ext cx="269304" cy="107722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r>
                <a:rPr lang="ko-KR" altLang="en-US" sz="700" smtClean="0">
                  <a:solidFill>
                    <a:srgbClr val="C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슝배송</a:t>
              </a:r>
              <a:endParaRPr lang="ko-KR" altLang="en-US" sz="70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sp>
        <p:nvSpPr>
          <p:cNvPr id="111" name="TextBox 110">
            <a:extLst>
              <a:ext uri="{FF2B5EF4-FFF2-40B4-BE49-F238E27FC236}">
                <a16:creationId xmlns="" xmlns:a16="http://schemas.microsoft.com/office/drawing/2014/main" id="{0C96C875-C47F-4F5B-B4C1-F9D666A7BD9D}"/>
              </a:ext>
            </a:extLst>
          </p:cNvPr>
          <p:cNvSpPr txBox="1"/>
          <p:nvPr/>
        </p:nvSpPr>
        <p:spPr>
          <a:xfrm>
            <a:off x="1043785" y="5126298"/>
            <a:ext cx="808014" cy="92333"/>
          </a:xfrm>
          <a:prstGeom prst="rect">
            <a:avLst/>
          </a:prstGeom>
          <a:noFill/>
          <a:ln w="317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108000" tIns="0" rIns="108000" bIns="0" numCol="1" rtlCol="0" anchor="ctr" anchorCtr="0" compatLnSpc="1">
            <a:prstTxWarp prst="textNoShape">
              <a:avLst/>
            </a:prstTxWarp>
            <a:spAutoFit/>
          </a:bodyPr>
          <a:lstStyle>
            <a:defPPr>
              <a:defRPr lang="ko-KR"/>
            </a:defPPr>
            <a:lvl1pPr>
              <a:defRPr sz="800"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</a:defRPr>
            </a:lvl1pPr>
          </a:lstStyle>
          <a:p>
            <a:r>
              <a:rPr lang="en-US" altLang="ko-KR" sz="60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5,810M </a:t>
            </a:r>
            <a:r>
              <a:rPr lang="ko-KR" altLang="en-US" sz="60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적립예정</a:t>
            </a:r>
            <a:endParaRPr lang="ko-KR" altLang="en-US" sz="6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52" name="TextBox 151">
            <a:extLst>
              <a:ext uri="{FF2B5EF4-FFF2-40B4-BE49-F238E27FC236}">
                <a16:creationId xmlns="" xmlns:a16="http://schemas.microsoft.com/office/drawing/2014/main" id="{0C96C875-C47F-4F5B-B4C1-F9D666A7BD9D}"/>
              </a:ext>
            </a:extLst>
          </p:cNvPr>
          <p:cNvSpPr txBox="1"/>
          <p:nvPr/>
        </p:nvSpPr>
        <p:spPr>
          <a:xfrm>
            <a:off x="1043785" y="5262433"/>
            <a:ext cx="1405935" cy="107722"/>
          </a:xfrm>
          <a:prstGeom prst="rect">
            <a:avLst/>
          </a:prstGeom>
          <a:noFill/>
          <a:ln w="317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108000" tIns="0" rIns="108000" bIns="0" numCol="1" rtlCol="0" anchor="ctr" anchorCtr="0" compatLnSpc="1">
            <a:prstTxWarp prst="textNoShape">
              <a:avLst/>
            </a:prstTxWarp>
            <a:spAutoFit/>
          </a:bodyPr>
          <a:lstStyle>
            <a:defPPr>
              <a:defRPr lang="ko-KR"/>
            </a:defPPr>
            <a:lvl1pPr>
              <a:defRPr sz="800"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</a:defRPr>
            </a:lvl1pPr>
          </a:lstStyle>
          <a:p>
            <a:r>
              <a:rPr lang="en-US" altLang="ko-KR" sz="700" smtClean="0">
                <a:solidFill>
                  <a:srgbClr val="C00000"/>
                </a:solidFill>
              </a:rPr>
              <a:t>01/08(</a:t>
            </a:r>
            <a:r>
              <a:rPr lang="ko-KR" altLang="en-US" sz="700" smtClean="0">
                <a:solidFill>
                  <a:srgbClr val="C00000"/>
                </a:solidFill>
              </a:rPr>
              <a:t>목</a:t>
            </a:r>
            <a:r>
              <a:rPr lang="en-US" altLang="ko-KR" sz="700" smtClean="0">
                <a:solidFill>
                  <a:srgbClr val="C00000"/>
                </a:solidFill>
              </a:rPr>
              <a:t>)</a:t>
            </a:r>
            <a:r>
              <a:rPr lang="en-US" altLang="ko-KR" sz="70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ko-KR" altLang="en-US" sz="70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이내 도착확률 </a:t>
            </a:r>
            <a:r>
              <a:rPr lang="en-US" altLang="ko-KR" sz="70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92%</a:t>
            </a:r>
            <a:endParaRPr lang="ko-KR" altLang="en-US" sz="7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grpSp>
        <p:nvGrpSpPr>
          <p:cNvPr id="68" name="그룹 67"/>
          <p:cNvGrpSpPr/>
          <p:nvPr/>
        </p:nvGrpSpPr>
        <p:grpSpPr>
          <a:xfrm>
            <a:off x="4823905" y="709700"/>
            <a:ext cx="2880001" cy="5688023"/>
            <a:chOff x="4823905" y="709700"/>
            <a:chExt cx="2880001" cy="5688023"/>
          </a:xfrm>
        </p:grpSpPr>
        <p:sp>
          <p:nvSpPr>
            <p:cNvPr id="346" name="직사각형 345">
              <a:extLst>
                <a:ext uri="{FF2B5EF4-FFF2-40B4-BE49-F238E27FC236}">
                  <a16:creationId xmlns:a16="http://schemas.microsoft.com/office/drawing/2014/main" xmlns="" id="{19FD5FA0-B111-4EF7-BC86-418441928DD3}"/>
                </a:ext>
              </a:extLst>
            </p:cNvPr>
            <p:cNvSpPr/>
            <p:nvPr/>
          </p:nvSpPr>
          <p:spPr>
            <a:xfrm>
              <a:off x="4824696" y="709700"/>
              <a:ext cx="2879209" cy="359774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700"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347" name="TextBox 346">
              <a:extLst>
                <a:ext uri="{FF2B5EF4-FFF2-40B4-BE49-F238E27FC236}">
                  <a16:creationId xmlns="" xmlns:a16="http://schemas.microsoft.com/office/drawing/2014/main" id="{0C96C875-C47F-4F5B-B4C1-F9D666A7BD9D}"/>
                </a:ext>
              </a:extLst>
            </p:cNvPr>
            <p:cNvSpPr txBox="1"/>
            <p:nvPr/>
          </p:nvSpPr>
          <p:spPr>
            <a:xfrm>
              <a:off x="5221090" y="777877"/>
              <a:ext cx="600848" cy="223647"/>
            </a:xfrm>
            <a:prstGeom prst="rect">
              <a:avLst/>
            </a:prstGeom>
            <a:noFill/>
            <a:ln w="3175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none" lIns="108000" tIns="36000" rIns="108000" bIns="36000" numCol="1" rtlCol="0" anchor="ctr" anchorCtr="0" compatLnSpc="1">
              <a:prstTxWarp prst="textNoShape">
                <a:avLst/>
              </a:prstTxWarp>
              <a:spAutoFit/>
            </a:bodyPr>
            <a:lstStyle/>
            <a:p>
              <a:r>
                <a:rPr lang="ko-KR" altLang="en-US" sz="800" b="1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쇼핑백</a:t>
              </a:r>
              <a:endParaRPr lang="ko-KR" altLang="en-US" sz="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endParaRPr>
            </a:p>
          </p:txBody>
        </p:sp>
        <p:pic>
          <p:nvPicPr>
            <p:cNvPr id="348" name="Picture 2" descr="https://img.lfmall.co.kr/file/WAS/display/lf2022/mobile/gnb_fnb_sp.png"/>
            <p:cNvPicPr>
              <a:picLocks noChangeAspect="1" noChangeArrowheads="1"/>
            </p:cNvPicPr>
            <p:nvPr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00" t="38037" r="84922" b="38044"/>
            <a:stretch/>
          </p:blipFill>
          <p:spPr bwMode="auto">
            <a:xfrm>
              <a:off x="4968657" y="799757"/>
              <a:ext cx="181542" cy="17988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grpSp>
          <p:nvGrpSpPr>
            <p:cNvPr id="349" name="그룹 348"/>
            <p:cNvGrpSpPr/>
            <p:nvPr/>
          </p:nvGrpSpPr>
          <p:grpSpPr>
            <a:xfrm>
              <a:off x="7342622" y="799757"/>
              <a:ext cx="179951" cy="179887"/>
              <a:chOff x="3851495" y="6190100"/>
              <a:chExt cx="180000" cy="180000"/>
            </a:xfrm>
          </p:grpSpPr>
          <p:sp>
            <p:nvSpPr>
              <p:cNvPr id="444" name="직사각형 443"/>
              <p:cNvSpPr/>
              <p:nvPr/>
            </p:nvSpPr>
            <p:spPr>
              <a:xfrm>
                <a:off x="3851495" y="6190100"/>
                <a:ext cx="180000" cy="180000"/>
              </a:xfrm>
              <a:prstGeom prst="rect">
                <a:avLst/>
              </a:prstGeom>
              <a:noFill/>
              <a:ln w="31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700">
                  <a:solidFill>
                    <a:prstClr val="black">
                      <a:lumMod val="75000"/>
                      <a:lumOff val="25000"/>
                    </a:prstClr>
                  </a:solidFill>
                  <a:latin typeface="맑은 고딕" panose="020B0503020000020004" pitchFamily="50" charset="-127"/>
                </a:endParaRPr>
              </a:p>
            </p:txBody>
          </p:sp>
          <p:sp>
            <p:nvSpPr>
              <p:cNvPr id="445" name="오각형 444"/>
              <p:cNvSpPr/>
              <p:nvPr/>
            </p:nvSpPr>
            <p:spPr>
              <a:xfrm rot="16200000">
                <a:off x="3869495" y="6217101"/>
                <a:ext cx="144000" cy="126000"/>
              </a:xfrm>
              <a:prstGeom prst="homePlate">
                <a:avLst/>
              </a:prstGeom>
              <a:grpFill/>
              <a:ln w="9525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700">
                  <a:solidFill>
                    <a:prstClr val="black">
                      <a:lumMod val="75000"/>
                      <a:lumOff val="25000"/>
                    </a:prstClr>
                  </a:solidFill>
                  <a:latin typeface="맑은 고딕" panose="020B0503020000020004" pitchFamily="50" charset="-127"/>
                </a:endParaRPr>
              </a:p>
            </p:txBody>
          </p:sp>
          <p:cxnSp>
            <p:nvCxnSpPr>
              <p:cNvPr id="446" name="직선 연결선 445"/>
              <p:cNvCxnSpPr/>
              <p:nvPr/>
            </p:nvCxnSpPr>
            <p:spPr>
              <a:xfrm>
                <a:off x="3860495" y="6282659"/>
                <a:ext cx="162000" cy="0"/>
              </a:xfrm>
              <a:prstGeom prst="line">
                <a:avLst/>
              </a:prstGeom>
              <a:ln w="952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7" name="직선 연결선 446"/>
              <p:cNvCxnSpPr/>
              <p:nvPr/>
            </p:nvCxnSpPr>
            <p:spPr>
              <a:xfrm rot="5400000">
                <a:off x="3923495" y="6348290"/>
                <a:ext cx="36000" cy="0"/>
              </a:xfrm>
              <a:prstGeom prst="line">
                <a:avLst/>
              </a:prstGeom>
              <a:ln w="952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50" name="직사각형 349">
              <a:extLst>
                <a:ext uri="{FF2B5EF4-FFF2-40B4-BE49-F238E27FC236}">
                  <a16:creationId xmlns:a16="http://schemas.microsoft.com/office/drawing/2014/main" xmlns="" id="{F9776C3A-3D6C-4965-9DA5-D76F1E6E1639}"/>
                </a:ext>
              </a:extLst>
            </p:cNvPr>
            <p:cNvSpPr/>
            <p:nvPr/>
          </p:nvSpPr>
          <p:spPr>
            <a:xfrm>
              <a:off x="4824697" y="709700"/>
              <a:ext cx="2879209" cy="5684425"/>
            </a:xfrm>
            <a:prstGeom prst="rect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700"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351" name="직사각형 350">
              <a:extLst>
                <a:ext uri="{FF2B5EF4-FFF2-40B4-BE49-F238E27FC236}">
                  <a16:creationId xmlns:a16="http://schemas.microsoft.com/office/drawing/2014/main" xmlns="" id="{19FD5FA0-B111-4EF7-BC86-418441928DD3}"/>
                </a:ext>
              </a:extLst>
            </p:cNvPr>
            <p:cNvSpPr/>
            <p:nvPr/>
          </p:nvSpPr>
          <p:spPr>
            <a:xfrm>
              <a:off x="4824697" y="1068672"/>
              <a:ext cx="2879209" cy="359774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700"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352" name="TextBox 351"/>
            <p:cNvSpPr txBox="1"/>
            <p:nvPr/>
          </p:nvSpPr>
          <p:spPr>
            <a:xfrm>
              <a:off x="5018574" y="1134314"/>
              <a:ext cx="547985" cy="228490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/>
              <a:r>
                <a:rPr lang="ko-KR" altLang="en-US" sz="700" b="1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일반</a:t>
              </a:r>
              <a:r>
                <a:rPr lang="en-US" altLang="ko-KR" sz="700" b="1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(4)</a:t>
              </a:r>
              <a:endParaRPr lang="ko-KR" altLang="en-US" sz="7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353" name="TextBox 352"/>
            <p:cNvSpPr txBox="1"/>
            <p:nvPr/>
          </p:nvSpPr>
          <p:spPr>
            <a:xfrm>
              <a:off x="5894156" y="1134314"/>
              <a:ext cx="740293" cy="228490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/>
              <a:r>
                <a:rPr lang="ko-KR" altLang="en-US" sz="700" smtClean="0">
                  <a:solidFill>
                    <a:schemeClr val="tx1">
                      <a:lumMod val="50000"/>
                      <a:lumOff val="50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구매대행</a:t>
              </a:r>
              <a:r>
                <a:rPr lang="en-US" altLang="ko-KR" sz="700" smtClean="0">
                  <a:solidFill>
                    <a:schemeClr val="tx1">
                      <a:lumMod val="50000"/>
                      <a:lumOff val="50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(0)</a:t>
              </a:r>
              <a:endParaRPr lang="ko-KR" altLang="en-US" sz="700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354" name="TextBox 353"/>
            <p:cNvSpPr txBox="1"/>
            <p:nvPr/>
          </p:nvSpPr>
          <p:spPr>
            <a:xfrm>
              <a:off x="6917170" y="1134314"/>
              <a:ext cx="637729" cy="228490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/>
              <a:r>
                <a:rPr lang="ko-KR" altLang="en-US" sz="700" smtClean="0">
                  <a:solidFill>
                    <a:schemeClr val="tx1">
                      <a:lumMod val="50000"/>
                      <a:lumOff val="50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패밀리</a:t>
              </a:r>
              <a:r>
                <a:rPr lang="en-US" altLang="ko-KR" sz="700" smtClean="0">
                  <a:solidFill>
                    <a:schemeClr val="tx1">
                      <a:lumMod val="50000"/>
                      <a:lumOff val="50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(1)</a:t>
              </a:r>
              <a:endParaRPr lang="ko-KR" altLang="en-US" sz="700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355" name="직사각형 354">
              <a:extLst>
                <a:ext uri="{FF2B5EF4-FFF2-40B4-BE49-F238E27FC236}">
                  <a16:creationId xmlns:a16="http://schemas.microsoft.com/office/drawing/2014/main" xmlns="" id="{19FD5FA0-B111-4EF7-BC86-418441928DD3}"/>
                </a:ext>
              </a:extLst>
            </p:cNvPr>
            <p:cNvSpPr/>
            <p:nvPr/>
          </p:nvSpPr>
          <p:spPr>
            <a:xfrm>
              <a:off x="4824697" y="1427774"/>
              <a:ext cx="2879209" cy="359774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700"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</a:endParaRPr>
            </a:p>
          </p:txBody>
        </p:sp>
        <p:cxnSp>
          <p:nvCxnSpPr>
            <p:cNvPr id="356" name="직선 연결선 355"/>
            <p:cNvCxnSpPr/>
            <p:nvPr/>
          </p:nvCxnSpPr>
          <p:spPr>
            <a:xfrm>
              <a:off x="4824696" y="1428446"/>
              <a:ext cx="935743" cy="0"/>
            </a:xfrm>
            <a:prstGeom prst="line">
              <a:avLst/>
            </a:prstGeom>
            <a:ln w="1270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57" name="그룹 356"/>
            <p:cNvGrpSpPr/>
            <p:nvPr/>
          </p:nvGrpSpPr>
          <p:grpSpPr>
            <a:xfrm>
              <a:off x="5003375" y="1504626"/>
              <a:ext cx="958455" cy="206070"/>
              <a:chOff x="323906" y="5645204"/>
              <a:chExt cx="958718" cy="206200"/>
            </a:xfrm>
          </p:grpSpPr>
          <p:sp>
            <p:nvSpPr>
              <p:cNvPr id="441" name="사각형: 둥근 모서리 393">
                <a:extLst>
                  <a:ext uri="{FF2B5EF4-FFF2-40B4-BE49-F238E27FC236}">
                    <a16:creationId xmlns="" xmlns:a16="http://schemas.microsoft.com/office/drawing/2014/main" id="{64F9493E-5C70-429B-84F6-3004F8930EFB}"/>
                  </a:ext>
                </a:extLst>
              </p:cNvPr>
              <p:cNvSpPr/>
              <p:nvPr/>
            </p:nvSpPr>
            <p:spPr bwMode="auto">
              <a:xfrm>
                <a:off x="323906" y="5658304"/>
                <a:ext cx="180000" cy="180000"/>
              </a:xfrm>
              <a:prstGeom prst="roundRect">
                <a:avLst/>
              </a:prstGeom>
              <a:solidFill>
                <a:schemeClr val="bg1"/>
              </a:solidFill>
              <a:ln w="3175" cap="flat" cmpd="sng" algn="ctr">
                <a:solidFill>
                  <a:schemeClr val="bg1">
                    <a:lumMod val="7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>
                <a:innerShdw blurRad="12700" dist="12700" dir="13500000">
                  <a:schemeClr val="tx1">
                    <a:lumMod val="75000"/>
                    <a:lumOff val="25000"/>
                    <a:alpha val="30000"/>
                  </a:schemeClr>
                </a:innerShdw>
              </a:effectLst>
            </p:spPr>
            <p:txBody>
    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fontAlgn="base" latinLnBrk="0">
                  <a:spcBef>
                    <a:spcPct val="0"/>
                  </a:spcBef>
                  <a:spcAft>
                    <a:spcPct val="0"/>
                  </a:spcAft>
                </a:pPr>
                <a:endParaRPr kumimoji="1" lang="ko-KR" altLang="en-US" sz="600" b="1" kern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endParaRPr>
              </a:p>
            </p:txBody>
          </p:sp>
          <p:sp>
            <p:nvSpPr>
              <p:cNvPr id="442" name="Accept"/>
              <p:cNvSpPr>
                <a:spLocks noChangeAspect="1"/>
              </p:cNvSpPr>
              <p:nvPr/>
            </p:nvSpPr>
            <p:spPr bwMode="auto">
              <a:xfrm>
                <a:off x="363202" y="5703304"/>
                <a:ext cx="101409" cy="90000"/>
              </a:xfrm>
              <a:custGeom>
                <a:avLst/>
                <a:gdLst>
                  <a:gd name="T0" fmla="*/ 504 w 525"/>
                  <a:gd name="T1" fmla="*/ 3 h 467"/>
                  <a:gd name="T2" fmla="*/ 495 w 525"/>
                  <a:gd name="T3" fmla="*/ 9 h 467"/>
                  <a:gd name="T4" fmla="*/ 223 w 525"/>
                  <a:gd name="T5" fmla="*/ 431 h 467"/>
                  <a:gd name="T6" fmla="*/ 35 w 525"/>
                  <a:gd name="T7" fmla="*/ 262 h 467"/>
                  <a:gd name="T8" fmla="*/ 18 w 525"/>
                  <a:gd name="T9" fmla="*/ 282 h 467"/>
                  <a:gd name="T10" fmla="*/ 217 w 525"/>
                  <a:gd name="T11" fmla="*/ 462 h 467"/>
                  <a:gd name="T12" fmla="*/ 237 w 525"/>
                  <a:gd name="T13" fmla="*/ 459 h 467"/>
                  <a:gd name="T14" fmla="*/ 518 w 525"/>
                  <a:gd name="T15" fmla="*/ 23 h 467"/>
                  <a:gd name="T16" fmla="*/ 504 w 525"/>
                  <a:gd name="T17" fmla="*/ 3 h 4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525" h="467">
                    <a:moveTo>
                      <a:pt x="504" y="3"/>
                    </a:moveTo>
                    <a:cubicBezTo>
                      <a:pt x="500" y="3"/>
                      <a:pt x="497" y="6"/>
                      <a:pt x="495" y="9"/>
                    </a:cubicBezTo>
                    <a:lnTo>
                      <a:pt x="223" y="431"/>
                    </a:lnTo>
                    <a:lnTo>
                      <a:pt x="35" y="262"/>
                    </a:lnTo>
                    <a:cubicBezTo>
                      <a:pt x="22" y="245"/>
                      <a:pt x="0" y="271"/>
                      <a:pt x="18" y="282"/>
                    </a:cubicBezTo>
                    <a:lnTo>
                      <a:pt x="217" y="462"/>
                    </a:lnTo>
                    <a:cubicBezTo>
                      <a:pt x="223" y="467"/>
                      <a:pt x="232" y="466"/>
                      <a:pt x="237" y="459"/>
                    </a:cubicBezTo>
                    <a:lnTo>
                      <a:pt x="518" y="23"/>
                    </a:lnTo>
                    <a:cubicBezTo>
                      <a:pt x="525" y="13"/>
                      <a:pt x="515" y="0"/>
                      <a:pt x="504" y="3"/>
                    </a:cubicBezTo>
                    <a:close/>
                  </a:path>
                </a:pathLst>
              </a:custGeom>
              <a:solidFill>
                <a:schemeClr val="bg1">
                  <a:lumMod val="85000"/>
                </a:schemeClr>
              </a:solidFill>
              <a:ln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914400" latinLnBrk="0"/>
                <a:endParaRPr lang="en-US" sz="800"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443" name="TextBox 442">
                <a:extLst>
                  <a:ext uri="{FF2B5EF4-FFF2-40B4-BE49-F238E27FC236}">
                    <a16:creationId xmlns="" xmlns:a16="http://schemas.microsoft.com/office/drawing/2014/main" id="{0C96C875-C47F-4F5B-B4C1-F9D666A7BD9D}"/>
                  </a:ext>
                </a:extLst>
              </p:cNvPr>
              <p:cNvSpPr txBox="1"/>
              <p:nvPr/>
            </p:nvSpPr>
            <p:spPr>
              <a:xfrm>
                <a:off x="503906" y="5645204"/>
                <a:ext cx="778718" cy="206200"/>
              </a:xfrm>
              <a:prstGeom prst="rect">
                <a:avLst/>
              </a:prstGeom>
              <a:noFill/>
              <a:ln w="3175" cap="flat" cmpd="sng" algn="ctr">
                <a:noFill/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txBody>
              <a:bodyPr vert="horz" wrap="none" lIns="108000" tIns="36000" rIns="108000" bIns="36000" numCol="1" rtlCol="0" anchor="ctr" anchorCtr="0" compatLnSpc="1">
                <a:prstTxWarp prst="textNoShape">
                  <a:avLst/>
                </a:prstTxWarp>
                <a:spAutoFit/>
              </a:bodyPr>
              <a:lstStyle>
                <a:defPPr>
                  <a:defRPr lang="ko-KR"/>
                </a:defPPr>
                <a:lvl1pPr>
                  <a:defRPr sz="800"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맑은 고딕" panose="020B0503020000020004" pitchFamily="50" charset="-127"/>
                  </a:defRPr>
                </a:lvl1pPr>
              </a:lstStyle>
              <a:p>
                <a:r>
                  <a:rPr lang="ko-KR" altLang="en-US" sz="700" smtClean="0"/>
                  <a:t>선택상품</a:t>
                </a:r>
                <a:r>
                  <a:rPr lang="en-US" altLang="ko-KR" sz="700" smtClean="0"/>
                  <a:t>(1)</a:t>
                </a:r>
                <a:endParaRPr lang="ko-KR" altLang="en-US" sz="700" dirty="0"/>
              </a:p>
            </p:txBody>
          </p:sp>
        </p:grpSp>
        <p:sp>
          <p:nvSpPr>
            <p:cNvPr id="358" name="모서리가 둥근 직사각형 357">
              <a:extLst>
                <a:ext uri="{FF2B5EF4-FFF2-40B4-BE49-F238E27FC236}">
                  <a16:creationId xmlns="" xmlns:a16="http://schemas.microsoft.com/office/drawing/2014/main" id="{19FD5FA0-B111-4EF7-BC86-418441928DD3}"/>
                </a:ext>
              </a:extLst>
            </p:cNvPr>
            <p:cNvSpPr/>
            <p:nvPr/>
          </p:nvSpPr>
          <p:spPr>
            <a:xfrm>
              <a:off x="7161634" y="1499729"/>
              <a:ext cx="359901" cy="215864"/>
            </a:xfrm>
            <a:prstGeom prst="roundRect">
              <a:avLst/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>
              <a:noAutofit/>
            </a:bodyPr>
            <a:lstStyle/>
            <a:p>
              <a:pPr algn="ctr"/>
              <a:r>
                <a:rPr lang="ko-KR" altLang="en-US" sz="700" smtClean="0">
                  <a:solidFill>
                    <a:prstClr val="black">
                      <a:lumMod val="75000"/>
                      <a:lumOff val="25000"/>
                    </a:prstClr>
                  </a:solidFill>
                  <a:latin typeface="맑은 고딕" panose="020B0503020000020004" pitchFamily="50" charset="-127"/>
                </a:rPr>
                <a:t>삭제</a:t>
              </a:r>
              <a:endParaRPr lang="ko-KR" altLang="en-US" sz="700"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359" name="모서리가 둥근 직사각형 358">
              <a:extLst>
                <a:ext uri="{FF2B5EF4-FFF2-40B4-BE49-F238E27FC236}">
                  <a16:creationId xmlns="" xmlns:a16="http://schemas.microsoft.com/office/drawing/2014/main" id="{19FD5FA0-B111-4EF7-BC86-418441928DD3}"/>
                </a:ext>
              </a:extLst>
            </p:cNvPr>
            <p:cNvSpPr/>
            <p:nvPr/>
          </p:nvSpPr>
          <p:spPr>
            <a:xfrm>
              <a:off x="6297871" y="1499729"/>
              <a:ext cx="791782" cy="215864"/>
            </a:xfrm>
            <a:prstGeom prst="roundRect">
              <a:avLst/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>
              <a:noAutofit/>
            </a:bodyPr>
            <a:lstStyle/>
            <a:p>
              <a:pPr algn="ctr"/>
              <a:r>
                <a:rPr lang="ko-KR" altLang="en-US" sz="700" smtClean="0">
                  <a:solidFill>
                    <a:prstClr val="black">
                      <a:lumMod val="75000"/>
                      <a:lumOff val="25000"/>
                    </a:prstClr>
                  </a:solidFill>
                  <a:latin typeface="맑은 고딕" panose="020B0503020000020004" pitchFamily="50" charset="-127"/>
                </a:rPr>
                <a:t>패밀리 쇼핑백</a:t>
              </a:r>
              <a:endParaRPr lang="ko-KR" altLang="en-US" sz="700"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360" name="직사각형 359">
              <a:extLst>
                <a:ext uri="{FF2B5EF4-FFF2-40B4-BE49-F238E27FC236}">
                  <a16:creationId xmlns:a16="http://schemas.microsoft.com/office/drawing/2014/main" xmlns="" id="{19FD5FA0-B111-4EF7-BC86-418441928DD3}"/>
                </a:ext>
              </a:extLst>
            </p:cNvPr>
            <p:cNvSpPr/>
            <p:nvPr/>
          </p:nvSpPr>
          <p:spPr>
            <a:xfrm>
              <a:off x="4824697" y="1858964"/>
              <a:ext cx="2879209" cy="2052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700"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361" name="사각형: 둥근 모서리 393">
              <a:extLst>
                <a:ext uri="{FF2B5EF4-FFF2-40B4-BE49-F238E27FC236}">
                  <a16:creationId xmlns="" xmlns:a16="http://schemas.microsoft.com/office/drawing/2014/main" id="{64F9493E-5C70-429B-84F6-3004F8930EFB}"/>
                </a:ext>
              </a:extLst>
            </p:cNvPr>
            <p:cNvSpPr/>
            <p:nvPr/>
          </p:nvSpPr>
          <p:spPr bwMode="auto">
            <a:xfrm>
              <a:off x="5003375" y="2003478"/>
              <a:ext cx="179951" cy="179887"/>
            </a:xfrm>
            <a:prstGeom prst="roundRect">
              <a:avLst/>
            </a:prstGeom>
            <a:solidFill>
              <a:schemeClr val="bg1"/>
            </a:solidFill>
            <a:ln w="3175" cap="flat" cmpd="sng" algn="ctr">
              <a:solidFill>
                <a:schemeClr val="bg1">
                  <a:lumMod val="7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>
              <a:innerShdw blurRad="12700" dist="12700" dir="13500000">
                <a:schemeClr val="tx1">
                  <a:lumMod val="75000"/>
                  <a:lumOff val="25000"/>
                  <a:alpha val="30000"/>
                </a:schemeClr>
              </a:innerShdw>
            </a:effectLst>
          </p:spPr>
          <p:txBody>
  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fontAlgn="base" latinLnBrk="0">
                <a:spcBef>
                  <a:spcPct val="0"/>
                </a:spcBef>
                <a:spcAft>
                  <a:spcPct val="0"/>
                </a:spcAft>
              </a:pPr>
              <a:endParaRPr kumimoji="1" lang="ko-KR" altLang="en-US" sz="600" b="1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362" name="Accept"/>
            <p:cNvSpPr>
              <a:spLocks noChangeAspect="1"/>
            </p:cNvSpPr>
            <p:nvPr/>
          </p:nvSpPr>
          <p:spPr bwMode="auto">
            <a:xfrm>
              <a:off x="5042660" y="2048450"/>
              <a:ext cx="101381" cy="89943"/>
            </a:xfrm>
            <a:custGeom>
              <a:avLst/>
              <a:gdLst>
                <a:gd name="T0" fmla="*/ 504 w 525"/>
                <a:gd name="T1" fmla="*/ 3 h 467"/>
                <a:gd name="T2" fmla="*/ 495 w 525"/>
                <a:gd name="T3" fmla="*/ 9 h 467"/>
                <a:gd name="T4" fmla="*/ 223 w 525"/>
                <a:gd name="T5" fmla="*/ 431 h 467"/>
                <a:gd name="T6" fmla="*/ 35 w 525"/>
                <a:gd name="T7" fmla="*/ 262 h 467"/>
                <a:gd name="T8" fmla="*/ 18 w 525"/>
                <a:gd name="T9" fmla="*/ 282 h 467"/>
                <a:gd name="T10" fmla="*/ 217 w 525"/>
                <a:gd name="T11" fmla="*/ 462 h 467"/>
                <a:gd name="T12" fmla="*/ 237 w 525"/>
                <a:gd name="T13" fmla="*/ 459 h 467"/>
                <a:gd name="T14" fmla="*/ 518 w 525"/>
                <a:gd name="T15" fmla="*/ 23 h 467"/>
                <a:gd name="T16" fmla="*/ 504 w 525"/>
                <a:gd name="T17" fmla="*/ 3 h 4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25" h="467">
                  <a:moveTo>
                    <a:pt x="504" y="3"/>
                  </a:moveTo>
                  <a:cubicBezTo>
                    <a:pt x="500" y="3"/>
                    <a:pt x="497" y="6"/>
                    <a:pt x="495" y="9"/>
                  </a:cubicBezTo>
                  <a:lnTo>
                    <a:pt x="223" y="431"/>
                  </a:lnTo>
                  <a:lnTo>
                    <a:pt x="35" y="262"/>
                  </a:lnTo>
                  <a:cubicBezTo>
                    <a:pt x="22" y="245"/>
                    <a:pt x="0" y="271"/>
                    <a:pt x="18" y="282"/>
                  </a:cubicBezTo>
                  <a:lnTo>
                    <a:pt x="217" y="462"/>
                  </a:lnTo>
                  <a:cubicBezTo>
                    <a:pt x="223" y="467"/>
                    <a:pt x="232" y="466"/>
                    <a:pt x="237" y="459"/>
                  </a:cubicBezTo>
                  <a:lnTo>
                    <a:pt x="518" y="23"/>
                  </a:lnTo>
                  <a:cubicBezTo>
                    <a:pt x="525" y="13"/>
                    <a:pt x="515" y="0"/>
                    <a:pt x="504" y="3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914400" latinLnBrk="0"/>
              <a:endParaRPr lang="en-US" sz="80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363" name="TextBox 362">
              <a:extLst>
                <a:ext uri="{FF2B5EF4-FFF2-40B4-BE49-F238E27FC236}">
                  <a16:creationId xmlns="" xmlns:a16="http://schemas.microsoft.com/office/drawing/2014/main" id="{0C96C875-C47F-4F5B-B4C1-F9D666A7BD9D}"/>
                </a:ext>
              </a:extLst>
            </p:cNvPr>
            <p:cNvSpPr txBox="1"/>
            <p:nvPr/>
          </p:nvSpPr>
          <p:spPr>
            <a:xfrm>
              <a:off x="5183326" y="2003209"/>
              <a:ext cx="564358" cy="180426"/>
            </a:xfrm>
            <a:prstGeom prst="rect">
              <a:avLst/>
            </a:prstGeom>
            <a:noFill/>
            <a:ln w="3175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none" lIns="108000" tIns="36000" rIns="108000" bIns="36000" numCol="1" rtlCol="0" anchor="ctr" anchorCtr="0" compatLnSpc="1">
              <a:prstTxWarp prst="textNoShape">
                <a:avLst/>
              </a:prstTxWarp>
              <a:spAutoFit/>
            </a:bodyPr>
            <a:lstStyle>
              <a:defPPr>
                <a:defRPr lang="ko-KR"/>
              </a:defPPr>
              <a:lvl1pPr>
                <a:defRPr sz="800">
                  <a:solidFill>
                    <a:prstClr val="black">
                      <a:lumMod val="75000"/>
                      <a:lumOff val="25000"/>
                    </a:prstClr>
                  </a:solidFill>
                  <a:latin typeface="맑은 고딕" panose="020B0503020000020004" pitchFamily="50" charset="-127"/>
                </a:defRPr>
              </a:lvl1pPr>
            </a:lstStyle>
            <a:p>
              <a:r>
                <a:rPr lang="en-US" altLang="ko-KR" sz="700" b="1" smtClean="0"/>
                <a:t>HAZZYS</a:t>
              </a:r>
            </a:p>
          </p:txBody>
        </p:sp>
        <p:sp>
          <p:nvSpPr>
            <p:cNvPr id="364" name="Delete"/>
            <p:cNvSpPr>
              <a:spLocks noChangeAspect="1"/>
            </p:cNvSpPr>
            <p:nvPr/>
          </p:nvSpPr>
          <p:spPr bwMode="auto">
            <a:xfrm>
              <a:off x="7413564" y="2129565"/>
              <a:ext cx="107971" cy="107932"/>
            </a:xfrm>
            <a:custGeom>
              <a:avLst/>
              <a:gdLst>
                <a:gd name="T0" fmla="*/ 3 w 77"/>
                <a:gd name="T1" fmla="*/ 0 h 77"/>
                <a:gd name="T2" fmla="*/ 0 w 77"/>
                <a:gd name="T3" fmla="*/ 3 h 77"/>
                <a:gd name="T4" fmla="*/ 36 w 77"/>
                <a:gd name="T5" fmla="*/ 38 h 77"/>
                <a:gd name="T6" fmla="*/ 0 w 77"/>
                <a:gd name="T7" fmla="*/ 74 h 77"/>
                <a:gd name="T8" fmla="*/ 3 w 77"/>
                <a:gd name="T9" fmla="*/ 77 h 77"/>
                <a:gd name="T10" fmla="*/ 39 w 77"/>
                <a:gd name="T11" fmla="*/ 41 h 77"/>
                <a:gd name="T12" fmla="*/ 74 w 77"/>
                <a:gd name="T13" fmla="*/ 77 h 77"/>
                <a:gd name="T14" fmla="*/ 77 w 77"/>
                <a:gd name="T15" fmla="*/ 74 h 77"/>
                <a:gd name="T16" fmla="*/ 42 w 77"/>
                <a:gd name="T17" fmla="*/ 38 h 77"/>
                <a:gd name="T18" fmla="*/ 77 w 77"/>
                <a:gd name="T19" fmla="*/ 3 h 77"/>
                <a:gd name="T20" fmla="*/ 74 w 77"/>
                <a:gd name="T21" fmla="*/ 0 h 77"/>
                <a:gd name="T22" fmla="*/ 39 w 77"/>
                <a:gd name="T23" fmla="*/ 35 h 77"/>
                <a:gd name="T24" fmla="*/ 3 w 77"/>
                <a:gd name="T25" fmla="*/ 0 h 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7" h="77">
                  <a:moveTo>
                    <a:pt x="3" y="0"/>
                  </a:moveTo>
                  <a:lnTo>
                    <a:pt x="0" y="3"/>
                  </a:lnTo>
                  <a:lnTo>
                    <a:pt x="36" y="38"/>
                  </a:lnTo>
                  <a:lnTo>
                    <a:pt x="0" y="74"/>
                  </a:lnTo>
                  <a:lnTo>
                    <a:pt x="3" y="77"/>
                  </a:lnTo>
                  <a:lnTo>
                    <a:pt x="39" y="41"/>
                  </a:lnTo>
                  <a:lnTo>
                    <a:pt x="74" y="77"/>
                  </a:lnTo>
                  <a:lnTo>
                    <a:pt x="77" y="74"/>
                  </a:lnTo>
                  <a:lnTo>
                    <a:pt x="42" y="38"/>
                  </a:lnTo>
                  <a:lnTo>
                    <a:pt x="77" y="3"/>
                  </a:lnTo>
                  <a:lnTo>
                    <a:pt x="74" y="0"/>
                  </a:lnTo>
                  <a:lnTo>
                    <a:pt x="39" y="35"/>
                  </a:lnTo>
                  <a:lnTo>
                    <a:pt x="3" y="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80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365" name="TextBox 364">
              <a:extLst>
                <a:ext uri="{FF2B5EF4-FFF2-40B4-BE49-F238E27FC236}">
                  <a16:creationId xmlns="" xmlns:a16="http://schemas.microsoft.com/office/drawing/2014/main" id="{0C96C875-C47F-4F5B-B4C1-F9D666A7BD9D}"/>
                </a:ext>
              </a:extLst>
            </p:cNvPr>
            <p:cNvSpPr txBox="1"/>
            <p:nvPr/>
          </p:nvSpPr>
          <p:spPr>
            <a:xfrm>
              <a:off x="5183326" y="2183854"/>
              <a:ext cx="2258733" cy="180425"/>
            </a:xfrm>
            <a:prstGeom prst="rect">
              <a:avLst/>
            </a:prstGeom>
            <a:noFill/>
            <a:ln w="3175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none" lIns="108000" tIns="36000" rIns="108000" bIns="36000" numCol="1" rtlCol="0" anchor="ctr" anchorCtr="0" compatLnSpc="1">
              <a:prstTxWarp prst="textNoShape">
                <a:avLst/>
              </a:prstTxWarp>
              <a:spAutoFit/>
            </a:bodyPr>
            <a:lstStyle>
              <a:defPPr>
                <a:defRPr lang="ko-KR"/>
              </a:defPPr>
              <a:lvl1pPr>
                <a:defRPr sz="800">
                  <a:solidFill>
                    <a:prstClr val="black">
                      <a:lumMod val="75000"/>
                      <a:lumOff val="25000"/>
                    </a:prstClr>
                  </a:solidFill>
                  <a:latin typeface="맑은 고딕" panose="020B0503020000020004" pitchFamily="50" charset="-127"/>
                </a:defRPr>
              </a:lvl1pPr>
            </a:lstStyle>
            <a:p>
              <a:r>
                <a:rPr lang="en-US" altLang="ko-KR" sz="70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[</a:t>
              </a:r>
              <a:r>
                <a:rPr lang="ko-KR" altLang="en-US" sz="70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시즌오프</a:t>
              </a:r>
              <a:r>
                <a:rPr lang="en-US" altLang="ko-KR" sz="70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][</a:t>
              </a:r>
              <a:r>
                <a:rPr lang="ko-KR" altLang="en-US" sz="70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인기급상승</a:t>
              </a:r>
              <a:r>
                <a:rPr lang="en-US" altLang="ko-KR" sz="70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] </a:t>
              </a:r>
              <a:r>
                <a:rPr lang="ko-KR" altLang="en-US" sz="70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다이아 패턴 구스 다운 </a:t>
              </a:r>
              <a:r>
                <a:rPr lang="ko-KR" altLang="en-US" sz="700" smtClean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점</a:t>
              </a:r>
              <a:r>
                <a:rPr lang="en-US" altLang="ko-KR" sz="700" smtClean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…</a:t>
              </a:r>
            </a:p>
          </p:txBody>
        </p:sp>
        <p:sp>
          <p:nvSpPr>
            <p:cNvPr id="366" name="직사각형 365">
              <a:extLst>
                <a:ext uri="{FF2B5EF4-FFF2-40B4-BE49-F238E27FC236}">
                  <a16:creationId xmlns="" xmlns:a16="http://schemas.microsoft.com/office/drawing/2014/main" id="{8392E679-C745-496E-8916-C656AE57791E}"/>
                </a:ext>
              </a:extLst>
            </p:cNvPr>
            <p:cNvSpPr/>
            <p:nvPr/>
          </p:nvSpPr>
          <p:spPr>
            <a:xfrm>
              <a:off x="5003500" y="2437066"/>
              <a:ext cx="719802" cy="899434"/>
            </a:xfrm>
            <a:prstGeom prst="rect">
              <a:avLst/>
            </a:prstGeom>
            <a:pattFill prst="openDmnd">
              <a:fgClr>
                <a:schemeClr val="bg1">
                  <a:lumMod val="75000"/>
                </a:schemeClr>
              </a:fgClr>
              <a:bgClr>
                <a:schemeClr val="bg1"/>
              </a:bgClr>
            </a:patt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70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PROD</a:t>
              </a:r>
            </a:p>
            <a:p>
              <a:pPr algn="ctr"/>
              <a:r>
                <a:rPr lang="en-US" altLang="ko-KR" sz="70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IMG</a:t>
              </a:r>
              <a:endParaRPr lang="ko-KR" altLang="en-US" sz="7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367" name="TextBox 366">
              <a:extLst>
                <a:ext uri="{FF2B5EF4-FFF2-40B4-BE49-F238E27FC236}">
                  <a16:creationId xmlns="" xmlns:a16="http://schemas.microsoft.com/office/drawing/2014/main" id="{0C96C875-C47F-4F5B-B4C1-F9D666A7BD9D}"/>
                </a:ext>
              </a:extLst>
            </p:cNvPr>
            <p:cNvSpPr txBox="1"/>
            <p:nvPr/>
          </p:nvSpPr>
          <p:spPr>
            <a:xfrm>
              <a:off x="5723302" y="2437066"/>
              <a:ext cx="974727" cy="180425"/>
            </a:xfrm>
            <a:prstGeom prst="rect">
              <a:avLst/>
            </a:prstGeom>
            <a:noFill/>
            <a:ln w="3175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none" lIns="108000" tIns="36000" rIns="108000" bIns="36000" numCol="1" rtlCol="0" anchor="ctr" anchorCtr="0" compatLnSpc="1">
              <a:prstTxWarp prst="textNoShape">
                <a:avLst/>
              </a:prstTxWarp>
              <a:spAutoFit/>
            </a:bodyPr>
            <a:lstStyle>
              <a:defPPr>
                <a:defRPr lang="ko-KR"/>
              </a:defPPr>
              <a:lvl1pPr>
                <a:defRPr sz="800">
                  <a:solidFill>
                    <a:prstClr val="black">
                      <a:lumMod val="75000"/>
                      <a:lumOff val="25000"/>
                    </a:prstClr>
                  </a:solidFill>
                  <a:latin typeface="맑은 고딕" panose="020B0503020000020004" pitchFamily="50" charset="-127"/>
                </a:defRPr>
              </a:lvl1pPr>
            </a:lstStyle>
            <a:p>
              <a:r>
                <a:rPr lang="ko-KR" altLang="en-US" sz="700" smtClean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세피아 </a:t>
              </a:r>
              <a:r>
                <a:rPr lang="en-US" altLang="ko-KR" sz="700" smtClean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/ 105 / 1</a:t>
              </a:r>
              <a:r>
                <a:rPr lang="ko-KR" altLang="en-US" sz="700" smtClean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개</a:t>
              </a:r>
              <a:endParaRPr lang="ko-KR" altLang="en-US" sz="700" dirty="0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</p:txBody>
        </p:sp>
        <p:grpSp>
          <p:nvGrpSpPr>
            <p:cNvPr id="368" name="그룹 367"/>
            <p:cNvGrpSpPr/>
            <p:nvPr/>
          </p:nvGrpSpPr>
          <p:grpSpPr>
            <a:xfrm>
              <a:off x="5725934" y="2616127"/>
              <a:ext cx="1168348" cy="180425"/>
              <a:chOff x="1046417" y="2636322"/>
              <a:chExt cx="1168348" cy="180425"/>
            </a:xfrm>
          </p:grpSpPr>
          <p:sp>
            <p:nvSpPr>
              <p:cNvPr id="439" name="사각형: 둥근 모서리 393">
                <a:extLst>
                  <a:ext uri="{FF2B5EF4-FFF2-40B4-BE49-F238E27FC236}">
                    <a16:creationId xmlns="" xmlns:a16="http://schemas.microsoft.com/office/drawing/2014/main" id="{64F9493E-5C70-429B-84F6-3004F8930EFB}"/>
                  </a:ext>
                </a:extLst>
              </p:cNvPr>
              <p:cNvSpPr/>
              <p:nvPr/>
            </p:nvSpPr>
            <p:spPr bwMode="auto">
              <a:xfrm>
                <a:off x="2070805" y="2654579"/>
                <a:ext cx="143960" cy="143910"/>
              </a:xfrm>
              <a:prstGeom prst="ellipse">
                <a:avLst/>
              </a:prstGeom>
              <a:solidFill>
                <a:schemeClr val="bg1"/>
              </a:solidFill>
              <a:ln w="3175" cap="flat" cmpd="sng" algn="ctr">
                <a:solidFill>
                  <a:schemeClr val="bg1">
                    <a:lumMod val="7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fontAlgn="base" latinLnBrk="0">
                  <a:spcBef>
                    <a:spcPct val="0"/>
                  </a:spcBef>
                  <a:spcAft>
                    <a:spcPct val="0"/>
                  </a:spcAft>
                </a:pPr>
                <a:r>
                  <a:rPr kumimoji="1" lang="en-US" altLang="ko-KR" sz="600" b="1" kern="0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맑은 고딕" panose="020B0503020000020004" pitchFamily="50" charset="-127"/>
                  </a:rPr>
                  <a:t>?</a:t>
                </a:r>
                <a:endParaRPr kumimoji="1" lang="ko-KR" altLang="en-US" sz="600" b="1" kern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endParaRPr>
              </a:p>
            </p:txBody>
          </p:sp>
          <p:sp>
            <p:nvSpPr>
              <p:cNvPr id="440" name="TextBox 439">
                <a:extLst>
                  <a:ext uri="{FF2B5EF4-FFF2-40B4-BE49-F238E27FC236}">
                    <a16:creationId xmlns:a16="http://schemas.microsoft.com/office/drawing/2014/main" xmlns="" id="{0C96C875-C47F-4F5B-B4C1-F9D666A7BD9D}"/>
                  </a:ext>
                </a:extLst>
              </p:cNvPr>
              <p:cNvSpPr txBox="1"/>
              <p:nvPr/>
            </p:nvSpPr>
            <p:spPr>
              <a:xfrm>
                <a:off x="1046417" y="2636322"/>
                <a:ext cx="1020646" cy="180425"/>
              </a:xfrm>
              <a:prstGeom prst="rect">
                <a:avLst/>
              </a:prstGeom>
              <a:noFill/>
              <a:ln w="3175" cap="flat" cmpd="sng" algn="ctr">
                <a:noFill/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txBody>
              <a:bodyPr vert="horz" wrap="none" lIns="108000" tIns="36000" rIns="36000" bIns="36000" numCol="1" rtlCol="0" anchor="t" anchorCtr="0" compatLnSpc="1">
                <a:prstTxWarp prst="textNoShape">
                  <a:avLst/>
                </a:prstTxWarp>
                <a:spAutoFit/>
              </a:bodyPr>
              <a:lstStyle/>
              <a:p>
                <a:r>
                  <a:rPr lang="en-US" altLang="ko-KR" sz="700" b="1" strike="sngStrike">
                    <a:solidFill>
                      <a:schemeClr val="bg1">
                        <a:lumMod val="75000"/>
                      </a:schemeClr>
                    </a:solidFill>
                    <a:latin typeface="맑은 고딕" panose="020B0503020000020004" pitchFamily="50" charset="-127"/>
                  </a:rPr>
                  <a:t>619,000</a:t>
                </a:r>
                <a:r>
                  <a:rPr lang="ko-KR" altLang="en-US" sz="700" b="1" strike="sngStrike" smtClean="0">
                    <a:solidFill>
                      <a:schemeClr val="bg1">
                        <a:lumMod val="75000"/>
                      </a:schemeClr>
                    </a:solidFill>
                    <a:latin typeface="맑은 고딕" panose="020B0503020000020004" pitchFamily="50" charset="-127"/>
                  </a:rPr>
                  <a:t>원</a:t>
                </a:r>
                <a:r>
                  <a:rPr lang="ko-KR" altLang="en-US" sz="700" b="1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맑은 고딕" panose="020B0503020000020004" pitchFamily="50" charset="-127"/>
                  </a:rPr>
                  <a:t> </a:t>
                </a:r>
                <a:r>
                  <a:rPr lang="en-US" altLang="ko-KR" sz="700" b="1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맑은 고딕" panose="020B0503020000020004" pitchFamily="50" charset="-127"/>
                  </a:rPr>
                  <a:t>433,300</a:t>
                </a:r>
                <a:r>
                  <a:rPr lang="ko-KR" altLang="en-US" sz="700" b="1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맑은 고딕" panose="020B0503020000020004" pitchFamily="50" charset="-127"/>
                  </a:rPr>
                  <a:t>원</a:t>
                </a:r>
                <a:endParaRPr lang="en-US" altLang="ko-KR" sz="700" b="1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endParaRPr>
              </a:p>
            </p:txBody>
          </p:sp>
        </p:grpSp>
        <p:sp>
          <p:nvSpPr>
            <p:cNvPr id="369" name="TextBox 368">
              <a:extLst>
                <a:ext uri="{FF2B5EF4-FFF2-40B4-BE49-F238E27FC236}">
                  <a16:creationId xmlns="" xmlns:a16="http://schemas.microsoft.com/office/drawing/2014/main" id="{0C96C875-C47F-4F5B-B4C1-F9D666A7BD9D}"/>
                </a:ext>
              </a:extLst>
            </p:cNvPr>
            <p:cNvSpPr txBox="1"/>
            <p:nvPr/>
          </p:nvSpPr>
          <p:spPr>
            <a:xfrm>
              <a:off x="5723302" y="2847459"/>
              <a:ext cx="808014" cy="165036"/>
            </a:xfrm>
            <a:prstGeom prst="rect">
              <a:avLst/>
            </a:prstGeom>
            <a:noFill/>
            <a:ln w="3175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none" lIns="108000" tIns="36000" rIns="108000" bIns="36000" numCol="1" rtlCol="0" anchor="ctr" anchorCtr="0" compatLnSpc="1">
              <a:prstTxWarp prst="textNoShape">
                <a:avLst/>
              </a:prstTxWarp>
              <a:spAutoFit/>
            </a:bodyPr>
            <a:lstStyle>
              <a:defPPr>
                <a:defRPr lang="ko-KR"/>
              </a:defPPr>
              <a:lvl1pPr>
                <a:defRPr sz="800">
                  <a:solidFill>
                    <a:prstClr val="black">
                      <a:lumMod val="75000"/>
                      <a:lumOff val="25000"/>
                    </a:prstClr>
                  </a:solidFill>
                  <a:latin typeface="맑은 고딕" panose="020B0503020000020004" pitchFamily="50" charset="-127"/>
                </a:defRPr>
              </a:lvl1pPr>
            </a:lstStyle>
            <a:p>
              <a:r>
                <a:rPr lang="en-US" altLang="ko-KR" sz="600" smtClean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3,170M </a:t>
              </a:r>
              <a:r>
                <a:rPr lang="ko-KR" altLang="en-US" sz="600" smtClean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적립예정</a:t>
              </a:r>
              <a:endParaRPr lang="ko-KR" altLang="en-US" sz="600" dirty="0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</p:txBody>
        </p:sp>
        <p:sp>
          <p:nvSpPr>
            <p:cNvPr id="370" name="TextBox 369">
              <a:extLst>
                <a:ext uri="{FF2B5EF4-FFF2-40B4-BE49-F238E27FC236}">
                  <a16:creationId xmlns="" xmlns:a16="http://schemas.microsoft.com/office/drawing/2014/main" id="{0C96C875-C47F-4F5B-B4C1-F9D666A7BD9D}"/>
                </a:ext>
              </a:extLst>
            </p:cNvPr>
            <p:cNvSpPr txBox="1"/>
            <p:nvPr/>
          </p:nvSpPr>
          <p:spPr>
            <a:xfrm>
              <a:off x="5723302" y="3030790"/>
              <a:ext cx="1673422" cy="107722"/>
            </a:xfrm>
            <a:prstGeom prst="rect">
              <a:avLst/>
            </a:prstGeom>
            <a:noFill/>
            <a:ln w="3175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none" lIns="756000" tIns="0" rIns="108000" bIns="0" numCol="1" rtlCol="0" anchor="ctr" anchorCtr="0" compatLnSpc="1">
              <a:prstTxWarp prst="textNoShape">
                <a:avLst/>
              </a:prstTxWarp>
              <a:spAutoFit/>
            </a:bodyPr>
            <a:lstStyle>
              <a:defPPr>
                <a:defRPr lang="ko-KR"/>
              </a:defPPr>
              <a:lvl1pPr>
                <a:defRPr sz="800">
                  <a:solidFill>
                    <a:prstClr val="black">
                      <a:lumMod val="75000"/>
                      <a:lumOff val="25000"/>
                    </a:prstClr>
                  </a:solidFill>
                  <a:latin typeface="맑은 고딕" panose="020B0503020000020004" pitchFamily="50" charset="-127"/>
                </a:defRPr>
              </a:lvl1pPr>
            </a:lstStyle>
            <a:p>
              <a:r>
                <a:rPr lang="ko-KR" altLang="en-US" sz="700" smtClean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평균 배송일 </a:t>
              </a:r>
              <a:r>
                <a:rPr lang="en-US" altLang="ko-KR" sz="700" smtClean="0">
                  <a:solidFill>
                    <a:srgbClr val="C00000"/>
                  </a:solidFill>
                </a:rPr>
                <a:t>5~7</a:t>
              </a:r>
              <a:r>
                <a:rPr lang="ko-KR" altLang="en-US" sz="700" smtClean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일</a:t>
              </a:r>
              <a:endParaRPr lang="ko-KR" altLang="en-US" sz="700" dirty="0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</p:txBody>
        </p:sp>
        <p:sp>
          <p:nvSpPr>
            <p:cNvPr id="371" name="직사각형 370"/>
            <p:cNvSpPr/>
            <p:nvPr/>
          </p:nvSpPr>
          <p:spPr>
            <a:xfrm>
              <a:off x="5831272" y="3012651"/>
              <a:ext cx="576000" cy="144000"/>
            </a:xfrm>
            <a:prstGeom prst="rect">
              <a:avLst/>
            </a:prstGeom>
            <a:gradFill flip="none" rotWithShape="1">
              <a:gsLst>
                <a:gs pos="0">
                  <a:schemeClr val="accent5">
                    <a:lumMod val="75000"/>
                  </a:schemeClr>
                </a:gs>
                <a:gs pos="50000">
                  <a:schemeClr val="accent5"/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0" scaled="1"/>
              <a:tileRect/>
            </a:gra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600" smtClean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매장상품배송</a:t>
              </a:r>
              <a:endParaRPr lang="ko-KR" altLang="en-US" sz="60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375" name="직사각형 374">
              <a:extLst>
                <a:ext uri="{FF2B5EF4-FFF2-40B4-BE49-F238E27FC236}">
                  <a16:creationId xmlns="" xmlns:a16="http://schemas.microsoft.com/office/drawing/2014/main" id="{8392E679-C745-496E-8916-C656AE57791E}"/>
                </a:ext>
              </a:extLst>
            </p:cNvPr>
            <p:cNvSpPr/>
            <p:nvPr/>
          </p:nvSpPr>
          <p:spPr>
            <a:xfrm>
              <a:off x="4824697" y="1787706"/>
              <a:ext cx="2879209" cy="71955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700" dirty="0"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382" name="모서리가 둥근 직사각형 381">
              <a:extLst>
                <a:ext uri="{FF2B5EF4-FFF2-40B4-BE49-F238E27FC236}">
                  <a16:creationId xmlns="" xmlns:a16="http://schemas.microsoft.com/office/drawing/2014/main" id="{19FD5FA0-B111-4EF7-BC86-418441928DD3}"/>
                </a:ext>
              </a:extLst>
            </p:cNvPr>
            <p:cNvSpPr/>
            <p:nvPr/>
          </p:nvSpPr>
          <p:spPr>
            <a:xfrm>
              <a:off x="5003500" y="3482510"/>
              <a:ext cx="1223664" cy="287819"/>
            </a:xfrm>
            <a:prstGeom prst="round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>
              <a:noAutofit/>
            </a:bodyPr>
            <a:lstStyle/>
            <a:p>
              <a:pPr algn="ctr"/>
              <a:r>
                <a:rPr lang="ko-KR" altLang="en-US" sz="700" smtClean="0">
                  <a:solidFill>
                    <a:prstClr val="black">
                      <a:lumMod val="75000"/>
                      <a:lumOff val="25000"/>
                    </a:prstClr>
                  </a:solidFill>
                  <a:latin typeface="맑은 고딕" panose="020B0503020000020004" pitchFamily="50" charset="-127"/>
                </a:rPr>
                <a:t>옵션</a:t>
              </a:r>
              <a:r>
                <a:rPr lang="en-US" altLang="ko-KR" sz="700" smtClean="0">
                  <a:solidFill>
                    <a:prstClr val="black">
                      <a:lumMod val="75000"/>
                      <a:lumOff val="25000"/>
                    </a:prstClr>
                  </a:solidFill>
                  <a:latin typeface="맑은 고딕" panose="020B0503020000020004" pitchFamily="50" charset="-127"/>
                </a:rPr>
                <a:t>/</a:t>
              </a:r>
              <a:r>
                <a:rPr lang="ko-KR" altLang="en-US" sz="700" smtClean="0">
                  <a:solidFill>
                    <a:prstClr val="black">
                      <a:lumMod val="75000"/>
                      <a:lumOff val="25000"/>
                    </a:prstClr>
                  </a:solidFill>
                  <a:latin typeface="맑은 고딕" panose="020B0503020000020004" pitchFamily="50" charset="-127"/>
                </a:rPr>
                <a:t>수량 변경</a:t>
              </a:r>
              <a:endParaRPr lang="ko-KR" altLang="en-US" sz="700"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383" name="모서리가 둥근 직사각형 382">
              <a:extLst>
                <a:ext uri="{FF2B5EF4-FFF2-40B4-BE49-F238E27FC236}">
                  <a16:creationId xmlns="" xmlns:a16="http://schemas.microsoft.com/office/drawing/2014/main" id="{19FD5FA0-B111-4EF7-BC86-418441928DD3}"/>
                </a:ext>
              </a:extLst>
            </p:cNvPr>
            <p:cNvSpPr/>
            <p:nvPr/>
          </p:nvSpPr>
          <p:spPr>
            <a:xfrm>
              <a:off x="6300292" y="3482510"/>
              <a:ext cx="1223664" cy="287819"/>
            </a:xfrm>
            <a:prstGeom prst="round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>
              <a:noAutofit/>
            </a:bodyPr>
            <a:lstStyle/>
            <a:p>
              <a:pPr algn="ctr"/>
              <a:r>
                <a:rPr lang="ko-KR" altLang="en-US" sz="700" smtClean="0">
                  <a:solidFill>
                    <a:prstClr val="black">
                      <a:lumMod val="75000"/>
                      <a:lumOff val="25000"/>
                    </a:prstClr>
                  </a:solidFill>
                  <a:latin typeface="맑은 고딕" panose="020B0503020000020004" pitchFamily="50" charset="-127"/>
                </a:rPr>
                <a:t>바로구매</a:t>
              </a:r>
              <a:endParaRPr lang="ko-KR" altLang="en-US" sz="700"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386" name="직사각형 385">
              <a:extLst>
                <a:ext uri="{FF2B5EF4-FFF2-40B4-BE49-F238E27FC236}">
                  <a16:creationId xmlns:a16="http://schemas.microsoft.com/office/drawing/2014/main" xmlns="" id="{19FD5FA0-B111-4EF7-BC86-418441928DD3}"/>
                </a:ext>
              </a:extLst>
            </p:cNvPr>
            <p:cNvSpPr/>
            <p:nvPr/>
          </p:nvSpPr>
          <p:spPr>
            <a:xfrm>
              <a:off x="4824697" y="3914001"/>
              <a:ext cx="2879209" cy="2052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700"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387" name="사각형: 둥근 모서리 393">
              <a:extLst>
                <a:ext uri="{FF2B5EF4-FFF2-40B4-BE49-F238E27FC236}">
                  <a16:creationId xmlns="" xmlns:a16="http://schemas.microsoft.com/office/drawing/2014/main" id="{64F9493E-5C70-429B-84F6-3004F8930EFB}"/>
                </a:ext>
              </a:extLst>
            </p:cNvPr>
            <p:cNvSpPr/>
            <p:nvPr/>
          </p:nvSpPr>
          <p:spPr bwMode="auto">
            <a:xfrm>
              <a:off x="5003375" y="4058515"/>
              <a:ext cx="179951" cy="179887"/>
            </a:xfrm>
            <a:prstGeom prst="roundRect">
              <a:avLst/>
            </a:prstGeom>
            <a:solidFill>
              <a:schemeClr val="bg1"/>
            </a:solidFill>
            <a:ln w="3175" cap="flat" cmpd="sng" algn="ctr">
              <a:solidFill>
                <a:schemeClr val="bg1">
                  <a:lumMod val="7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>
              <a:innerShdw blurRad="12700" dist="12700" dir="13500000">
                <a:schemeClr val="tx1">
                  <a:lumMod val="75000"/>
                  <a:lumOff val="25000"/>
                  <a:alpha val="30000"/>
                </a:schemeClr>
              </a:innerShdw>
            </a:effectLst>
          </p:spPr>
          <p:txBody>
  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fontAlgn="base" latinLnBrk="0">
                <a:spcBef>
                  <a:spcPct val="0"/>
                </a:spcBef>
                <a:spcAft>
                  <a:spcPct val="0"/>
                </a:spcAft>
              </a:pPr>
              <a:endParaRPr kumimoji="1" lang="ko-KR" altLang="en-US" sz="600" b="1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388" name="Accept"/>
            <p:cNvSpPr>
              <a:spLocks noChangeAspect="1"/>
            </p:cNvSpPr>
            <p:nvPr/>
          </p:nvSpPr>
          <p:spPr bwMode="auto">
            <a:xfrm>
              <a:off x="5042660" y="4103487"/>
              <a:ext cx="101381" cy="89943"/>
            </a:xfrm>
            <a:custGeom>
              <a:avLst/>
              <a:gdLst>
                <a:gd name="T0" fmla="*/ 504 w 525"/>
                <a:gd name="T1" fmla="*/ 3 h 467"/>
                <a:gd name="T2" fmla="*/ 495 w 525"/>
                <a:gd name="T3" fmla="*/ 9 h 467"/>
                <a:gd name="T4" fmla="*/ 223 w 525"/>
                <a:gd name="T5" fmla="*/ 431 h 467"/>
                <a:gd name="T6" fmla="*/ 35 w 525"/>
                <a:gd name="T7" fmla="*/ 262 h 467"/>
                <a:gd name="T8" fmla="*/ 18 w 525"/>
                <a:gd name="T9" fmla="*/ 282 h 467"/>
                <a:gd name="T10" fmla="*/ 217 w 525"/>
                <a:gd name="T11" fmla="*/ 462 h 467"/>
                <a:gd name="T12" fmla="*/ 237 w 525"/>
                <a:gd name="T13" fmla="*/ 459 h 467"/>
                <a:gd name="T14" fmla="*/ 518 w 525"/>
                <a:gd name="T15" fmla="*/ 23 h 467"/>
                <a:gd name="T16" fmla="*/ 504 w 525"/>
                <a:gd name="T17" fmla="*/ 3 h 4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25" h="467">
                  <a:moveTo>
                    <a:pt x="504" y="3"/>
                  </a:moveTo>
                  <a:cubicBezTo>
                    <a:pt x="500" y="3"/>
                    <a:pt x="497" y="6"/>
                    <a:pt x="495" y="9"/>
                  </a:cubicBezTo>
                  <a:lnTo>
                    <a:pt x="223" y="431"/>
                  </a:lnTo>
                  <a:lnTo>
                    <a:pt x="35" y="262"/>
                  </a:lnTo>
                  <a:cubicBezTo>
                    <a:pt x="22" y="245"/>
                    <a:pt x="0" y="271"/>
                    <a:pt x="18" y="282"/>
                  </a:cubicBezTo>
                  <a:lnTo>
                    <a:pt x="217" y="462"/>
                  </a:lnTo>
                  <a:cubicBezTo>
                    <a:pt x="223" y="467"/>
                    <a:pt x="232" y="466"/>
                    <a:pt x="237" y="459"/>
                  </a:cubicBezTo>
                  <a:lnTo>
                    <a:pt x="518" y="23"/>
                  </a:lnTo>
                  <a:cubicBezTo>
                    <a:pt x="525" y="13"/>
                    <a:pt x="515" y="0"/>
                    <a:pt x="504" y="3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914400" latinLnBrk="0"/>
              <a:endParaRPr lang="en-US" sz="80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389" name="TextBox 388">
              <a:extLst>
                <a:ext uri="{FF2B5EF4-FFF2-40B4-BE49-F238E27FC236}">
                  <a16:creationId xmlns="" xmlns:a16="http://schemas.microsoft.com/office/drawing/2014/main" id="{0C96C875-C47F-4F5B-B4C1-F9D666A7BD9D}"/>
                </a:ext>
              </a:extLst>
            </p:cNvPr>
            <p:cNvSpPr txBox="1"/>
            <p:nvPr/>
          </p:nvSpPr>
          <p:spPr>
            <a:xfrm>
              <a:off x="5183326" y="4058246"/>
              <a:ext cx="1636767" cy="180425"/>
            </a:xfrm>
            <a:prstGeom prst="rect">
              <a:avLst/>
            </a:prstGeom>
            <a:noFill/>
            <a:ln w="3175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none" lIns="108000" tIns="36000" rIns="108000" bIns="36000" numCol="1" rtlCol="0" anchor="ctr" anchorCtr="0" compatLnSpc="1">
              <a:prstTxWarp prst="textNoShape">
                <a:avLst/>
              </a:prstTxWarp>
              <a:spAutoFit/>
            </a:bodyPr>
            <a:lstStyle>
              <a:defPPr>
                <a:defRPr lang="ko-KR"/>
              </a:defPPr>
              <a:lvl1pPr>
                <a:defRPr sz="800">
                  <a:solidFill>
                    <a:prstClr val="black">
                      <a:lumMod val="75000"/>
                      <a:lumOff val="25000"/>
                    </a:prstClr>
                  </a:solidFill>
                  <a:latin typeface="맑은 고딕" panose="020B0503020000020004" pitchFamily="50" charset="-127"/>
                </a:defRPr>
              </a:lvl1pPr>
            </a:lstStyle>
            <a:p>
              <a:r>
                <a:rPr lang="en-US" altLang="ko-KR" sz="700" b="1"/>
                <a:t>JILLSTUART NEW YORK WOMEN</a:t>
              </a:r>
              <a:endParaRPr lang="en-US" altLang="ko-KR" sz="700" b="1" smtClean="0"/>
            </a:p>
          </p:txBody>
        </p:sp>
        <p:sp>
          <p:nvSpPr>
            <p:cNvPr id="390" name="Delete"/>
            <p:cNvSpPr>
              <a:spLocks noChangeAspect="1"/>
            </p:cNvSpPr>
            <p:nvPr/>
          </p:nvSpPr>
          <p:spPr bwMode="auto">
            <a:xfrm>
              <a:off x="7413564" y="4184602"/>
              <a:ext cx="107971" cy="107932"/>
            </a:xfrm>
            <a:custGeom>
              <a:avLst/>
              <a:gdLst>
                <a:gd name="T0" fmla="*/ 3 w 77"/>
                <a:gd name="T1" fmla="*/ 0 h 77"/>
                <a:gd name="T2" fmla="*/ 0 w 77"/>
                <a:gd name="T3" fmla="*/ 3 h 77"/>
                <a:gd name="T4" fmla="*/ 36 w 77"/>
                <a:gd name="T5" fmla="*/ 38 h 77"/>
                <a:gd name="T6" fmla="*/ 0 w 77"/>
                <a:gd name="T7" fmla="*/ 74 h 77"/>
                <a:gd name="T8" fmla="*/ 3 w 77"/>
                <a:gd name="T9" fmla="*/ 77 h 77"/>
                <a:gd name="T10" fmla="*/ 39 w 77"/>
                <a:gd name="T11" fmla="*/ 41 h 77"/>
                <a:gd name="T12" fmla="*/ 74 w 77"/>
                <a:gd name="T13" fmla="*/ 77 h 77"/>
                <a:gd name="T14" fmla="*/ 77 w 77"/>
                <a:gd name="T15" fmla="*/ 74 h 77"/>
                <a:gd name="T16" fmla="*/ 42 w 77"/>
                <a:gd name="T17" fmla="*/ 38 h 77"/>
                <a:gd name="T18" fmla="*/ 77 w 77"/>
                <a:gd name="T19" fmla="*/ 3 h 77"/>
                <a:gd name="T20" fmla="*/ 74 w 77"/>
                <a:gd name="T21" fmla="*/ 0 h 77"/>
                <a:gd name="T22" fmla="*/ 39 w 77"/>
                <a:gd name="T23" fmla="*/ 35 h 77"/>
                <a:gd name="T24" fmla="*/ 3 w 77"/>
                <a:gd name="T25" fmla="*/ 0 h 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7" h="77">
                  <a:moveTo>
                    <a:pt x="3" y="0"/>
                  </a:moveTo>
                  <a:lnTo>
                    <a:pt x="0" y="3"/>
                  </a:lnTo>
                  <a:lnTo>
                    <a:pt x="36" y="38"/>
                  </a:lnTo>
                  <a:lnTo>
                    <a:pt x="0" y="74"/>
                  </a:lnTo>
                  <a:lnTo>
                    <a:pt x="3" y="77"/>
                  </a:lnTo>
                  <a:lnTo>
                    <a:pt x="39" y="41"/>
                  </a:lnTo>
                  <a:lnTo>
                    <a:pt x="74" y="77"/>
                  </a:lnTo>
                  <a:lnTo>
                    <a:pt x="77" y="74"/>
                  </a:lnTo>
                  <a:lnTo>
                    <a:pt x="42" y="38"/>
                  </a:lnTo>
                  <a:lnTo>
                    <a:pt x="77" y="3"/>
                  </a:lnTo>
                  <a:lnTo>
                    <a:pt x="74" y="0"/>
                  </a:lnTo>
                  <a:lnTo>
                    <a:pt x="39" y="35"/>
                  </a:lnTo>
                  <a:lnTo>
                    <a:pt x="3" y="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80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391" name="TextBox 390">
              <a:extLst>
                <a:ext uri="{FF2B5EF4-FFF2-40B4-BE49-F238E27FC236}">
                  <a16:creationId xmlns="" xmlns:a16="http://schemas.microsoft.com/office/drawing/2014/main" id="{0C96C875-C47F-4F5B-B4C1-F9D666A7BD9D}"/>
                </a:ext>
              </a:extLst>
            </p:cNvPr>
            <p:cNvSpPr txBox="1"/>
            <p:nvPr/>
          </p:nvSpPr>
          <p:spPr>
            <a:xfrm>
              <a:off x="5183326" y="4238891"/>
              <a:ext cx="2281175" cy="180425"/>
            </a:xfrm>
            <a:prstGeom prst="rect">
              <a:avLst/>
            </a:prstGeom>
            <a:noFill/>
            <a:ln w="3175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none" lIns="108000" tIns="36000" rIns="108000" bIns="36000" numCol="1" rtlCol="0" anchor="ctr" anchorCtr="0" compatLnSpc="1">
              <a:prstTxWarp prst="textNoShape">
                <a:avLst/>
              </a:prstTxWarp>
              <a:spAutoFit/>
            </a:bodyPr>
            <a:lstStyle>
              <a:defPPr>
                <a:defRPr lang="ko-KR"/>
              </a:defPPr>
              <a:lvl1pPr>
                <a:defRPr sz="800">
                  <a:solidFill>
                    <a:prstClr val="black">
                      <a:lumMod val="75000"/>
                      <a:lumOff val="25000"/>
                    </a:prstClr>
                  </a:solidFill>
                  <a:latin typeface="맑은 고딕" panose="020B0503020000020004" pitchFamily="50" charset="-127"/>
                </a:defRPr>
              </a:lvl1pPr>
            </a:lstStyle>
            <a:p>
              <a:r>
                <a:rPr lang="en-US" altLang="ko-KR" sz="70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[25FW][</a:t>
              </a:r>
              <a:r>
                <a:rPr lang="ko-KR" altLang="en-US" sz="70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시즌오프</a:t>
              </a:r>
              <a:r>
                <a:rPr lang="en-US" altLang="ko-KR" sz="70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]</a:t>
              </a:r>
              <a:r>
                <a:rPr lang="ko-KR" altLang="en-US" sz="70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브라운 </a:t>
              </a:r>
              <a:r>
                <a:rPr lang="en-US" altLang="ko-KR" sz="70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Faux </a:t>
              </a:r>
              <a:r>
                <a:rPr lang="ko-KR" altLang="en-US" sz="70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페이크퍼 포켓 </a:t>
              </a:r>
              <a:r>
                <a:rPr lang="ko-KR" altLang="en-US" sz="700" smtClean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후드</a:t>
              </a:r>
              <a:r>
                <a:rPr lang="en-US" altLang="ko-KR" sz="700" smtClean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…</a:t>
              </a:r>
            </a:p>
          </p:txBody>
        </p:sp>
        <p:sp>
          <p:nvSpPr>
            <p:cNvPr id="392" name="직사각형 391">
              <a:extLst>
                <a:ext uri="{FF2B5EF4-FFF2-40B4-BE49-F238E27FC236}">
                  <a16:creationId xmlns="" xmlns:a16="http://schemas.microsoft.com/office/drawing/2014/main" id="{8392E679-C745-496E-8916-C656AE57791E}"/>
                </a:ext>
              </a:extLst>
            </p:cNvPr>
            <p:cNvSpPr/>
            <p:nvPr/>
          </p:nvSpPr>
          <p:spPr>
            <a:xfrm>
              <a:off x="5003500" y="4492103"/>
              <a:ext cx="719802" cy="899434"/>
            </a:xfrm>
            <a:prstGeom prst="rect">
              <a:avLst/>
            </a:prstGeom>
            <a:pattFill prst="openDmnd">
              <a:fgClr>
                <a:schemeClr val="bg1">
                  <a:lumMod val="75000"/>
                </a:schemeClr>
              </a:fgClr>
              <a:bgClr>
                <a:schemeClr val="bg1"/>
              </a:bgClr>
            </a:patt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70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PROD</a:t>
              </a:r>
            </a:p>
            <a:p>
              <a:pPr algn="ctr"/>
              <a:r>
                <a:rPr lang="en-US" altLang="ko-KR" sz="70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IMG</a:t>
              </a:r>
              <a:endParaRPr lang="ko-KR" altLang="en-US" sz="7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393" name="TextBox 392">
              <a:extLst>
                <a:ext uri="{FF2B5EF4-FFF2-40B4-BE49-F238E27FC236}">
                  <a16:creationId xmlns="" xmlns:a16="http://schemas.microsoft.com/office/drawing/2014/main" id="{0C96C875-C47F-4F5B-B4C1-F9D666A7BD9D}"/>
                </a:ext>
              </a:extLst>
            </p:cNvPr>
            <p:cNvSpPr txBox="1"/>
            <p:nvPr/>
          </p:nvSpPr>
          <p:spPr>
            <a:xfrm>
              <a:off x="5723302" y="4672845"/>
              <a:ext cx="1409141" cy="180425"/>
            </a:xfrm>
            <a:prstGeom prst="rect">
              <a:avLst/>
            </a:prstGeom>
            <a:noFill/>
            <a:ln w="3175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none" lIns="108000" tIns="36000" rIns="108000" bIns="36000" numCol="1" rtlCol="0" anchor="ctr" anchorCtr="0" compatLnSpc="1">
              <a:prstTxWarp prst="textNoShape">
                <a:avLst/>
              </a:prstTxWarp>
              <a:spAutoFit/>
            </a:bodyPr>
            <a:lstStyle>
              <a:defPPr>
                <a:defRPr lang="ko-KR"/>
              </a:defPPr>
              <a:lvl1pPr>
                <a:defRPr sz="800">
                  <a:solidFill>
                    <a:prstClr val="black">
                      <a:lumMod val="75000"/>
                      <a:lumOff val="25000"/>
                    </a:prstClr>
                  </a:solidFill>
                  <a:latin typeface="맑은 고딕" panose="020B0503020000020004" pitchFamily="50" charset="-127"/>
                </a:defRPr>
              </a:lvl1pPr>
            </a:lstStyle>
            <a:p>
              <a:r>
                <a:rPr lang="ko-KR" altLang="en-US" sz="700" smtClean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진한 브라운 </a:t>
              </a:r>
              <a:r>
                <a:rPr lang="en-US" altLang="ko-KR" sz="700" smtClean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/ 00S </a:t>
              </a:r>
              <a:r>
                <a:rPr lang="en-US" altLang="ko-KR" sz="70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(90) </a:t>
              </a:r>
              <a:r>
                <a:rPr lang="en-US" altLang="ko-KR" sz="700" smtClean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/ 1</a:t>
              </a:r>
              <a:r>
                <a:rPr lang="ko-KR" altLang="en-US" sz="700" smtClean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개</a:t>
              </a:r>
              <a:endParaRPr lang="ko-KR" altLang="en-US" sz="700" dirty="0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</p:txBody>
        </p:sp>
        <p:grpSp>
          <p:nvGrpSpPr>
            <p:cNvPr id="394" name="그룹 393"/>
            <p:cNvGrpSpPr/>
            <p:nvPr/>
          </p:nvGrpSpPr>
          <p:grpSpPr>
            <a:xfrm>
              <a:off x="5725934" y="4851906"/>
              <a:ext cx="1168348" cy="180425"/>
              <a:chOff x="1046417" y="4886689"/>
              <a:chExt cx="1168348" cy="180425"/>
            </a:xfrm>
          </p:grpSpPr>
          <p:sp>
            <p:nvSpPr>
              <p:cNvPr id="437" name="사각형: 둥근 모서리 393">
                <a:extLst>
                  <a:ext uri="{FF2B5EF4-FFF2-40B4-BE49-F238E27FC236}">
                    <a16:creationId xmlns="" xmlns:a16="http://schemas.microsoft.com/office/drawing/2014/main" id="{64F9493E-5C70-429B-84F6-3004F8930EFB}"/>
                  </a:ext>
                </a:extLst>
              </p:cNvPr>
              <p:cNvSpPr/>
              <p:nvPr/>
            </p:nvSpPr>
            <p:spPr bwMode="auto">
              <a:xfrm>
                <a:off x="2070805" y="4904946"/>
                <a:ext cx="143960" cy="143910"/>
              </a:xfrm>
              <a:prstGeom prst="ellipse">
                <a:avLst/>
              </a:prstGeom>
              <a:solidFill>
                <a:schemeClr val="bg1"/>
              </a:solidFill>
              <a:ln w="3175" cap="flat" cmpd="sng" algn="ctr">
                <a:solidFill>
                  <a:schemeClr val="bg1">
                    <a:lumMod val="7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fontAlgn="base" latinLnBrk="0">
                  <a:spcBef>
                    <a:spcPct val="0"/>
                  </a:spcBef>
                  <a:spcAft>
                    <a:spcPct val="0"/>
                  </a:spcAft>
                </a:pPr>
                <a:r>
                  <a:rPr kumimoji="1" lang="en-US" altLang="ko-KR" sz="600" b="1" kern="0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맑은 고딕" panose="020B0503020000020004" pitchFamily="50" charset="-127"/>
                  </a:rPr>
                  <a:t>?</a:t>
                </a:r>
                <a:endParaRPr kumimoji="1" lang="ko-KR" altLang="en-US" sz="600" b="1" kern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endParaRPr>
              </a:p>
            </p:txBody>
          </p:sp>
          <p:sp>
            <p:nvSpPr>
              <p:cNvPr id="438" name="TextBox 437">
                <a:extLst>
                  <a:ext uri="{FF2B5EF4-FFF2-40B4-BE49-F238E27FC236}">
                    <a16:creationId xmlns:a16="http://schemas.microsoft.com/office/drawing/2014/main" xmlns="" id="{0C96C875-C47F-4F5B-B4C1-F9D666A7BD9D}"/>
                  </a:ext>
                </a:extLst>
              </p:cNvPr>
              <p:cNvSpPr txBox="1"/>
              <p:nvPr/>
            </p:nvSpPr>
            <p:spPr>
              <a:xfrm>
                <a:off x="1046417" y="4886689"/>
                <a:ext cx="1020646" cy="180425"/>
              </a:xfrm>
              <a:prstGeom prst="rect">
                <a:avLst/>
              </a:prstGeom>
              <a:noFill/>
              <a:ln w="3175" cap="flat" cmpd="sng" algn="ctr">
                <a:noFill/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txBody>
              <a:bodyPr vert="horz" wrap="none" lIns="108000" tIns="36000" rIns="36000" bIns="36000" numCol="1" rtlCol="0" anchor="t" anchorCtr="0" compatLnSpc="1">
                <a:prstTxWarp prst="textNoShape">
                  <a:avLst/>
                </a:prstTxWarp>
                <a:spAutoFit/>
              </a:bodyPr>
              <a:lstStyle/>
              <a:p>
                <a:r>
                  <a:rPr lang="en-US" altLang="ko-KR" sz="700" b="1" strike="sngStrike" smtClean="0">
                    <a:solidFill>
                      <a:schemeClr val="bg1">
                        <a:lumMod val="75000"/>
                      </a:schemeClr>
                    </a:solidFill>
                    <a:latin typeface="맑은 고딕" panose="020B0503020000020004" pitchFamily="50" charset="-127"/>
                  </a:rPr>
                  <a:t>799,000</a:t>
                </a:r>
                <a:r>
                  <a:rPr lang="ko-KR" altLang="en-US" sz="700" b="1" strike="sngStrike" smtClean="0">
                    <a:solidFill>
                      <a:schemeClr val="bg1">
                        <a:lumMod val="75000"/>
                      </a:schemeClr>
                    </a:solidFill>
                    <a:latin typeface="맑은 고딕" panose="020B0503020000020004" pitchFamily="50" charset="-127"/>
                  </a:rPr>
                  <a:t>원</a:t>
                </a:r>
                <a:r>
                  <a:rPr lang="ko-KR" altLang="en-US" sz="700" b="1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맑은 고딕" panose="020B0503020000020004" pitchFamily="50" charset="-127"/>
                  </a:rPr>
                  <a:t> </a:t>
                </a:r>
                <a:r>
                  <a:rPr lang="en-US" altLang="ko-KR" sz="700" b="1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맑은 고딕" panose="020B0503020000020004" pitchFamily="50" charset="-127"/>
                  </a:rPr>
                  <a:t>639,200</a:t>
                </a:r>
                <a:r>
                  <a:rPr lang="ko-KR" altLang="en-US" sz="700" b="1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맑은 고딕" panose="020B0503020000020004" pitchFamily="50" charset="-127"/>
                  </a:rPr>
                  <a:t>원</a:t>
                </a:r>
                <a:endParaRPr lang="en-US" altLang="ko-KR" sz="700" b="1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endParaRPr>
              </a:p>
            </p:txBody>
          </p:sp>
        </p:grpSp>
        <p:sp>
          <p:nvSpPr>
            <p:cNvPr id="401" name="모서리가 둥근 직사각형 400">
              <a:extLst>
                <a:ext uri="{FF2B5EF4-FFF2-40B4-BE49-F238E27FC236}">
                  <a16:creationId xmlns="" xmlns:a16="http://schemas.microsoft.com/office/drawing/2014/main" id="{19FD5FA0-B111-4EF7-BC86-418441928DD3}"/>
                </a:ext>
              </a:extLst>
            </p:cNvPr>
            <p:cNvSpPr/>
            <p:nvPr/>
          </p:nvSpPr>
          <p:spPr>
            <a:xfrm>
              <a:off x="5003500" y="5683124"/>
              <a:ext cx="1223664" cy="287819"/>
            </a:xfrm>
            <a:prstGeom prst="round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>
              <a:noAutofit/>
            </a:bodyPr>
            <a:lstStyle/>
            <a:p>
              <a:pPr algn="ctr"/>
              <a:r>
                <a:rPr lang="ko-KR" altLang="en-US" sz="700" smtClean="0">
                  <a:solidFill>
                    <a:prstClr val="black">
                      <a:lumMod val="75000"/>
                      <a:lumOff val="25000"/>
                    </a:prstClr>
                  </a:solidFill>
                  <a:latin typeface="맑은 고딕" panose="020B0503020000020004" pitchFamily="50" charset="-127"/>
                </a:rPr>
                <a:t>옵션</a:t>
              </a:r>
              <a:r>
                <a:rPr lang="en-US" altLang="ko-KR" sz="700" smtClean="0">
                  <a:solidFill>
                    <a:prstClr val="black">
                      <a:lumMod val="75000"/>
                      <a:lumOff val="25000"/>
                    </a:prstClr>
                  </a:solidFill>
                  <a:latin typeface="맑은 고딕" panose="020B0503020000020004" pitchFamily="50" charset="-127"/>
                </a:rPr>
                <a:t>/</a:t>
              </a:r>
              <a:r>
                <a:rPr lang="ko-KR" altLang="en-US" sz="700" smtClean="0">
                  <a:solidFill>
                    <a:prstClr val="black">
                      <a:lumMod val="75000"/>
                      <a:lumOff val="25000"/>
                    </a:prstClr>
                  </a:solidFill>
                  <a:latin typeface="맑은 고딕" panose="020B0503020000020004" pitchFamily="50" charset="-127"/>
                </a:rPr>
                <a:t>수량 변경</a:t>
              </a:r>
              <a:endParaRPr lang="ko-KR" altLang="en-US" sz="700"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402" name="모서리가 둥근 직사각형 401">
              <a:extLst>
                <a:ext uri="{FF2B5EF4-FFF2-40B4-BE49-F238E27FC236}">
                  <a16:creationId xmlns="" xmlns:a16="http://schemas.microsoft.com/office/drawing/2014/main" id="{19FD5FA0-B111-4EF7-BC86-418441928DD3}"/>
                </a:ext>
              </a:extLst>
            </p:cNvPr>
            <p:cNvSpPr/>
            <p:nvPr/>
          </p:nvSpPr>
          <p:spPr>
            <a:xfrm>
              <a:off x="6300292" y="5683124"/>
              <a:ext cx="1223664" cy="287819"/>
            </a:xfrm>
            <a:prstGeom prst="round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>
              <a:noAutofit/>
            </a:bodyPr>
            <a:lstStyle/>
            <a:p>
              <a:pPr algn="ctr"/>
              <a:r>
                <a:rPr lang="ko-KR" altLang="en-US" sz="700" smtClean="0">
                  <a:solidFill>
                    <a:prstClr val="black">
                      <a:lumMod val="75000"/>
                      <a:lumOff val="25000"/>
                    </a:prstClr>
                  </a:solidFill>
                  <a:latin typeface="맑은 고딕" panose="020B0503020000020004" pitchFamily="50" charset="-127"/>
                </a:rPr>
                <a:t>바로구매</a:t>
              </a:r>
              <a:endParaRPr lang="ko-KR" altLang="en-US" sz="700"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</a:endParaRPr>
            </a:p>
          </p:txBody>
        </p:sp>
        <p:grpSp>
          <p:nvGrpSpPr>
            <p:cNvPr id="405" name="그룹 404"/>
            <p:cNvGrpSpPr/>
            <p:nvPr/>
          </p:nvGrpSpPr>
          <p:grpSpPr>
            <a:xfrm>
              <a:off x="4824697" y="5818487"/>
              <a:ext cx="2879209" cy="575638"/>
              <a:chOff x="143906" y="5821700"/>
              <a:chExt cx="2880000" cy="576000"/>
            </a:xfrm>
          </p:grpSpPr>
          <p:sp>
            <p:nvSpPr>
              <p:cNvPr id="432" name="직사각형 431">
                <a:extLst>
                  <a:ext uri="{FF2B5EF4-FFF2-40B4-BE49-F238E27FC236}">
                    <a16:creationId xmlns:a16="http://schemas.microsoft.com/office/drawing/2014/main" xmlns="" id="{19FD5FA0-B111-4EF7-BC86-418441928DD3}"/>
                  </a:ext>
                </a:extLst>
              </p:cNvPr>
              <p:cNvSpPr/>
              <p:nvPr/>
            </p:nvSpPr>
            <p:spPr>
              <a:xfrm>
                <a:off x="143906" y="5821700"/>
                <a:ext cx="2880000" cy="576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chemeClr val="bg1">
                    <a:lumMod val="75000"/>
                  </a:schemeClr>
                </a:solidFill>
              </a:ln>
              <a:effectLst>
                <a:outerShdw blurRad="12700" dist="25400" dir="16200000" rotWithShape="0">
                  <a:schemeClr val="bg1">
                    <a:lumMod val="75000"/>
                    <a:alpha val="5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700">
                  <a:solidFill>
                    <a:prstClr val="black">
                      <a:lumMod val="75000"/>
                      <a:lumOff val="25000"/>
                    </a:prstClr>
                  </a:solidFill>
                  <a:latin typeface="맑은 고딕" panose="020B0503020000020004" pitchFamily="50" charset="-127"/>
                </a:endParaRPr>
              </a:p>
            </p:txBody>
          </p:sp>
          <p:grpSp>
            <p:nvGrpSpPr>
              <p:cNvPr id="433" name="그룹 432"/>
              <p:cNvGrpSpPr/>
              <p:nvPr/>
            </p:nvGrpSpPr>
            <p:grpSpPr>
              <a:xfrm>
                <a:off x="215008" y="5929700"/>
                <a:ext cx="360000" cy="360000"/>
                <a:chOff x="215008" y="5929700"/>
                <a:chExt cx="360000" cy="360000"/>
              </a:xfrm>
            </p:grpSpPr>
            <p:sp>
              <p:nvSpPr>
                <p:cNvPr id="435" name="모서리가 둥근 직사각형 434">
                  <a:extLst>
                    <a:ext uri="{FF2B5EF4-FFF2-40B4-BE49-F238E27FC236}">
                      <a16:creationId xmlns:a16="http://schemas.microsoft.com/office/drawing/2014/main" xmlns="" id="{19FD5FA0-B111-4EF7-BC86-418441928DD3}"/>
                    </a:ext>
                  </a:extLst>
                </p:cNvPr>
                <p:cNvSpPr/>
                <p:nvPr/>
              </p:nvSpPr>
              <p:spPr>
                <a:xfrm>
                  <a:off x="215008" y="5929700"/>
                  <a:ext cx="360000" cy="360000"/>
                </a:xfrm>
                <a:prstGeom prst="roundRect">
                  <a:avLst>
                    <a:gd name="adj" fmla="val 9391"/>
                  </a:avLst>
                </a:prstGeom>
                <a:solidFill>
                  <a:schemeClr val="bg1"/>
                </a:solidFill>
                <a:ln w="3175">
                  <a:solidFill>
                    <a:schemeClr val="tx1">
                      <a:lumMod val="75000"/>
                      <a:lumOff val="2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700"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맑은 고딕" panose="020B0503020000020004" pitchFamily="50" charset="-127"/>
                  </a:endParaRPr>
                </a:p>
              </p:txBody>
            </p:sp>
            <p:pic>
              <p:nvPicPr>
                <p:cNvPr id="436" name="Picture 6" descr="https://img.lfmall.co.kr/file/WAS/display/lf2022/mobile/gnb_fnb_sp.png"/>
                <p:cNvPicPr>
                  <a:picLocks noChangeAspect="1" noChangeArrowheads="1"/>
                </p:cNvPicPr>
                <p:nvPr/>
              </p:nvPicPr>
              <p:blipFill rotWithShape="1">
                <a:blip r:embed="rId3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62909" t="71189" r="22740" b="4892"/>
                <a:stretch/>
              </p:blipFill>
              <p:spPr bwMode="auto">
                <a:xfrm>
                  <a:off x="287376" y="6002068"/>
                  <a:ext cx="215265" cy="21526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</p:grpSp>
          <p:sp>
            <p:nvSpPr>
              <p:cNvPr id="434" name="모서리가 둥근 직사각형 433">
                <a:extLst>
                  <a:ext uri="{FF2B5EF4-FFF2-40B4-BE49-F238E27FC236}">
                    <a16:creationId xmlns:a16="http://schemas.microsoft.com/office/drawing/2014/main" xmlns="" id="{19FD5FA0-B111-4EF7-BC86-418441928DD3}"/>
                  </a:ext>
                </a:extLst>
              </p:cNvPr>
              <p:cNvSpPr/>
              <p:nvPr/>
            </p:nvSpPr>
            <p:spPr>
              <a:xfrm>
                <a:off x="646821" y="5929700"/>
                <a:ext cx="2304000" cy="360000"/>
              </a:xfrm>
              <a:prstGeom prst="roundRect">
                <a:avLst>
                  <a:gd name="adj" fmla="val 9391"/>
                </a:avLst>
              </a:prstGeom>
              <a:solidFill>
                <a:schemeClr val="tx1">
                  <a:lumMod val="75000"/>
                  <a:lumOff val="25000"/>
                </a:schemeClr>
              </a:solidFill>
              <a:ln w="31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700" b="1" smtClean="0">
                    <a:solidFill>
                      <a:schemeClr val="bg1"/>
                    </a:solidFill>
                    <a:latin typeface="맑은 고딕" panose="020B0503020000020004" pitchFamily="50" charset="-127"/>
                  </a:rPr>
                  <a:t>총 </a:t>
                </a:r>
                <a:r>
                  <a:rPr lang="en-US" altLang="ko-KR" sz="700" b="1" smtClean="0">
                    <a:solidFill>
                      <a:schemeClr val="bg1"/>
                    </a:solidFill>
                    <a:latin typeface="맑은 고딕" panose="020B0503020000020004" pitchFamily="50" charset="-127"/>
                  </a:rPr>
                  <a:t>1</a:t>
                </a:r>
                <a:r>
                  <a:rPr lang="ko-KR" altLang="en-US" sz="700" b="1" smtClean="0">
                    <a:solidFill>
                      <a:schemeClr val="bg1"/>
                    </a:solidFill>
                    <a:latin typeface="맑은 고딕" panose="020B0503020000020004" pitchFamily="50" charset="-127"/>
                  </a:rPr>
                  <a:t>개 </a:t>
                </a:r>
                <a:r>
                  <a:rPr lang="en-US" altLang="ko-KR" sz="700" b="1" smtClean="0">
                    <a:solidFill>
                      <a:schemeClr val="bg1"/>
                    </a:solidFill>
                    <a:latin typeface="맑은 고딕" panose="020B0503020000020004" pitchFamily="50" charset="-127"/>
                  </a:rPr>
                  <a:t>433,300</a:t>
                </a:r>
                <a:r>
                  <a:rPr lang="ko-KR" altLang="en-US" sz="700" b="1" smtClean="0">
                    <a:solidFill>
                      <a:schemeClr val="bg1"/>
                    </a:solidFill>
                    <a:latin typeface="맑은 고딕" panose="020B0503020000020004" pitchFamily="50" charset="-127"/>
                  </a:rPr>
                  <a:t>원 주문하기</a:t>
                </a:r>
                <a:endParaRPr lang="ko-KR" altLang="en-US" sz="700" b="1">
                  <a:solidFill>
                    <a:schemeClr val="bg1"/>
                  </a:solidFill>
                  <a:latin typeface="맑은 고딕" panose="020B0503020000020004" pitchFamily="50" charset="-127"/>
                </a:endParaRPr>
              </a:p>
            </p:txBody>
          </p:sp>
        </p:grpSp>
        <p:grpSp>
          <p:nvGrpSpPr>
            <p:cNvPr id="406" name="그룹 405"/>
            <p:cNvGrpSpPr/>
            <p:nvPr/>
          </p:nvGrpSpPr>
          <p:grpSpPr>
            <a:xfrm>
              <a:off x="5831272" y="4492103"/>
              <a:ext cx="792000" cy="216000"/>
              <a:chOff x="3483429" y="3042796"/>
              <a:chExt cx="792000" cy="216000"/>
            </a:xfrm>
          </p:grpSpPr>
          <p:sp>
            <p:nvSpPr>
              <p:cNvPr id="430" name="직사각형 429"/>
              <p:cNvSpPr/>
              <p:nvPr/>
            </p:nvSpPr>
            <p:spPr>
              <a:xfrm>
                <a:off x="3483429" y="3042796"/>
                <a:ext cx="792000" cy="144000"/>
              </a:xfrm>
              <a:prstGeom prst="rect">
                <a:avLst/>
              </a:prstGeom>
              <a:solidFill>
                <a:srgbClr val="C00000"/>
              </a:solidFill>
              <a:ln w="31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ko-KR" altLang="en-US" sz="600" smtClean="0">
                    <a:solidFill>
                      <a:schemeClr val="bg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품절임박 </a:t>
                </a:r>
                <a:r>
                  <a:rPr lang="en-US" altLang="ko-KR" sz="600" smtClean="0">
                    <a:solidFill>
                      <a:schemeClr val="bg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· 3</a:t>
                </a:r>
                <a:r>
                  <a:rPr lang="ko-KR" altLang="en-US" sz="600" smtClean="0">
                    <a:solidFill>
                      <a:schemeClr val="bg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개 남음</a:t>
                </a:r>
                <a:endParaRPr lang="ko-KR" altLang="en-US" sz="60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  <p:sp>
            <p:nvSpPr>
              <p:cNvPr id="431" name="이등변 삼각형 430"/>
              <p:cNvSpPr/>
              <p:nvPr/>
            </p:nvSpPr>
            <p:spPr>
              <a:xfrm flipV="1">
                <a:off x="3483429" y="3186796"/>
                <a:ext cx="72000" cy="72000"/>
              </a:xfrm>
              <a:prstGeom prst="triangle">
                <a:avLst>
                  <a:gd name="adj" fmla="val 0"/>
                </a:avLst>
              </a:prstGeom>
              <a:solidFill>
                <a:srgbClr val="C00000"/>
              </a:solidFill>
              <a:ln w="31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60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</p:grpSp>
        <p:grpSp>
          <p:nvGrpSpPr>
            <p:cNvPr id="411" name="그룹 410"/>
            <p:cNvGrpSpPr/>
            <p:nvPr/>
          </p:nvGrpSpPr>
          <p:grpSpPr>
            <a:xfrm>
              <a:off x="5831272" y="5411027"/>
              <a:ext cx="430965" cy="107722"/>
              <a:chOff x="5616187" y="3122638"/>
              <a:chExt cx="430965" cy="107722"/>
            </a:xfrm>
          </p:grpSpPr>
          <p:grpSp>
            <p:nvGrpSpPr>
              <p:cNvPr id="423" name="그룹 422"/>
              <p:cNvGrpSpPr/>
              <p:nvPr/>
            </p:nvGrpSpPr>
            <p:grpSpPr>
              <a:xfrm>
                <a:off x="5616187" y="3140468"/>
                <a:ext cx="126000" cy="72000"/>
                <a:chOff x="4549384" y="3972353"/>
                <a:chExt cx="180000" cy="108000"/>
              </a:xfrm>
            </p:grpSpPr>
            <p:sp>
              <p:nvSpPr>
                <p:cNvPr id="425" name="직사각형 424"/>
                <p:cNvSpPr/>
                <p:nvPr/>
              </p:nvSpPr>
              <p:spPr>
                <a:xfrm>
                  <a:off x="4549384" y="3972353"/>
                  <a:ext cx="35644" cy="108000"/>
                </a:xfrm>
                <a:prstGeom prst="rect">
                  <a:avLst/>
                </a:prstGeom>
                <a:solidFill>
                  <a:schemeClr val="tx1">
                    <a:lumMod val="75000"/>
                    <a:lumOff val="25000"/>
                  </a:schemeClr>
                </a:solidFill>
                <a:ln w="3175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endParaRPr>
                </a:p>
              </p:txBody>
            </p:sp>
            <p:sp>
              <p:nvSpPr>
                <p:cNvPr id="426" name="타원 425"/>
                <p:cNvSpPr/>
                <p:nvPr/>
              </p:nvSpPr>
              <p:spPr>
                <a:xfrm>
                  <a:off x="4595721" y="4044353"/>
                  <a:ext cx="35644" cy="36000"/>
                </a:xfrm>
                <a:prstGeom prst="ellipse">
                  <a:avLst/>
                </a:prstGeom>
                <a:solidFill>
                  <a:schemeClr val="tx1">
                    <a:lumMod val="75000"/>
                    <a:lumOff val="25000"/>
                  </a:schemeClr>
                </a:solidFill>
                <a:ln w="3175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endParaRPr>
                </a:p>
              </p:txBody>
            </p:sp>
            <p:sp>
              <p:nvSpPr>
                <p:cNvPr id="427" name="직사각형 426"/>
                <p:cNvSpPr/>
                <p:nvPr/>
              </p:nvSpPr>
              <p:spPr>
                <a:xfrm>
                  <a:off x="4647404" y="3972353"/>
                  <a:ext cx="35644" cy="108000"/>
                </a:xfrm>
                <a:prstGeom prst="rect">
                  <a:avLst/>
                </a:prstGeom>
                <a:solidFill>
                  <a:schemeClr val="tx1">
                    <a:lumMod val="75000"/>
                    <a:lumOff val="25000"/>
                  </a:schemeClr>
                </a:solidFill>
                <a:ln w="3175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endParaRPr>
                </a:p>
              </p:txBody>
            </p:sp>
            <p:sp>
              <p:nvSpPr>
                <p:cNvPr id="428" name="타원 427"/>
                <p:cNvSpPr/>
                <p:nvPr/>
              </p:nvSpPr>
              <p:spPr>
                <a:xfrm>
                  <a:off x="4693740" y="3972353"/>
                  <a:ext cx="35644" cy="36000"/>
                </a:xfrm>
                <a:prstGeom prst="ellipse">
                  <a:avLst/>
                </a:prstGeom>
                <a:solidFill>
                  <a:schemeClr val="tx1">
                    <a:lumMod val="75000"/>
                    <a:lumOff val="25000"/>
                  </a:schemeClr>
                </a:solidFill>
                <a:ln w="3175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endParaRPr>
                </a:p>
              </p:txBody>
            </p:sp>
            <p:sp>
              <p:nvSpPr>
                <p:cNvPr id="429" name="타원 428"/>
                <p:cNvSpPr/>
                <p:nvPr/>
              </p:nvSpPr>
              <p:spPr>
                <a:xfrm>
                  <a:off x="4693740" y="4026353"/>
                  <a:ext cx="35644" cy="36000"/>
                </a:xfrm>
                <a:prstGeom prst="ellipse">
                  <a:avLst/>
                </a:prstGeom>
                <a:solidFill>
                  <a:schemeClr val="tx1">
                    <a:lumMod val="75000"/>
                    <a:lumOff val="25000"/>
                  </a:schemeClr>
                </a:solidFill>
                <a:ln w="3175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endParaRPr>
                </a:p>
              </p:txBody>
            </p:sp>
          </p:grpSp>
          <p:sp>
            <p:nvSpPr>
              <p:cNvPr id="424" name="TextBox 423"/>
              <p:cNvSpPr txBox="1"/>
              <p:nvPr/>
            </p:nvSpPr>
            <p:spPr>
              <a:xfrm>
                <a:off x="5777848" y="3122638"/>
                <a:ext cx="269304" cy="107722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spAutoFit/>
              </a:bodyPr>
              <a:lstStyle/>
              <a:p>
                <a:r>
                  <a:rPr lang="ko-KR" altLang="en-US" sz="700" smtClean="0">
                    <a:solidFill>
                      <a:srgbClr val="C00000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슝배송</a:t>
                </a:r>
                <a:endParaRPr lang="ko-KR" altLang="en-US" sz="700" dirty="0">
                  <a:solidFill>
                    <a:srgbClr val="C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</p:grpSp>
        <p:sp>
          <p:nvSpPr>
            <p:cNvPr id="412" name="TextBox 411">
              <a:extLst>
                <a:ext uri="{FF2B5EF4-FFF2-40B4-BE49-F238E27FC236}">
                  <a16:creationId xmlns="" xmlns:a16="http://schemas.microsoft.com/office/drawing/2014/main" id="{0C96C875-C47F-4F5B-B4C1-F9D666A7BD9D}"/>
                </a:ext>
              </a:extLst>
            </p:cNvPr>
            <p:cNvSpPr txBox="1"/>
            <p:nvPr/>
          </p:nvSpPr>
          <p:spPr>
            <a:xfrm>
              <a:off x="5723302" y="5130108"/>
              <a:ext cx="808014" cy="92333"/>
            </a:xfrm>
            <a:prstGeom prst="rect">
              <a:avLst/>
            </a:prstGeom>
            <a:noFill/>
            <a:ln w="3175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none" lIns="108000" tIns="0" rIns="108000" bIns="0" numCol="1" rtlCol="0" anchor="ctr" anchorCtr="0" compatLnSpc="1">
              <a:prstTxWarp prst="textNoShape">
                <a:avLst/>
              </a:prstTxWarp>
              <a:spAutoFit/>
            </a:bodyPr>
            <a:lstStyle>
              <a:defPPr>
                <a:defRPr lang="ko-KR"/>
              </a:defPPr>
              <a:lvl1pPr>
                <a:defRPr sz="800">
                  <a:solidFill>
                    <a:prstClr val="black">
                      <a:lumMod val="75000"/>
                      <a:lumOff val="25000"/>
                    </a:prstClr>
                  </a:solidFill>
                  <a:latin typeface="맑은 고딕" panose="020B0503020000020004" pitchFamily="50" charset="-127"/>
                </a:defRPr>
              </a:lvl1pPr>
            </a:lstStyle>
            <a:p>
              <a:r>
                <a:rPr lang="en-US" altLang="ko-KR" sz="600" smtClean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5,810M </a:t>
              </a:r>
              <a:r>
                <a:rPr lang="ko-KR" altLang="en-US" sz="600" smtClean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적립예정</a:t>
              </a:r>
              <a:endParaRPr lang="ko-KR" altLang="en-US" sz="600" dirty="0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</p:txBody>
        </p:sp>
        <p:sp>
          <p:nvSpPr>
            <p:cNvPr id="421" name="TextBox 420">
              <a:extLst>
                <a:ext uri="{FF2B5EF4-FFF2-40B4-BE49-F238E27FC236}">
                  <a16:creationId xmlns="" xmlns:a16="http://schemas.microsoft.com/office/drawing/2014/main" id="{0C96C875-C47F-4F5B-B4C1-F9D666A7BD9D}"/>
                </a:ext>
              </a:extLst>
            </p:cNvPr>
            <p:cNvSpPr txBox="1"/>
            <p:nvPr/>
          </p:nvSpPr>
          <p:spPr>
            <a:xfrm>
              <a:off x="5723302" y="5266243"/>
              <a:ext cx="1405935" cy="107722"/>
            </a:xfrm>
            <a:prstGeom prst="rect">
              <a:avLst/>
            </a:prstGeom>
            <a:noFill/>
            <a:ln w="3175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none" lIns="108000" tIns="0" rIns="108000" bIns="0" numCol="1" rtlCol="0" anchor="ctr" anchorCtr="0" compatLnSpc="1">
              <a:prstTxWarp prst="textNoShape">
                <a:avLst/>
              </a:prstTxWarp>
              <a:spAutoFit/>
            </a:bodyPr>
            <a:lstStyle>
              <a:defPPr>
                <a:defRPr lang="ko-KR"/>
              </a:defPPr>
              <a:lvl1pPr>
                <a:defRPr sz="800">
                  <a:solidFill>
                    <a:prstClr val="black">
                      <a:lumMod val="75000"/>
                      <a:lumOff val="25000"/>
                    </a:prstClr>
                  </a:solidFill>
                  <a:latin typeface="맑은 고딕" panose="020B0503020000020004" pitchFamily="50" charset="-127"/>
                </a:defRPr>
              </a:lvl1pPr>
            </a:lstStyle>
            <a:p>
              <a:r>
                <a:rPr lang="en-US" altLang="ko-KR" sz="700" smtClean="0">
                  <a:solidFill>
                    <a:srgbClr val="C00000"/>
                  </a:solidFill>
                </a:rPr>
                <a:t>01/08(</a:t>
              </a:r>
              <a:r>
                <a:rPr lang="ko-KR" altLang="en-US" sz="700" smtClean="0">
                  <a:solidFill>
                    <a:srgbClr val="C00000"/>
                  </a:solidFill>
                </a:rPr>
                <a:t>목</a:t>
              </a:r>
              <a:r>
                <a:rPr lang="en-US" altLang="ko-KR" sz="700" smtClean="0">
                  <a:solidFill>
                    <a:srgbClr val="C00000"/>
                  </a:solidFill>
                </a:rPr>
                <a:t>)</a:t>
              </a:r>
              <a:r>
                <a:rPr lang="en-US" altLang="ko-KR" sz="700" smtClean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 </a:t>
              </a:r>
              <a:r>
                <a:rPr lang="ko-KR" altLang="en-US" sz="700" smtClean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이내 도착확률 </a:t>
              </a:r>
              <a:r>
                <a:rPr lang="en-US" altLang="ko-KR" sz="700" smtClean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92%</a:t>
              </a:r>
              <a:endParaRPr lang="ko-KR" altLang="en-US" sz="700" dirty="0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</p:txBody>
        </p:sp>
        <p:sp>
          <p:nvSpPr>
            <p:cNvPr id="455" name="직사각형 454"/>
            <p:cNvSpPr/>
            <p:nvPr/>
          </p:nvSpPr>
          <p:spPr>
            <a:xfrm>
              <a:off x="4823905" y="709700"/>
              <a:ext cx="2880000" cy="5688023"/>
            </a:xfrm>
            <a:prstGeom prst="rect">
              <a:avLst/>
            </a:prstGeom>
            <a:solidFill>
              <a:schemeClr val="tx1">
                <a:lumMod val="75000"/>
                <a:lumOff val="25000"/>
                <a:alpha val="50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</p:grpSp>
      <p:sp>
        <p:nvSpPr>
          <p:cNvPr id="457" name="직사각형 456"/>
          <p:cNvSpPr/>
          <p:nvPr/>
        </p:nvSpPr>
        <p:spPr>
          <a:xfrm>
            <a:off x="4824696" y="3227946"/>
            <a:ext cx="2880000" cy="3168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497" name="직사각형 496"/>
          <p:cNvSpPr/>
          <p:nvPr/>
        </p:nvSpPr>
        <p:spPr>
          <a:xfrm>
            <a:off x="4968954" y="5534389"/>
            <a:ext cx="216000" cy="216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5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─</a:t>
            </a:r>
            <a:endParaRPr lang="ko-KR" altLang="en-US" sz="50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98" name="직사각형 497"/>
          <p:cNvSpPr/>
          <p:nvPr/>
        </p:nvSpPr>
        <p:spPr>
          <a:xfrm>
            <a:off x="5184565" y="5534389"/>
            <a:ext cx="288000" cy="216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7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endParaRPr lang="ko-KR" altLang="en-US" sz="70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99" name="직사각형 498"/>
          <p:cNvSpPr/>
          <p:nvPr/>
        </p:nvSpPr>
        <p:spPr>
          <a:xfrm>
            <a:off x="5472581" y="5534389"/>
            <a:ext cx="216000" cy="216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5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┼</a:t>
            </a:r>
            <a:endParaRPr lang="ko-KR" altLang="en-US" sz="50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00" name="TextBox 499">
            <a:extLst>
              <a:ext uri="{FF2B5EF4-FFF2-40B4-BE49-F238E27FC236}">
                <a16:creationId xmlns="" xmlns:a16="http://schemas.microsoft.com/office/drawing/2014/main" id="{0C96C875-C47F-4F5B-B4C1-F9D666A7BD9D}"/>
              </a:ext>
            </a:extLst>
          </p:cNvPr>
          <p:cNvSpPr txBox="1"/>
          <p:nvPr/>
        </p:nvSpPr>
        <p:spPr>
          <a:xfrm>
            <a:off x="5690859" y="5552177"/>
            <a:ext cx="969350" cy="180425"/>
          </a:xfrm>
          <a:prstGeom prst="rect">
            <a:avLst/>
          </a:prstGeom>
          <a:noFill/>
          <a:ln w="317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108000" tIns="36000" rIns="36000" bIns="36000" numCol="1" rtlCol="0" anchor="ctr" anchorCtr="0" compatLnSpc="1">
            <a:prstTxWarp prst="textNoShape">
              <a:avLst/>
            </a:prstTxWarp>
            <a:spAutoFit/>
          </a:bodyPr>
          <a:lstStyle/>
          <a:p>
            <a:r>
              <a:rPr lang="ko-KR" altLang="en-US" sz="700" smtClean="0">
                <a:solidFill>
                  <a:srgbClr val="C00000"/>
                </a:solidFill>
                <a:latin typeface="맑은 고딕" panose="020B0503020000020004" pitchFamily="50" charset="-127"/>
              </a:rPr>
              <a:t>구매 가능 수량 </a:t>
            </a:r>
            <a:r>
              <a:rPr lang="en-US" altLang="ko-KR" sz="700" smtClean="0">
                <a:solidFill>
                  <a:srgbClr val="C00000"/>
                </a:solidFill>
                <a:latin typeface="맑은 고딕" panose="020B0503020000020004" pitchFamily="50" charset="-127"/>
              </a:rPr>
              <a:t>10</a:t>
            </a:r>
            <a:r>
              <a:rPr lang="ko-KR" altLang="en-US" sz="700" smtClean="0">
                <a:solidFill>
                  <a:srgbClr val="C00000"/>
                </a:solidFill>
                <a:latin typeface="맑은 고딕" panose="020B0503020000020004" pitchFamily="50" charset="-127"/>
              </a:rPr>
              <a:t>개</a:t>
            </a:r>
            <a:endParaRPr lang="en-US" altLang="ko-KR" sz="700" smtClean="0">
              <a:solidFill>
                <a:srgbClr val="C00000"/>
              </a:solidFill>
              <a:latin typeface="맑은 고딕" panose="020B0503020000020004" pitchFamily="50" charset="-127"/>
            </a:endParaRPr>
          </a:p>
        </p:txBody>
      </p:sp>
      <p:sp>
        <p:nvSpPr>
          <p:cNvPr id="508" name="모서리가 둥근 직사각형 507">
            <a:extLst>
              <a:ext uri="{FF2B5EF4-FFF2-40B4-BE49-F238E27FC236}">
                <a16:creationId xmlns:a16="http://schemas.microsoft.com/office/drawing/2014/main" xmlns="" id="{19FD5FA0-B111-4EF7-BC86-418441928DD3}"/>
              </a:ext>
            </a:extLst>
          </p:cNvPr>
          <p:cNvSpPr/>
          <p:nvPr/>
        </p:nvSpPr>
        <p:spPr>
          <a:xfrm>
            <a:off x="4968696" y="5895740"/>
            <a:ext cx="2592000" cy="359774"/>
          </a:xfrm>
          <a:prstGeom prst="roundRect">
            <a:avLst>
              <a:gd name="adj" fmla="val 9391"/>
            </a:avLst>
          </a:prstGeom>
          <a:solidFill>
            <a:schemeClr val="tx1">
              <a:lumMod val="75000"/>
              <a:lumOff val="2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b="1" smtClean="0">
                <a:solidFill>
                  <a:schemeClr val="bg1"/>
                </a:solidFill>
                <a:latin typeface="맑은 고딕" panose="020B0503020000020004" pitchFamily="50" charset="-127"/>
              </a:rPr>
              <a:t>변경하기</a:t>
            </a:r>
            <a:endParaRPr lang="ko-KR" altLang="en-US" sz="800" b="1">
              <a:solidFill>
                <a:schemeClr val="bg1"/>
              </a:solidFill>
              <a:latin typeface="맑은 고딕" panose="020B0503020000020004" pitchFamily="50" charset="-127"/>
            </a:endParaRPr>
          </a:p>
        </p:txBody>
      </p:sp>
      <p:sp>
        <p:nvSpPr>
          <p:cNvPr id="459" name="TextBox 458">
            <a:extLst>
              <a:ext uri="{FF2B5EF4-FFF2-40B4-BE49-F238E27FC236}">
                <a16:creationId xmlns="" xmlns:a16="http://schemas.microsoft.com/office/drawing/2014/main" id="{0C96C875-C47F-4F5B-B4C1-F9D666A7BD9D}"/>
              </a:ext>
            </a:extLst>
          </p:cNvPr>
          <p:cNvSpPr txBox="1"/>
          <p:nvPr/>
        </p:nvSpPr>
        <p:spPr>
          <a:xfrm>
            <a:off x="4968954" y="3376703"/>
            <a:ext cx="856572" cy="211203"/>
          </a:xfrm>
          <a:prstGeom prst="rect">
            <a:avLst/>
          </a:prstGeom>
          <a:noFill/>
          <a:ln w="317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36000" tIns="36000" rIns="36000" bIns="36000" numCol="1" rtlCol="0" anchor="ctr" anchorCtr="0" compatLnSpc="1">
            <a:prstTxWarp prst="textNoShape">
              <a:avLst/>
            </a:prstTxWarp>
            <a:spAutoFit/>
          </a:bodyPr>
          <a:lstStyle/>
          <a:p>
            <a:r>
              <a:rPr lang="ko-KR" altLang="en-US" sz="900" b="1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옵션</a:t>
            </a:r>
            <a:r>
              <a:rPr lang="en-US" altLang="ko-KR" sz="900" b="1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/</a:t>
            </a:r>
            <a:r>
              <a:rPr lang="ko-KR" altLang="en-US" sz="900" b="1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수량 변경</a:t>
            </a:r>
            <a:endParaRPr lang="en-US" altLang="ko-KR" sz="900" b="1" smtClean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460" name="Delete"/>
          <p:cNvSpPr>
            <a:spLocks noChangeAspect="1"/>
          </p:cNvSpPr>
          <p:nvPr/>
        </p:nvSpPr>
        <p:spPr bwMode="auto">
          <a:xfrm>
            <a:off x="7416985" y="3407951"/>
            <a:ext cx="143992" cy="143991"/>
          </a:xfrm>
          <a:custGeom>
            <a:avLst/>
            <a:gdLst>
              <a:gd name="T0" fmla="*/ 3 w 77"/>
              <a:gd name="T1" fmla="*/ 0 h 77"/>
              <a:gd name="T2" fmla="*/ 0 w 77"/>
              <a:gd name="T3" fmla="*/ 3 h 77"/>
              <a:gd name="T4" fmla="*/ 36 w 77"/>
              <a:gd name="T5" fmla="*/ 38 h 77"/>
              <a:gd name="T6" fmla="*/ 0 w 77"/>
              <a:gd name="T7" fmla="*/ 74 h 77"/>
              <a:gd name="T8" fmla="*/ 3 w 77"/>
              <a:gd name="T9" fmla="*/ 77 h 77"/>
              <a:gd name="T10" fmla="*/ 39 w 77"/>
              <a:gd name="T11" fmla="*/ 41 h 77"/>
              <a:gd name="T12" fmla="*/ 74 w 77"/>
              <a:gd name="T13" fmla="*/ 77 h 77"/>
              <a:gd name="T14" fmla="*/ 77 w 77"/>
              <a:gd name="T15" fmla="*/ 74 h 77"/>
              <a:gd name="T16" fmla="*/ 42 w 77"/>
              <a:gd name="T17" fmla="*/ 38 h 77"/>
              <a:gd name="T18" fmla="*/ 77 w 77"/>
              <a:gd name="T19" fmla="*/ 3 h 77"/>
              <a:gd name="T20" fmla="*/ 74 w 77"/>
              <a:gd name="T21" fmla="*/ 0 h 77"/>
              <a:gd name="T22" fmla="*/ 39 w 77"/>
              <a:gd name="T23" fmla="*/ 35 h 77"/>
              <a:gd name="T24" fmla="*/ 3 w 77"/>
              <a:gd name="T25" fmla="*/ 0 h 7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77" h="77">
                <a:moveTo>
                  <a:pt x="3" y="0"/>
                </a:moveTo>
                <a:lnTo>
                  <a:pt x="0" y="3"/>
                </a:lnTo>
                <a:lnTo>
                  <a:pt x="36" y="38"/>
                </a:lnTo>
                <a:lnTo>
                  <a:pt x="0" y="74"/>
                </a:lnTo>
                <a:lnTo>
                  <a:pt x="3" y="77"/>
                </a:lnTo>
                <a:lnTo>
                  <a:pt x="39" y="41"/>
                </a:lnTo>
                <a:lnTo>
                  <a:pt x="74" y="77"/>
                </a:lnTo>
                <a:lnTo>
                  <a:pt x="77" y="74"/>
                </a:lnTo>
                <a:lnTo>
                  <a:pt x="42" y="38"/>
                </a:lnTo>
                <a:lnTo>
                  <a:pt x="77" y="3"/>
                </a:lnTo>
                <a:lnTo>
                  <a:pt x="74" y="0"/>
                </a:lnTo>
                <a:lnTo>
                  <a:pt x="39" y="35"/>
                </a:lnTo>
                <a:lnTo>
                  <a:pt x="3" y="0"/>
                </a:lnTo>
                <a:close/>
              </a:path>
            </a:pathLst>
          </a:custGeom>
          <a:solidFill>
            <a:srgbClr val="5F5F5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80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cxnSp>
        <p:nvCxnSpPr>
          <p:cNvPr id="463" name="직선 연결선 462"/>
          <p:cNvCxnSpPr/>
          <p:nvPr/>
        </p:nvCxnSpPr>
        <p:spPr>
          <a:xfrm>
            <a:off x="4968953" y="3732147"/>
            <a:ext cx="2592000" cy="0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5" name="TextBox 464">
            <a:extLst>
              <a:ext uri="{FF2B5EF4-FFF2-40B4-BE49-F238E27FC236}">
                <a16:creationId xmlns="" xmlns:a16="http://schemas.microsoft.com/office/drawing/2014/main" id="{0C96C875-C47F-4F5B-B4C1-F9D666A7BD9D}"/>
              </a:ext>
            </a:extLst>
          </p:cNvPr>
          <p:cNvSpPr txBox="1"/>
          <p:nvPr/>
        </p:nvSpPr>
        <p:spPr>
          <a:xfrm>
            <a:off x="4968954" y="3804214"/>
            <a:ext cx="2368203" cy="180425"/>
          </a:xfrm>
          <a:prstGeom prst="rect">
            <a:avLst/>
          </a:prstGeom>
          <a:noFill/>
          <a:ln w="317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36000" tIns="36000" rIns="36000" bIns="36000" numCol="1" rtlCol="0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altLang="ko-KR" sz="700" b="1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[</a:t>
            </a:r>
            <a:r>
              <a:rPr lang="ko-KR" altLang="en-US" sz="700" b="1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시즌오프</a:t>
            </a:r>
            <a:r>
              <a:rPr lang="en-US" altLang="ko-KR" sz="700" b="1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][</a:t>
            </a:r>
            <a:r>
              <a:rPr lang="ko-KR" altLang="en-US" sz="700" b="1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인기급상승</a:t>
            </a:r>
            <a:r>
              <a:rPr lang="en-US" altLang="ko-KR" sz="700" b="1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] </a:t>
            </a:r>
            <a:r>
              <a:rPr lang="ko-KR" altLang="en-US" sz="700" b="1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다이아 패턴 구스 다운 점퍼 블랙</a:t>
            </a:r>
            <a:endParaRPr lang="en-US" altLang="ko-KR" sz="700" b="1" smtClean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468" name="TextBox 467">
            <a:extLst>
              <a:ext uri="{FF2B5EF4-FFF2-40B4-BE49-F238E27FC236}">
                <a16:creationId xmlns="" xmlns:a16="http://schemas.microsoft.com/office/drawing/2014/main" id="{0C96C875-C47F-4F5B-B4C1-F9D666A7BD9D}"/>
              </a:ext>
            </a:extLst>
          </p:cNvPr>
          <p:cNvSpPr txBox="1"/>
          <p:nvPr/>
        </p:nvSpPr>
        <p:spPr>
          <a:xfrm>
            <a:off x="4968954" y="3984281"/>
            <a:ext cx="739552" cy="180425"/>
          </a:xfrm>
          <a:prstGeom prst="rect">
            <a:avLst/>
          </a:prstGeom>
          <a:noFill/>
          <a:ln w="317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36000" tIns="36000" rIns="36000" bIns="36000" numCol="1" rtlCol="0" anchor="ctr" anchorCtr="0" compatLnSpc="1">
            <a:prstTxWarp prst="textNoShape">
              <a:avLst/>
            </a:prstTxWarp>
            <a:spAutoFit/>
          </a:bodyPr>
          <a:lstStyle/>
          <a:p>
            <a:r>
              <a:rPr lang="ko-KR" altLang="en-US" sz="7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블랙 </a:t>
            </a:r>
            <a:r>
              <a:rPr lang="en-US" altLang="ko-KR" sz="7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/ 105 / 1</a:t>
            </a:r>
            <a:r>
              <a:rPr lang="ko-KR" altLang="en-US" sz="7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개</a:t>
            </a:r>
            <a:endParaRPr lang="en-US" altLang="ko-KR" sz="700" smtClean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</a:endParaRPr>
          </a:p>
        </p:txBody>
      </p:sp>
      <p:cxnSp>
        <p:nvCxnSpPr>
          <p:cNvPr id="470" name="직선 연결선 469"/>
          <p:cNvCxnSpPr/>
          <p:nvPr/>
        </p:nvCxnSpPr>
        <p:spPr>
          <a:xfrm>
            <a:off x="4968953" y="4236431"/>
            <a:ext cx="2592000" cy="0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5" name="TextBox 474">
            <a:extLst>
              <a:ext uri="{FF2B5EF4-FFF2-40B4-BE49-F238E27FC236}">
                <a16:creationId xmlns="" xmlns:a16="http://schemas.microsoft.com/office/drawing/2014/main" id="{0C96C875-C47F-4F5B-B4C1-F9D666A7BD9D}"/>
              </a:ext>
            </a:extLst>
          </p:cNvPr>
          <p:cNvSpPr txBox="1"/>
          <p:nvPr/>
        </p:nvSpPr>
        <p:spPr>
          <a:xfrm>
            <a:off x="4968954" y="4308482"/>
            <a:ext cx="463836" cy="180425"/>
          </a:xfrm>
          <a:prstGeom prst="rect">
            <a:avLst/>
          </a:prstGeom>
          <a:noFill/>
          <a:ln w="317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36000" tIns="36000" rIns="36000" bIns="36000" numCol="1" rtlCol="0" anchor="ctr" anchorCtr="0" compatLnSpc="1">
            <a:prstTxWarp prst="textNoShape">
              <a:avLst/>
            </a:prstTxWarp>
            <a:spAutoFit/>
          </a:bodyPr>
          <a:lstStyle/>
          <a:p>
            <a:r>
              <a:rPr lang="ko-KR" altLang="en-US" sz="700" smtClean="0">
                <a:solidFill>
                  <a:schemeClr val="tx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</a:rPr>
              <a:t>색상</a:t>
            </a:r>
            <a:r>
              <a:rPr lang="ko-KR" altLang="en-US" sz="7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 블랙</a:t>
            </a:r>
            <a:endParaRPr lang="en-US" altLang="ko-KR" sz="700" smtClean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</a:endParaRPr>
          </a:p>
        </p:txBody>
      </p:sp>
      <p:grpSp>
        <p:nvGrpSpPr>
          <p:cNvPr id="88" name="그룹 87"/>
          <p:cNvGrpSpPr/>
          <p:nvPr/>
        </p:nvGrpSpPr>
        <p:grpSpPr>
          <a:xfrm>
            <a:off x="4968954" y="4524704"/>
            <a:ext cx="180000" cy="180000"/>
            <a:chOff x="5010860" y="4350734"/>
            <a:chExt cx="180000" cy="180000"/>
          </a:xfrm>
        </p:grpSpPr>
        <p:sp>
          <p:nvSpPr>
            <p:cNvPr id="85" name="타원 84"/>
            <p:cNvSpPr/>
            <p:nvPr/>
          </p:nvSpPr>
          <p:spPr>
            <a:xfrm>
              <a:off x="5010860" y="4350734"/>
              <a:ext cx="180000" cy="180000"/>
            </a:xfrm>
            <a:prstGeom prst="ellipse">
              <a:avLst/>
            </a:prstGeom>
            <a:noFill/>
            <a:ln w="31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8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479" name="타원 478"/>
            <p:cNvSpPr/>
            <p:nvPr/>
          </p:nvSpPr>
          <p:spPr>
            <a:xfrm>
              <a:off x="5028860" y="4368734"/>
              <a:ext cx="144000" cy="144000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8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sp>
        <p:nvSpPr>
          <p:cNvPr id="481" name="타원 480"/>
          <p:cNvSpPr/>
          <p:nvPr/>
        </p:nvSpPr>
        <p:spPr>
          <a:xfrm>
            <a:off x="5236057" y="4542704"/>
            <a:ext cx="144000" cy="144000"/>
          </a:xfrm>
          <a:prstGeom prst="ellipse">
            <a:avLst/>
          </a:prstGeom>
          <a:solidFill>
            <a:schemeClr val="bg1">
              <a:lumMod val="7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87" name="TextBox 486">
            <a:extLst>
              <a:ext uri="{FF2B5EF4-FFF2-40B4-BE49-F238E27FC236}">
                <a16:creationId xmlns="" xmlns:a16="http://schemas.microsoft.com/office/drawing/2014/main" id="{0C96C875-C47F-4F5B-B4C1-F9D666A7BD9D}"/>
              </a:ext>
            </a:extLst>
          </p:cNvPr>
          <p:cNvSpPr txBox="1"/>
          <p:nvPr/>
        </p:nvSpPr>
        <p:spPr>
          <a:xfrm>
            <a:off x="4968954" y="4776750"/>
            <a:ext cx="523147" cy="180425"/>
          </a:xfrm>
          <a:prstGeom prst="rect">
            <a:avLst/>
          </a:prstGeom>
          <a:noFill/>
          <a:ln w="317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36000" tIns="36000" rIns="36000" bIns="36000" numCol="1" rtlCol="0" anchor="ctr" anchorCtr="0" compatLnSpc="1">
            <a:prstTxWarp prst="textNoShape">
              <a:avLst/>
            </a:prstTxWarp>
            <a:spAutoFit/>
          </a:bodyPr>
          <a:lstStyle/>
          <a:p>
            <a:r>
              <a:rPr lang="ko-KR" altLang="en-US" sz="700" smtClean="0">
                <a:solidFill>
                  <a:schemeClr val="tx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</a:rPr>
              <a:t>사이즈</a:t>
            </a:r>
            <a:r>
              <a:rPr lang="ko-KR" altLang="en-US" sz="7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 </a:t>
            </a:r>
            <a:r>
              <a:rPr lang="en-US" altLang="ko-KR" sz="7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095</a:t>
            </a:r>
          </a:p>
        </p:txBody>
      </p:sp>
      <p:sp>
        <p:nvSpPr>
          <p:cNvPr id="94" name="직사각형 93"/>
          <p:cNvSpPr/>
          <p:nvPr/>
        </p:nvSpPr>
        <p:spPr>
          <a:xfrm>
            <a:off x="4968954" y="4993409"/>
            <a:ext cx="288000" cy="180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700" smtClean="0">
                <a:solidFill>
                  <a:schemeClr val="tx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085</a:t>
            </a:r>
            <a:endParaRPr lang="ko-KR" altLang="en-US" sz="700">
              <a:solidFill>
                <a:schemeClr val="tx1">
                  <a:lumMod val="50000"/>
                  <a:lumOff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92" name="직사각형 491"/>
          <p:cNvSpPr/>
          <p:nvPr/>
        </p:nvSpPr>
        <p:spPr>
          <a:xfrm>
            <a:off x="5328954" y="4993409"/>
            <a:ext cx="288000" cy="180000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700" strike="sngStrike" smtClean="0">
                <a:solidFill>
                  <a:schemeClr val="tx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090</a:t>
            </a:r>
            <a:endParaRPr lang="ko-KR" altLang="en-US" sz="700" strike="sngStrike">
              <a:solidFill>
                <a:schemeClr val="tx1">
                  <a:lumMod val="50000"/>
                  <a:lumOff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94" name="직사각형 493"/>
          <p:cNvSpPr/>
          <p:nvPr/>
        </p:nvSpPr>
        <p:spPr>
          <a:xfrm>
            <a:off x="5688954" y="4993409"/>
            <a:ext cx="288000" cy="180000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700" smtClean="0">
                <a:solidFill>
                  <a:schemeClr val="tx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095</a:t>
            </a:r>
            <a:endParaRPr lang="ko-KR" altLang="en-US" sz="700">
              <a:solidFill>
                <a:schemeClr val="tx1">
                  <a:lumMod val="50000"/>
                  <a:lumOff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127" name="그룹 126"/>
          <p:cNvGrpSpPr/>
          <p:nvPr/>
        </p:nvGrpSpPr>
        <p:grpSpPr>
          <a:xfrm>
            <a:off x="6048954" y="4993409"/>
            <a:ext cx="648000" cy="180000"/>
            <a:chOff x="6336430" y="4563186"/>
            <a:chExt cx="648000" cy="180000"/>
          </a:xfrm>
        </p:grpSpPr>
        <p:sp>
          <p:nvSpPr>
            <p:cNvPr id="502" name="직사각형 501"/>
            <p:cNvSpPr/>
            <p:nvPr/>
          </p:nvSpPr>
          <p:spPr>
            <a:xfrm>
              <a:off x="6336430" y="4563186"/>
              <a:ext cx="288000" cy="180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700" smtClean="0">
                  <a:solidFill>
                    <a:schemeClr val="tx1">
                      <a:lumMod val="50000"/>
                      <a:lumOff val="50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100</a:t>
              </a:r>
              <a:endParaRPr lang="ko-KR" altLang="en-US" sz="700">
                <a:solidFill>
                  <a:schemeClr val="tx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503" name="직사각형 502"/>
            <p:cNvSpPr/>
            <p:nvPr/>
          </p:nvSpPr>
          <p:spPr>
            <a:xfrm>
              <a:off x="6696430" y="4563186"/>
              <a:ext cx="288000" cy="180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700" smtClean="0">
                  <a:solidFill>
                    <a:schemeClr val="tx1">
                      <a:lumMod val="50000"/>
                      <a:lumOff val="50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105</a:t>
              </a:r>
              <a:endParaRPr lang="ko-KR" altLang="en-US" sz="700">
                <a:solidFill>
                  <a:schemeClr val="tx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sp>
        <p:nvSpPr>
          <p:cNvPr id="511" name="직사각형 510"/>
          <p:cNvSpPr/>
          <p:nvPr/>
        </p:nvSpPr>
        <p:spPr>
          <a:xfrm>
            <a:off x="6408954" y="5209439"/>
            <a:ext cx="288000" cy="180000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75000"/>
                </a:schemeClr>
              </a:gs>
              <a:gs pos="50000">
                <a:schemeClr val="accent5"/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0" scaled="1"/>
            <a:tileRect/>
          </a:gra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500" smtClean="0">
                <a:solidFill>
                  <a:schemeClr val="bg1"/>
                </a:solidFill>
                <a:latin typeface="맑은 고딕" panose="020B0503020000020004" pitchFamily="50" charset="-127"/>
              </a:rPr>
              <a:t>매장상품</a:t>
            </a:r>
            <a:endParaRPr lang="en-US" altLang="ko-KR" sz="500" smtClean="0">
              <a:solidFill>
                <a:schemeClr val="bg1"/>
              </a:solidFill>
              <a:latin typeface="맑은 고딕" panose="020B0503020000020004" pitchFamily="50" charset="-127"/>
            </a:endParaRPr>
          </a:p>
          <a:p>
            <a:pPr algn="ctr"/>
            <a:r>
              <a:rPr lang="ko-KR" altLang="en-US" sz="500" smtClean="0">
                <a:solidFill>
                  <a:schemeClr val="bg1"/>
                </a:solidFill>
                <a:latin typeface="맑은 고딕" panose="020B0503020000020004" pitchFamily="50" charset="-127"/>
              </a:rPr>
              <a:t>배송</a:t>
            </a:r>
            <a:endParaRPr lang="ko-KR" altLang="en-US" sz="500">
              <a:solidFill>
                <a:schemeClr val="bg1"/>
              </a:solidFill>
              <a:latin typeface="맑은 고딕" panose="020B0503020000020004" pitchFamily="50" charset="-127"/>
            </a:endParaRPr>
          </a:p>
        </p:txBody>
      </p:sp>
      <p:grpSp>
        <p:nvGrpSpPr>
          <p:cNvPr id="259" name="그룹 258"/>
          <p:cNvGrpSpPr/>
          <p:nvPr/>
        </p:nvGrpSpPr>
        <p:grpSpPr>
          <a:xfrm>
            <a:off x="145180" y="5818487"/>
            <a:ext cx="2879209" cy="575638"/>
            <a:chOff x="143906" y="5821700"/>
            <a:chExt cx="2880000" cy="576000"/>
          </a:xfrm>
        </p:grpSpPr>
        <p:sp>
          <p:nvSpPr>
            <p:cNvPr id="270" name="직사각형 269">
              <a:extLst>
                <a:ext uri="{FF2B5EF4-FFF2-40B4-BE49-F238E27FC236}">
                  <a16:creationId xmlns:a16="http://schemas.microsoft.com/office/drawing/2014/main" xmlns="" id="{19FD5FA0-B111-4EF7-BC86-418441928DD3}"/>
                </a:ext>
              </a:extLst>
            </p:cNvPr>
            <p:cNvSpPr/>
            <p:nvPr/>
          </p:nvSpPr>
          <p:spPr>
            <a:xfrm>
              <a:off x="143906" y="5821700"/>
              <a:ext cx="2880000" cy="576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  <a:effectLst>
              <a:outerShdw blurRad="12700" dist="25400" dir="16200000" rotWithShape="0">
                <a:schemeClr val="bg1">
                  <a:lumMod val="75000"/>
                  <a:alpha val="5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700"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</a:endParaRPr>
            </a:p>
          </p:txBody>
        </p:sp>
        <p:grpSp>
          <p:nvGrpSpPr>
            <p:cNvPr id="271" name="그룹 270"/>
            <p:cNvGrpSpPr/>
            <p:nvPr/>
          </p:nvGrpSpPr>
          <p:grpSpPr>
            <a:xfrm>
              <a:off x="215008" y="5929700"/>
              <a:ext cx="360000" cy="360000"/>
              <a:chOff x="215008" y="5929700"/>
              <a:chExt cx="360000" cy="360000"/>
            </a:xfrm>
          </p:grpSpPr>
          <p:sp>
            <p:nvSpPr>
              <p:cNvPr id="273" name="모서리가 둥근 직사각형 272">
                <a:extLst>
                  <a:ext uri="{FF2B5EF4-FFF2-40B4-BE49-F238E27FC236}">
                    <a16:creationId xmlns:a16="http://schemas.microsoft.com/office/drawing/2014/main" xmlns="" id="{19FD5FA0-B111-4EF7-BC86-418441928DD3}"/>
                  </a:ext>
                </a:extLst>
              </p:cNvPr>
              <p:cNvSpPr/>
              <p:nvPr/>
            </p:nvSpPr>
            <p:spPr>
              <a:xfrm>
                <a:off x="215008" y="5929700"/>
                <a:ext cx="360000" cy="360000"/>
              </a:xfrm>
              <a:prstGeom prst="roundRect">
                <a:avLst>
                  <a:gd name="adj" fmla="val 9391"/>
                </a:avLst>
              </a:prstGeom>
              <a:solidFill>
                <a:schemeClr val="bg1"/>
              </a:solidFill>
              <a:ln w="3175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700">
                  <a:solidFill>
                    <a:prstClr val="black">
                      <a:lumMod val="75000"/>
                      <a:lumOff val="25000"/>
                    </a:prstClr>
                  </a:solidFill>
                  <a:latin typeface="맑은 고딕" panose="020B0503020000020004" pitchFamily="50" charset="-127"/>
                </a:endParaRPr>
              </a:p>
            </p:txBody>
          </p:sp>
          <p:pic>
            <p:nvPicPr>
              <p:cNvPr id="274" name="Picture 6" descr="https://img.lfmall.co.kr/file/WAS/display/lf2022/mobile/gnb_fnb_sp.png"/>
              <p:cNvPicPr>
                <a:picLocks noChangeAspect="1" noChangeArrowheads="1"/>
              </p:cNvPicPr>
              <p:nvPr/>
            </p:nvPicPr>
            <p:blipFill rotWithShape="1"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62909" t="71189" r="22740" b="4892"/>
              <a:stretch/>
            </p:blipFill>
            <p:spPr bwMode="auto">
              <a:xfrm>
                <a:off x="287376" y="6002068"/>
                <a:ext cx="215265" cy="2152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sp>
          <p:nvSpPr>
            <p:cNvPr id="272" name="모서리가 둥근 직사각형 271">
              <a:extLst>
                <a:ext uri="{FF2B5EF4-FFF2-40B4-BE49-F238E27FC236}">
                  <a16:creationId xmlns:a16="http://schemas.microsoft.com/office/drawing/2014/main" xmlns="" id="{19FD5FA0-B111-4EF7-BC86-418441928DD3}"/>
                </a:ext>
              </a:extLst>
            </p:cNvPr>
            <p:cNvSpPr/>
            <p:nvPr/>
          </p:nvSpPr>
          <p:spPr>
            <a:xfrm>
              <a:off x="646821" y="5929700"/>
              <a:ext cx="2304000" cy="360000"/>
            </a:xfrm>
            <a:prstGeom prst="roundRect">
              <a:avLst>
                <a:gd name="adj" fmla="val 9391"/>
              </a:avLst>
            </a:prstGeom>
            <a:solidFill>
              <a:schemeClr val="tx1">
                <a:lumMod val="75000"/>
                <a:lumOff val="2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700" b="1" smtClean="0">
                  <a:solidFill>
                    <a:schemeClr val="bg1"/>
                  </a:solidFill>
                  <a:latin typeface="맑은 고딕" panose="020B0503020000020004" pitchFamily="50" charset="-127"/>
                </a:rPr>
                <a:t>총 </a:t>
              </a:r>
              <a:r>
                <a:rPr lang="en-US" altLang="ko-KR" sz="700" b="1" smtClean="0">
                  <a:solidFill>
                    <a:schemeClr val="bg1"/>
                  </a:solidFill>
                  <a:latin typeface="맑은 고딕" panose="020B0503020000020004" pitchFamily="50" charset="-127"/>
                </a:rPr>
                <a:t>1</a:t>
              </a:r>
              <a:r>
                <a:rPr lang="ko-KR" altLang="en-US" sz="700" b="1" smtClean="0">
                  <a:solidFill>
                    <a:schemeClr val="bg1"/>
                  </a:solidFill>
                  <a:latin typeface="맑은 고딕" panose="020B0503020000020004" pitchFamily="50" charset="-127"/>
                </a:rPr>
                <a:t>개 </a:t>
              </a:r>
              <a:r>
                <a:rPr lang="en-US" altLang="ko-KR" sz="700" b="1" smtClean="0">
                  <a:solidFill>
                    <a:schemeClr val="bg1"/>
                  </a:solidFill>
                  <a:latin typeface="맑은 고딕" panose="020B0503020000020004" pitchFamily="50" charset="-127"/>
                </a:rPr>
                <a:t>433,300</a:t>
              </a:r>
              <a:r>
                <a:rPr lang="ko-KR" altLang="en-US" sz="700" b="1" smtClean="0">
                  <a:solidFill>
                    <a:schemeClr val="bg1"/>
                  </a:solidFill>
                  <a:latin typeface="맑은 고딕" panose="020B0503020000020004" pitchFamily="50" charset="-127"/>
                </a:rPr>
                <a:t>원 주문하기</a:t>
              </a:r>
              <a:endParaRPr lang="ko-KR" altLang="en-US" sz="700" b="1">
                <a:solidFill>
                  <a:schemeClr val="bg1"/>
                </a:solidFill>
                <a:latin typeface="맑은 고딕" panose="020B0503020000020004" pitchFamily="50" charset="-127"/>
              </a:endParaRPr>
            </a:p>
          </p:txBody>
        </p:sp>
      </p:grpSp>
      <p:sp>
        <p:nvSpPr>
          <p:cNvPr id="248" name="타원 247">
            <a:extLst>
              <a:ext uri="{FF2B5EF4-FFF2-40B4-BE49-F238E27FC236}">
                <a16:creationId xmlns:a16="http://schemas.microsoft.com/office/drawing/2014/main" xmlns="" id="{05928B69-0142-4C14-A783-3D8762E5BBE2}"/>
              </a:ext>
            </a:extLst>
          </p:cNvPr>
          <p:cNvSpPr/>
          <p:nvPr/>
        </p:nvSpPr>
        <p:spPr>
          <a:xfrm>
            <a:off x="0" y="3012651"/>
            <a:ext cx="144000" cy="144000"/>
          </a:xfrm>
          <a:prstGeom prst="ellipse">
            <a:avLst/>
          </a:prstGeom>
          <a:solidFill>
            <a:srgbClr val="C00000"/>
          </a:solidFill>
          <a:ln w="3175">
            <a:noFill/>
          </a:ln>
          <a:effectLst>
            <a:outerShdw blurRad="25400" dist="25400" dir="2700000" algn="tl" rotWithShape="0">
              <a:schemeClr val="tx1">
                <a:lumMod val="75000"/>
                <a:lumOff val="2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700" dirty="0">
                <a:solidFill>
                  <a:prstClr val="white"/>
                </a:solidFill>
                <a:latin typeface="맑은 고딕" panose="020B0503020000020004" pitchFamily="50" charset="-127"/>
              </a:rPr>
              <a:t>1</a:t>
            </a:r>
            <a:endParaRPr lang="ko-KR" altLang="en-US" sz="700" dirty="0">
              <a:solidFill>
                <a:prstClr val="white"/>
              </a:solidFill>
              <a:latin typeface="맑은 고딕" panose="020B0503020000020004" pitchFamily="50" charset="-127"/>
            </a:endParaRPr>
          </a:p>
        </p:txBody>
      </p:sp>
      <p:sp>
        <p:nvSpPr>
          <p:cNvPr id="249" name="타원 248">
            <a:extLst>
              <a:ext uri="{FF2B5EF4-FFF2-40B4-BE49-F238E27FC236}">
                <a16:creationId xmlns:a16="http://schemas.microsoft.com/office/drawing/2014/main" xmlns="" id="{05928B69-0142-4C14-A783-3D8762E5BBE2}"/>
              </a:ext>
            </a:extLst>
          </p:cNvPr>
          <p:cNvSpPr/>
          <p:nvPr/>
        </p:nvSpPr>
        <p:spPr>
          <a:xfrm>
            <a:off x="4679798" y="5010263"/>
            <a:ext cx="144000" cy="144000"/>
          </a:xfrm>
          <a:prstGeom prst="ellipse">
            <a:avLst/>
          </a:prstGeom>
          <a:solidFill>
            <a:srgbClr val="C00000"/>
          </a:solidFill>
          <a:ln w="3175">
            <a:noFill/>
          </a:ln>
          <a:effectLst>
            <a:outerShdw blurRad="25400" dist="25400" dir="2700000" algn="tl" rotWithShape="0">
              <a:schemeClr val="tx1">
                <a:lumMod val="75000"/>
                <a:lumOff val="2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700" smtClean="0">
                <a:solidFill>
                  <a:prstClr val="white"/>
                </a:solidFill>
                <a:latin typeface="맑은 고딕" panose="020B0503020000020004" pitchFamily="50" charset="-127"/>
              </a:rPr>
              <a:t>2</a:t>
            </a:r>
            <a:endParaRPr lang="ko-KR" altLang="en-US" sz="700" dirty="0">
              <a:solidFill>
                <a:prstClr val="white"/>
              </a:solidFill>
              <a:latin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1828001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직사각형 115">
            <a:extLst>
              <a:ext uri="{FF2B5EF4-FFF2-40B4-BE49-F238E27FC236}">
                <a16:creationId xmlns="" xmlns:a16="http://schemas.microsoft.com/office/drawing/2014/main" id="{F9776C3A-3D6C-4965-9DA5-D76F1E6E1639}"/>
              </a:ext>
            </a:extLst>
          </p:cNvPr>
          <p:cNvSpPr/>
          <p:nvPr/>
        </p:nvSpPr>
        <p:spPr>
          <a:xfrm>
            <a:off x="4821273" y="4666020"/>
            <a:ext cx="2880000" cy="1440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800">
              <a:solidFill>
                <a:prstClr val="black">
                  <a:lumMod val="75000"/>
                  <a:lumOff val="25000"/>
                </a:prst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xmlns="" id="{F9776C3A-3D6C-4965-9DA5-D76F1E6E1639}"/>
              </a:ext>
            </a:extLst>
          </p:cNvPr>
          <p:cNvSpPr/>
          <p:nvPr/>
        </p:nvSpPr>
        <p:spPr>
          <a:xfrm>
            <a:off x="145399" y="710779"/>
            <a:ext cx="2878189" cy="5687999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700">
              <a:solidFill>
                <a:prstClr val="black">
                  <a:lumMod val="75000"/>
                  <a:lumOff val="25000"/>
                </a:prst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xmlns="" id="{19FD5FA0-B111-4EF7-BC86-418441928DD3}"/>
              </a:ext>
            </a:extLst>
          </p:cNvPr>
          <p:cNvSpPr/>
          <p:nvPr/>
        </p:nvSpPr>
        <p:spPr>
          <a:xfrm>
            <a:off x="145399" y="710779"/>
            <a:ext cx="2878189" cy="360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700">
              <a:solidFill>
                <a:prstClr val="black">
                  <a:lumMod val="75000"/>
                  <a:lumOff val="25000"/>
                </a:prst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0C96C875-C47F-4F5B-B4C1-F9D666A7BD9D}"/>
              </a:ext>
            </a:extLst>
          </p:cNvPr>
          <p:cNvSpPr txBox="1"/>
          <p:nvPr/>
        </p:nvSpPr>
        <p:spPr>
          <a:xfrm>
            <a:off x="542924" y="778511"/>
            <a:ext cx="600755" cy="223832"/>
          </a:xfrm>
          <a:prstGeom prst="rect">
            <a:avLst/>
          </a:prstGeom>
          <a:noFill/>
          <a:ln w="317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108000" tIns="36000" rIns="108000" bIns="36000" numCol="1" rtlCol="0" anchor="ctr" anchorCtr="0" compatLnSpc="1">
            <a:prstTxWarp prst="textNoShape">
              <a:avLst/>
            </a:prstTxWarp>
            <a:spAutoFit/>
          </a:bodyPr>
          <a:lstStyle/>
          <a:p>
            <a:r>
              <a:rPr lang="ko-KR" altLang="en-US" sz="800" b="1" smtClean="0"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</a:rPr>
              <a:t>주문서</a:t>
            </a:r>
            <a:endParaRPr lang="ko-KR" altLang="en-US" sz="800" b="1" dirty="0">
              <a:solidFill>
                <a:prstClr val="black">
                  <a:lumMod val="75000"/>
                  <a:lumOff val="25000"/>
                </a:prstClr>
              </a:solidFill>
              <a:latin typeface="맑은 고딕" panose="020B0503020000020004" pitchFamily="50" charset="-127"/>
            </a:endParaRPr>
          </a:p>
        </p:txBody>
      </p:sp>
      <p:pic>
        <p:nvPicPr>
          <p:cNvPr id="5" name="Picture 2" descr="https://img.lfmall.co.kr/file/WAS/display/lf2022/mobile/gnb_fnb_sp.png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00" t="38037" r="84922" b="38044"/>
          <a:stretch/>
        </p:blipFill>
        <p:spPr bwMode="auto">
          <a:xfrm>
            <a:off x="290581" y="800779"/>
            <a:ext cx="181478" cy="18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xmlns="" id="{8392E679-C745-496E-8916-C656AE57791E}"/>
              </a:ext>
            </a:extLst>
          </p:cNvPr>
          <p:cNvSpPr/>
          <p:nvPr/>
        </p:nvSpPr>
        <p:spPr>
          <a:xfrm>
            <a:off x="144128" y="1070779"/>
            <a:ext cx="2878189" cy="72000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700" dirty="0">
              <a:solidFill>
                <a:prstClr val="black">
                  <a:lumMod val="75000"/>
                  <a:lumOff val="25000"/>
                </a:prst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xmlns="" id="{0C96C875-C47F-4F5B-B4C1-F9D666A7BD9D}"/>
              </a:ext>
            </a:extLst>
          </p:cNvPr>
          <p:cNvSpPr txBox="1"/>
          <p:nvPr/>
        </p:nvSpPr>
        <p:spPr>
          <a:xfrm>
            <a:off x="324015" y="1204502"/>
            <a:ext cx="2069927" cy="206241"/>
          </a:xfrm>
          <a:prstGeom prst="rect">
            <a:avLst/>
          </a:prstGeom>
          <a:noFill/>
          <a:ln w="317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36000" tIns="36000" rIns="36000" bIns="36000" numCol="1" rtlCol="0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altLang="ko-KR" sz="700" smtClean="0"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</a:rPr>
              <a:t>(06017) </a:t>
            </a:r>
            <a:r>
              <a:rPr lang="ko-KR" altLang="en-US" sz="700" smtClean="0"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</a:rPr>
              <a:t>서울특별시 강남구 언주로 </a:t>
            </a:r>
            <a:r>
              <a:rPr lang="en-US" altLang="ko-KR" sz="700" smtClean="0"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</a:rPr>
              <a:t>872 6</a:t>
            </a:r>
            <a:r>
              <a:rPr lang="ko-KR" altLang="en-US" sz="700" smtClean="0"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</a:rPr>
              <a:t>층</a:t>
            </a:r>
            <a:endParaRPr lang="ko-KR" altLang="en-US" sz="700" dirty="0">
              <a:solidFill>
                <a:prstClr val="black">
                  <a:lumMod val="75000"/>
                  <a:lumOff val="25000"/>
                </a:prst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xmlns="" id="{0C96C875-C47F-4F5B-B4C1-F9D666A7BD9D}"/>
              </a:ext>
            </a:extLst>
          </p:cNvPr>
          <p:cNvSpPr txBox="1"/>
          <p:nvPr/>
        </p:nvSpPr>
        <p:spPr>
          <a:xfrm>
            <a:off x="324015" y="1491846"/>
            <a:ext cx="698344" cy="206241"/>
          </a:xfrm>
          <a:prstGeom prst="rect">
            <a:avLst/>
          </a:prstGeom>
          <a:noFill/>
          <a:ln w="317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36000" tIns="36000" rIns="36000" bIns="36000" numCol="1" rtlCol="0" anchor="ctr" anchorCtr="0" compatLnSpc="1">
            <a:prstTxWarp prst="textNoShape">
              <a:avLst/>
            </a:prstTxWarp>
            <a:spAutoFit/>
          </a:bodyPr>
          <a:lstStyle/>
          <a:p>
            <a:r>
              <a:rPr lang="ko-KR" altLang="en-US" sz="700" smtClean="0"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</a:rPr>
              <a:t>배송요청사항</a:t>
            </a:r>
            <a:endParaRPr lang="ko-KR" altLang="en-US" sz="700" dirty="0">
              <a:solidFill>
                <a:prstClr val="black">
                  <a:lumMod val="75000"/>
                  <a:lumOff val="25000"/>
                </a:prst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9" name="모서리가 둥근 직사각형 8">
            <a:extLst>
              <a:ext uri="{FF2B5EF4-FFF2-40B4-BE49-F238E27FC236}">
                <a16:creationId xmlns:a16="http://schemas.microsoft.com/office/drawing/2014/main" xmlns="" id="{19FD5FA0-B111-4EF7-BC86-418441928DD3}"/>
              </a:ext>
            </a:extLst>
          </p:cNvPr>
          <p:cNvSpPr/>
          <p:nvPr/>
        </p:nvSpPr>
        <p:spPr>
          <a:xfrm>
            <a:off x="324015" y="1738246"/>
            <a:ext cx="2518415" cy="288000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108000" tIns="36000" rIns="108000" bIns="36000" rtlCol="0" anchor="ctr">
            <a:noAutofit/>
          </a:bodyPr>
          <a:lstStyle/>
          <a:p>
            <a:r>
              <a:rPr lang="ko-KR" altLang="en-US" sz="700" smtClean="0"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</a:rPr>
              <a:t>배송 장소를 선택해주세요</a:t>
            </a:r>
            <a:r>
              <a:rPr lang="en-US" altLang="ko-KR" sz="700" smtClean="0"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</a:rPr>
              <a:t>(</a:t>
            </a:r>
            <a:r>
              <a:rPr lang="ko-KR" altLang="en-US" sz="700" smtClean="0"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</a:rPr>
              <a:t>선택</a:t>
            </a:r>
            <a:r>
              <a:rPr lang="en-US" altLang="ko-KR" sz="700" smtClean="0"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</a:rPr>
              <a:t>)</a:t>
            </a:r>
            <a:endParaRPr lang="ko-KR" altLang="en-US" sz="700">
              <a:solidFill>
                <a:prstClr val="black">
                  <a:lumMod val="75000"/>
                  <a:lumOff val="25000"/>
                </a:prst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10" name="Chevron Down"/>
          <p:cNvSpPr>
            <a:spLocks noChangeAspect="1"/>
          </p:cNvSpPr>
          <p:nvPr/>
        </p:nvSpPr>
        <p:spPr bwMode="auto">
          <a:xfrm>
            <a:off x="2661355" y="1865783"/>
            <a:ext cx="107932" cy="59341"/>
          </a:xfrm>
          <a:custGeom>
            <a:avLst/>
            <a:gdLst>
              <a:gd name="T0" fmla="*/ 594 w 594"/>
              <a:gd name="T1" fmla="*/ 27 h 324"/>
              <a:gd name="T2" fmla="*/ 566 w 594"/>
              <a:gd name="T3" fmla="*/ 0 h 324"/>
              <a:gd name="T4" fmla="*/ 297 w 594"/>
              <a:gd name="T5" fmla="*/ 268 h 324"/>
              <a:gd name="T6" fmla="*/ 28 w 594"/>
              <a:gd name="T7" fmla="*/ 0 h 324"/>
              <a:gd name="T8" fmla="*/ 0 w 594"/>
              <a:gd name="T9" fmla="*/ 27 h 324"/>
              <a:gd name="T10" fmla="*/ 297 w 594"/>
              <a:gd name="T11" fmla="*/ 324 h 324"/>
              <a:gd name="T12" fmla="*/ 594 w 594"/>
              <a:gd name="T13" fmla="*/ 27 h 3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594" h="324">
                <a:moveTo>
                  <a:pt x="594" y="27"/>
                </a:moveTo>
                <a:lnTo>
                  <a:pt x="566" y="0"/>
                </a:lnTo>
                <a:lnTo>
                  <a:pt x="297" y="268"/>
                </a:lnTo>
                <a:lnTo>
                  <a:pt x="28" y="0"/>
                </a:lnTo>
                <a:lnTo>
                  <a:pt x="0" y="27"/>
                </a:lnTo>
                <a:lnTo>
                  <a:pt x="297" y="324"/>
                </a:lnTo>
                <a:lnTo>
                  <a:pt x="594" y="27"/>
                </a:lnTo>
                <a:close/>
              </a:path>
            </a:pathLst>
          </a:custGeom>
          <a:solidFill>
            <a:srgbClr val="5F5F5F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800">
              <a:solidFill>
                <a:prstClr val="black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xmlns="" id="{8392E679-C745-496E-8916-C656AE57791E}"/>
              </a:ext>
            </a:extLst>
          </p:cNvPr>
          <p:cNvSpPr/>
          <p:nvPr/>
        </p:nvSpPr>
        <p:spPr>
          <a:xfrm>
            <a:off x="144128" y="2135855"/>
            <a:ext cx="2878189" cy="72000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700" dirty="0">
              <a:solidFill>
                <a:prstClr val="black">
                  <a:lumMod val="75000"/>
                  <a:lumOff val="25000"/>
                </a:prst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xmlns="" id="{0C96C875-C47F-4F5B-B4C1-F9D666A7BD9D}"/>
              </a:ext>
            </a:extLst>
          </p:cNvPr>
          <p:cNvSpPr txBox="1"/>
          <p:nvPr/>
        </p:nvSpPr>
        <p:spPr>
          <a:xfrm>
            <a:off x="324015" y="2311436"/>
            <a:ext cx="551846" cy="223832"/>
          </a:xfrm>
          <a:prstGeom prst="rect">
            <a:avLst/>
          </a:prstGeom>
          <a:noFill/>
          <a:ln w="317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36000" tIns="36000" rIns="36000" bIns="36000" numCol="1" rtlCol="0" anchor="ctr" anchorCtr="0" compatLnSpc="1">
            <a:prstTxWarp prst="textNoShape">
              <a:avLst/>
            </a:prstTxWarp>
            <a:spAutoFit/>
          </a:bodyPr>
          <a:lstStyle/>
          <a:p>
            <a:r>
              <a:rPr lang="ko-KR" altLang="en-US" sz="800" b="1" smtClean="0"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</a:rPr>
              <a:t>주문상품</a:t>
            </a:r>
            <a:endParaRPr lang="ko-KR" altLang="en-US" sz="800" b="1" dirty="0">
              <a:solidFill>
                <a:prstClr val="black">
                  <a:lumMod val="75000"/>
                  <a:lumOff val="25000"/>
                </a:prst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130" name="제목 1"/>
          <p:cNvSpPr txBox="1">
            <a:spLocks/>
          </p:cNvSpPr>
          <p:nvPr/>
        </p:nvSpPr>
        <p:spPr>
          <a:xfrm>
            <a:off x="1223906" y="358660"/>
            <a:ext cx="1080000" cy="216000"/>
          </a:xfrm>
          <a:prstGeom prst="rect">
            <a:avLst/>
          </a:prstGeom>
        </p:spPr>
        <p:txBody>
          <a:bodyPr lIns="36000" tIns="36000" rIns="36000" bIns="36000" anchor="ctr"/>
          <a:lstStyle>
            <a:lvl1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2pPr>
            <a:lvl3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3pPr>
            <a:lvl4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4pPr>
            <a:lvl5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5pPr>
            <a:lvl6pPr marL="457212" algn="ctr" rtl="0" fontAlgn="base" latinLnBrk="1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6pPr>
            <a:lvl7pPr marL="914423" algn="ctr" rtl="0" fontAlgn="base" latinLnBrk="1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7pPr>
            <a:lvl8pPr marL="1371634" algn="ctr" rtl="0" fontAlgn="base" latinLnBrk="1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8pPr>
            <a:lvl9pPr marL="1828846" algn="ctr" rtl="0" fontAlgn="base" latinLnBrk="1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r>
              <a:rPr lang="en-US" altLang="ko-KR" sz="800" ker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-</a:t>
            </a:r>
            <a:endParaRPr lang="ko-KR" altLang="en-US" sz="800" kern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31" name="제목 1">
            <a:extLst>
              <a:ext uri="{FF2B5EF4-FFF2-40B4-BE49-F238E27FC236}">
                <a16:creationId xmlns:a16="http://schemas.microsoft.com/office/drawing/2014/main" xmlns="" id="{03F65532-A01C-4981-B987-5E15F64E3ABB}"/>
              </a:ext>
            </a:extLst>
          </p:cNvPr>
          <p:cNvSpPr txBox="1">
            <a:spLocks/>
          </p:cNvSpPr>
          <p:nvPr/>
        </p:nvSpPr>
        <p:spPr>
          <a:xfrm>
            <a:off x="3383718" y="142660"/>
            <a:ext cx="4320000" cy="216000"/>
          </a:xfrm>
          <a:prstGeom prst="rect">
            <a:avLst/>
          </a:prstGeom>
        </p:spPr>
        <p:txBody>
          <a:bodyPr lIns="180000" tIns="36000" rIns="180000" bIns="36000" anchor="ctr"/>
          <a:lstStyle>
            <a:lvl1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2pPr>
            <a:lvl3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3pPr>
            <a:lvl4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4pPr>
            <a:lvl5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5pPr>
            <a:lvl6pPr marL="457212" algn="ctr" rtl="0" fontAlgn="base" latinLnBrk="1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6pPr>
            <a:lvl7pPr marL="914423" algn="ctr" rtl="0" fontAlgn="base" latinLnBrk="1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7pPr>
            <a:lvl8pPr marL="1371634" algn="ctr" rtl="0" fontAlgn="base" latinLnBrk="1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8pPr>
            <a:lvl9pPr marL="1828846" algn="ctr" rtl="0" fontAlgn="base" latinLnBrk="1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l"/>
            <a:r>
              <a:rPr lang="ko-KR" altLang="en-US" sz="800" b="1" kern="0" smtClean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주문서 </a:t>
            </a:r>
            <a:r>
              <a:rPr lang="en-US" altLang="ko-KR" sz="800" b="1" kern="0" smtClean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&amp; </a:t>
            </a:r>
            <a:r>
              <a:rPr lang="ko-KR" altLang="en-US" sz="800" b="1" kern="0" smtClean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주문완료</a:t>
            </a:r>
            <a:endParaRPr lang="ko-KR" altLang="en-US" sz="800" b="1" kern="0" dirty="0">
              <a:solidFill>
                <a:srgbClr val="C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32" name="제목 1">
            <a:extLst>
              <a:ext uri="{FF2B5EF4-FFF2-40B4-BE49-F238E27FC236}">
                <a16:creationId xmlns:a16="http://schemas.microsoft.com/office/drawing/2014/main" xmlns="" id="{E2CFB5AD-2840-4821-B288-2284D6C0A05E}"/>
              </a:ext>
            </a:extLst>
          </p:cNvPr>
          <p:cNvSpPr txBox="1">
            <a:spLocks/>
          </p:cNvSpPr>
          <p:nvPr/>
        </p:nvSpPr>
        <p:spPr>
          <a:xfrm>
            <a:off x="3383718" y="358660"/>
            <a:ext cx="4320000" cy="216000"/>
          </a:xfrm>
          <a:prstGeom prst="rect">
            <a:avLst/>
          </a:prstGeom>
        </p:spPr>
        <p:txBody>
          <a:bodyPr lIns="180000" tIns="36000" rIns="180000" bIns="36000" anchor="ctr"/>
          <a:lstStyle>
            <a:lvl1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2pPr>
            <a:lvl3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3pPr>
            <a:lvl4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4pPr>
            <a:lvl5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5pPr>
            <a:lvl6pPr marL="457212" algn="ctr" rtl="0" fontAlgn="base" latinLnBrk="1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6pPr>
            <a:lvl7pPr marL="914423" algn="ctr" rtl="0" fontAlgn="base" latinLnBrk="1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7pPr>
            <a:lvl8pPr marL="1371634" algn="ctr" rtl="0" fontAlgn="base" latinLnBrk="1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8pPr>
            <a:lvl9pPr marL="1828846" algn="ctr" rtl="0" fontAlgn="base" latinLnBrk="1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l"/>
            <a:r>
              <a:rPr lang="en-US" altLang="ko-KR" sz="800" ker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https://m.lfmall.co.kr/app/order</a:t>
            </a:r>
            <a:endParaRPr lang="ko-KR" altLang="en-US" sz="800" kern="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133" name="제목 1"/>
          <p:cNvSpPr txBox="1">
            <a:spLocks/>
          </p:cNvSpPr>
          <p:nvPr/>
        </p:nvSpPr>
        <p:spPr>
          <a:xfrm>
            <a:off x="1223906" y="142660"/>
            <a:ext cx="1080000" cy="216000"/>
          </a:xfrm>
          <a:prstGeom prst="rect">
            <a:avLst/>
          </a:prstGeom>
        </p:spPr>
        <p:txBody>
          <a:bodyPr lIns="36000" tIns="36000" rIns="36000" bIns="36000" anchor="ctr"/>
          <a:lstStyle>
            <a:lvl1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2pPr>
            <a:lvl3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3pPr>
            <a:lvl4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4pPr>
            <a:lvl5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5pPr>
            <a:lvl6pPr marL="457212" algn="ctr" rtl="0" fontAlgn="base" latinLnBrk="1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6pPr>
            <a:lvl7pPr marL="914423" algn="ctr" rtl="0" fontAlgn="base" latinLnBrk="1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7pPr>
            <a:lvl8pPr marL="1371634" algn="ctr" rtl="0" fontAlgn="base" latinLnBrk="1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8pPr>
            <a:lvl9pPr marL="1828846" algn="ctr" rtl="0" fontAlgn="base" latinLnBrk="1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r>
              <a:rPr lang="en-US" altLang="ko-KR" sz="800" kern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Front-End</a:t>
            </a:r>
            <a:endParaRPr lang="ko-KR" altLang="en-US" sz="800" kern="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29" name="그룹 28"/>
          <p:cNvGrpSpPr/>
          <p:nvPr/>
        </p:nvGrpSpPr>
        <p:grpSpPr>
          <a:xfrm>
            <a:off x="145399" y="5822779"/>
            <a:ext cx="2878189" cy="576000"/>
            <a:chOff x="9036562" y="5821701"/>
            <a:chExt cx="2880000" cy="576000"/>
          </a:xfrm>
        </p:grpSpPr>
        <p:sp>
          <p:nvSpPr>
            <p:cNvPr id="30" name="직사각형 29">
              <a:extLst>
                <a:ext uri="{FF2B5EF4-FFF2-40B4-BE49-F238E27FC236}">
                  <a16:creationId xmlns="" xmlns:a16="http://schemas.microsoft.com/office/drawing/2014/main" id="{19FD5FA0-B111-4EF7-BC86-418441928DD3}"/>
                </a:ext>
              </a:extLst>
            </p:cNvPr>
            <p:cNvSpPr/>
            <p:nvPr/>
          </p:nvSpPr>
          <p:spPr>
            <a:xfrm>
              <a:off x="9036562" y="5821701"/>
              <a:ext cx="2880000" cy="576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  <a:effectLst>
              <a:outerShdw blurRad="12700" dist="12700" dir="16200000" rotWithShape="0">
                <a:schemeClr val="bg1">
                  <a:lumMod val="75000"/>
                  <a:alpha val="5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700"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31" name="모서리가 둥근 직사각형 30">
              <a:extLst>
                <a:ext uri="{FF2B5EF4-FFF2-40B4-BE49-F238E27FC236}">
                  <a16:creationId xmlns="" xmlns:a16="http://schemas.microsoft.com/office/drawing/2014/main" id="{19FD5FA0-B111-4EF7-BC86-418441928DD3}"/>
                </a:ext>
              </a:extLst>
            </p:cNvPr>
            <p:cNvSpPr/>
            <p:nvPr/>
          </p:nvSpPr>
          <p:spPr>
            <a:xfrm>
              <a:off x="9180562" y="5929700"/>
              <a:ext cx="2592000" cy="360000"/>
            </a:xfrm>
            <a:prstGeom prst="roundRect">
              <a:avLst>
                <a:gd name="adj" fmla="val 9391"/>
              </a:avLst>
            </a:prstGeom>
            <a:solidFill>
              <a:schemeClr val="tx1">
                <a:lumMod val="75000"/>
                <a:lumOff val="2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800" b="1" smtClean="0">
                  <a:solidFill>
                    <a:schemeClr val="bg1"/>
                  </a:solidFill>
                  <a:latin typeface="맑은 고딕" panose="020B0503020000020004" pitchFamily="50" charset="-127"/>
                </a:rPr>
                <a:t>392,910</a:t>
              </a:r>
              <a:r>
                <a:rPr lang="ko-KR" altLang="en-US" sz="800" b="1" smtClean="0">
                  <a:solidFill>
                    <a:schemeClr val="bg1"/>
                  </a:solidFill>
                  <a:latin typeface="맑은 고딕" panose="020B0503020000020004" pitchFamily="50" charset="-127"/>
                </a:rPr>
                <a:t>원 결제하기</a:t>
              </a:r>
              <a:endParaRPr lang="ko-KR" altLang="en-US" sz="800" b="1">
                <a:solidFill>
                  <a:schemeClr val="bg1"/>
                </a:solidFill>
                <a:latin typeface="맑은 고딕" panose="020B0503020000020004" pitchFamily="50" charset="-127"/>
              </a:endParaRPr>
            </a:p>
          </p:txBody>
        </p:sp>
      </p:grpSp>
      <p:sp>
        <p:nvSpPr>
          <p:cNvPr id="233" name="직사각형 232">
            <a:extLst>
              <a:ext uri="{FF2B5EF4-FFF2-40B4-BE49-F238E27FC236}">
                <a16:creationId xmlns="" xmlns:a16="http://schemas.microsoft.com/office/drawing/2014/main" id="{F9776C3A-3D6C-4965-9DA5-D76F1E6E1639}"/>
              </a:ext>
            </a:extLst>
          </p:cNvPr>
          <p:cNvSpPr/>
          <p:nvPr/>
        </p:nvSpPr>
        <p:spPr>
          <a:xfrm>
            <a:off x="4821273" y="709700"/>
            <a:ext cx="2880000" cy="5688000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>
              <a:solidFill>
                <a:prstClr val="black">
                  <a:lumMod val="75000"/>
                  <a:lumOff val="25000"/>
                </a:prst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234" name="직사각형 233">
            <a:extLst>
              <a:ext uri="{FF2B5EF4-FFF2-40B4-BE49-F238E27FC236}">
                <a16:creationId xmlns:a16="http://schemas.microsoft.com/office/drawing/2014/main" xmlns="" id="{19FD5FA0-B111-4EF7-BC86-418441928DD3}"/>
              </a:ext>
            </a:extLst>
          </p:cNvPr>
          <p:cNvSpPr/>
          <p:nvPr/>
        </p:nvSpPr>
        <p:spPr>
          <a:xfrm>
            <a:off x="4823084" y="710779"/>
            <a:ext cx="2878189" cy="360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700">
              <a:solidFill>
                <a:prstClr val="black">
                  <a:lumMod val="75000"/>
                  <a:lumOff val="25000"/>
                </a:prst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235" name="TextBox 234">
            <a:extLst>
              <a:ext uri="{FF2B5EF4-FFF2-40B4-BE49-F238E27FC236}">
                <a16:creationId xmlns:a16="http://schemas.microsoft.com/office/drawing/2014/main" xmlns="" id="{0C96C875-C47F-4F5B-B4C1-F9D666A7BD9D}"/>
              </a:ext>
            </a:extLst>
          </p:cNvPr>
          <p:cNvSpPr txBox="1"/>
          <p:nvPr/>
        </p:nvSpPr>
        <p:spPr>
          <a:xfrm>
            <a:off x="5220609" y="792520"/>
            <a:ext cx="628478" cy="195814"/>
          </a:xfrm>
          <a:prstGeom prst="rect">
            <a:avLst/>
          </a:prstGeom>
          <a:noFill/>
          <a:ln w="317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108000" tIns="36000" rIns="108000" bIns="36000" numCol="1" rtlCol="0" anchor="ctr" anchorCtr="0" compatLnSpc="1">
            <a:prstTxWarp prst="textNoShape">
              <a:avLst/>
            </a:prstTxWarp>
            <a:spAutoFit/>
          </a:bodyPr>
          <a:lstStyle/>
          <a:p>
            <a:r>
              <a:rPr lang="ko-KR" altLang="en-US" sz="800" b="1" smtClean="0"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</a:rPr>
              <a:t>주문완료</a:t>
            </a:r>
            <a:endParaRPr lang="ko-KR" altLang="en-US" sz="800" b="1" dirty="0">
              <a:solidFill>
                <a:prstClr val="black">
                  <a:lumMod val="75000"/>
                  <a:lumOff val="25000"/>
                </a:prstClr>
              </a:solidFill>
              <a:latin typeface="맑은 고딕" panose="020B0503020000020004" pitchFamily="50" charset="-127"/>
            </a:endParaRPr>
          </a:p>
        </p:txBody>
      </p:sp>
      <p:pic>
        <p:nvPicPr>
          <p:cNvPr id="236" name="Picture 2" descr="https://img.lfmall.co.kr/file/WAS/display/lf2022/mobile/gnb_fnb_sp.png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00" t="38037" r="84922" b="38044"/>
          <a:stretch/>
        </p:blipFill>
        <p:spPr bwMode="auto">
          <a:xfrm>
            <a:off x="4968266" y="800779"/>
            <a:ext cx="181478" cy="18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9" name="Picture 2" descr="https://img.lfmall.co.kr/file/WAS/apps/2019/mfront/order/ico_shopping_complete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38178" y="1250250"/>
            <a:ext cx="648001" cy="504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41" name="TextBox 240">
            <a:extLst>
              <a:ext uri="{FF2B5EF4-FFF2-40B4-BE49-F238E27FC236}">
                <a16:creationId xmlns="" xmlns:a16="http://schemas.microsoft.com/office/drawing/2014/main" id="{0C96C875-C47F-4F5B-B4C1-F9D666A7BD9D}"/>
              </a:ext>
            </a:extLst>
          </p:cNvPr>
          <p:cNvSpPr txBox="1"/>
          <p:nvPr/>
        </p:nvSpPr>
        <p:spPr>
          <a:xfrm>
            <a:off x="5211256" y="1759525"/>
            <a:ext cx="2100035" cy="211203"/>
          </a:xfrm>
          <a:prstGeom prst="rect">
            <a:avLst/>
          </a:prstGeom>
          <a:noFill/>
          <a:ln w="317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108000" tIns="36000" rIns="108000" bIns="36000" numCol="1" rtlCol="0" anchor="ctr" anchorCtr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ko-KR" altLang="en-US" sz="900" b="1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홍길동 님의 주문이 완료되었습니다</a:t>
            </a:r>
            <a:r>
              <a:rPr lang="en-US" altLang="ko-KR" sz="900" b="1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.</a:t>
            </a:r>
            <a:endParaRPr lang="ko-KR" altLang="en-US" sz="900" b="1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243" name="직사각형 242">
            <a:extLst>
              <a:ext uri="{FF2B5EF4-FFF2-40B4-BE49-F238E27FC236}">
                <a16:creationId xmlns="" xmlns:a16="http://schemas.microsoft.com/office/drawing/2014/main" id="{8392E679-C745-496E-8916-C656AE57791E}"/>
              </a:ext>
            </a:extLst>
          </p:cNvPr>
          <p:cNvSpPr/>
          <p:nvPr/>
        </p:nvSpPr>
        <p:spPr>
          <a:xfrm>
            <a:off x="4821273" y="2545523"/>
            <a:ext cx="2880000" cy="72000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 dirty="0">
              <a:solidFill>
                <a:prstClr val="black">
                  <a:lumMod val="75000"/>
                  <a:lumOff val="25000"/>
                </a:prst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244" name="TextBox 243">
            <a:extLst>
              <a:ext uri="{FF2B5EF4-FFF2-40B4-BE49-F238E27FC236}">
                <a16:creationId xmlns="" xmlns:a16="http://schemas.microsoft.com/office/drawing/2014/main" id="{0C96C875-C47F-4F5B-B4C1-F9D666A7BD9D}"/>
              </a:ext>
            </a:extLst>
          </p:cNvPr>
          <p:cNvSpPr txBox="1"/>
          <p:nvPr/>
        </p:nvSpPr>
        <p:spPr>
          <a:xfrm>
            <a:off x="5368354" y="1979024"/>
            <a:ext cx="1785846" cy="195814"/>
          </a:xfrm>
          <a:prstGeom prst="rect">
            <a:avLst/>
          </a:prstGeom>
          <a:noFill/>
          <a:ln w="317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108000" tIns="36000" rIns="108000" bIns="36000" numCol="1" rtlCol="0" anchor="ctr" anchorCtr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altLang="ko-KR" sz="8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LF</a:t>
            </a:r>
            <a:r>
              <a:rPr lang="ko-KR" altLang="en-US" sz="8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몰을 이용해 주셔서 감사합니다</a:t>
            </a:r>
            <a:r>
              <a:rPr lang="en-US" altLang="ko-KR" sz="8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.</a:t>
            </a:r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245" name="TextBox 244">
            <a:extLst>
              <a:ext uri="{FF2B5EF4-FFF2-40B4-BE49-F238E27FC236}">
                <a16:creationId xmlns="" xmlns:a16="http://schemas.microsoft.com/office/drawing/2014/main" id="{0C96C875-C47F-4F5B-B4C1-F9D666A7BD9D}"/>
              </a:ext>
            </a:extLst>
          </p:cNvPr>
          <p:cNvSpPr txBox="1"/>
          <p:nvPr/>
        </p:nvSpPr>
        <p:spPr>
          <a:xfrm>
            <a:off x="5001273" y="2772040"/>
            <a:ext cx="483072" cy="195814"/>
          </a:xfrm>
          <a:prstGeom prst="rect">
            <a:avLst/>
          </a:prstGeom>
          <a:noFill/>
          <a:ln w="317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36000" tIns="36000" rIns="36000" bIns="36000" numCol="1" rtlCol="0" anchor="ctr" anchorCtr="0" compatLnSpc="1">
            <a:prstTxWarp prst="textNoShape">
              <a:avLst/>
            </a:prstTxWarp>
            <a:spAutoFit/>
          </a:bodyPr>
          <a:lstStyle/>
          <a:p>
            <a:r>
              <a:rPr lang="ko-KR" altLang="en-US" sz="8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주문번호</a:t>
            </a:r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246" name="TextBox 245">
            <a:extLst>
              <a:ext uri="{FF2B5EF4-FFF2-40B4-BE49-F238E27FC236}">
                <a16:creationId xmlns="" xmlns:a16="http://schemas.microsoft.com/office/drawing/2014/main" id="{0C96C875-C47F-4F5B-B4C1-F9D666A7BD9D}"/>
              </a:ext>
            </a:extLst>
          </p:cNvPr>
          <p:cNvSpPr txBox="1"/>
          <p:nvPr/>
        </p:nvSpPr>
        <p:spPr>
          <a:xfrm>
            <a:off x="5721996" y="2772040"/>
            <a:ext cx="521544" cy="195814"/>
          </a:xfrm>
          <a:prstGeom prst="rect">
            <a:avLst/>
          </a:prstGeom>
          <a:noFill/>
          <a:ln w="317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36000" tIns="36000" rIns="36000" bIns="36000" numCol="1" rtlCol="0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altLang="ko-KR" sz="8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12345678</a:t>
            </a:r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253" name="TextBox 252">
            <a:extLst>
              <a:ext uri="{FF2B5EF4-FFF2-40B4-BE49-F238E27FC236}">
                <a16:creationId xmlns="" xmlns:a16="http://schemas.microsoft.com/office/drawing/2014/main" id="{0C96C875-C47F-4F5B-B4C1-F9D666A7BD9D}"/>
              </a:ext>
            </a:extLst>
          </p:cNvPr>
          <p:cNvSpPr txBox="1"/>
          <p:nvPr/>
        </p:nvSpPr>
        <p:spPr>
          <a:xfrm>
            <a:off x="5001273" y="3025776"/>
            <a:ext cx="483072" cy="195814"/>
          </a:xfrm>
          <a:prstGeom prst="rect">
            <a:avLst/>
          </a:prstGeom>
          <a:noFill/>
          <a:ln w="317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36000" tIns="36000" rIns="36000" bIns="36000" numCol="1" rtlCol="0" anchor="ctr" anchorCtr="0" compatLnSpc="1">
            <a:prstTxWarp prst="textNoShape">
              <a:avLst/>
            </a:prstTxWarp>
            <a:spAutoFit/>
          </a:bodyPr>
          <a:lstStyle/>
          <a:p>
            <a:r>
              <a:rPr lang="ko-KR" altLang="en-US" sz="8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배송정보</a:t>
            </a:r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254" name="TextBox 253">
            <a:extLst>
              <a:ext uri="{FF2B5EF4-FFF2-40B4-BE49-F238E27FC236}">
                <a16:creationId xmlns="" xmlns:a16="http://schemas.microsoft.com/office/drawing/2014/main" id="{0C96C875-C47F-4F5B-B4C1-F9D666A7BD9D}"/>
              </a:ext>
            </a:extLst>
          </p:cNvPr>
          <p:cNvSpPr txBox="1"/>
          <p:nvPr/>
        </p:nvSpPr>
        <p:spPr>
          <a:xfrm>
            <a:off x="5721996" y="3025776"/>
            <a:ext cx="1492964" cy="442035"/>
          </a:xfrm>
          <a:prstGeom prst="rect">
            <a:avLst/>
          </a:prstGeom>
          <a:noFill/>
          <a:ln w="317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36000" tIns="36000" rIns="36000" bIns="36000" numCol="1" rtlCol="0" anchor="t" anchorCtr="0" compatLnSpc="1">
            <a:prstTxWarp prst="textNoShape">
              <a:avLst/>
            </a:prstTxWarp>
            <a:spAutoFit/>
          </a:bodyPr>
          <a:lstStyle/>
          <a:p>
            <a:r>
              <a:rPr lang="ko-KR" altLang="en-US" sz="8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홍길동</a:t>
            </a:r>
            <a:endParaRPr lang="en-US" altLang="ko-KR" sz="800" smtClean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</a:endParaRPr>
          </a:p>
          <a:p>
            <a:r>
              <a:rPr lang="ko-KR" altLang="en-US" sz="8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서울시 강남구 언주로 </a:t>
            </a:r>
            <a:r>
              <a:rPr lang="en-US" altLang="ko-KR" sz="8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872, 6</a:t>
            </a:r>
            <a:r>
              <a:rPr lang="ko-KR" altLang="en-US" sz="8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층</a:t>
            </a:r>
            <a:endParaRPr lang="en-US" altLang="ko-KR" sz="800" smtClean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</a:endParaRPr>
          </a:p>
          <a:p>
            <a:r>
              <a:rPr lang="en-US" altLang="ko-KR" sz="8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(</a:t>
            </a:r>
            <a:r>
              <a:rPr lang="en-US" altLang="ko-KR" sz="8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06023)</a:t>
            </a:r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255" name="TextBox 254">
            <a:extLst>
              <a:ext uri="{FF2B5EF4-FFF2-40B4-BE49-F238E27FC236}">
                <a16:creationId xmlns="" xmlns:a16="http://schemas.microsoft.com/office/drawing/2014/main" id="{0C96C875-C47F-4F5B-B4C1-F9D666A7BD9D}"/>
              </a:ext>
            </a:extLst>
          </p:cNvPr>
          <p:cNvSpPr txBox="1"/>
          <p:nvPr/>
        </p:nvSpPr>
        <p:spPr>
          <a:xfrm>
            <a:off x="7189606" y="3025776"/>
            <a:ext cx="332390" cy="180425"/>
          </a:xfrm>
          <a:prstGeom prst="rect">
            <a:avLst/>
          </a:prstGeom>
          <a:noFill/>
          <a:ln w="317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36000" tIns="36000" rIns="36000" bIns="36000" numCol="1" rtlCol="0" anchor="ctr" anchorCtr="0" compatLnSpc="1">
            <a:prstTxWarp prst="textNoShape">
              <a:avLst/>
            </a:prstTxWarp>
            <a:spAutoFit/>
          </a:bodyPr>
          <a:lstStyle/>
          <a:p>
            <a:pPr algn="r"/>
            <a:r>
              <a:rPr lang="ko-KR" altLang="en-US" sz="700" smtClean="0">
                <a:solidFill>
                  <a:schemeClr val="tx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</a:rPr>
              <a:t>변경 </a:t>
            </a:r>
            <a:r>
              <a:rPr lang="en-US" altLang="ko-KR" sz="700" smtClean="0">
                <a:solidFill>
                  <a:schemeClr val="tx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</a:rPr>
              <a:t>〉</a:t>
            </a:r>
            <a:endParaRPr lang="ko-KR" altLang="en-US" sz="700" dirty="0">
              <a:solidFill>
                <a:schemeClr val="tx1">
                  <a:lumMod val="50000"/>
                  <a:lumOff val="50000"/>
                </a:scheme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258" name="TextBox 257">
            <a:extLst>
              <a:ext uri="{FF2B5EF4-FFF2-40B4-BE49-F238E27FC236}">
                <a16:creationId xmlns="" xmlns:a16="http://schemas.microsoft.com/office/drawing/2014/main" id="{0C96C875-C47F-4F5B-B4C1-F9D666A7BD9D}"/>
              </a:ext>
            </a:extLst>
          </p:cNvPr>
          <p:cNvSpPr txBox="1"/>
          <p:nvPr/>
        </p:nvSpPr>
        <p:spPr>
          <a:xfrm>
            <a:off x="5001273" y="3495664"/>
            <a:ext cx="483072" cy="195814"/>
          </a:xfrm>
          <a:prstGeom prst="rect">
            <a:avLst/>
          </a:prstGeom>
          <a:noFill/>
          <a:ln w="317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36000" tIns="36000" rIns="36000" bIns="36000" numCol="1" rtlCol="0" anchor="ctr" anchorCtr="0" compatLnSpc="1">
            <a:prstTxWarp prst="textNoShape">
              <a:avLst/>
            </a:prstTxWarp>
            <a:spAutoFit/>
          </a:bodyPr>
          <a:lstStyle/>
          <a:p>
            <a:r>
              <a:rPr lang="ko-KR" altLang="en-US" sz="8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결제수단</a:t>
            </a:r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259" name="TextBox 258">
            <a:extLst>
              <a:ext uri="{FF2B5EF4-FFF2-40B4-BE49-F238E27FC236}">
                <a16:creationId xmlns="" xmlns:a16="http://schemas.microsoft.com/office/drawing/2014/main" id="{0C96C875-C47F-4F5B-B4C1-F9D666A7BD9D}"/>
              </a:ext>
            </a:extLst>
          </p:cNvPr>
          <p:cNvSpPr txBox="1"/>
          <p:nvPr/>
        </p:nvSpPr>
        <p:spPr>
          <a:xfrm>
            <a:off x="5721996" y="3495664"/>
            <a:ext cx="1409608" cy="318924"/>
          </a:xfrm>
          <a:prstGeom prst="rect">
            <a:avLst/>
          </a:prstGeom>
          <a:noFill/>
          <a:ln w="317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36000" tIns="36000" rIns="36000" bIns="36000" numCol="1" rtlCol="0" anchor="t" anchorCtr="0" compatLnSpc="1">
            <a:prstTxWarp prst="textNoShape">
              <a:avLst/>
            </a:prstTxWarp>
            <a:spAutoFit/>
          </a:bodyPr>
          <a:lstStyle/>
          <a:p>
            <a:r>
              <a:rPr lang="ko-KR" altLang="en-US" sz="8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신용카드</a:t>
            </a:r>
            <a:r>
              <a:rPr lang="en-US" altLang="ko-KR" sz="8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 </a:t>
            </a:r>
            <a:r>
              <a:rPr lang="en-US" altLang="ko-KR" sz="8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[</a:t>
            </a:r>
            <a:r>
              <a:rPr lang="ko-KR" altLang="en-US" sz="8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국민</a:t>
            </a:r>
            <a:r>
              <a:rPr lang="en-US" altLang="ko-KR" sz="8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] / </a:t>
            </a:r>
            <a:r>
              <a:rPr lang="ko-KR" altLang="en-US" sz="8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할부 </a:t>
            </a:r>
            <a:r>
              <a:rPr lang="en-US" altLang="ko-KR" sz="8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: </a:t>
            </a:r>
            <a:r>
              <a:rPr lang="ko-KR" altLang="en-US" sz="8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일시</a:t>
            </a:r>
            <a:endParaRPr lang="en-US" altLang="ko-KR" sz="800" smtClean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</a:endParaRPr>
          </a:p>
          <a:p>
            <a:r>
              <a:rPr lang="ko-KR" altLang="en-US" sz="8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불 </a:t>
            </a:r>
            <a:r>
              <a:rPr lang="en-US" altLang="ko-KR" sz="8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/ LFpay</a:t>
            </a:r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260" name="TextBox 259">
            <a:extLst>
              <a:ext uri="{FF2B5EF4-FFF2-40B4-BE49-F238E27FC236}">
                <a16:creationId xmlns="" xmlns:a16="http://schemas.microsoft.com/office/drawing/2014/main" id="{0C96C875-C47F-4F5B-B4C1-F9D666A7BD9D}"/>
              </a:ext>
            </a:extLst>
          </p:cNvPr>
          <p:cNvSpPr txBox="1"/>
          <p:nvPr/>
        </p:nvSpPr>
        <p:spPr>
          <a:xfrm>
            <a:off x="7189606" y="3503358"/>
            <a:ext cx="332390" cy="180425"/>
          </a:xfrm>
          <a:prstGeom prst="rect">
            <a:avLst/>
          </a:prstGeom>
          <a:noFill/>
          <a:ln w="317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36000" tIns="36000" rIns="36000" bIns="36000" numCol="1" rtlCol="0" anchor="ctr" anchorCtr="0" compatLnSpc="1">
            <a:prstTxWarp prst="textNoShape">
              <a:avLst/>
            </a:prstTxWarp>
            <a:spAutoFit/>
          </a:bodyPr>
          <a:lstStyle/>
          <a:p>
            <a:pPr algn="r"/>
            <a:r>
              <a:rPr lang="ko-KR" altLang="en-US" sz="700" smtClean="0">
                <a:solidFill>
                  <a:schemeClr val="tx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</a:rPr>
              <a:t>변경 </a:t>
            </a:r>
            <a:r>
              <a:rPr lang="en-US" altLang="ko-KR" sz="700" smtClean="0">
                <a:solidFill>
                  <a:schemeClr val="tx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</a:rPr>
              <a:t>〉</a:t>
            </a:r>
            <a:endParaRPr lang="ko-KR" altLang="en-US" sz="700" dirty="0">
              <a:solidFill>
                <a:schemeClr val="tx1">
                  <a:lumMod val="50000"/>
                  <a:lumOff val="50000"/>
                </a:scheme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263" name="TextBox 262">
            <a:extLst>
              <a:ext uri="{FF2B5EF4-FFF2-40B4-BE49-F238E27FC236}">
                <a16:creationId xmlns="" xmlns:a16="http://schemas.microsoft.com/office/drawing/2014/main" id="{0C96C875-C47F-4F5B-B4C1-F9D666A7BD9D}"/>
              </a:ext>
            </a:extLst>
          </p:cNvPr>
          <p:cNvSpPr txBox="1"/>
          <p:nvPr/>
        </p:nvSpPr>
        <p:spPr>
          <a:xfrm>
            <a:off x="5001273" y="3850960"/>
            <a:ext cx="483072" cy="195814"/>
          </a:xfrm>
          <a:prstGeom prst="rect">
            <a:avLst/>
          </a:prstGeom>
          <a:noFill/>
          <a:ln w="317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36000" tIns="36000" rIns="36000" bIns="36000" numCol="1" rtlCol="0" anchor="ctr" anchorCtr="0" compatLnSpc="1">
            <a:prstTxWarp prst="textNoShape">
              <a:avLst/>
            </a:prstTxWarp>
            <a:spAutoFit/>
          </a:bodyPr>
          <a:lstStyle/>
          <a:p>
            <a:r>
              <a:rPr lang="ko-KR" altLang="en-US" sz="8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결제금액</a:t>
            </a:r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264" name="TextBox 263">
            <a:extLst>
              <a:ext uri="{FF2B5EF4-FFF2-40B4-BE49-F238E27FC236}">
                <a16:creationId xmlns="" xmlns:a16="http://schemas.microsoft.com/office/drawing/2014/main" id="{0C96C875-C47F-4F5B-B4C1-F9D666A7BD9D}"/>
              </a:ext>
            </a:extLst>
          </p:cNvPr>
          <p:cNvSpPr txBox="1"/>
          <p:nvPr/>
        </p:nvSpPr>
        <p:spPr>
          <a:xfrm>
            <a:off x="5721996" y="3850960"/>
            <a:ext cx="644976" cy="195814"/>
          </a:xfrm>
          <a:prstGeom prst="rect">
            <a:avLst/>
          </a:prstGeom>
          <a:noFill/>
          <a:ln w="317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36000" tIns="36000" rIns="36000" bIns="36000" numCol="1" rtlCol="0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altLang="ko-KR" sz="800" b="1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1,234,567</a:t>
            </a:r>
            <a:r>
              <a:rPr lang="ko-KR" altLang="en-US" sz="800" b="1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원</a:t>
            </a:r>
            <a:endParaRPr lang="ko-KR" altLang="en-US" sz="800" b="1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265" name="TextBox 264">
            <a:extLst>
              <a:ext uri="{FF2B5EF4-FFF2-40B4-BE49-F238E27FC236}">
                <a16:creationId xmlns="" xmlns:a16="http://schemas.microsoft.com/office/drawing/2014/main" id="{0C96C875-C47F-4F5B-B4C1-F9D666A7BD9D}"/>
              </a:ext>
            </a:extLst>
          </p:cNvPr>
          <p:cNvSpPr txBox="1"/>
          <p:nvPr/>
        </p:nvSpPr>
        <p:spPr>
          <a:xfrm>
            <a:off x="5001273" y="4102360"/>
            <a:ext cx="483072" cy="195814"/>
          </a:xfrm>
          <a:prstGeom prst="rect">
            <a:avLst/>
          </a:prstGeom>
          <a:noFill/>
          <a:ln w="317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36000" tIns="36000" rIns="36000" bIns="36000" numCol="1" rtlCol="0" anchor="ctr" anchorCtr="0" compatLnSpc="1">
            <a:prstTxWarp prst="textNoShape">
              <a:avLst/>
            </a:prstTxWarp>
            <a:spAutoFit/>
          </a:bodyPr>
          <a:lstStyle/>
          <a:p>
            <a:r>
              <a:rPr lang="ko-KR" altLang="en-US" sz="8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적립예정</a:t>
            </a:r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266" name="TextBox 265">
            <a:extLst>
              <a:ext uri="{FF2B5EF4-FFF2-40B4-BE49-F238E27FC236}">
                <a16:creationId xmlns="" xmlns:a16="http://schemas.microsoft.com/office/drawing/2014/main" id="{0C96C875-C47F-4F5B-B4C1-F9D666A7BD9D}"/>
              </a:ext>
            </a:extLst>
          </p:cNvPr>
          <p:cNvSpPr txBox="1"/>
          <p:nvPr/>
        </p:nvSpPr>
        <p:spPr>
          <a:xfrm>
            <a:off x="5721996" y="4102360"/>
            <a:ext cx="1525024" cy="318924"/>
          </a:xfrm>
          <a:prstGeom prst="rect">
            <a:avLst/>
          </a:prstGeom>
          <a:noFill/>
          <a:ln w="317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36000" tIns="36000" rIns="36000" bIns="36000" numCol="1" rtlCol="0" anchor="t" anchorCtr="0" compatLnSpc="1">
            <a:prstTxWarp prst="textNoShape">
              <a:avLst/>
            </a:prstTxWarp>
            <a:spAutoFit/>
          </a:bodyPr>
          <a:lstStyle/>
          <a:p>
            <a:r>
              <a:rPr lang="en-US" altLang="ko-KR" sz="8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1,230M</a:t>
            </a:r>
          </a:p>
          <a:p>
            <a:r>
              <a:rPr lang="en-US" altLang="ko-KR" sz="8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(</a:t>
            </a:r>
            <a:r>
              <a:rPr lang="ko-KR" altLang="en-US" sz="8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주문</a:t>
            </a:r>
            <a:r>
              <a:rPr lang="en-US" altLang="ko-KR" sz="8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 14</a:t>
            </a:r>
            <a:r>
              <a:rPr lang="ko-KR" altLang="en-US" sz="8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일 후 적립 예정입니다</a:t>
            </a:r>
            <a:r>
              <a:rPr lang="en-US" altLang="ko-KR" sz="8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)</a:t>
            </a:r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271" name="직사각형 270">
            <a:extLst>
              <a:ext uri="{FF2B5EF4-FFF2-40B4-BE49-F238E27FC236}">
                <a16:creationId xmlns="" xmlns:a16="http://schemas.microsoft.com/office/drawing/2014/main" id="{8392E679-C745-496E-8916-C656AE57791E}"/>
              </a:ext>
            </a:extLst>
          </p:cNvPr>
          <p:cNvSpPr/>
          <p:nvPr/>
        </p:nvSpPr>
        <p:spPr>
          <a:xfrm>
            <a:off x="4821273" y="4594559"/>
            <a:ext cx="2880000" cy="72000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 dirty="0">
              <a:solidFill>
                <a:prstClr val="black">
                  <a:lumMod val="75000"/>
                  <a:lumOff val="25000"/>
                </a:prst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272" name="직사각형 271">
            <a:extLst>
              <a:ext uri="{FF2B5EF4-FFF2-40B4-BE49-F238E27FC236}">
                <a16:creationId xmlns="" xmlns:a16="http://schemas.microsoft.com/office/drawing/2014/main" id="{8392E679-C745-496E-8916-C656AE57791E}"/>
              </a:ext>
            </a:extLst>
          </p:cNvPr>
          <p:cNvSpPr/>
          <p:nvPr/>
        </p:nvSpPr>
        <p:spPr>
          <a:xfrm>
            <a:off x="5001273" y="5170020"/>
            <a:ext cx="720000" cy="792000"/>
          </a:xfrm>
          <a:prstGeom prst="rect">
            <a:avLst/>
          </a:prstGeom>
          <a:pattFill prst="openDmnd">
            <a:fgClr>
              <a:schemeClr val="bg1">
                <a:lumMod val="75000"/>
              </a:schemeClr>
            </a:fgClr>
            <a:bgClr>
              <a:schemeClr val="bg1"/>
            </a:bgClr>
          </a:patt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PROD</a:t>
            </a:r>
          </a:p>
          <a:p>
            <a:pPr algn="ctr"/>
            <a:r>
              <a:rPr lang="en-US" altLang="ko-KR" sz="8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IMG</a:t>
            </a:r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73" name="TextBox 272">
            <a:extLst>
              <a:ext uri="{FF2B5EF4-FFF2-40B4-BE49-F238E27FC236}">
                <a16:creationId xmlns="" xmlns:a16="http://schemas.microsoft.com/office/drawing/2014/main" id="{0C96C875-C47F-4F5B-B4C1-F9D666A7BD9D}"/>
              </a:ext>
            </a:extLst>
          </p:cNvPr>
          <p:cNvSpPr txBox="1"/>
          <p:nvPr/>
        </p:nvSpPr>
        <p:spPr>
          <a:xfrm>
            <a:off x="5723906" y="5171925"/>
            <a:ext cx="1980000" cy="557451"/>
          </a:xfrm>
          <a:prstGeom prst="rect">
            <a:avLst/>
          </a:prstGeom>
          <a:noFill/>
          <a:ln w="317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square" lIns="108000" tIns="36000" rIns="108000" bIns="36000" numCol="1" rtlCol="0" anchor="t" anchorCtr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7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HAZZYS</a:t>
            </a:r>
          </a:p>
          <a:p>
            <a:pPr>
              <a:lnSpc>
                <a:spcPct val="150000"/>
              </a:lnSpc>
            </a:pPr>
            <a:r>
              <a:rPr lang="en-US" altLang="ko-KR" sz="7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[</a:t>
            </a:r>
            <a:r>
              <a:rPr lang="ko-KR" altLang="en-US" sz="7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시즌오프</a:t>
            </a:r>
            <a:r>
              <a:rPr lang="en-US" altLang="ko-KR" sz="7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][</a:t>
            </a:r>
            <a:r>
              <a:rPr lang="ko-KR" altLang="en-US" sz="7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인기급상승</a:t>
            </a:r>
            <a:r>
              <a:rPr lang="en-US" altLang="ko-KR" sz="7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] </a:t>
            </a:r>
            <a:r>
              <a:rPr lang="ko-KR" altLang="en-US" sz="7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다이아 패턴 구스</a:t>
            </a:r>
            <a:r>
              <a:rPr lang="en-US" altLang="ko-KR" sz="7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…</a:t>
            </a:r>
          </a:p>
          <a:p>
            <a:pPr>
              <a:lnSpc>
                <a:spcPct val="150000"/>
              </a:lnSpc>
            </a:pPr>
            <a:r>
              <a:rPr lang="ko-KR" altLang="en-US" sz="700">
                <a:solidFill>
                  <a:schemeClr val="tx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</a:rPr>
              <a:t>진한 브라운 </a:t>
            </a:r>
            <a:r>
              <a:rPr lang="en-US" altLang="ko-KR" sz="700">
                <a:solidFill>
                  <a:schemeClr val="tx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</a:rPr>
              <a:t>/ 00S / 1</a:t>
            </a:r>
            <a:r>
              <a:rPr lang="ko-KR" altLang="en-US" sz="700">
                <a:solidFill>
                  <a:schemeClr val="tx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</a:rPr>
              <a:t>개</a:t>
            </a:r>
          </a:p>
        </p:txBody>
      </p:sp>
      <p:sp>
        <p:nvSpPr>
          <p:cNvPr id="274" name="TextBox 273">
            <a:extLst>
              <a:ext uri="{FF2B5EF4-FFF2-40B4-BE49-F238E27FC236}">
                <a16:creationId xmlns="" xmlns:a16="http://schemas.microsoft.com/office/drawing/2014/main" id="{0C96C875-C47F-4F5B-B4C1-F9D666A7BD9D}"/>
              </a:ext>
            </a:extLst>
          </p:cNvPr>
          <p:cNvSpPr txBox="1"/>
          <p:nvPr/>
        </p:nvSpPr>
        <p:spPr>
          <a:xfrm>
            <a:off x="5723906" y="5731281"/>
            <a:ext cx="703820" cy="195814"/>
          </a:xfrm>
          <a:prstGeom prst="rect">
            <a:avLst/>
          </a:prstGeom>
          <a:noFill/>
          <a:ln w="317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108000" tIns="36000" rIns="108000" bIns="36000" numCol="1" rtlCol="0" anchor="t" anchorCtr="0" compatLnSpc="1">
            <a:prstTxWarp prst="textNoShape">
              <a:avLst/>
            </a:prstTxWarp>
            <a:spAutoFit/>
          </a:bodyPr>
          <a:lstStyle/>
          <a:p>
            <a:r>
              <a:rPr lang="en-US" altLang="ko-KR" sz="800" b="1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390,910</a:t>
            </a:r>
            <a:r>
              <a:rPr lang="ko-KR" altLang="en-US" sz="800" b="1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원</a:t>
            </a:r>
            <a:endParaRPr lang="ko-KR" altLang="en-US" sz="700" b="1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276" name="직사각형 275">
            <a:extLst>
              <a:ext uri="{FF2B5EF4-FFF2-40B4-BE49-F238E27FC236}">
                <a16:creationId xmlns="" xmlns:a16="http://schemas.microsoft.com/office/drawing/2014/main" id="{F9776C3A-3D6C-4965-9DA5-D76F1E6E1639}"/>
              </a:ext>
            </a:extLst>
          </p:cNvPr>
          <p:cNvSpPr/>
          <p:nvPr/>
        </p:nvSpPr>
        <p:spPr>
          <a:xfrm>
            <a:off x="4821273" y="4666020"/>
            <a:ext cx="2880000" cy="360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8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[</a:t>
            </a:r>
            <a:r>
              <a:rPr lang="ko-KR" altLang="en-US" sz="8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매장상품배송</a:t>
            </a:r>
            <a:r>
              <a:rPr lang="en-US" altLang="ko-KR" sz="8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] </a:t>
            </a:r>
            <a:r>
              <a:rPr lang="en-US" altLang="ko-KR" sz="800" b="1" smtClean="0">
                <a:solidFill>
                  <a:srgbClr val="DC2832"/>
                </a:solidFill>
                <a:latin typeface="맑은 고딕" panose="020B0503020000020004" pitchFamily="50" charset="-127"/>
              </a:rPr>
              <a:t>01/14(</a:t>
            </a:r>
            <a:r>
              <a:rPr lang="ko-KR" altLang="en-US" sz="800" b="1" smtClean="0">
                <a:solidFill>
                  <a:srgbClr val="DC2832"/>
                </a:solidFill>
                <a:latin typeface="맑은 고딕" panose="020B0503020000020004" pitchFamily="50" charset="-127"/>
              </a:rPr>
              <a:t>수</a:t>
            </a:r>
            <a:r>
              <a:rPr lang="en-US" altLang="ko-KR" sz="800" b="1" smtClean="0">
                <a:solidFill>
                  <a:srgbClr val="DC2832"/>
                </a:solidFill>
                <a:latin typeface="맑은 고딕" panose="020B0503020000020004" pitchFamily="50" charset="-127"/>
              </a:rPr>
              <a:t>) </a:t>
            </a:r>
            <a:r>
              <a:rPr lang="ko-KR" altLang="en-US" sz="8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도착예정</a:t>
            </a:r>
            <a:endParaRPr lang="ko-KR" altLang="en-US" sz="80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122" name="직사각형 121">
            <a:extLst>
              <a:ext uri="{FF2B5EF4-FFF2-40B4-BE49-F238E27FC236}">
                <a16:creationId xmlns="" xmlns:a16="http://schemas.microsoft.com/office/drawing/2014/main" id="{F9776C3A-3D6C-4965-9DA5-D76F1E6E1639}"/>
              </a:ext>
            </a:extLst>
          </p:cNvPr>
          <p:cNvSpPr/>
          <p:nvPr/>
        </p:nvSpPr>
        <p:spPr>
          <a:xfrm>
            <a:off x="4821273" y="6105465"/>
            <a:ext cx="2880000" cy="360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800" b="1">
                <a:solidFill>
                  <a:srgbClr val="DC2832"/>
                </a:solidFill>
                <a:latin typeface="맑은 고딕" panose="020B0503020000020004" pitchFamily="50" charset="-127"/>
              </a:rPr>
              <a:t>01/08(</a:t>
            </a:r>
            <a:r>
              <a:rPr lang="ko-KR" altLang="en-US" sz="800" b="1">
                <a:solidFill>
                  <a:srgbClr val="DC2832"/>
                </a:solidFill>
                <a:latin typeface="맑은 고딕" panose="020B0503020000020004" pitchFamily="50" charset="-127"/>
              </a:rPr>
              <a:t>목</a:t>
            </a:r>
            <a:r>
              <a:rPr lang="en-US" altLang="ko-KR" sz="800" b="1">
                <a:solidFill>
                  <a:srgbClr val="DC2832"/>
                </a:solidFill>
                <a:latin typeface="맑은 고딕" panose="020B0503020000020004" pitchFamily="50" charset="-127"/>
              </a:rPr>
              <a:t>)</a:t>
            </a:r>
            <a:r>
              <a:rPr lang="en-US" altLang="ko-KR" sz="800"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</a:rPr>
              <a:t> </a:t>
            </a:r>
            <a:r>
              <a:rPr lang="ko-KR" altLang="en-US" sz="800"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</a:rPr>
              <a:t>도착예정</a:t>
            </a:r>
          </a:p>
        </p:txBody>
      </p:sp>
      <p:graphicFrame>
        <p:nvGraphicFramePr>
          <p:cNvPr id="127" name="Group 118">
            <a:extLst>
              <a:ext uri="{FF2B5EF4-FFF2-40B4-BE49-F238E27FC236}">
                <a16:creationId xmlns:a16="http://schemas.microsoft.com/office/drawing/2014/main" xmlns="" id="{41B5A014-BEDB-439E-A302-DBCECEC856B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25937633"/>
              </p:ext>
            </p:extLst>
          </p:nvPr>
        </p:nvGraphicFramePr>
        <p:xfrm>
          <a:off x="9647906" y="709700"/>
          <a:ext cx="2376000" cy="865392"/>
        </p:xfrm>
        <a:graphic>
          <a:graphicData uri="http://schemas.openxmlformats.org/drawingml/2006/table">
            <a:tbl>
              <a:tblPr/>
              <a:tblGrid>
                <a:gridCol w="21600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21600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2520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 Semilight" panose="020B0502040204020203" pitchFamily="50" charset="-127"/>
                        </a:rPr>
                        <a:t>No</a:t>
                      </a:r>
                    </a:p>
                  </a:txBody>
                  <a:tcPr marL="42203" marR="42203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en-US" altLang="ko-KR" sz="700" b="0" baseline="0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 Semilight" panose="020B0502040204020203" pitchFamily="50" charset="-127"/>
                        </a:rPr>
                        <a:t>Description</a:t>
                      </a:r>
                    </a:p>
                  </a:txBody>
                  <a:tcPr marL="108000" marR="108000" marT="36000" marB="3600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 Semilight" panose="020B0502040204020203" pitchFamily="50" charset="-127"/>
                        </a:rPr>
                        <a:t>1</a:t>
                      </a:r>
                    </a:p>
                  </a:txBody>
                  <a:tcPr marL="42203" marR="42203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ko-KR" altLang="en-US" sz="700" b="0" baseline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  <a:cs typeface="Malgun Gothic Semilight" panose="020B0502040204020203" pitchFamily="50" charset="-127"/>
                        </a:rPr>
                        <a:t>주문 상품 </a:t>
                      </a:r>
                      <a:r>
                        <a:rPr lang="en-US" altLang="ko-KR" sz="700" b="0" baseline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  <a:cs typeface="Malgun Gothic Semilight" panose="020B0502040204020203" pitchFamily="50" charset="-127"/>
                        </a:rPr>
                        <a:t>(</a:t>
                      </a:r>
                      <a:r>
                        <a:rPr lang="ko-KR" altLang="en-US" sz="700" b="0" baseline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  <a:cs typeface="Malgun Gothic Semilight" panose="020B0502040204020203" pitchFamily="50" charset="-127"/>
                        </a:rPr>
                        <a:t>주문서</a:t>
                      </a:r>
                      <a:r>
                        <a:rPr lang="en-US" altLang="ko-KR" sz="700" b="0" baseline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  <a:cs typeface="Malgun Gothic Semilight" panose="020B0502040204020203" pitchFamily="50" charset="-127"/>
                        </a:rPr>
                        <a:t>)</a:t>
                      </a: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en-US" altLang="ko-KR" sz="700" b="0" baseline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  <a:cs typeface="Malgun Gothic Semilight" panose="020B0502040204020203" pitchFamily="50" charset="-127"/>
                        </a:rPr>
                        <a:t> - </a:t>
                      </a:r>
                      <a:r>
                        <a:rPr lang="ko-KR" altLang="en-US" sz="700" b="0" baseline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  <a:cs typeface="Malgun Gothic Semilight" panose="020B0502040204020203" pitchFamily="50" charset="-127"/>
                        </a:rPr>
                        <a:t>배송 안내 영역에 </a:t>
                      </a:r>
                      <a:r>
                        <a:rPr lang="en-US" altLang="ko-KR" sz="700" b="0" baseline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  <a:cs typeface="Malgun Gothic Semilight" panose="020B0502040204020203" pitchFamily="50" charset="-127"/>
                        </a:rPr>
                        <a:t>‘</a:t>
                      </a:r>
                      <a:r>
                        <a:rPr lang="ko-KR" altLang="en-US" sz="700" b="0" baseline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  <a:cs typeface="Malgun Gothic Semilight" panose="020B0502040204020203" pitchFamily="50" charset="-127"/>
                        </a:rPr>
                        <a:t>매장상품배송</a:t>
                      </a:r>
                      <a:r>
                        <a:rPr lang="en-US" altLang="ko-KR" sz="700" b="0" baseline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  <a:cs typeface="Malgun Gothic Semilight" panose="020B0502040204020203" pitchFamily="50" charset="-127"/>
                        </a:rPr>
                        <a:t>’ </a:t>
                      </a:r>
                      <a:r>
                        <a:rPr lang="ko-KR" altLang="en-US" sz="700" b="0" baseline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  <a:cs typeface="Malgun Gothic Semilight" panose="020B0502040204020203" pitchFamily="50" charset="-127"/>
                        </a:rPr>
                        <a:t>정보 표현</a:t>
                      </a:r>
                      <a:endParaRPr lang="en-US" altLang="ko-KR" sz="700" b="0" baseline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  <a:cs typeface="Malgun Gothic Semilight" panose="020B0502040204020203" pitchFamily="50" charset="-127"/>
                      </a:endParaRPr>
                    </a:p>
                  </a:txBody>
                  <a:tcPr marL="108000" marR="108000" marT="36000" marB="3600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 Semilight" panose="020B0502040204020203" pitchFamily="50" charset="-127"/>
                        </a:rPr>
                        <a:t>2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42203" marR="42203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ko-KR" altLang="en-US" sz="700" b="0" baseline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  <a:cs typeface="Malgun Gothic Semilight" panose="020B0502040204020203" pitchFamily="50" charset="-127"/>
                        </a:rPr>
                        <a:t>주문 상품 </a:t>
                      </a:r>
                      <a:r>
                        <a:rPr lang="en-US" altLang="ko-KR" sz="700" b="0" baseline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  <a:cs typeface="Malgun Gothic Semilight" panose="020B0502040204020203" pitchFamily="50" charset="-127"/>
                        </a:rPr>
                        <a:t>(</a:t>
                      </a:r>
                      <a:r>
                        <a:rPr lang="ko-KR" altLang="en-US" sz="700" b="0" baseline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  <a:cs typeface="Malgun Gothic Semilight" panose="020B0502040204020203" pitchFamily="50" charset="-127"/>
                        </a:rPr>
                        <a:t>주문완료</a:t>
                      </a:r>
                      <a:r>
                        <a:rPr lang="en-US" altLang="ko-KR" sz="700" b="0" baseline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  <a:cs typeface="Malgun Gothic Semilight" panose="020B0502040204020203" pitchFamily="50" charset="-127"/>
                        </a:rPr>
                        <a:t>)</a:t>
                      </a: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en-US" altLang="ko-KR" sz="700" b="0" baseline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  <a:cs typeface="Malgun Gothic Semilight" panose="020B0502040204020203" pitchFamily="50" charset="-127"/>
                        </a:rPr>
                        <a:t> - </a:t>
                      </a:r>
                      <a:r>
                        <a:rPr lang="ko-KR" altLang="en-US" sz="700" b="0" baseline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  <a:cs typeface="Malgun Gothic Semilight" panose="020B0502040204020203" pitchFamily="50" charset="-127"/>
                        </a:rPr>
                        <a:t>배송 안내 영역에 </a:t>
                      </a:r>
                      <a:r>
                        <a:rPr lang="en-US" altLang="ko-KR" sz="700" b="0" baseline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  <a:cs typeface="Malgun Gothic Semilight" panose="020B0502040204020203" pitchFamily="50" charset="-127"/>
                        </a:rPr>
                        <a:t>‘</a:t>
                      </a:r>
                      <a:r>
                        <a:rPr lang="ko-KR" altLang="en-US" sz="700" b="0" baseline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  <a:cs typeface="Malgun Gothic Semilight" panose="020B0502040204020203" pitchFamily="50" charset="-127"/>
                        </a:rPr>
                        <a:t>매장상품배송</a:t>
                      </a:r>
                      <a:r>
                        <a:rPr lang="en-US" altLang="ko-KR" sz="700" b="0" baseline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  <a:cs typeface="Malgun Gothic Semilight" panose="020B0502040204020203" pitchFamily="50" charset="-127"/>
                        </a:rPr>
                        <a:t>’ </a:t>
                      </a:r>
                      <a:r>
                        <a:rPr lang="ko-KR" altLang="en-US" sz="700" b="0" baseline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  <a:cs typeface="Malgun Gothic Semilight" panose="020B0502040204020203" pitchFamily="50" charset="-127"/>
                        </a:rPr>
                        <a:t>정보 표현</a:t>
                      </a:r>
                      <a:endParaRPr lang="en-US" altLang="ko-KR" sz="700" b="0" baseline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  <a:cs typeface="Malgun Gothic Semilight" panose="020B0502040204020203" pitchFamily="50" charset="-127"/>
                      </a:endParaRPr>
                    </a:p>
                  </a:txBody>
                  <a:tcPr marL="108000" marR="108000" marT="36000" marB="3600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</a:tbl>
          </a:graphicData>
        </a:graphic>
      </p:graphicFrame>
      <p:sp>
        <p:nvSpPr>
          <p:cNvPr id="16" name="직사각형 15">
            <a:extLst>
              <a:ext uri="{FF2B5EF4-FFF2-40B4-BE49-F238E27FC236}">
                <a16:creationId xmlns:a16="http://schemas.microsoft.com/office/drawing/2014/main" xmlns="" id="{8392E679-C745-496E-8916-C656AE57791E}"/>
              </a:ext>
            </a:extLst>
          </p:cNvPr>
          <p:cNvSpPr/>
          <p:nvPr/>
        </p:nvSpPr>
        <p:spPr>
          <a:xfrm>
            <a:off x="324015" y="2639641"/>
            <a:ext cx="719547" cy="900000"/>
          </a:xfrm>
          <a:prstGeom prst="rect">
            <a:avLst/>
          </a:prstGeom>
          <a:pattFill prst="openDmnd">
            <a:fgClr>
              <a:schemeClr val="bg1">
                <a:lumMod val="75000"/>
              </a:schemeClr>
            </a:fgClr>
            <a:bgClr>
              <a:schemeClr val="bg1"/>
            </a:bgClr>
          </a:patt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700" smtClean="0"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</a:rPr>
              <a:t>PROD</a:t>
            </a:r>
          </a:p>
          <a:p>
            <a:pPr algn="ctr"/>
            <a:r>
              <a:rPr lang="en-US" altLang="ko-KR" sz="700" smtClean="0"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</a:rPr>
              <a:t>IMG</a:t>
            </a:r>
            <a:endParaRPr lang="ko-KR" altLang="en-US" sz="700" dirty="0">
              <a:solidFill>
                <a:prstClr val="black">
                  <a:lumMod val="75000"/>
                  <a:lumOff val="25000"/>
                </a:prst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xmlns="" id="{0C96C875-C47F-4F5B-B4C1-F9D666A7BD9D}"/>
              </a:ext>
            </a:extLst>
          </p:cNvPr>
          <p:cNvSpPr txBox="1"/>
          <p:nvPr/>
        </p:nvSpPr>
        <p:spPr>
          <a:xfrm>
            <a:off x="1046193" y="2639641"/>
            <a:ext cx="1800000" cy="553998"/>
          </a:xfrm>
          <a:prstGeom prst="rect">
            <a:avLst/>
          </a:prstGeom>
          <a:noFill/>
          <a:ln w="317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square" lIns="108000" tIns="0" rIns="10800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600" b="1" smtClean="0"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</a:rPr>
              <a:t>HAZZYS</a:t>
            </a:r>
          </a:p>
          <a:p>
            <a:pPr>
              <a:lnSpc>
                <a:spcPct val="150000"/>
              </a:lnSpc>
            </a:pPr>
            <a:r>
              <a:rPr lang="en-US" altLang="ko-KR" sz="600"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</a:rPr>
              <a:t>[</a:t>
            </a:r>
            <a:r>
              <a:rPr lang="ko-KR" altLang="en-US" sz="600"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</a:rPr>
              <a:t>시즌오프</a:t>
            </a:r>
            <a:r>
              <a:rPr lang="en-US" altLang="ko-KR" sz="600"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</a:rPr>
              <a:t>][</a:t>
            </a:r>
            <a:r>
              <a:rPr lang="ko-KR" altLang="en-US" sz="600"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</a:rPr>
              <a:t>인기급상승</a:t>
            </a:r>
            <a:r>
              <a:rPr lang="en-US" altLang="ko-KR" sz="600"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</a:rPr>
              <a:t>] </a:t>
            </a:r>
            <a:r>
              <a:rPr lang="ko-KR" altLang="en-US" sz="600"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</a:rPr>
              <a:t>다이아 패턴 구스 </a:t>
            </a:r>
            <a:r>
              <a:rPr lang="ko-KR" altLang="en-US" sz="600" smtClean="0"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</a:rPr>
              <a:t>다운 </a:t>
            </a:r>
            <a:r>
              <a:rPr lang="ko-KR" altLang="en-US" sz="600"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</a:rPr>
              <a:t>점퍼 블랙</a:t>
            </a:r>
          </a:p>
          <a:p>
            <a:pPr>
              <a:lnSpc>
                <a:spcPct val="150000"/>
              </a:lnSpc>
            </a:pPr>
            <a:r>
              <a:rPr lang="ko-KR" altLang="en-US" sz="600">
                <a:solidFill>
                  <a:schemeClr val="tx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</a:rPr>
              <a:t>진한 브라운 </a:t>
            </a:r>
            <a:r>
              <a:rPr lang="en-US" altLang="ko-KR" sz="600">
                <a:solidFill>
                  <a:schemeClr val="tx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</a:rPr>
              <a:t>/ </a:t>
            </a:r>
            <a:r>
              <a:rPr lang="en-US" altLang="ko-KR" sz="600" smtClean="0">
                <a:solidFill>
                  <a:schemeClr val="tx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</a:rPr>
              <a:t>00S </a:t>
            </a:r>
            <a:r>
              <a:rPr lang="en-US" altLang="ko-KR" sz="600">
                <a:solidFill>
                  <a:schemeClr val="tx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</a:rPr>
              <a:t>/ 1</a:t>
            </a:r>
            <a:r>
              <a:rPr lang="ko-KR" altLang="en-US" sz="600" smtClean="0">
                <a:solidFill>
                  <a:schemeClr val="tx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</a:rPr>
              <a:t>개</a:t>
            </a:r>
            <a:endParaRPr lang="ko-KR" altLang="en-US" sz="600">
              <a:solidFill>
                <a:schemeClr val="tx1">
                  <a:lumMod val="50000"/>
                  <a:lumOff val="50000"/>
                </a:scheme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xmlns="" id="{8392E679-C745-496E-8916-C656AE57791E}"/>
              </a:ext>
            </a:extLst>
          </p:cNvPr>
          <p:cNvSpPr/>
          <p:nvPr/>
        </p:nvSpPr>
        <p:spPr>
          <a:xfrm>
            <a:off x="144128" y="5697186"/>
            <a:ext cx="2878189" cy="72000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700" dirty="0">
              <a:solidFill>
                <a:prstClr val="black">
                  <a:lumMod val="75000"/>
                  <a:lumOff val="25000"/>
                </a:prst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18" name="사각형: 둥근 모서리 393">
            <a:extLst>
              <a:ext uri="{FF2B5EF4-FFF2-40B4-BE49-F238E27FC236}">
                <a16:creationId xmlns="" xmlns:a16="http://schemas.microsoft.com/office/drawing/2014/main" id="{64F9493E-5C70-429B-84F6-3004F8930EFB}"/>
              </a:ext>
            </a:extLst>
          </p:cNvPr>
          <p:cNvSpPr/>
          <p:nvPr/>
        </p:nvSpPr>
        <p:spPr bwMode="auto">
          <a:xfrm>
            <a:off x="2068835" y="3250665"/>
            <a:ext cx="143909" cy="144000"/>
          </a:xfrm>
          <a:prstGeom prst="ellipse">
            <a:avLst/>
          </a:prstGeom>
          <a:solidFill>
            <a:schemeClr val="bg1"/>
          </a:solidFill>
          <a:ln w="3175" cap="flat" cmpd="sng" algn="ctr">
            <a:solidFill>
              <a:schemeClr val="bg1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fontAlgn="base" latinLnBrk="0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600" b="1" kern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?</a:t>
            </a:r>
            <a:endParaRPr kumimoji="1" lang="ko-KR" altLang="en-US" sz="600" b="1" kern="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xmlns="" id="{0C96C875-C47F-4F5B-B4C1-F9D666A7BD9D}"/>
              </a:ext>
            </a:extLst>
          </p:cNvPr>
          <p:cNvSpPr txBox="1"/>
          <p:nvPr/>
        </p:nvSpPr>
        <p:spPr>
          <a:xfrm>
            <a:off x="1046318" y="3232453"/>
            <a:ext cx="1020646" cy="180425"/>
          </a:xfrm>
          <a:prstGeom prst="rect">
            <a:avLst/>
          </a:prstGeom>
          <a:noFill/>
          <a:ln w="317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108000" tIns="36000" rIns="36000" bIns="36000" numCol="1" rtlCol="0" anchor="t" anchorCtr="0" compatLnSpc="1">
            <a:prstTxWarp prst="textNoShape">
              <a:avLst/>
            </a:prstTxWarp>
            <a:spAutoFit/>
          </a:bodyPr>
          <a:lstStyle/>
          <a:p>
            <a:r>
              <a:rPr lang="en-US" altLang="ko-KR" sz="700" b="1" strike="sngStrike">
                <a:solidFill>
                  <a:schemeClr val="bg1">
                    <a:lumMod val="75000"/>
                  </a:schemeClr>
                </a:solidFill>
                <a:latin typeface="맑은 고딕" panose="020B0503020000020004" pitchFamily="50" charset="-127"/>
              </a:rPr>
              <a:t>500,000</a:t>
            </a:r>
            <a:r>
              <a:rPr lang="ko-KR" altLang="en-US" sz="700" b="1" strike="sngStrike">
                <a:solidFill>
                  <a:schemeClr val="bg1">
                    <a:lumMod val="75000"/>
                  </a:schemeClr>
                </a:solidFill>
                <a:latin typeface="맑은 고딕" panose="020B0503020000020004" pitchFamily="50" charset="-127"/>
              </a:rPr>
              <a:t>원</a:t>
            </a:r>
            <a:r>
              <a:rPr lang="ko-KR" altLang="en-US" sz="700" b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 </a:t>
            </a:r>
            <a:r>
              <a:rPr lang="en-US" altLang="ko-KR" sz="700" b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390,910</a:t>
            </a:r>
            <a:r>
              <a:rPr lang="ko-KR" altLang="en-US" sz="700" b="1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원</a:t>
            </a:r>
            <a:endParaRPr lang="en-US" altLang="ko-KR" sz="700" b="1" smtClean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="" xmlns:a16="http://schemas.microsoft.com/office/drawing/2014/main" id="{0C96C875-C47F-4F5B-B4C1-F9D666A7BD9D}"/>
              </a:ext>
            </a:extLst>
          </p:cNvPr>
          <p:cNvSpPr txBox="1"/>
          <p:nvPr/>
        </p:nvSpPr>
        <p:spPr>
          <a:xfrm>
            <a:off x="1046318" y="3430240"/>
            <a:ext cx="1678230" cy="180425"/>
          </a:xfrm>
          <a:prstGeom prst="rect">
            <a:avLst/>
          </a:prstGeom>
          <a:noFill/>
          <a:ln w="317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756000" tIns="36000" rIns="108000" bIns="36000" numCol="1" rtlCol="0" anchor="ctr" anchorCtr="0" compatLnSpc="1">
            <a:prstTxWarp prst="textNoShape">
              <a:avLst/>
            </a:prstTxWarp>
            <a:spAutoFit/>
          </a:bodyPr>
          <a:lstStyle>
            <a:defPPr>
              <a:defRPr lang="ko-KR"/>
            </a:defPPr>
            <a:lvl1pPr>
              <a:defRPr sz="800"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</a:defRPr>
            </a:lvl1pPr>
          </a:lstStyle>
          <a:p>
            <a:r>
              <a:rPr lang="en-US" altLang="ko-KR" sz="700" smtClean="0">
                <a:solidFill>
                  <a:srgbClr val="C00000"/>
                </a:solidFill>
              </a:rPr>
              <a:t>01/14(</a:t>
            </a:r>
            <a:r>
              <a:rPr lang="ko-KR" altLang="en-US" sz="700" smtClean="0">
                <a:solidFill>
                  <a:srgbClr val="C00000"/>
                </a:solidFill>
              </a:rPr>
              <a:t>수</a:t>
            </a:r>
            <a:r>
              <a:rPr lang="en-US" altLang="ko-KR" sz="700" smtClean="0">
                <a:solidFill>
                  <a:srgbClr val="C00000"/>
                </a:solidFill>
              </a:rPr>
              <a:t>)</a:t>
            </a:r>
            <a:r>
              <a:rPr lang="en-US" altLang="ko-KR" sz="70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ko-KR" altLang="en-US" sz="70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도착예정</a:t>
            </a:r>
            <a:endParaRPr lang="ko-KR" altLang="en-US" sz="7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34" name="직사각형 33"/>
          <p:cNvSpPr/>
          <p:nvPr/>
        </p:nvSpPr>
        <p:spPr>
          <a:xfrm>
            <a:off x="1154288" y="3448452"/>
            <a:ext cx="576000" cy="144000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75000"/>
                </a:schemeClr>
              </a:gs>
              <a:gs pos="50000">
                <a:schemeClr val="accent5"/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0" scaled="1"/>
            <a:tileRect/>
          </a:gra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60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매장상품배송</a:t>
            </a:r>
            <a:endParaRPr lang="ko-KR" altLang="en-US" sz="60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57" name="직선 연결선 56"/>
          <p:cNvCxnSpPr/>
          <p:nvPr/>
        </p:nvCxnSpPr>
        <p:spPr>
          <a:xfrm>
            <a:off x="145399" y="3682452"/>
            <a:ext cx="2878189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xmlns="" id="{0C96C875-C47F-4F5B-B4C1-F9D666A7BD9D}"/>
              </a:ext>
            </a:extLst>
          </p:cNvPr>
          <p:cNvSpPr txBox="1"/>
          <p:nvPr/>
        </p:nvSpPr>
        <p:spPr>
          <a:xfrm>
            <a:off x="324015" y="5124201"/>
            <a:ext cx="534773" cy="206241"/>
          </a:xfrm>
          <a:prstGeom prst="rect">
            <a:avLst/>
          </a:prstGeom>
          <a:noFill/>
          <a:ln w="317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36000" tIns="36000" rIns="72000" bIns="36000" numCol="1" rtlCol="0" anchor="ctr" anchorCtr="0" compatLnSpc="1">
            <a:prstTxWarp prst="textNoShape">
              <a:avLst/>
            </a:prstTxWarp>
            <a:spAutoFit/>
          </a:bodyPr>
          <a:lstStyle/>
          <a:p>
            <a:r>
              <a:rPr lang="ko-KR" altLang="en-US" sz="700" b="1" smtClean="0"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</a:rPr>
              <a:t>쿠폰혜택</a:t>
            </a:r>
            <a:endParaRPr lang="ko-KR" altLang="en-US" sz="700" b="1" dirty="0">
              <a:solidFill>
                <a:prstClr val="black">
                  <a:lumMod val="75000"/>
                  <a:lumOff val="25000"/>
                </a:prstClr>
              </a:solidFill>
              <a:latin typeface="맑은 고딕" panose="020B0503020000020004" pitchFamily="50" charset="-127"/>
            </a:endParaRPr>
          </a:p>
        </p:txBody>
      </p:sp>
      <p:grpSp>
        <p:nvGrpSpPr>
          <p:cNvPr id="21" name="그룹 20"/>
          <p:cNvGrpSpPr/>
          <p:nvPr/>
        </p:nvGrpSpPr>
        <p:grpSpPr>
          <a:xfrm>
            <a:off x="1104163" y="5132996"/>
            <a:ext cx="1754179" cy="188651"/>
            <a:chOff x="10008237" y="4450079"/>
            <a:chExt cx="1755283" cy="188651"/>
          </a:xfrm>
        </p:grpSpPr>
        <p:sp>
          <p:nvSpPr>
            <p:cNvPr id="22" name="타원 21"/>
            <p:cNvSpPr/>
            <p:nvPr/>
          </p:nvSpPr>
          <p:spPr>
            <a:xfrm>
              <a:off x="10008237" y="4472404"/>
              <a:ext cx="144000" cy="144000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rgbClr val="DC283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700" smtClean="0">
                  <a:solidFill>
                    <a:srgbClr val="DC2832"/>
                  </a:solidFill>
                  <a:latin typeface="맑은 고딕" panose="020B0503020000020004" pitchFamily="50" charset="-127"/>
                </a:rPr>
                <a:t>!</a:t>
              </a:r>
              <a:endParaRPr lang="ko-KR" altLang="en-US" sz="700" dirty="0">
                <a:solidFill>
                  <a:srgbClr val="DC2832"/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xmlns="" id="{0C96C875-C47F-4F5B-B4C1-F9D666A7BD9D}"/>
                </a:ext>
              </a:extLst>
            </p:cNvPr>
            <p:cNvSpPr txBox="1"/>
            <p:nvPr/>
          </p:nvSpPr>
          <p:spPr>
            <a:xfrm>
              <a:off x="10154048" y="4450079"/>
              <a:ext cx="1609472" cy="188651"/>
            </a:xfrm>
            <a:prstGeom prst="rect">
              <a:avLst/>
            </a:prstGeom>
            <a:noFill/>
            <a:ln w="3175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none" lIns="36000" tIns="36000" rIns="36000" bIns="36000" numCol="1" rtlCol="0" anchor="ctr" anchorCtr="0" compatLnSpc="1">
              <a:prstTxWarp prst="textNoShape">
                <a:avLst/>
              </a:prstTxWarp>
              <a:spAutoFit/>
            </a:bodyPr>
            <a:lstStyle/>
            <a:p>
              <a:r>
                <a:rPr lang="ko-KR" altLang="en-US" sz="600" smtClean="0">
                  <a:solidFill>
                    <a:srgbClr val="DC2832"/>
                  </a:solidFill>
                  <a:latin typeface="맑은 고딕" panose="020B0503020000020004" pitchFamily="50" charset="-127"/>
                </a:rPr>
                <a:t>추가 혜택 확인 후 직접 적용해 주세요</a:t>
              </a:r>
              <a:r>
                <a:rPr lang="en-US" altLang="ko-KR" sz="600" smtClean="0">
                  <a:solidFill>
                    <a:srgbClr val="DC2832"/>
                  </a:solidFill>
                  <a:latin typeface="맑은 고딕" panose="020B0503020000020004" pitchFamily="50" charset="-127"/>
                </a:rPr>
                <a:t>.</a:t>
              </a:r>
              <a:endParaRPr lang="ko-KR" altLang="en-US" sz="600" dirty="0">
                <a:solidFill>
                  <a:srgbClr val="DC2832"/>
                </a:solidFill>
                <a:latin typeface="맑은 고딕" panose="020B0503020000020004" pitchFamily="50" charset="-127"/>
              </a:endParaRPr>
            </a:p>
          </p:txBody>
        </p:sp>
      </p:grpSp>
      <p:sp>
        <p:nvSpPr>
          <p:cNvPr id="24" name="TextBox 23">
            <a:extLst>
              <a:ext uri="{FF2B5EF4-FFF2-40B4-BE49-F238E27FC236}">
                <a16:creationId xmlns:a16="http://schemas.microsoft.com/office/drawing/2014/main" xmlns="" id="{0C96C875-C47F-4F5B-B4C1-F9D666A7BD9D}"/>
              </a:ext>
            </a:extLst>
          </p:cNvPr>
          <p:cNvSpPr txBox="1"/>
          <p:nvPr/>
        </p:nvSpPr>
        <p:spPr>
          <a:xfrm>
            <a:off x="324015" y="5411407"/>
            <a:ext cx="529872" cy="206241"/>
          </a:xfrm>
          <a:prstGeom prst="rect">
            <a:avLst/>
          </a:prstGeom>
          <a:noFill/>
          <a:ln w="317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36000" tIns="36000" rIns="36000" bIns="36000" numCol="1" rtlCol="0" anchor="ctr" anchorCtr="0" compatLnSpc="1">
            <a:prstTxWarp prst="textNoShape">
              <a:avLst/>
            </a:prstTxWarp>
            <a:spAutoFit/>
          </a:bodyPr>
          <a:lstStyle/>
          <a:p>
            <a:r>
              <a:rPr lang="ko-KR" altLang="en-US" sz="700" smtClean="0"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</a:rPr>
              <a:t>할인 쿠폰</a:t>
            </a:r>
            <a:endParaRPr lang="ko-KR" altLang="en-US" sz="700" dirty="0">
              <a:solidFill>
                <a:prstClr val="black">
                  <a:lumMod val="75000"/>
                  <a:lumOff val="25000"/>
                </a:prst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25" name="모서리가 둥근 직사각형 24">
            <a:extLst>
              <a:ext uri="{FF2B5EF4-FFF2-40B4-BE49-F238E27FC236}">
                <a16:creationId xmlns:a16="http://schemas.microsoft.com/office/drawing/2014/main" xmlns="" id="{19FD5FA0-B111-4EF7-BC86-418441928DD3}"/>
              </a:ext>
            </a:extLst>
          </p:cNvPr>
          <p:cNvSpPr/>
          <p:nvPr/>
        </p:nvSpPr>
        <p:spPr>
          <a:xfrm>
            <a:off x="2482656" y="5370528"/>
            <a:ext cx="359774" cy="252000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noAutofit/>
          </a:bodyPr>
          <a:lstStyle/>
          <a:p>
            <a:pPr algn="ctr"/>
            <a:r>
              <a:rPr lang="ko-KR" altLang="en-US" sz="700" smtClean="0"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</a:rPr>
              <a:t>변경</a:t>
            </a:r>
            <a:endParaRPr lang="ko-KR" altLang="en-US" sz="700">
              <a:solidFill>
                <a:prstClr val="black">
                  <a:lumMod val="75000"/>
                  <a:lumOff val="25000"/>
                </a:prst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xmlns="" id="{0C96C875-C47F-4F5B-B4C1-F9D666A7BD9D}"/>
              </a:ext>
            </a:extLst>
          </p:cNvPr>
          <p:cNvSpPr txBox="1"/>
          <p:nvPr/>
        </p:nvSpPr>
        <p:spPr>
          <a:xfrm>
            <a:off x="1725902" y="5411407"/>
            <a:ext cx="756410" cy="206241"/>
          </a:xfrm>
          <a:prstGeom prst="rect">
            <a:avLst/>
          </a:prstGeom>
          <a:noFill/>
          <a:ln w="317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108000" tIns="36000" rIns="108000" bIns="36000" numCol="1" rtlCol="0" anchor="ctr" anchorCtr="0" compatLnSpc="1">
            <a:prstTxWarp prst="textNoShape">
              <a:avLst/>
            </a:prstTxWarp>
            <a:spAutoFit/>
          </a:bodyPr>
          <a:lstStyle/>
          <a:p>
            <a:pPr algn="r"/>
            <a:r>
              <a:rPr lang="en-US" altLang="ko-KR" sz="700" smtClean="0"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</a:rPr>
              <a:t>-109,090</a:t>
            </a:r>
            <a:r>
              <a:rPr lang="ko-KR" altLang="en-US" sz="700" smtClean="0"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</a:rPr>
              <a:t>원</a:t>
            </a:r>
            <a:endParaRPr lang="ko-KR" altLang="en-US" sz="700" dirty="0">
              <a:solidFill>
                <a:prstClr val="black">
                  <a:lumMod val="75000"/>
                  <a:lumOff val="25000"/>
                </a:prstClr>
              </a:solidFill>
              <a:latin typeface="맑은 고딕" panose="020B0503020000020004" pitchFamily="50" charset="-127"/>
            </a:endParaRPr>
          </a:p>
        </p:txBody>
      </p:sp>
      <p:cxnSp>
        <p:nvCxnSpPr>
          <p:cNvPr id="27" name="직선 연결선 26"/>
          <p:cNvCxnSpPr/>
          <p:nvPr/>
        </p:nvCxnSpPr>
        <p:spPr>
          <a:xfrm>
            <a:off x="145399" y="5047929"/>
            <a:ext cx="2878189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60" name="직사각형 59">
            <a:extLst>
              <a:ext uri="{FF2B5EF4-FFF2-40B4-BE49-F238E27FC236}">
                <a16:creationId xmlns:a16="http://schemas.microsoft.com/office/drawing/2014/main" xmlns="" id="{8392E679-C745-496E-8916-C656AE57791E}"/>
              </a:ext>
            </a:extLst>
          </p:cNvPr>
          <p:cNvSpPr/>
          <p:nvPr/>
        </p:nvSpPr>
        <p:spPr>
          <a:xfrm>
            <a:off x="324015" y="3825263"/>
            <a:ext cx="719547" cy="900000"/>
          </a:xfrm>
          <a:prstGeom prst="rect">
            <a:avLst/>
          </a:prstGeom>
          <a:pattFill prst="openDmnd">
            <a:fgClr>
              <a:schemeClr val="bg1">
                <a:lumMod val="75000"/>
              </a:schemeClr>
            </a:fgClr>
            <a:bgClr>
              <a:schemeClr val="bg1"/>
            </a:bgClr>
          </a:patt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700" smtClean="0"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</a:rPr>
              <a:t>PROD</a:t>
            </a:r>
          </a:p>
          <a:p>
            <a:pPr algn="ctr"/>
            <a:r>
              <a:rPr lang="en-US" altLang="ko-KR" sz="700" smtClean="0"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</a:rPr>
              <a:t>IMG</a:t>
            </a:r>
            <a:endParaRPr lang="ko-KR" altLang="en-US" sz="700" dirty="0">
              <a:solidFill>
                <a:prstClr val="black">
                  <a:lumMod val="75000"/>
                  <a:lumOff val="25000"/>
                </a:prst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xmlns="" id="{0C96C875-C47F-4F5B-B4C1-F9D666A7BD9D}"/>
              </a:ext>
            </a:extLst>
          </p:cNvPr>
          <p:cNvSpPr txBox="1"/>
          <p:nvPr/>
        </p:nvSpPr>
        <p:spPr>
          <a:xfrm>
            <a:off x="1046193" y="3825263"/>
            <a:ext cx="1800000" cy="553998"/>
          </a:xfrm>
          <a:prstGeom prst="rect">
            <a:avLst/>
          </a:prstGeom>
          <a:noFill/>
          <a:ln w="317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square" lIns="108000" tIns="0" rIns="10800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600" b="1"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</a:rPr>
              <a:t>JILLSTUART NEW YORK WOMEN</a:t>
            </a:r>
            <a:endParaRPr lang="en-US" altLang="ko-KR" sz="600" b="1" smtClean="0">
              <a:solidFill>
                <a:prstClr val="black">
                  <a:lumMod val="75000"/>
                  <a:lumOff val="25000"/>
                </a:prstClr>
              </a:solidFill>
              <a:latin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600" smtClean="0"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</a:rPr>
              <a:t>[25FW] [</a:t>
            </a:r>
            <a:r>
              <a:rPr lang="ko-KR" altLang="en-US" sz="600"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</a:rPr>
              <a:t>시즌오프</a:t>
            </a:r>
            <a:r>
              <a:rPr lang="en-US" altLang="ko-KR" sz="600"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</a:rPr>
              <a:t>]</a:t>
            </a:r>
            <a:r>
              <a:rPr lang="ko-KR" altLang="en-US" sz="600"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</a:rPr>
              <a:t>브라운 </a:t>
            </a:r>
            <a:r>
              <a:rPr lang="en-US" altLang="ko-KR" sz="600"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</a:rPr>
              <a:t>Faux </a:t>
            </a:r>
            <a:r>
              <a:rPr lang="ko-KR" altLang="en-US" sz="600"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</a:rPr>
              <a:t>페이크퍼 포켓 후드 밍크 무스탕 </a:t>
            </a:r>
            <a:r>
              <a:rPr lang="ko-KR" altLang="en-US" sz="600" smtClean="0"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</a:rPr>
              <a:t>점퍼</a:t>
            </a:r>
            <a:endParaRPr lang="en-US" altLang="ko-KR" sz="600" smtClean="0">
              <a:solidFill>
                <a:prstClr val="black">
                  <a:lumMod val="75000"/>
                  <a:lumOff val="25000"/>
                </a:prstClr>
              </a:solidFill>
              <a:latin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600" smtClean="0">
                <a:solidFill>
                  <a:schemeClr val="tx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</a:rPr>
              <a:t>크림 </a:t>
            </a:r>
            <a:r>
              <a:rPr lang="en-US" altLang="ko-KR" sz="600" smtClean="0">
                <a:solidFill>
                  <a:schemeClr val="tx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</a:rPr>
              <a:t>/ 100 / 1</a:t>
            </a:r>
            <a:r>
              <a:rPr lang="ko-KR" altLang="en-US" sz="600" smtClean="0">
                <a:solidFill>
                  <a:schemeClr val="tx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</a:rPr>
              <a:t>개</a:t>
            </a:r>
            <a:endParaRPr lang="ko-KR" altLang="en-US" sz="600">
              <a:solidFill>
                <a:schemeClr val="tx1">
                  <a:lumMod val="50000"/>
                  <a:lumOff val="50000"/>
                </a:scheme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63" name="사각형: 둥근 모서리 393">
            <a:extLst>
              <a:ext uri="{FF2B5EF4-FFF2-40B4-BE49-F238E27FC236}">
                <a16:creationId xmlns="" xmlns:a16="http://schemas.microsoft.com/office/drawing/2014/main" id="{64F9493E-5C70-429B-84F6-3004F8930EFB}"/>
              </a:ext>
            </a:extLst>
          </p:cNvPr>
          <p:cNvSpPr/>
          <p:nvPr/>
        </p:nvSpPr>
        <p:spPr bwMode="auto">
          <a:xfrm>
            <a:off x="2068835" y="4436287"/>
            <a:ext cx="143909" cy="144000"/>
          </a:xfrm>
          <a:prstGeom prst="ellipse">
            <a:avLst/>
          </a:prstGeom>
          <a:solidFill>
            <a:schemeClr val="bg1"/>
          </a:solidFill>
          <a:ln w="3175" cap="flat" cmpd="sng" algn="ctr">
            <a:solidFill>
              <a:schemeClr val="bg1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fontAlgn="base" latinLnBrk="0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600" b="1" kern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?</a:t>
            </a:r>
            <a:endParaRPr kumimoji="1" lang="ko-KR" altLang="en-US" sz="600" b="1" kern="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xmlns="" id="{0C96C875-C47F-4F5B-B4C1-F9D666A7BD9D}"/>
              </a:ext>
            </a:extLst>
          </p:cNvPr>
          <p:cNvSpPr txBox="1"/>
          <p:nvPr/>
        </p:nvSpPr>
        <p:spPr>
          <a:xfrm>
            <a:off x="1046318" y="4418075"/>
            <a:ext cx="1020646" cy="180425"/>
          </a:xfrm>
          <a:prstGeom prst="rect">
            <a:avLst/>
          </a:prstGeom>
          <a:noFill/>
          <a:ln w="317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108000" tIns="36000" rIns="36000" bIns="36000" numCol="1" rtlCol="0" anchor="t" anchorCtr="0" compatLnSpc="1">
            <a:prstTxWarp prst="textNoShape">
              <a:avLst/>
            </a:prstTxWarp>
            <a:spAutoFit/>
          </a:bodyPr>
          <a:lstStyle/>
          <a:p>
            <a:r>
              <a:rPr lang="en-US" altLang="ko-KR" sz="700" b="1" strike="sngStrike">
                <a:solidFill>
                  <a:schemeClr val="bg1">
                    <a:lumMod val="75000"/>
                  </a:schemeClr>
                </a:solidFill>
                <a:latin typeface="맑은 고딕" panose="020B0503020000020004" pitchFamily="50" charset="-127"/>
              </a:rPr>
              <a:t>500,000</a:t>
            </a:r>
            <a:r>
              <a:rPr lang="ko-KR" altLang="en-US" sz="700" b="1" strike="sngStrike">
                <a:solidFill>
                  <a:schemeClr val="bg1">
                    <a:lumMod val="75000"/>
                  </a:schemeClr>
                </a:solidFill>
                <a:latin typeface="맑은 고딕" panose="020B0503020000020004" pitchFamily="50" charset="-127"/>
              </a:rPr>
              <a:t>원</a:t>
            </a:r>
            <a:r>
              <a:rPr lang="ko-KR" altLang="en-US" sz="700" b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 </a:t>
            </a:r>
            <a:r>
              <a:rPr lang="en-US" altLang="ko-KR" sz="700" b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390,910</a:t>
            </a:r>
            <a:r>
              <a:rPr lang="ko-KR" altLang="en-US" sz="700" b="1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원</a:t>
            </a:r>
            <a:endParaRPr lang="en-US" altLang="ko-KR" sz="700" b="1" smtClean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</a:endParaRPr>
          </a:p>
        </p:txBody>
      </p:sp>
      <p:grpSp>
        <p:nvGrpSpPr>
          <p:cNvPr id="87" name="그룹 86"/>
          <p:cNvGrpSpPr/>
          <p:nvPr/>
        </p:nvGrpSpPr>
        <p:grpSpPr>
          <a:xfrm>
            <a:off x="1151755" y="4778998"/>
            <a:ext cx="430965" cy="107722"/>
            <a:chOff x="5616187" y="3122638"/>
            <a:chExt cx="430965" cy="107722"/>
          </a:xfrm>
        </p:grpSpPr>
        <p:grpSp>
          <p:nvGrpSpPr>
            <p:cNvPr id="92" name="그룹 91"/>
            <p:cNvGrpSpPr/>
            <p:nvPr/>
          </p:nvGrpSpPr>
          <p:grpSpPr>
            <a:xfrm>
              <a:off x="5616187" y="3140468"/>
              <a:ext cx="126000" cy="72000"/>
              <a:chOff x="4549384" y="3972353"/>
              <a:chExt cx="180000" cy="108000"/>
            </a:xfrm>
          </p:grpSpPr>
          <p:sp>
            <p:nvSpPr>
              <p:cNvPr id="94" name="직사각형 93"/>
              <p:cNvSpPr/>
              <p:nvPr/>
            </p:nvSpPr>
            <p:spPr>
              <a:xfrm>
                <a:off x="4549384" y="3972353"/>
                <a:ext cx="35644" cy="108000"/>
              </a:xfrm>
              <a:prstGeom prst="rect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 w="31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80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  <p:sp>
            <p:nvSpPr>
              <p:cNvPr id="95" name="타원 94"/>
              <p:cNvSpPr/>
              <p:nvPr/>
            </p:nvSpPr>
            <p:spPr>
              <a:xfrm>
                <a:off x="4595721" y="4044353"/>
                <a:ext cx="35644" cy="36000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 w="31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80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  <p:sp>
            <p:nvSpPr>
              <p:cNvPr id="96" name="직사각형 95"/>
              <p:cNvSpPr/>
              <p:nvPr/>
            </p:nvSpPr>
            <p:spPr>
              <a:xfrm>
                <a:off x="4647404" y="3972353"/>
                <a:ext cx="35644" cy="108000"/>
              </a:xfrm>
              <a:prstGeom prst="rect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 w="31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80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  <p:sp>
            <p:nvSpPr>
              <p:cNvPr id="97" name="타원 96"/>
              <p:cNvSpPr/>
              <p:nvPr/>
            </p:nvSpPr>
            <p:spPr>
              <a:xfrm>
                <a:off x="4693740" y="3972353"/>
                <a:ext cx="35644" cy="36000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 w="31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80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  <p:sp>
            <p:nvSpPr>
              <p:cNvPr id="98" name="타원 97"/>
              <p:cNvSpPr/>
              <p:nvPr/>
            </p:nvSpPr>
            <p:spPr>
              <a:xfrm>
                <a:off x="4693740" y="4026353"/>
                <a:ext cx="35644" cy="36000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 w="31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80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</p:grpSp>
        <p:sp>
          <p:nvSpPr>
            <p:cNvPr id="93" name="TextBox 92"/>
            <p:cNvSpPr txBox="1"/>
            <p:nvPr/>
          </p:nvSpPr>
          <p:spPr>
            <a:xfrm>
              <a:off x="5777848" y="3122638"/>
              <a:ext cx="269304" cy="107722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r>
                <a:rPr lang="ko-KR" altLang="en-US" sz="700" smtClean="0">
                  <a:solidFill>
                    <a:srgbClr val="C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슝배송</a:t>
              </a:r>
              <a:endParaRPr lang="ko-KR" altLang="en-US" sz="70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sp>
        <p:nvSpPr>
          <p:cNvPr id="90" name="TextBox 89">
            <a:extLst>
              <a:ext uri="{FF2B5EF4-FFF2-40B4-BE49-F238E27FC236}">
                <a16:creationId xmlns="" xmlns:a16="http://schemas.microsoft.com/office/drawing/2014/main" id="{0C96C875-C47F-4F5B-B4C1-F9D666A7BD9D}"/>
              </a:ext>
            </a:extLst>
          </p:cNvPr>
          <p:cNvSpPr txBox="1"/>
          <p:nvPr/>
        </p:nvSpPr>
        <p:spPr>
          <a:xfrm>
            <a:off x="1043785" y="4634214"/>
            <a:ext cx="1405935" cy="107722"/>
          </a:xfrm>
          <a:prstGeom prst="rect">
            <a:avLst/>
          </a:prstGeom>
          <a:noFill/>
          <a:ln w="317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108000" tIns="0" rIns="108000" bIns="0" numCol="1" rtlCol="0" anchor="ctr" anchorCtr="0" compatLnSpc="1">
            <a:prstTxWarp prst="textNoShape">
              <a:avLst/>
            </a:prstTxWarp>
            <a:spAutoFit/>
          </a:bodyPr>
          <a:lstStyle>
            <a:defPPr>
              <a:defRPr lang="ko-KR"/>
            </a:defPPr>
            <a:lvl1pPr>
              <a:defRPr sz="800"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</a:defRPr>
            </a:lvl1pPr>
          </a:lstStyle>
          <a:p>
            <a:r>
              <a:rPr lang="en-US" altLang="ko-KR" sz="700" smtClean="0">
                <a:solidFill>
                  <a:srgbClr val="C00000"/>
                </a:solidFill>
              </a:rPr>
              <a:t>01/08(</a:t>
            </a:r>
            <a:r>
              <a:rPr lang="ko-KR" altLang="en-US" sz="700" smtClean="0">
                <a:solidFill>
                  <a:srgbClr val="C00000"/>
                </a:solidFill>
              </a:rPr>
              <a:t>목</a:t>
            </a:r>
            <a:r>
              <a:rPr lang="en-US" altLang="ko-KR" sz="700" smtClean="0">
                <a:solidFill>
                  <a:srgbClr val="C00000"/>
                </a:solidFill>
              </a:rPr>
              <a:t>)</a:t>
            </a:r>
            <a:r>
              <a:rPr lang="en-US" altLang="ko-KR" sz="70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ko-KR" altLang="en-US" sz="70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이내 도착확률 </a:t>
            </a:r>
            <a:r>
              <a:rPr lang="en-US" altLang="ko-KR" sz="70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92%</a:t>
            </a:r>
            <a:endParaRPr lang="ko-KR" altLang="en-US" sz="7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18" name="타원 117">
            <a:extLst>
              <a:ext uri="{FF2B5EF4-FFF2-40B4-BE49-F238E27FC236}">
                <a16:creationId xmlns:a16="http://schemas.microsoft.com/office/drawing/2014/main" xmlns="" id="{05928B69-0142-4C14-A783-3D8762E5BBE2}"/>
              </a:ext>
            </a:extLst>
          </p:cNvPr>
          <p:cNvSpPr/>
          <p:nvPr/>
        </p:nvSpPr>
        <p:spPr>
          <a:xfrm>
            <a:off x="0" y="3448452"/>
            <a:ext cx="144000" cy="144000"/>
          </a:xfrm>
          <a:prstGeom prst="ellipse">
            <a:avLst/>
          </a:prstGeom>
          <a:solidFill>
            <a:srgbClr val="C00000"/>
          </a:solidFill>
          <a:ln w="3175">
            <a:noFill/>
          </a:ln>
          <a:effectLst>
            <a:outerShdw blurRad="25400" dist="25400" dir="2700000" algn="tl" rotWithShape="0">
              <a:schemeClr val="tx1">
                <a:lumMod val="75000"/>
                <a:lumOff val="2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700" dirty="0">
                <a:solidFill>
                  <a:prstClr val="white"/>
                </a:solidFill>
                <a:latin typeface="맑은 고딕" panose="020B0503020000020004" pitchFamily="50" charset="-127"/>
              </a:rPr>
              <a:t>1</a:t>
            </a:r>
            <a:endParaRPr lang="ko-KR" altLang="en-US" sz="700" dirty="0">
              <a:solidFill>
                <a:prstClr val="white"/>
              </a:solidFill>
              <a:latin typeface="맑은 고딕" panose="020B0503020000020004" pitchFamily="50" charset="-127"/>
            </a:endParaRPr>
          </a:p>
        </p:txBody>
      </p:sp>
      <p:sp>
        <p:nvSpPr>
          <p:cNvPr id="119" name="타원 118">
            <a:extLst>
              <a:ext uri="{FF2B5EF4-FFF2-40B4-BE49-F238E27FC236}">
                <a16:creationId xmlns:a16="http://schemas.microsoft.com/office/drawing/2014/main" xmlns="" id="{05928B69-0142-4C14-A783-3D8762E5BBE2}"/>
              </a:ext>
            </a:extLst>
          </p:cNvPr>
          <p:cNvSpPr/>
          <p:nvPr/>
        </p:nvSpPr>
        <p:spPr>
          <a:xfrm>
            <a:off x="4679798" y="4774020"/>
            <a:ext cx="144000" cy="144000"/>
          </a:xfrm>
          <a:prstGeom prst="ellipse">
            <a:avLst/>
          </a:prstGeom>
          <a:solidFill>
            <a:srgbClr val="C00000"/>
          </a:solidFill>
          <a:ln w="3175">
            <a:noFill/>
          </a:ln>
          <a:effectLst>
            <a:outerShdw blurRad="25400" dist="25400" dir="2700000" algn="tl" rotWithShape="0">
              <a:schemeClr val="tx1">
                <a:lumMod val="75000"/>
                <a:lumOff val="2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700" smtClean="0">
                <a:solidFill>
                  <a:prstClr val="white"/>
                </a:solidFill>
                <a:latin typeface="맑은 고딕" panose="020B0503020000020004" pitchFamily="50" charset="-127"/>
              </a:rPr>
              <a:t>2</a:t>
            </a:r>
            <a:endParaRPr lang="ko-KR" altLang="en-US" sz="700" dirty="0">
              <a:solidFill>
                <a:prstClr val="white"/>
              </a:solidFill>
              <a:latin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3642954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제목 1"/>
          <p:cNvSpPr txBox="1">
            <a:spLocks/>
          </p:cNvSpPr>
          <p:nvPr/>
        </p:nvSpPr>
        <p:spPr>
          <a:xfrm>
            <a:off x="1223906" y="358660"/>
            <a:ext cx="1080000" cy="216000"/>
          </a:xfrm>
          <a:prstGeom prst="rect">
            <a:avLst/>
          </a:prstGeom>
        </p:spPr>
        <p:txBody>
          <a:bodyPr lIns="36000" tIns="36000" rIns="36000" bIns="36000" anchor="ctr"/>
          <a:lstStyle>
            <a:lvl1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2pPr>
            <a:lvl3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3pPr>
            <a:lvl4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4pPr>
            <a:lvl5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5pPr>
            <a:lvl6pPr marL="457212" algn="ctr" rtl="0" fontAlgn="base" latinLnBrk="1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6pPr>
            <a:lvl7pPr marL="914423" algn="ctr" rtl="0" fontAlgn="base" latinLnBrk="1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7pPr>
            <a:lvl8pPr marL="1371634" algn="ctr" rtl="0" fontAlgn="base" latinLnBrk="1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8pPr>
            <a:lvl9pPr marL="1828846" algn="ctr" rtl="0" fontAlgn="base" latinLnBrk="1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r>
              <a:rPr lang="en-US" altLang="ko-KR" sz="800" kern="0" dirty="0"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</a:rPr>
              <a:t>-</a:t>
            </a:r>
            <a:endParaRPr lang="ko-KR" altLang="en-US" sz="800" kern="0">
              <a:solidFill>
                <a:prstClr val="black">
                  <a:lumMod val="75000"/>
                  <a:lumOff val="25000"/>
                </a:prst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200" name="제목 1">
            <a:extLst>
              <a:ext uri="{FF2B5EF4-FFF2-40B4-BE49-F238E27FC236}">
                <a16:creationId xmlns:a16="http://schemas.microsoft.com/office/drawing/2014/main" xmlns="" id="{03F65532-A01C-4981-B987-5E15F64E3ABB}"/>
              </a:ext>
            </a:extLst>
          </p:cNvPr>
          <p:cNvSpPr txBox="1">
            <a:spLocks/>
          </p:cNvSpPr>
          <p:nvPr/>
        </p:nvSpPr>
        <p:spPr>
          <a:xfrm>
            <a:off x="3383718" y="142660"/>
            <a:ext cx="4320000" cy="216000"/>
          </a:xfrm>
          <a:prstGeom prst="rect">
            <a:avLst/>
          </a:prstGeom>
        </p:spPr>
        <p:txBody>
          <a:bodyPr lIns="180000" tIns="36000" rIns="180000" bIns="36000" anchor="ctr"/>
          <a:lstStyle>
            <a:defPPr>
              <a:defRPr lang="ko-KR"/>
            </a:defPPr>
            <a:lvl1pPr eaLnBrk="0" fontAlgn="base" hangingPunct="0">
              <a:spcBef>
                <a:spcPct val="0"/>
              </a:spcBef>
              <a:spcAft>
                <a:spcPct val="0"/>
              </a:spcAft>
              <a:defRPr kumimoji="1" sz="800" b="1" kern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defRPr>
            </a:lvl1pPr>
            <a:lvl2pPr algn="ctr" eaLnBrk="0" fontAlgn="base" hangingPunct="0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2pPr>
            <a:lvl3pPr algn="ctr" eaLnBrk="0" fontAlgn="base" hangingPunct="0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3pPr>
            <a:lvl4pPr algn="ctr" eaLnBrk="0" fontAlgn="base" hangingPunct="0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4pPr>
            <a:lvl5pPr algn="ctr" eaLnBrk="0" fontAlgn="base" hangingPunct="0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5pPr>
            <a:lvl6pPr marL="457212" algn="ctr" fontAlgn="base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6pPr>
            <a:lvl7pPr marL="914423" algn="ctr" fontAlgn="base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7pPr>
            <a:lvl8pPr marL="1371634" algn="ctr" fontAlgn="base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8pPr>
            <a:lvl9pPr marL="1828846" algn="ctr" fontAlgn="base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r>
              <a:rPr lang="en-US" altLang="ko-KR"/>
              <a:t>LFmall &gt; </a:t>
            </a:r>
            <a:r>
              <a:rPr lang="ko-KR" altLang="en-US"/>
              <a:t>마이페이지</a:t>
            </a:r>
          </a:p>
        </p:txBody>
      </p:sp>
      <p:sp>
        <p:nvSpPr>
          <p:cNvPr id="201" name="제목 1">
            <a:extLst>
              <a:ext uri="{FF2B5EF4-FFF2-40B4-BE49-F238E27FC236}">
                <a16:creationId xmlns:a16="http://schemas.microsoft.com/office/drawing/2014/main" xmlns="" id="{E2CFB5AD-2840-4821-B288-2284D6C0A05E}"/>
              </a:ext>
            </a:extLst>
          </p:cNvPr>
          <p:cNvSpPr txBox="1">
            <a:spLocks/>
          </p:cNvSpPr>
          <p:nvPr/>
        </p:nvSpPr>
        <p:spPr>
          <a:xfrm>
            <a:off x="3383718" y="358660"/>
            <a:ext cx="4320000" cy="216000"/>
          </a:xfrm>
          <a:prstGeom prst="rect">
            <a:avLst/>
          </a:prstGeom>
        </p:spPr>
        <p:txBody>
          <a:bodyPr lIns="180000" tIns="36000" rIns="180000" bIns="36000" anchor="ctr"/>
          <a:lstStyle>
            <a:lvl1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2pPr>
            <a:lvl3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3pPr>
            <a:lvl4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4pPr>
            <a:lvl5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5pPr>
            <a:lvl6pPr marL="457212" algn="ctr" rtl="0" fontAlgn="base" latinLnBrk="1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6pPr>
            <a:lvl7pPr marL="914423" algn="ctr" rtl="0" fontAlgn="base" latinLnBrk="1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7pPr>
            <a:lvl8pPr marL="1371634" algn="ctr" rtl="0" fontAlgn="base" latinLnBrk="1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8pPr>
            <a:lvl9pPr marL="1828846" algn="ctr" rtl="0" fontAlgn="base" latinLnBrk="1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l"/>
            <a:endParaRPr lang="ko-KR" altLang="en-US" sz="800" kern="0" dirty="0">
              <a:solidFill>
                <a:prstClr val="black">
                  <a:lumMod val="75000"/>
                  <a:lumOff val="25000"/>
                </a:prst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354" name="직사각형 353">
            <a:extLst>
              <a:ext uri="{FF2B5EF4-FFF2-40B4-BE49-F238E27FC236}">
                <a16:creationId xmlns:a16="http://schemas.microsoft.com/office/drawing/2014/main" xmlns="" id="{8392E679-C745-496E-8916-C656AE57791E}"/>
              </a:ext>
            </a:extLst>
          </p:cNvPr>
          <p:cNvSpPr/>
          <p:nvPr/>
        </p:nvSpPr>
        <p:spPr>
          <a:xfrm>
            <a:off x="145179" y="1069666"/>
            <a:ext cx="2880000" cy="72000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 dirty="0">
              <a:solidFill>
                <a:prstClr val="black">
                  <a:lumMod val="75000"/>
                  <a:lumOff val="25000"/>
                </a:prst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345" name="직사각형 344">
            <a:extLst>
              <a:ext uri="{FF2B5EF4-FFF2-40B4-BE49-F238E27FC236}">
                <a16:creationId xmlns="" xmlns:a16="http://schemas.microsoft.com/office/drawing/2014/main" id="{19FD5FA0-B111-4EF7-BC86-418441928DD3}"/>
              </a:ext>
            </a:extLst>
          </p:cNvPr>
          <p:cNvSpPr/>
          <p:nvPr/>
        </p:nvSpPr>
        <p:spPr>
          <a:xfrm>
            <a:off x="145179" y="709700"/>
            <a:ext cx="2880000" cy="360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>
              <a:solidFill>
                <a:prstClr val="black">
                  <a:lumMod val="75000"/>
                  <a:lumOff val="25000"/>
                </a:prstClr>
              </a:solidFill>
              <a:latin typeface="맑은 고딕" panose="020B0503020000020004" pitchFamily="50" charset="-127"/>
            </a:endParaRPr>
          </a:p>
        </p:txBody>
      </p:sp>
      <p:grpSp>
        <p:nvGrpSpPr>
          <p:cNvPr id="455" name="그룹 454"/>
          <p:cNvGrpSpPr/>
          <p:nvPr/>
        </p:nvGrpSpPr>
        <p:grpSpPr>
          <a:xfrm>
            <a:off x="2341446" y="799700"/>
            <a:ext cx="180000" cy="180000"/>
            <a:chOff x="1007189" y="1604594"/>
            <a:chExt cx="180000" cy="180000"/>
          </a:xfrm>
        </p:grpSpPr>
        <p:sp>
          <p:nvSpPr>
            <p:cNvPr id="483" name="직사각형 482"/>
            <p:cNvSpPr/>
            <p:nvPr/>
          </p:nvSpPr>
          <p:spPr>
            <a:xfrm>
              <a:off x="1007189" y="1604594"/>
              <a:ext cx="180000" cy="180000"/>
            </a:xfrm>
            <a:prstGeom prst="rect">
              <a:avLst/>
            </a:prstGeom>
            <a:no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800"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</a:endParaRPr>
            </a:p>
          </p:txBody>
        </p:sp>
        <p:grpSp>
          <p:nvGrpSpPr>
            <p:cNvPr id="487" name="그룹 486"/>
            <p:cNvGrpSpPr/>
            <p:nvPr/>
          </p:nvGrpSpPr>
          <p:grpSpPr>
            <a:xfrm>
              <a:off x="1007190" y="1604594"/>
              <a:ext cx="179999" cy="180000"/>
              <a:chOff x="774028" y="1604594"/>
              <a:chExt cx="179999" cy="180000"/>
            </a:xfrm>
          </p:grpSpPr>
          <p:sp>
            <p:nvSpPr>
              <p:cNvPr id="488" name="타원 487"/>
              <p:cNvSpPr/>
              <p:nvPr/>
            </p:nvSpPr>
            <p:spPr>
              <a:xfrm>
                <a:off x="774028" y="1604594"/>
                <a:ext cx="126000" cy="126000"/>
              </a:xfrm>
              <a:prstGeom prst="ellipse">
                <a:avLst/>
              </a:prstGeom>
              <a:noFill/>
              <a:ln w="9525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800">
                  <a:solidFill>
                    <a:prstClr val="black">
                      <a:lumMod val="75000"/>
                      <a:lumOff val="25000"/>
                    </a:prstClr>
                  </a:solidFill>
                  <a:latin typeface="맑은 고딕" panose="020B0503020000020004" pitchFamily="50" charset="-127"/>
                </a:endParaRPr>
              </a:p>
            </p:txBody>
          </p:sp>
          <p:cxnSp>
            <p:nvCxnSpPr>
              <p:cNvPr id="490" name="직선 연결선 489"/>
              <p:cNvCxnSpPr/>
              <p:nvPr/>
            </p:nvCxnSpPr>
            <p:spPr>
              <a:xfrm>
                <a:off x="900027" y="1730594"/>
                <a:ext cx="54000" cy="54000"/>
              </a:xfrm>
              <a:prstGeom prst="line">
                <a:avLst/>
              </a:prstGeom>
              <a:solidFill>
                <a:schemeClr val="bg1"/>
              </a:solidFill>
              <a:ln w="9525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</p:grpSp>
      <p:grpSp>
        <p:nvGrpSpPr>
          <p:cNvPr id="456" name="그룹 455"/>
          <p:cNvGrpSpPr/>
          <p:nvPr/>
        </p:nvGrpSpPr>
        <p:grpSpPr>
          <a:xfrm>
            <a:off x="2664984" y="799700"/>
            <a:ext cx="180000" cy="180000"/>
            <a:chOff x="3342086" y="1590527"/>
            <a:chExt cx="180000" cy="180000"/>
          </a:xfrm>
        </p:grpSpPr>
        <p:sp>
          <p:nvSpPr>
            <p:cNvPr id="458" name="직사각형 457"/>
            <p:cNvSpPr/>
            <p:nvPr/>
          </p:nvSpPr>
          <p:spPr>
            <a:xfrm>
              <a:off x="3342086" y="1590527"/>
              <a:ext cx="180000" cy="180000"/>
            </a:xfrm>
            <a:prstGeom prst="rect">
              <a:avLst/>
            </a:prstGeom>
            <a:no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800"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459" name="사다리꼴 458"/>
            <p:cNvSpPr/>
            <p:nvPr/>
          </p:nvSpPr>
          <p:spPr>
            <a:xfrm>
              <a:off x="3359831" y="1633195"/>
              <a:ext cx="144000" cy="126000"/>
            </a:xfrm>
            <a:prstGeom prst="trapezoid">
              <a:avLst>
                <a:gd name="adj" fmla="val 8369"/>
              </a:avLst>
            </a:prstGeom>
            <a:noFill/>
            <a:ln w="952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800"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460" name="양쪽 모서리가 둥근 사각형 459"/>
            <p:cNvSpPr/>
            <p:nvPr/>
          </p:nvSpPr>
          <p:spPr>
            <a:xfrm>
              <a:off x="3395831" y="1601860"/>
              <a:ext cx="72000" cy="72000"/>
            </a:xfrm>
            <a:prstGeom prst="round2SameRect">
              <a:avLst>
                <a:gd name="adj1" fmla="val 50000"/>
                <a:gd name="adj2" fmla="val 0"/>
              </a:avLst>
            </a:prstGeom>
            <a:noFill/>
            <a:ln w="952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800"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</a:endParaRPr>
            </a:p>
          </p:txBody>
        </p:sp>
        <p:grpSp>
          <p:nvGrpSpPr>
            <p:cNvPr id="473" name="그룹 472"/>
            <p:cNvGrpSpPr/>
            <p:nvPr/>
          </p:nvGrpSpPr>
          <p:grpSpPr>
            <a:xfrm>
              <a:off x="3386831" y="1626527"/>
              <a:ext cx="90000" cy="66383"/>
              <a:chOff x="3386831" y="1626527"/>
              <a:chExt cx="90000" cy="66383"/>
            </a:xfrm>
          </p:grpSpPr>
          <p:sp>
            <p:nvSpPr>
              <p:cNvPr id="479" name="직사각형 478"/>
              <p:cNvSpPr/>
              <p:nvPr/>
            </p:nvSpPr>
            <p:spPr>
              <a:xfrm>
                <a:off x="3423086" y="1626527"/>
                <a:ext cx="18000" cy="36000"/>
              </a:xfrm>
              <a:prstGeom prst="rect">
                <a:avLst/>
              </a:prstGeom>
              <a:solidFill>
                <a:schemeClr val="bg1"/>
              </a:solidFill>
              <a:ln w="31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800">
                  <a:solidFill>
                    <a:prstClr val="black">
                      <a:lumMod val="75000"/>
                      <a:lumOff val="25000"/>
                    </a:prstClr>
                  </a:solidFill>
                  <a:latin typeface="맑은 고딕" panose="020B0503020000020004" pitchFamily="50" charset="-127"/>
                </a:endParaRPr>
              </a:p>
            </p:txBody>
          </p:sp>
          <p:sp>
            <p:nvSpPr>
              <p:cNvPr id="480" name="직사각형 479"/>
              <p:cNvSpPr/>
              <p:nvPr/>
            </p:nvSpPr>
            <p:spPr>
              <a:xfrm>
                <a:off x="3386831" y="1656910"/>
                <a:ext cx="90000" cy="36000"/>
              </a:xfrm>
              <a:prstGeom prst="rect">
                <a:avLst/>
              </a:prstGeom>
              <a:solidFill>
                <a:schemeClr val="bg1"/>
              </a:solidFill>
              <a:ln w="31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800">
                  <a:solidFill>
                    <a:prstClr val="black">
                      <a:lumMod val="75000"/>
                      <a:lumOff val="25000"/>
                    </a:prstClr>
                  </a:solidFill>
                  <a:latin typeface="맑은 고딕" panose="020B0503020000020004" pitchFamily="50" charset="-127"/>
                </a:endParaRPr>
              </a:p>
            </p:txBody>
          </p:sp>
        </p:grpSp>
      </p:grpSp>
      <p:sp>
        <p:nvSpPr>
          <p:cNvPr id="457" name="타원 456"/>
          <p:cNvSpPr/>
          <p:nvPr/>
        </p:nvSpPr>
        <p:spPr>
          <a:xfrm>
            <a:off x="2773179" y="835700"/>
            <a:ext cx="108000" cy="108000"/>
          </a:xfrm>
          <a:prstGeom prst="ellipse">
            <a:avLst/>
          </a:prstGeom>
          <a:solidFill>
            <a:srgbClr val="DC2832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600" b="1" smtClean="0">
                <a:solidFill>
                  <a:prstClr val="white"/>
                </a:solidFill>
                <a:latin typeface="맑은 고딕" panose="020B0503020000020004" pitchFamily="50" charset="-127"/>
              </a:rPr>
              <a:t>7</a:t>
            </a:r>
            <a:endParaRPr lang="ko-KR" altLang="en-US" sz="600" b="1">
              <a:solidFill>
                <a:prstClr val="white"/>
              </a:solidFill>
              <a:latin typeface="맑은 고딕" panose="020B0503020000020004" pitchFamily="50" charset="-127"/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xmlns="" id="{0C96C875-C47F-4F5B-B4C1-F9D666A7BD9D}"/>
              </a:ext>
            </a:extLst>
          </p:cNvPr>
          <p:cNvSpPr txBox="1"/>
          <p:nvPr/>
        </p:nvSpPr>
        <p:spPr>
          <a:xfrm>
            <a:off x="2306059" y="1231151"/>
            <a:ext cx="511926" cy="180425"/>
          </a:xfrm>
          <a:prstGeom prst="rect">
            <a:avLst/>
          </a:prstGeom>
          <a:noFill/>
          <a:ln w="317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36000" tIns="36000" rIns="36000" bIns="36000" numCol="1" rtlCol="0" anchor="ctr" anchorCtr="0" compatLnSpc="1">
            <a:prstTxWarp prst="textNoShape">
              <a:avLst/>
            </a:prstTxWarp>
            <a:spAutoFit/>
          </a:bodyPr>
          <a:lstStyle/>
          <a:p>
            <a:pPr algn="r"/>
            <a:r>
              <a:rPr lang="ko-KR" altLang="en-US" sz="7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회원정보</a:t>
            </a:r>
            <a:r>
              <a:rPr lang="en-US" altLang="ko-KR" sz="7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 〉</a:t>
            </a:r>
            <a:endParaRPr lang="ko-KR" altLang="en-US" sz="7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xmlns="" id="{0C96C875-C47F-4F5B-B4C1-F9D666A7BD9D}"/>
              </a:ext>
            </a:extLst>
          </p:cNvPr>
          <p:cNvSpPr txBox="1"/>
          <p:nvPr/>
        </p:nvSpPr>
        <p:spPr>
          <a:xfrm>
            <a:off x="2230717" y="1447028"/>
            <a:ext cx="587268" cy="180425"/>
          </a:xfrm>
          <a:prstGeom prst="rect">
            <a:avLst/>
          </a:prstGeom>
          <a:noFill/>
          <a:ln w="317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36000" tIns="36000" rIns="36000" bIns="36000" numCol="1" rtlCol="0" anchor="ctr" anchorCtr="0" compatLnSpc="1">
            <a:prstTxWarp prst="textNoShape">
              <a:avLst/>
            </a:prstTxWarp>
            <a:spAutoFit/>
          </a:bodyPr>
          <a:lstStyle/>
          <a:p>
            <a:pPr algn="r"/>
            <a:r>
              <a:rPr lang="en-US" altLang="ko-KR" sz="7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VIP </a:t>
            </a:r>
            <a:r>
              <a:rPr lang="ko-KR" altLang="en-US" sz="7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라운지</a:t>
            </a:r>
            <a:r>
              <a:rPr lang="en-US" altLang="ko-KR" sz="7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 〉</a:t>
            </a:r>
            <a:endParaRPr lang="ko-KR" altLang="en-US" sz="7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</a:endParaRPr>
          </a:p>
        </p:txBody>
      </p:sp>
      <p:cxnSp>
        <p:nvCxnSpPr>
          <p:cNvPr id="57" name="직선 연결선 56">
            <a:extLst>
              <a:ext uri="{FF2B5EF4-FFF2-40B4-BE49-F238E27FC236}">
                <a16:creationId xmlns:a16="http://schemas.microsoft.com/office/drawing/2014/main" xmlns="" id="{6617394B-F1B1-4D43-9D55-8D39C6B40841}"/>
              </a:ext>
            </a:extLst>
          </p:cNvPr>
          <p:cNvCxnSpPr>
            <a:cxnSpLocks/>
          </p:cNvCxnSpPr>
          <p:nvPr/>
        </p:nvCxnSpPr>
        <p:spPr>
          <a:xfrm>
            <a:off x="145179" y="1717363"/>
            <a:ext cx="2880000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직선 연결선 63">
            <a:extLst>
              <a:ext uri="{FF2B5EF4-FFF2-40B4-BE49-F238E27FC236}">
                <a16:creationId xmlns:a16="http://schemas.microsoft.com/office/drawing/2014/main" xmlns="" id="{6617394B-F1B1-4D43-9D55-8D39C6B40841}"/>
              </a:ext>
            </a:extLst>
          </p:cNvPr>
          <p:cNvCxnSpPr>
            <a:cxnSpLocks/>
          </p:cNvCxnSpPr>
          <p:nvPr/>
        </p:nvCxnSpPr>
        <p:spPr>
          <a:xfrm>
            <a:off x="2310022" y="1429363"/>
            <a:ext cx="504000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TextBox 74">
            <a:extLst>
              <a:ext uri="{FF2B5EF4-FFF2-40B4-BE49-F238E27FC236}">
                <a16:creationId xmlns:a16="http://schemas.microsoft.com/office/drawing/2014/main" xmlns="" id="{0C96C875-C47F-4F5B-B4C1-F9D666A7BD9D}"/>
              </a:ext>
            </a:extLst>
          </p:cNvPr>
          <p:cNvSpPr txBox="1"/>
          <p:nvPr/>
        </p:nvSpPr>
        <p:spPr>
          <a:xfrm>
            <a:off x="397625" y="1814576"/>
            <a:ext cx="483072" cy="380480"/>
          </a:xfrm>
          <a:prstGeom prst="rect">
            <a:avLst/>
          </a:prstGeom>
          <a:noFill/>
          <a:ln w="317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36000" tIns="36000" rIns="36000" bIns="36000" numCol="1" rtlCol="0" anchor="ctr" anchorCtr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ko-KR" altLang="en-US" sz="8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보유쿠폰</a:t>
            </a:r>
            <a:endParaRPr lang="en-US" altLang="ko-KR" sz="800" smtClean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</a:endParaRPr>
          </a:p>
          <a:p>
            <a:pPr algn="ctr">
              <a:lnSpc>
                <a:spcPct val="150000"/>
              </a:lnSpc>
            </a:pPr>
            <a:r>
              <a:rPr lang="en-US" altLang="ko-KR" sz="800" b="1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22</a:t>
            </a:r>
            <a:endParaRPr lang="ko-KR" altLang="en-US" sz="800" b="1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xmlns="" id="{0C96C875-C47F-4F5B-B4C1-F9D666A7BD9D}"/>
              </a:ext>
            </a:extLst>
          </p:cNvPr>
          <p:cNvSpPr txBox="1"/>
          <p:nvPr/>
        </p:nvSpPr>
        <p:spPr>
          <a:xfrm>
            <a:off x="1027880" y="1753021"/>
            <a:ext cx="483072" cy="503590"/>
          </a:xfrm>
          <a:prstGeom prst="rect">
            <a:avLst/>
          </a:prstGeom>
          <a:noFill/>
          <a:ln w="317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36000" tIns="36000" rIns="36000" bIns="36000" numCol="1" rtlCol="0" anchor="ctr" anchorCtr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altLang="ko-KR" sz="8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e</a:t>
            </a:r>
            <a:r>
              <a:rPr lang="ko-KR" altLang="en-US" sz="8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기프트</a:t>
            </a:r>
            <a:endParaRPr lang="en-US" altLang="ko-KR" sz="800" smtClean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</a:endParaRPr>
          </a:p>
          <a:p>
            <a:pPr algn="ctr"/>
            <a:r>
              <a:rPr lang="ko-KR" altLang="en-US" sz="8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마일리지</a:t>
            </a:r>
            <a:endParaRPr lang="en-US" altLang="ko-KR" sz="800" smtClean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</a:endParaRPr>
          </a:p>
          <a:p>
            <a:pPr algn="ctr">
              <a:lnSpc>
                <a:spcPct val="150000"/>
              </a:lnSpc>
            </a:pPr>
            <a:r>
              <a:rPr lang="en-US" altLang="ko-KR" sz="800" b="1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0</a:t>
            </a:r>
            <a:endParaRPr lang="ko-KR" altLang="en-US" sz="800" b="1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xmlns="" id="{0C96C875-C47F-4F5B-B4C1-F9D666A7BD9D}"/>
              </a:ext>
            </a:extLst>
          </p:cNvPr>
          <p:cNvSpPr txBox="1"/>
          <p:nvPr/>
        </p:nvSpPr>
        <p:spPr>
          <a:xfrm>
            <a:off x="1658135" y="1814576"/>
            <a:ext cx="483072" cy="380480"/>
          </a:xfrm>
          <a:prstGeom prst="rect">
            <a:avLst/>
          </a:prstGeom>
          <a:noFill/>
          <a:ln w="317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36000" tIns="36000" rIns="36000" bIns="36000" numCol="1" rtlCol="0" anchor="ctr" anchorCtr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ko-KR" altLang="en-US" sz="8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마일리지</a:t>
            </a:r>
            <a:endParaRPr lang="en-US" altLang="ko-KR" sz="800" smtClean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</a:endParaRPr>
          </a:p>
          <a:p>
            <a:pPr algn="ctr">
              <a:lnSpc>
                <a:spcPct val="150000"/>
              </a:lnSpc>
            </a:pPr>
            <a:r>
              <a:rPr lang="en-US" altLang="ko-KR" sz="800" b="1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12,340</a:t>
            </a:r>
            <a:endParaRPr lang="ko-KR" altLang="en-US" sz="800" b="1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xmlns="" id="{0C96C875-C47F-4F5B-B4C1-F9D666A7BD9D}"/>
              </a:ext>
            </a:extLst>
          </p:cNvPr>
          <p:cNvSpPr txBox="1"/>
          <p:nvPr/>
        </p:nvSpPr>
        <p:spPr>
          <a:xfrm>
            <a:off x="2288391" y="1826470"/>
            <a:ext cx="483072" cy="356692"/>
          </a:xfrm>
          <a:prstGeom prst="rect">
            <a:avLst/>
          </a:prstGeom>
          <a:noFill/>
          <a:ln w="317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36000" tIns="36000" rIns="36000" bIns="36000" numCol="1" rtlCol="0" anchor="ctr" anchorCtr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ko-KR" altLang="en-US" sz="8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엘리워드</a:t>
            </a:r>
            <a:endParaRPr lang="en-US" altLang="ko-KR" sz="800">
              <a:solidFill>
                <a:srgbClr val="C00000"/>
              </a:solidFill>
              <a:latin typeface="맑은 고딕" panose="020B0503020000020004" pitchFamily="50" charset="-127"/>
            </a:endParaRPr>
          </a:p>
          <a:p>
            <a:pPr algn="ctr">
              <a:lnSpc>
                <a:spcPct val="150000"/>
              </a:lnSpc>
            </a:pPr>
            <a:r>
              <a:rPr lang="en-US" altLang="ko-KR" sz="800" b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0</a:t>
            </a:r>
            <a:endParaRPr lang="ko-KR" altLang="en-US" sz="800" b="1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318" name="제목 1">
            <a:extLst>
              <a:ext uri="{FF2B5EF4-FFF2-40B4-BE49-F238E27FC236}">
                <a16:creationId xmlns:a16="http://schemas.microsoft.com/office/drawing/2014/main" xmlns="" id="{03F65532-A01C-4981-B987-5E15F64E3ABB}"/>
              </a:ext>
            </a:extLst>
          </p:cNvPr>
          <p:cNvSpPr txBox="1">
            <a:spLocks/>
          </p:cNvSpPr>
          <p:nvPr/>
        </p:nvSpPr>
        <p:spPr>
          <a:xfrm>
            <a:off x="3383718" y="362771"/>
            <a:ext cx="4320000" cy="216000"/>
          </a:xfrm>
          <a:prstGeom prst="rect">
            <a:avLst/>
          </a:prstGeom>
        </p:spPr>
        <p:txBody>
          <a:bodyPr lIns="180000" tIns="36000" rIns="180000" bIns="36000" anchor="ctr"/>
          <a:lstStyle>
            <a:lvl1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2pPr>
            <a:lvl3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3pPr>
            <a:lvl4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4pPr>
            <a:lvl5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5pPr>
            <a:lvl6pPr marL="457212" algn="ctr" rtl="0" fontAlgn="base" latinLnBrk="1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6pPr>
            <a:lvl7pPr marL="914423" algn="ctr" rtl="0" fontAlgn="base" latinLnBrk="1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7pPr>
            <a:lvl8pPr marL="1371634" algn="ctr" rtl="0" fontAlgn="base" latinLnBrk="1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8pPr>
            <a:lvl9pPr marL="1828846" algn="ctr" rtl="0" fontAlgn="base" latinLnBrk="1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l"/>
            <a:r>
              <a:rPr lang="en-US" altLang="ko-KR" sz="800" kern="0"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</a:rPr>
              <a:t>https://m.lfmall.co.kr/app/mypage</a:t>
            </a:r>
            <a:endParaRPr lang="ko-KR" altLang="en-US" sz="800" kern="0">
              <a:solidFill>
                <a:prstClr val="black">
                  <a:lumMod val="75000"/>
                  <a:lumOff val="25000"/>
                </a:prst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147" name="제목 1">
            <a:extLst>
              <a:ext uri="{FF2B5EF4-FFF2-40B4-BE49-F238E27FC236}">
                <a16:creationId xmlns:a16="http://schemas.microsoft.com/office/drawing/2014/main" xmlns="" id="{03F65532-A01C-4981-B987-5E15F64E3ABB}"/>
              </a:ext>
            </a:extLst>
          </p:cNvPr>
          <p:cNvSpPr txBox="1">
            <a:spLocks/>
          </p:cNvSpPr>
          <p:nvPr/>
        </p:nvSpPr>
        <p:spPr>
          <a:xfrm>
            <a:off x="8783530" y="142660"/>
            <a:ext cx="1079290" cy="432000"/>
          </a:xfrm>
          <a:prstGeom prst="rect">
            <a:avLst/>
          </a:prstGeom>
        </p:spPr>
        <p:txBody>
          <a:bodyPr lIns="180000" tIns="36000" rIns="180000" bIns="36000" anchor="ctr"/>
          <a:lstStyle>
            <a:lvl1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2pPr>
            <a:lvl3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3pPr>
            <a:lvl4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4pPr>
            <a:lvl5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5pPr>
            <a:lvl6pPr marL="457212" algn="ctr" rtl="0" fontAlgn="base" latinLnBrk="1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6pPr>
            <a:lvl7pPr marL="914423" algn="ctr" rtl="0" fontAlgn="base" latinLnBrk="1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7pPr>
            <a:lvl8pPr marL="1371634" algn="ctr" rtl="0" fontAlgn="base" latinLnBrk="1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8pPr>
            <a:lvl9pPr marL="1828846" algn="ctr" rtl="0" fontAlgn="base" latinLnBrk="1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r>
              <a:rPr lang="ko-KR" altLang="en-US" sz="800" kern="0" smtClean="0"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</a:rPr>
              <a:t>최범열</a:t>
            </a:r>
            <a:endParaRPr lang="ko-KR" altLang="en-US" sz="800" kern="0">
              <a:solidFill>
                <a:prstClr val="black">
                  <a:lumMod val="75000"/>
                  <a:lumOff val="25000"/>
                </a:prst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150" name="직사각형 149">
            <a:extLst>
              <a:ext uri="{FF2B5EF4-FFF2-40B4-BE49-F238E27FC236}">
                <a16:creationId xmlns:a16="http://schemas.microsoft.com/office/drawing/2014/main" xmlns="" id="{8392E679-C745-496E-8916-C656AE57791E}"/>
              </a:ext>
            </a:extLst>
          </p:cNvPr>
          <p:cNvSpPr/>
          <p:nvPr/>
        </p:nvSpPr>
        <p:spPr>
          <a:xfrm>
            <a:off x="144958" y="2941258"/>
            <a:ext cx="2880000" cy="72000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 dirty="0">
              <a:solidFill>
                <a:prstClr val="black">
                  <a:lumMod val="75000"/>
                  <a:lumOff val="25000"/>
                </a:prst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151" name="TextBox 150">
            <a:extLst>
              <a:ext uri="{FF2B5EF4-FFF2-40B4-BE49-F238E27FC236}">
                <a16:creationId xmlns:a16="http://schemas.microsoft.com/office/drawing/2014/main" xmlns="" id="{0C96C875-C47F-4F5B-B4C1-F9D666A7BD9D}"/>
              </a:ext>
            </a:extLst>
          </p:cNvPr>
          <p:cNvSpPr txBox="1"/>
          <p:nvPr/>
        </p:nvSpPr>
        <p:spPr>
          <a:xfrm>
            <a:off x="323906" y="3123095"/>
            <a:ext cx="805276" cy="211203"/>
          </a:xfrm>
          <a:prstGeom prst="rect">
            <a:avLst/>
          </a:prstGeom>
          <a:noFill/>
          <a:ln w="317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36000" tIns="36000" rIns="36000" bIns="36000" numCol="1" rtlCol="0" anchor="ctr" anchorCtr="0" compatLnSpc="1">
            <a:prstTxWarp prst="textNoShape">
              <a:avLst/>
            </a:prstTxWarp>
            <a:spAutoFit/>
          </a:bodyPr>
          <a:lstStyle/>
          <a:p>
            <a:r>
              <a:rPr lang="ko-KR" altLang="en-US" sz="9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최근 주문내역</a:t>
            </a:r>
            <a:endParaRPr lang="ko-KR" altLang="en-US" sz="900" b="1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158" name="직사각형 157">
            <a:extLst>
              <a:ext uri="{FF2B5EF4-FFF2-40B4-BE49-F238E27FC236}">
                <a16:creationId xmlns:a16="http://schemas.microsoft.com/office/drawing/2014/main" xmlns="" id="{F9776C3A-3D6C-4965-9DA5-D76F1E6E1639}"/>
              </a:ext>
            </a:extLst>
          </p:cNvPr>
          <p:cNvSpPr/>
          <p:nvPr/>
        </p:nvSpPr>
        <p:spPr>
          <a:xfrm>
            <a:off x="325179" y="3446520"/>
            <a:ext cx="2520000" cy="360000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>
              <a:solidFill>
                <a:prstClr val="black">
                  <a:lumMod val="75000"/>
                  <a:lumOff val="25000"/>
                </a:prst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159" name="TextBox 158">
            <a:extLst>
              <a:ext uri="{FF2B5EF4-FFF2-40B4-BE49-F238E27FC236}">
                <a16:creationId xmlns:a16="http://schemas.microsoft.com/office/drawing/2014/main" xmlns="" id="{0C96C875-C47F-4F5B-B4C1-F9D666A7BD9D}"/>
              </a:ext>
            </a:extLst>
          </p:cNvPr>
          <p:cNvSpPr txBox="1"/>
          <p:nvPr/>
        </p:nvSpPr>
        <p:spPr>
          <a:xfrm>
            <a:off x="325179" y="3528613"/>
            <a:ext cx="628478" cy="195814"/>
          </a:xfrm>
          <a:prstGeom prst="rect">
            <a:avLst/>
          </a:prstGeom>
          <a:noFill/>
          <a:ln w="317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108000" tIns="36000" rIns="108000" bIns="36000" numCol="1" rtlCol="0" anchor="ctr" anchorCtr="0" compatLnSpc="1">
            <a:prstTxWarp prst="textNoShape">
              <a:avLst/>
            </a:prstTxWarp>
            <a:spAutoFit/>
          </a:bodyPr>
          <a:lstStyle/>
          <a:p>
            <a:r>
              <a:rPr lang="ko-KR" altLang="en-US" sz="800" b="1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결제완료</a:t>
            </a:r>
            <a:endParaRPr lang="ko-KR" altLang="en-US" sz="800" b="1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160" name="TextBox 159">
            <a:extLst>
              <a:ext uri="{FF2B5EF4-FFF2-40B4-BE49-F238E27FC236}">
                <a16:creationId xmlns:a16="http://schemas.microsoft.com/office/drawing/2014/main" xmlns="" id="{0C96C875-C47F-4F5B-B4C1-F9D666A7BD9D}"/>
              </a:ext>
            </a:extLst>
          </p:cNvPr>
          <p:cNvSpPr txBox="1"/>
          <p:nvPr/>
        </p:nvSpPr>
        <p:spPr>
          <a:xfrm>
            <a:off x="2564552" y="3520919"/>
            <a:ext cx="280627" cy="211203"/>
          </a:xfrm>
          <a:prstGeom prst="rect">
            <a:avLst/>
          </a:prstGeom>
          <a:noFill/>
          <a:ln w="317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108000" tIns="36000" rIns="108000" bIns="36000" numCol="1" rtlCol="0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altLang="ko-KR" sz="9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〉</a:t>
            </a:r>
            <a:endParaRPr lang="ko-KR" altLang="en-US" sz="900" b="1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154" name="직사각형 153">
            <a:extLst>
              <a:ext uri="{FF2B5EF4-FFF2-40B4-BE49-F238E27FC236}">
                <a16:creationId xmlns:a16="http://schemas.microsoft.com/office/drawing/2014/main" xmlns="" id="{F9776C3A-3D6C-4965-9DA5-D76F1E6E1639}"/>
              </a:ext>
            </a:extLst>
          </p:cNvPr>
          <p:cNvSpPr/>
          <p:nvPr/>
        </p:nvSpPr>
        <p:spPr>
          <a:xfrm>
            <a:off x="325179" y="3806530"/>
            <a:ext cx="2520000" cy="1440000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>
              <a:solidFill>
                <a:prstClr val="black">
                  <a:lumMod val="75000"/>
                  <a:lumOff val="25000"/>
                </a:prst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156" name="직사각형 155">
            <a:extLst>
              <a:ext uri="{FF2B5EF4-FFF2-40B4-BE49-F238E27FC236}">
                <a16:creationId xmlns:a16="http://schemas.microsoft.com/office/drawing/2014/main" xmlns="" id="{8392E679-C745-496E-8916-C656AE57791E}"/>
              </a:ext>
            </a:extLst>
          </p:cNvPr>
          <p:cNvSpPr/>
          <p:nvPr/>
        </p:nvSpPr>
        <p:spPr>
          <a:xfrm>
            <a:off x="397179" y="3878530"/>
            <a:ext cx="540000" cy="720000"/>
          </a:xfrm>
          <a:prstGeom prst="rect">
            <a:avLst/>
          </a:prstGeom>
          <a:pattFill prst="openDmnd">
            <a:fgClr>
              <a:schemeClr val="bg1">
                <a:lumMod val="75000"/>
              </a:schemeClr>
            </a:fgClr>
            <a:bgClr>
              <a:schemeClr val="bg1"/>
            </a:bgClr>
          </a:patt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PROD</a:t>
            </a:r>
          </a:p>
          <a:p>
            <a:pPr algn="ctr"/>
            <a:r>
              <a:rPr lang="en-US" altLang="ko-KR" sz="8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IMG</a:t>
            </a:r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57" name="TextBox 156">
            <a:extLst>
              <a:ext uri="{FF2B5EF4-FFF2-40B4-BE49-F238E27FC236}">
                <a16:creationId xmlns:a16="http://schemas.microsoft.com/office/drawing/2014/main" xmlns="" id="{0C96C875-C47F-4F5B-B4C1-F9D666A7BD9D}"/>
              </a:ext>
            </a:extLst>
          </p:cNvPr>
          <p:cNvSpPr txBox="1"/>
          <p:nvPr/>
        </p:nvSpPr>
        <p:spPr>
          <a:xfrm>
            <a:off x="937061" y="3878530"/>
            <a:ext cx="1836000" cy="557451"/>
          </a:xfrm>
          <a:prstGeom prst="rect">
            <a:avLst/>
          </a:prstGeom>
          <a:noFill/>
          <a:ln w="317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square" lIns="108000" tIns="36000" rIns="108000" bIns="36000" numCol="1" rtlCol="0" anchor="t" anchorCtr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7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HAZZYS</a:t>
            </a:r>
          </a:p>
          <a:p>
            <a:pPr>
              <a:lnSpc>
                <a:spcPct val="150000"/>
              </a:lnSpc>
            </a:pPr>
            <a:r>
              <a:rPr lang="en-US" altLang="ko-KR" sz="700" smtClean="0"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</a:rPr>
              <a:t>[</a:t>
            </a:r>
            <a:r>
              <a:rPr lang="ko-KR" altLang="en-US" sz="700" smtClean="0"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</a:rPr>
              <a:t>시즌오프</a:t>
            </a:r>
            <a:r>
              <a:rPr lang="en-US" altLang="ko-KR" sz="700" smtClean="0"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</a:rPr>
              <a:t>][</a:t>
            </a:r>
            <a:r>
              <a:rPr lang="ko-KR" altLang="en-US" sz="700" smtClean="0"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</a:rPr>
              <a:t>인기급상승</a:t>
            </a:r>
            <a:r>
              <a:rPr lang="en-US" altLang="ko-KR" sz="700" smtClean="0"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</a:rPr>
              <a:t>] </a:t>
            </a:r>
            <a:r>
              <a:rPr lang="ko-KR" altLang="en-US" sz="700" smtClean="0"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</a:rPr>
              <a:t>다이아 패턴 구</a:t>
            </a:r>
            <a:r>
              <a:rPr lang="en-US" altLang="ko-KR" sz="700" smtClean="0"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</a:rPr>
              <a:t>…</a:t>
            </a:r>
          </a:p>
          <a:p>
            <a:pPr>
              <a:lnSpc>
                <a:spcPct val="150000"/>
              </a:lnSpc>
            </a:pPr>
            <a:r>
              <a:rPr lang="ko-KR" altLang="en-US" sz="700">
                <a:solidFill>
                  <a:schemeClr val="tx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</a:rPr>
              <a:t>진한 브라운 </a:t>
            </a:r>
            <a:r>
              <a:rPr lang="en-US" altLang="ko-KR" sz="700">
                <a:solidFill>
                  <a:schemeClr val="tx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</a:rPr>
              <a:t>/ 00S / 1</a:t>
            </a:r>
            <a:r>
              <a:rPr lang="ko-KR" altLang="en-US" sz="700">
                <a:solidFill>
                  <a:schemeClr val="tx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</a:rPr>
              <a:t>개</a:t>
            </a:r>
          </a:p>
        </p:txBody>
      </p:sp>
      <p:sp>
        <p:nvSpPr>
          <p:cNvPr id="162" name="TextBox 161">
            <a:extLst>
              <a:ext uri="{FF2B5EF4-FFF2-40B4-BE49-F238E27FC236}">
                <a16:creationId xmlns="" xmlns:a16="http://schemas.microsoft.com/office/drawing/2014/main" id="{0C96C875-C47F-4F5B-B4C1-F9D666A7BD9D}"/>
              </a:ext>
            </a:extLst>
          </p:cNvPr>
          <p:cNvSpPr txBox="1"/>
          <p:nvPr/>
        </p:nvSpPr>
        <p:spPr>
          <a:xfrm>
            <a:off x="937061" y="4438604"/>
            <a:ext cx="631117" cy="195814"/>
          </a:xfrm>
          <a:prstGeom prst="rect">
            <a:avLst/>
          </a:prstGeom>
          <a:noFill/>
          <a:ln w="317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108000" tIns="36000" rIns="36000" bIns="36000" numCol="1" rtlCol="0" anchor="t" anchorCtr="0" compatLnSpc="1">
            <a:prstTxWarp prst="textNoShape">
              <a:avLst/>
            </a:prstTxWarp>
            <a:spAutoFit/>
          </a:bodyPr>
          <a:lstStyle/>
          <a:p>
            <a:r>
              <a:rPr lang="en-US" altLang="ko-KR" sz="800" b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390,910</a:t>
            </a:r>
            <a:r>
              <a:rPr lang="ko-KR" altLang="en-US" sz="800" b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원</a:t>
            </a:r>
            <a:endParaRPr lang="ko-KR" altLang="en-US" sz="700" b="1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165" name="모서리가 둥근 직사각형 164">
            <a:extLst>
              <a:ext uri="{FF2B5EF4-FFF2-40B4-BE49-F238E27FC236}">
                <a16:creationId xmlns:a16="http://schemas.microsoft.com/office/drawing/2014/main" xmlns="" id="{19FD5FA0-B111-4EF7-BC86-418441928DD3}"/>
              </a:ext>
            </a:extLst>
          </p:cNvPr>
          <p:cNvSpPr/>
          <p:nvPr/>
        </p:nvSpPr>
        <p:spPr>
          <a:xfrm>
            <a:off x="397179" y="4886721"/>
            <a:ext cx="2376000" cy="288000"/>
          </a:xfrm>
          <a:prstGeom prst="roundRect">
            <a:avLst>
              <a:gd name="adj" fmla="val 4777"/>
            </a:avLst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noAutofit/>
          </a:bodyPr>
          <a:lstStyle/>
          <a:p>
            <a:pPr algn="ctr"/>
            <a:r>
              <a:rPr lang="ko-KR" altLang="en-US" sz="700" b="1" smtClean="0"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</a:rPr>
              <a:t>주문취소</a:t>
            </a:r>
            <a:endParaRPr lang="ko-KR" altLang="en-US" sz="700" b="1" dirty="0">
              <a:solidFill>
                <a:prstClr val="black">
                  <a:lumMod val="75000"/>
                  <a:lumOff val="25000"/>
                </a:prst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178" name="직사각형 177">
            <a:extLst>
              <a:ext uri="{FF2B5EF4-FFF2-40B4-BE49-F238E27FC236}">
                <a16:creationId xmlns:a16="http://schemas.microsoft.com/office/drawing/2014/main" xmlns="" id="{F9776C3A-3D6C-4965-9DA5-D76F1E6E1639}"/>
              </a:ext>
            </a:extLst>
          </p:cNvPr>
          <p:cNvSpPr/>
          <p:nvPr/>
        </p:nvSpPr>
        <p:spPr>
          <a:xfrm>
            <a:off x="144958" y="5965700"/>
            <a:ext cx="2880000" cy="432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>
              <a:solidFill>
                <a:prstClr val="black">
                  <a:lumMod val="75000"/>
                  <a:lumOff val="25000"/>
                </a:prstClr>
              </a:solidFill>
              <a:latin typeface="맑은 고딕" panose="020B0503020000020004" pitchFamily="50" charset="-127"/>
            </a:endParaRPr>
          </a:p>
        </p:txBody>
      </p:sp>
      <p:grpSp>
        <p:nvGrpSpPr>
          <p:cNvPr id="179" name="그룹 178"/>
          <p:cNvGrpSpPr/>
          <p:nvPr/>
        </p:nvGrpSpPr>
        <p:grpSpPr>
          <a:xfrm>
            <a:off x="323685" y="6076099"/>
            <a:ext cx="2535420" cy="211203"/>
            <a:chOff x="9080124" y="3123656"/>
            <a:chExt cx="2535420" cy="211203"/>
          </a:xfrm>
        </p:grpSpPr>
        <p:sp>
          <p:nvSpPr>
            <p:cNvPr id="180" name="TextBox 179">
              <a:extLst>
                <a:ext uri="{FF2B5EF4-FFF2-40B4-BE49-F238E27FC236}">
                  <a16:creationId xmlns:a16="http://schemas.microsoft.com/office/drawing/2014/main" xmlns="" id="{0C96C875-C47F-4F5B-B4C1-F9D666A7BD9D}"/>
                </a:ext>
              </a:extLst>
            </p:cNvPr>
            <p:cNvSpPr txBox="1"/>
            <p:nvPr/>
          </p:nvSpPr>
          <p:spPr>
            <a:xfrm>
              <a:off x="9080124" y="3123656"/>
              <a:ext cx="534368" cy="211203"/>
            </a:xfrm>
            <a:prstGeom prst="rect">
              <a:avLst/>
            </a:prstGeom>
            <a:noFill/>
            <a:ln w="3175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none" lIns="36000" tIns="36000" rIns="36000" bIns="36000" numCol="1" rtlCol="0" anchor="ctr" anchorCtr="0" compatLnSpc="1">
              <a:prstTxWarp prst="textNoShape">
                <a:avLst/>
              </a:prstTxWarp>
              <a:spAutoFit/>
            </a:bodyPr>
            <a:lstStyle/>
            <a:p>
              <a:r>
                <a:rPr lang="ko-KR" altLang="en-US" sz="900" b="1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고객센터</a:t>
              </a:r>
            </a:p>
          </p:txBody>
        </p:sp>
        <p:sp>
          <p:nvSpPr>
            <p:cNvPr id="181" name="TextBox 180">
              <a:extLst>
                <a:ext uri="{FF2B5EF4-FFF2-40B4-BE49-F238E27FC236}">
                  <a16:creationId xmlns:a16="http://schemas.microsoft.com/office/drawing/2014/main" xmlns="" id="{0C96C875-C47F-4F5B-B4C1-F9D666A7BD9D}"/>
                </a:ext>
              </a:extLst>
            </p:cNvPr>
            <p:cNvSpPr txBox="1"/>
            <p:nvPr/>
          </p:nvSpPr>
          <p:spPr>
            <a:xfrm>
              <a:off x="11103618" y="3139045"/>
              <a:ext cx="511926" cy="180425"/>
            </a:xfrm>
            <a:prstGeom prst="rect">
              <a:avLst/>
            </a:prstGeom>
            <a:noFill/>
            <a:ln w="3175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none" lIns="36000" tIns="36000" rIns="36000" bIns="36000" numCol="1" rtlCol="0" anchor="ctr" anchorCtr="0" compatLnSpc="1">
              <a:prstTxWarp prst="textNoShape">
                <a:avLst/>
              </a:prstTxWarp>
              <a:spAutoFit/>
            </a:bodyPr>
            <a:lstStyle/>
            <a:p>
              <a:pPr algn="r"/>
              <a:r>
                <a:rPr lang="ko-KR" altLang="en-US" sz="700" smtClean="0">
                  <a:solidFill>
                    <a:srgbClr val="4285F4"/>
                  </a:solidFill>
                  <a:latin typeface="맑은 고딕" panose="020B0503020000020004" pitchFamily="50" charset="-127"/>
                </a:rPr>
                <a:t>바로가기 </a:t>
              </a:r>
              <a:r>
                <a:rPr lang="en-US" altLang="ko-KR" sz="700" smtClean="0">
                  <a:solidFill>
                    <a:srgbClr val="4285F4"/>
                  </a:solidFill>
                  <a:latin typeface="맑은 고딕" panose="020B0503020000020004" pitchFamily="50" charset="-127"/>
                </a:rPr>
                <a:t>〉</a:t>
              </a:r>
              <a:endParaRPr lang="ko-KR" altLang="en-US" sz="700" dirty="0">
                <a:solidFill>
                  <a:srgbClr val="4285F4"/>
                </a:solidFill>
                <a:latin typeface="맑은 고딕" panose="020B0503020000020004" pitchFamily="50" charset="-127"/>
              </a:endParaRPr>
            </a:p>
          </p:txBody>
        </p:sp>
      </p:grpSp>
      <p:sp>
        <p:nvSpPr>
          <p:cNvPr id="177" name="직사각형 176">
            <a:extLst>
              <a:ext uri="{FF2B5EF4-FFF2-40B4-BE49-F238E27FC236}">
                <a16:creationId xmlns:a16="http://schemas.microsoft.com/office/drawing/2014/main" xmlns="" id="{8392E679-C745-496E-8916-C656AE57791E}"/>
              </a:ext>
            </a:extLst>
          </p:cNvPr>
          <p:cNvSpPr/>
          <p:nvPr/>
        </p:nvSpPr>
        <p:spPr>
          <a:xfrm>
            <a:off x="144958" y="5895342"/>
            <a:ext cx="2880000" cy="72000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 dirty="0">
              <a:solidFill>
                <a:prstClr val="black">
                  <a:lumMod val="75000"/>
                  <a:lumOff val="25000"/>
                </a:prst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191" name="직사각형 190">
            <a:extLst>
              <a:ext uri="{FF2B5EF4-FFF2-40B4-BE49-F238E27FC236}">
                <a16:creationId xmlns:a16="http://schemas.microsoft.com/office/drawing/2014/main" xmlns="" id="{8392E679-C745-496E-8916-C656AE57791E}"/>
              </a:ext>
            </a:extLst>
          </p:cNvPr>
          <p:cNvSpPr/>
          <p:nvPr/>
        </p:nvSpPr>
        <p:spPr>
          <a:xfrm>
            <a:off x="144958" y="5391297"/>
            <a:ext cx="2880000" cy="72000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 dirty="0">
              <a:solidFill>
                <a:prstClr val="black">
                  <a:lumMod val="75000"/>
                  <a:lumOff val="25000"/>
                </a:prst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194" name="직사각형 193">
            <a:extLst>
              <a:ext uri="{FF2B5EF4-FFF2-40B4-BE49-F238E27FC236}">
                <a16:creationId xmlns:a16="http://schemas.microsoft.com/office/drawing/2014/main" xmlns="" id="{F9776C3A-3D6C-4965-9DA5-D76F1E6E1639}"/>
              </a:ext>
            </a:extLst>
          </p:cNvPr>
          <p:cNvSpPr/>
          <p:nvPr/>
        </p:nvSpPr>
        <p:spPr>
          <a:xfrm>
            <a:off x="144958" y="5464984"/>
            <a:ext cx="2880000" cy="432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>
              <a:solidFill>
                <a:prstClr val="black">
                  <a:lumMod val="75000"/>
                  <a:lumOff val="25000"/>
                </a:prstClr>
              </a:solidFill>
              <a:latin typeface="맑은 고딕" panose="020B0503020000020004" pitchFamily="50" charset="-127"/>
            </a:endParaRPr>
          </a:p>
        </p:txBody>
      </p:sp>
      <p:grpSp>
        <p:nvGrpSpPr>
          <p:cNvPr id="196" name="그룹 195"/>
          <p:cNvGrpSpPr/>
          <p:nvPr/>
        </p:nvGrpSpPr>
        <p:grpSpPr>
          <a:xfrm>
            <a:off x="323685" y="5575383"/>
            <a:ext cx="2535420" cy="211203"/>
            <a:chOff x="9080124" y="3123656"/>
            <a:chExt cx="2535420" cy="211203"/>
          </a:xfrm>
        </p:grpSpPr>
        <p:sp>
          <p:nvSpPr>
            <p:cNvPr id="197" name="TextBox 196">
              <a:extLst>
                <a:ext uri="{FF2B5EF4-FFF2-40B4-BE49-F238E27FC236}">
                  <a16:creationId xmlns:a16="http://schemas.microsoft.com/office/drawing/2014/main" xmlns="" id="{0C96C875-C47F-4F5B-B4C1-F9D666A7BD9D}"/>
                </a:ext>
              </a:extLst>
            </p:cNvPr>
            <p:cNvSpPr txBox="1"/>
            <p:nvPr/>
          </p:nvSpPr>
          <p:spPr>
            <a:xfrm>
              <a:off x="9080124" y="3123656"/>
              <a:ext cx="1379151" cy="211203"/>
            </a:xfrm>
            <a:prstGeom prst="rect">
              <a:avLst/>
            </a:prstGeom>
            <a:noFill/>
            <a:ln w="3175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none" lIns="36000" tIns="36000" rIns="36000" bIns="36000" numCol="1" rtlCol="0" anchor="ctr" anchorCtr="0" compatLnSpc="1">
              <a:prstTxWarp prst="textNoShape">
                <a:avLst/>
              </a:prstTxWarp>
              <a:spAutoFit/>
            </a:bodyPr>
            <a:lstStyle/>
            <a:p>
              <a:r>
                <a:rPr lang="ko-KR" altLang="en-US" sz="900" b="1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취소</a:t>
              </a:r>
              <a:r>
                <a:rPr lang="en-US" altLang="ko-KR" sz="900" b="1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·</a:t>
              </a:r>
              <a:r>
                <a:rPr lang="ko-KR" altLang="en-US" sz="900" b="1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교환</a:t>
              </a:r>
              <a:r>
                <a:rPr lang="en-US" altLang="ko-KR" sz="900" b="1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·</a:t>
              </a:r>
              <a:r>
                <a:rPr lang="ko-KR" altLang="en-US" sz="900" b="1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반품 신청</a:t>
              </a:r>
              <a:r>
                <a:rPr lang="en-US" altLang="ko-KR" sz="900" b="1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/</a:t>
              </a:r>
              <a:r>
                <a:rPr lang="ko-KR" altLang="en-US" sz="900" b="1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조회</a:t>
              </a:r>
              <a:endParaRPr lang="ko-KR" altLang="en-US" sz="900" b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198" name="TextBox 197">
              <a:extLst>
                <a:ext uri="{FF2B5EF4-FFF2-40B4-BE49-F238E27FC236}">
                  <a16:creationId xmlns:a16="http://schemas.microsoft.com/office/drawing/2014/main" xmlns="" id="{0C96C875-C47F-4F5B-B4C1-F9D666A7BD9D}"/>
                </a:ext>
              </a:extLst>
            </p:cNvPr>
            <p:cNvSpPr txBox="1"/>
            <p:nvPr/>
          </p:nvSpPr>
          <p:spPr>
            <a:xfrm>
              <a:off x="11103618" y="3139045"/>
              <a:ext cx="511926" cy="180425"/>
            </a:xfrm>
            <a:prstGeom prst="rect">
              <a:avLst/>
            </a:prstGeom>
            <a:noFill/>
            <a:ln w="3175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none" lIns="36000" tIns="36000" rIns="36000" bIns="36000" numCol="1" rtlCol="0" anchor="ctr" anchorCtr="0" compatLnSpc="1">
              <a:prstTxWarp prst="textNoShape">
                <a:avLst/>
              </a:prstTxWarp>
              <a:spAutoFit/>
            </a:bodyPr>
            <a:lstStyle/>
            <a:p>
              <a:pPr algn="r"/>
              <a:r>
                <a:rPr lang="ko-KR" altLang="en-US" sz="700" smtClean="0">
                  <a:solidFill>
                    <a:srgbClr val="4285F4"/>
                  </a:solidFill>
                  <a:latin typeface="맑은 고딕" panose="020B0503020000020004" pitchFamily="50" charset="-127"/>
                </a:rPr>
                <a:t>전체보기 </a:t>
              </a:r>
              <a:r>
                <a:rPr lang="en-US" altLang="ko-KR" sz="700" smtClean="0">
                  <a:solidFill>
                    <a:srgbClr val="4285F4"/>
                  </a:solidFill>
                  <a:latin typeface="맑은 고딕" panose="020B0503020000020004" pitchFamily="50" charset="-127"/>
                </a:rPr>
                <a:t>〉</a:t>
              </a:r>
              <a:endParaRPr lang="ko-KR" altLang="en-US" sz="700" dirty="0">
                <a:solidFill>
                  <a:srgbClr val="4285F4"/>
                </a:solidFill>
                <a:latin typeface="맑은 고딕" panose="020B0503020000020004" pitchFamily="50" charset="-127"/>
              </a:endParaRPr>
            </a:p>
          </p:txBody>
        </p:sp>
      </p:grpSp>
      <p:sp>
        <p:nvSpPr>
          <p:cNvPr id="291" name="직사각형 290">
            <a:extLst>
              <a:ext uri="{FF2B5EF4-FFF2-40B4-BE49-F238E27FC236}">
                <a16:creationId xmlns:a16="http://schemas.microsoft.com/office/drawing/2014/main" xmlns="" id="{8392E679-C745-496E-8916-C656AE57791E}"/>
              </a:ext>
            </a:extLst>
          </p:cNvPr>
          <p:cNvSpPr/>
          <p:nvPr/>
        </p:nvSpPr>
        <p:spPr>
          <a:xfrm>
            <a:off x="4823939" y="1069666"/>
            <a:ext cx="2880000" cy="72000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 dirty="0">
              <a:solidFill>
                <a:prstClr val="black">
                  <a:lumMod val="75000"/>
                  <a:lumOff val="25000"/>
                </a:prst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349" name="직사각형 348">
            <a:extLst>
              <a:ext uri="{FF2B5EF4-FFF2-40B4-BE49-F238E27FC236}">
                <a16:creationId xmlns="" xmlns:a16="http://schemas.microsoft.com/office/drawing/2014/main" id="{19FD5FA0-B111-4EF7-BC86-418441928DD3}"/>
              </a:ext>
            </a:extLst>
          </p:cNvPr>
          <p:cNvSpPr/>
          <p:nvPr/>
        </p:nvSpPr>
        <p:spPr>
          <a:xfrm>
            <a:off x="4823939" y="709700"/>
            <a:ext cx="2880000" cy="360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>
              <a:solidFill>
                <a:prstClr val="black">
                  <a:lumMod val="75000"/>
                  <a:lumOff val="25000"/>
                </a:prstClr>
              </a:solidFill>
              <a:latin typeface="맑은 고딕" panose="020B0503020000020004" pitchFamily="50" charset="-127"/>
            </a:endParaRPr>
          </a:p>
        </p:txBody>
      </p:sp>
      <p:grpSp>
        <p:nvGrpSpPr>
          <p:cNvPr id="350" name="그룹 349"/>
          <p:cNvGrpSpPr/>
          <p:nvPr/>
        </p:nvGrpSpPr>
        <p:grpSpPr>
          <a:xfrm>
            <a:off x="7020206" y="799700"/>
            <a:ext cx="180000" cy="180000"/>
            <a:chOff x="1007189" y="1604594"/>
            <a:chExt cx="180000" cy="180000"/>
          </a:xfrm>
        </p:grpSpPr>
        <p:sp>
          <p:nvSpPr>
            <p:cNvPr id="362" name="직사각형 361"/>
            <p:cNvSpPr/>
            <p:nvPr/>
          </p:nvSpPr>
          <p:spPr>
            <a:xfrm>
              <a:off x="1007189" y="1604594"/>
              <a:ext cx="180000" cy="180000"/>
            </a:xfrm>
            <a:prstGeom prst="rect">
              <a:avLst/>
            </a:prstGeom>
            <a:no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800"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</a:endParaRPr>
            </a:p>
          </p:txBody>
        </p:sp>
        <p:grpSp>
          <p:nvGrpSpPr>
            <p:cNvPr id="363" name="그룹 362"/>
            <p:cNvGrpSpPr/>
            <p:nvPr/>
          </p:nvGrpSpPr>
          <p:grpSpPr>
            <a:xfrm>
              <a:off x="1007190" y="1604594"/>
              <a:ext cx="179999" cy="180000"/>
              <a:chOff x="774028" y="1604594"/>
              <a:chExt cx="179999" cy="180000"/>
            </a:xfrm>
          </p:grpSpPr>
          <p:sp>
            <p:nvSpPr>
              <p:cNvPr id="364" name="타원 363"/>
              <p:cNvSpPr/>
              <p:nvPr/>
            </p:nvSpPr>
            <p:spPr>
              <a:xfrm>
                <a:off x="774028" y="1604594"/>
                <a:ext cx="126000" cy="126000"/>
              </a:xfrm>
              <a:prstGeom prst="ellipse">
                <a:avLst/>
              </a:prstGeom>
              <a:noFill/>
              <a:ln w="9525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800">
                  <a:solidFill>
                    <a:prstClr val="black">
                      <a:lumMod val="75000"/>
                      <a:lumOff val="25000"/>
                    </a:prstClr>
                  </a:solidFill>
                  <a:latin typeface="맑은 고딕" panose="020B0503020000020004" pitchFamily="50" charset="-127"/>
                </a:endParaRPr>
              </a:p>
            </p:txBody>
          </p:sp>
          <p:cxnSp>
            <p:nvCxnSpPr>
              <p:cNvPr id="365" name="직선 연결선 364"/>
              <p:cNvCxnSpPr/>
              <p:nvPr/>
            </p:nvCxnSpPr>
            <p:spPr>
              <a:xfrm>
                <a:off x="900027" y="1730594"/>
                <a:ext cx="54000" cy="54000"/>
              </a:xfrm>
              <a:prstGeom prst="line">
                <a:avLst/>
              </a:prstGeom>
              <a:solidFill>
                <a:schemeClr val="bg1"/>
              </a:solidFill>
              <a:ln w="9525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</p:grpSp>
      <p:grpSp>
        <p:nvGrpSpPr>
          <p:cNvPr id="351" name="그룹 350"/>
          <p:cNvGrpSpPr/>
          <p:nvPr/>
        </p:nvGrpSpPr>
        <p:grpSpPr>
          <a:xfrm>
            <a:off x="7343744" y="799700"/>
            <a:ext cx="180000" cy="180000"/>
            <a:chOff x="3342086" y="1590527"/>
            <a:chExt cx="180000" cy="180000"/>
          </a:xfrm>
        </p:grpSpPr>
        <p:sp>
          <p:nvSpPr>
            <p:cNvPr id="356" name="직사각형 355"/>
            <p:cNvSpPr/>
            <p:nvPr/>
          </p:nvSpPr>
          <p:spPr>
            <a:xfrm>
              <a:off x="3342086" y="1590527"/>
              <a:ext cx="180000" cy="180000"/>
            </a:xfrm>
            <a:prstGeom prst="rect">
              <a:avLst/>
            </a:prstGeom>
            <a:no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800"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357" name="사다리꼴 356"/>
            <p:cNvSpPr/>
            <p:nvPr/>
          </p:nvSpPr>
          <p:spPr>
            <a:xfrm>
              <a:off x="3359831" y="1633195"/>
              <a:ext cx="144000" cy="126000"/>
            </a:xfrm>
            <a:prstGeom prst="trapezoid">
              <a:avLst>
                <a:gd name="adj" fmla="val 8369"/>
              </a:avLst>
            </a:prstGeom>
            <a:noFill/>
            <a:ln w="952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800"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358" name="양쪽 모서리가 둥근 사각형 357"/>
            <p:cNvSpPr/>
            <p:nvPr/>
          </p:nvSpPr>
          <p:spPr>
            <a:xfrm>
              <a:off x="3395831" y="1601860"/>
              <a:ext cx="72000" cy="72000"/>
            </a:xfrm>
            <a:prstGeom prst="round2SameRect">
              <a:avLst>
                <a:gd name="adj1" fmla="val 50000"/>
                <a:gd name="adj2" fmla="val 0"/>
              </a:avLst>
            </a:prstGeom>
            <a:noFill/>
            <a:ln w="952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800"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</a:endParaRPr>
            </a:p>
          </p:txBody>
        </p:sp>
        <p:grpSp>
          <p:nvGrpSpPr>
            <p:cNvPr id="359" name="그룹 358"/>
            <p:cNvGrpSpPr/>
            <p:nvPr/>
          </p:nvGrpSpPr>
          <p:grpSpPr>
            <a:xfrm>
              <a:off x="3386831" y="1626527"/>
              <a:ext cx="90000" cy="66383"/>
              <a:chOff x="3386831" y="1626527"/>
              <a:chExt cx="90000" cy="66383"/>
            </a:xfrm>
          </p:grpSpPr>
          <p:sp>
            <p:nvSpPr>
              <p:cNvPr id="360" name="직사각형 359"/>
              <p:cNvSpPr/>
              <p:nvPr/>
            </p:nvSpPr>
            <p:spPr>
              <a:xfrm>
                <a:off x="3423086" y="1626527"/>
                <a:ext cx="18000" cy="36000"/>
              </a:xfrm>
              <a:prstGeom prst="rect">
                <a:avLst/>
              </a:prstGeom>
              <a:solidFill>
                <a:schemeClr val="bg1"/>
              </a:solidFill>
              <a:ln w="31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800">
                  <a:solidFill>
                    <a:prstClr val="black">
                      <a:lumMod val="75000"/>
                      <a:lumOff val="25000"/>
                    </a:prstClr>
                  </a:solidFill>
                  <a:latin typeface="맑은 고딕" panose="020B0503020000020004" pitchFamily="50" charset="-127"/>
                </a:endParaRPr>
              </a:p>
            </p:txBody>
          </p:sp>
          <p:sp>
            <p:nvSpPr>
              <p:cNvPr id="361" name="직사각형 360"/>
              <p:cNvSpPr/>
              <p:nvPr/>
            </p:nvSpPr>
            <p:spPr>
              <a:xfrm>
                <a:off x="3386831" y="1656910"/>
                <a:ext cx="90000" cy="36000"/>
              </a:xfrm>
              <a:prstGeom prst="rect">
                <a:avLst/>
              </a:prstGeom>
              <a:solidFill>
                <a:schemeClr val="bg1"/>
              </a:solidFill>
              <a:ln w="31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800">
                  <a:solidFill>
                    <a:prstClr val="black">
                      <a:lumMod val="75000"/>
                      <a:lumOff val="25000"/>
                    </a:prstClr>
                  </a:solidFill>
                  <a:latin typeface="맑은 고딕" panose="020B0503020000020004" pitchFamily="50" charset="-127"/>
                </a:endParaRPr>
              </a:p>
            </p:txBody>
          </p:sp>
        </p:grpSp>
      </p:grpSp>
      <p:sp>
        <p:nvSpPr>
          <p:cNvPr id="352" name="타원 351"/>
          <p:cNvSpPr/>
          <p:nvPr/>
        </p:nvSpPr>
        <p:spPr>
          <a:xfrm>
            <a:off x="7451939" y="835700"/>
            <a:ext cx="108000" cy="108000"/>
          </a:xfrm>
          <a:prstGeom prst="ellipse">
            <a:avLst/>
          </a:prstGeom>
          <a:solidFill>
            <a:srgbClr val="DC2832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600" b="1" smtClean="0">
                <a:solidFill>
                  <a:prstClr val="white"/>
                </a:solidFill>
                <a:latin typeface="맑은 고딕" panose="020B0503020000020004" pitchFamily="50" charset="-127"/>
              </a:rPr>
              <a:t>7</a:t>
            </a:r>
            <a:endParaRPr lang="ko-KR" altLang="en-US" sz="600" b="1">
              <a:solidFill>
                <a:prstClr val="white"/>
              </a:solidFill>
              <a:latin typeface="맑은 고딕" panose="020B0503020000020004" pitchFamily="50" charset="-127"/>
            </a:endParaRPr>
          </a:p>
        </p:txBody>
      </p:sp>
      <p:cxnSp>
        <p:nvCxnSpPr>
          <p:cNvPr id="298" name="직선 연결선 297">
            <a:extLst>
              <a:ext uri="{FF2B5EF4-FFF2-40B4-BE49-F238E27FC236}">
                <a16:creationId xmlns:a16="http://schemas.microsoft.com/office/drawing/2014/main" xmlns="" id="{6617394B-F1B1-4D43-9D55-8D39C6B40841}"/>
              </a:ext>
            </a:extLst>
          </p:cNvPr>
          <p:cNvCxnSpPr>
            <a:cxnSpLocks/>
          </p:cNvCxnSpPr>
          <p:nvPr/>
        </p:nvCxnSpPr>
        <p:spPr>
          <a:xfrm>
            <a:off x="4823939" y="1717363"/>
            <a:ext cx="2880000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0" name="TextBox 299">
            <a:extLst>
              <a:ext uri="{FF2B5EF4-FFF2-40B4-BE49-F238E27FC236}">
                <a16:creationId xmlns:a16="http://schemas.microsoft.com/office/drawing/2014/main" xmlns="" id="{0C96C875-C47F-4F5B-B4C1-F9D666A7BD9D}"/>
              </a:ext>
            </a:extLst>
          </p:cNvPr>
          <p:cNvSpPr txBox="1"/>
          <p:nvPr/>
        </p:nvSpPr>
        <p:spPr>
          <a:xfrm>
            <a:off x="5076385" y="1814576"/>
            <a:ext cx="483072" cy="380480"/>
          </a:xfrm>
          <a:prstGeom prst="rect">
            <a:avLst/>
          </a:prstGeom>
          <a:noFill/>
          <a:ln w="317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36000" tIns="36000" rIns="36000" bIns="36000" numCol="1" rtlCol="0" anchor="ctr" anchorCtr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ko-KR" altLang="en-US" sz="8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보유쿠폰</a:t>
            </a:r>
            <a:endParaRPr lang="en-US" altLang="ko-KR" sz="800" smtClean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</a:endParaRPr>
          </a:p>
          <a:p>
            <a:pPr algn="ctr">
              <a:lnSpc>
                <a:spcPct val="150000"/>
              </a:lnSpc>
            </a:pPr>
            <a:r>
              <a:rPr lang="en-US" altLang="ko-KR" sz="800" b="1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22</a:t>
            </a:r>
            <a:endParaRPr lang="ko-KR" altLang="en-US" sz="800" b="1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301" name="TextBox 300">
            <a:extLst>
              <a:ext uri="{FF2B5EF4-FFF2-40B4-BE49-F238E27FC236}">
                <a16:creationId xmlns:a16="http://schemas.microsoft.com/office/drawing/2014/main" xmlns="" id="{0C96C875-C47F-4F5B-B4C1-F9D666A7BD9D}"/>
              </a:ext>
            </a:extLst>
          </p:cNvPr>
          <p:cNvSpPr txBox="1"/>
          <p:nvPr/>
        </p:nvSpPr>
        <p:spPr>
          <a:xfrm>
            <a:off x="5706640" y="1753021"/>
            <a:ext cx="483072" cy="503590"/>
          </a:xfrm>
          <a:prstGeom prst="rect">
            <a:avLst/>
          </a:prstGeom>
          <a:noFill/>
          <a:ln w="317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36000" tIns="36000" rIns="36000" bIns="36000" numCol="1" rtlCol="0" anchor="ctr" anchorCtr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altLang="ko-KR" sz="8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e</a:t>
            </a:r>
            <a:r>
              <a:rPr lang="ko-KR" altLang="en-US" sz="8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기프트</a:t>
            </a:r>
            <a:endParaRPr lang="en-US" altLang="ko-KR" sz="800" smtClean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</a:endParaRPr>
          </a:p>
          <a:p>
            <a:pPr algn="ctr"/>
            <a:r>
              <a:rPr lang="ko-KR" altLang="en-US" sz="8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마일리지</a:t>
            </a:r>
            <a:endParaRPr lang="en-US" altLang="ko-KR" sz="800" smtClean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</a:endParaRPr>
          </a:p>
          <a:p>
            <a:pPr algn="ctr">
              <a:lnSpc>
                <a:spcPct val="150000"/>
              </a:lnSpc>
            </a:pPr>
            <a:r>
              <a:rPr lang="en-US" altLang="ko-KR" sz="800" b="1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0</a:t>
            </a:r>
            <a:endParaRPr lang="ko-KR" altLang="en-US" sz="800" b="1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302" name="TextBox 301">
            <a:extLst>
              <a:ext uri="{FF2B5EF4-FFF2-40B4-BE49-F238E27FC236}">
                <a16:creationId xmlns:a16="http://schemas.microsoft.com/office/drawing/2014/main" xmlns="" id="{0C96C875-C47F-4F5B-B4C1-F9D666A7BD9D}"/>
              </a:ext>
            </a:extLst>
          </p:cNvPr>
          <p:cNvSpPr txBox="1"/>
          <p:nvPr/>
        </p:nvSpPr>
        <p:spPr>
          <a:xfrm>
            <a:off x="6336895" y="1814576"/>
            <a:ext cx="483072" cy="380480"/>
          </a:xfrm>
          <a:prstGeom prst="rect">
            <a:avLst/>
          </a:prstGeom>
          <a:noFill/>
          <a:ln w="317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36000" tIns="36000" rIns="36000" bIns="36000" numCol="1" rtlCol="0" anchor="ctr" anchorCtr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ko-KR" altLang="en-US" sz="8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마일리지</a:t>
            </a:r>
            <a:endParaRPr lang="en-US" altLang="ko-KR" sz="800" smtClean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</a:endParaRPr>
          </a:p>
          <a:p>
            <a:pPr algn="ctr">
              <a:lnSpc>
                <a:spcPct val="150000"/>
              </a:lnSpc>
            </a:pPr>
            <a:r>
              <a:rPr lang="en-US" altLang="ko-KR" sz="800" b="1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12,340</a:t>
            </a:r>
            <a:endParaRPr lang="ko-KR" altLang="en-US" sz="800" b="1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332" name="TextBox 331">
            <a:extLst>
              <a:ext uri="{FF2B5EF4-FFF2-40B4-BE49-F238E27FC236}">
                <a16:creationId xmlns:a16="http://schemas.microsoft.com/office/drawing/2014/main" xmlns="" id="{0C96C875-C47F-4F5B-B4C1-F9D666A7BD9D}"/>
              </a:ext>
            </a:extLst>
          </p:cNvPr>
          <p:cNvSpPr txBox="1"/>
          <p:nvPr/>
        </p:nvSpPr>
        <p:spPr>
          <a:xfrm>
            <a:off x="6967150" y="1814576"/>
            <a:ext cx="483073" cy="380480"/>
          </a:xfrm>
          <a:prstGeom prst="rect">
            <a:avLst/>
          </a:prstGeom>
          <a:noFill/>
          <a:ln w="317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36000" tIns="36000" rIns="36000" bIns="36000" numCol="1" rtlCol="0" anchor="ctr" anchorCtr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ko-KR" altLang="en-US" sz="8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엘리워드</a:t>
            </a:r>
            <a:endParaRPr lang="en-US" altLang="ko-KR" sz="800" smtClean="0">
              <a:solidFill>
                <a:srgbClr val="C00000"/>
              </a:solidFill>
              <a:latin typeface="맑은 고딕" panose="020B0503020000020004" pitchFamily="50" charset="-127"/>
            </a:endParaRPr>
          </a:p>
          <a:p>
            <a:pPr algn="ctr">
              <a:lnSpc>
                <a:spcPct val="150000"/>
              </a:lnSpc>
            </a:pPr>
            <a:r>
              <a:rPr lang="en-US" altLang="ko-KR" sz="800" b="1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0</a:t>
            </a:r>
            <a:endParaRPr lang="ko-KR" altLang="en-US" sz="800" b="1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305" name="직사각형 304">
            <a:extLst>
              <a:ext uri="{FF2B5EF4-FFF2-40B4-BE49-F238E27FC236}">
                <a16:creationId xmlns:a16="http://schemas.microsoft.com/office/drawing/2014/main" xmlns="" id="{8392E679-C745-496E-8916-C656AE57791E}"/>
              </a:ext>
            </a:extLst>
          </p:cNvPr>
          <p:cNvSpPr/>
          <p:nvPr/>
        </p:nvSpPr>
        <p:spPr>
          <a:xfrm>
            <a:off x="4823718" y="2941258"/>
            <a:ext cx="2880000" cy="72000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 dirty="0">
              <a:solidFill>
                <a:prstClr val="black">
                  <a:lumMod val="75000"/>
                  <a:lumOff val="25000"/>
                </a:prst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306" name="TextBox 305">
            <a:extLst>
              <a:ext uri="{FF2B5EF4-FFF2-40B4-BE49-F238E27FC236}">
                <a16:creationId xmlns:a16="http://schemas.microsoft.com/office/drawing/2014/main" xmlns="" id="{0C96C875-C47F-4F5B-B4C1-F9D666A7BD9D}"/>
              </a:ext>
            </a:extLst>
          </p:cNvPr>
          <p:cNvSpPr txBox="1"/>
          <p:nvPr/>
        </p:nvSpPr>
        <p:spPr>
          <a:xfrm>
            <a:off x="5002666" y="3123095"/>
            <a:ext cx="805276" cy="211203"/>
          </a:xfrm>
          <a:prstGeom prst="rect">
            <a:avLst/>
          </a:prstGeom>
          <a:noFill/>
          <a:ln w="317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36000" tIns="36000" rIns="36000" bIns="36000" numCol="1" rtlCol="0" anchor="ctr" anchorCtr="0" compatLnSpc="1">
            <a:prstTxWarp prst="textNoShape">
              <a:avLst/>
            </a:prstTxWarp>
            <a:spAutoFit/>
          </a:bodyPr>
          <a:lstStyle/>
          <a:p>
            <a:r>
              <a:rPr lang="ko-KR" altLang="en-US" sz="9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최근 주문내역</a:t>
            </a:r>
            <a:endParaRPr lang="ko-KR" altLang="en-US" sz="900" b="1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</a:endParaRPr>
          </a:p>
        </p:txBody>
      </p:sp>
      <p:grpSp>
        <p:nvGrpSpPr>
          <p:cNvPr id="307" name="그룹 306"/>
          <p:cNvGrpSpPr/>
          <p:nvPr/>
        </p:nvGrpSpPr>
        <p:grpSpPr>
          <a:xfrm>
            <a:off x="5003939" y="3446520"/>
            <a:ext cx="2520000" cy="360000"/>
            <a:chOff x="325179" y="5529946"/>
            <a:chExt cx="2520000" cy="360000"/>
          </a:xfrm>
        </p:grpSpPr>
        <p:sp>
          <p:nvSpPr>
            <p:cNvPr id="327" name="직사각형 326">
              <a:extLst>
                <a:ext uri="{FF2B5EF4-FFF2-40B4-BE49-F238E27FC236}">
                  <a16:creationId xmlns:a16="http://schemas.microsoft.com/office/drawing/2014/main" xmlns="" id="{F9776C3A-3D6C-4965-9DA5-D76F1E6E1639}"/>
                </a:ext>
              </a:extLst>
            </p:cNvPr>
            <p:cNvSpPr/>
            <p:nvPr/>
          </p:nvSpPr>
          <p:spPr>
            <a:xfrm>
              <a:off x="325179" y="5529946"/>
              <a:ext cx="2520000" cy="360000"/>
            </a:xfrm>
            <a:prstGeom prst="rect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800"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328" name="TextBox 327">
              <a:extLst>
                <a:ext uri="{FF2B5EF4-FFF2-40B4-BE49-F238E27FC236}">
                  <a16:creationId xmlns:a16="http://schemas.microsoft.com/office/drawing/2014/main" xmlns="" id="{0C96C875-C47F-4F5B-B4C1-F9D666A7BD9D}"/>
                </a:ext>
              </a:extLst>
            </p:cNvPr>
            <p:cNvSpPr txBox="1"/>
            <p:nvPr/>
          </p:nvSpPr>
          <p:spPr>
            <a:xfrm>
              <a:off x="325179" y="5612039"/>
              <a:ext cx="628478" cy="195814"/>
            </a:xfrm>
            <a:prstGeom prst="rect">
              <a:avLst/>
            </a:prstGeom>
            <a:noFill/>
            <a:ln w="3175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none" lIns="108000" tIns="36000" rIns="108000" bIns="36000" numCol="1" rtlCol="0" anchor="ctr" anchorCtr="0" compatLnSpc="1">
              <a:prstTxWarp prst="textNoShape">
                <a:avLst/>
              </a:prstTxWarp>
              <a:spAutoFit/>
            </a:bodyPr>
            <a:lstStyle/>
            <a:p>
              <a:r>
                <a:rPr lang="ko-KR" altLang="en-US" sz="800" b="1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결제완료</a:t>
              </a:r>
              <a:endParaRPr lang="ko-KR" altLang="en-US" sz="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329" name="TextBox 328">
              <a:extLst>
                <a:ext uri="{FF2B5EF4-FFF2-40B4-BE49-F238E27FC236}">
                  <a16:creationId xmlns:a16="http://schemas.microsoft.com/office/drawing/2014/main" xmlns="" id="{0C96C875-C47F-4F5B-B4C1-F9D666A7BD9D}"/>
                </a:ext>
              </a:extLst>
            </p:cNvPr>
            <p:cNvSpPr txBox="1"/>
            <p:nvPr/>
          </p:nvSpPr>
          <p:spPr>
            <a:xfrm>
              <a:off x="2564552" y="5604345"/>
              <a:ext cx="280627" cy="211203"/>
            </a:xfrm>
            <a:prstGeom prst="rect">
              <a:avLst/>
            </a:prstGeom>
            <a:noFill/>
            <a:ln w="3175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none" lIns="108000" tIns="36000" rIns="108000" bIns="36000" numCol="1" rtlCol="0" anchor="ctr" anchorCtr="0" compatLnSpc="1">
              <a:prstTxWarp prst="textNoShape">
                <a:avLst/>
              </a:prstTxWarp>
              <a:spAutoFit/>
            </a:bodyPr>
            <a:lstStyle/>
            <a:p>
              <a:r>
                <a:rPr lang="en-US" altLang="ko-KR" sz="900" b="1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〉</a:t>
              </a:r>
              <a:endParaRPr lang="ko-KR" altLang="en-US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331" name="TextBox 330">
              <a:extLst>
                <a:ext uri="{FF2B5EF4-FFF2-40B4-BE49-F238E27FC236}">
                  <a16:creationId xmlns:a16="http://schemas.microsoft.com/office/drawing/2014/main" xmlns="" id="{0C96C875-C47F-4F5B-B4C1-F9D666A7BD9D}"/>
                </a:ext>
              </a:extLst>
            </p:cNvPr>
            <p:cNvSpPr txBox="1"/>
            <p:nvPr/>
          </p:nvSpPr>
          <p:spPr>
            <a:xfrm>
              <a:off x="955562" y="5619734"/>
              <a:ext cx="987551" cy="180425"/>
            </a:xfrm>
            <a:prstGeom prst="rect">
              <a:avLst/>
            </a:prstGeom>
            <a:noFill/>
            <a:ln w="3175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none" lIns="108000" tIns="36000" rIns="108000" bIns="36000" numCol="1" rtlCol="0" anchor="ctr" anchorCtr="0" compatLnSpc="1">
              <a:prstTxWarp prst="textNoShape">
                <a:avLst/>
              </a:prstTxWarp>
              <a:spAutoFit/>
            </a:bodyPr>
            <a:lstStyle/>
            <a:p>
              <a:r>
                <a:rPr lang="en-US" altLang="ko-KR" sz="700" smtClean="0">
                  <a:solidFill>
                    <a:srgbClr val="DC2832"/>
                  </a:solidFill>
                  <a:latin typeface="맑은 고딕" panose="020B0503020000020004" pitchFamily="50" charset="-127"/>
                </a:rPr>
                <a:t>01/08(</a:t>
              </a:r>
              <a:r>
                <a:rPr lang="ko-KR" altLang="en-US" sz="700" smtClean="0">
                  <a:solidFill>
                    <a:srgbClr val="DC2832"/>
                  </a:solidFill>
                  <a:latin typeface="맑은 고딕" panose="020B0503020000020004" pitchFamily="50" charset="-127"/>
                </a:rPr>
                <a:t>목</a:t>
              </a:r>
              <a:r>
                <a:rPr lang="en-US" altLang="ko-KR" sz="700" smtClean="0">
                  <a:solidFill>
                    <a:srgbClr val="DC2832"/>
                  </a:solidFill>
                  <a:latin typeface="맑은 고딕" panose="020B0503020000020004" pitchFamily="50" charset="-127"/>
                </a:rPr>
                <a:t>)</a:t>
              </a:r>
              <a:r>
                <a:rPr lang="ko-KR" altLang="en-US" sz="70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 도착예정</a:t>
              </a:r>
              <a:endParaRPr lang="ko-KR" altLang="en-US" sz="7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endParaRPr>
            </a:p>
          </p:txBody>
        </p:sp>
      </p:grpSp>
      <p:sp>
        <p:nvSpPr>
          <p:cNvPr id="308" name="직사각형 307">
            <a:extLst>
              <a:ext uri="{FF2B5EF4-FFF2-40B4-BE49-F238E27FC236}">
                <a16:creationId xmlns:a16="http://schemas.microsoft.com/office/drawing/2014/main" xmlns="" id="{F9776C3A-3D6C-4965-9DA5-D76F1E6E1639}"/>
              </a:ext>
            </a:extLst>
          </p:cNvPr>
          <p:cNvSpPr/>
          <p:nvPr/>
        </p:nvSpPr>
        <p:spPr>
          <a:xfrm>
            <a:off x="5003939" y="3806530"/>
            <a:ext cx="2520000" cy="1440000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>
              <a:solidFill>
                <a:prstClr val="black">
                  <a:lumMod val="75000"/>
                  <a:lumOff val="25000"/>
                </a:prst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309" name="직사각형 308">
            <a:extLst>
              <a:ext uri="{FF2B5EF4-FFF2-40B4-BE49-F238E27FC236}">
                <a16:creationId xmlns:a16="http://schemas.microsoft.com/office/drawing/2014/main" xmlns="" id="{8392E679-C745-496E-8916-C656AE57791E}"/>
              </a:ext>
            </a:extLst>
          </p:cNvPr>
          <p:cNvSpPr/>
          <p:nvPr/>
        </p:nvSpPr>
        <p:spPr>
          <a:xfrm>
            <a:off x="5075939" y="3878530"/>
            <a:ext cx="540000" cy="720000"/>
          </a:xfrm>
          <a:prstGeom prst="rect">
            <a:avLst/>
          </a:prstGeom>
          <a:pattFill prst="openDmnd">
            <a:fgClr>
              <a:schemeClr val="bg1">
                <a:lumMod val="75000"/>
              </a:schemeClr>
            </a:fgClr>
            <a:bgClr>
              <a:schemeClr val="bg1"/>
            </a:bgClr>
          </a:patt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PROD</a:t>
            </a:r>
          </a:p>
          <a:p>
            <a:pPr algn="ctr"/>
            <a:r>
              <a:rPr lang="en-US" altLang="ko-KR" sz="8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IMG</a:t>
            </a:r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10" name="TextBox 309">
            <a:extLst>
              <a:ext uri="{FF2B5EF4-FFF2-40B4-BE49-F238E27FC236}">
                <a16:creationId xmlns:a16="http://schemas.microsoft.com/office/drawing/2014/main" xmlns="" id="{0C96C875-C47F-4F5B-B4C1-F9D666A7BD9D}"/>
              </a:ext>
            </a:extLst>
          </p:cNvPr>
          <p:cNvSpPr txBox="1"/>
          <p:nvPr/>
        </p:nvSpPr>
        <p:spPr>
          <a:xfrm>
            <a:off x="5615821" y="3878530"/>
            <a:ext cx="1836000" cy="557451"/>
          </a:xfrm>
          <a:prstGeom prst="rect">
            <a:avLst/>
          </a:prstGeom>
          <a:noFill/>
          <a:ln w="317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square" lIns="108000" tIns="36000" rIns="108000" bIns="36000" numCol="1" rtlCol="0" anchor="t" anchorCtr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7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HAZZYS</a:t>
            </a:r>
          </a:p>
          <a:p>
            <a:pPr>
              <a:lnSpc>
                <a:spcPct val="150000"/>
              </a:lnSpc>
            </a:pPr>
            <a:r>
              <a:rPr lang="en-US" altLang="ko-KR" sz="700" smtClean="0"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</a:rPr>
              <a:t>[</a:t>
            </a:r>
            <a:r>
              <a:rPr lang="ko-KR" altLang="en-US" sz="700" smtClean="0"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</a:rPr>
              <a:t>시즌오프</a:t>
            </a:r>
            <a:r>
              <a:rPr lang="en-US" altLang="ko-KR" sz="700" smtClean="0"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</a:rPr>
              <a:t>][</a:t>
            </a:r>
            <a:r>
              <a:rPr lang="ko-KR" altLang="en-US" sz="700" smtClean="0"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</a:rPr>
              <a:t>인기급상승</a:t>
            </a:r>
            <a:r>
              <a:rPr lang="en-US" altLang="ko-KR" sz="700" smtClean="0"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</a:rPr>
              <a:t>] </a:t>
            </a:r>
            <a:r>
              <a:rPr lang="ko-KR" altLang="en-US" sz="700" smtClean="0"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</a:rPr>
              <a:t>다이아 패턴 구</a:t>
            </a:r>
            <a:r>
              <a:rPr lang="en-US" altLang="ko-KR" sz="700" smtClean="0"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</a:rPr>
              <a:t>…</a:t>
            </a:r>
          </a:p>
          <a:p>
            <a:pPr>
              <a:lnSpc>
                <a:spcPct val="150000"/>
              </a:lnSpc>
            </a:pPr>
            <a:r>
              <a:rPr lang="ko-KR" altLang="en-US" sz="700">
                <a:solidFill>
                  <a:schemeClr val="tx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</a:rPr>
              <a:t>진한 브라운 </a:t>
            </a:r>
            <a:r>
              <a:rPr lang="en-US" altLang="ko-KR" sz="700">
                <a:solidFill>
                  <a:schemeClr val="tx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</a:rPr>
              <a:t>/ 00S / 1</a:t>
            </a:r>
            <a:r>
              <a:rPr lang="ko-KR" altLang="en-US" sz="700">
                <a:solidFill>
                  <a:schemeClr val="tx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</a:rPr>
              <a:t>개</a:t>
            </a:r>
          </a:p>
        </p:txBody>
      </p:sp>
      <p:grpSp>
        <p:nvGrpSpPr>
          <p:cNvPr id="10" name="그룹 9"/>
          <p:cNvGrpSpPr/>
          <p:nvPr/>
        </p:nvGrpSpPr>
        <p:grpSpPr>
          <a:xfrm>
            <a:off x="145179" y="2815326"/>
            <a:ext cx="2880000" cy="108000"/>
            <a:chOff x="145179" y="2816637"/>
            <a:chExt cx="2880000" cy="108000"/>
          </a:xfrm>
        </p:grpSpPr>
        <p:sp>
          <p:nvSpPr>
            <p:cNvPr id="146" name="Fill">
              <a:extLst>
                <a:ext uri="{FF2B5EF4-FFF2-40B4-BE49-F238E27FC236}">
                  <a16:creationId xmlns:a16="http://schemas.microsoft.com/office/drawing/2014/main" xmlns="" id="{037FE56A-459C-4D17-A0B7-95ABD183D048}"/>
                </a:ext>
              </a:extLst>
            </p:cNvPr>
            <p:cNvSpPr>
              <a:spLocks/>
            </p:cNvSpPr>
            <p:nvPr/>
          </p:nvSpPr>
          <p:spPr bwMode="auto">
            <a:xfrm rot="16200000">
              <a:off x="1531179" y="1430637"/>
              <a:ext cx="108000" cy="2880000"/>
            </a:xfrm>
            <a:custGeom>
              <a:avLst/>
              <a:gdLst>
                <a:gd name="T0" fmla="*/ 74 w 151"/>
                <a:gd name="T1" fmla="*/ 588 h 588"/>
                <a:gd name="T2" fmla="*/ 151 w 151"/>
                <a:gd name="T3" fmla="*/ 518 h 588"/>
                <a:gd name="T4" fmla="*/ 74 w 151"/>
                <a:gd name="T5" fmla="*/ 441 h 588"/>
                <a:gd name="T6" fmla="*/ 151 w 151"/>
                <a:gd name="T7" fmla="*/ 375 h 588"/>
                <a:gd name="T8" fmla="*/ 74 w 151"/>
                <a:gd name="T9" fmla="*/ 294 h 588"/>
                <a:gd name="T10" fmla="*/ 151 w 151"/>
                <a:gd name="T11" fmla="*/ 231 h 588"/>
                <a:gd name="T12" fmla="*/ 74 w 151"/>
                <a:gd name="T13" fmla="*/ 147 h 588"/>
                <a:gd name="T14" fmla="*/ 151 w 151"/>
                <a:gd name="T15" fmla="*/ 88 h 588"/>
                <a:gd name="T16" fmla="*/ 74 w 151"/>
                <a:gd name="T17" fmla="*/ 0 h 588"/>
                <a:gd name="T18" fmla="*/ 0 w 151"/>
                <a:gd name="T19" fmla="*/ 0 h 588"/>
                <a:gd name="T20" fmla="*/ 78 w 151"/>
                <a:gd name="T21" fmla="*/ 88 h 588"/>
                <a:gd name="T22" fmla="*/ 0 w 151"/>
                <a:gd name="T23" fmla="*/ 147 h 588"/>
                <a:gd name="T24" fmla="*/ 78 w 151"/>
                <a:gd name="T25" fmla="*/ 231 h 588"/>
                <a:gd name="T26" fmla="*/ 0 w 151"/>
                <a:gd name="T27" fmla="*/ 294 h 588"/>
                <a:gd name="T28" fmla="*/ 78 w 151"/>
                <a:gd name="T29" fmla="*/ 375 h 588"/>
                <a:gd name="T30" fmla="*/ 0 w 151"/>
                <a:gd name="T31" fmla="*/ 441 h 588"/>
                <a:gd name="T32" fmla="*/ 78 w 151"/>
                <a:gd name="T33" fmla="*/ 518 h 588"/>
                <a:gd name="T34" fmla="*/ 0 w 151"/>
                <a:gd name="T35" fmla="*/ 588 h 588"/>
                <a:gd name="T36" fmla="*/ 74 w 151"/>
                <a:gd name="T37" fmla="*/ 588 h 5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51" h="588">
                  <a:moveTo>
                    <a:pt x="74" y="588"/>
                  </a:moveTo>
                  <a:lnTo>
                    <a:pt x="151" y="518"/>
                  </a:lnTo>
                  <a:lnTo>
                    <a:pt x="74" y="441"/>
                  </a:lnTo>
                  <a:lnTo>
                    <a:pt x="151" y="375"/>
                  </a:lnTo>
                  <a:lnTo>
                    <a:pt x="74" y="294"/>
                  </a:lnTo>
                  <a:lnTo>
                    <a:pt x="151" y="231"/>
                  </a:lnTo>
                  <a:lnTo>
                    <a:pt x="74" y="147"/>
                  </a:lnTo>
                  <a:lnTo>
                    <a:pt x="151" y="88"/>
                  </a:lnTo>
                  <a:lnTo>
                    <a:pt x="74" y="0"/>
                  </a:lnTo>
                  <a:lnTo>
                    <a:pt x="0" y="0"/>
                  </a:lnTo>
                  <a:lnTo>
                    <a:pt x="78" y="88"/>
                  </a:lnTo>
                  <a:lnTo>
                    <a:pt x="0" y="147"/>
                  </a:lnTo>
                  <a:lnTo>
                    <a:pt x="78" y="231"/>
                  </a:lnTo>
                  <a:lnTo>
                    <a:pt x="0" y="294"/>
                  </a:lnTo>
                  <a:lnTo>
                    <a:pt x="78" y="375"/>
                  </a:lnTo>
                  <a:lnTo>
                    <a:pt x="0" y="441"/>
                  </a:lnTo>
                  <a:lnTo>
                    <a:pt x="78" y="518"/>
                  </a:lnTo>
                  <a:lnTo>
                    <a:pt x="0" y="588"/>
                  </a:lnTo>
                  <a:lnTo>
                    <a:pt x="74" y="588"/>
                  </a:lnTo>
                  <a:close/>
                </a:path>
              </a:pathLst>
            </a:custGeom>
            <a:solidFill>
              <a:srgbClr val="F79646">
                <a:lumMod val="20000"/>
                <a:lumOff val="80000"/>
              </a:srgbClr>
            </a:solidFill>
            <a:ln w="6350" cap="flat" cmpd="sng" algn="ctr">
              <a:solidFill>
                <a:srgbClr val="F79646">
                  <a:lumMod val="60000"/>
                  <a:lumOff val="40000"/>
                </a:srgbClr>
              </a:solidFill>
              <a:prstDash val="solid"/>
            </a:ln>
            <a:effectLst/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Segoe UI" panose="020B0502040204020203" pitchFamily="34" charset="0"/>
                <a:ea typeface="맑은 고딕"/>
                <a:cs typeface="Segoe UI" panose="020B0502040204020203" pitchFamily="34" charset="0"/>
              </a:endParaRPr>
            </a:p>
          </p:txBody>
        </p:sp>
        <p:sp>
          <p:nvSpPr>
            <p:cNvPr id="148" name="Border">
              <a:extLst>
                <a:ext uri="{FF2B5EF4-FFF2-40B4-BE49-F238E27FC236}">
                  <a16:creationId xmlns:a16="http://schemas.microsoft.com/office/drawing/2014/main" xmlns="" id="{3C344D81-4CE5-4D66-9FA5-12D6AFF14483}"/>
                </a:ext>
              </a:extLst>
            </p:cNvPr>
            <p:cNvSpPr>
              <a:spLocks noEditPoints="1"/>
            </p:cNvSpPr>
            <p:nvPr/>
          </p:nvSpPr>
          <p:spPr bwMode="auto">
            <a:xfrm rot="16200000">
              <a:off x="1531179" y="1430637"/>
              <a:ext cx="108000" cy="2880000"/>
            </a:xfrm>
            <a:custGeom>
              <a:avLst/>
              <a:gdLst>
                <a:gd name="T0" fmla="*/ 0 w 909"/>
                <a:gd name="T1" fmla="*/ 0 h 3585"/>
                <a:gd name="T2" fmla="*/ 467 w 909"/>
                <a:gd name="T3" fmla="*/ 535 h 3585"/>
                <a:gd name="T4" fmla="*/ 0 w 909"/>
                <a:gd name="T5" fmla="*/ 896 h 3585"/>
                <a:gd name="T6" fmla="*/ 467 w 909"/>
                <a:gd name="T7" fmla="*/ 1409 h 3585"/>
                <a:gd name="T8" fmla="*/ 0 w 909"/>
                <a:gd name="T9" fmla="*/ 1793 h 3585"/>
                <a:gd name="T10" fmla="*/ 467 w 909"/>
                <a:gd name="T11" fmla="*/ 2284 h 3585"/>
                <a:gd name="T12" fmla="*/ 0 w 909"/>
                <a:gd name="T13" fmla="*/ 2689 h 3585"/>
                <a:gd name="T14" fmla="*/ 467 w 909"/>
                <a:gd name="T15" fmla="*/ 3158 h 3585"/>
                <a:gd name="T16" fmla="*/ 0 w 909"/>
                <a:gd name="T17" fmla="*/ 3585 h 3585"/>
                <a:gd name="T18" fmla="*/ 442 w 909"/>
                <a:gd name="T19" fmla="*/ 3585 h 3585"/>
                <a:gd name="T20" fmla="*/ 909 w 909"/>
                <a:gd name="T21" fmla="*/ 3158 h 3585"/>
                <a:gd name="T22" fmla="*/ 442 w 909"/>
                <a:gd name="T23" fmla="*/ 2689 h 3585"/>
                <a:gd name="T24" fmla="*/ 909 w 909"/>
                <a:gd name="T25" fmla="*/ 2284 h 3585"/>
                <a:gd name="T26" fmla="*/ 442 w 909"/>
                <a:gd name="T27" fmla="*/ 1793 h 3585"/>
                <a:gd name="T28" fmla="*/ 909 w 909"/>
                <a:gd name="T29" fmla="*/ 1409 h 3585"/>
                <a:gd name="T30" fmla="*/ 442 w 909"/>
                <a:gd name="T31" fmla="*/ 896 h 3585"/>
                <a:gd name="T32" fmla="*/ 909 w 909"/>
                <a:gd name="T33" fmla="*/ 535 h 3585"/>
                <a:gd name="T34" fmla="*/ 442 w 909"/>
                <a:gd name="T35" fmla="*/ 0 h 35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909" h="3585">
                  <a:moveTo>
                    <a:pt x="0" y="0"/>
                  </a:moveTo>
                  <a:lnTo>
                    <a:pt x="467" y="535"/>
                  </a:lnTo>
                  <a:lnTo>
                    <a:pt x="0" y="896"/>
                  </a:lnTo>
                  <a:lnTo>
                    <a:pt x="467" y="1409"/>
                  </a:lnTo>
                  <a:lnTo>
                    <a:pt x="0" y="1793"/>
                  </a:lnTo>
                  <a:lnTo>
                    <a:pt x="467" y="2284"/>
                  </a:lnTo>
                  <a:lnTo>
                    <a:pt x="0" y="2689"/>
                  </a:lnTo>
                  <a:lnTo>
                    <a:pt x="467" y="3158"/>
                  </a:lnTo>
                  <a:lnTo>
                    <a:pt x="0" y="3585"/>
                  </a:lnTo>
                  <a:moveTo>
                    <a:pt x="442" y="3585"/>
                  </a:moveTo>
                  <a:lnTo>
                    <a:pt x="909" y="3158"/>
                  </a:lnTo>
                  <a:lnTo>
                    <a:pt x="442" y="2689"/>
                  </a:lnTo>
                  <a:lnTo>
                    <a:pt x="909" y="2284"/>
                  </a:lnTo>
                  <a:lnTo>
                    <a:pt x="442" y="1793"/>
                  </a:lnTo>
                  <a:lnTo>
                    <a:pt x="909" y="1409"/>
                  </a:lnTo>
                  <a:lnTo>
                    <a:pt x="442" y="896"/>
                  </a:lnTo>
                  <a:lnTo>
                    <a:pt x="909" y="535"/>
                  </a:lnTo>
                  <a:lnTo>
                    <a:pt x="442" y="0"/>
                  </a:lnTo>
                </a:path>
              </a:pathLst>
            </a:custGeom>
            <a:noFill/>
            <a:ln w="6350" cap="flat" cmpd="sng" algn="ctr">
              <a:solidFill>
                <a:srgbClr val="F79646">
                  <a:lumMod val="60000"/>
                  <a:lumOff val="40000"/>
                </a:srgbClr>
              </a:solidFill>
              <a:prstDash val="solid"/>
            </a:ln>
            <a:effectLst/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Segoe UI" panose="020B0502040204020203" pitchFamily="34" charset="0"/>
                <a:ea typeface="맑은 고딕"/>
                <a:cs typeface="Segoe UI" panose="020B0502040204020203" pitchFamily="34" charset="0"/>
              </a:endParaRPr>
            </a:p>
          </p:txBody>
        </p:sp>
      </p:grpSp>
      <p:grpSp>
        <p:nvGrpSpPr>
          <p:cNvPr id="15" name="그룹 14"/>
          <p:cNvGrpSpPr/>
          <p:nvPr/>
        </p:nvGrpSpPr>
        <p:grpSpPr>
          <a:xfrm>
            <a:off x="4823939" y="2815326"/>
            <a:ext cx="2880000" cy="108000"/>
            <a:chOff x="4823939" y="2816637"/>
            <a:chExt cx="2880000" cy="108000"/>
          </a:xfrm>
        </p:grpSpPr>
        <p:sp>
          <p:nvSpPr>
            <p:cNvPr id="325" name="Fill">
              <a:extLst>
                <a:ext uri="{FF2B5EF4-FFF2-40B4-BE49-F238E27FC236}">
                  <a16:creationId xmlns:a16="http://schemas.microsoft.com/office/drawing/2014/main" xmlns="" id="{037FE56A-459C-4D17-A0B7-95ABD183D048}"/>
                </a:ext>
              </a:extLst>
            </p:cNvPr>
            <p:cNvSpPr>
              <a:spLocks/>
            </p:cNvSpPr>
            <p:nvPr/>
          </p:nvSpPr>
          <p:spPr bwMode="auto">
            <a:xfrm rot="16200000">
              <a:off x="6209939" y="1430637"/>
              <a:ext cx="108000" cy="2880000"/>
            </a:xfrm>
            <a:custGeom>
              <a:avLst/>
              <a:gdLst>
                <a:gd name="T0" fmla="*/ 74 w 151"/>
                <a:gd name="T1" fmla="*/ 588 h 588"/>
                <a:gd name="T2" fmla="*/ 151 w 151"/>
                <a:gd name="T3" fmla="*/ 518 h 588"/>
                <a:gd name="T4" fmla="*/ 74 w 151"/>
                <a:gd name="T5" fmla="*/ 441 h 588"/>
                <a:gd name="T6" fmla="*/ 151 w 151"/>
                <a:gd name="T7" fmla="*/ 375 h 588"/>
                <a:gd name="T8" fmla="*/ 74 w 151"/>
                <a:gd name="T9" fmla="*/ 294 h 588"/>
                <a:gd name="T10" fmla="*/ 151 w 151"/>
                <a:gd name="T11" fmla="*/ 231 h 588"/>
                <a:gd name="T12" fmla="*/ 74 w 151"/>
                <a:gd name="T13" fmla="*/ 147 h 588"/>
                <a:gd name="T14" fmla="*/ 151 w 151"/>
                <a:gd name="T15" fmla="*/ 88 h 588"/>
                <a:gd name="T16" fmla="*/ 74 w 151"/>
                <a:gd name="T17" fmla="*/ 0 h 588"/>
                <a:gd name="T18" fmla="*/ 0 w 151"/>
                <a:gd name="T19" fmla="*/ 0 h 588"/>
                <a:gd name="T20" fmla="*/ 78 w 151"/>
                <a:gd name="T21" fmla="*/ 88 h 588"/>
                <a:gd name="T22" fmla="*/ 0 w 151"/>
                <a:gd name="T23" fmla="*/ 147 h 588"/>
                <a:gd name="T24" fmla="*/ 78 w 151"/>
                <a:gd name="T25" fmla="*/ 231 h 588"/>
                <a:gd name="T26" fmla="*/ 0 w 151"/>
                <a:gd name="T27" fmla="*/ 294 h 588"/>
                <a:gd name="T28" fmla="*/ 78 w 151"/>
                <a:gd name="T29" fmla="*/ 375 h 588"/>
                <a:gd name="T30" fmla="*/ 0 w 151"/>
                <a:gd name="T31" fmla="*/ 441 h 588"/>
                <a:gd name="T32" fmla="*/ 78 w 151"/>
                <a:gd name="T33" fmla="*/ 518 h 588"/>
                <a:gd name="T34" fmla="*/ 0 w 151"/>
                <a:gd name="T35" fmla="*/ 588 h 588"/>
                <a:gd name="T36" fmla="*/ 74 w 151"/>
                <a:gd name="T37" fmla="*/ 588 h 5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51" h="588">
                  <a:moveTo>
                    <a:pt x="74" y="588"/>
                  </a:moveTo>
                  <a:lnTo>
                    <a:pt x="151" y="518"/>
                  </a:lnTo>
                  <a:lnTo>
                    <a:pt x="74" y="441"/>
                  </a:lnTo>
                  <a:lnTo>
                    <a:pt x="151" y="375"/>
                  </a:lnTo>
                  <a:lnTo>
                    <a:pt x="74" y="294"/>
                  </a:lnTo>
                  <a:lnTo>
                    <a:pt x="151" y="231"/>
                  </a:lnTo>
                  <a:lnTo>
                    <a:pt x="74" y="147"/>
                  </a:lnTo>
                  <a:lnTo>
                    <a:pt x="151" y="88"/>
                  </a:lnTo>
                  <a:lnTo>
                    <a:pt x="74" y="0"/>
                  </a:lnTo>
                  <a:lnTo>
                    <a:pt x="0" y="0"/>
                  </a:lnTo>
                  <a:lnTo>
                    <a:pt x="78" y="88"/>
                  </a:lnTo>
                  <a:lnTo>
                    <a:pt x="0" y="147"/>
                  </a:lnTo>
                  <a:lnTo>
                    <a:pt x="78" y="231"/>
                  </a:lnTo>
                  <a:lnTo>
                    <a:pt x="0" y="294"/>
                  </a:lnTo>
                  <a:lnTo>
                    <a:pt x="78" y="375"/>
                  </a:lnTo>
                  <a:lnTo>
                    <a:pt x="0" y="441"/>
                  </a:lnTo>
                  <a:lnTo>
                    <a:pt x="78" y="518"/>
                  </a:lnTo>
                  <a:lnTo>
                    <a:pt x="0" y="588"/>
                  </a:lnTo>
                  <a:lnTo>
                    <a:pt x="74" y="588"/>
                  </a:lnTo>
                  <a:close/>
                </a:path>
              </a:pathLst>
            </a:custGeom>
            <a:solidFill>
              <a:srgbClr val="F79646">
                <a:lumMod val="20000"/>
                <a:lumOff val="80000"/>
              </a:srgbClr>
            </a:solidFill>
            <a:ln w="6350" cap="flat" cmpd="sng" algn="ctr">
              <a:solidFill>
                <a:srgbClr val="F79646">
                  <a:lumMod val="60000"/>
                  <a:lumOff val="40000"/>
                </a:srgbClr>
              </a:solidFill>
              <a:prstDash val="solid"/>
            </a:ln>
            <a:effectLst/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Segoe UI" panose="020B0502040204020203" pitchFamily="34" charset="0"/>
                <a:ea typeface="맑은 고딕"/>
                <a:cs typeface="Segoe UI" panose="020B0502040204020203" pitchFamily="34" charset="0"/>
              </a:endParaRPr>
            </a:p>
          </p:txBody>
        </p:sp>
        <p:sp>
          <p:nvSpPr>
            <p:cNvPr id="326" name="Border">
              <a:extLst>
                <a:ext uri="{FF2B5EF4-FFF2-40B4-BE49-F238E27FC236}">
                  <a16:creationId xmlns:a16="http://schemas.microsoft.com/office/drawing/2014/main" xmlns="" id="{3C344D81-4CE5-4D66-9FA5-12D6AFF14483}"/>
                </a:ext>
              </a:extLst>
            </p:cNvPr>
            <p:cNvSpPr>
              <a:spLocks noEditPoints="1"/>
            </p:cNvSpPr>
            <p:nvPr/>
          </p:nvSpPr>
          <p:spPr bwMode="auto">
            <a:xfrm rot="16200000">
              <a:off x="6209939" y="1430637"/>
              <a:ext cx="108000" cy="2880000"/>
            </a:xfrm>
            <a:custGeom>
              <a:avLst/>
              <a:gdLst>
                <a:gd name="T0" fmla="*/ 0 w 909"/>
                <a:gd name="T1" fmla="*/ 0 h 3585"/>
                <a:gd name="T2" fmla="*/ 467 w 909"/>
                <a:gd name="T3" fmla="*/ 535 h 3585"/>
                <a:gd name="T4" fmla="*/ 0 w 909"/>
                <a:gd name="T5" fmla="*/ 896 h 3585"/>
                <a:gd name="T6" fmla="*/ 467 w 909"/>
                <a:gd name="T7" fmla="*/ 1409 h 3585"/>
                <a:gd name="T8" fmla="*/ 0 w 909"/>
                <a:gd name="T9" fmla="*/ 1793 h 3585"/>
                <a:gd name="T10" fmla="*/ 467 w 909"/>
                <a:gd name="T11" fmla="*/ 2284 h 3585"/>
                <a:gd name="T12" fmla="*/ 0 w 909"/>
                <a:gd name="T13" fmla="*/ 2689 h 3585"/>
                <a:gd name="T14" fmla="*/ 467 w 909"/>
                <a:gd name="T15" fmla="*/ 3158 h 3585"/>
                <a:gd name="T16" fmla="*/ 0 w 909"/>
                <a:gd name="T17" fmla="*/ 3585 h 3585"/>
                <a:gd name="T18" fmla="*/ 442 w 909"/>
                <a:gd name="T19" fmla="*/ 3585 h 3585"/>
                <a:gd name="T20" fmla="*/ 909 w 909"/>
                <a:gd name="T21" fmla="*/ 3158 h 3585"/>
                <a:gd name="T22" fmla="*/ 442 w 909"/>
                <a:gd name="T23" fmla="*/ 2689 h 3585"/>
                <a:gd name="T24" fmla="*/ 909 w 909"/>
                <a:gd name="T25" fmla="*/ 2284 h 3585"/>
                <a:gd name="T26" fmla="*/ 442 w 909"/>
                <a:gd name="T27" fmla="*/ 1793 h 3585"/>
                <a:gd name="T28" fmla="*/ 909 w 909"/>
                <a:gd name="T29" fmla="*/ 1409 h 3585"/>
                <a:gd name="T30" fmla="*/ 442 w 909"/>
                <a:gd name="T31" fmla="*/ 896 h 3585"/>
                <a:gd name="T32" fmla="*/ 909 w 909"/>
                <a:gd name="T33" fmla="*/ 535 h 3585"/>
                <a:gd name="T34" fmla="*/ 442 w 909"/>
                <a:gd name="T35" fmla="*/ 0 h 35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909" h="3585">
                  <a:moveTo>
                    <a:pt x="0" y="0"/>
                  </a:moveTo>
                  <a:lnTo>
                    <a:pt x="467" y="535"/>
                  </a:lnTo>
                  <a:lnTo>
                    <a:pt x="0" y="896"/>
                  </a:lnTo>
                  <a:lnTo>
                    <a:pt x="467" y="1409"/>
                  </a:lnTo>
                  <a:lnTo>
                    <a:pt x="0" y="1793"/>
                  </a:lnTo>
                  <a:lnTo>
                    <a:pt x="467" y="2284"/>
                  </a:lnTo>
                  <a:lnTo>
                    <a:pt x="0" y="2689"/>
                  </a:lnTo>
                  <a:lnTo>
                    <a:pt x="467" y="3158"/>
                  </a:lnTo>
                  <a:lnTo>
                    <a:pt x="0" y="3585"/>
                  </a:lnTo>
                  <a:moveTo>
                    <a:pt x="442" y="3585"/>
                  </a:moveTo>
                  <a:lnTo>
                    <a:pt x="909" y="3158"/>
                  </a:lnTo>
                  <a:lnTo>
                    <a:pt x="442" y="2689"/>
                  </a:lnTo>
                  <a:lnTo>
                    <a:pt x="909" y="2284"/>
                  </a:lnTo>
                  <a:lnTo>
                    <a:pt x="442" y="1793"/>
                  </a:lnTo>
                  <a:lnTo>
                    <a:pt x="909" y="1409"/>
                  </a:lnTo>
                  <a:lnTo>
                    <a:pt x="442" y="896"/>
                  </a:lnTo>
                  <a:lnTo>
                    <a:pt x="909" y="535"/>
                  </a:lnTo>
                  <a:lnTo>
                    <a:pt x="442" y="0"/>
                  </a:lnTo>
                </a:path>
              </a:pathLst>
            </a:custGeom>
            <a:noFill/>
            <a:ln w="6350" cap="flat" cmpd="sng" algn="ctr">
              <a:solidFill>
                <a:srgbClr val="F79646">
                  <a:lumMod val="60000"/>
                  <a:lumOff val="40000"/>
                </a:srgbClr>
              </a:solidFill>
              <a:prstDash val="solid"/>
            </a:ln>
            <a:effectLst/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Segoe UI" panose="020B0502040204020203" pitchFamily="34" charset="0"/>
                <a:ea typeface="맑은 고딕"/>
                <a:cs typeface="Segoe UI" panose="020B0502040204020203" pitchFamily="34" charset="0"/>
              </a:endParaRPr>
            </a:p>
          </p:txBody>
        </p:sp>
      </p:grpSp>
      <p:sp>
        <p:nvSpPr>
          <p:cNvPr id="312" name="TextBox 311">
            <a:extLst>
              <a:ext uri="{FF2B5EF4-FFF2-40B4-BE49-F238E27FC236}">
                <a16:creationId xmlns="" xmlns:a16="http://schemas.microsoft.com/office/drawing/2014/main" id="{0C96C875-C47F-4F5B-B4C1-F9D666A7BD9D}"/>
              </a:ext>
            </a:extLst>
          </p:cNvPr>
          <p:cNvSpPr txBox="1"/>
          <p:nvPr/>
        </p:nvSpPr>
        <p:spPr>
          <a:xfrm>
            <a:off x="5615821" y="4438604"/>
            <a:ext cx="631117" cy="195814"/>
          </a:xfrm>
          <a:prstGeom prst="rect">
            <a:avLst/>
          </a:prstGeom>
          <a:noFill/>
          <a:ln w="317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108000" tIns="36000" rIns="36000" bIns="36000" numCol="1" rtlCol="0" anchor="t" anchorCtr="0" compatLnSpc="1">
            <a:prstTxWarp prst="textNoShape">
              <a:avLst/>
            </a:prstTxWarp>
            <a:spAutoFit/>
          </a:bodyPr>
          <a:lstStyle/>
          <a:p>
            <a:r>
              <a:rPr lang="en-US" altLang="ko-KR" sz="800" b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390,910</a:t>
            </a:r>
            <a:r>
              <a:rPr lang="ko-KR" altLang="en-US" sz="800" b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원</a:t>
            </a:r>
            <a:endParaRPr lang="ko-KR" altLang="en-US" sz="700" b="1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313" name="모서리가 둥근 직사각형 312">
            <a:extLst>
              <a:ext uri="{FF2B5EF4-FFF2-40B4-BE49-F238E27FC236}">
                <a16:creationId xmlns:a16="http://schemas.microsoft.com/office/drawing/2014/main" xmlns="" id="{19FD5FA0-B111-4EF7-BC86-418441928DD3}"/>
              </a:ext>
            </a:extLst>
          </p:cNvPr>
          <p:cNvSpPr/>
          <p:nvPr/>
        </p:nvSpPr>
        <p:spPr>
          <a:xfrm>
            <a:off x="5075939" y="4886721"/>
            <a:ext cx="2376000" cy="288000"/>
          </a:xfrm>
          <a:prstGeom prst="roundRect">
            <a:avLst>
              <a:gd name="adj" fmla="val 4777"/>
            </a:avLst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noAutofit/>
          </a:bodyPr>
          <a:lstStyle/>
          <a:p>
            <a:pPr algn="ctr"/>
            <a:r>
              <a:rPr lang="ko-KR" altLang="en-US" sz="700" b="1" smtClean="0"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</a:rPr>
              <a:t>주문취소</a:t>
            </a:r>
            <a:endParaRPr lang="ko-KR" altLang="en-US" sz="700" b="1" dirty="0">
              <a:solidFill>
                <a:prstClr val="black">
                  <a:lumMod val="75000"/>
                  <a:lumOff val="25000"/>
                </a:prst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314" name="직사각형 313">
            <a:extLst>
              <a:ext uri="{FF2B5EF4-FFF2-40B4-BE49-F238E27FC236}">
                <a16:creationId xmlns:a16="http://schemas.microsoft.com/office/drawing/2014/main" xmlns="" id="{F9776C3A-3D6C-4965-9DA5-D76F1E6E1639}"/>
              </a:ext>
            </a:extLst>
          </p:cNvPr>
          <p:cNvSpPr/>
          <p:nvPr/>
        </p:nvSpPr>
        <p:spPr>
          <a:xfrm>
            <a:off x="4823718" y="5965700"/>
            <a:ext cx="2880000" cy="432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>
              <a:solidFill>
                <a:prstClr val="black">
                  <a:lumMod val="75000"/>
                  <a:lumOff val="25000"/>
                </a:prstClr>
              </a:solidFill>
              <a:latin typeface="맑은 고딕" panose="020B0503020000020004" pitchFamily="50" charset="-127"/>
            </a:endParaRPr>
          </a:p>
        </p:txBody>
      </p:sp>
      <p:grpSp>
        <p:nvGrpSpPr>
          <p:cNvPr id="315" name="그룹 314"/>
          <p:cNvGrpSpPr/>
          <p:nvPr/>
        </p:nvGrpSpPr>
        <p:grpSpPr>
          <a:xfrm>
            <a:off x="5002445" y="6076099"/>
            <a:ext cx="2535420" cy="211203"/>
            <a:chOff x="9080124" y="3123656"/>
            <a:chExt cx="2535420" cy="211203"/>
          </a:xfrm>
        </p:grpSpPr>
        <p:sp>
          <p:nvSpPr>
            <p:cNvPr id="323" name="TextBox 322">
              <a:extLst>
                <a:ext uri="{FF2B5EF4-FFF2-40B4-BE49-F238E27FC236}">
                  <a16:creationId xmlns:a16="http://schemas.microsoft.com/office/drawing/2014/main" xmlns="" id="{0C96C875-C47F-4F5B-B4C1-F9D666A7BD9D}"/>
                </a:ext>
              </a:extLst>
            </p:cNvPr>
            <p:cNvSpPr txBox="1"/>
            <p:nvPr/>
          </p:nvSpPr>
          <p:spPr>
            <a:xfrm>
              <a:off x="9080124" y="3123656"/>
              <a:ext cx="534368" cy="211203"/>
            </a:xfrm>
            <a:prstGeom prst="rect">
              <a:avLst/>
            </a:prstGeom>
            <a:noFill/>
            <a:ln w="3175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none" lIns="36000" tIns="36000" rIns="36000" bIns="36000" numCol="1" rtlCol="0" anchor="ctr" anchorCtr="0" compatLnSpc="1">
              <a:prstTxWarp prst="textNoShape">
                <a:avLst/>
              </a:prstTxWarp>
              <a:spAutoFit/>
            </a:bodyPr>
            <a:lstStyle/>
            <a:p>
              <a:r>
                <a:rPr lang="ko-KR" altLang="en-US" sz="900" b="1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고객센터</a:t>
              </a:r>
            </a:p>
          </p:txBody>
        </p:sp>
        <p:sp>
          <p:nvSpPr>
            <p:cNvPr id="324" name="TextBox 323">
              <a:extLst>
                <a:ext uri="{FF2B5EF4-FFF2-40B4-BE49-F238E27FC236}">
                  <a16:creationId xmlns:a16="http://schemas.microsoft.com/office/drawing/2014/main" xmlns="" id="{0C96C875-C47F-4F5B-B4C1-F9D666A7BD9D}"/>
                </a:ext>
              </a:extLst>
            </p:cNvPr>
            <p:cNvSpPr txBox="1"/>
            <p:nvPr/>
          </p:nvSpPr>
          <p:spPr>
            <a:xfrm>
              <a:off x="11103618" y="3139045"/>
              <a:ext cx="511926" cy="180425"/>
            </a:xfrm>
            <a:prstGeom prst="rect">
              <a:avLst/>
            </a:prstGeom>
            <a:noFill/>
            <a:ln w="3175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none" lIns="36000" tIns="36000" rIns="36000" bIns="36000" numCol="1" rtlCol="0" anchor="ctr" anchorCtr="0" compatLnSpc="1">
              <a:prstTxWarp prst="textNoShape">
                <a:avLst/>
              </a:prstTxWarp>
              <a:spAutoFit/>
            </a:bodyPr>
            <a:lstStyle/>
            <a:p>
              <a:pPr algn="r"/>
              <a:r>
                <a:rPr lang="ko-KR" altLang="en-US" sz="700" smtClean="0">
                  <a:solidFill>
                    <a:srgbClr val="4285F4"/>
                  </a:solidFill>
                  <a:latin typeface="맑은 고딕" panose="020B0503020000020004" pitchFamily="50" charset="-127"/>
                </a:rPr>
                <a:t>바로가기 </a:t>
              </a:r>
              <a:r>
                <a:rPr lang="en-US" altLang="ko-KR" sz="700" smtClean="0">
                  <a:solidFill>
                    <a:srgbClr val="4285F4"/>
                  </a:solidFill>
                  <a:latin typeface="맑은 고딕" panose="020B0503020000020004" pitchFamily="50" charset="-127"/>
                </a:rPr>
                <a:t>〉</a:t>
              </a:r>
              <a:endParaRPr lang="ko-KR" altLang="en-US" sz="700" dirty="0">
                <a:solidFill>
                  <a:srgbClr val="4285F4"/>
                </a:solidFill>
                <a:latin typeface="맑은 고딕" panose="020B0503020000020004" pitchFamily="50" charset="-127"/>
              </a:endParaRPr>
            </a:p>
          </p:txBody>
        </p:sp>
      </p:grpSp>
      <p:sp>
        <p:nvSpPr>
          <p:cNvPr id="316" name="직사각형 315">
            <a:extLst>
              <a:ext uri="{FF2B5EF4-FFF2-40B4-BE49-F238E27FC236}">
                <a16:creationId xmlns:a16="http://schemas.microsoft.com/office/drawing/2014/main" xmlns="" id="{8392E679-C745-496E-8916-C656AE57791E}"/>
              </a:ext>
            </a:extLst>
          </p:cNvPr>
          <p:cNvSpPr/>
          <p:nvPr/>
        </p:nvSpPr>
        <p:spPr>
          <a:xfrm>
            <a:off x="4823718" y="5895342"/>
            <a:ext cx="2880000" cy="72000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 dirty="0">
              <a:solidFill>
                <a:prstClr val="black">
                  <a:lumMod val="75000"/>
                  <a:lumOff val="25000"/>
                </a:prst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317" name="직사각형 316">
            <a:extLst>
              <a:ext uri="{FF2B5EF4-FFF2-40B4-BE49-F238E27FC236}">
                <a16:creationId xmlns:a16="http://schemas.microsoft.com/office/drawing/2014/main" xmlns="" id="{8392E679-C745-496E-8916-C656AE57791E}"/>
              </a:ext>
            </a:extLst>
          </p:cNvPr>
          <p:cNvSpPr/>
          <p:nvPr/>
        </p:nvSpPr>
        <p:spPr>
          <a:xfrm>
            <a:off x="4823718" y="5391297"/>
            <a:ext cx="2880000" cy="72000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 dirty="0">
              <a:solidFill>
                <a:prstClr val="black">
                  <a:lumMod val="75000"/>
                  <a:lumOff val="25000"/>
                </a:prst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319" name="직사각형 318">
            <a:extLst>
              <a:ext uri="{FF2B5EF4-FFF2-40B4-BE49-F238E27FC236}">
                <a16:creationId xmlns:a16="http://schemas.microsoft.com/office/drawing/2014/main" xmlns="" id="{F9776C3A-3D6C-4965-9DA5-D76F1E6E1639}"/>
              </a:ext>
            </a:extLst>
          </p:cNvPr>
          <p:cNvSpPr/>
          <p:nvPr/>
        </p:nvSpPr>
        <p:spPr>
          <a:xfrm>
            <a:off x="4823718" y="5464984"/>
            <a:ext cx="2880000" cy="432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>
              <a:solidFill>
                <a:prstClr val="black">
                  <a:lumMod val="75000"/>
                  <a:lumOff val="25000"/>
                </a:prstClr>
              </a:solidFill>
              <a:latin typeface="맑은 고딕" panose="020B0503020000020004" pitchFamily="50" charset="-127"/>
            </a:endParaRPr>
          </a:p>
        </p:txBody>
      </p:sp>
      <p:grpSp>
        <p:nvGrpSpPr>
          <p:cNvPr id="320" name="그룹 319"/>
          <p:cNvGrpSpPr/>
          <p:nvPr/>
        </p:nvGrpSpPr>
        <p:grpSpPr>
          <a:xfrm>
            <a:off x="5002445" y="5575383"/>
            <a:ext cx="2535420" cy="211203"/>
            <a:chOff x="9080124" y="3123656"/>
            <a:chExt cx="2535420" cy="211203"/>
          </a:xfrm>
        </p:grpSpPr>
        <p:sp>
          <p:nvSpPr>
            <p:cNvPr id="321" name="TextBox 320">
              <a:extLst>
                <a:ext uri="{FF2B5EF4-FFF2-40B4-BE49-F238E27FC236}">
                  <a16:creationId xmlns:a16="http://schemas.microsoft.com/office/drawing/2014/main" xmlns="" id="{0C96C875-C47F-4F5B-B4C1-F9D666A7BD9D}"/>
                </a:ext>
              </a:extLst>
            </p:cNvPr>
            <p:cNvSpPr txBox="1"/>
            <p:nvPr/>
          </p:nvSpPr>
          <p:spPr>
            <a:xfrm>
              <a:off x="9080124" y="3123656"/>
              <a:ext cx="1379151" cy="211203"/>
            </a:xfrm>
            <a:prstGeom prst="rect">
              <a:avLst/>
            </a:prstGeom>
            <a:noFill/>
            <a:ln w="3175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none" lIns="36000" tIns="36000" rIns="36000" bIns="36000" numCol="1" rtlCol="0" anchor="ctr" anchorCtr="0" compatLnSpc="1">
              <a:prstTxWarp prst="textNoShape">
                <a:avLst/>
              </a:prstTxWarp>
              <a:spAutoFit/>
            </a:bodyPr>
            <a:lstStyle/>
            <a:p>
              <a:r>
                <a:rPr lang="ko-KR" altLang="en-US" sz="900" b="1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취소</a:t>
              </a:r>
              <a:r>
                <a:rPr lang="en-US" altLang="ko-KR" sz="900" b="1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·</a:t>
              </a:r>
              <a:r>
                <a:rPr lang="ko-KR" altLang="en-US" sz="900" b="1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교환</a:t>
              </a:r>
              <a:r>
                <a:rPr lang="en-US" altLang="ko-KR" sz="900" b="1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·</a:t>
              </a:r>
              <a:r>
                <a:rPr lang="ko-KR" altLang="en-US" sz="900" b="1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반품 신청</a:t>
              </a:r>
              <a:r>
                <a:rPr lang="en-US" altLang="ko-KR" sz="900" b="1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/</a:t>
              </a:r>
              <a:r>
                <a:rPr lang="ko-KR" altLang="en-US" sz="900" b="1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조회</a:t>
              </a:r>
              <a:endParaRPr lang="ko-KR" altLang="en-US" sz="900" b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322" name="TextBox 321">
              <a:extLst>
                <a:ext uri="{FF2B5EF4-FFF2-40B4-BE49-F238E27FC236}">
                  <a16:creationId xmlns:a16="http://schemas.microsoft.com/office/drawing/2014/main" xmlns="" id="{0C96C875-C47F-4F5B-B4C1-F9D666A7BD9D}"/>
                </a:ext>
              </a:extLst>
            </p:cNvPr>
            <p:cNvSpPr txBox="1"/>
            <p:nvPr/>
          </p:nvSpPr>
          <p:spPr>
            <a:xfrm>
              <a:off x="11103618" y="3139045"/>
              <a:ext cx="511926" cy="180425"/>
            </a:xfrm>
            <a:prstGeom prst="rect">
              <a:avLst/>
            </a:prstGeom>
            <a:noFill/>
            <a:ln w="3175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none" lIns="36000" tIns="36000" rIns="36000" bIns="36000" numCol="1" rtlCol="0" anchor="ctr" anchorCtr="0" compatLnSpc="1">
              <a:prstTxWarp prst="textNoShape">
                <a:avLst/>
              </a:prstTxWarp>
              <a:spAutoFit/>
            </a:bodyPr>
            <a:lstStyle/>
            <a:p>
              <a:pPr algn="r"/>
              <a:r>
                <a:rPr lang="ko-KR" altLang="en-US" sz="700" smtClean="0">
                  <a:solidFill>
                    <a:srgbClr val="4285F4"/>
                  </a:solidFill>
                  <a:latin typeface="맑은 고딕" panose="020B0503020000020004" pitchFamily="50" charset="-127"/>
                </a:rPr>
                <a:t>전체보기 </a:t>
              </a:r>
              <a:r>
                <a:rPr lang="en-US" altLang="ko-KR" sz="700" smtClean="0">
                  <a:solidFill>
                    <a:srgbClr val="4285F4"/>
                  </a:solidFill>
                  <a:latin typeface="맑은 고딕" panose="020B0503020000020004" pitchFamily="50" charset="-127"/>
                </a:rPr>
                <a:t>〉</a:t>
              </a:r>
              <a:endParaRPr lang="ko-KR" altLang="en-US" sz="700" dirty="0">
                <a:solidFill>
                  <a:srgbClr val="4285F4"/>
                </a:solidFill>
                <a:latin typeface="맑은 고딕" panose="020B0503020000020004" pitchFamily="50" charset="-127"/>
              </a:endParaRPr>
            </a:p>
          </p:txBody>
        </p:sp>
      </p:grpSp>
      <p:grpSp>
        <p:nvGrpSpPr>
          <p:cNvPr id="366" name="그룹 365"/>
          <p:cNvGrpSpPr/>
          <p:nvPr/>
        </p:nvGrpSpPr>
        <p:grpSpPr>
          <a:xfrm>
            <a:off x="7775687" y="3446520"/>
            <a:ext cx="1536461" cy="360000"/>
            <a:chOff x="7775687" y="1141638"/>
            <a:chExt cx="1536461" cy="360000"/>
          </a:xfrm>
        </p:grpSpPr>
        <p:cxnSp>
          <p:nvCxnSpPr>
            <p:cNvPr id="367" name="직선 연결선 366"/>
            <p:cNvCxnSpPr/>
            <p:nvPr/>
          </p:nvCxnSpPr>
          <p:spPr>
            <a:xfrm>
              <a:off x="7811687" y="1141638"/>
              <a:ext cx="0" cy="360000"/>
            </a:xfrm>
            <a:prstGeom prst="line">
              <a:avLst/>
            </a:prstGeom>
            <a:ln>
              <a:solidFill>
                <a:schemeClr val="accent2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8" name="직선 연결선 367"/>
            <p:cNvCxnSpPr/>
            <p:nvPr/>
          </p:nvCxnSpPr>
          <p:spPr>
            <a:xfrm>
              <a:off x="7775687" y="1141638"/>
              <a:ext cx="72000" cy="0"/>
            </a:xfrm>
            <a:prstGeom prst="line">
              <a:avLst/>
            </a:prstGeom>
            <a:ln>
              <a:solidFill>
                <a:schemeClr val="accent2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9" name="직선 연결선 368"/>
            <p:cNvCxnSpPr/>
            <p:nvPr/>
          </p:nvCxnSpPr>
          <p:spPr>
            <a:xfrm>
              <a:off x="7775687" y="1501638"/>
              <a:ext cx="72000" cy="0"/>
            </a:xfrm>
            <a:prstGeom prst="line">
              <a:avLst/>
            </a:prstGeom>
            <a:ln>
              <a:solidFill>
                <a:schemeClr val="accent2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70" name="TextBox 369"/>
            <p:cNvSpPr txBox="1"/>
            <p:nvPr/>
          </p:nvSpPr>
          <p:spPr>
            <a:xfrm>
              <a:off x="7811687" y="1204495"/>
              <a:ext cx="1500461" cy="234286"/>
            </a:xfrm>
            <a:prstGeom prst="rect">
              <a:avLst/>
            </a:prstGeom>
            <a:noFill/>
          </p:spPr>
          <p:txBody>
            <a:bodyPr wrap="none" lIns="72000" tIns="36000" rIns="36000" bIns="36000" rtlCol="0" anchor="ctr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ko-KR" altLang="en-US" sz="700" b="1" u="sng" smtClean="0">
                  <a:solidFill>
                    <a:schemeClr val="accent2"/>
                  </a:solidFill>
                  <a:latin typeface="맑은 고딕" panose="020B0503020000020004" pitchFamily="50" charset="-127"/>
                </a:rPr>
                <a:t>배송예정일 안내 </a:t>
              </a:r>
              <a:r>
                <a:rPr lang="en-US" altLang="ko-KR" sz="700" b="1" u="sng" smtClean="0">
                  <a:solidFill>
                    <a:schemeClr val="accent2"/>
                  </a:solidFill>
                  <a:latin typeface="맑은 고딕" panose="020B0503020000020004" pitchFamily="50" charset="-127"/>
                </a:rPr>
                <a:t>(</a:t>
              </a:r>
              <a:r>
                <a:rPr lang="ko-KR" altLang="en-US" sz="700" b="1" u="sng" smtClean="0">
                  <a:solidFill>
                    <a:schemeClr val="accent2"/>
                  </a:solidFill>
                  <a:latin typeface="맑은 고딕" panose="020B0503020000020004" pitchFamily="50" charset="-127"/>
                </a:rPr>
                <a:t>일반 자사 상품</a:t>
              </a:r>
              <a:r>
                <a:rPr lang="en-US" altLang="ko-KR" sz="700" b="1" u="sng" smtClean="0">
                  <a:solidFill>
                    <a:schemeClr val="accent2"/>
                  </a:solidFill>
                  <a:latin typeface="맑은 고딕" panose="020B0503020000020004" pitchFamily="50" charset="-127"/>
                </a:rPr>
                <a:t>)</a:t>
              </a:r>
              <a:endParaRPr lang="ko-KR" altLang="en-US" sz="700" b="1" u="sng" dirty="0">
                <a:solidFill>
                  <a:schemeClr val="accent2"/>
                </a:solidFill>
                <a:latin typeface="맑은 고딕" panose="020B0503020000020004" pitchFamily="50" charset="-127"/>
              </a:endParaRPr>
            </a:p>
          </p:txBody>
        </p:sp>
      </p:grpSp>
      <p:grpSp>
        <p:nvGrpSpPr>
          <p:cNvPr id="371" name="그룹 370"/>
          <p:cNvGrpSpPr/>
          <p:nvPr/>
        </p:nvGrpSpPr>
        <p:grpSpPr>
          <a:xfrm>
            <a:off x="3095812" y="3446520"/>
            <a:ext cx="895260" cy="360000"/>
            <a:chOff x="3095812" y="2399876"/>
            <a:chExt cx="895260" cy="360000"/>
          </a:xfrm>
        </p:grpSpPr>
        <p:cxnSp>
          <p:nvCxnSpPr>
            <p:cNvPr id="372" name="직선 연결선 371"/>
            <p:cNvCxnSpPr/>
            <p:nvPr/>
          </p:nvCxnSpPr>
          <p:spPr>
            <a:xfrm>
              <a:off x="3131812" y="2399876"/>
              <a:ext cx="0" cy="360000"/>
            </a:xfrm>
            <a:prstGeom prst="line">
              <a:avLst/>
            </a:prstGeom>
            <a:ln>
              <a:solidFill>
                <a:schemeClr val="accent5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3" name="직선 연결선 372"/>
            <p:cNvCxnSpPr/>
            <p:nvPr/>
          </p:nvCxnSpPr>
          <p:spPr>
            <a:xfrm>
              <a:off x="3095812" y="2399876"/>
              <a:ext cx="72000" cy="0"/>
            </a:xfrm>
            <a:prstGeom prst="line">
              <a:avLst/>
            </a:prstGeom>
            <a:ln>
              <a:solidFill>
                <a:schemeClr val="accent5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4" name="직선 연결선 373"/>
            <p:cNvCxnSpPr/>
            <p:nvPr/>
          </p:nvCxnSpPr>
          <p:spPr>
            <a:xfrm>
              <a:off x="3095812" y="2759876"/>
              <a:ext cx="72000" cy="0"/>
            </a:xfrm>
            <a:prstGeom prst="line">
              <a:avLst/>
            </a:prstGeom>
            <a:ln>
              <a:solidFill>
                <a:schemeClr val="accent5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75" name="TextBox 374"/>
            <p:cNvSpPr txBox="1"/>
            <p:nvPr/>
          </p:nvSpPr>
          <p:spPr>
            <a:xfrm>
              <a:off x="3131812" y="2462733"/>
              <a:ext cx="859260" cy="234286"/>
            </a:xfrm>
            <a:prstGeom prst="rect">
              <a:avLst/>
            </a:prstGeom>
            <a:noFill/>
          </p:spPr>
          <p:txBody>
            <a:bodyPr wrap="none" lIns="72000" tIns="36000" rIns="36000" bIns="36000" rtlCol="0" anchor="ctr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ko-KR" altLang="en-US" sz="700" b="1" u="sng" smtClean="0">
                  <a:solidFill>
                    <a:schemeClr val="accent5"/>
                  </a:solidFill>
                  <a:latin typeface="맑은 고딕" panose="020B0503020000020004" pitchFamily="50" charset="-127"/>
                </a:rPr>
                <a:t>매장상품배송 안내</a:t>
              </a:r>
              <a:endParaRPr lang="ko-KR" altLang="en-US" sz="700" b="1" u="sng" dirty="0">
                <a:solidFill>
                  <a:schemeClr val="accent5"/>
                </a:solidFill>
                <a:latin typeface="맑은 고딕" panose="020B0503020000020004" pitchFamily="50" charset="-127"/>
              </a:endParaRPr>
            </a:p>
          </p:txBody>
        </p:sp>
      </p:grpSp>
      <p:sp>
        <p:nvSpPr>
          <p:cNvPr id="377" name="타원 376">
            <a:extLst>
              <a:ext uri="{FF2B5EF4-FFF2-40B4-BE49-F238E27FC236}">
                <a16:creationId xmlns:a16="http://schemas.microsoft.com/office/drawing/2014/main" xmlns="" id="{05928B69-0142-4C14-A783-3D8762E5BBE2}"/>
              </a:ext>
            </a:extLst>
          </p:cNvPr>
          <p:cNvSpPr/>
          <p:nvPr/>
        </p:nvSpPr>
        <p:spPr>
          <a:xfrm>
            <a:off x="0" y="3446520"/>
            <a:ext cx="144000" cy="144000"/>
          </a:xfrm>
          <a:prstGeom prst="ellipse">
            <a:avLst/>
          </a:prstGeom>
          <a:solidFill>
            <a:srgbClr val="C00000"/>
          </a:solidFill>
          <a:ln w="3175">
            <a:noFill/>
          </a:ln>
          <a:effectLst>
            <a:outerShdw blurRad="25400" dist="25400" dir="2700000" algn="tl" rotWithShape="0">
              <a:schemeClr val="tx1">
                <a:lumMod val="75000"/>
                <a:lumOff val="2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700" dirty="0">
                <a:solidFill>
                  <a:prstClr val="white"/>
                </a:solidFill>
                <a:latin typeface="맑은 고딕" panose="020B0503020000020004" pitchFamily="50" charset="-127"/>
              </a:rPr>
              <a:t>1</a:t>
            </a:r>
            <a:endParaRPr lang="ko-KR" altLang="en-US" sz="700" dirty="0">
              <a:solidFill>
                <a:prstClr val="white"/>
              </a:solidFill>
              <a:latin typeface="맑은 고딕" panose="020B0503020000020004" pitchFamily="50" charset="-127"/>
            </a:endParaRPr>
          </a:p>
        </p:txBody>
      </p:sp>
      <p:grpSp>
        <p:nvGrpSpPr>
          <p:cNvPr id="3" name="그룹 2"/>
          <p:cNvGrpSpPr/>
          <p:nvPr/>
        </p:nvGrpSpPr>
        <p:grpSpPr>
          <a:xfrm>
            <a:off x="290581" y="792520"/>
            <a:ext cx="983413" cy="195814"/>
            <a:chOff x="290581" y="792520"/>
            <a:chExt cx="983413" cy="195814"/>
          </a:xfrm>
        </p:grpSpPr>
        <p:sp>
          <p:nvSpPr>
            <p:cNvPr id="149" name="TextBox 148">
              <a:extLst>
                <a:ext uri="{FF2B5EF4-FFF2-40B4-BE49-F238E27FC236}">
                  <a16:creationId xmlns:a16="http://schemas.microsoft.com/office/drawing/2014/main" xmlns="" id="{0C96C875-C47F-4F5B-B4C1-F9D666A7BD9D}"/>
                </a:ext>
              </a:extLst>
            </p:cNvPr>
            <p:cNvSpPr txBox="1"/>
            <p:nvPr/>
          </p:nvSpPr>
          <p:spPr>
            <a:xfrm>
              <a:off x="542924" y="792520"/>
              <a:ext cx="731070" cy="195814"/>
            </a:xfrm>
            <a:prstGeom prst="rect">
              <a:avLst/>
            </a:prstGeom>
            <a:noFill/>
            <a:ln w="3175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none" lIns="108000" tIns="36000" rIns="108000" bIns="36000" numCol="1" rtlCol="0" anchor="ctr" anchorCtr="0" compatLnSpc="1">
              <a:prstTxWarp prst="textNoShape">
                <a:avLst/>
              </a:prstTxWarp>
              <a:spAutoFit/>
            </a:bodyPr>
            <a:lstStyle/>
            <a:p>
              <a:r>
                <a:rPr lang="ko-KR" altLang="en-US" sz="800" b="1" smtClean="0">
                  <a:solidFill>
                    <a:prstClr val="black">
                      <a:lumMod val="75000"/>
                      <a:lumOff val="25000"/>
                    </a:prstClr>
                  </a:solidFill>
                  <a:latin typeface="맑은 고딕" panose="020B0503020000020004" pitchFamily="50" charset="-127"/>
                </a:rPr>
                <a:t>마이페이지</a:t>
              </a:r>
              <a:endParaRPr lang="ko-KR" altLang="en-US" sz="800" b="1" dirty="0"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</a:endParaRPr>
            </a:p>
          </p:txBody>
        </p:sp>
        <p:pic>
          <p:nvPicPr>
            <p:cNvPr id="152" name="Picture 2" descr="https://img.lfmall.co.kr/file/WAS/display/lf2022/mobile/gnb_fnb_sp.png"/>
            <p:cNvPicPr>
              <a:picLocks noChangeAspect="1" noChangeArrowheads="1"/>
            </p:cNvPicPr>
            <p:nvPr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00" t="38037" r="84922" b="38044"/>
            <a:stretch/>
          </p:blipFill>
          <p:spPr bwMode="auto">
            <a:xfrm>
              <a:off x="290581" y="800779"/>
              <a:ext cx="181478" cy="18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63" name="그룹 162"/>
          <p:cNvGrpSpPr/>
          <p:nvPr/>
        </p:nvGrpSpPr>
        <p:grpSpPr>
          <a:xfrm>
            <a:off x="4967939" y="792520"/>
            <a:ext cx="983413" cy="195814"/>
            <a:chOff x="290581" y="792520"/>
            <a:chExt cx="983413" cy="195814"/>
          </a:xfrm>
        </p:grpSpPr>
        <p:sp>
          <p:nvSpPr>
            <p:cNvPr id="164" name="TextBox 163">
              <a:extLst>
                <a:ext uri="{FF2B5EF4-FFF2-40B4-BE49-F238E27FC236}">
                  <a16:creationId xmlns:a16="http://schemas.microsoft.com/office/drawing/2014/main" xmlns="" id="{0C96C875-C47F-4F5B-B4C1-F9D666A7BD9D}"/>
                </a:ext>
              </a:extLst>
            </p:cNvPr>
            <p:cNvSpPr txBox="1"/>
            <p:nvPr/>
          </p:nvSpPr>
          <p:spPr>
            <a:xfrm>
              <a:off x="542924" y="792520"/>
              <a:ext cx="731070" cy="195814"/>
            </a:xfrm>
            <a:prstGeom prst="rect">
              <a:avLst/>
            </a:prstGeom>
            <a:noFill/>
            <a:ln w="3175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none" lIns="108000" tIns="36000" rIns="108000" bIns="36000" numCol="1" rtlCol="0" anchor="ctr" anchorCtr="0" compatLnSpc="1">
              <a:prstTxWarp prst="textNoShape">
                <a:avLst/>
              </a:prstTxWarp>
              <a:spAutoFit/>
            </a:bodyPr>
            <a:lstStyle/>
            <a:p>
              <a:r>
                <a:rPr lang="ko-KR" altLang="en-US" sz="800" b="1" smtClean="0">
                  <a:solidFill>
                    <a:prstClr val="black">
                      <a:lumMod val="75000"/>
                      <a:lumOff val="25000"/>
                    </a:prstClr>
                  </a:solidFill>
                  <a:latin typeface="맑은 고딕" panose="020B0503020000020004" pitchFamily="50" charset="-127"/>
                </a:rPr>
                <a:t>마이페이지</a:t>
              </a:r>
              <a:endParaRPr lang="ko-KR" altLang="en-US" sz="800" b="1" dirty="0"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</a:endParaRPr>
            </a:p>
          </p:txBody>
        </p:sp>
        <p:pic>
          <p:nvPicPr>
            <p:cNvPr id="166" name="Picture 2" descr="https://img.lfmall.co.kr/file/WAS/display/lf2022/mobile/gnb_fnb_sp.png"/>
            <p:cNvPicPr>
              <a:picLocks noChangeAspect="1" noChangeArrowheads="1"/>
            </p:cNvPicPr>
            <p:nvPr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00" t="38037" r="84922" b="38044"/>
            <a:stretch/>
          </p:blipFill>
          <p:spPr bwMode="auto">
            <a:xfrm>
              <a:off x="290581" y="800779"/>
              <a:ext cx="181478" cy="18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167" name="제목 1"/>
          <p:cNvSpPr txBox="1">
            <a:spLocks/>
          </p:cNvSpPr>
          <p:nvPr/>
        </p:nvSpPr>
        <p:spPr>
          <a:xfrm>
            <a:off x="1223906" y="142660"/>
            <a:ext cx="1080000" cy="216000"/>
          </a:xfrm>
          <a:prstGeom prst="rect">
            <a:avLst/>
          </a:prstGeom>
        </p:spPr>
        <p:txBody>
          <a:bodyPr lIns="36000" tIns="36000" rIns="36000" bIns="36000" anchor="ctr"/>
          <a:lstStyle>
            <a:lvl1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2pPr>
            <a:lvl3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3pPr>
            <a:lvl4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4pPr>
            <a:lvl5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5pPr>
            <a:lvl6pPr marL="457212" algn="ctr" rtl="0" fontAlgn="base" latinLnBrk="1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6pPr>
            <a:lvl7pPr marL="914423" algn="ctr" rtl="0" fontAlgn="base" latinLnBrk="1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7pPr>
            <a:lvl8pPr marL="1371634" algn="ctr" rtl="0" fontAlgn="base" latinLnBrk="1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8pPr>
            <a:lvl9pPr marL="1828846" algn="ctr" rtl="0" fontAlgn="base" latinLnBrk="1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r>
              <a:rPr lang="en-US" altLang="ko-KR" sz="800" kern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Front-End</a:t>
            </a:r>
            <a:endParaRPr lang="ko-KR" altLang="en-US" sz="800" kern="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170" name="Group 118">
            <a:extLst>
              <a:ext uri="{FF2B5EF4-FFF2-40B4-BE49-F238E27FC236}">
                <a16:creationId xmlns:a16="http://schemas.microsoft.com/office/drawing/2014/main" xmlns="" id="{41B5A014-BEDB-439E-A302-DBCECEC856B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64873492"/>
              </p:ext>
            </p:extLst>
          </p:nvPr>
        </p:nvGraphicFramePr>
        <p:xfrm>
          <a:off x="9647906" y="709700"/>
          <a:ext cx="2376000" cy="558696"/>
        </p:xfrm>
        <a:graphic>
          <a:graphicData uri="http://schemas.openxmlformats.org/drawingml/2006/table">
            <a:tbl>
              <a:tblPr/>
              <a:tblGrid>
                <a:gridCol w="21600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21600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2520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 Semilight" panose="020B0502040204020203" pitchFamily="50" charset="-127"/>
                        </a:rPr>
                        <a:t>No</a:t>
                      </a:r>
                    </a:p>
                  </a:txBody>
                  <a:tcPr marL="42203" marR="42203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en-US" altLang="ko-KR" sz="700" b="0" baseline="0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 Semilight" panose="020B0502040204020203" pitchFamily="50" charset="-127"/>
                        </a:rPr>
                        <a:t>Description</a:t>
                      </a:r>
                    </a:p>
                  </a:txBody>
                  <a:tcPr marL="108000" marR="108000" marT="36000" marB="3600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 Semilight" panose="020B0502040204020203" pitchFamily="50" charset="-127"/>
                        </a:rPr>
                        <a:t>1</a:t>
                      </a:r>
                    </a:p>
                  </a:txBody>
                  <a:tcPr marL="42203" marR="42203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ko-KR" altLang="en-US" sz="700" b="0" baseline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  <a:cs typeface="Malgun Gothic Semilight" panose="020B0502040204020203" pitchFamily="50" charset="-127"/>
                        </a:rPr>
                        <a:t>최근 주문내역</a:t>
                      </a:r>
                      <a:endParaRPr lang="en-US" altLang="ko-KR" sz="700" b="0" baseline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  <a:cs typeface="Malgun Gothic Semilight" panose="020B0502040204020203" pitchFamily="50" charset="-127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en-US" altLang="ko-KR" sz="700" b="0" baseline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  <a:cs typeface="Malgun Gothic Semilight" panose="020B0502040204020203" pitchFamily="50" charset="-127"/>
                        </a:rPr>
                        <a:t> - </a:t>
                      </a:r>
                      <a:r>
                        <a:rPr lang="ko-KR" altLang="en-US" sz="700" b="0" baseline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  <a:cs typeface="Malgun Gothic Semilight" panose="020B0502040204020203" pitchFamily="50" charset="-127"/>
                        </a:rPr>
                        <a:t>배송 안내 영역에 </a:t>
                      </a:r>
                      <a:r>
                        <a:rPr lang="en-US" altLang="ko-KR" sz="700" b="0" baseline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  <a:cs typeface="Malgun Gothic Semilight" panose="020B0502040204020203" pitchFamily="50" charset="-127"/>
                        </a:rPr>
                        <a:t>‘</a:t>
                      </a:r>
                      <a:r>
                        <a:rPr lang="ko-KR" altLang="en-US" sz="700" b="0" baseline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  <a:cs typeface="Malgun Gothic Semilight" panose="020B0502040204020203" pitchFamily="50" charset="-127"/>
                        </a:rPr>
                        <a:t>매장상품배송</a:t>
                      </a:r>
                      <a:r>
                        <a:rPr lang="en-US" altLang="ko-KR" sz="700" b="0" baseline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  <a:cs typeface="Malgun Gothic Semilight" panose="020B0502040204020203" pitchFamily="50" charset="-127"/>
                        </a:rPr>
                        <a:t>’ </a:t>
                      </a:r>
                      <a:r>
                        <a:rPr lang="ko-KR" altLang="en-US" sz="700" b="0" baseline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  <a:cs typeface="Malgun Gothic Semilight" panose="020B0502040204020203" pitchFamily="50" charset="-127"/>
                        </a:rPr>
                        <a:t>정보 표현</a:t>
                      </a:r>
                      <a:endParaRPr lang="en-US" altLang="ko-KR" sz="700" b="0" baseline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108000" marR="108000" marT="36000" marB="3600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</a:tbl>
          </a:graphicData>
        </a:graphic>
      </p:graphicFrame>
      <p:sp>
        <p:nvSpPr>
          <p:cNvPr id="4" name="타원 3"/>
          <p:cNvSpPr/>
          <p:nvPr/>
        </p:nvSpPr>
        <p:spPr>
          <a:xfrm>
            <a:off x="359906" y="1211722"/>
            <a:ext cx="360000" cy="360000"/>
          </a:xfrm>
          <a:prstGeom prst="ellipse">
            <a:avLst/>
          </a:prstGeom>
          <a:solidFill>
            <a:schemeClr val="tx1">
              <a:lumMod val="75000"/>
              <a:lumOff val="2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36000" rtlCol="0" anchor="ctr"/>
          <a:lstStyle/>
          <a:p>
            <a:pPr algn="ctr"/>
            <a:r>
              <a:rPr lang="en-US" altLang="ko-KR" sz="140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B</a:t>
            </a:r>
            <a:endParaRPr lang="ko-KR" altLang="en-US" sz="140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13" name="그룹 12"/>
          <p:cNvGrpSpPr/>
          <p:nvPr/>
        </p:nvGrpSpPr>
        <p:grpSpPr>
          <a:xfrm>
            <a:off x="323906" y="1463722"/>
            <a:ext cx="432000" cy="180000"/>
            <a:chOff x="8340873" y="2077038"/>
            <a:chExt cx="432000" cy="180000"/>
          </a:xfrm>
          <a:solidFill>
            <a:schemeClr val="bg1">
              <a:lumMod val="85000"/>
            </a:schemeClr>
          </a:solidFill>
        </p:grpSpPr>
        <p:sp>
          <p:nvSpPr>
            <p:cNvPr id="11" name="직사각형 10"/>
            <p:cNvSpPr/>
            <p:nvPr/>
          </p:nvSpPr>
          <p:spPr>
            <a:xfrm>
              <a:off x="8340873" y="2113038"/>
              <a:ext cx="432000" cy="144000"/>
            </a:xfrm>
            <a:prstGeom prst="rect">
              <a:avLst/>
            </a:prstGeom>
            <a:grp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50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등급혜택 확인</a:t>
              </a:r>
              <a:endParaRPr lang="ko-KR" altLang="en-US" sz="5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2" name="이등변 삼각형 11"/>
            <p:cNvSpPr/>
            <p:nvPr/>
          </p:nvSpPr>
          <p:spPr>
            <a:xfrm>
              <a:off x="8520873" y="2077038"/>
              <a:ext cx="72000" cy="36000"/>
            </a:xfrm>
            <a:prstGeom prst="triangle">
              <a:avLst/>
            </a:prstGeom>
            <a:grp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8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grpSp>
        <p:nvGrpSpPr>
          <p:cNvPr id="19" name="그룹 18"/>
          <p:cNvGrpSpPr/>
          <p:nvPr/>
        </p:nvGrpSpPr>
        <p:grpSpPr>
          <a:xfrm>
            <a:off x="828285" y="1259280"/>
            <a:ext cx="918054" cy="336884"/>
            <a:chOff x="828285" y="1259280"/>
            <a:chExt cx="918054" cy="336884"/>
          </a:xfrm>
        </p:grpSpPr>
        <p:sp>
          <p:nvSpPr>
            <p:cNvPr id="467" name="TextBox 466">
              <a:extLst>
                <a:ext uri="{FF2B5EF4-FFF2-40B4-BE49-F238E27FC236}">
                  <a16:creationId xmlns:a16="http://schemas.microsoft.com/office/drawing/2014/main" xmlns="" id="{0C96C875-C47F-4F5B-B4C1-F9D666A7BD9D}"/>
                </a:ext>
              </a:extLst>
            </p:cNvPr>
            <p:cNvSpPr txBox="1"/>
            <p:nvPr/>
          </p:nvSpPr>
          <p:spPr>
            <a:xfrm>
              <a:off x="828285" y="1259280"/>
              <a:ext cx="658367" cy="226591"/>
            </a:xfrm>
            <a:prstGeom prst="rect">
              <a:avLst/>
            </a:prstGeom>
            <a:noFill/>
            <a:ln w="3175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none" lIns="36000" tIns="36000" rIns="108000" bIns="36000" numCol="1" rtlCol="0" anchor="ctr" anchorCtr="0" compatLnSpc="1">
              <a:prstTxWarp prst="textNoShape">
                <a:avLst/>
              </a:prstTxWarp>
              <a:spAutoFit/>
            </a:bodyPr>
            <a:lstStyle/>
            <a:p>
              <a:r>
                <a:rPr lang="ko-KR" altLang="en-US" sz="1000" b="1" u="sng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홍길동</a:t>
              </a:r>
              <a:r>
                <a:rPr lang="ko-KR" altLang="en-US" sz="1000" u="sng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님</a:t>
              </a:r>
              <a:endParaRPr lang="ko-KR" altLang="en-US" sz="1000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176" name="TextBox 175">
              <a:extLst>
                <a:ext uri="{FF2B5EF4-FFF2-40B4-BE49-F238E27FC236}">
                  <a16:creationId xmlns:a16="http://schemas.microsoft.com/office/drawing/2014/main" xmlns="" id="{0C96C875-C47F-4F5B-B4C1-F9D666A7BD9D}"/>
                </a:ext>
              </a:extLst>
            </p:cNvPr>
            <p:cNvSpPr txBox="1"/>
            <p:nvPr/>
          </p:nvSpPr>
          <p:spPr>
            <a:xfrm>
              <a:off x="828285" y="1488442"/>
              <a:ext cx="918054" cy="107722"/>
            </a:xfrm>
            <a:prstGeom prst="rect">
              <a:avLst/>
            </a:prstGeom>
            <a:noFill/>
            <a:ln w="3175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none" lIns="36000" tIns="0" rIns="108000" bIns="0" numCol="1" rtlCol="0" anchor="ctr" anchorCtr="0" compatLnSpc="1">
              <a:prstTxWarp prst="textNoShape">
                <a:avLst/>
              </a:prstTxWarp>
              <a:spAutoFit/>
            </a:bodyPr>
            <a:lstStyle/>
            <a:p>
              <a:r>
                <a:rPr lang="ko-KR" altLang="en-US" sz="70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숨은 패션 고수형 </a:t>
              </a:r>
              <a:r>
                <a:rPr lang="en-US" altLang="ko-KR" sz="70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〉</a:t>
              </a:r>
              <a:endParaRPr lang="ko-KR" altLang="en-US" sz="7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endParaRPr>
            </a:p>
          </p:txBody>
        </p:sp>
      </p:grpSp>
      <p:sp>
        <p:nvSpPr>
          <p:cNvPr id="182" name="직사각형 181">
            <a:extLst>
              <a:ext uri="{FF2B5EF4-FFF2-40B4-BE49-F238E27FC236}">
                <a16:creationId xmlns:a16="http://schemas.microsoft.com/office/drawing/2014/main" xmlns="" id="{F9776C3A-3D6C-4965-9DA5-D76F1E6E1639}"/>
              </a:ext>
            </a:extLst>
          </p:cNvPr>
          <p:cNvSpPr/>
          <p:nvPr/>
        </p:nvSpPr>
        <p:spPr>
          <a:xfrm>
            <a:off x="2953179" y="3446520"/>
            <a:ext cx="72000" cy="1800010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>
              <a:solidFill>
                <a:prstClr val="black">
                  <a:lumMod val="75000"/>
                  <a:lumOff val="25000"/>
                </a:prst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183" name="직사각형 182">
            <a:extLst>
              <a:ext uri="{FF2B5EF4-FFF2-40B4-BE49-F238E27FC236}">
                <a16:creationId xmlns:a16="http://schemas.microsoft.com/office/drawing/2014/main" xmlns="" id="{F9776C3A-3D6C-4965-9DA5-D76F1E6E1639}"/>
              </a:ext>
            </a:extLst>
          </p:cNvPr>
          <p:cNvSpPr/>
          <p:nvPr/>
        </p:nvSpPr>
        <p:spPr>
          <a:xfrm>
            <a:off x="4823939" y="3446520"/>
            <a:ext cx="72000" cy="1800010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>
              <a:solidFill>
                <a:prstClr val="black">
                  <a:lumMod val="75000"/>
                  <a:lumOff val="25000"/>
                </a:prst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202" name="TextBox 201">
            <a:extLst>
              <a:ext uri="{FF2B5EF4-FFF2-40B4-BE49-F238E27FC236}">
                <a16:creationId xmlns:a16="http://schemas.microsoft.com/office/drawing/2014/main" xmlns="" id="{0C96C875-C47F-4F5B-B4C1-F9D666A7BD9D}"/>
              </a:ext>
            </a:extLst>
          </p:cNvPr>
          <p:cNvSpPr txBox="1"/>
          <p:nvPr/>
        </p:nvSpPr>
        <p:spPr>
          <a:xfrm>
            <a:off x="6984819" y="1231151"/>
            <a:ext cx="511926" cy="180425"/>
          </a:xfrm>
          <a:prstGeom prst="rect">
            <a:avLst/>
          </a:prstGeom>
          <a:noFill/>
          <a:ln w="317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36000" tIns="36000" rIns="36000" bIns="36000" numCol="1" rtlCol="0" anchor="ctr" anchorCtr="0" compatLnSpc="1">
            <a:prstTxWarp prst="textNoShape">
              <a:avLst/>
            </a:prstTxWarp>
            <a:spAutoFit/>
          </a:bodyPr>
          <a:lstStyle/>
          <a:p>
            <a:pPr algn="r"/>
            <a:r>
              <a:rPr lang="ko-KR" altLang="en-US" sz="7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회원정보</a:t>
            </a:r>
            <a:r>
              <a:rPr lang="en-US" altLang="ko-KR" sz="7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 〉</a:t>
            </a:r>
            <a:endParaRPr lang="ko-KR" altLang="en-US" sz="7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203" name="TextBox 202">
            <a:extLst>
              <a:ext uri="{FF2B5EF4-FFF2-40B4-BE49-F238E27FC236}">
                <a16:creationId xmlns:a16="http://schemas.microsoft.com/office/drawing/2014/main" xmlns="" id="{0C96C875-C47F-4F5B-B4C1-F9D666A7BD9D}"/>
              </a:ext>
            </a:extLst>
          </p:cNvPr>
          <p:cNvSpPr txBox="1"/>
          <p:nvPr/>
        </p:nvSpPr>
        <p:spPr>
          <a:xfrm>
            <a:off x="6909477" y="1447028"/>
            <a:ext cx="587268" cy="180425"/>
          </a:xfrm>
          <a:prstGeom prst="rect">
            <a:avLst/>
          </a:prstGeom>
          <a:noFill/>
          <a:ln w="317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36000" tIns="36000" rIns="36000" bIns="36000" numCol="1" rtlCol="0" anchor="ctr" anchorCtr="0" compatLnSpc="1">
            <a:prstTxWarp prst="textNoShape">
              <a:avLst/>
            </a:prstTxWarp>
            <a:spAutoFit/>
          </a:bodyPr>
          <a:lstStyle/>
          <a:p>
            <a:pPr algn="r"/>
            <a:r>
              <a:rPr lang="en-US" altLang="ko-KR" sz="7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VIP </a:t>
            </a:r>
            <a:r>
              <a:rPr lang="ko-KR" altLang="en-US" sz="7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라운지</a:t>
            </a:r>
            <a:r>
              <a:rPr lang="en-US" altLang="ko-KR" sz="7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 〉</a:t>
            </a:r>
            <a:endParaRPr lang="ko-KR" altLang="en-US" sz="7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</a:endParaRPr>
          </a:p>
        </p:txBody>
      </p:sp>
      <p:cxnSp>
        <p:nvCxnSpPr>
          <p:cNvPr id="204" name="직선 연결선 203">
            <a:extLst>
              <a:ext uri="{FF2B5EF4-FFF2-40B4-BE49-F238E27FC236}">
                <a16:creationId xmlns:a16="http://schemas.microsoft.com/office/drawing/2014/main" xmlns="" id="{6617394B-F1B1-4D43-9D55-8D39C6B40841}"/>
              </a:ext>
            </a:extLst>
          </p:cNvPr>
          <p:cNvCxnSpPr>
            <a:cxnSpLocks/>
          </p:cNvCxnSpPr>
          <p:nvPr/>
        </p:nvCxnSpPr>
        <p:spPr>
          <a:xfrm>
            <a:off x="6988782" y="1429363"/>
            <a:ext cx="504000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5" name="타원 204"/>
          <p:cNvSpPr/>
          <p:nvPr/>
        </p:nvSpPr>
        <p:spPr>
          <a:xfrm>
            <a:off x="5038666" y="1211722"/>
            <a:ext cx="360000" cy="360000"/>
          </a:xfrm>
          <a:prstGeom prst="ellipse">
            <a:avLst/>
          </a:prstGeom>
          <a:solidFill>
            <a:schemeClr val="tx1">
              <a:lumMod val="75000"/>
              <a:lumOff val="2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36000" rtlCol="0" anchor="ctr"/>
          <a:lstStyle/>
          <a:p>
            <a:pPr algn="ctr"/>
            <a:r>
              <a:rPr lang="en-US" altLang="ko-KR" sz="140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B</a:t>
            </a:r>
            <a:endParaRPr lang="ko-KR" altLang="en-US" sz="140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206" name="그룹 205"/>
          <p:cNvGrpSpPr/>
          <p:nvPr/>
        </p:nvGrpSpPr>
        <p:grpSpPr>
          <a:xfrm>
            <a:off x="5002666" y="1463722"/>
            <a:ext cx="432000" cy="180000"/>
            <a:chOff x="8340873" y="2077038"/>
            <a:chExt cx="432000" cy="180000"/>
          </a:xfrm>
          <a:solidFill>
            <a:schemeClr val="bg1">
              <a:lumMod val="85000"/>
            </a:schemeClr>
          </a:solidFill>
        </p:grpSpPr>
        <p:sp>
          <p:nvSpPr>
            <p:cNvPr id="210" name="직사각형 209"/>
            <p:cNvSpPr/>
            <p:nvPr/>
          </p:nvSpPr>
          <p:spPr>
            <a:xfrm>
              <a:off x="8340873" y="2113038"/>
              <a:ext cx="432000" cy="144000"/>
            </a:xfrm>
            <a:prstGeom prst="rect">
              <a:avLst/>
            </a:prstGeom>
            <a:grp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50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등급혜택 확인</a:t>
              </a:r>
              <a:endParaRPr lang="ko-KR" altLang="en-US" sz="5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211" name="이등변 삼각형 210"/>
            <p:cNvSpPr/>
            <p:nvPr/>
          </p:nvSpPr>
          <p:spPr>
            <a:xfrm>
              <a:off x="8520873" y="2077038"/>
              <a:ext cx="72000" cy="36000"/>
            </a:xfrm>
            <a:prstGeom prst="triangle">
              <a:avLst/>
            </a:prstGeom>
            <a:grp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8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grpSp>
        <p:nvGrpSpPr>
          <p:cNvPr id="207" name="그룹 206"/>
          <p:cNvGrpSpPr/>
          <p:nvPr/>
        </p:nvGrpSpPr>
        <p:grpSpPr>
          <a:xfrm>
            <a:off x="5507045" y="1259280"/>
            <a:ext cx="918054" cy="336884"/>
            <a:chOff x="828285" y="1259280"/>
            <a:chExt cx="918054" cy="336884"/>
          </a:xfrm>
        </p:grpSpPr>
        <p:sp>
          <p:nvSpPr>
            <p:cNvPr id="208" name="TextBox 207">
              <a:extLst>
                <a:ext uri="{FF2B5EF4-FFF2-40B4-BE49-F238E27FC236}">
                  <a16:creationId xmlns:a16="http://schemas.microsoft.com/office/drawing/2014/main" xmlns="" id="{0C96C875-C47F-4F5B-B4C1-F9D666A7BD9D}"/>
                </a:ext>
              </a:extLst>
            </p:cNvPr>
            <p:cNvSpPr txBox="1"/>
            <p:nvPr/>
          </p:nvSpPr>
          <p:spPr>
            <a:xfrm>
              <a:off x="828285" y="1259280"/>
              <a:ext cx="658367" cy="226591"/>
            </a:xfrm>
            <a:prstGeom prst="rect">
              <a:avLst/>
            </a:prstGeom>
            <a:noFill/>
            <a:ln w="3175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none" lIns="36000" tIns="36000" rIns="108000" bIns="36000" numCol="1" rtlCol="0" anchor="ctr" anchorCtr="0" compatLnSpc="1">
              <a:prstTxWarp prst="textNoShape">
                <a:avLst/>
              </a:prstTxWarp>
              <a:spAutoFit/>
            </a:bodyPr>
            <a:lstStyle/>
            <a:p>
              <a:r>
                <a:rPr lang="ko-KR" altLang="en-US" sz="1000" b="1" u="sng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홍길동</a:t>
              </a:r>
              <a:r>
                <a:rPr lang="ko-KR" altLang="en-US" sz="1000" u="sng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님</a:t>
              </a:r>
              <a:endParaRPr lang="ko-KR" altLang="en-US" sz="1000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209" name="TextBox 208">
              <a:extLst>
                <a:ext uri="{FF2B5EF4-FFF2-40B4-BE49-F238E27FC236}">
                  <a16:creationId xmlns:a16="http://schemas.microsoft.com/office/drawing/2014/main" xmlns="" id="{0C96C875-C47F-4F5B-B4C1-F9D666A7BD9D}"/>
                </a:ext>
              </a:extLst>
            </p:cNvPr>
            <p:cNvSpPr txBox="1"/>
            <p:nvPr/>
          </p:nvSpPr>
          <p:spPr>
            <a:xfrm>
              <a:off x="828285" y="1488442"/>
              <a:ext cx="918054" cy="107722"/>
            </a:xfrm>
            <a:prstGeom prst="rect">
              <a:avLst/>
            </a:prstGeom>
            <a:noFill/>
            <a:ln w="3175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none" lIns="36000" tIns="0" rIns="108000" bIns="0" numCol="1" rtlCol="0" anchor="ctr" anchorCtr="0" compatLnSpc="1">
              <a:prstTxWarp prst="textNoShape">
                <a:avLst/>
              </a:prstTxWarp>
              <a:spAutoFit/>
            </a:bodyPr>
            <a:lstStyle/>
            <a:p>
              <a:r>
                <a:rPr lang="ko-KR" altLang="en-US" sz="70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숨은 패션 고수형 </a:t>
              </a:r>
              <a:r>
                <a:rPr lang="en-US" altLang="ko-KR" sz="70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〉</a:t>
              </a:r>
              <a:endParaRPr lang="ko-KR" altLang="en-US" sz="7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endParaRPr>
            </a:p>
          </p:txBody>
        </p:sp>
      </p:grpSp>
      <p:sp>
        <p:nvSpPr>
          <p:cNvPr id="155" name="직사각형 154">
            <a:extLst>
              <a:ext uri="{FF2B5EF4-FFF2-40B4-BE49-F238E27FC236}">
                <a16:creationId xmlns:a16="http://schemas.microsoft.com/office/drawing/2014/main" xmlns="" id="{8392E679-C745-496E-8916-C656AE57791E}"/>
              </a:ext>
            </a:extLst>
          </p:cNvPr>
          <p:cNvSpPr/>
          <p:nvPr/>
        </p:nvSpPr>
        <p:spPr>
          <a:xfrm>
            <a:off x="144958" y="2293661"/>
            <a:ext cx="2880000" cy="72000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 dirty="0">
              <a:solidFill>
                <a:prstClr val="black">
                  <a:lumMod val="75000"/>
                  <a:lumOff val="25000"/>
                </a:prst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169" name="TextBox 168">
            <a:extLst>
              <a:ext uri="{FF2B5EF4-FFF2-40B4-BE49-F238E27FC236}">
                <a16:creationId xmlns:a16="http://schemas.microsoft.com/office/drawing/2014/main" xmlns="" id="{0C96C875-C47F-4F5B-B4C1-F9D666A7BD9D}"/>
              </a:ext>
            </a:extLst>
          </p:cNvPr>
          <p:cNvSpPr txBox="1"/>
          <p:nvPr/>
        </p:nvSpPr>
        <p:spPr>
          <a:xfrm>
            <a:off x="323906" y="2475058"/>
            <a:ext cx="805276" cy="211203"/>
          </a:xfrm>
          <a:prstGeom prst="rect">
            <a:avLst/>
          </a:prstGeom>
          <a:noFill/>
          <a:ln w="317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36000" tIns="36000" rIns="36000" bIns="36000" numCol="1" rtlCol="0" anchor="ctr" anchorCtr="0" compatLnSpc="1">
            <a:prstTxWarp prst="textNoShape">
              <a:avLst/>
            </a:prstTxWarp>
            <a:spAutoFit/>
          </a:bodyPr>
          <a:lstStyle/>
          <a:p>
            <a:r>
              <a:rPr lang="ko-KR" altLang="en-US" sz="900" b="1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주문목록 조회</a:t>
            </a:r>
            <a:endParaRPr lang="ko-KR" altLang="en-US" sz="900" b="1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</a:endParaRPr>
          </a:p>
        </p:txBody>
      </p:sp>
      <p:cxnSp>
        <p:nvCxnSpPr>
          <p:cNvPr id="185" name="직선 연결선 184">
            <a:extLst>
              <a:ext uri="{FF2B5EF4-FFF2-40B4-BE49-F238E27FC236}">
                <a16:creationId xmlns:a16="http://schemas.microsoft.com/office/drawing/2014/main" xmlns="" id="{6617394B-F1B1-4D43-9D55-8D39C6B40841}"/>
              </a:ext>
            </a:extLst>
          </p:cNvPr>
          <p:cNvCxnSpPr>
            <a:cxnSpLocks/>
          </p:cNvCxnSpPr>
          <p:nvPr/>
        </p:nvCxnSpPr>
        <p:spPr>
          <a:xfrm>
            <a:off x="145179" y="2797294"/>
            <a:ext cx="2880000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7" name="TextBox 186">
            <a:extLst>
              <a:ext uri="{FF2B5EF4-FFF2-40B4-BE49-F238E27FC236}">
                <a16:creationId xmlns:a16="http://schemas.microsoft.com/office/drawing/2014/main" xmlns="" id="{0C96C875-C47F-4F5B-B4C1-F9D666A7BD9D}"/>
              </a:ext>
            </a:extLst>
          </p:cNvPr>
          <p:cNvSpPr txBox="1"/>
          <p:nvPr/>
        </p:nvSpPr>
        <p:spPr>
          <a:xfrm>
            <a:off x="2347179" y="2491082"/>
            <a:ext cx="511926" cy="180425"/>
          </a:xfrm>
          <a:prstGeom prst="rect">
            <a:avLst/>
          </a:prstGeom>
          <a:noFill/>
          <a:ln w="317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36000" tIns="36000" rIns="36000" bIns="36000" numCol="1" rtlCol="0" anchor="ctr" anchorCtr="0" compatLnSpc="1">
            <a:prstTxWarp prst="textNoShape">
              <a:avLst/>
            </a:prstTxWarp>
            <a:spAutoFit/>
          </a:bodyPr>
          <a:lstStyle/>
          <a:p>
            <a:pPr algn="r"/>
            <a:r>
              <a:rPr lang="ko-KR" altLang="en-US" sz="700" smtClean="0">
                <a:solidFill>
                  <a:srgbClr val="4285F4"/>
                </a:solidFill>
                <a:latin typeface="맑은 고딕" panose="020B0503020000020004" pitchFamily="50" charset="-127"/>
              </a:rPr>
              <a:t>전체보기 </a:t>
            </a:r>
            <a:r>
              <a:rPr lang="en-US" altLang="ko-KR" sz="700" smtClean="0">
                <a:solidFill>
                  <a:srgbClr val="4285F4"/>
                </a:solidFill>
                <a:latin typeface="맑은 고딕" panose="020B0503020000020004" pitchFamily="50" charset="-127"/>
              </a:rPr>
              <a:t>〉</a:t>
            </a:r>
            <a:endParaRPr lang="ko-KR" altLang="en-US" sz="700" dirty="0">
              <a:solidFill>
                <a:srgbClr val="4285F4"/>
              </a:solidFill>
              <a:latin typeface="맑은 고딕" panose="020B0503020000020004" pitchFamily="50" charset="-127"/>
            </a:endParaRPr>
          </a:p>
        </p:txBody>
      </p:sp>
      <p:sp>
        <p:nvSpPr>
          <p:cNvPr id="213" name="직사각형 212">
            <a:extLst>
              <a:ext uri="{FF2B5EF4-FFF2-40B4-BE49-F238E27FC236}">
                <a16:creationId xmlns:a16="http://schemas.microsoft.com/office/drawing/2014/main" xmlns="" id="{8392E679-C745-496E-8916-C656AE57791E}"/>
              </a:ext>
            </a:extLst>
          </p:cNvPr>
          <p:cNvSpPr/>
          <p:nvPr/>
        </p:nvSpPr>
        <p:spPr>
          <a:xfrm>
            <a:off x="4823718" y="2293661"/>
            <a:ext cx="2880000" cy="72000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 dirty="0">
              <a:solidFill>
                <a:prstClr val="black">
                  <a:lumMod val="75000"/>
                  <a:lumOff val="25000"/>
                </a:prst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214" name="TextBox 213">
            <a:extLst>
              <a:ext uri="{FF2B5EF4-FFF2-40B4-BE49-F238E27FC236}">
                <a16:creationId xmlns:a16="http://schemas.microsoft.com/office/drawing/2014/main" xmlns="" id="{0C96C875-C47F-4F5B-B4C1-F9D666A7BD9D}"/>
              </a:ext>
            </a:extLst>
          </p:cNvPr>
          <p:cNvSpPr txBox="1"/>
          <p:nvPr/>
        </p:nvSpPr>
        <p:spPr>
          <a:xfrm>
            <a:off x="5002666" y="2475058"/>
            <a:ext cx="805276" cy="211203"/>
          </a:xfrm>
          <a:prstGeom prst="rect">
            <a:avLst/>
          </a:prstGeom>
          <a:noFill/>
          <a:ln w="317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36000" tIns="36000" rIns="36000" bIns="36000" numCol="1" rtlCol="0" anchor="ctr" anchorCtr="0" compatLnSpc="1">
            <a:prstTxWarp prst="textNoShape">
              <a:avLst/>
            </a:prstTxWarp>
            <a:spAutoFit/>
          </a:bodyPr>
          <a:lstStyle/>
          <a:p>
            <a:r>
              <a:rPr lang="ko-KR" altLang="en-US" sz="900" b="1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주문목록 조회</a:t>
            </a:r>
            <a:endParaRPr lang="ko-KR" altLang="en-US" sz="900" b="1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</a:endParaRPr>
          </a:p>
        </p:txBody>
      </p:sp>
      <p:cxnSp>
        <p:nvCxnSpPr>
          <p:cNvPr id="216" name="직선 연결선 215">
            <a:extLst>
              <a:ext uri="{FF2B5EF4-FFF2-40B4-BE49-F238E27FC236}">
                <a16:creationId xmlns:a16="http://schemas.microsoft.com/office/drawing/2014/main" xmlns="" id="{6617394B-F1B1-4D43-9D55-8D39C6B40841}"/>
              </a:ext>
            </a:extLst>
          </p:cNvPr>
          <p:cNvCxnSpPr>
            <a:cxnSpLocks/>
          </p:cNvCxnSpPr>
          <p:nvPr/>
        </p:nvCxnSpPr>
        <p:spPr>
          <a:xfrm>
            <a:off x="4823939" y="2797294"/>
            <a:ext cx="2880000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7" name="TextBox 216">
            <a:extLst>
              <a:ext uri="{FF2B5EF4-FFF2-40B4-BE49-F238E27FC236}">
                <a16:creationId xmlns:a16="http://schemas.microsoft.com/office/drawing/2014/main" xmlns="" id="{0C96C875-C47F-4F5B-B4C1-F9D666A7BD9D}"/>
              </a:ext>
            </a:extLst>
          </p:cNvPr>
          <p:cNvSpPr txBox="1"/>
          <p:nvPr/>
        </p:nvSpPr>
        <p:spPr>
          <a:xfrm>
            <a:off x="7025939" y="2491082"/>
            <a:ext cx="511926" cy="180425"/>
          </a:xfrm>
          <a:prstGeom prst="rect">
            <a:avLst/>
          </a:prstGeom>
          <a:noFill/>
          <a:ln w="317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36000" tIns="36000" rIns="36000" bIns="36000" numCol="1" rtlCol="0" anchor="ctr" anchorCtr="0" compatLnSpc="1">
            <a:prstTxWarp prst="textNoShape">
              <a:avLst/>
            </a:prstTxWarp>
            <a:spAutoFit/>
          </a:bodyPr>
          <a:lstStyle/>
          <a:p>
            <a:pPr algn="r"/>
            <a:r>
              <a:rPr lang="ko-KR" altLang="en-US" sz="700" smtClean="0">
                <a:solidFill>
                  <a:srgbClr val="4285F4"/>
                </a:solidFill>
                <a:latin typeface="맑은 고딕" panose="020B0503020000020004" pitchFamily="50" charset="-127"/>
              </a:rPr>
              <a:t>전체보기 </a:t>
            </a:r>
            <a:r>
              <a:rPr lang="en-US" altLang="ko-KR" sz="700" smtClean="0">
                <a:solidFill>
                  <a:srgbClr val="4285F4"/>
                </a:solidFill>
                <a:latin typeface="맑은 고딕" panose="020B0503020000020004" pitchFamily="50" charset="-127"/>
              </a:rPr>
              <a:t>〉</a:t>
            </a:r>
            <a:endParaRPr lang="ko-KR" altLang="en-US" sz="700" dirty="0">
              <a:solidFill>
                <a:srgbClr val="4285F4"/>
              </a:solidFill>
              <a:latin typeface="맑은 고딕" panose="020B0503020000020004" pitchFamily="50" charset="-127"/>
            </a:endParaRPr>
          </a:p>
        </p:txBody>
      </p:sp>
      <p:grpSp>
        <p:nvGrpSpPr>
          <p:cNvPr id="172" name="그룹 171"/>
          <p:cNvGrpSpPr/>
          <p:nvPr/>
        </p:nvGrpSpPr>
        <p:grpSpPr>
          <a:xfrm>
            <a:off x="955562" y="3554520"/>
            <a:ext cx="1641879" cy="144000"/>
            <a:chOff x="1043785" y="3012651"/>
            <a:chExt cx="1641879" cy="144000"/>
          </a:xfrm>
        </p:grpSpPr>
        <p:sp>
          <p:nvSpPr>
            <p:cNvPr id="173" name="TextBox 172">
              <a:extLst>
                <a:ext uri="{FF2B5EF4-FFF2-40B4-BE49-F238E27FC236}">
                  <a16:creationId xmlns="" xmlns:a16="http://schemas.microsoft.com/office/drawing/2014/main" id="{0C96C875-C47F-4F5B-B4C1-F9D666A7BD9D}"/>
                </a:ext>
              </a:extLst>
            </p:cNvPr>
            <p:cNvSpPr txBox="1"/>
            <p:nvPr/>
          </p:nvSpPr>
          <p:spPr>
            <a:xfrm>
              <a:off x="1043785" y="3030790"/>
              <a:ext cx="1641879" cy="107722"/>
            </a:xfrm>
            <a:prstGeom prst="rect">
              <a:avLst/>
            </a:prstGeom>
            <a:noFill/>
            <a:ln w="3175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none" lIns="756000" tIns="0" rIns="108000" bIns="0" numCol="1" rtlCol="0" anchor="ctr" anchorCtr="0" compatLnSpc="1">
              <a:prstTxWarp prst="textNoShape">
                <a:avLst/>
              </a:prstTxWarp>
              <a:spAutoFit/>
            </a:bodyPr>
            <a:lstStyle>
              <a:defPPr>
                <a:defRPr lang="ko-KR"/>
              </a:defPPr>
              <a:lvl1pPr>
                <a:defRPr sz="800">
                  <a:solidFill>
                    <a:prstClr val="black">
                      <a:lumMod val="75000"/>
                      <a:lumOff val="25000"/>
                    </a:prstClr>
                  </a:solidFill>
                  <a:latin typeface="맑은 고딕" panose="020B0503020000020004" pitchFamily="50" charset="-127"/>
                </a:defRPr>
              </a:lvl1pPr>
            </a:lstStyle>
            <a:p>
              <a:r>
                <a:rPr lang="en-US" altLang="ko-KR" sz="700">
                  <a:solidFill>
                    <a:srgbClr val="DC2832"/>
                  </a:solidFill>
                </a:rPr>
                <a:t>01/14(</a:t>
              </a:r>
              <a:r>
                <a:rPr lang="ko-KR" altLang="en-US" sz="700">
                  <a:solidFill>
                    <a:srgbClr val="DC2832"/>
                  </a:solidFill>
                </a:rPr>
                <a:t>수</a:t>
              </a:r>
              <a:r>
                <a:rPr lang="en-US" altLang="ko-KR" sz="700">
                  <a:solidFill>
                    <a:srgbClr val="DC2832"/>
                  </a:solidFill>
                </a:rPr>
                <a:t>) </a:t>
              </a:r>
              <a:r>
                <a:rPr lang="ko-KR" altLang="en-US" sz="70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도착예정</a:t>
              </a:r>
              <a:endParaRPr lang="ko-KR" altLang="en-US" sz="700" dirty="0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</p:txBody>
        </p:sp>
        <p:sp>
          <p:nvSpPr>
            <p:cNvPr id="174" name="직사각형 173"/>
            <p:cNvSpPr/>
            <p:nvPr/>
          </p:nvSpPr>
          <p:spPr>
            <a:xfrm>
              <a:off x="1151755" y="3012651"/>
              <a:ext cx="576000" cy="144000"/>
            </a:xfrm>
            <a:prstGeom prst="rect">
              <a:avLst/>
            </a:prstGeom>
            <a:gradFill flip="none" rotWithShape="1">
              <a:gsLst>
                <a:gs pos="0">
                  <a:schemeClr val="accent5">
                    <a:lumMod val="75000"/>
                  </a:schemeClr>
                </a:gs>
                <a:gs pos="50000">
                  <a:schemeClr val="accent5"/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0" scaled="1"/>
              <a:tileRect/>
            </a:gra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600" smtClean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매장상품배송</a:t>
              </a:r>
              <a:endParaRPr lang="ko-KR" altLang="en-US" sz="60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1012442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제목 1"/>
          <p:cNvSpPr txBox="1">
            <a:spLocks/>
          </p:cNvSpPr>
          <p:nvPr/>
        </p:nvSpPr>
        <p:spPr>
          <a:xfrm>
            <a:off x="1223906" y="358660"/>
            <a:ext cx="1080000" cy="216000"/>
          </a:xfrm>
          <a:prstGeom prst="rect">
            <a:avLst/>
          </a:prstGeom>
        </p:spPr>
        <p:txBody>
          <a:bodyPr lIns="36000" tIns="36000" rIns="36000" bIns="36000" anchor="ctr"/>
          <a:lstStyle>
            <a:lvl1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2pPr>
            <a:lvl3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3pPr>
            <a:lvl4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4pPr>
            <a:lvl5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5pPr>
            <a:lvl6pPr marL="457212" algn="ctr" rtl="0" fontAlgn="base" latinLnBrk="1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6pPr>
            <a:lvl7pPr marL="914423" algn="ctr" rtl="0" fontAlgn="base" latinLnBrk="1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7pPr>
            <a:lvl8pPr marL="1371634" algn="ctr" rtl="0" fontAlgn="base" latinLnBrk="1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8pPr>
            <a:lvl9pPr marL="1828846" algn="ctr" rtl="0" fontAlgn="base" latinLnBrk="1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r>
              <a:rPr lang="en-US" altLang="ko-KR" sz="800" kern="0" dirty="0"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</a:rPr>
              <a:t>-</a:t>
            </a:r>
            <a:endParaRPr lang="ko-KR" altLang="en-US" sz="800" kern="0">
              <a:solidFill>
                <a:prstClr val="black">
                  <a:lumMod val="75000"/>
                  <a:lumOff val="25000"/>
                </a:prst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200" name="제목 1">
            <a:extLst>
              <a:ext uri="{FF2B5EF4-FFF2-40B4-BE49-F238E27FC236}">
                <a16:creationId xmlns:a16="http://schemas.microsoft.com/office/drawing/2014/main" xmlns="" id="{03F65532-A01C-4981-B987-5E15F64E3ABB}"/>
              </a:ext>
            </a:extLst>
          </p:cNvPr>
          <p:cNvSpPr txBox="1">
            <a:spLocks/>
          </p:cNvSpPr>
          <p:nvPr/>
        </p:nvSpPr>
        <p:spPr>
          <a:xfrm>
            <a:off x="3383718" y="142660"/>
            <a:ext cx="4320000" cy="216000"/>
          </a:xfrm>
          <a:prstGeom prst="rect">
            <a:avLst/>
          </a:prstGeom>
        </p:spPr>
        <p:txBody>
          <a:bodyPr lIns="180000" tIns="36000" rIns="180000" bIns="36000" anchor="ctr"/>
          <a:lstStyle>
            <a:defPPr>
              <a:defRPr lang="ko-KR"/>
            </a:defPPr>
            <a:lvl1pPr eaLnBrk="0" fontAlgn="base" hangingPunct="0">
              <a:spcBef>
                <a:spcPct val="0"/>
              </a:spcBef>
              <a:spcAft>
                <a:spcPct val="0"/>
              </a:spcAft>
              <a:defRPr kumimoji="1" sz="800" b="1" kern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defRPr>
            </a:lvl1pPr>
            <a:lvl2pPr algn="ctr" eaLnBrk="0" fontAlgn="base" hangingPunct="0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2pPr>
            <a:lvl3pPr algn="ctr" eaLnBrk="0" fontAlgn="base" hangingPunct="0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3pPr>
            <a:lvl4pPr algn="ctr" eaLnBrk="0" fontAlgn="base" hangingPunct="0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4pPr>
            <a:lvl5pPr algn="ctr" eaLnBrk="0" fontAlgn="base" hangingPunct="0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5pPr>
            <a:lvl6pPr marL="457212" algn="ctr" fontAlgn="base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6pPr>
            <a:lvl7pPr marL="914423" algn="ctr" fontAlgn="base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7pPr>
            <a:lvl8pPr marL="1371634" algn="ctr" fontAlgn="base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8pPr>
            <a:lvl9pPr marL="1828846" algn="ctr" fontAlgn="base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r>
              <a:rPr lang="en-US" altLang="ko-KR"/>
              <a:t>LFmall &gt; </a:t>
            </a:r>
            <a:r>
              <a:rPr lang="ko-KR" altLang="en-US"/>
              <a:t>마이페이지 </a:t>
            </a:r>
            <a:r>
              <a:rPr lang="en-US" altLang="ko-KR"/>
              <a:t>&gt; </a:t>
            </a:r>
            <a:r>
              <a:rPr lang="ko-KR" altLang="en-US"/>
              <a:t>주문</a:t>
            </a:r>
            <a:r>
              <a:rPr lang="en-US" altLang="ko-KR"/>
              <a:t>/</a:t>
            </a:r>
            <a:r>
              <a:rPr lang="ko-KR" altLang="en-US"/>
              <a:t>배송 조회</a:t>
            </a:r>
          </a:p>
        </p:txBody>
      </p:sp>
      <p:sp>
        <p:nvSpPr>
          <p:cNvPr id="201" name="제목 1">
            <a:extLst>
              <a:ext uri="{FF2B5EF4-FFF2-40B4-BE49-F238E27FC236}">
                <a16:creationId xmlns:a16="http://schemas.microsoft.com/office/drawing/2014/main" xmlns="" id="{E2CFB5AD-2840-4821-B288-2284D6C0A05E}"/>
              </a:ext>
            </a:extLst>
          </p:cNvPr>
          <p:cNvSpPr txBox="1">
            <a:spLocks/>
          </p:cNvSpPr>
          <p:nvPr/>
        </p:nvSpPr>
        <p:spPr>
          <a:xfrm>
            <a:off x="3383718" y="358660"/>
            <a:ext cx="4320000" cy="216000"/>
          </a:xfrm>
          <a:prstGeom prst="rect">
            <a:avLst/>
          </a:prstGeom>
        </p:spPr>
        <p:txBody>
          <a:bodyPr lIns="180000" tIns="36000" rIns="180000" bIns="36000" anchor="ctr"/>
          <a:lstStyle>
            <a:lvl1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2pPr>
            <a:lvl3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3pPr>
            <a:lvl4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4pPr>
            <a:lvl5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5pPr>
            <a:lvl6pPr marL="457212" algn="ctr" rtl="0" fontAlgn="base" latinLnBrk="1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6pPr>
            <a:lvl7pPr marL="914423" algn="ctr" rtl="0" fontAlgn="base" latinLnBrk="1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7pPr>
            <a:lvl8pPr marL="1371634" algn="ctr" rtl="0" fontAlgn="base" latinLnBrk="1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8pPr>
            <a:lvl9pPr marL="1828846" algn="ctr" rtl="0" fontAlgn="base" latinLnBrk="1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l"/>
            <a:endParaRPr lang="ko-KR" altLang="en-US" sz="800" kern="0" dirty="0">
              <a:solidFill>
                <a:prstClr val="black">
                  <a:lumMod val="75000"/>
                  <a:lumOff val="25000"/>
                </a:prst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395" name="제목 1"/>
          <p:cNvSpPr txBox="1">
            <a:spLocks/>
          </p:cNvSpPr>
          <p:nvPr/>
        </p:nvSpPr>
        <p:spPr>
          <a:xfrm>
            <a:off x="1223906" y="142660"/>
            <a:ext cx="1080000" cy="216000"/>
          </a:xfrm>
          <a:prstGeom prst="rect">
            <a:avLst/>
          </a:prstGeom>
        </p:spPr>
        <p:txBody>
          <a:bodyPr lIns="36000" tIns="36000" rIns="36000" bIns="36000" anchor="ctr"/>
          <a:lstStyle>
            <a:lvl1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2pPr>
            <a:lvl3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3pPr>
            <a:lvl4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4pPr>
            <a:lvl5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5pPr>
            <a:lvl6pPr marL="457212" algn="ctr" rtl="0" fontAlgn="base" latinLnBrk="1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6pPr>
            <a:lvl7pPr marL="914423" algn="ctr" rtl="0" fontAlgn="base" latinLnBrk="1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7pPr>
            <a:lvl8pPr marL="1371634" algn="ctr" rtl="0" fontAlgn="base" latinLnBrk="1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8pPr>
            <a:lvl9pPr marL="1828846" algn="ctr" rtl="0" fontAlgn="base" latinLnBrk="1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r>
              <a:rPr lang="en-US" altLang="ko-KR" sz="800" kern="0" smtClean="0"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</a:rPr>
              <a:t>Front (Mobile)</a:t>
            </a:r>
            <a:endParaRPr lang="ko-KR" altLang="en-US" sz="800" kern="0" dirty="0">
              <a:solidFill>
                <a:prstClr val="black">
                  <a:lumMod val="75000"/>
                  <a:lumOff val="25000"/>
                </a:prst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344" name="직사각형 343">
            <a:extLst>
              <a:ext uri="{FF2B5EF4-FFF2-40B4-BE49-F238E27FC236}">
                <a16:creationId xmlns:a16="http://schemas.microsoft.com/office/drawing/2014/main" xmlns="" id="{F9776C3A-3D6C-4965-9DA5-D76F1E6E1639}"/>
              </a:ext>
            </a:extLst>
          </p:cNvPr>
          <p:cNvSpPr/>
          <p:nvPr/>
        </p:nvSpPr>
        <p:spPr>
          <a:xfrm>
            <a:off x="145179" y="709700"/>
            <a:ext cx="2880000" cy="5688000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>
              <a:solidFill>
                <a:prstClr val="black">
                  <a:lumMod val="75000"/>
                  <a:lumOff val="25000"/>
                </a:prst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345" name="직사각형 344">
            <a:extLst>
              <a:ext uri="{FF2B5EF4-FFF2-40B4-BE49-F238E27FC236}">
                <a16:creationId xmlns="" xmlns:a16="http://schemas.microsoft.com/office/drawing/2014/main" id="{19FD5FA0-B111-4EF7-BC86-418441928DD3}"/>
              </a:ext>
            </a:extLst>
          </p:cNvPr>
          <p:cNvSpPr/>
          <p:nvPr/>
        </p:nvSpPr>
        <p:spPr>
          <a:xfrm>
            <a:off x="145179" y="709700"/>
            <a:ext cx="2880000" cy="360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>
              <a:solidFill>
                <a:prstClr val="black">
                  <a:lumMod val="75000"/>
                  <a:lumOff val="25000"/>
                </a:prst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295" name="TextBox 294">
            <a:extLst>
              <a:ext uri="{FF2B5EF4-FFF2-40B4-BE49-F238E27FC236}">
                <a16:creationId xmlns:a16="http://schemas.microsoft.com/office/drawing/2014/main" xmlns="" id="{0C96C875-C47F-4F5B-B4C1-F9D666A7BD9D}"/>
              </a:ext>
            </a:extLst>
          </p:cNvPr>
          <p:cNvSpPr txBox="1"/>
          <p:nvPr/>
        </p:nvSpPr>
        <p:spPr>
          <a:xfrm>
            <a:off x="541681" y="791441"/>
            <a:ext cx="915416" cy="195814"/>
          </a:xfrm>
          <a:prstGeom prst="rect">
            <a:avLst/>
          </a:prstGeom>
          <a:noFill/>
          <a:ln w="317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108000" tIns="36000" rIns="108000" bIns="36000" numCol="1" rtlCol="0" anchor="ctr" anchorCtr="0" compatLnSpc="1">
            <a:prstTxWarp prst="textNoShape">
              <a:avLst/>
            </a:prstTxWarp>
            <a:spAutoFit/>
          </a:bodyPr>
          <a:lstStyle/>
          <a:p>
            <a:r>
              <a:rPr lang="ko-KR" altLang="en-US" sz="800" b="1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주문</a:t>
            </a:r>
            <a:r>
              <a:rPr lang="en-US" altLang="ko-KR" sz="800" b="1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/</a:t>
            </a:r>
            <a:r>
              <a:rPr lang="ko-KR" altLang="en-US" sz="800" b="1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배송 조회</a:t>
            </a:r>
            <a:endParaRPr lang="ko-KR" altLang="en-US" sz="800" b="1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</a:endParaRPr>
          </a:p>
        </p:txBody>
      </p:sp>
      <p:pic>
        <p:nvPicPr>
          <p:cNvPr id="296" name="Picture 2" descr="https://img.lfmall.co.kr/file/WAS/display/lf2022/mobile/gnb_fnb_sp.png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00" t="38037" r="84922" b="38044"/>
          <a:stretch/>
        </p:blipFill>
        <p:spPr bwMode="auto">
          <a:xfrm>
            <a:off x="289179" y="799700"/>
            <a:ext cx="181592" cy="18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18" name="제목 1">
            <a:extLst>
              <a:ext uri="{FF2B5EF4-FFF2-40B4-BE49-F238E27FC236}">
                <a16:creationId xmlns:a16="http://schemas.microsoft.com/office/drawing/2014/main" xmlns="" id="{03F65532-A01C-4981-B987-5E15F64E3ABB}"/>
              </a:ext>
            </a:extLst>
          </p:cNvPr>
          <p:cNvSpPr txBox="1">
            <a:spLocks/>
          </p:cNvSpPr>
          <p:nvPr/>
        </p:nvSpPr>
        <p:spPr>
          <a:xfrm>
            <a:off x="3383718" y="362771"/>
            <a:ext cx="4320000" cy="216000"/>
          </a:xfrm>
          <a:prstGeom prst="rect">
            <a:avLst/>
          </a:prstGeom>
        </p:spPr>
        <p:txBody>
          <a:bodyPr lIns="180000" tIns="36000" rIns="180000" bIns="36000" anchor="ctr"/>
          <a:lstStyle>
            <a:lvl1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2pPr>
            <a:lvl3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3pPr>
            <a:lvl4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4pPr>
            <a:lvl5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5pPr>
            <a:lvl6pPr marL="457212" algn="ctr" rtl="0" fontAlgn="base" latinLnBrk="1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6pPr>
            <a:lvl7pPr marL="914423" algn="ctr" rtl="0" fontAlgn="base" latinLnBrk="1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7pPr>
            <a:lvl8pPr marL="1371634" algn="ctr" rtl="0" fontAlgn="base" latinLnBrk="1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8pPr>
            <a:lvl9pPr marL="1828846" algn="ctr" rtl="0" fontAlgn="base" latinLnBrk="1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l"/>
            <a:r>
              <a:rPr lang="en-US" altLang="ko-KR" sz="800" kern="0"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</a:rPr>
              <a:t>https</a:t>
            </a:r>
            <a:r>
              <a:rPr lang="en-US" altLang="ko-KR" sz="800" kern="0" smtClean="0"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</a:rPr>
              <a:t>://m.lfmall.co.kr/mypage.do?cmd=getOrderMain&amp;etag1</a:t>
            </a:r>
            <a:endParaRPr lang="ko-KR" altLang="en-US" sz="800" kern="0">
              <a:solidFill>
                <a:srgbClr val="C00000"/>
              </a:solidFill>
              <a:latin typeface="맑은 고딕" panose="020B0503020000020004" pitchFamily="50" charset="-127"/>
            </a:endParaRPr>
          </a:p>
        </p:txBody>
      </p:sp>
      <p:sp>
        <p:nvSpPr>
          <p:cNvPr id="165" name="직사각형 164">
            <a:extLst>
              <a:ext uri="{FF2B5EF4-FFF2-40B4-BE49-F238E27FC236}">
                <a16:creationId xmlns:a16="http://schemas.microsoft.com/office/drawing/2014/main" xmlns="" id="{F9776C3A-3D6C-4965-9DA5-D76F1E6E1639}"/>
              </a:ext>
            </a:extLst>
          </p:cNvPr>
          <p:cNvSpPr/>
          <p:nvPr/>
        </p:nvSpPr>
        <p:spPr>
          <a:xfrm>
            <a:off x="145179" y="1934864"/>
            <a:ext cx="2880000" cy="2340000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>
              <a:solidFill>
                <a:prstClr val="black">
                  <a:lumMod val="75000"/>
                  <a:lumOff val="25000"/>
                </a:prst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174" name="직사각형 173">
            <a:extLst>
              <a:ext uri="{FF2B5EF4-FFF2-40B4-BE49-F238E27FC236}">
                <a16:creationId xmlns:a16="http://schemas.microsoft.com/office/drawing/2014/main" xmlns="" id="{F9776C3A-3D6C-4965-9DA5-D76F1E6E1639}"/>
              </a:ext>
            </a:extLst>
          </p:cNvPr>
          <p:cNvSpPr/>
          <p:nvPr/>
        </p:nvSpPr>
        <p:spPr>
          <a:xfrm>
            <a:off x="145179" y="1501534"/>
            <a:ext cx="2880000" cy="432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>
              <a:solidFill>
                <a:prstClr val="black">
                  <a:lumMod val="75000"/>
                  <a:lumOff val="25000"/>
                </a:prstClr>
              </a:solidFill>
              <a:latin typeface="맑은 고딕" panose="020B0503020000020004" pitchFamily="50" charset="-127"/>
            </a:endParaRPr>
          </a:p>
        </p:txBody>
      </p:sp>
      <p:grpSp>
        <p:nvGrpSpPr>
          <p:cNvPr id="175" name="그룹 174"/>
          <p:cNvGrpSpPr/>
          <p:nvPr/>
        </p:nvGrpSpPr>
        <p:grpSpPr>
          <a:xfrm>
            <a:off x="217179" y="1608391"/>
            <a:ext cx="1296000" cy="216000"/>
            <a:chOff x="470771" y="2176455"/>
            <a:chExt cx="1296000" cy="216000"/>
          </a:xfrm>
        </p:grpSpPr>
        <p:sp>
          <p:nvSpPr>
            <p:cNvPr id="406" name="모서리가 둥근 직사각형 405"/>
            <p:cNvSpPr/>
            <p:nvPr/>
          </p:nvSpPr>
          <p:spPr>
            <a:xfrm>
              <a:off x="470771" y="2176455"/>
              <a:ext cx="1296000" cy="216000"/>
            </a:xfrm>
            <a:prstGeom prst="roundRect">
              <a:avLst/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36000" rIns="108000" bIns="36000" rtlCol="0" anchor="ctr"/>
            <a:lstStyle/>
            <a:p>
              <a:pPr>
                <a:lnSpc>
                  <a:spcPct val="150000"/>
                </a:lnSpc>
              </a:pPr>
              <a:r>
                <a:rPr lang="ko-KR" altLang="en-US" sz="70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전체</a:t>
              </a:r>
              <a:endParaRPr lang="ko-KR" altLang="en-US" sz="700" b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407" name="TextBox 406">
              <a:extLst>
                <a:ext uri="{FF2B5EF4-FFF2-40B4-BE49-F238E27FC236}">
                  <a16:creationId xmlns:a16="http://schemas.microsoft.com/office/drawing/2014/main" xmlns="" id="{0C96C875-C47F-4F5B-B4C1-F9D666A7BD9D}"/>
                </a:ext>
              </a:extLst>
            </p:cNvPr>
            <p:cNvSpPr txBox="1"/>
            <p:nvPr/>
          </p:nvSpPr>
          <p:spPr>
            <a:xfrm>
              <a:off x="1531596" y="2194243"/>
              <a:ext cx="235175" cy="180425"/>
            </a:xfrm>
            <a:prstGeom prst="rect">
              <a:avLst/>
            </a:prstGeom>
            <a:noFill/>
            <a:ln w="3175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none" lIns="36000" tIns="36000" rIns="108000" bIns="36000" numCol="1" rtlCol="0" anchor="ctr" anchorCtr="0" compatLnSpc="1">
              <a:prstTxWarp prst="textNoShape">
                <a:avLst/>
              </a:prstTxWarp>
              <a:spAutoFit/>
            </a:bodyPr>
            <a:lstStyle/>
            <a:p>
              <a:pPr algn="ctr"/>
              <a:r>
                <a:rPr lang="ko-KR" altLang="en-US" sz="70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▼</a:t>
              </a:r>
              <a:endParaRPr lang="ko-KR" altLang="en-US" sz="7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endParaRPr>
            </a:p>
          </p:txBody>
        </p:sp>
      </p:grpSp>
      <p:grpSp>
        <p:nvGrpSpPr>
          <p:cNvPr id="180" name="그룹 179"/>
          <p:cNvGrpSpPr/>
          <p:nvPr/>
        </p:nvGrpSpPr>
        <p:grpSpPr>
          <a:xfrm>
            <a:off x="1657179" y="1608391"/>
            <a:ext cx="1296000" cy="216000"/>
            <a:chOff x="470771" y="2176455"/>
            <a:chExt cx="1296000" cy="216000"/>
          </a:xfrm>
        </p:grpSpPr>
        <p:sp>
          <p:nvSpPr>
            <p:cNvPr id="404" name="모서리가 둥근 직사각형 403"/>
            <p:cNvSpPr/>
            <p:nvPr/>
          </p:nvSpPr>
          <p:spPr>
            <a:xfrm>
              <a:off x="470771" y="2176455"/>
              <a:ext cx="1296000" cy="216000"/>
            </a:xfrm>
            <a:prstGeom prst="roundRect">
              <a:avLst/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36000" rIns="108000" bIns="36000" rtlCol="0" anchor="ctr"/>
            <a:lstStyle/>
            <a:p>
              <a:pPr>
                <a:lnSpc>
                  <a:spcPct val="150000"/>
                </a:lnSpc>
              </a:pPr>
              <a:r>
                <a:rPr lang="ko-KR" altLang="en-US" sz="70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주문상태 전체</a:t>
              </a:r>
              <a:endParaRPr lang="ko-KR" altLang="en-US" sz="700" b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405" name="TextBox 404">
              <a:extLst>
                <a:ext uri="{FF2B5EF4-FFF2-40B4-BE49-F238E27FC236}">
                  <a16:creationId xmlns:a16="http://schemas.microsoft.com/office/drawing/2014/main" xmlns="" id="{0C96C875-C47F-4F5B-B4C1-F9D666A7BD9D}"/>
                </a:ext>
              </a:extLst>
            </p:cNvPr>
            <p:cNvSpPr txBox="1"/>
            <p:nvPr/>
          </p:nvSpPr>
          <p:spPr>
            <a:xfrm>
              <a:off x="1531596" y="2194243"/>
              <a:ext cx="235175" cy="180425"/>
            </a:xfrm>
            <a:prstGeom prst="rect">
              <a:avLst/>
            </a:prstGeom>
            <a:noFill/>
            <a:ln w="3175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none" lIns="36000" tIns="36000" rIns="108000" bIns="36000" numCol="1" rtlCol="0" anchor="ctr" anchorCtr="0" compatLnSpc="1">
              <a:prstTxWarp prst="textNoShape">
                <a:avLst/>
              </a:prstTxWarp>
              <a:spAutoFit/>
            </a:bodyPr>
            <a:lstStyle/>
            <a:p>
              <a:pPr algn="ctr"/>
              <a:r>
                <a:rPr lang="ko-KR" altLang="en-US" sz="70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▼</a:t>
              </a:r>
              <a:endParaRPr lang="ko-KR" altLang="en-US" sz="7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endParaRPr>
            </a:p>
          </p:txBody>
        </p:sp>
      </p:grpSp>
      <p:grpSp>
        <p:nvGrpSpPr>
          <p:cNvPr id="191" name="그룹 190"/>
          <p:cNvGrpSpPr/>
          <p:nvPr/>
        </p:nvGrpSpPr>
        <p:grpSpPr>
          <a:xfrm>
            <a:off x="145179" y="1069617"/>
            <a:ext cx="2880000" cy="432000"/>
            <a:chOff x="145179" y="1502796"/>
            <a:chExt cx="2880000" cy="432000"/>
          </a:xfrm>
        </p:grpSpPr>
        <p:sp>
          <p:nvSpPr>
            <p:cNvPr id="400" name="직사각형 399">
              <a:extLst>
                <a:ext uri="{FF2B5EF4-FFF2-40B4-BE49-F238E27FC236}">
                  <a16:creationId xmlns:a16="http://schemas.microsoft.com/office/drawing/2014/main" xmlns="" id="{F9776C3A-3D6C-4965-9DA5-D76F1E6E1639}"/>
                </a:ext>
              </a:extLst>
            </p:cNvPr>
            <p:cNvSpPr/>
            <p:nvPr/>
          </p:nvSpPr>
          <p:spPr>
            <a:xfrm>
              <a:off x="145179" y="1502796"/>
              <a:ext cx="2880000" cy="432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800"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401" name="TextBox 400">
              <a:extLst>
                <a:ext uri="{FF2B5EF4-FFF2-40B4-BE49-F238E27FC236}">
                  <a16:creationId xmlns:a16="http://schemas.microsoft.com/office/drawing/2014/main" xmlns="" id="{0C96C875-C47F-4F5B-B4C1-F9D666A7BD9D}"/>
                </a:ext>
              </a:extLst>
            </p:cNvPr>
            <p:cNvSpPr txBox="1"/>
            <p:nvPr/>
          </p:nvSpPr>
          <p:spPr>
            <a:xfrm>
              <a:off x="601200" y="1620889"/>
              <a:ext cx="527957" cy="195814"/>
            </a:xfrm>
            <a:prstGeom prst="rect">
              <a:avLst/>
            </a:prstGeom>
            <a:noFill/>
            <a:ln w="3175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none" lIns="36000" tIns="36000" rIns="36000" bIns="36000" numCol="1" rtlCol="0" anchor="ctr" anchorCtr="0" compatLnSpc="1">
              <a:prstTxWarp prst="textNoShape">
                <a:avLst/>
              </a:prstTxWarp>
              <a:spAutoFit/>
            </a:bodyPr>
            <a:lstStyle/>
            <a:p>
              <a:pPr algn="ctr"/>
              <a:r>
                <a:rPr lang="ko-KR" altLang="en-US" sz="800" b="1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주문</a:t>
              </a:r>
              <a:r>
                <a:rPr lang="en-US" altLang="ko-KR" sz="800" b="1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/</a:t>
              </a:r>
              <a:r>
                <a:rPr lang="ko-KR" altLang="en-US" sz="800" b="1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배송</a:t>
              </a:r>
              <a:endParaRPr lang="ko-KR" altLang="en-US" sz="800" b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402" name="TextBox 401">
              <a:extLst>
                <a:ext uri="{FF2B5EF4-FFF2-40B4-BE49-F238E27FC236}">
                  <a16:creationId xmlns:a16="http://schemas.microsoft.com/office/drawing/2014/main" xmlns="" id="{0C96C875-C47F-4F5B-B4C1-F9D666A7BD9D}"/>
                </a:ext>
              </a:extLst>
            </p:cNvPr>
            <p:cNvSpPr txBox="1"/>
            <p:nvPr/>
          </p:nvSpPr>
          <p:spPr>
            <a:xfrm>
              <a:off x="1920976" y="1620889"/>
              <a:ext cx="768406" cy="195814"/>
            </a:xfrm>
            <a:prstGeom prst="rect">
              <a:avLst/>
            </a:prstGeom>
            <a:noFill/>
            <a:ln w="3175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none" lIns="36000" tIns="36000" rIns="36000" bIns="36000" numCol="1" rtlCol="0" anchor="ctr" anchorCtr="0" compatLnSpc="1">
              <a:prstTxWarp prst="textNoShape">
                <a:avLst/>
              </a:prstTxWarp>
              <a:spAutoFit/>
            </a:bodyPr>
            <a:lstStyle/>
            <a:p>
              <a:pPr algn="ctr"/>
              <a:r>
                <a:rPr lang="ko-KR" altLang="en-US" sz="80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취소</a:t>
              </a:r>
              <a:r>
                <a:rPr lang="en-US" altLang="ko-KR" sz="80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/</a:t>
              </a:r>
              <a:r>
                <a:rPr lang="ko-KR" altLang="en-US" sz="80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반품</a:t>
              </a:r>
              <a:r>
                <a:rPr lang="en-US" altLang="ko-KR" sz="80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/</a:t>
              </a:r>
              <a:r>
                <a:rPr lang="ko-KR" altLang="en-US" sz="80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교환</a:t>
              </a:r>
              <a:endParaRPr lang="ko-KR" altLang="en-US" sz="8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endParaRPr>
            </a:p>
          </p:txBody>
        </p:sp>
        <p:cxnSp>
          <p:nvCxnSpPr>
            <p:cNvPr id="403" name="직선 연결선 402"/>
            <p:cNvCxnSpPr/>
            <p:nvPr/>
          </p:nvCxnSpPr>
          <p:spPr>
            <a:xfrm>
              <a:off x="595179" y="1932891"/>
              <a:ext cx="540000" cy="0"/>
            </a:xfrm>
            <a:prstGeom prst="line">
              <a:avLst/>
            </a:prstGeom>
            <a:ln w="1270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92" name="직사각형 191">
            <a:extLst>
              <a:ext uri="{FF2B5EF4-FFF2-40B4-BE49-F238E27FC236}">
                <a16:creationId xmlns:a16="http://schemas.microsoft.com/office/drawing/2014/main" xmlns="" id="{F9776C3A-3D6C-4965-9DA5-D76F1E6E1639}"/>
              </a:ext>
            </a:extLst>
          </p:cNvPr>
          <p:cNvSpPr/>
          <p:nvPr/>
        </p:nvSpPr>
        <p:spPr>
          <a:xfrm>
            <a:off x="217179" y="2006541"/>
            <a:ext cx="2736000" cy="648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36000" rIns="108000" bIns="36000" rtlCol="0" anchor="ctr"/>
          <a:lstStyle/>
          <a:p>
            <a:endParaRPr lang="ko-KR" altLang="en-US" sz="800">
              <a:solidFill>
                <a:prstClr val="black">
                  <a:lumMod val="75000"/>
                  <a:lumOff val="25000"/>
                </a:prst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195" name="TextBox 194"/>
          <p:cNvSpPr txBox="1"/>
          <p:nvPr/>
        </p:nvSpPr>
        <p:spPr>
          <a:xfrm>
            <a:off x="289179" y="2096329"/>
            <a:ext cx="1124273" cy="180425"/>
          </a:xfrm>
          <a:prstGeom prst="rect">
            <a:avLst/>
          </a:prstGeom>
          <a:noFill/>
        </p:spPr>
        <p:txBody>
          <a:bodyPr wrap="none" lIns="36000" tIns="36000" rIns="36000" bIns="36000" rtlCol="0" anchor="ctr">
            <a:spAutoFit/>
          </a:bodyPr>
          <a:lstStyle/>
          <a:p>
            <a:r>
              <a:rPr lang="en-US" altLang="ko-KR" sz="700" b="1" smtClean="0"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</a:rPr>
              <a:t>2026.01.09</a:t>
            </a:r>
            <a:r>
              <a:rPr lang="en-US" altLang="ko-KR" sz="700" smtClean="0"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</a:rPr>
              <a:t> </a:t>
            </a:r>
            <a:r>
              <a:rPr lang="ko-KR" altLang="en-US" sz="700">
                <a:solidFill>
                  <a:schemeClr val="bg1">
                    <a:lumMod val="75000"/>
                  </a:schemeClr>
                </a:solidFill>
                <a:latin typeface="맑은 고딕" panose="020B0503020000020004" pitchFamily="50" charset="-127"/>
              </a:rPr>
              <a:t>│</a:t>
            </a:r>
            <a:r>
              <a:rPr lang="ko-KR" altLang="en-US" sz="700"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</a:rPr>
              <a:t> 상세보기 </a:t>
            </a:r>
            <a:r>
              <a:rPr lang="en-US" altLang="ko-KR" sz="700"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</a:rPr>
              <a:t>〉</a:t>
            </a:r>
            <a:endParaRPr lang="ko-KR" altLang="en-US" sz="700">
              <a:solidFill>
                <a:prstClr val="black">
                  <a:lumMod val="75000"/>
                  <a:lumOff val="25000"/>
                </a:prst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196" name="직사각형 195">
            <a:extLst>
              <a:ext uri="{FF2B5EF4-FFF2-40B4-BE49-F238E27FC236}">
                <a16:creationId xmlns:a16="http://schemas.microsoft.com/office/drawing/2014/main" xmlns="" id="{F9776C3A-3D6C-4965-9DA5-D76F1E6E1639}"/>
              </a:ext>
            </a:extLst>
          </p:cNvPr>
          <p:cNvSpPr/>
          <p:nvPr/>
        </p:nvSpPr>
        <p:spPr>
          <a:xfrm>
            <a:off x="217179" y="2655496"/>
            <a:ext cx="2736000" cy="1512000"/>
          </a:xfrm>
          <a:prstGeom prst="rect">
            <a:avLst/>
          </a:pr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36000" rIns="108000" bIns="36000" rtlCol="0" anchor="ctr"/>
          <a:lstStyle/>
          <a:p>
            <a:endParaRPr lang="ko-KR" altLang="en-US" sz="800">
              <a:solidFill>
                <a:prstClr val="black">
                  <a:lumMod val="75000"/>
                  <a:lumOff val="25000"/>
                </a:prst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202" name="직사각형 201"/>
          <p:cNvSpPr/>
          <p:nvPr/>
        </p:nvSpPr>
        <p:spPr>
          <a:xfrm>
            <a:off x="289179" y="2798170"/>
            <a:ext cx="792000" cy="936000"/>
          </a:xfrm>
          <a:prstGeom prst="rect">
            <a:avLst/>
          </a:prstGeom>
          <a:pattFill prst="openDmnd">
            <a:fgClr>
              <a:schemeClr val="bg1">
                <a:lumMod val="75000"/>
              </a:schemeClr>
            </a:fgClr>
            <a:bgClr>
              <a:schemeClr val="bg1"/>
            </a:bgClr>
          </a:patt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PROD</a:t>
            </a:r>
          </a:p>
          <a:p>
            <a:pPr algn="ctr"/>
            <a:r>
              <a:rPr lang="en-US" altLang="ko-KR" sz="8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IMG</a:t>
            </a:r>
            <a:endParaRPr lang="ko-KR" altLang="en-US" sz="80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88" name="TextBox 387"/>
          <p:cNvSpPr txBox="1"/>
          <p:nvPr/>
        </p:nvSpPr>
        <p:spPr>
          <a:xfrm>
            <a:off x="1081179" y="2798170"/>
            <a:ext cx="1832334" cy="288147"/>
          </a:xfrm>
          <a:prstGeom prst="rect">
            <a:avLst/>
          </a:prstGeom>
          <a:noFill/>
        </p:spPr>
        <p:txBody>
          <a:bodyPr wrap="none" lIns="108000" tIns="36000" rIns="108000" bIns="36000" rtlCol="0" anchor="t">
            <a:spAutoFit/>
          </a:bodyPr>
          <a:lstStyle/>
          <a:p>
            <a:r>
              <a:rPr lang="en-US" altLang="ko-KR" sz="7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HAZZYS</a:t>
            </a:r>
          </a:p>
          <a:p>
            <a:r>
              <a:rPr lang="en-US" altLang="ko-KR" sz="7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[</a:t>
            </a:r>
            <a:r>
              <a:rPr lang="ko-KR" altLang="en-US" sz="7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시즌오프</a:t>
            </a:r>
            <a:r>
              <a:rPr lang="en-US" altLang="ko-KR" sz="7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][</a:t>
            </a:r>
            <a:r>
              <a:rPr lang="ko-KR" altLang="en-US" sz="7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인기급상승</a:t>
            </a:r>
            <a:r>
              <a:rPr lang="en-US" altLang="ko-KR" sz="7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] </a:t>
            </a:r>
            <a:r>
              <a:rPr lang="ko-KR" altLang="en-US" sz="7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다이아 패턴 구</a:t>
            </a:r>
            <a:r>
              <a:rPr lang="en-US" altLang="ko-KR" sz="7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…</a:t>
            </a:r>
            <a:endParaRPr lang="en-US" altLang="ko-KR" sz="70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398" name="TextBox 397"/>
          <p:cNvSpPr txBox="1"/>
          <p:nvPr/>
        </p:nvSpPr>
        <p:spPr>
          <a:xfrm>
            <a:off x="1081179" y="3087796"/>
            <a:ext cx="1184721" cy="180425"/>
          </a:xfrm>
          <a:prstGeom prst="rect">
            <a:avLst/>
          </a:prstGeom>
          <a:noFill/>
        </p:spPr>
        <p:txBody>
          <a:bodyPr wrap="none" lIns="108000" tIns="36000" rIns="108000" bIns="36000" rtlCol="0" anchor="ctr">
            <a:spAutoFit/>
          </a:bodyPr>
          <a:lstStyle/>
          <a:p>
            <a:r>
              <a:rPr lang="ko-KR" altLang="en-US" sz="700">
                <a:solidFill>
                  <a:schemeClr val="tx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</a:rPr>
              <a:t>진한 브라운 </a:t>
            </a:r>
            <a:r>
              <a:rPr lang="en-US" altLang="ko-KR" sz="700">
                <a:solidFill>
                  <a:schemeClr val="tx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</a:rPr>
              <a:t>/ 00S / 1</a:t>
            </a:r>
            <a:r>
              <a:rPr lang="ko-KR" altLang="en-US" sz="700">
                <a:solidFill>
                  <a:schemeClr val="tx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</a:rPr>
              <a:t>개</a:t>
            </a:r>
          </a:p>
        </p:txBody>
      </p:sp>
      <p:sp>
        <p:nvSpPr>
          <p:cNvPr id="216" name="TextBox 215"/>
          <p:cNvSpPr txBox="1"/>
          <p:nvPr/>
        </p:nvSpPr>
        <p:spPr>
          <a:xfrm>
            <a:off x="1081179" y="3268221"/>
            <a:ext cx="703820" cy="195814"/>
          </a:xfrm>
          <a:prstGeom prst="rect">
            <a:avLst/>
          </a:prstGeom>
          <a:noFill/>
        </p:spPr>
        <p:txBody>
          <a:bodyPr wrap="none" lIns="108000" tIns="36000" rIns="108000" bIns="36000" rtlCol="0" anchor="ctr">
            <a:spAutoFit/>
          </a:bodyPr>
          <a:lstStyle/>
          <a:p>
            <a:r>
              <a:rPr lang="en-US" altLang="ko-KR" sz="800" b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390,910</a:t>
            </a:r>
            <a:r>
              <a:rPr lang="ko-KR" altLang="en-US" sz="800" b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원</a:t>
            </a:r>
            <a:endParaRPr lang="ko-KR" altLang="en-US" sz="700" b="1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232" name="모서리가 둥근 직사각형 231">
            <a:extLst>
              <a:ext uri="{FF2B5EF4-FFF2-40B4-BE49-F238E27FC236}">
                <a16:creationId xmlns:a16="http://schemas.microsoft.com/office/drawing/2014/main" xmlns="" id="{F9776C3A-3D6C-4965-9DA5-D76F1E6E1639}"/>
              </a:ext>
            </a:extLst>
          </p:cNvPr>
          <p:cNvSpPr/>
          <p:nvPr/>
        </p:nvSpPr>
        <p:spPr>
          <a:xfrm>
            <a:off x="289179" y="2367630"/>
            <a:ext cx="828000" cy="216000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00" smtClean="0"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</a:rPr>
              <a:t>결제수단변경</a:t>
            </a:r>
            <a:endParaRPr lang="ko-KR" altLang="en-US" sz="800">
              <a:solidFill>
                <a:prstClr val="black">
                  <a:lumMod val="75000"/>
                  <a:lumOff val="25000"/>
                </a:prst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163" name="제목 1">
            <a:extLst>
              <a:ext uri="{FF2B5EF4-FFF2-40B4-BE49-F238E27FC236}">
                <a16:creationId xmlns:a16="http://schemas.microsoft.com/office/drawing/2014/main" xmlns="" id="{03F65532-A01C-4981-B987-5E15F64E3ABB}"/>
              </a:ext>
            </a:extLst>
          </p:cNvPr>
          <p:cNvSpPr txBox="1">
            <a:spLocks/>
          </p:cNvSpPr>
          <p:nvPr/>
        </p:nvSpPr>
        <p:spPr>
          <a:xfrm>
            <a:off x="8783530" y="142660"/>
            <a:ext cx="1079290" cy="432000"/>
          </a:xfrm>
          <a:prstGeom prst="rect">
            <a:avLst/>
          </a:prstGeom>
        </p:spPr>
        <p:txBody>
          <a:bodyPr lIns="180000" tIns="36000" rIns="180000" bIns="36000" anchor="ctr"/>
          <a:lstStyle>
            <a:lvl1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2pPr>
            <a:lvl3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3pPr>
            <a:lvl4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4pPr>
            <a:lvl5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5pPr>
            <a:lvl6pPr marL="457212" algn="ctr" rtl="0" fontAlgn="base" latinLnBrk="1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6pPr>
            <a:lvl7pPr marL="914423" algn="ctr" rtl="0" fontAlgn="base" latinLnBrk="1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7pPr>
            <a:lvl8pPr marL="1371634" algn="ctr" rtl="0" fontAlgn="base" latinLnBrk="1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8pPr>
            <a:lvl9pPr marL="1828846" algn="ctr" rtl="0" fontAlgn="base" latinLnBrk="1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r>
              <a:rPr lang="ko-KR" altLang="en-US" sz="800" kern="0" smtClean="0"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</a:rPr>
              <a:t>최범열</a:t>
            </a:r>
            <a:endParaRPr lang="ko-KR" altLang="en-US" sz="800" kern="0">
              <a:solidFill>
                <a:prstClr val="black">
                  <a:lumMod val="75000"/>
                  <a:lumOff val="25000"/>
                </a:prst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135" name="모서리가 둥근 직사각형 134">
            <a:extLst>
              <a:ext uri="{FF2B5EF4-FFF2-40B4-BE49-F238E27FC236}">
                <a16:creationId xmlns:a16="http://schemas.microsoft.com/office/drawing/2014/main" xmlns="" id="{F9776C3A-3D6C-4965-9DA5-D76F1E6E1639}"/>
              </a:ext>
            </a:extLst>
          </p:cNvPr>
          <p:cNvSpPr/>
          <p:nvPr/>
        </p:nvSpPr>
        <p:spPr>
          <a:xfrm>
            <a:off x="1171179" y="2367630"/>
            <a:ext cx="828000" cy="216000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00" smtClean="0"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</a:rPr>
              <a:t>배송지변경</a:t>
            </a:r>
            <a:endParaRPr lang="ko-KR" altLang="en-US" sz="800">
              <a:solidFill>
                <a:prstClr val="black">
                  <a:lumMod val="75000"/>
                  <a:lumOff val="25000"/>
                </a:prst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136" name="모서리가 둥근 직사각형 135">
            <a:extLst>
              <a:ext uri="{FF2B5EF4-FFF2-40B4-BE49-F238E27FC236}">
                <a16:creationId xmlns:a16="http://schemas.microsoft.com/office/drawing/2014/main" xmlns="" id="{F9776C3A-3D6C-4965-9DA5-D76F1E6E1639}"/>
              </a:ext>
            </a:extLst>
          </p:cNvPr>
          <p:cNvSpPr/>
          <p:nvPr/>
        </p:nvSpPr>
        <p:spPr>
          <a:xfrm>
            <a:off x="2052590" y="2367630"/>
            <a:ext cx="828000" cy="216000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00" smtClean="0"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</a:rPr>
              <a:t>전체취소</a:t>
            </a:r>
            <a:endParaRPr lang="ko-KR" altLang="en-US" sz="800">
              <a:solidFill>
                <a:prstClr val="black">
                  <a:lumMod val="75000"/>
                  <a:lumOff val="25000"/>
                </a:prst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218" name="TextBox 217"/>
          <p:cNvSpPr txBox="1"/>
          <p:nvPr/>
        </p:nvSpPr>
        <p:spPr>
          <a:xfrm>
            <a:off x="289179" y="3893401"/>
            <a:ext cx="431776" cy="180425"/>
          </a:xfrm>
          <a:prstGeom prst="rect">
            <a:avLst/>
          </a:prstGeom>
          <a:noFill/>
        </p:spPr>
        <p:txBody>
          <a:bodyPr wrap="none" lIns="36000" tIns="36000" rIns="36000" bIns="36000" rtlCol="0" anchor="ctr">
            <a:spAutoFit/>
          </a:bodyPr>
          <a:lstStyle/>
          <a:p>
            <a:r>
              <a:rPr lang="ko-KR" altLang="en-US" sz="7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결제완료</a:t>
            </a:r>
            <a:endParaRPr lang="ko-KR" altLang="en-US" sz="7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452" name="직사각형 451"/>
          <p:cNvSpPr/>
          <p:nvPr/>
        </p:nvSpPr>
        <p:spPr>
          <a:xfrm>
            <a:off x="145179" y="4270750"/>
            <a:ext cx="2880000" cy="288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53" name="TextBox 452"/>
          <p:cNvSpPr txBox="1"/>
          <p:nvPr/>
        </p:nvSpPr>
        <p:spPr>
          <a:xfrm>
            <a:off x="145179" y="4324537"/>
            <a:ext cx="504479" cy="180425"/>
          </a:xfrm>
          <a:prstGeom prst="rect">
            <a:avLst/>
          </a:prstGeom>
          <a:noFill/>
          <a:ln w="3175">
            <a:noFill/>
          </a:ln>
        </p:spPr>
        <p:txBody>
          <a:bodyPr wrap="none" lIns="108000" tIns="36000" rIns="36000" bIns="36000" rtlCol="0" anchor="ctr">
            <a:spAutoFit/>
          </a:bodyPr>
          <a:lstStyle/>
          <a:p>
            <a:r>
              <a:rPr lang="ko-KR" altLang="en-US" sz="7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로그아웃</a:t>
            </a:r>
            <a:endParaRPr lang="ko-KR" altLang="en-US" sz="7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54" name="TextBox 453"/>
          <p:cNvSpPr txBox="1"/>
          <p:nvPr/>
        </p:nvSpPr>
        <p:spPr>
          <a:xfrm>
            <a:off x="703818" y="4324537"/>
            <a:ext cx="431776" cy="180425"/>
          </a:xfrm>
          <a:prstGeom prst="rect">
            <a:avLst/>
          </a:prstGeom>
          <a:noFill/>
          <a:ln w="3175">
            <a:noFill/>
          </a:ln>
        </p:spPr>
        <p:txBody>
          <a:bodyPr wrap="none" lIns="36000" tIns="36000" rIns="36000" bIns="36000" rtlCol="0" anchor="ctr">
            <a:spAutoFit/>
          </a:bodyPr>
          <a:lstStyle/>
          <a:p>
            <a:r>
              <a:rPr lang="ko-KR" altLang="en-US" sz="7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고객센터</a:t>
            </a:r>
            <a:endParaRPr lang="ko-KR" altLang="en-US" sz="7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55" name="TextBox 454"/>
          <p:cNvSpPr txBox="1"/>
          <p:nvPr/>
        </p:nvSpPr>
        <p:spPr>
          <a:xfrm>
            <a:off x="1189754" y="4324537"/>
            <a:ext cx="431776" cy="180425"/>
          </a:xfrm>
          <a:prstGeom prst="rect">
            <a:avLst/>
          </a:prstGeom>
          <a:noFill/>
          <a:ln w="3175">
            <a:noFill/>
          </a:ln>
        </p:spPr>
        <p:txBody>
          <a:bodyPr wrap="none" lIns="36000" tIns="36000" rIns="36000" bIns="36000" rtlCol="0" anchor="ctr">
            <a:spAutoFit/>
          </a:bodyPr>
          <a:lstStyle/>
          <a:p>
            <a:r>
              <a:rPr lang="ko-KR" altLang="en-US" sz="7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공지사항</a:t>
            </a:r>
            <a:endParaRPr lang="ko-KR" altLang="en-US" sz="7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61" name="TextBox 460"/>
          <p:cNvSpPr txBox="1"/>
          <p:nvPr/>
        </p:nvSpPr>
        <p:spPr>
          <a:xfrm>
            <a:off x="1675690" y="4324537"/>
            <a:ext cx="521544" cy="180425"/>
          </a:xfrm>
          <a:prstGeom prst="rect">
            <a:avLst/>
          </a:prstGeom>
          <a:noFill/>
          <a:ln w="3175">
            <a:noFill/>
          </a:ln>
        </p:spPr>
        <p:txBody>
          <a:bodyPr wrap="none" lIns="36000" tIns="36000" rIns="36000" bIns="36000" rtlCol="0" anchor="ctr">
            <a:spAutoFit/>
          </a:bodyPr>
          <a:lstStyle/>
          <a:p>
            <a:r>
              <a:rPr lang="ko-KR" altLang="en-US" sz="7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패밀리인증</a:t>
            </a:r>
            <a:endParaRPr lang="ko-KR" altLang="en-US" sz="7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62" name="TextBox 461"/>
          <p:cNvSpPr txBox="1"/>
          <p:nvPr/>
        </p:nvSpPr>
        <p:spPr>
          <a:xfrm>
            <a:off x="2251396" y="4324537"/>
            <a:ext cx="773783" cy="180425"/>
          </a:xfrm>
          <a:prstGeom prst="rect">
            <a:avLst/>
          </a:prstGeom>
          <a:noFill/>
          <a:ln w="3175">
            <a:noFill/>
          </a:ln>
        </p:spPr>
        <p:txBody>
          <a:bodyPr wrap="none" lIns="36000" tIns="36000" rIns="108000" bIns="36000" rtlCol="0" anchor="ctr">
            <a:spAutoFit/>
          </a:bodyPr>
          <a:lstStyle/>
          <a:p>
            <a:r>
              <a:rPr lang="ko-KR" altLang="en-US" sz="7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제휴임직원인증</a:t>
            </a:r>
            <a:endParaRPr lang="ko-KR" altLang="en-US" sz="7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463" name="직선 연결선 462"/>
          <p:cNvCxnSpPr/>
          <p:nvPr/>
        </p:nvCxnSpPr>
        <p:spPr>
          <a:xfrm>
            <a:off x="676738" y="4341764"/>
            <a:ext cx="0" cy="14400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4" name="직선 연결선 463"/>
          <p:cNvCxnSpPr/>
          <p:nvPr/>
        </p:nvCxnSpPr>
        <p:spPr>
          <a:xfrm>
            <a:off x="1162674" y="4341764"/>
            <a:ext cx="0" cy="14400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5" name="직선 연결선 464"/>
          <p:cNvCxnSpPr/>
          <p:nvPr/>
        </p:nvCxnSpPr>
        <p:spPr>
          <a:xfrm>
            <a:off x="1648610" y="4341764"/>
            <a:ext cx="0" cy="14400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6" name="직선 연결선 465"/>
          <p:cNvCxnSpPr/>
          <p:nvPr/>
        </p:nvCxnSpPr>
        <p:spPr>
          <a:xfrm>
            <a:off x="2224314" y="4341764"/>
            <a:ext cx="0" cy="14400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7" name="직사각형 466"/>
          <p:cNvSpPr/>
          <p:nvPr/>
        </p:nvSpPr>
        <p:spPr>
          <a:xfrm>
            <a:off x="145179" y="4561700"/>
            <a:ext cx="2880000" cy="1836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69" name="TextBox 468"/>
          <p:cNvSpPr txBox="1"/>
          <p:nvPr/>
        </p:nvSpPr>
        <p:spPr>
          <a:xfrm>
            <a:off x="289179" y="4668625"/>
            <a:ext cx="2592000" cy="211203"/>
          </a:xfrm>
          <a:prstGeom prst="rect">
            <a:avLst/>
          </a:prstGeom>
          <a:noFill/>
          <a:ln w="3175">
            <a:noFill/>
          </a:ln>
        </p:spPr>
        <p:txBody>
          <a:bodyPr wrap="square" lIns="108000" tIns="36000" rIns="108000" bIns="36000" rtlCol="0" anchor="ctr">
            <a:spAutoFit/>
          </a:bodyPr>
          <a:lstStyle>
            <a:defPPr>
              <a:defRPr lang="ko-KR"/>
            </a:defPPr>
            <a:lvl1pPr>
              <a:lnSpc>
                <a:spcPct val="150000"/>
              </a:lnSpc>
              <a:defRPr sz="7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lnSpc>
                <a:spcPct val="100000"/>
              </a:lnSpc>
            </a:pPr>
            <a:r>
              <a:rPr lang="en-US" altLang="ko-KR" sz="900" b="1" smtClean="0"/>
              <a:t>   LF</a:t>
            </a:r>
            <a:r>
              <a:rPr lang="en-US" altLang="ko-KR" smtClean="0"/>
              <a:t> </a:t>
            </a:r>
            <a:r>
              <a:rPr lang="ko-KR" altLang="en-US" smtClean="0"/>
              <a:t>사업자정보</a:t>
            </a:r>
            <a:endParaRPr lang="en-US" altLang="ko-KR" smtClean="0"/>
          </a:p>
        </p:txBody>
      </p:sp>
      <p:grpSp>
        <p:nvGrpSpPr>
          <p:cNvPr id="470" name="그룹 469"/>
          <p:cNvGrpSpPr/>
          <p:nvPr/>
        </p:nvGrpSpPr>
        <p:grpSpPr>
          <a:xfrm>
            <a:off x="289179" y="4684226"/>
            <a:ext cx="180000" cy="180000"/>
            <a:chOff x="8778240" y="3100030"/>
            <a:chExt cx="706635" cy="688625"/>
          </a:xfrm>
          <a:solidFill>
            <a:schemeClr val="tx1">
              <a:lumMod val="65000"/>
              <a:lumOff val="35000"/>
            </a:schemeClr>
          </a:solidFill>
        </p:grpSpPr>
        <p:sp>
          <p:nvSpPr>
            <p:cNvPr id="489" name="순서도: 수동 입력 488"/>
            <p:cNvSpPr/>
            <p:nvPr/>
          </p:nvSpPr>
          <p:spPr>
            <a:xfrm>
              <a:off x="8778240" y="3157061"/>
              <a:ext cx="216000" cy="468000"/>
            </a:xfrm>
            <a:prstGeom prst="flowChartManualInput">
              <a:avLst/>
            </a:prstGeom>
            <a:grp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8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490" name="순서도: 데이터 2"/>
            <p:cNvSpPr/>
            <p:nvPr/>
          </p:nvSpPr>
          <p:spPr>
            <a:xfrm flipH="1">
              <a:off x="8778240" y="3625061"/>
              <a:ext cx="431919" cy="163594"/>
            </a:xfrm>
            <a:custGeom>
              <a:avLst/>
              <a:gdLst>
                <a:gd name="connsiteX0" fmla="*/ 0 w 10000"/>
                <a:gd name="connsiteY0" fmla="*/ 10000 h 10000"/>
                <a:gd name="connsiteX1" fmla="*/ 2000 w 10000"/>
                <a:gd name="connsiteY1" fmla="*/ 0 h 10000"/>
                <a:gd name="connsiteX2" fmla="*/ 10000 w 10000"/>
                <a:gd name="connsiteY2" fmla="*/ 0 h 10000"/>
                <a:gd name="connsiteX3" fmla="*/ 8000 w 10000"/>
                <a:gd name="connsiteY3" fmla="*/ 10000 h 10000"/>
                <a:gd name="connsiteX4" fmla="*/ 0 w 10000"/>
                <a:gd name="connsiteY4" fmla="*/ 10000 h 10000"/>
                <a:gd name="connsiteX0" fmla="*/ 0 w 15997"/>
                <a:gd name="connsiteY0" fmla="*/ 5257 h 10000"/>
                <a:gd name="connsiteX1" fmla="*/ 7997 w 15997"/>
                <a:gd name="connsiteY1" fmla="*/ 0 h 10000"/>
                <a:gd name="connsiteX2" fmla="*/ 15997 w 15997"/>
                <a:gd name="connsiteY2" fmla="*/ 0 h 10000"/>
                <a:gd name="connsiteX3" fmla="*/ 13997 w 15997"/>
                <a:gd name="connsiteY3" fmla="*/ 10000 h 10000"/>
                <a:gd name="connsiteX4" fmla="*/ 0 w 15997"/>
                <a:gd name="connsiteY4" fmla="*/ 5257 h 10000"/>
                <a:gd name="connsiteX0" fmla="*/ 0 w 15997"/>
                <a:gd name="connsiteY0" fmla="*/ 5257 h 9051"/>
                <a:gd name="connsiteX1" fmla="*/ 7997 w 15997"/>
                <a:gd name="connsiteY1" fmla="*/ 0 h 9051"/>
                <a:gd name="connsiteX2" fmla="*/ 15997 w 15997"/>
                <a:gd name="connsiteY2" fmla="*/ 0 h 9051"/>
                <a:gd name="connsiteX3" fmla="*/ 2567 w 15997"/>
                <a:gd name="connsiteY3" fmla="*/ 9051 h 9051"/>
                <a:gd name="connsiteX4" fmla="*/ 0 w 15997"/>
                <a:gd name="connsiteY4" fmla="*/ 5257 h 90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997" h="9051">
                  <a:moveTo>
                    <a:pt x="0" y="5257"/>
                  </a:moveTo>
                  <a:lnTo>
                    <a:pt x="7997" y="0"/>
                  </a:lnTo>
                  <a:lnTo>
                    <a:pt x="15997" y="0"/>
                  </a:lnTo>
                  <a:lnTo>
                    <a:pt x="2567" y="9051"/>
                  </a:lnTo>
                  <a:lnTo>
                    <a:pt x="0" y="5257"/>
                  </a:lnTo>
                  <a:close/>
                </a:path>
              </a:pathLst>
            </a:custGeom>
            <a:grp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8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491" name="순서도: 수동 입력 490"/>
            <p:cNvSpPr/>
            <p:nvPr/>
          </p:nvSpPr>
          <p:spPr>
            <a:xfrm flipH="1" flipV="1">
              <a:off x="9286875" y="3238858"/>
              <a:ext cx="198000" cy="468000"/>
            </a:xfrm>
            <a:prstGeom prst="flowChartManualInput">
              <a:avLst/>
            </a:prstGeom>
            <a:grp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8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492" name="순서도: 데이터 2"/>
            <p:cNvSpPr/>
            <p:nvPr/>
          </p:nvSpPr>
          <p:spPr>
            <a:xfrm flipV="1">
              <a:off x="9028207" y="3100030"/>
              <a:ext cx="456668" cy="138827"/>
            </a:xfrm>
            <a:custGeom>
              <a:avLst/>
              <a:gdLst>
                <a:gd name="connsiteX0" fmla="*/ 0 w 10000"/>
                <a:gd name="connsiteY0" fmla="*/ 10000 h 10000"/>
                <a:gd name="connsiteX1" fmla="*/ 2000 w 10000"/>
                <a:gd name="connsiteY1" fmla="*/ 0 h 10000"/>
                <a:gd name="connsiteX2" fmla="*/ 10000 w 10000"/>
                <a:gd name="connsiteY2" fmla="*/ 0 h 10000"/>
                <a:gd name="connsiteX3" fmla="*/ 8000 w 10000"/>
                <a:gd name="connsiteY3" fmla="*/ 10000 h 10000"/>
                <a:gd name="connsiteX4" fmla="*/ 0 w 10000"/>
                <a:gd name="connsiteY4" fmla="*/ 10000 h 10000"/>
                <a:gd name="connsiteX0" fmla="*/ 0 w 15997"/>
                <a:gd name="connsiteY0" fmla="*/ 5257 h 10000"/>
                <a:gd name="connsiteX1" fmla="*/ 7997 w 15997"/>
                <a:gd name="connsiteY1" fmla="*/ 0 h 10000"/>
                <a:gd name="connsiteX2" fmla="*/ 15997 w 15997"/>
                <a:gd name="connsiteY2" fmla="*/ 0 h 10000"/>
                <a:gd name="connsiteX3" fmla="*/ 13997 w 15997"/>
                <a:gd name="connsiteY3" fmla="*/ 10000 h 10000"/>
                <a:gd name="connsiteX4" fmla="*/ 0 w 15997"/>
                <a:gd name="connsiteY4" fmla="*/ 5257 h 10000"/>
                <a:gd name="connsiteX0" fmla="*/ 0 w 15997"/>
                <a:gd name="connsiteY0" fmla="*/ 5257 h 9051"/>
                <a:gd name="connsiteX1" fmla="*/ 7997 w 15997"/>
                <a:gd name="connsiteY1" fmla="*/ 0 h 9051"/>
                <a:gd name="connsiteX2" fmla="*/ 15997 w 15997"/>
                <a:gd name="connsiteY2" fmla="*/ 0 h 9051"/>
                <a:gd name="connsiteX3" fmla="*/ 2567 w 15997"/>
                <a:gd name="connsiteY3" fmla="*/ 9051 h 9051"/>
                <a:gd name="connsiteX4" fmla="*/ 0 w 15997"/>
                <a:gd name="connsiteY4" fmla="*/ 5257 h 9051"/>
                <a:gd name="connsiteX0" fmla="*/ 0 w 10000"/>
                <a:gd name="connsiteY0" fmla="*/ 5808 h 8137"/>
                <a:gd name="connsiteX1" fmla="*/ 4999 w 10000"/>
                <a:gd name="connsiteY1" fmla="*/ 0 h 8137"/>
                <a:gd name="connsiteX2" fmla="*/ 10000 w 10000"/>
                <a:gd name="connsiteY2" fmla="*/ 0 h 8137"/>
                <a:gd name="connsiteX3" fmla="*/ 2708 w 10000"/>
                <a:gd name="connsiteY3" fmla="*/ 8137 h 8137"/>
                <a:gd name="connsiteX4" fmla="*/ 0 w 10000"/>
                <a:gd name="connsiteY4" fmla="*/ 5808 h 8137"/>
                <a:gd name="connsiteX0" fmla="*/ 0 w 10573"/>
                <a:gd name="connsiteY0" fmla="*/ 7424 h 10000"/>
                <a:gd name="connsiteX1" fmla="*/ 5572 w 10573"/>
                <a:gd name="connsiteY1" fmla="*/ 0 h 10000"/>
                <a:gd name="connsiteX2" fmla="*/ 10573 w 10573"/>
                <a:gd name="connsiteY2" fmla="*/ 0 h 10000"/>
                <a:gd name="connsiteX3" fmla="*/ 3281 w 10573"/>
                <a:gd name="connsiteY3" fmla="*/ 10000 h 10000"/>
                <a:gd name="connsiteX4" fmla="*/ 0 w 10573"/>
                <a:gd name="connsiteY4" fmla="*/ 7424 h 10000"/>
                <a:gd name="connsiteX0" fmla="*/ 0 w 10573"/>
                <a:gd name="connsiteY0" fmla="*/ 7424 h 10429"/>
                <a:gd name="connsiteX1" fmla="*/ 5572 w 10573"/>
                <a:gd name="connsiteY1" fmla="*/ 0 h 10429"/>
                <a:gd name="connsiteX2" fmla="*/ 10573 w 10573"/>
                <a:gd name="connsiteY2" fmla="*/ 0 h 10429"/>
                <a:gd name="connsiteX3" fmla="*/ 2840 w 10573"/>
                <a:gd name="connsiteY3" fmla="*/ 10429 h 10429"/>
                <a:gd name="connsiteX4" fmla="*/ 0 w 10573"/>
                <a:gd name="connsiteY4" fmla="*/ 7424 h 10429"/>
                <a:gd name="connsiteX0" fmla="*/ 0 w 10573"/>
                <a:gd name="connsiteY0" fmla="*/ 7710 h 10715"/>
                <a:gd name="connsiteX1" fmla="*/ 6057 w 10573"/>
                <a:gd name="connsiteY1" fmla="*/ 0 h 10715"/>
                <a:gd name="connsiteX2" fmla="*/ 10573 w 10573"/>
                <a:gd name="connsiteY2" fmla="*/ 286 h 10715"/>
                <a:gd name="connsiteX3" fmla="*/ 2840 w 10573"/>
                <a:gd name="connsiteY3" fmla="*/ 10715 h 10715"/>
                <a:gd name="connsiteX4" fmla="*/ 0 w 10573"/>
                <a:gd name="connsiteY4" fmla="*/ 7710 h 10715"/>
                <a:gd name="connsiteX0" fmla="*/ 0 w 10573"/>
                <a:gd name="connsiteY0" fmla="*/ 7424 h 10429"/>
                <a:gd name="connsiteX1" fmla="*/ 6057 w 10573"/>
                <a:gd name="connsiteY1" fmla="*/ 0 h 10429"/>
                <a:gd name="connsiteX2" fmla="*/ 10573 w 10573"/>
                <a:gd name="connsiteY2" fmla="*/ 0 h 10429"/>
                <a:gd name="connsiteX3" fmla="*/ 2840 w 10573"/>
                <a:gd name="connsiteY3" fmla="*/ 10429 h 10429"/>
                <a:gd name="connsiteX4" fmla="*/ 0 w 10573"/>
                <a:gd name="connsiteY4" fmla="*/ 7424 h 10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573" h="10429">
                  <a:moveTo>
                    <a:pt x="0" y="7424"/>
                  </a:moveTo>
                  <a:lnTo>
                    <a:pt x="6057" y="0"/>
                  </a:lnTo>
                  <a:lnTo>
                    <a:pt x="10573" y="0"/>
                  </a:lnTo>
                  <a:lnTo>
                    <a:pt x="2840" y="10429"/>
                  </a:lnTo>
                  <a:lnTo>
                    <a:pt x="0" y="7424"/>
                  </a:lnTo>
                  <a:close/>
                </a:path>
              </a:pathLst>
            </a:custGeom>
            <a:grp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8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493" name="평행 사변형 3"/>
            <p:cNvSpPr/>
            <p:nvPr/>
          </p:nvSpPr>
          <p:spPr>
            <a:xfrm rot="16200000">
              <a:off x="9083221" y="3344479"/>
              <a:ext cx="215411" cy="193498"/>
            </a:xfrm>
            <a:custGeom>
              <a:avLst/>
              <a:gdLst>
                <a:gd name="connsiteX0" fmla="*/ 0 w 146831"/>
                <a:gd name="connsiteY0" fmla="*/ 143962 h 143962"/>
                <a:gd name="connsiteX1" fmla="*/ 35991 w 146831"/>
                <a:gd name="connsiteY1" fmla="*/ 0 h 143962"/>
                <a:gd name="connsiteX2" fmla="*/ 146831 w 146831"/>
                <a:gd name="connsiteY2" fmla="*/ 0 h 143962"/>
                <a:gd name="connsiteX3" fmla="*/ 110841 w 146831"/>
                <a:gd name="connsiteY3" fmla="*/ 143962 h 143962"/>
                <a:gd name="connsiteX4" fmla="*/ 0 w 146831"/>
                <a:gd name="connsiteY4" fmla="*/ 143962 h 143962"/>
                <a:gd name="connsiteX0" fmla="*/ 0 w 146831"/>
                <a:gd name="connsiteY0" fmla="*/ 143962 h 197305"/>
                <a:gd name="connsiteX1" fmla="*/ 35991 w 146831"/>
                <a:gd name="connsiteY1" fmla="*/ 0 h 197305"/>
                <a:gd name="connsiteX2" fmla="*/ 146831 w 146831"/>
                <a:gd name="connsiteY2" fmla="*/ 0 h 197305"/>
                <a:gd name="connsiteX3" fmla="*/ 46071 w 146831"/>
                <a:gd name="connsiteY3" fmla="*/ 197305 h 197305"/>
                <a:gd name="connsiteX4" fmla="*/ 0 w 146831"/>
                <a:gd name="connsiteY4" fmla="*/ 143962 h 197305"/>
                <a:gd name="connsiteX0" fmla="*/ 0 w 219221"/>
                <a:gd name="connsiteY0" fmla="*/ 187777 h 197305"/>
                <a:gd name="connsiteX1" fmla="*/ 108381 w 219221"/>
                <a:gd name="connsiteY1" fmla="*/ 0 h 197305"/>
                <a:gd name="connsiteX2" fmla="*/ 219221 w 219221"/>
                <a:gd name="connsiteY2" fmla="*/ 0 h 197305"/>
                <a:gd name="connsiteX3" fmla="*/ 118461 w 219221"/>
                <a:gd name="connsiteY3" fmla="*/ 197305 h 197305"/>
                <a:gd name="connsiteX4" fmla="*/ 0 w 219221"/>
                <a:gd name="connsiteY4" fmla="*/ 187777 h 197305"/>
                <a:gd name="connsiteX0" fmla="*/ 0 w 215411"/>
                <a:gd name="connsiteY0" fmla="*/ 193492 h 197305"/>
                <a:gd name="connsiteX1" fmla="*/ 104571 w 215411"/>
                <a:gd name="connsiteY1" fmla="*/ 0 h 197305"/>
                <a:gd name="connsiteX2" fmla="*/ 215411 w 215411"/>
                <a:gd name="connsiteY2" fmla="*/ 0 h 197305"/>
                <a:gd name="connsiteX3" fmla="*/ 114651 w 215411"/>
                <a:gd name="connsiteY3" fmla="*/ 197305 h 197305"/>
                <a:gd name="connsiteX4" fmla="*/ 0 w 215411"/>
                <a:gd name="connsiteY4" fmla="*/ 193492 h 197305"/>
                <a:gd name="connsiteX0" fmla="*/ 0 w 215411"/>
                <a:gd name="connsiteY0" fmla="*/ 193492 h 197305"/>
                <a:gd name="connsiteX1" fmla="*/ 104571 w 215411"/>
                <a:gd name="connsiteY1" fmla="*/ 0 h 197305"/>
                <a:gd name="connsiteX2" fmla="*/ 215411 w 215411"/>
                <a:gd name="connsiteY2" fmla="*/ 0 h 197305"/>
                <a:gd name="connsiteX3" fmla="*/ 116556 w 215411"/>
                <a:gd name="connsiteY3" fmla="*/ 197305 h 197305"/>
                <a:gd name="connsiteX4" fmla="*/ 0 w 215411"/>
                <a:gd name="connsiteY4" fmla="*/ 193492 h 197305"/>
                <a:gd name="connsiteX0" fmla="*/ 0 w 215411"/>
                <a:gd name="connsiteY0" fmla="*/ 193492 h 193492"/>
                <a:gd name="connsiteX1" fmla="*/ 104571 w 215411"/>
                <a:gd name="connsiteY1" fmla="*/ 0 h 193492"/>
                <a:gd name="connsiteX2" fmla="*/ 215411 w 215411"/>
                <a:gd name="connsiteY2" fmla="*/ 0 h 193492"/>
                <a:gd name="connsiteX3" fmla="*/ 118461 w 215411"/>
                <a:gd name="connsiteY3" fmla="*/ 191590 h 193492"/>
                <a:gd name="connsiteX4" fmla="*/ 0 w 215411"/>
                <a:gd name="connsiteY4" fmla="*/ 193492 h 193492"/>
                <a:gd name="connsiteX0" fmla="*/ 0 w 215411"/>
                <a:gd name="connsiteY0" fmla="*/ 193492 h 193498"/>
                <a:gd name="connsiteX1" fmla="*/ 104571 w 215411"/>
                <a:gd name="connsiteY1" fmla="*/ 0 h 193498"/>
                <a:gd name="connsiteX2" fmla="*/ 215411 w 215411"/>
                <a:gd name="connsiteY2" fmla="*/ 0 h 193498"/>
                <a:gd name="connsiteX3" fmla="*/ 122271 w 215411"/>
                <a:gd name="connsiteY3" fmla="*/ 193498 h 193498"/>
                <a:gd name="connsiteX4" fmla="*/ 0 w 215411"/>
                <a:gd name="connsiteY4" fmla="*/ 193492 h 193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5411" h="193498">
                  <a:moveTo>
                    <a:pt x="0" y="193492"/>
                  </a:moveTo>
                  <a:lnTo>
                    <a:pt x="104571" y="0"/>
                  </a:lnTo>
                  <a:lnTo>
                    <a:pt x="215411" y="0"/>
                  </a:lnTo>
                  <a:lnTo>
                    <a:pt x="122271" y="193498"/>
                  </a:lnTo>
                  <a:lnTo>
                    <a:pt x="0" y="193492"/>
                  </a:lnTo>
                  <a:close/>
                </a:path>
              </a:pathLst>
            </a:custGeom>
            <a:grp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8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pic>
        <p:nvPicPr>
          <p:cNvPr id="472" name="Picture 2" descr="https://img.lfmall.co.kr/file/WAS/display/lf2022/mobile/gnb_fnb_sp.png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00" t="38037" r="84922" b="38044"/>
          <a:stretch/>
        </p:blipFill>
        <p:spPr bwMode="auto">
          <a:xfrm rot="16200000">
            <a:off x="2736542" y="4702226"/>
            <a:ext cx="145274" cy="144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475" name="직선 연결선 474"/>
          <p:cNvCxnSpPr/>
          <p:nvPr/>
        </p:nvCxnSpPr>
        <p:spPr>
          <a:xfrm flipV="1">
            <a:off x="289179" y="4990265"/>
            <a:ext cx="2592000" cy="0"/>
          </a:xfrm>
          <a:prstGeom prst="line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478" name="TextBox 477"/>
          <p:cNvSpPr txBox="1"/>
          <p:nvPr/>
        </p:nvSpPr>
        <p:spPr>
          <a:xfrm>
            <a:off x="289179" y="5062487"/>
            <a:ext cx="2448000" cy="608234"/>
          </a:xfrm>
          <a:prstGeom prst="rect">
            <a:avLst/>
          </a:prstGeom>
          <a:noFill/>
          <a:ln w="3175">
            <a:noFill/>
          </a:ln>
        </p:spPr>
        <p:txBody>
          <a:bodyPr wrap="square" lIns="36000" tIns="36000" rIns="36000" bIns="36000" rtlCol="0" anchor="t">
            <a:spAutoFit/>
          </a:bodyPr>
          <a:lstStyle>
            <a:defPPr>
              <a:defRPr lang="ko-KR"/>
            </a:defPPr>
            <a:lvl1pPr>
              <a:lnSpc>
                <a:spcPct val="150000"/>
              </a:lnSpc>
              <a:defRPr sz="7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 sz="580" smtClean="0"/>
              <a:t>해외배송 상품</a:t>
            </a:r>
            <a:r>
              <a:rPr lang="en-US" altLang="ko-KR" sz="580" smtClean="0"/>
              <a:t>, </a:t>
            </a:r>
            <a:r>
              <a:rPr lang="ko-KR" altLang="en-US" sz="580" smtClean="0"/>
              <a:t>구매대행 상품</a:t>
            </a:r>
            <a:r>
              <a:rPr lang="en-US" altLang="ko-KR" sz="580" smtClean="0"/>
              <a:t>, </a:t>
            </a:r>
            <a:r>
              <a:rPr lang="ko-KR" altLang="en-US" sz="580" smtClean="0"/>
              <a:t>항공권</a:t>
            </a:r>
            <a:r>
              <a:rPr lang="en-US" altLang="ko-KR" sz="580" smtClean="0"/>
              <a:t>/</a:t>
            </a:r>
            <a:r>
              <a:rPr lang="ko-KR" altLang="en-US" sz="580" smtClean="0"/>
              <a:t>호텔예약 및 여행편의서비스의 경우</a:t>
            </a:r>
            <a:r>
              <a:rPr lang="en-US" altLang="ko-KR" sz="580" smtClean="0"/>
              <a:t>, </a:t>
            </a:r>
            <a:r>
              <a:rPr lang="ko-KR" altLang="en-US" sz="580" smtClean="0"/>
              <a:t>㈜엘에프는 통신판매중개자이며</a:t>
            </a:r>
            <a:r>
              <a:rPr lang="en-US" altLang="ko-KR" sz="580" smtClean="0"/>
              <a:t>, </a:t>
            </a:r>
            <a:r>
              <a:rPr lang="ko-KR" altLang="en-US" sz="580" smtClean="0"/>
              <a:t>통신판매의 당사자가 아닙니다</a:t>
            </a:r>
            <a:r>
              <a:rPr lang="en-US" altLang="ko-KR" sz="580" smtClean="0"/>
              <a:t>.</a:t>
            </a:r>
          </a:p>
          <a:p>
            <a:r>
              <a:rPr lang="ko-KR" altLang="en-US" sz="580" smtClean="0"/>
              <a:t>㈜엘에프는 해당 해외배송 상품 또는 구매대행 상품</a:t>
            </a:r>
            <a:r>
              <a:rPr lang="en-US" altLang="ko-KR" sz="580" smtClean="0"/>
              <a:t>, </a:t>
            </a:r>
            <a:r>
              <a:rPr lang="ko-KR" altLang="en-US" sz="580" smtClean="0"/>
              <a:t>항공권</a:t>
            </a:r>
            <a:r>
              <a:rPr lang="en-US" altLang="ko-KR" sz="580" smtClean="0"/>
              <a:t>/</a:t>
            </a:r>
            <a:r>
              <a:rPr lang="ko-KR" altLang="en-US" sz="580" smtClean="0"/>
              <a:t>호텔예약 및 여행편의서비스의 거래 정보 및 거래 등에 대하여 책임을 지지 않습니다</a:t>
            </a:r>
            <a:r>
              <a:rPr lang="en-US" altLang="ko-KR" sz="580" smtClean="0"/>
              <a:t>.</a:t>
            </a:r>
          </a:p>
        </p:txBody>
      </p:sp>
      <p:sp>
        <p:nvSpPr>
          <p:cNvPr id="483" name="TextBox 482"/>
          <p:cNvSpPr txBox="1"/>
          <p:nvPr/>
        </p:nvSpPr>
        <p:spPr>
          <a:xfrm>
            <a:off x="289179" y="5764407"/>
            <a:ext cx="2592000" cy="180425"/>
          </a:xfrm>
          <a:prstGeom prst="rect">
            <a:avLst/>
          </a:prstGeom>
          <a:noFill/>
          <a:ln w="3175">
            <a:noFill/>
          </a:ln>
        </p:spPr>
        <p:txBody>
          <a:bodyPr wrap="square" lIns="36000" tIns="36000" rIns="36000" bIns="36000" rtlCol="0" anchor="ctr">
            <a:spAutoFit/>
          </a:bodyPr>
          <a:lstStyle>
            <a:defPPr>
              <a:defRPr lang="ko-KR"/>
            </a:defPPr>
            <a:lvl1pPr>
              <a:lnSpc>
                <a:spcPct val="150000"/>
              </a:lnSpc>
              <a:defRPr sz="7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lnSpc>
                <a:spcPct val="100000"/>
              </a:lnSpc>
            </a:pPr>
            <a:r>
              <a:rPr lang="ko-KR" altLang="en-US" smtClean="0"/>
              <a:t>이용약관 │ </a:t>
            </a:r>
            <a:r>
              <a:rPr lang="ko-KR" altLang="en-US" b="1" smtClean="0"/>
              <a:t>개인정보 처리방침</a:t>
            </a:r>
            <a:r>
              <a:rPr lang="ko-KR" altLang="en-US" smtClean="0"/>
              <a:t> │ 소비자피해보상 보험확인</a:t>
            </a:r>
            <a:endParaRPr lang="en-US" altLang="ko-KR" sz="500" smtClean="0"/>
          </a:p>
        </p:txBody>
      </p:sp>
      <p:pic>
        <p:nvPicPr>
          <p:cNvPr id="488" name="Picture 2" descr="https://img.lfmall.co.kr/file/WAS/apps/2019/mfront/common/sp_sns_v2.png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7235"/>
          <a:stretch/>
        </p:blipFill>
        <p:spPr bwMode="auto">
          <a:xfrm>
            <a:off x="289179" y="6108521"/>
            <a:ext cx="1032618" cy="28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1" name="모서리가 둥근 직사각형 140">
            <a:extLst>
              <a:ext uri="{FF2B5EF4-FFF2-40B4-BE49-F238E27FC236}">
                <a16:creationId xmlns:a16="http://schemas.microsoft.com/office/drawing/2014/main" xmlns="" id="{F9776C3A-3D6C-4965-9DA5-D76F1E6E1639}"/>
              </a:ext>
            </a:extLst>
          </p:cNvPr>
          <p:cNvSpPr/>
          <p:nvPr/>
        </p:nvSpPr>
        <p:spPr>
          <a:xfrm>
            <a:off x="2304590" y="3879023"/>
            <a:ext cx="576000" cy="216000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00" smtClean="0"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</a:rPr>
              <a:t>주문취소</a:t>
            </a:r>
            <a:endParaRPr lang="ko-KR" altLang="en-US" sz="800">
              <a:solidFill>
                <a:prstClr val="black">
                  <a:lumMod val="75000"/>
                  <a:lumOff val="25000"/>
                </a:prst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229" name="직사각형 228">
            <a:extLst>
              <a:ext uri="{FF2B5EF4-FFF2-40B4-BE49-F238E27FC236}">
                <a16:creationId xmlns:a16="http://schemas.microsoft.com/office/drawing/2014/main" xmlns="" id="{F9776C3A-3D6C-4965-9DA5-D76F1E6E1639}"/>
              </a:ext>
            </a:extLst>
          </p:cNvPr>
          <p:cNvSpPr/>
          <p:nvPr/>
        </p:nvSpPr>
        <p:spPr>
          <a:xfrm>
            <a:off x="4823718" y="709700"/>
            <a:ext cx="2880000" cy="5688000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>
              <a:solidFill>
                <a:prstClr val="black">
                  <a:lumMod val="75000"/>
                  <a:lumOff val="25000"/>
                </a:prst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230" name="직사각형 229">
            <a:extLst>
              <a:ext uri="{FF2B5EF4-FFF2-40B4-BE49-F238E27FC236}">
                <a16:creationId xmlns="" xmlns:a16="http://schemas.microsoft.com/office/drawing/2014/main" id="{19FD5FA0-B111-4EF7-BC86-418441928DD3}"/>
              </a:ext>
            </a:extLst>
          </p:cNvPr>
          <p:cNvSpPr/>
          <p:nvPr/>
        </p:nvSpPr>
        <p:spPr>
          <a:xfrm>
            <a:off x="4823718" y="709700"/>
            <a:ext cx="2880000" cy="360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>
              <a:solidFill>
                <a:prstClr val="black">
                  <a:lumMod val="75000"/>
                  <a:lumOff val="25000"/>
                </a:prst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231" name="TextBox 230">
            <a:extLst>
              <a:ext uri="{FF2B5EF4-FFF2-40B4-BE49-F238E27FC236}">
                <a16:creationId xmlns:a16="http://schemas.microsoft.com/office/drawing/2014/main" xmlns="" id="{0C96C875-C47F-4F5B-B4C1-F9D666A7BD9D}"/>
              </a:ext>
            </a:extLst>
          </p:cNvPr>
          <p:cNvSpPr txBox="1"/>
          <p:nvPr/>
        </p:nvSpPr>
        <p:spPr>
          <a:xfrm>
            <a:off x="5220220" y="791441"/>
            <a:ext cx="915416" cy="195814"/>
          </a:xfrm>
          <a:prstGeom prst="rect">
            <a:avLst/>
          </a:prstGeom>
          <a:noFill/>
          <a:ln w="317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108000" tIns="36000" rIns="108000" bIns="36000" numCol="1" rtlCol="0" anchor="ctr" anchorCtr="0" compatLnSpc="1">
            <a:prstTxWarp prst="textNoShape">
              <a:avLst/>
            </a:prstTxWarp>
            <a:spAutoFit/>
          </a:bodyPr>
          <a:lstStyle/>
          <a:p>
            <a:r>
              <a:rPr lang="ko-KR" altLang="en-US" sz="800" b="1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주문</a:t>
            </a:r>
            <a:r>
              <a:rPr lang="en-US" altLang="ko-KR" sz="800" b="1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/</a:t>
            </a:r>
            <a:r>
              <a:rPr lang="ko-KR" altLang="en-US" sz="800" b="1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배송 조회</a:t>
            </a:r>
            <a:endParaRPr lang="ko-KR" altLang="en-US" sz="800" b="1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</a:endParaRPr>
          </a:p>
        </p:txBody>
      </p:sp>
      <p:pic>
        <p:nvPicPr>
          <p:cNvPr id="233" name="Picture 2" descr="https://img.lfmall.co.kr/file/WAS/display/lf2022/mobile/gnb_fnb_sp.png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00" t="38037" r="84922" b="38044"/>
          <a:stretch/>
        </p:blipFill>
        <p:spPr bwMode="auto">
          <a:xfrm>
            <a:off x="4967718" y="799700"/>
            <a:ext cx="181592" cy="18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4" name="직사각형 233">
            <a:extLst>
              <a:ext uri="{FF2B5EF4-FFF2-40B4-BE49-F238E27FC236}">
                <a16:creationId xmlns:a16="http://schemas.microsoft.com/office/drawing/2014/main" xmlns="" id="{F9776C3A-3D6C-4965-9DA5-D76F1E6E1639}"/>
              </a:ext>
            </a:extLst>
          </p:cNvPr>
          <p:cNvSpPr/>
          <p:nvPr/>
        </p:nvSpPr>
        <p:spPr>
          <a:xfrm>
            <a:off x="4823718" y="1934864"/>
            <a:ext cx="2880000" cy="2340000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>
              <a:solidFill>
                <a:prstClr val="black">
                  <a:lumMod val="75000"/>
                  <a:lumOff val="25000"/>
                </a:prst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236" name="직사각형 235">
            <a:extLst>
              <a:ext uri="{FF2B5EF4-FFF2-40B4-BE49-F238E27FC236}">
                <a16:creationId xmlns:a16="http://schemas.microsoft.com/office/drawing/2014/main" xmlns="" id="{F9776C3A-3D6C-4965-9DA5-D76F1E6E1639}"/>
              </a:ext>
            </a:extLst>
          </p:cNvPr>
          <p:cNvSpPr/>
          <p:nvPr/>
        </p:nvSpPr>
        <p:spPr>
          <a:xfrm>
            <a:off x="4823718" y="1501534"/>
            <a:ext cx="2880000" cy="432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>
              <a:solidFill>
                <a:prstClr val="black">
                  <a:lumMod val="75000"/>
                  <a:lumOff val="25000"/>
                </a:prstClr>
              </a:solidFill>
              <a:latin typeface="맑은 고딕" panose="020B0503020000020004" pitchFamily="50" charset="-127"/>
            </a:endParaRPr>
          </a:p>
        </p:txBody>
      </p:sp>
      <p:grpSp>
        <p:nvGrpSpPr>
          <p:cNvPr id="237" name="그룹 236"/>
          <p:cNvGrpSpPr/>
          <p:nvPr/>
        </p:nvGrpSpPr>
        <p:grpSpPr>
          <a:xfrm>
            <a:off x="4895718" y="1608391"/>
            <a:ext cx="1296000" cy="216000"/>
            <a:chOff x="470771" y="2176455"/>
            <a:chExt cx="1296000" cy="216000"/>
          </a:xfrm>
        </p:grpSpPr>
        <p:sp>
          <p:nvSpPr>
            <p:cNvPr id="284" name="모서리가 둥근 직사각형 283"/>
            <p:cNvSpPr/>
            <p:nvPr/>
          </p:nvSpPr>
          <p:spPr>
            <a:xfrm>
              <a:off x="470771" y="2176455"/>
              <a:ext cx="1296000" cy="216000"/>
            </a:xfrm>
            <a:prstGeom prst="roundRect">
              <a:avLst/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36000" rIns="108000" bIns="36000" rtlCol="0" anchor="ctr"/>
            <a:lstStyle/>
            <a:p>
              <a:pPr>
                <a:lnSpc>
                  <a:spcPct val="150000"/>
                </a:lnSpc>
              </a:pPr>
              <a:r>
                <a:rPr lang="ko-KR" altLang="en-US" sz="70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전체</a:t>
              </a:r>
              <a:endParaRPr lang="ko-KR" altLang="en-US" sz="700" b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285" name="TextBox 284">
              <a:extLst>
                <a:ext uri="{FF2B5EF4-FFF2-40B4-BE49-F238E27FC236}">
                  <a16:creationId xmlns:a16="http://schemas.microsoft.com/office/drawing/2014/main" xmlns="" id="{0C96C875-C47F-4F5B-B4C1-F9D666A7BD9D}"/>
                </a:ext>
              </a:extLst>
            </p:cNvPr>
            <p:cNvSpPr txBox="1"/>
            <p:nvPr/>
          </p:nvSpPr>
          <p:spPr>
            <a:xfrm>
              <a:off x="1531596" y="2194243"/>
              <a:ext cx="235175" cy="180425"/>
            </a:xfrm>
            <a:prstGeom prst="rect">
              <a:avLst/>
            </a:prstGeom>
            <a:noFill/>
            <a:ln w="3175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none" lIns="36000" tIns="36000" rIns="108000" bIns="36000" numCol="1" rtlCol="0" anchor="ctr" anchorCtr="0" compatLnSpc="1">
              <a:prstTxWarp prst="textNoShape">
                <a:avLst/>
              </a:prstTxWarp>
              <a:spAutoFit/>
            </a:bodyPr>
            <a:lstStyle/>
            <a:p>
              <a:pPr algn="ctr"/>
              <a:r>
                <a:rPr lang="ko-KR" altLang="en-US" sz="70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▼</a:t>
              </a:r>
              <a:endParaRPr lang="ko-KR" altLang="en-US" sz="7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endParaRPr>
            </a:p>
          </p:txBody>
        </p:sp>
      </p:grpSp>
      <p:grpSp>
        <p:nvGrpSpPr>
          <p:cNvPr id="238" name="그룹 237"/>
          <p:cNvGrpSpPr/>
          <p:nvPr/>
        </p:nvGrpSpPr>
        <p:grpSpPr>
          <a:xfrm>
            <a:off x="6335718" y="1608391"/>
            <a:ext cx="1296000" cy="216000"/>
            <a:chOff x="470771" y="2176455"/>
            <a:chExt cx="1296000" cy="216000"/>
          </a:xfrm>
        </p:grpSpPr>
        <p:sp>
          <p:nvSpPr>
            <p:cNvPr id="282" name="모서리가 둥근 직사각형 281"/>
            <p:cNvSpPr/>
            <p:nvPr/>
          </p:nvSpPr>
          <p:spPr>
            <a:xfrm>
              <a:off x="470771" y="2176455"/>
              <a:ext cx="1296000" cy="216000"/>
            </a:xfrm>
            <a:prstGeom prst="roundRect">
              <a:avLst/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36000" rIns="108000" bIns="36000" rtlCol="0" anchor="ctr"/>
            <a:lstStyle/>
            <a:p>
              <a:pPr>
                <a:lnSpc>
                  <a:spcPct val="150000"/>
                </a:lnSpc>
              </a:pPr>
              <a:r>
                <a:rPr lang="ko-KR" altLang="en-US" sz="70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주문상태 전체</a:t>
              </a:r>
              <a:endParaRPr lang="ko-KR" altLang="en-US" sz="700" b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283" name="TextBox 282">
              <a:extLst>
                <a:ext uri="{FF2B5EF4-FFF2-40B4-BE49-F238E27FC236}">
                  <a16:creationId xmlns:a16="http://schemas.microsoft.com/office/drawing/2014/main" xmlns="" id="{0C96C875-C47F-4F5B-B4C1-F9D666A7BD9D}"/>
                </a:ext>
              </a:extLst>
            </p:cNvPr>
            <p:cNvSpPr txBox="1"/>
            <p:nvPr/>
          </p:nvSpPr>
          <p:spPr>
            <a:xfrm>
              <a:off x="1531596" y="2194243"/>
              <a:ext cx="235175" cy="180425"/>
            </a:xfrm>
            <a:prstGeom prst="rect">
              <a:avLst/>
            </a:prstGeom>
            <a:noFill/>
            <a:ln w="3175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none" lIns="36000" tIns="36000" rIns="108000" bIns="36000" numCol="1" rtlCol="0" anchor="ctr" anchorCtr="0" compatLnSpc="1">
              <a:prstTxWarp prst="textNoShape">
                <a:avLst/>
              </a:prstTxWarp>
              <a:spAutoFit/>
            </a:bodyPr>
            <a:lstStyle/>
            <a:p>
              <a:pPr algn="ctr"/>
              <a:r>
                <a:rPr lang="ko-KR" altLang="en-US" sz="70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▼</a:t>
              </a:r>
              <a:endParaRPr lang="ko-KR" altLang="en-US" sz="7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endParaRPr>
            </a:p>
          </p:txBody>
        </p:sp>
      </p:grpSp>
      <p:grpSp>
        <p:nvGrpSpPr>
          <p:cNvPr id="239" name="그룹 238"/>
          <p:cNvGrpSpPr/>
          <p:nvPr/>
        </p:nvGrpSpPr>
        <p:grpSpPr>
          <a:xfrm>
            <a:off x="4823718" y="1069617"/>
            <a:ext cx="2880000" cy="432000"/>
            <a:chOff x="145179" y="1502796"/>
            <a:chExt cx="2880000" cy="432000"/>
          </a:xfrm>
        </p:grpSpPr>
        <p:sp>
          <p:nvSpPr>
            <p:cNvPr id="278" name="직사각형 277">
              <a:extLst>
                <a:ext uri="{FF2B5EF4-FFF2-40B4-BE49-F238E27FC236}">
                  <a16:creationId xmlns:a16="http://schemas.microsoft.com/office/drawing/2014/main" xmlns="" id="{F9776C3A-3D6C-4965-9DA5-D76F1E6E1639}"/>
                </a:ext>
              </a:extLst>
            </p:cNvPr>
            <p:cNvSpPr/>
            <p:nvPr/>
          </p:nvSpPr>
          <p:spPr>
            <a:xfrm>
              <a:off x="145179" y="1502796"/>
              <a:ext cx="2880000" cy="432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800"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279" name="TextBox 278">
              <a:extLst>
                <a:ext uri="{FF2B5EF4-FFF2-40B4-BE49-F238E27FC236}">
                  <a16:creationId xmlns:a16="http://schemas.microsoft.com/office/drawing/2014/main" xmlns="" id="{0C96C875-C47F-4F5B-B4C1-F9D666A7BD9D}"/>
                </a:ext>
              </a:extLst>
            </p:cNvPr>
            <p:cNvSpPr txBox="1"/>
            <p:nvPr/>
          </p:nvSpPr>
          <p:spPr>
            <a:xfrm>
              <a:off x="601200" y="1620889"/>
              <a:ext cx="527957" cy="195814"/>
            </a:xfrm>
            <a:prstGeom prst="rect">
              <a:avLst/>
            </a:prstGeom>
            <a:noFill/>
            <a:ln w="3175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none" lIns="36000" tIns="36000" rIns="36000" bIns="36000" numCol="1" rtlCol="0" anchor="ctr" anchorCtr="0" compatLnSpc="1">
              <a:prstTxWarp prst="textNoShape">
                <a:avLst/>
              </a:prstTxWarp>
              <a:spAutoFit/>
            </a:bodyPr>
            <a:lstStyle/>
            <a:p>
              <a:pPr algn="ctr"/>
              <a:r>
                <a:rPr lang="ko-KR" altLang="en-US" sz="800" b="1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주문</a:t>
              </a:r>
              <a:r>
                <a:rPr lang="en-US" altLang="ko-KR" sz="800" b="1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/</a:t>
              </a:r>
              <a:r>
                <a:rPr lang="ko-KR" altLang="en-US" sz="800" b="1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배송</a:t>
              </a:r>
              <a:endParaRPr lang="ko-KR" altLang="en-US" sz="800" b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280" name="TextBox 279">
              <a:extLst>
                <a:ext uri="{FF2B5EF4-FFF2-40B4-BE49-F238E27FC236}">
                  <a16:creationId xmlns:a16="http://schemas.microsoft.com/office/drawing/2014/main" xmlns="" id="{0C96C875-C47F-4F5B-B4C1-F9D666A7BD9D}"/>
                </a:ext>
              </a:extLst>
            </p:cNvPr>
            <p:cNvSpPr txBox="1"/>
            <p:nvPr/>
          </p:nvSpPr>
          <p:spPr>
            <a:xfrm>
              <a:off x="1920976" y="1620889"/>
              <a:ext cx="768406" cy="195814"/>
            </a:xfrm>
            <a:prstGeom prst="rect">
              <a:avLst/>
            </a:prstGeom>
            <a:noFill/>
            <a:ln w="3175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none" lIns="36000" tIns="36000" rIns="36000" bIns="36000" numCol="1" rtlCol="0" anchor="ctr" anchorCtr="0" compatLnSpc="1">
              <a:prstTxWarp prst="textNoShape">
                <a:avLst/>
              </a:prstTxWarp>
              <a:spAutoFit/>
            </a:bodyPr>
            <a:lstStyle/>
            <a:p>
              <a:pPr algn="ctr"/>
              <a:r>
                <a:rPr lang="ko-KR" altLang="en-US" sz="80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취소</a:t>
              </a:r>
              <a:r>
                <a:rPr lang="en-US" altLang="ko-KR" sz="80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/</a:t>
              </a:r>
              <a:r>
                <a:rPr lang="ko-KR" altLang="en-US" sz="80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반품</a:t>
              </a:r>
              <a:r>
                <a:rPr lang="en-US" altLang="ko-KR" sz="80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/</a:t>
              </a:r>
              <a:r>
                <a:rPr lang="ko-KR" altLang="en-US" sz="80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교환</a:t>
              </a:r>
              <a:endParaRPr lang="ko-KR" altLang="en-US" sz="8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endParaRPr>
            </a:p>
          </p:txBody>
        </p:sp>
        <p:cxnSp>
          <p:nvCxnSpPr>
            <p:cNvPr id="281" name="직선 연결선 280"/>
            <p:cNvCxnSpPr/>
            <p:nvPr/>
          </p:nvCxnSpPr>
          <p:spPr>
            <a:xfrm>
              <a:off x="595179" y="1932891"/>
              <a:ext cx="540000" cy="0"/>
            </a:xfrm>
            <a:prstGeom prst="line">
              <a:avLst/>
            </a:prstGeom>
            <a:ln w="1270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40" name="직사각형 239">
            <a:extLst>
              <a:ext uri="{FF2B5EF4-FFF2-40B4-BE49-F238E27FC236}">
                <a16:creationId xmlns:a16="http://schemas.microsoft.com/office/drawing/2014/main" xmlns="" id="{F9776C3A-3D6C-4965-9DA5-D76F1E6E1639}"/>
              </a:ext>
            </a:extLst>
          </p:cNvPr>
          <p:cNvSpPr/>
          <p:nvPr/>
        </p:nvSpPr>
        <p:spPr>
          <a:xfrm>
            <a:off x="4895718" y="2006541"/>
            <a:ext cx="2736000" cy="648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36000" rIns="108000" bIns="36000" rtlCol="0" anchor="ctr"/>
          <a:lstStyle/>
          <a:p>
            <a:endParaRPr lang="ko-KR" altLang="en-US" sz="800">
              <a:solidFill>
                <a:prstClr val="black">
                  <a:lumMod val="75000"/>
                  <a:lumOff val="25000"/>
                </a:prst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241" name="TextBox 240"/>
          <p:cNvSpPr txBox="1"/>
          <p:nvPr/>
        </p:nvSpPr>
        <p:spPr>
          <a:xfrm>
            <a:off x="4967718" y="2096329"/>
            <a:ext cx="1124273" cy="180425"/>
          </a:xfrm>
          <a:prstGeom prst="rect">
            <a:avLst/>
          </a:prstGeom>
          <a:noFill/>
        </p:spPr>
        <p:txBody>
          <a:bodyPr wrap="none" lIns="36000" tIns="36000" rIns="36000" bIns="36000" rtlCol="0" anchor="ctr">
            <a:spAutoFit/>
          </a:bodyPr>
          <a:lstStyle/>
          <a:p>
            <a:r>
              <a:rPr lang="en-US" altLang="ko-KR" sz="700" b="1" smtClean="0"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</a:rPr>
              <a:t>2026.01.09</a:t>
            </a:r>
            <a:r>
              <a:rPr lang="en-US" altLang="ko-KR" sz="700" smtClean="0"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</a:rPr>
              <a:t> </a:t>
            </a:r>
            <a:r>
              <a:rPr lang="ko-KR" altLang="en-US" sz="700">
                <a:solidFill>
                  <a:schemeClr val="bg1">
                    <a:lumMod val="75000"/>
                  </a:schemeClr>
                </a:solidFill>
                <a:latin typeface="맑은 고딕" panose="020B0503020000020004" pitchFamily="50" charset="-127"/>
              </a:rPr>
              <a:t>│</a:t>
            </a:r>
            <a:r>
              <a:rPr lang="ko-KR" altLang="en-US" sz="700"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</a:rPr>
              <a:t> 상세보기 </a:t>
            </a:r>
            <a:r>
              <a:rPr lang="en-US" altLang="ko-KR" sz="700"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</a:rPr>
              <a:t>〉</a:t>
            </a:r>
            <a:endParaRPr lang="ko-KR" altLang="en-US" sz="700">
              <a:solidFill>
                <a:prstClr val="black">
                  <a:lumMod val="75000"/>
                  <a:lumOff val="25000"/>
                </a:prst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242" name="직사각형 241">
            <a:extLst>
              <a:ext uri="{FF2B5EF4-FFF2-40B4-BE49-F238E27FC236}">
                <a16:creationId xmlns:a16="http://schemas.microsoft.com/office/drawing/2014/main" xmlns="" id="{F9776C3A-3D6C-4965-9DA5-D76F1E6E1639}"/>
              </a:ext>
            </a:extLst>
          </p:cNvPr>
          <p:cNvSpPr/>
          <p:nvPr/>
        </p:nvSpPr>
        <p:spPr>
          <a:xfrm>
            <a:off x="4895718" y="2655496"/>
            <a:ext cx="2736000" cy="1512000"/>
          </a:xfrm>
          <a:prstGeom prst="rect">
            <a:avLst/>
          </a:pr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36000" rIns="108000" bIns="36000" rtlCol="0" anchor="ctr"/>
          <a:lstStyle/>
          <a:p>
            <a:endParaRPr lang="ko-KR" altLang="en-US" sz="800">
              <a:solidFill>
                <a:prstClr val="black">
                  <a:lumMod val="75000"/>
                  <a:lumOff val="25000"/>
                </a:prst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243" name="직사각형 242"/>
          <p:cNvSpPr/>
          <p:nvPr/>
        </p:nvSpPr>
        <p:spPr>
          <a:xfrm>
            <a:off x="4967718" y="2798170"/>
            <a:ext cx="792000" cy="936000"/>
          </a:xfrm>
          <a:prstGeom prst="rect">
            <a:avLst/>
          </a:prstGeom>
          <a:pattFill prst="openDmnd">
            <a:fgClr>
              <a:schemeClr val="bg1">
                <a:lumMod val="75000"/>
              </a:schemeClr>
            </a:fgClr>
            <a:bgClr>
              <a:schemeClr val="bg1"/>
            </a:bgClr>
          </a:patt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PROD</a:t>
            </a:r>
          </a:p>
          <a:p>
            <a:pPr algn="ctr"/>
            <a:r>
              <a:rPr lang="en-US" altLang="ko-KR" sz="8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IMG</a:t>
            </a:r>
            <a:endParaRPr lang="ko-KR" altLang="en-US" sz="80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74" name="TextBox 273"/>
          <p:cNvSpPr txBox="1"/>
          <p:nvPr/>
        </p:nvSpPr>
        <p:spPr>
          <a:xfrm>
            <a:off x="5759718" y="2798170"/>
            <a:ext cx="1832334" cy="288147"/>
          </a:xfrm>
          <a:prstGeom prst="rect">
            <a:avLst/>
          </a:prstGeom>
          <a:noFill/>
        </p:spPr>
        <p:txBody>
          <a:bodyPr wrap="none" lIns="108000" tIns="36000" rIns="108000" bIns="36000" rtlCol="0" anchor="t">
            <a:spAutoFit/>
          </a:bodyPr>
          <a:lstStyle/>
          <a:p>
            <a:r>
              <a:rPr lang="en-US" altLang="ko-KR" sz="7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HAZZYS</a:t>
            </a:r>
          </a:p>
          <a:p>
            <a:r>
              <a:rPr lang="en-US" altLang="ko-KR" sz="7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[</a:t>
            </a:r>
            <a:r>
              <a:rPr lang="ko-KR" altLang="en-US" sz="7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시즌오프</a:t>
            </a:r>
            <a:r>
              <a:rPr lang="en-US" altLang="ko-KR" sz="7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][</a:t>
            </a:r>
            <a:r>
              <a:rPr lang="ko-KR" altLang="en-US" sz="7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인기급상승</a:t>
            </a:r>
            <a:r>
              <a:rPr lang="en-US" altLang="ko-KR" sz="7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] </a:t>
            </a:r>
            <a:r>
              <a:rPr lang="ko-KR" altLang="en-US" sz="7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다이아 패턴 구</a:t>
            </a:r>
            <a:r>
              <a:rPr lang="en-US" altLang="ko-KR" sz="7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…</a:t>
            </a:r>
            <a:endParaRPr lang="en-US" altLang="ko-KR" sz="70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275" name="TextBox 274"/>
          <p:cNvSpPr txBox="1"/>
          <p:nvPr/>
        </p:nvSpPr>
        <p:spPr>
          <a:xfrm>
            <a:off x="5759718" y="3087796"/>
            <a:ext cx="1184721" cy="180425"/>
          </a:xfrm>
          <a:prstGeom prst="rect">
            <a:avLst/>
          </a:prstGeom>
          <a:noFill/>
        </p:spPr>
        <p:txBody>
          <a:bodyPr wrap="none" lIns="108000" tIns="36000" rIns="108000" bIns="36000" rtlCol="0" anchor="ctr">
            <a:spAutoFit/>
          </a:bodyPr>
          <a:lstStyle/>
          <a:p>
            <a:r>
              <a:rPr lang="ko-KR" altLang="en-US" sz="700">
                <a:solidFill>
                  <a:schemeClr val="tx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</a:rPr>
              <a:t>진한 브라운 </a:t>
            </a:r>
            <a:r>
              <a:rPr lang="en-US" altLang="ko-KR" sz="700">
                <a:solidFill>
                  <a:schemeClr val="tx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</a:rPr>
              <a:t>/ 00S / 1</a:t>
            </a:r>
            <a:r>
              <a:rPr lang="ko-KR" altLang="en-US" sz="700">
                <a:solidFill>
                  <a:schemeClr val="tx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</a:rPr>
              <a:t>개</a:t>
            </a:r>
          </a:p>
        </p:txBody>
      </p:sp>
      <p:sp>
        <p:nvSpPr>
          <p:cNvPr id="276" name="TextBox 275"/>
          <p:cNvSpPr txBox="1"/>
          <p:nvPr/>
        </p:nvSpPr>
        <p:spPr>
          <a:xfrm>
            <a:off x="5759718" y="3268221"/>
            <a:ext cx="703820" cy="195814"/>
          </a:xfrm>
          <a:prstGeom prst="rect">
            <a:avLst/>
          </a:prstGeom>
          <a:noFill/>
        </p:spPr>
        <p:txBody>
          <a:bodyPr wrap="none" lIns="108000" tIns="36000" rIns="108000" bIns="36000" rtlCol="0" anchor="ctr">
            <a:spAutoFit/>
          </a:bodyPr>
          <a:lstStyle/>
          <a:p>
            <a:r>
              <a:rPr lang="en-US" altLang="ko-KR" sz="800" b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390,910</a:t>
            </a:r>
            <a:r>
              <a:rPr lang="ko-KR" altLang="en-US" sz="800" b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원</a:t>
            </a:r>
            <a:endParaRPr lang="ko-KR" altLang="en-US" sz="700" b="1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277" name="TextBox 276"/>
          <p:cNvSpPr txBox="1"/>
          <p:nvPr/>
        </p:nvSpPr>
        <p:spPr>
          <a:xfrm>
            <a:off x="5759718" y="3474125"/>
            <a:ext cx="987551" cy="180425"/>
          </a:xfrm>
          <a:prstGeom prst="rect">
            <a:avLst/>
          </a:prstGeom>
          <a:noFill/>
        </p:spPr>
        <p:txBody>
          <a:bodyPr wrap="none" lIns="108000" tIns="36000" rIns="108000" bIns="36000" rtlCol="0" anchor="t">
            <a:spAutoFit/>
          </a:bodyPr>
          <a:lstStyle>
            <a:defPPr>
              <a:defRPr lang="ko-KR"/>
            </a:defPPr>
            <a:lvl1pPr>
              <a:defRPr sz="7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defRPr>
            </a:lvl1pPr>
          </a:lstStyle>
          <a:p>
            <a:r>
              <a:rPr lang="en-US" altLang="ko-KR" smtClean="0">
                <a:solidFill>
                  <a:srgbClr val="DC2832"/>
                </a:solidFill>
              </a:rPr>
              <a:t>01/08(</a:t>
            </a:r>
            <a:r>
              <a:rPr lang="ko-KR" altLang="en-US" smtClean="0">
                <a:solidFill>
                  <a:srgbClr val="DC2832"/>
                </a:solidFill>
              </a:rPr>
              <a:t>목</a:t>
            </a:r>
            <a:r>
              <a:rPr lang="en-US" altLang="ko-KR" smtClean="0">
                <a:solidFill>
                  <a:srgbClr val="DC2832"/>
                </a:solidFill>
              </a:rPr>
              <a:t>)</a:t>
            </a:r>
            <a:r>
              <a:rPr lang="ko-KR" altLang="en-US" smtClean="0"/>
              <a:t> </a:t>
            </a:r>
            <a:r>
              <a:rPr lang="ko-KR" altLang="en-US"/>
              <a:t>도착예정</a:t>
            </a:r>
            <a:endParaRPr lang="ko-KR" altLang="en-US" dirty="0"/>
          </a:p>
        </p:txBody>
      </p:sp>
      <p:sp>
        <p:nvSpPr>
          <p:cNvPr id="245" name="모서리가 둥근 직사각형 244">
            <a:extLst>
              <a:ext uri="{FF2B5EF4-FFF2-40B4-BE49-F238E27FC236}">
                <a16:creationId xmlns:a16="http://schemas.microsoft.com/office/drawing/2014/main" xmlns="" id="{F9776C3A-3D6C-4965-9DA5-D76F1E6E1639}"/>
              </a:ext>
            </a:extLst>
          </p:cNvPr>
          <p:cNvSpPr/>
          <p:nvPr/>
        </p:nvSpPr>
        <p:spPr>
          <a:xfrm>
            <a:off x="4967718" y="2367630"/>
            <a:ext cx="828000" cy="216000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00" smtClean="0"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</a:rPr>
              <a:t>결제수단변경</a:t>
            </a:r>
            <a:endParaRPr lang="ko-KR" altLang="en-US" sz="800">
              <a:solidFill>
                <a:prstClr val="black">
                  <a:lumMod val="75000"/>
                  <a:lumOff val="25000"/>
                </a:prst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246" name="모서리가 둥근 직사각형 245">
            <a:extLst>
              <a:ext uri="{FF2B5EF4-FFF2-40B4-BE49-F238E27FC236}">
                <a16:creationId xmlns:a16="http://schemas.microsoft.com/office/drawing/2014/main" xmlns="" id="{F9776C3A-3D6C-4965-9DA5-D76F1E6E1639}"/>
              </a:ext>
            </a:extLst>
          </p:cNvPr>
          <p:cNvSpPr/>
          <p:nvPr/>
        </p:nvSpPr>
        <p:spPr>
          <a:xfrm>
            <a:off x="5849718" y="2367630"/>
            <a:ext cx="828000" cy="216000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00" smtClean="0"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</a:rPr>
              <a:t>배송지변경</a:t>
            </a:r>
            <a:endParaRPr lang="ko-KR" altLang="en-US" sz="800">
              <a:solidFill>
                <a:prstClr val="black">
                  <a:lumMod val="75000"/>
                  <a:lumOff val="25000"/>
                </a:prst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247" name="모서리가 둥근 직사각형 246">
            <a:extLst>
              <a:ext uri="{FF2B5EF4-FFF2-40B4-BE49-F238E27FC236}">
                <a16:creationId xmlns:a16="http://schemas.microsoft.com/office/drawing/2014/main" xmlns="" id="{F9776C3A-3D6C-4965-9DA5-D76F1E6E1639}"/>
              </a:ext>
            </a:extLst>
          </p:cNvPr>
          <p:cNvSpPr/>
          <p:nvPr/>
        </p:nvSpPr>
        <p:spPr>
          <a:xfrm>
            <a:off x="6731129" y="2367630"/>
            <a:ext cx="828000" cy="216000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00" smtClean="0"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</a:rPr>
              <a:t>전체취소</a:t>
            </a:r>
            <a:endParaRPr lang="ko-KR" altLang="en-US" sz="800">
              <a:solidFill>
                <a:prstClr val="black">
                  <a:lumMod val="75000"/>
                  <a:lumOff val="25000"/>
                </a:prst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248" name="TextBox 247"/>
          <p:cNvSpPr txBox="1"/>
          <p:nvPr/>
        </p:nvSpPr>
        <p:spPr>
          <a:xfrm>
            <a:off x="4967718" y="3893401"/>
            <a:ext cx="431776" cy="180425"/>
          </a:xfrm>
          <a:prstGeom prst="rect">
            <a:avLst/>
          </a:prstGeom>
          <a:noFill/>
        </p:spPr>
        <p:txBody>
          <a:bodyPr wrap="none" lIns="36000" tIns="36000" rIns="36000" bIns="36000" rtlCol="0" anchor="ctr">
            <a:spAutoFit/>
          </a:bodyPr>
          <a:lstStyle/>
          <a:p>
            <a:r>
              <a:rPr lang="ko-KR" altLang="en-US" sz="7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결제완료</a:t>
            </a:r>
            <a:endParaRPr lang="ko-KR" altLang="en-US" sz="7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249" name="직사각형 248"/>
          <p:cNvSpPr/>
          <p:nvPr/>
        </p:nvSpPr>
        <p:spPr>
          <a:xfrm>
            <a:off x="4823718" y="4270750"/>
            <a:ext cx="2880000" cy="288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50" name="TextBox 249"/>
          <p:cNvSpPr txBox="1"/>
          <p:nvPr/>
        </p:nvSpPr>
        <p:spPr>
          <a:xfrm>
            <a:off x="4823718" y="4324537"/>
            <a:ext cx="504479" cy="180425"/>
          </a:xfrm>
          <a:prstGeom prst="rect">
            <a:avLst/>
          </a:prstGeom>
          <a:noFill/>
          <a:ln w="3175">
            <a:noFill/>
          </a:ln>
        </p:spPr>
        <p:txBody>
          <a:bodyPr wrap="none" lIns="108000" tIns="36000" rIns="36000" bIns="36000" rtlCol="0" anchor="ctr">
            <a:spAutoFit/>
          </a:bodyPr>
          <a:lstStyle/>
          <a:p>
            <a:r>
              <a:rPr lang="ko-KR" altLang="en-US" sz="7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로그아웃</a:t>
            </a:r>
            <a:endParaRPr lang="ko-KR" altLang="en-US" sz="7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51" name="TextBox 250"/>
          <p:cNvSpPr txBox="1"/>
          <p:nvPr/>
        </p:nvSpPr>
        <p:spPr>
          <a:xfrm>
            <a:off x="5382357" y="4324537"/>
            <a:ext cx="431776" cy="180425"/>
          </a:xfrm>
          <a:prstGeom prst="rect">
            <a:avLst/>
          </a:prstGeom>
          <a:noFill/>
          <a:ln w="3175">
            <a:noFill/>
          </a:ln>
        </p:spPr>
        <p:txBody>
          <a:bodyPr wrap="none" lIns="36000" tIns="36000" rIns="36000" bIns="36000" rtlCol="0" anchor="ctr">
            <a:spAutoFit/>
          </a:bodyPr>
          <a:lstStyle/>
          <a:p>
            <a:r>
              <a:rPr lang="ko-KR" altLang="en-US" sz="7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고객센터</a:t>
            </a:r>
            <a:endParaRPr lang="ko-KR" altLang="en-US" sz="7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52" name="TextBox 251"/>
          <p:cNvSpPr txBox="1"/>
          <p:nvPr/>
        </p:nvSpPr>
        <p:spPr>
          <a:xfrm>
            <a:off x="5868293" y="4324537"/>
            <a:ext cx="431776" cy="180425"/>
          </a:xfrm>
          <a:prstGeom prst="rect">
            <a:avLst/>
          </a:prstGeom>
          <a:noFill/>
          <a:ln w="3175">
            <a:noFill/>
          </a:ln>
        </p:spPr>
        <p:txBody>
          <a:bodyPr wrap="none" lIns="36000" tIns="36000" rIns="36000" bIns="36000" rtlCol="0" anchor="ctr">
            <a:spAutoFit/>
          </a:bodyPr>
          <a:lstStyle/>
          <a:p>
            <a:r>
              <a:rPr lang="ko-KR" altLang="en-US" sz="7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공지사항</a:t>
            </a:r>
            <a:endParaRPr lang="ko-KR" altLang="en-US" sz="7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53" name="TextBox 252"/>
          <p:cNvSpPr txBox="1"/>
          <p:nvPr/>
        </p:nvSpPr>
        <p:spPr>
          <a:xfrm>
            <a:off x="6354229" y="4324537"/>
            <a:ext cx="521544" cy="180425"/>
          </a:xfrm>
          <a:prstGeom prst="rect">
            <a:avLst/>
          </a:prstGeom>
          <a:noFill/>
          <a:ln w="3175">
            <a:noFill/>
          </a:ln>
        </p:spPr>
        <p:txBody>
          <a:bodyPr wrap="none" lIns="36000" tIns="36000" rIns="36000" bIns="36000" rtlCol="0" anchor="ctr">
            <a:spAutoFit/>
          </a:bodyPr>
          <a:lstStyle/>
          <a:p>
            <a:r>
              <a:rPr lang="ko-KR" altLang="en-US" sz="7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패밀리인증</a:t>
            </a:r>
            <a:endParaRPr lang="ko-KR" altLang="en-US" sz="7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54" name="TextBox 253"/>
          <p:cNvSpPr txBox="1"/>
          <p:nvPr/>
        </p:nvSpPr>
        <p:spPr>
          <a:xfrm>
            <a:off x="6929935" y="4324537"/>
            <a:ext cx="773783" cy="180425"/>
          </a:xfrm>
          <a:prstGeom prst="rect">
            <a:avLst/>
          </a:prstGeom>
          <a:noFill/>
          <a:ln w="3175">
            <a:noFill/>
          </a:ln>
        </p:spPr>
        <p:txBody>
          <a:bodyPr wrap="none" lIns="36000" tIns="36000" rIns="108000" bIns="36000" rtlCol="0" anchor="ctr">
            <a:spAutoFit/>
          </a:bodyPr>
          <a:lstStyle/>
          <a:p>
            <a:r>
              <a:rPr lang="ko-KR" altLang="en-US" sz="7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제휴임직원인증</a:t>
            </a:r>
            <a:endParaRPr lang="ko-KR" altLang="en-US" sz="7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255" name="직선 연결선 254"/>
          <p:cNvCxnSpPr/>
          <p:nvPr/>
        </p:nvCxnSpPr>
        <p:spPr>
          <a:xfrm>
            <a:off x="5355277" y="4341764"/>
            <a:ext cx="0" cy="14400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6" name="직선 연결선 255"/>
          <p:cNvCxnSpPr/>
          <p:nvPr/>
        </p:nvCxnSpPr>
        <p:spPr>
          <a:xfrm>
            <a:off x="5841213" y="4341764"/>
            <a:ext cx="0" cy="14400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7" name="직선 연결선 256"/>
          <p:cNvCxnSpPr/>
          <p:nvPr/>
        </p:nvCxnSpPr>
        <p:spPr>
          <a:xfrm>
            <a:off x="6327149" y="4341764"/>
            <a:ext cx="0" cy="14400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8" name="직선 연결선 257"/>
          <p:cNvCxnSpPr/>
          <p:nvPr/>
        </p:nvCxnSpPr>
        <p:spPr>
          <a:xfrm>
            <a:off x="6902853" y="4341764"/>
            <a:ext cx="0" cy="14400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9" name="직사각형 258"/>
          <p:cNvSpPr/>
          <p:nvPr/>
        </p:nvSpPr>
        <p:spPr>
          <a:xfrm>
            <a:off x="4823718" y="4561700"/>
            <a:ext cx="2880000" cy="1836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60" name="TextBox 259"/>
          <p:cNvSpPr txBox="1"/>
          <p:nvPr/>
        </p:nvSpPr>
        <p:spPr>
          <a:xfrm>
            <a:off x="4967718" y="4668625"/>
            <a:ext cx="2592000" cy="211203"/>
          </a:xfrm>
          <a:prstGeom prst="rect">
            <a:avLst/>
          </a:prstGeom>
          <a:noFill/>
          <a:ln w="3175">
            <a:noFill/>
          </a:ln>
        </p:spPr>
        <p:txBody>
          <a:bodyPr wrap="square" lIns="108000" tIns="36000" rIns="108000" bIns="36000" rtlCol="0" anchor="ctr">
            <a:spAutoFit/>
          </a:bodyPr>
          <a:lstStyle>
            <a:defPPr>
              <a:defRPr lang="ko-KR"/>
            </a:defPPr>
            <a:lvl1pPr>
              <a:lnSpc>
                <a:spcPct val="150000"/>
              </a:lnSpc>
              <a:defRPr sz="7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lnSpc>
                <a:spcPct val="100000"/>
              </a:lnSpc>
            </a:pPr>
            <a:r>
              <a:rPr lang="en-US" altLang="ko-KR" sz="900" b="1" smtClean="0"/>
              <a:t>   LF</a:t>
            </a:r>
            <a:r>
              <a:rPr lang="en-US" altLang="ko-KR" smtClean="0"/>
              <a:t> </a:t>
            </a:r>
            <a:r>
              <a:rPr lang="ko-KR" altLang="en-US" smtClean="0"/>
              <a:t>사업자정보</a:t>
            </a:r>
            <a:endParaRPr lang="en-US" altLang="ko-KR" smtClean="0"/>
          </a:p>
        </p:txBody>
      </p:sp>
      <p:grpSp>
        <p:nvGrpSpPr>
          <p:cNvPr id="261" name="그룹 260"/>
          <p:cNvGrpSpPr/>
          <p:nvPr/>
        </p:nvGrpSpPr>
        <p:grpSpPr>
          <a:xfrm>
            <a:off x="4967718" y="4684226"/>
            <a:ext cx="180000" cy="180000"/>
            <a:chOff x="8778240" y="3100030"/>
            <a:chExt cx="706635" cy="688625"/>
          </a:xfrm>
          <a:solidFill>
            <a:schemeClr val="tx1">
              <a:lumMod val="65000"/>
              <a:lumOff val="35000"/>
            </a:schemeClr>
          </a:solidFill>
        </p:grpSpPr>
        <p:sp>
          <p:nvSpPr>
            <p:cNvPr id="269" name="순서도: 수동 입력 268"/>
            <p:cNvSpPr/>
            <p:nvPr/>
          </p:nvSpPr>
          <p:spPr>
            <a:xfrm>
              <a:off x="8778240" y="3157061"/>
              <a:ext cx="216000" cy="468000"/>
            </a:xfrm>
            <a:prstGeom prst="flowChartManualInput">
              <a:avLst/>
            </a:prstGeom>
            <a:grp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8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270" name="순서도: 데이터 2"/>
            <p:cNvSpPr/>
            <p:nvPr/>
          </p:nvSpPr>
          <p:spPr>
            <a:xfrm flipH="1">
              <a:off x="8778240" y="3625061"/>
              <a:ext cx="431919" cy="163594"/>
            </a:xfrm>
            <a:custGeom>
              <a:avLst/>
              <a:gdLst>
                <a:gd name="connsiteX0" fmla="*/ 0 w 10000"/>
                <a:gd name="connsiteY0" fmla="*/ 10000 h 10000"/>
                <a:gd name="connsiteX1" fmla="*/ 2000 w 10000"/>
                <a:gd name="connsiteY1" fmla="*/ 0 h 10000"/>
                <a:gd name="connsiteX2" fmla="*/ 10000 w 10000"/>
                <a:gd name="connsiteY2" fmla="*/ 0 h 10000"/>
                <a:gd name="connsiteX3" fmla="*/ 8000 w 10000"/>
                <a:gd name="connsiteY3" fmla="*/ 10000 h 10000"/>
                <a:gd name="connsiteX4" fmla="*/ 0 w 10000"/>
                <a:gd name="connsiteY4" fmla="*/ 10000 h 10000"/>
                <a:gd name="connsiteX0" fmla="*/ 0 w 15997"/>
                <a:gd name="connsiteY0" fmla="*/ 5257 h 10000"/>
                <a:gd name="connsiteX1" fmla="*/ 7997 w 15997"/>
                <a:gd name="connsiteY1" fmla="*/ 0 h 10000"/>
                <a:gd name="connsiteX2" fmla="*/ 15997 w 15997"/>
                <a:gd name="connsiteY2" fmla="*/ 0 h 10000"/>
                <a:gd name="connsiteX3" fmla="*/ 13997 w 15997"/>
                <a:gd name="connsiteY3" fmla="*/ 10000 h 10000"/>
                <a:gd name="connsiteX4" fmla="*/ 0 w 15997"/>
                <a:gd name="connsiteY4" fmla="*/ 5257 h 10000"/>
                <a:gd name="connsiteX0" fmla="*/ 0 w 15997"/>
                <a:gd name="connsiteY0" fmla="*/ 5257 h 9051"/>
                <a:gd name="connsiteX1" fmla="*/ 7997 w 15997"/>
                <a:gd name="connsiteY1" fmla="*/ 0 h 9051"/>
                <a:gd name="connsiteX2" fmla="*/ 15997 w 15997"/>
                <a:gd name="connsiteY2" fmla="*/ 0 h 9051"/>
                <a:gd name="connsiteX3" fmla="*/ 2567 w 15997"/>
                <a:gd name="connsiteY3" fmla="*/ 9051 h 9051"/>
                <a:gd name="connsiteX4" fmla="*/ 0 w 15997"/>
                <a:gd name="connsiteY4" fmla="*/ 5257 h 90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997" h="9051">
                  <a:moveTo>
                    <a:pt x="0" y="5257"/>
                  </a:moveTo>
                  <a:lnTo>
                    <a:pt x="7997" y="0"/>
                  </a:lnTo>
                  <a:lnTo>
                    <a:pt x="15997" y="0"/>
                  </a:lnTo>
                  <a:lnTo>
                    <a:pt x="2567" y="9051"/>
                  </a:lnTo>
                  <a:lnTo>
                    <a:pt x="0" y="5257"/>
                  </a:lnTo>
                  <a:close/>
                </a:path>
              </a:pathLst>
            </a:custGeom>
            <a:grp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8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271" name="순서도: 수동 입력 270"/>
            <p:cNvSpPr/>
            <p:nvPr/>
          </p:nvSpPr>
          <p:spPr>
            <a:xfrm flipH="1" flipV="1">
              <a:off x="9286875" y="3238858"/>
              <a:ext cx="198000" cy="468000"/>
            </a:xfrm>
            <a:prstGeom prst="flowChartManualInput">
              <a:avLst/>
            </a:prstGeom>
            <a:grp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8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272" name="순서도: 데이터 2"/>
            <p:cNvSpPr/>
            <p:nvPr/>
          </p:nvSpPr>
          <p:spPr>
            <a:xfrm flipV="1">
              <a:off x="9028207" y="3100030"/>
              <a:ext cx="456668" cy="138827"/>
            </a:xfrm>
            <a:custGeom>
              <a:avLst/>
              <a:gdLst>
                <a:gd name="connsiteX0" fmla="*/ 0 w 10000"/>
                <a:gd name="connsiteY0" fmla="*/ 10000 h 10000"/>
                <a:gd name="connsiteX1" fmla="*/ 2000 w 10000"/>
                <a:gd name="connsiteY1" fmla="*/ 0 h 10000"/>
                <a:gd name="connsiteX2" fmla="*/ 10000 w 10000"/>
                <a:gd name="connsiteY2" fmla="*/ 0 h 10000"/>
                <a:gd name="connsiteX3" fmla="*/ 8000 w 10000"/>
                <a:gd name="connsiteY3" fmla="*/ 10000 h 10000"/>
                <a:gd name="connsiteX4" fmla="*/ 0 w 10000"/>
                <a:gd name="connsiteY4" fmla="*/ 10000 h 10000"/>
                <a:gd name="connsiteX0" fmla="*/ 0 w 15997"/>
                <a:gd name="connsiteY0" fmla="*/ 5257 h 10000"/>
                <a:gd name="connsiteX1" fmla="*/ 7997 w 15997"/>
                <a:gd name="connsiteY1" fmla="*/ 0 h 10000"/>
                <a:gd name="connsiteX2" fmla="*/ 15997 w 15997"/>
                <a:gd name="connsiteY2" fmla="*/ 0 h 10000"/>
                <a:gd name="connsiteX3" fmla="*/ 13997 w 15997"/>
                <a:gd name="connsiteY3" fmla="*/ 10000 h 10000"/>
                <a:gd name="connsiteX4" fmla="*/ 0 w 15997"/>
                <a:gd name="connsiteY4" fmla="*/ 5257 h 10000"/>
                <a:gd name="connsiteX0" fmla="*/ 0 w 15997"/>
                <a:gd name="connsiteY0" fmla="*/ 5257 h 9051"/>
                <a:gd name="connsiteX1" fmla="*/ 7997 w 15997"/>
                <a:gd name="connsiteY1" fmla="*/ 0 h 9051"/>
                <a:gd name="connsiteX2" fmla="*/ 15997 w 15997"/>
                <a:gd name="connsiteY2" fmla="*/ 0 h 9051"/>
                <a:gd name="connsiteX3" fmla="*/ 2567 w 15997"/>
                <a:gd name="connsiteY3" fmla="*/ 9051 h 9051"/>
                <a:gd name="connsiteX4" fmla="*/ 0 w 15997"/>
                <a:gd name="connsiteY4" fmla="*/ 5257 h 9051"/>
                <a:gd name="connsiteX0" fmla="*/ 0 w 10000"/>
                <a:gd name="connsiteY0" fmla="*/ 5808 h 8137"/>
                <a:gd name="connsiteX1" fmla="*/ 4999 w 10000"/>
                <a:gd name="connsiteY1" fmla="*/ 0 h 8137"/>
                <a:gd name="connsiteX2" fmla="*/ 10000 w 10000"/>
                <a:gd name="connsiteY2" fmla="*/ 0 h 8137"/>
                <a:gd name="connsiteX3" fmla="*/ 2708 w 10000"/>
                <a:gd name="connsiteY3" fmla="*/ 8137 h 8137"/>
                <a:gd name="connsiteX4" fmla="*/ 0 w 10000"/>
                <a:gd name="connsiteY4" fmla="*/ 5808 h 8137"/>
                <a:gd name="connsiteX0" fmla="*/ 0 w 10573"/>
                <a:gd name="connsiteY0" fmla="*/ 7424 h 10000"/>
                <a:gd name="connsiteX1" fmla="*/ 5572 w 10573"/>
                <a:gd name="connsiteY1" fmla="*/ 0 h 10000"/>
                <a:gd name="connsiteX2" fmla="*/ 10573 w 10573"/>
                <a:gd name="connsiteY2" fmla="*/ 0 h 10000"/>
                <a:gd name="connsiteX3" fmla="*/ 3281 w 10573"/>
                <a:gd name="connsiteY3" fmla="*/ 10000 h 10000"/>
                <a:gd name="connsiteX4" fmla="*/ 0 w 10573"/>
                <a:gd name="connsiteY4" fmla="*/ 7424 h 10000"/>
                <a:gd name="connsiteX0" fmla="*/ 0 w 10573"/>
                <a:gd name="connsiteY0" fmla="*/ 7424 h 10429"/>
                <a:gd name="connsiteX1" fmla="*/ 5572 w 10573"/>
                <a:gd name="connsiteY1" fmla="*/ 0 h 10429"/>
                <a:gd name="connsiteX2" fmla="*/ 10573 w 10573"/>
                <a:gd name="connsiteY2" fmla="*/ 0 h 10429"/>
                <a:gd name="connsiteX3" fmla="*/ 2840 w 10573"/>
                <a:gd name="connsiteY3" fmla="*/ 10429 h 10429"/>
                <a:gd name="connsiteX4" fmla="*/ 0 w 10573"/>
                <a:gd name="connsiteY4" fmla="*/ 7424 h 10429"/>
                <a:gd name="connsiteX0" fmla="*/ 0 w 10573"/>
                <a:gd name="connsiteY0" fmla="*/ 7710 h 10715"/>
                <a:gd name="connsiteX1" fmla="*/ 6057 w 10573"/>
                <a:gd name="connsiteY1" fmla="*/ 0 h 10715"/>
                <a:gd name="connsiteX2" fmla="*/ 10573 w 10573"/>
                <a:gd name="connsiteY2" fmla="*/ 286 h 10715"/>
                <a:gd name="connsiteX3" fmla="*/ 2840 w 10573"/>
                <a:gd name="connsiteY3" fmla="*/ 10715 h 10715"/>
                <a:gd name="connsiteX4" fmla="*/ 0 w 10573"/>
                <a:gd name="connsiteY4" fmla="*/ 7710 h 10715"/>
                <a:gd name="connsiteX0" fmla="*/ 0 w 10573"/>
                <a:gd name="connsiteY0" fmla="*/ 7424 h 10429"/>
                <a:gd name="connsiteX1" fmla="*/ 6057 w 10573"/>
                <a:gd name="connsiteY1" fmla="*/ 0 h 10429"/>
                <a:gd name="connsiteX2" fmla="*/ 10573 w 10573"/>
                <a:gd name="connsiteY2" fmla="*/ 0 h 10429"/>
                <a:gd name="connsiteX3" fmla="*/ 2840 w 10573"/>
                <a:gd name="connsiteY3" fmla="*/ 10429 h 10429"/>
                <a:gd name="connsiteX4" fmla="*/ 0 w 10573"/>
                <a:gd name="connsiteY4" fmla="*/ 7424 h 10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573" h="10429">
                  <a:moveTo>
                    <a:pt x="0" y="7424"/>
                  </a:moveTo>
                  <a:lnTo>
                    <a:pt x="6057" y="0"/>
                  </a:lnTo>
                  <a:lnTo>
                    <a:pt x="10573" y="0"/>
                  </a:lnTo>
                  <a:lnTo>
                    <a:pt x="2840" y="10429"/>
                  </a:lnTo>
                  <a:lnTo>
                    <a:pt x="0" y="7424"/>
                  </a:lnTo>
                  <a:close/>
                </a:path>
              </a:pathLst>
            </a:custGeom>
            <a:grp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8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273" name="평행 사변형 3"/>
            <p:cNvSpPr/>
            <p:nvPr/>
          </p:nvSpPr>
          <p:spPr>
            <a:xfrm rot="16200000">
              <a:off x="9083221" y="3344479"/>
              <a:ext cx="215411" cy="193498"/>
            </a:xfrm>
            <a:custGeom>
              <a:avLst/>
              <a:gdLst>
                <a:gd name="connsiteX0" fmla="*/ 0 w 146831"/>
                <a:gd name="connsiteY0" fmla="*/ 143962 h 143962"/>
                <a:gd name="connsiteX1" fmla="*/ 35991 w 146831"/>
                <a:gd name="connsiteY1" fmla="*/ 0 h 143962"/>
                <a:gd name="connsiteX2" fmla="*/ 146831 w 146831"/>
                <a:gd name="connsiteY2" fmla="*/ 0 h 143962"/>
                <a:gd name="connsiteX3" fmla="*/ 110841 w 146831"/>
                <a:gd name="connsiteY3" fmla="*/ 143962 h 143962"/>
                <a:gd name="connsiteX4" fmla="*/ 0 w 146831"/>
                <a:gd name="connsiteY4" fmla="*/ 143962 h 143962"/>
                <a:gd name="connsiteX0" fmla="*/ 0 w 146831"/>
                <a:gd name="connsiteY0" fmla="*/ 143962 h 197305"/>
                <a:gd name="connsiteX1" fmla="*/ 35991 w 146831"/>
                <a:gd name="connsiteY1" fmla="*/ 0 h 197305"/>
                <a:gd name="connsiteX2" fmla="*/ 146831 w 146831"/>
                <a:gd name="connsiteY2" fmla="*/ 0 h 197305"/>
                <a:gd name="connsiteX3" fmla="*/ 46071 w 146831"/>
                <a:gd name="connsiteY3" fmla="*/ 197305 h 197305"/>
                <a:gd name="connsiteX4" fmla="*/ 0 w 146831"/>
                <a:gd name="connsiteY4" fmla="*/ 143962 h 197305"/>
                <a:gd name="connsiteX0" fmla="*/ 0 w 219221"/>
                <a:gd name="connsiteY0" fmla="*/ 187777 h 197305"/>
                <a:gd name="connsiteX1" fmla="*/ 108381 w 219221"/>
                <a:gd name="connsiteY1" fmla="*/ 0 h 197305"/>
                <a:gd name="connsiteX2" fmla="*/ 219221 w 219221"/>
                <a:gd name="connsiteY2" fmla="*/ 0 h 197305"/>
                <a:gd name="connsiteX3" fmla="*/ 118461 w 219221"/>
                <a:gd name="connsiteY3" fmla="*/ 197305 h 197305"/>
                <a:gd name="connsiteX4" fmla="*/ 0 w 219221"/>
                <a:gd name="connsiteY4" fmla="*/ 187777 h 197305"/>
                <a:gd name="connsiteX0" fmla="*/ 0 w 215411"/>
                <a:gd name="connsiteY0" fmla="*/ 193492 h 197305"/>
                <a:gd name="connsiteX1" fmla="*/ 104571 w 215411"/>
                <a:gd name="connsiteY1" fmla="*/ 0 h 197305"/>
                <a:gd name="connsiteX2" fmla="*/ 215411 w 215411"/>
                <a:gd name="connsiteY2" fmla="*/ 0 h 197305"/>
                <a:gd name="connsiteX3" fmla="*/ 114651 w 215411"/>
                <a:gd name="connsiteY3" fmla="*/ 197305 h 197305"/>
                <a:gd name="connsiteX4" fmla="*/ 0 w 215411"/>
                <a:gd name="connsiteY4" fmla="*/ 193492 h 197305"/>
                <a:gd name="connsiteX0" fmla="*/ 0 w 215411"/>
                <a:gd name="connsiteY0" fmla="*/ 193492 h 197305"/>
                <a:gd name="connsiteX1" fmla="*/ 104571 w 215411"/>
                <a:gd name="connsiteY1" fmla="*/ 0 h 197305"/>
                <a:gd name="connsiteX2" fmla="*/ 215411 w 215411"/>
                <a:gd name="connsiteY2" fmla="*/ 0 h 197305"/>
                <a:gd name="connsiteX3" fmla="*/ 116556 w 215411"/>
                <a:gd name="connsiteY3" fmla="*/ 197305 h 197305"/>
                <a:gd name="connsiteX4" fmla="*/ 0 w 215411"/>
                <a:gd name="connsiteY4" fmla="*/ 193492 h 197305"/>
                <a:gd name="connsiteX0" fmla="*/ 0 w 215411"/>
                <a:gd name="connsiteY0" fmla="*/ 193492 h 193492"/>
                <a:gd name="connsiteX1" fmla="*/ 104571 w 215411"/>
                <a:gd name="connsiteY1" fmla="*/ 0 h 193492"/>
                <a:gd name="connsiteX2" fmla="*/ 215411 w 215411"/>
                <a:gd name="connsiteY2" fmla="*/ 0 h 193492"/>
                <a:gd name="connsiteX3" fmla="*/ 118461 w 215411"/>
                <a:gd name="connsiteY3" fmla="*/ 191590 h 193492"/>
                <a:gd name="connsiteX4" fmla="*/ 0 w 215411"/>
                <a:gd name="connsiteY4" fmla="*/ 193492 h 193492"/>
                <a:gd name="connsiteX0" fmla="*/ 0 w 215411"/>
                <a:gd name="connsiteY0" fmla="*/ 193492 h 193498"/>
                <a:gd name="connsiteX1" fmla="*/ 104571 w 215411"/>
                <a:gd name="connsiteY1" fmla="*/ 0 h 193498"/>
                <a:gd name="connsiteX2" fmla="*/ 215411 w 215411"/>
                <a:gd name="connsiteY2" fmla="*/ 0 h 193498"/>
                <a:gd name="connsiteX3" fmla="*/ 122271 w 215411"/>
                <a:gd name="connsiteY3" fmla="*/ 193498 h 193498"/>
                <a:gd name="connsiteX4" fmla="*/ 0 w 215411"/>
                <a:gd name="connsiteY4" fmla="*/ 193492 h 193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5411" h="193498">
                  <a:moveTo>
                    <a:pt x="0" y="193492"/>
                  </a:moveTo>
                  <a:lnTo>
                    <a:pt x="104571" y="0"/>
                  </a:lnTo>
                  <a:lnTo>
                    <a:pt x="215411" y="0"/>
                  </a:lnTo>
                  <a:lnTo>
                    <a:pt x="122271" y="193498"/>
                  </a:lnTo>
                  <a:lnTo>
                    <a:pt x="0" y="193492"/>
                  </a:lnTo>
                  <a:close/>
                </a:path>
              </a:pathLst>
            </a:custGeom>
            <a:grp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8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pic>
        <p:nvPicPr>
          <p:cNvPr id="262" name="Picture 2" descr="https://img.lfmall.co.kr/file/WAS/display/lf2022/mobile/gnb_fnb_sp.png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00" t="38037" r="84922" b="38044"/>
          <a:stretch/>
        </p:blipFill>
        <p:spPr bwMode="auto">
          <a:xfrm rot="16200000">
            <a:off x="7415081" y="4702226"/>
            <a:ext cx="145274" cy="144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63" name="직선 연결선 262"/>
          <p:cNvCxnSpPr/>
          <p:nvPr/>
        </p:nvCxnSpPr>
        <p:spPr>
          <a:xfrm flipV="1">
            <a:off x="4967718" y="4990265"/>
            <a:ext cx="2592000" cy="0"/>
          </a:xfrm>
          <a:prstGeom prst="line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64" name="TextBox 263"/>
          <p:cNvSpPr txBox="1"/>
          <p:nvPr/>
        </p:nvSpPr>
        <p:spPr>
          <a:xfrm>
            <a:off x="4967718" y="5062487"/>
            <a:ext cx="2448000" cy="608234"/>
          </a:xfrm>
          <a:prstGeom prst="rect">
            <a:avLst/>
          </a:prstGeom>
          <a:noFill/>
          <a:ln w="3175">
            <a:noFill/>
          </a:ln>
        </p:spPr>
        <p:txBody>
          <a:bodyPr wrap="square" lIns="36000" tIns="36000" rIns="36000" bIns="36000" rtlCol="0" anchor="t">
            <a:spAutoFit/>
          </a:bodyPr>
          <a:lstStyle>
            <a:defPPr>
              <a:defRPr lang="ko-KR"/>
            </a:defPPr>
            <a:lvl1pPr>
              <a:lnSpc>
                <a:spcPct val="150000"/>
              </a:lnSpc>
              <a:defRPr sz="7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 sz="580" smtClean="0"/>
              <a:t>해외배송 상품</a:t>
            </a:r>
            <a:r>
              <a:rPr lang="en-US" altLang="ko-KR" sz="580" smtClean="0"/>
              <a:t>, </a:t>
            </a:r>
            <a:r>
              <a:rPr lang="ko-KR" altLang="en-US" sz="580" smtClean="0"/>
              <a:t>구매대행 상품</a:t>
            </a:r>
            <a:r>
              <a:rPr lang="en-US" altLang="ko-KR" sz="580" smtClean="0"/>
              <a:t>, </a:t>
            </a:r>
            <a:r>
              <a:rPr lang="ko-KR" altLang="en-US" sz="580" smtClean="0"/>
              <a:t>항공권</a:t>
            </a:r>
            <a:r>
              <a:rPr lang="en-US" altLang="ko-KR" sz="580" smtClean="0"/>
              <a:t>/</a:t>
            </a:r>
            <a:r>
              <a:rPr lang="ko-KR" altLang="en-US" sz="580" smtClean="0"/>
              <a:t>호텔예약 및 여행편의서비스의 경우</a:t>
            </a:r>
            <a:r>
              <a:rPr lang="en-US" altLang="ko-KR" sz="580" smtClean="0"/>
              <a:t>, </a:t>
            </a:r>
            <a:r>
              <a:rPr lang="ko-KR" altLang="en-US" sz="580" smtClean="0"/>
              <a:t>㈜엘에프는 통신판매중개자이며</a:t>
            </a:r>
            <a:r>
              <a:rPr lang="en-US" altLang="ko-KR" sz="580" smtClean="0"/>
              <a:t>, </a:t>
            </a:r>
            <a:r>
              <a:rPr lang="ko-KR" altLang="en-US" sz="580" smtClean="0"/>
              <a:t>통신판매의 당사자가 아닙니다</a:t>
            </a:r>
            <a:r>
              <a:rPr lang="en-US" altLang="ko-KR" sz="580" smtClean="0"/>
              <a:t>.</a:t>
            </a:r>
          </a:p>
          <a:p>
            <a:r>
              <a:rPr lang="ko-KR" altLang="en-US" sz="580" smtClean="0"/>
              <a:t>㈜엘에프는 해당 해외배송 상품 또는 구매대행 상품</a:t>
            </a:r>
            <a:r>
              <a:rPr lang="en-US" altLang="ko-KR" sz="580" smtClean="0"/>
              <a:t>, </a:t>
            </a:r>
            <a:r>
              <a:rPr lang="ko-KR" altLang="en-US" sz="580" smtClean="0"/>
              <a:t>항공권</a:t>
            </a:r>
            <a:r>
              <a:rPr lang="en-US" altLang="ko-KR" sz="580" smtClean="0"/>
              <a:t>/</a:t>
            </a:r>
            <a:r>
              <a:rPr lang="ko-KR" altLang="en-US" sz="580" smtClean="0"/>
              <a:t>호텔예약 및 여행편의서비스의 거래 정보 및 거래 등에 대하여 책임을 지지 않습니다</a:t>
            </a:r>
            <a:r>
              <a:rPr lang="en-US" altLang="ko-KR" sz="580" smtClean="0"/>
              <a:t>.</a:t>
            </a:r>
          </a:p>
        </p:txBody>
      </p:sp>
      <p:sp>
        <p:nvSpPr>
          <p:cNvPr id="265" name="TextBox 264"/>
          <p:cNvSpPr txBox="1"/>
          <p:nvPr/>
        </p:nvSpPr>
        <p:spPr>
          <a:xfrm>
            <a:off x="4967718" y="5764407"/>
            <a:ext cx="2592000" cy="180425"/>
          </a:xfrm>
          <a:prstGeom prst="rect">
            <a:avLst/>
          </a:prstGeom>
          <a:noFill/>
          <a:ln w="3175">
            <a:noFill/>
          </a:ln>
        </p:spPr>
        <p:txBody>
          <a:bodyPr wrap="square" lIns="36000" tIns="36000" rIns="36000" bIns="36000" rtlCol="0" anchor="ctr">
            <a:spAutoFit/>
          </a:bodyPr>
          <a:lstStyle>
            <a:defPPr>
              <a:defRPr lang="ko-KR"/>
            </a:defPPr>
            <a:lvl1pPr>
              <a:lnSpc>
                <a:spcPct val="150000"/>
              </a:lnSpc>
              <a:defRPr sz="7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lnSpc>
                <a:spcPct val="100000"/>
              </a:lnSpc>
            </a:pPr>
            <a:r>
              <a:rPr lang="ko-KR" altLang="en-US" smtClean="0"/>
              <a:t>이용약관 │ </a:t>
            </a:r>
            <a:r>
              <a:rPr lang="ko-KR" altLang="en-US" b="1" smtClean="0"/>
              <a:t>개인정보 처리방침</a:t>
            </a:r>
            <a:r>
              <a:rPr lang="ko-KR" altLang="en-US" smtClean="0"/>
              <a:t> │ 소비자피해보상 보험확인</a:t>
            </a:r>
            <a:endParaRPr lang="en-US" altLang="ko-KR" sz="500" smtClean="0"/>
          </a:p>
        </p:txBody>
      </p:sp>
      <p:pic>
        <p:nvPicPr>
          <p:cNvPr id="266" name="Picture 2" descr="https://img.lfmall.co.kr/file/WAS/apps/2019/mfront/common/sp_sns_v2.png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7235"/>
          <a:stretch/>
        </p:blipFill>
        <p:spPr bwMode="auto">
          <a:xfrm>
            <a:off x="4967718" y="6108521"/>
            <a:ext cx="1032618" cy="28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67" name="모서리가 둥근 직사각형 266">
            <a:extLst>
              <a:ext uri="{FF2B5EF4-FFF2-40B4-BE49-F238E27FC236}">
                <a16:creationId xmlns:a16="http://schemas.microsoft.com/office/drawing/2014/main" xmlns="" id="{F9776C3A-3D6C-4965-9DA5-D76F1E6E1639}"/>
              </a:ext>
            </a:extLst>
          </p:cNvPr>
          <p:cNvSpPr/>
          <p:nvPr/>
        </p:nvSpPr>
        <p:spPr>
          <a:xfrm>
            <a:off x="6983129" y="3879023"/>
            <a:ext cx="576000" cy="216000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00" smtClean="0"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</a:rPr>
              <a:t>주문취소</a:t>
            </a:r>
            <a:endParaRPr lang="ko-KR" altLang="en-US" sz="800">
              <a:solidFill>
                <a:prstClr val="black">
                  <a:lumMod val="75000"/>
                  <a:lumOff val="25000"/>
                </a:prst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268" name="모서리가 둥근 직사각형 267">
            <a:extLst>
              <a:ext uri="{FF2B5EF4-FFF2-40B4-BE49-F238E27FC236}">
                <a16:creationId xmlns:a16="http://schemas.microsoft.com/office/drawing/2014/main" xmlns="" id="{F9776C3A-3D6C-4965-9DA5-D76F1E6E1639}"/>
              </a:ext>
            </a:extLst>
          </p:cNvPr>
          <p:cNvSpPr/>
          <p:nvPr/>
        </p:nvSpPr>
        <p:spPr>
          <a:xfrm>
            <a:off x="6335224" y="3879023"/>
            <a:ext cx="576000" cy="216000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00" smtClean="0"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</a:rPr>
              <a:t>옵션변경</a:t>
            </a:r>
            <a:endParaRPr lang="ko-KR" altLang="en-US" sz="800">
              <a:solidFill>
                <a:prstClr val="black">
                  <a:lumMod val="75000"/>
                  <a:lumOff val="25000"/>
                </a:prstClr>
              </a:solidFill>
              <a:latin typeface="맑은 고딕" panose="020B0503020000020004" pitchFamily="50" charset="-127"/>
            </a:endParaRPr>
          </a:p>
        </p:txBody>
      </p:sp>
      <p:grpSp>
        <p:nvGrpSpPr>
          <p:cNvPr id="287" name="그룹 286"/>
          <p:cNvGrpSpPr/>
          <p:nvPr/>
        </p:nvGrpSpPr>
        <p:grpSpPr>
          <a:xfrm>
            <a:off x="7775687" y="3334720"/>
            <a:ext cx="1017088" cy="360000"/>
            <a:chOff x="7775687" y="1141638"/>
            <a:chExt cx="1017088" cy="360000"/>
          </a:xfrm>
        </p:grpSpPr>
        <p:cxnSp>
          <p:nvCxnSpPr>
            <p:cNvPr id="288" name="직선 연결선 287"/>
            <p:cNvCxnSpPr/>
            <p:nvPr/>
          </p:nvCxnSpPr>
          <p:spPr>
            <a:xfrm>
              <a:off x="7811687" y="1141638"/>
              <a:ext cx="0" cy="360000"/>
            </a:xfrm>
            <a:prstGeom prst="line">
              <a:avLst/>
            </a:prstGeom>
            <a:ln>
              <a:solidFill>
                <a:schemeClr val="accent2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9" name="직선 연결선 288"/>
            <p:cNvCxnSpPr/>
            <p:nvPr/>
          </p:nvCxnSpPr>
          <p:spPr>
            <a:xfrm>
              <a:off x="7775687" y="1141638"/>
              <a:ext cx="72000" cy="0"/>
            </a:xfrm>
            <a:prstGeom prst="line">
              <a:avLst/>
            </a:prstGeom>
            <a:ln>
              <a:solidFill>
                <a:schemeClr val="accent2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0" name="직선 연결선 289"/>
            <p:cNvCxnSpPr/>
            <p:nvPr/>
          </p:nvCxnSpPr>
          <p:spPr>
            <a:xfrm>
              <a:off x="7775687" y="1501638"/>
              <a:ext cx="72000" cy="0"/>
            </a:xfrm>
            <a:prstGeom prst="line">
              <a:avLst/>
            </a:prstGeom>
            <a:ln>
              <a:solidFill>
                <a:schemeClr val="accent2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1" name="TextBox 290"/>
            <p:cNvSpPr txBox="1"/>
            <p:nvPr/>
          </p:nvSpPr>
          <p:spPr>
            <a:xfrm>
              <a:off x="7811687" y="1214914"/>
              <a:ext cx="981088" cy="213447"/>
            </a:xfrm>
            <a:prstGeom prst="rect">
              <a:avLst/>
            </a:prstGeom>
            <a:noFill/>
          </p:spPr>
          <p:txBody>
            <a:bodyPr wrap="none" lIns="72000" tIns="36000" rIns="36000" bIns="36000" rtlCol="0" anchor="ctr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ko-KR" altLang="en-US" sz="700" b="1" u="sng">
                  <a:solidFill>
                    <a:schemeClr val="accent2"/>
                  </a:solidFill>
                  <a:latin typeface="맑은 고딕" panose="020B0503020000020004" pitchFamily="50" charset="-127"/>
                </a:rPr>
                <a:t>기존 배송예정일 안내</a:t>
              </a:r>
              <a:endParaRPr lang="ko-KR" altLang="en-US" sz="700" b="1" u="sng" dirty="0">
                <a:solidFill>
                  <a:schemeClr val="accent2"/>
                </a:solidFill>
                <a:latin typeface="맑은 고딕" panose="020B0503020000020004" pitchFamily="50" charset="-127"/>
              </a:endParaRPr>
            </a:p>
          </p:txBody>
        </p:sp>
      </p:grpSp>
      <p:cxnSp>
        <p:nvCxnSpPr>
          <p:cNvPr id="293" name="직선 연결선 292"/>
          <p:cNvCxnSpPr/>
          <p:nvPr/>
        </p:nvCxnSpPr>
        <p:spPr>
          <a:xfrm>
            <a:off x="3131812" y="3334720"/>
            <a:ext cx="0" cy="756000"/>
          </a:xfrm>
          <a:prstGeom prst="line">
            <a:avLst/>
          </a:prstGeom>
          <a:ln>
            <a:solidFill>
              <a:schemeClr val="accent5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4" name="직선 연결선 293"/>
          <p:cNvCxnSpPr/>
          <p:nvPr/>
        </p:nvCxnSpPr>
        <p:spPr>
          <a:xfrm>
            <a:off x="3095812" y="3334720"/>
            <a:ext cx="72000" cy="0"/>
          </a:xfrm>
          <a:prstGeom prst="line">
            <a:avLst/>
          </a:prstGeom>
          <a:ln>
            <a:solidFill>
              <a:schemeClr val="accent5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7" name="직선 연결선 296"/>
          <p:cNvCxnSpPr/>
          <p:nvPr/>
        </p:nvCxnSpPr>
        <p:spPr>
          <a:xfrm>
            <a:off x="3095812" y="4095023"/>
            <a:ext cx="72000" cy="0"/>
          </a:xfrm>
          <a:prstGeom prst="line">
            <a:avLst/>
          </a:prstGeom>
          <a:ln>
            <a:solidFill>
              <a:schemeClr val="accent5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8" name="TextBox 297"/>
          <p:cNvSpPr txBox="1"/>
          <p:nvPr/>
        </p:nvSpPr>
        <p:spPr>
          <a:xfrm>
            <a:off x="3131812" y="3595577"/>
            <a:ext cx="859260" cy="234286"/>
          </a:xfrm>
          <a:prstGeom prst="rect">
            <a:avLst/>
          </a:prstGeom>
          <a:noFill/>
        </p:spPr>
        <p:txBody>
          <a:bodyPr wrap="none" lIns="72000" tIns="36000" rIns="36000" bIns="36000" rtlCol="0" anchor="ctr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700" b="1" u="sng" smtClean="0">
                <a:solidFill>
                  <a:schemeClr val="accent5"/>
                </a:solidFill>
                <a:latin typeface="맑은 고딕" panose="020B0503020000020004" pitchFamily="50" charset="-127"/>
              </a:rPr>
              <a:t>매장상품배송 </a:t>
            </a:r>
            <a:r>
              <a:rPr lang="ko-KR" altLang="en-US" sz="700" b="1" u="sng">
                <a:solidFill>
                  <a:schemeClr val="accent5"/>
                </a:solidFill>
                <a:latin typeface="맑은 고딕" panose="020B0503020000020004" pitchFamily="50" charset="-127"/>
              </a:rPr>
              <a:t>안내</a:t>
            </a:r>
            <a:endParaRPr lang="ko-KR" altLang="en-US" sz="700" b="1" u="sng" dirty="0">
              <a:solidFill>
                <a:schemeClr val="accent5"/>
              </a:solidFill>
              <a:latin typeface="맑은 고딕" panose="020B0503020000020004" pitchFamily="50" charset="-127"/>
            </a:endParaRPr>
          </a:p>
        </p:txBody>
      </p:sp>
      <p:sp>
        <p:nvSpPr>
          <p:cNvPr id="299" name="타원 298">
            <a:extLst>
              <a:ext uri="{FF2B5EF4-FFF2-40B4-BE49-F238E27FC236}">
                <a16:creationId xmlns:a16="http://schemas.microsoft.com/office/drawing/2014/main" xmlns="" id="{05928B69-0142-4C14-A783-3D8762E5BBE2}"/>
              </a:ext>
            </a:extLst>
          </p:cNvPr>
          <p:cNvSpPr/>
          <p:nvPr/>
        </p:nvSpPr>
        <p:spPr>
          <a:xfrm>
            <a:off x="0" y="3466431"/>
            <a:ext cx="144000" cy="144000"/>
          </a:xfrm>
          <a:prstGeom prst="ellipse">
            <a:avLst/>
          </a:prstGeom>
          <a:solidFill>
            <a:srgbClr val="C00000"/>
          </a:solidFill>
          <a:ln w="3175">
            <a:noFill/>
          </a:ln>
          <a:effectLst>
            <a:outerShdw blurRad="25400" dist="25400" dir="2700000" algn="tl" rotWithShape="0">
              <a:schemeClr val="tx1">
                <a:lumMod val="75000"/>
                <a:lumOff val="2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700" dirty="0">
                <a:solidFill>
                  <a:prstClr val="white"/>
                </a:solidFill>
                <a:latin typeface="맑은 고딕" panose="020B0503020000020004" pitchFamily="50" charset="-127"/>
              </a:rPr>
              <a:t>1</a:t>
            </a:r>
            <a:endParaRPr lang="ko-KR" altLang="en-US" sz="700" dirty="0">
              <a:solidFill>
                <a:prstClr val="white"/>
              </a:solidFill>
              <a:latin typeface="맑은 고딕" panose="020B0503020000020004" pitchFamily="50" charset="-127"/>
            </a:endParaRPr>
          </a:p>
        </p:txBody>
      </p:sp>
      <p:graphicFrame>
        <p:nvGraphicFramePr>
          <p:cNvPr id="131" name="Group 118">
            <a:extLst>
              <a:ext uri="{FF2B5EF4-FFF2-40B4-BE49-F238E27FC236}">
                <a16:creationId xmlns:a16="http://schemas.microsoft.com/office/drawing/2014/main" xmlns="" id="{41B5A014-BEDB-439E-A302-DBCECEC856B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50948850"/>
              </p:ext>
            </p:extLst>
          </p:nvPr>
        </p:nvGraphicFramePr>
        <p:xfrm>
          <a:off x="9647906" y="709700"/>
          <a:ext cx="2376000" cy="1334784"/>
        </p:xfrm>
        <a:graphic>
          <a:graphicData uri="http://schemas.openxmlformats.org/drawingml/2006/table">
            <a:tbl>
              <a:tblPr/>
              <a:tblGrid>
                <a:gridCol w="21600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21600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2520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 Semilight" panose="020B0502040204020203" pitchFamily="50" charset="-127"/>
                        </a:rPr>
                        <a:t>No</a:t>
                      </a:r>
                    </a:p>
                  </a:txBody>
                  <a:tcPr marL="42203" marR="42203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en-US" altLang="ko-KR" sz="700" b="0" baseline="0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 Semilight" panose="020B0502040204020203" pitchFamily="50" charset="-127"/>
                        </a:rPr>
                        <a:t>Description</a:t>
                      </a:r>
                    </a:p>
                  </a:txBody>
                  <a:tcPr marL="108000" marR="108000" marT="36000" marB="3600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 Semilight" panose="020B0502040204020203" pitchFamily="50" charset="-127"/>
                        </a:rPr>
                        <a:t>1</a:t>
                      </a:r>
                    </a:p>
                  </a:txBody>
                  <a:tcPr marL="42203" marR="42203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ko-KR" altLang="en-US" sz="700" b="0" baseline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  <a:cs typeface="Malgun Gothic Semilight" panose="020B0502040204020203" pitchFamily="50" charset="-127"/>
                        </a:rPr>
                        <a:t>주문</a:t>
                      </a:r>
                      <a:r>
                        <a:rPr lang="en-US" altLang="ko-KR" sz="700" b="0" baseline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  <a:cs typeface="Malgun Gothic Semilight" panose="020B0502040204020203" pitchFamily="50" charset="-127"/>
                        </a:rPr>
                        <a:t>/</a:t>
                      </a:r>
                      <a:r>
                        <a:rPr lang="ko-KR" altLang="en-US" sz="700" b="0" baseline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  <a:cs typeface="Malgun Gothic Semilight" panose="020B0502040204020203" pitchFamily="50" charset="-127"/>
                        </a:rPr>
                        <a:t>배송 내역</a:t>
                      </a:r>
                      <a:endParaRPr lang="en-US" altLang="ko-KR" sz="700" b="0" baseline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  <a:cs typeface="Malgun Gothic Semilight" panose="020B0502040204020203" pitchFamily="50" charset="-127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en-US" altLang="ko-KR" sz="700" b="0" baseline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  <a:cs typeface="Malgun Gothic Semilight" panose="020B0502040204020203" pitchFamily="50" charset="-127"/>
                        </a:rPr>
                        <a:t> - </a:t>
                      </a:r>
                      <a:r>
                        <a:rPr lang="ko-KR" altLang="en-US" sz="700" b="0" baseline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  <a:cs typeface="Malgun Gothic Semilight" panose="020B0502040204020203" pitchFamily="50" charset="-127"/>
                        </a:rPr>
                        <a:t>배송 안내 영역에 </a:t>
                      </a:r>
                      <a:r>
                        <a:rPr lang="en-US" altLang="ko-KR" sz="700" b="0" baseline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  <a:cs typeface="Malgun Gothic Semilight" panose="020B0502040204020203" pitchFamily="50" charset="-127"/>
                        </a:rPr>
                        <a:t>‘</a:t>
                      </a:r>
                      <a:r>
                        <a:rPr lang="ko-KR" altLang="en-US" sz="700" b="0" baseline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  <a:cs typeface="Malgun Gothic Semilight" panose="020B0502040204020203" pitchFamily="50" charset="-127"/>
                        </a:rPr>
                        <a:t>매장상품배송</a:t>
                      </a:r>
                      <a:r>
                        <a:rPr lang="en-US" altLang="ko-KR" sz="700" b="0" baseline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  <a:cs typeface="Malgun Gothic Semilight" panose="020B0502040204020203" pitchFamily="50" charset="-127"/>
                        </a:rPr>
                        <a:t>’ </a:t>
                      </a:r>
                      <a:r>
                        <a:rPr lang="ko-KR" altLang="en-US" sz="700" b="0" baseline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  <a:cs typeface="Malgun Gothic Semilight" panose="020B0502040204020203" pitchFamily="50" charset="-127"/>
                        </a:rPr>
                        <a:t>정보 표현</a:t>
                      </a:r>
                      <a:endParaRPr lang="en-US" altLang="ko-KR" sz="700" b="0" baseline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  <a:cs typeface="Malgun Gothic Semilight" panose="020B0502040204020203" pitchFamily="50" charset="-127"/>
                      </a:endParaRPr>
                    </a:p>
                  </a:txBody>
                  <a:tcPr marL="108000" marR="108000" marT="36000" marB="3600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 Semilight" panose="020B0502040204020203" pitchFamily="50" charset="-127"/>
                        </a:rPr>
                        <a:t>2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42203" marR="42203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ko-KR" altLang="en-US" sz="700" b="0" baseline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  <a:cs typeface="Malgun Gothic Semilight" panose="020B0502040204020203" pitchFamily="50" charset="-127"/>
                        </a:rPr>
                        <a:t>주문</a:t>
                      </a:r>
                      <a:r>
                        <a:rPr lang="en-US" altLang="ko-KR" sz="700" b="0" baseline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  <a:cs typeface="Malgun Gothic Semilight" panose="020B0502040204020203" pitchFamily="50" charset="-127"/>
                        </a:rPr>
                        <a:t>/</a:t>
                      </a:r>
                      <a:r>
                        <a:rPr lang="ko-KR" altLang="en-US" sz="700" b="0" baseline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  <a:cs typeface="Malgun Gothic Semilight" panose="020B0502040204020203" pitchFamily="50" charset="-127"/>
                        </a:rPr>
                        <a:t>배송 내역</a:t>
                      </a:r>
                      <a:endParaRPr lang="en-US" altLang="ko-KR" sz="700" b="0" baseline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  <a:cs typeface="Malgun Gothic Semilight" panose="020B0502040204020203" pitchFamily="50" charset="-127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en-US" altLang="ko-KR" sz="700" b="0" baseline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  <a:cs typeface="Malgun Gothic Semilight" panose="020B0502040204020203" pitchFamily="50" charset="-127"/>
                        </a:rPr>
                        <a:t> - [</a:t>
                      </a:r>
                      <a:r>
                        <a:rPr lang="ko-KR" altLang="en-US" sz="700" b="0" baseline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  <a:cs typeface="Malgun Gothic Semilight" panose="020B0502040204020203" pitchFamily="50" charset="-127"/>
                        </a:rPr>
                        <a:t>옵션변경</a:t>
                      </a:r>
                      <a:r>
                        <a:rPr lang="en-US" altLang="ko-KR" sz="700" b="0" baseline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  <a:cs typeface="Malgun Gothic Semilight" panose="020B0502040204020203" pitchFamily="50" charset="-127"/>
                        </a:rPr>
                        <a:t>] </a:t>
                      </a:r>
                      <a:r>
                        <a:rPr lang="ko-KR" altLang="en-US" sz="700" b="0" baseline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  <a:cs typeface="Malgun Gothic Semilight" panose="020B0502040204020203" pitchFamily="50" charset="-127"/>
                        </a:rPr>
                        <a:t>불가 처리</a:t>
                      </a:r>
                      <a:endParaRPr lang="en-US" altLang="ko-KR" sz="700" b="0" baseline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  <a:cs typeface="Malgun Gothic Semilight" panose="020B0502040204020203" pitchFamily="50" charset="-127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en-US" altLang="ko-KR" sz="700" b="0" baseline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  <a:cs typeface="Malgun Gothic Semilight" panose="020B0502040204020203" pitchFamily="50" charset="-127"/>
                        </a:rPr>
                        <a:t> - </a:t>
                      </a:r>
                      <a:r>
                        <a:rPr lang="ko-KR" altLang="en-US" sz="700" b="0" baseline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  <a:cs typeface="Malgun Gothic Semilight" panose="020B0502040204020203" pitchFamily="50" charset="-127"/>
                        </a:rPr>
                        <a:t>버튼 미노출</a:t>
                      </a:r>
                      <a:endParaRPr lang="en-US" altLang="ko-KR" sz="700" b="0" baseline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  <a:cs typeface="Malgun Gothic Semilight" panose="020B0502040204020203" pitchFamily="50" charset="-127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en-US" altLang="ko-KR" sz="700" b="0" baseline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  <a:cs typeface="Malgun Gothic Semilight" panose="020B0502040204020203" pitchFamily="50" charset="-127"/>
                        </a:rPr>
                        <a:t> ※ </a:t>
                      </a:r>
                      <a:r>
                        <a:rPr lang="ko-KR" altLang="en-US" sz="700" b="0" baseline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  <a:cs typeface="Malgun Gothic Semilight" panose="020B0502040204020203" pitchFamily="50" charset="-127"/>
                        </a:rPr>
                        <a:t>주문 즉시 </a:t>
                      </a:r>
                      <a:r>
                        <a:rPr lang="en-US" altLang="ko-KR" sz="700" b="0" baseline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  <a:cs typeface="Malgun Gothic Semilight" panose="020B0502040204020203" pitchFamily="50" charset="-127"/>
                        </a:rPr>
                        <a:t>‘</a:t>
                      </a:r>
                      <a:r>
                        <a:rPr lang="ko-KR" altLang="en-US" sz="700" b="0" baseline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  <a:cs typeface="Malgun Gothic Semilight" panose="020B0502040204020203" pitchFamily="50" charset="-127"/>
                        </a:rPr>
                        <a:t>물량이동지시</a:t>
                      </a:r>
                      <a:r>
                        <a:rPr lang="en-US" altLang="ko-KR" sz="700" b="0" baseline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  <a:cs typeface="Malgun Gothic Semilight" panose="020B0502040204020203" pitchFamily="50" charset="-127"/>
                        </a:rPr>
                        <a:t>’ </a:t>
                      </a:r>
                      <a:r>
                        <a:rPr lang="ko-KR" altLang="en-US" sz="700" b="0" baseline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  <a:cs typeface="Malgun Gothic Semilight" panose="020B0502040204020203" pitchFamily="50" charset="-127"/>
                        </a:rPr>
                        <a:t>가 진행되므로</a:t>
                      </a:r>
                      <a:r>
                        <a:rPr lang="en-US" altLang="ko-KR" sz="700" b="0" baseline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  <a:cs typeface="Malgun Gothic Semilight" panose="020B0502040204020203" pitchFamily="50" charset="-127"/>
                        </a:rPr>
                        <a:t>, </a:t>
                      </a:r>
                      <a:r>
                        <a:rPr lang="ko-KR" altLang="en-US" sz="700" b="0" baseline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  <a:cs typeface="Malgun Gothic Semilight" panose="020B0502040204020203" pitchFamily="50" charset="-127"/>
                        </a:rPr>
                        <a:t>옵션 변경을 할 경우 이슈가 많이 발생하므로</a:t>
                      </a:r>
                      <a:r>
                        <a:rPr lang="en-US" altLang="ko-KR" sz="700" b="0" baseline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  <a:cs typeface="Malgun Gothic Semilight" panose="020B0502040204020203" pitchFamily="50" charset="-127"/>
                        </a:rPr>
                        <a:t>, </a:t>
                      </a:r>
                      <a:r>
                        <a:rPr lang="ko-KR" altLang="en-US" sz="700" b="0" baseline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  <a:cs typeface="Malgun Gothic Semilight" panose="020B0502040204020203" pitchFamily="50" charset="-127"/>
                        </a:rPr>
                        <a:t>옵션변경을 할 수 없도록 제어</a:t>
                      </a:r>
                      <a:endParaRPr lang="en-US" altLang="ko-KR" sz="700" b="0" baseline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  <a:cs typeface="Malgun Gothic Semilight" panose="020B0502040204020203" pitchFamily="50" charset="-127"/>
                      </a:endParaRPr>
                    </a:p>
                  </a:txBody>
                  <a:tcPr marL="108000" marR="108000" marT="36000" marB="3600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  <p:grpSp>
        <p:nvGrpSpPr>
          <p:cNvPr id="133" name="그룹 132"/>
          <p:cNvGrpSpPr/>
          <p:nvPr/>
        </p:nvGrpSpPr>
        <p:grpSpPr>
          <a:xfrm>
            <a:off x="1081179" y="3484643"/>
            <a:ext cx="1641879" cy="144000"/>
            <a:chOff x="1043785" y="3012651"/>
            <a:chExt cx="1641879" cy="144000"/>
          </a:xfrm>
        </p:grpSpPr>
        <p:sp>
          <p:nvSpPr>
            <p:cNvPr id="134" name="TextBox 133">
              <a:extLst>
                <a:ext uri="{FF2B5EF4-FFF2-40B4-BE49-F238E27FC236}">
                  <a16:creationId xmlns="" xmlns:a16="http://schemas.microsoft.com/office/drawing/2014/main" id="{0C96C875-C47F-4F5B-B4C1-F9D666A7BD9D}"/>
                </a:ext>
              </a:extLst>
            </p:cNvPr>
            <p:cNvSpPr txBox="1"/>
            <p:nvPr/>
          </p:nvSpPr>
          <p:spPr>
            <a:xfrm>
              <a:off x="1043785" y="3030790"/>
              <a:ext cx="1641879" cy="107722"/>
            </a:xfrm>
            <a:prstGeom prst="rect">
              <a:avLst/>
            </a:prstGeom>
            <a:noFill/>
            <a:ln w="3175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none" lIns="756000" tIns="0" rIns="108000" bIns="0" numCol="1" rtlCol="0" anchor="ctr" anchorCtr="0" compatLnSpc="1">
              <a:prstTxWarp prst="textNoShape">
                <a:avLst/>
              </a:prstTxWarp>
              <a:spAutoFit/>
            </a:bodyPr>
            <a:lstStyle>
              <a:defPPr>
                <a:defRPr lang="ko-KR"/>
              </a:defPPr>
              <a:lvl1pPr>
                <a:defRPr sz="800">
                  <a:solidFill>
                    <a:prstClr val="black">
                      <a:lumMod val="75000"/>
                      <a:lumOff val="25000"/>
                    </a:prstClr>
                  </a:solidFill>
                  <a:latin typeface="맑은 고딕" panose="020B0503020000020004" pitchFamily="50" charset="-127"/>
                </a:defRPr>
              </a:lvl1pPr>
            </a:lstStyle>
            <a:p>
              <a:r>
                <a:rPr lang="en-US" altLang="ko-KR" sz="700">
                  <a:solidFill>
                    <a:srgbClr val="DC2832"/>
                  </a:solidFill>
                </a:rPr>
                <a:t>01/14(</a:t>
              </a:r>
              <a:r>
                <a:rPr lang="ko-KR" altLang="en-US" sz="700">
                  <a:solidFill>
                    <a:srgbClr val="DC2832"/>
                  </a:solidFill>
                </a:rPr>
                <a:t>수</a:t>
              </a:r>
              <a:r>
                <a:rPr lang="en-US" altLang="ko-KR" sz="700">
                  <a:solidFill>
                    <a:srgbClr val="DC2832"/>
                  </a:solidFill>
                </a:rPr>
                <a:t>) </a:t>
              </a:r>
              <a:r>
                <a:rPr lang="ko-KR" altLang="en-US" sz="70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도착예정</a:t>
              </a:r>
              <a:endParaRPr lang="ko-KR" altLang="en-US" sz="700" dirty="0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</p:txBody>
        </p:sp>
        <p:sp>
          <p:nvSpPr>
            <p:cNvPr id="137" name="직사각형 136"/>
            <p:cNvSpPr/>
            <p:nvPr/>
          </p:nvSpPr>
          <p:spPr>
            <a:xfrm>
              <a:off x="1151755" y="3012651"/>
              <a:ext cx="576000" cy="144000"/>
            </a:xfrm>
            <a:prstGeom prst="rect">
              <a:avLst/>
            </a:prstGeom>
            <a:gradFill flip="none" rotWithShape="1">
              <a:gsLst>
                <a:gs pos="0">
                  <a:schemeClr val="accent5">
                    <a:lumMod val="75000"/>
                  </a:schemeClr>
                </a:gs>
                <a:gs pos="50000">
                  <a:schemeClr val="accent5"/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0" scaled="1"/>
              <a:tileRect/>
            </a:gra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600" smtClean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매장상품배송</a:t>
              </a:r>
              <a:endParaRPr lang="ko-KR" altLang="en-US" sz="60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sp>
        <p:nvSpPr>
          <p:cNvPr id="130" name="타원 129">
            <a:extLst>
              <a:ext uri="{FF2B5EF4-FFF2-40B4-BE49-F238E27FC236}">
                <a16:creationId xmlns:a16="http://schemas.microsoft.com/office/drawing/2014/main" xmlns="" id="{05928B69-0142-4C14-A783-3D8762E5BBE2}"/>
              </a:ext>
            </a:extLst>
          </p:cNvPr>
          <p:cNvSpPr/>
          <p:nvPr/>
        </p:nvSpPr>
        <p:spPr>
          <a:xfrm>
            <a:off x="2160543" y="3879023"/>
            <a:ext cx="144000" cy="144000"/>
          </a:xfrm>
          <a:prstGeom prst="ellipse">
            <a:avLst/>
          </a:prstGeom>
          <a:solidFill>
            <a:srgbClr val="C00000"/>
          </a:solidFill>
          <a:ln w="3175">
            <a:noFill/>
          </a:ln>
          <a:effectLst>
            <a:outerShdw blurRad="25400" dist="25400" dir="2700000" algn="tl" rotWithShape="0">
              <a:schemeClr val="tx1">
                <a:lumMod val="75000"/>
                <a:lumOff val="2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700" smtClean="0">
                <a:solidFill>
                  <a:prstClr val="white"/>
                </a:solidFill>
                <a:latin typeface="맑은 고딕" panose="020B0503020000020004" pitchFamily="50" charset="-127"/>
              </a:rPr>
              <a:t>2</a:t>
            </a:r>
            <a:endParaRPr lang="ko-KR" altLang="en-US" sz="700" dirty="0">
              <a:solidFill>
                <a:prstClr val="white"/>
              </a:solidFill>
              <a:latin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3159654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제목 1"/>
          <p:cNvSpPr txBox="1">
            <a:spLocks/>
          </p:cNvSpPr>
          <p:nvPr/>
        </p:nvSpPr>
        <p:spPr>
          <a:xfrm>
            <a:off x="1223906" y="358660"/>
            <a:ext cx="1080000" cy="216000"/>
          </a:xfrm>
          <a:prstGeom prst="rect">
            <a:avLst/>
          </a:prstGeom>
        </p:spPr>
        <p:txBody>
          <a:bodyPr lIns="36000" tIns="36000" rIns="36000" bIns="36000" anchor="ctr"/>
          <a:lstStyle>
            <a:lvl1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2pPr>
            <a:lvl3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3pPr>
            <a:lvl4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4pPr>
            <a:lvl5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5pPr>
            <a:lvl6pPr marL="457212" algn="ctr" rtl="0" fontAlgn="base" latinLnBrk="1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6pPr>
            <a:lvl7pPr marL="914423" algn="ctr" rtl="0" fontAlgn="base" latinLnBrk="1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7pPr>
            <a:lvl8pPr marL="1371634" algn="ctr" rtl="0" fontAlgn="base" latinLnBrk="1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8pPr>
            <a:lvl9pPr marL="1828846" algn="ctr" rtl="0" fontAlgn="base" latinLnBrk="1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r>
              <a:rPr lang="en-US" altLang="ko-KR" sz="800" kern="0" dirty="0"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</a:rPr>
              <a:t>-</a:t>
            </a:r>
            <a:endParaRPr lang="ko-KR" altLang="en-US" sz="800" kern="0">
              <a:solidFill>
                <a:prstClr val="black">
                  <a:lumMod val="75000"/>
                  <a:lumOff val="25000"/>
                </a:prst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200" name="제목 1">
            <a:extLst>
              <a:ext uri="{FF2B5EF4-FFF2-40B4-BE49-F238E27FC236}">
                <a16:creationId xmlns:a16="http://schemas.microsoft.com/office/drawing/2014/main" xmlns="" id="{03F65532-A01C-4981-B987-5E15F64E3ABB}"/>
              </a:ext>
            </a:extLst>
          </p:cNvPr>
          <p:cNvSpPr txBox="1">
            <a:spLocks/>
          </p:cNvSpPr>
          <p:nvPr/>
        </p:nvSpPr>
        <p:spPr>
          <a:xfrm>
            <a:off x="3383718" y="142660"/>
            <a:ext cx="4320000" cy="216000"/>
          </a:xfrm>
          <a:prstGeom prst="rect">
            <a:avLst/>
          </a:prstGeom>
        </p:spPr>
        <p:txBody>
          <a:bodyPr lIns="180000" tIns="36000" rIns="180000" bIns="36000" anchor="ctr"/>
          <a:lstStyle>
            <a:defPPr>
              <a:defRPr lang="ko-KR"/>
            </a:defPPr>
            <a:lvl1pPr eaLnBrk="0" fontAlgn="base" hangingPunct="0">
              <a:spcBef>
                <a:spcPct val="0"/>
              </a:spcBef>
              <a:spcAft>
                <a:spcPct val="0"/>
              </a:spcAft>
              <a:defRPr kumimoji="1" sz="800" b="1" kern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defRPr>
            </a:lvl1pPr>
            <a:lvl2pPr algn="ctr" eaLnBrk="0" fontAlgn="base" hangingPunct="0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2pPr>
            <a:lvl3pPr algn="ctr" eaLnBrk="0" fontAlgn="base" hangingPunct="0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3pPr>
            <a:lvl4pPr algn="ctr" eaLnBrk="0" fontAlgn="base" hangingPunct="0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4pPr>
            <a:lvl5pPr algn="ctr" eaLnBrk="0" fontAlgn="base" hangingPunct="0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5pPr>
            <a:lvl6pPr marL="457212" algn="ctr" fontAlgn="base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6pPr>
            <a:lvl7pPr marL="914423" algn="ctr" fontAlgn="base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7pPr>
            <a:lvl8pPr marL="1371634" algn="ctr" fontAlgn="base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8pPr>
            <a:lvl9pPr marL="1828846" algn="ctr" fontAlgn="base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r>
              <a:rPr lang="en-US" altLang="ko-KR"/>
              <a:t>LFmall &gt; </a:t>
            </a:r>
            <a:r>
              <a:rPr lang="ko-KR" altLang="en-US"/>
              <a:t>마이페이지 </a:t>
            </a:r>
            <a:r>
              <a:rPr lang="en-US" altLang="ko-KR"/>
              <a:t>&gt; </a:t>
            </a:r>
            <a:r>
              <a:rPr lang="ko-KR" altLang="en-US"/>
              <a:t>주문</a:t>
            </a:r>
            <a:r>
              <a:rPr lang="en-US" altLang="ko-KR"/>
              <a:t>/</a:t>
            </a:r>
            <a:r>
              <a:rPr lang="ko-KR" altLang="en-US"/>
              <a:t>배송 조회 </a:t>
            </a:r>
            <a:r>
              <a:rPr lang="en-US" altLang="ko-KR"/>
              <a:t>&gt; </a:t>
            </a:r>
            <a:r>
              <a:rPr lang="ko-KR" altLang="en-US"/>
              <a:t>주문상세내역</a:t>
            </a:r>
          </a:p>
        </p:txBody>
      </p:sp>
      <p:sp>
        <p:nvSpPr>
          <p:cNvPr id="395" name="제목 1"/>
          <p:cNvSpPr txBox="1">
            <a:spLocks/>
          </p:cNvSpPr>
          <p:nvPr/>
        </p:nvSpPr>
        <p:spPr>
          <a:xfrm>
            <a:off x="1223906" y="142660"/>
            <a:ext cx="1080000" cy="216000"/>
          </a:xfrm>
          <a:prstGeom prst="rect">
            <a:avLst/>
          </a:prstGeom>
        </p:spPr>
        <p:txBody>
          <a:bodyPr lIns="36000" tIns="36000" rIns="36000" bIns="36000" anchor="ctr"/>
          <a:lstStyle>
            <a:lvl1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2pPr>
            <a:lvl3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3pPr>
            <a:lvl4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4pPr>
            <a:lvl5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5pPr>
            <a:lvl6pPr marL="457212" algn="ctr" rtl="0" fontAlgn="base" latinLnBrk="1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6pPr>
            <a:lvl7pPr marL="914423" algn="ctr" rtl="0" fontAlgn="base" latinLnBrk="1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7pPr>
            <a:lvl8pPr marL="1371634" algn="ctr" rtl="0" fontAlgn="base" latinLnBrk="1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8pPr>
            <a:lvl9pPr marL="1828846" algn="ctr" rtl="0" fontAlgn="base" latinLnBrk="1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r>
              <a:rPr lang="en-US" altLang="ko-KR" sz="800" kern="0" smtClean="0"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</a:rPr>
              <a:t>Front (Mobile)</a:t>
            </a:r>
            <a:endParaRPr lang="ko-KR" altLang="en-US" sz="800" kern="0" dirty="0">
              <a:solidFill>
                <a:prstClr val="black">
                  <a:lumMod val="75000"/>
                  <a:lumOff val="25000"/>
                </a:prst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345" name="직사각형 344">
            <a:extLst>
              <a:ext uri="{FF2B5EF4-FFF2-40B4-BE49-F238E27FC236}">
                <a16:creationId xmlns="" xmlns:a16="http://schemas.microsoft.com/office/drawing/2014/main" id="{19FD5FA0-B111-4EF7-BC86-418441928DD3}"/>
              </a:ext>
            </a:extLst>
          </p:cNvPr>
          <p:cNvSpPr/>
          <p:nvPr/>
        </p:nvSpPr>
        <p:spPr>
          <a:xfrm>
            <a:off x="145179" y="709700"/>
            <a:ext cx="2880000" cy="360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>
              <a:solidFill>
                <a:prstClr val="black">
                  <a:lumMod val="75000"/>
                  <a:lumOff val="25000"/>
                </a:prst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295" name="TextBox 294">
            <a:extLst>
              <a:ext uri="{FF2B5EF4-FFF2-40B4-BE49-F238E27FC236}">
                <a16:creationId xmlns:a16="http://schemas.microsoft.com/office/drawing/2014/main" xmlns="" id="{0C96C875-C47F-4F5B-B4C1-F9D666A7BD9D}"/>
              </a:ext>
            </a:extLst>
          </p:cNvPr>
          <p:cNvSpPr txBox="1"/>
          <p:nvPr/>
        </p:nvSpPr>
        <p:spPr>
          <a:xfrm>
            <a:off x="541681" y="791441"/>
            <a:ext cx="870532" cy="195814"/>
          </a:xfrm>
          <a:prstGeom prst="rect">
            <a:avLst/>
          </a:prstGeom>
          <a:noFill/>
          <a:ln w="317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108000" tIns="36000" rIns="108000" bIns="36000" numCol="1" rtlCol="0" anchor="ctr" anchorCtr="0" compatLnSpc="1">
            <a:prstTxWarp prst="textNoShape">
              <a:avLst/>
            </a:prstTxWarp>
            <a:spAutoFit/>
          </a:bodyPr>
          <a:lstStyle/>
          <a:p>
            <a:r>
              <a:rPr lang="ko-KR" altLang="en-US" sz="800" b="1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주문 상세내역</a:t>
            </a:r>
            <a:endParaRPr lang="ko-KR" altLang="en-US" sz="800" b="1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</a:endParaRPr>
          </a:p>
        </p:txBody>
      </p:sp>
      <p:pic>
        <p:nvPicPr>
          <p:cNvPr id="296" name="Picture 2" descr="https://img.lfmall.co.kr/file/WAS/display/lf2022/mobile/gnb_fnb_sp.png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00" t="38037" r="84922" b="38044"/>
          <a:stretch/>
        </p:blipFill>
        <p:spPr bwMode="auto">
          <a:xfrm>
            <a:off x="289179" y="799700"/>
            <a:ext cx="181592" cy="18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2" name="직사각형 201">
            <a:extLst>
              <a:ext uri="{FF2B5EF4-FFF2-40B4-BE49-F238E27FC236}">
                <a16:creationId xmlns:a16="http://schemas.microsoft.com/office/drawing/2014/main" xmlns="" id="{8392E679-C745-496E-8916-C656AE57791E}"/>
              </a:ext>
            </a:extLst>
          </p:cNvPr>
          <p:cNvSpPr/>
          <p:nvPr/>
        </p:nvSpPr>
        <p:spPr>
          <a:xfrm>
            <a:off x="145179" y="1069713"/>
            <a:ext cx="2880000" cy="72000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 dirty="0">
              <a:solidFill>
                <a:prstClr val="black">
                  <a:lumMod val="75000"/>
                  <a:lumOff val="25000"/>
                </a:prst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204" name="직사각형 203">
            <a:extLst>
              <a:ext uri="{FF2B5EF4-FFF2-40B4-BE49-F238E27FC236}">
                <a16:creationId xmlns:a16="http://schemas.microsoft.com/office/drawing/2014/main" xmlns="" id="{F9776C3A-3D6C-4965-9DA5-D76F1E6E1639}"/>
              </a:ext>
            </a:extLst>
          </p:cNvPr>
          <p:cNvSpPr/>
          <p:nvPr/>
        </p:nvSpPr>
        <p:spPr>
          <a:xfrm>
            <a:off x="145179" y="1141797"/>
            <a:ext cx="2880000" cy="432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>
              <a:solidFill>
                <a:prstClr val="black">
                  <a:lumMod val="75000"/>
                  <a:lumOff val="25000"/>
                </a:prst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206" name="TextBox 205">
            <a:extLst>
              <a:ext uri="{FF2B5EF4-FFF2-40B4-BE49-F238E27FC236}">
                <a16:creationId xmlns:a16="http://schemas.microsoft.com/office/drawing/2014/main" xmlns="" id="{0C96C875-C47F-4F5B-B4C1-F9D666A7BD9D}"/>
              </a:ext>
            </a:extLst>
          </p:cNvPr>
          <p:cNvSpPr txBox="1"/>
          <p:nvPr/>
        </p:nvSpPr>
        <p:spPr>
          <a:xfrm>
            <a:off x="289179" y="1259890"/>
            <a:ext cx="1698148" cy="195814"/>
          </a:xfrm>
          <a:prstGeom prst="rect">
            <a:avLst/>
          </a:prstGeom>
          <a:noFill/>
          <a:ln w="317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36000" tIns="36000" rIns="36000" bIns="36000" numCol="1" rtlCol="0" anchor="ctr" anchorCtr="0" compatLnSpc="1">
            <a:prstTxWarp prst="textNoShape">
              <a:avLst/>
            </a:prstTxWarp>
            <a:spAutoFit/>
          </a:bodyPr>
          <a:lstStyle/>
          <a:p>
            <a:r>
              <a:rPr lang="ko-KR" altLang="en-US" sz="800" b="1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요청번호 </a:t>
            </a:r>
            <a:r>
              <a:rPr lang="en-US" altLang="ko-KR" sz="800" b="1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: 78809958 (2026.01.09)</a:t>
            </a:r>
            <a:endParaRPr lang="ko-KR" altLang="en-US" sz="800" b="1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234" name="직사각형 233"/>
          <p:cNvSpPr/>
          <p:nvPr/>
        </p:nvSpPr>
        <p:spPr>
          <a:xfrm>
            <a:off x="289179" y="1717125"/>
            <a:ext cx="792000" cy="936000"/>
          </a:xfrm>
          <a:prstGeom prst="rect">
            <a:avLst/>
          </a:prstGeom>
          <a:pattFill prst="openDmnd">
            <a:fgClr>
              <a:schemeClr val="bg1">
                <a:lumMod val="75000"/>
              </a:schemeClr>
            </a:fgClr>
            <a:bgClr>
              <a:schemeClr val="bg1"/>
            </a:bgClr>
          </a:patt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PROD</a:t>
            </a:r>
          </a:p>
          <a:p>
            <a:pPr algn="ctr"/>
            <a:r>
              <a:rPr lang="en-US" altLang="ko-KR" sz="8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IMG</a:t>
            </a:r>
            <a:endParaRPr lang="ko-KR" altLang="en-US" sz="80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7" name="제목 1">
            <a:extLst>
              <a:ext uri="{FF2B5EF4-FFF2-40B4-BE49-F238E27FC236}">
                <a16:creationId xmlns:a16="http://schemas.microsoft.com/office/drawing/2014/main" xmlns="" id="{03F65532-A01C-4981-B987-5E15F64E3ABB}"/>
              </a:ext>
            </a:extLst>
          </p:cNvPr>
          <p:cNvSpPr txBox="1">
            <a:spLocks/>
          </p:cNvSpPr>
          <p:nvPr/>
        </p:nvSpPr>
        <p:spPr>
          <a:xfrm>
            <a:off x="8783530" y="142660"/>
            <a:ext cx="1079290" cy="432000"/>
          </a:xfrm>
          <a:prstGeom prst="rect">
            <a:avLst/>
          </a:prstGeom>
        </p:spPr>
        <p:txBody>
          <a:bodyPr lIns="180000" tIns="36000" rIns="180000" bIns="36000" anchor="ctr"/>
          <a:lstStyle>
            <a:lvl1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2pPr>
            <a:lvl3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3pPr>
            <a:lvl4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4pPr>
            <a:lvl5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5pPr>
            <a:lvl6pPr marL="457212" algn="ctr" rtl="0" fontAlgn="base" latinLnBrk="1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6pPr>
            <a:lvl7pPr marL="914423" algn="ctr" rtl="0" fontAlgn="base" latinLnBrk="1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7pPr>
            <a:lvl8pPr marL="1371634" algn="ctr" rtl="0" fontAlgn="base" latinLnBrk="1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8pPr>
            <a:lvl9pPr marL="1828846" algn="ctr" rtl="0" fontAlgn="base" latinLnBrk="1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r>
              <a:rPr lang="ko-KR" altLang="en-US" sz="800" kern="0" smtClean="0"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</a:rPr>
              <a:t>최범열</a:t>
            </a:r>
            <a:endParaRPr lang="ko-KR" altLang="en-US" sz="800" kern="0">
              <a:solidFill>
                <a:prstClr val="black">
                  <a:lumMod val="75000"/>
                  <a:lumOff val="25000"/>
                </a:prst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119" name="TextBox 118"/>
          <p:cNvSpPr txBox="1"/>
          <p:nvPr/>
        </p:nvSpPr>
        <p:spPr>
          <a:xfrm>
            <a:off x="1081179" y="1717125"/>
            <a:ext cx="1832334" cy="288147"/>
          </a:xfrm>
          <a:prstGeom prst="rect">
            <a:avLst/>
          </a:prstGeom>
          <a:noFill/>
        </p:spPr>
        <p:txBody>
          <a:bodyPr wrap="none" lIns="108000" tIns="36000" rIns="108000" bIns="36000" rtlCol="0" anchor="t">
            <a:spAutoFit/>
          </a:bodyPr>
          <a:lstStyle/>
          <a:p>
            <a:r>
              <a:rPr lang="en-US" altLang="ko-KR" sz="7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HAZZYS</a:t>
            </a:r>
          </a:p>
          <a:p>
            <a:r>
              <a:rPr lang="en-US" altLang="ko-KR" sz="7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[</a:t>
            </a:r>
            <a:r>
              <a:rPr lang="ko-KR" altLang="en-US" sz="7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시즌오프</a:t>
            </a:r>
            <a:r>
              <a:rPr lang="en-US" altLang="ko-KR" sz="7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][</a:t>
            </a:r>
            <a:r>
              <a:rPr lang="ko-KR" altLang="en-US" sz="7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인기급상승</a:t>
            </a:r>
            <a:r>
              <a:rPr lang="en-US" altLang="ko-KR" sz="7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] </a:t>
            </a:r>
            <a:r>
              <a:rPr lang="ko-KR" altLang="en-US" sz="7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다이아 패턴 구</a:t>
            </a:r>
            <a:r>
              <a:rPr lang="en-US" altLang="ko-KR" sz="7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…</a:t>
            </a:r>
            <a:endParaRPr lang="en-US" altLang="ko-KR" sz="70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120" name="TextBox 119"/>
          <p:cNvSpPr txBox="1"/>
          <p:nvPr/>
        </p:nvSpPr>
        <p:spPr>
          <a:xfrm>
            <a:off x="1081179" y="2005060"/>
            <a:ext cx="1184721" cy="180425"/>
          </a:xfrm>
          <a:prstGeom prst="rect">
            <a:avLst/>
          </a:prstGeom>
          <a:noFill/>
        </p:spPr>
        <p:txBody>
          <a:bodyPr wrap="none" lIns="108000" tIns="36000" rIns="108000" bIns="36000" rtlCol="0" anchor="ctr">
            <a:spAutoFit/>
          </a:bodyPr>
          <a:lstStyle/>
          <a:p>
            <a:r>
              <a:rPr lang="ko-KR" altLang="en-US" sz="700">
                <a:solidFill>
                  <a:schemeClr val="tx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</a:rPr>
              <a:t>진한 브라운 </a:t>
            </a:r>
            <a:r>
              <a:rPr lang="en-US" altLang="ko-KR" sz="700">
                <a:solidFill>
                  <a:schemeClr val="tx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</a:rPr>
              <a:t>/ 00S / 1</a:t>
            </a:r>
            <a:r>
              <a:rPr lang="ko-KR" altLang="en-US" sz="700">
                <a:solidFill>
                  <a:schemeClr val="tx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</a:rPr>
              <a:t>개</a:t>
            </a:r>
          </a:p>
        </p:txBody>
      </p:sp>
      <p:sp>
        <p:nvSpPr>
          <p:cNvPr id="123" name="모서리가 둥근 직사각형 122">
            <a:extLst>
              <a:ext uri="{FF2B5EF4-FFF2-40B4-BE49-F238E27FC236}">
                <a16:creationId xmlns:a16="http://schemas.microsoft.com/office/drawing/2014/main" xmlns="" id="{F9776C3A-3D6C-4965-9DA5-D76F1E6E1639}"/>
              </a:ext>
            </a:extLst>
          </p:cNvPr>
          <p:cNvSpPr/>
          <p:nvPr/>
        </p:nvSpPr>
        <p:spPr>
          <a:xfrm>
            <a:off x="2305435" y="1249797"/>
            <a:ext cx="576000" cy="216000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00" smtClean="0"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</a:rPr>
              <a:t>전체취소</a:t>
            </a:r>
            <a:endParaRPr lang="ko-KR" altLang="en-US" sz="800">
              <a:solidFill>
                <a:prstClr val="black">
                  <a:lumMod val="75000"/>
                  <a:lumOff val="25000"/>
                </a:prst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276" name="TextBox 275"/>
          <p:cNvSpPr txBox="1"/>
          <p:nvPr/>
        </p:nvSpPr>
        <p:spPr>
          <a:xfrm>
            <a:off x="289179" y="2816932"/>
            <a:ext cx="431776" cy="180425"/>
          </a:xfrm>
          <a:prstGeom prst="rect">
            <a:avLst/>
          </a:prstGeom>
          <a:noFill/>
        </p:spPr>
        <p:txBody>
          <a:bodyPr wrap="none" lIns="36000" tIns="36000" rIns="36000" bIns="36000" rtlCol="0" anchor="ctr">
            <a:spAutoFit/>
          </a:bodyPr>
          <a:lstStyle/>
          <a:p>
            <a:r>
              <a:rPr lang="ko-KR" altLang="en-US" sz="7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결제완료</a:t>
            </a:r>
            <a:endParaRPr lang="ko-KR" altLang="en-US" sz="70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124" name="모서리가 둥근 직사각형 123">
            <a:extLst>
              <a:ext uri="{FF2B5EF4-FFF2-40B4-BE49-F238E27FC236}">
                <a16:creationId xmlns:a16="http://schemas.microsoft.com/office/drawing/2014/main" xmlns="" id="{F9776C3A-3D6C-4965-9DA5-D76F1E6E1639}"/>
              </a:ext>
            </a:extLst>
          </p:cNvPr>
          <p:cNvSpPr/>
          <p:nvPr/>
        </p:nvSpPr>
        <p:spPr>
          <a:xfrm>
            <a:off x="2304590" y="2799144"/>
            <a:ext cx="576000" cy="216000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00" smtClean="0"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</a:rPr>
              <a:t>주문취소</a:t>
            </a:r>
            <a:endParaRPr lang="ko-KR" altLang="en-US" sz="800">
              <a:solidFill>
                <a:prstClr val="black">
                  <a:lumMod val="75000"/>
                  <a:lumOff val="25000"/>
                </a:prst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253" name="직사각형 252">
            <a:extLst>
              <a:ext uri="{FF2B5EF4-FFF2-40B4-BE49-F238E27FC236}">
                <a16:creationId xmlns:a16="http://schemas.microsoft.com/office/drawing/2014/main" xmlns="" id="{F9776C3A-3D6C-4965-9DA5-D76F1E6E1639}"/>
              </a:ext>
            </a:extLst>
          </p:cNvPr>
          <p:cNvSpPr/>
          <p:nvPr/>
        </p:nvSpPr>
        <p:spPr>
          <a:xfrm>
            <a:off x="4823874" y="709700"/>
            <a:ext cx="2880000" cy="5688000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>
              <a:solidFill>
                <a:prstClr val="black">
                  <a:lumMod val="75000"/>
                  <a:lumOff val="25000"/>
                </a:prst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254" name="직사각형 253">
            <a:extLst>
              <a:ext uri="{FF2B5EF4-FFF2-40B4-BE49-F238E27FC236}">
                <a16:creationId xmlns="" xmlns:a16="http://schemas.microsoft.com/office/drawing/2014/main" id="{19FD5FA0-B111-4EF7-BC86-418441928DD3}"/>
              </a:ext>
            </a:extLst>
          </p:cNvPr>
          <p:cNvSpPr/>
          <p:nvPr/>
        </p:nvSpPr>
        <p:spPr>
          <a:xfrm>
            <a:off x="4823874" y="709700"/>
            <a:ext cx="2880000" cy="360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>
              <a:solidFill>
                <a:prstClr val="black">
                  <a:lumMod val="75000"/>
                  <a:lumOff val="25000"/>
                </a:prst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255" name="TextBox 254">
            <a:extLst>
              <a:ext uri="{FF2B5EF4-FFF2-40B4-BE49-F238E27FC236}">
                <a16:creationId xmlns:a16="http://schemas.microsoft.com/office/drawing/2014/main" xmlns="" id="{0C96C875-C47F-4F5B-B4C1-F9D666A7BD9D}"/>
              </a:ext>
            </a:extLst>
          </p:cNvPr>
          <p:cNvSpPr txBox="1"/>
          <p:nvPr/>
        </p:nvSpPr>
        <p:spPr>
          <a:xfrm>
            <a:off x="5220376" y="791441"/>
            <a:ext cx="870532" cy="195814"/>
          </a:xfrm>
          <a:prstGeom prst="rect">
            <a:avLst/>
          </a:prstGeom>
          <a:noFill/>
          <a:ln w="317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108000" tIns="36000" rIns="108000" bIns="36000" numCol="1" rtlCol="0" anchor="ctr" anchorCtr="0" compatLnSpc="1">
            <a:prstTxWarp prst="textNoShape">
              <a:avLst/>
            </a:prstTxWarp>
            <a:spAutoFit/>
          </a:bodyPr>
          <a:lstStyle/>
          <a:p>
            <a:r>
              <a:rPr lang="ko-KR" altLang="en-US" sz="800" b="1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주문 상세내역</a:t>
            </a:r>
            <a:endParaRPr lang="ko-KR" altLang="en-US" sz="800" b="1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</a:endParaRPr>
          </a:p>
        </p:txBody>
      </p:sp>
      <p:pic>
        <p:nvPicPr>
          <p:cNvPr id="257" name="Picture 2" descr="https://img.lfmall.co.kr/file/WAS/display/lf2022/mobile/gnb_fnb_sp.png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00" t="38037" r="84922" b="38044"/>
          <a:stretch/>
        </p:blipFill>
        <p:spPr bwMode="auto">
          <a:xfrm>
            <a:off x="4967874" y="799700"/>
            <a:ext cx="181592" cy="18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58" name="직사각형 257">
            <a:extLst>
              <a:ext uri="{FF2B5EF4-FFF2-40B4-BE49-F238E27FC236}">
                <a16:creationId xmlns:a16="http://schemas.microsoft.com/office/drawing/2014/main" xmlns="" id="{8392E679-C745-496E-8916-C656AE57791E}"/>
              </a:ext>
            </a:extLst>
          </p:cNvPr>
          <p:cNvSpPr/>
          <p:nvPr/>
        </p:nvSpPr>
        <p:spPr>
          <a:xfrm>
            <a:off x="4823874" y="1069713"/>
            <a:ext cx="2880000" cy="72000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 dirty="0">
              <a:solidFill>
                <a:prstClr val="black">
                  <a:lumMod val="75000"/>
                  <a:lumOff val="25000"/>
                </a:prst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261" name="직사각형 260">
            <a:extLst>
              <a:ext uri="{FF2B5EF4-FFF2-40B4-BE49-F238E27FC236}">
                <a16:creationId xmlns:a16="http://schemas.microsoft.com/office/drawing/2014/main" xmlns="" id="{F9776C3A-3D6C-4965-9DA5-D76F1E6E1639}"/>
              </a:ext>
            </a:extLst>
          </p:cNvPr>
          <p:cNvSpPr/>
          <p:nvPr/>
        </p:nvSpPr>
        <p:spPr>
          <a:xfrm>
            <a:off x="4823874" y="1141797"/>
            <a:ext cx="2880000" cy="432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>
              <a:solidFill>
                <a:prstClr val="black">
                  <a:lumMod val="75000"/>
                  <a:lumOff val="25000"/>
                </a:prst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262" name="TextBox 261">
            <a:extLst>
              <a:ext uri="{FF2B5EF4-FFF2-40B4-BE49-F238E27FC236}">
                <a16:creationId xmlns:a16="http://schemas.microsoft.com/office/drawing/2014/main" xmlns="" id="{0C96C875-C47F-4F5B-B4C1-F9D666A7BD9D}"/>
              </a:ext>
            </a:extLst>
          </p:cNvPr>
          <p:cNvSpPr txBox="1"/>
          <p:nvPr/>
        </p:nvSpPr>
        <p:spPr>
          <a:xfrm>
            <a:off x="4967874" y="1259890"/>
            <a:ext cx="1698148" cy="195814"/>
          </a:xfrm>
          <a:prstGeom prst="rect">
            <a:avLst/>
          </a:prstGeom>
          <a:noFill/>
          <a:ln w="317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36000" tIns="36000" rIns="36000" bIns="36000" numCol="1" rtlCol="0" anchor="ctr" anchorCtr="0" compatLnSpc="1">
            <a:prstTxWarp prst="textNoShape">
              <a:avLst/>
            </a:prstTxWarp>
            <a:spAutoFit/>
          </a:bodyPr>
          <a:lstStyle/>
          <a:p>
            <a:r>
              <a:rPr lang="ko-KR" altLang="en-US" sz="800" b="1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요청번호 </a:t>
            </a:r>
            <a:r>
              <a:rPr lang="en-US" altLang="ko-KR" sz="800" b="1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: 78809958 (2026.01.09)</a:t>
            </a:r>
            <a:endParaRPr lang="ko-KR" altLang="en-US" sz="800" b="1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263" name="직사각형 262"/>
          <p:cNvSpPr/>
          <p:nvPr/>
        </p:nvSpPr>
        <p:spPr>
          <a:xfrm>
            <a:off x="4967874" y="1717125"/>
            <a:ext cx="792000" cy="936000"/>
          </a:xfrm>
          <a:prstGeom prst="rect">
            <a:avLst/>
          </a:prstGeom>
          <a:pattFill prst="openDmnd">
            <a:fgClr>
              <a:schemeClr val="bg1">
                <a:lumMod val="75000"/>
              </a:schemeClr>
            </a:fgClr>
            <a:bgClr>
              <a:schemeClr val="bg1"/>
            </a:bgClr>
          </a:patt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PROD</a:t>
            </a:r>
          </a:p>
          <a:p>
            <a:pPr algn="ctr"/>
            <a:r>
              <a:rPr lang="en-US" altLang="ko-KR" sz="8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IMG</a:t>
            </a:r>
            <a:endParaRPr lang="ko-KR" altLang="en-US" sz="80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64" name="TextBox 263"/>
          <p:cNvSpPr txBox="1"/>
          <p:nvPr/>
        </p:nvSpPr>
        <p:spPr>
          <a:xfrm>
            <a:off x="5759874" y="1717125"/>
            <a:ext cx="1832334" cy="288147"/>
          </a:xfrm>
          <a:prstGeom prst="rect">
            <a:avLst/>
          </a:prstGeom>
          <a:noFill/>
        </p:spPr>
        <p:txBody>
          <a:bodyPr wrap="none" lIns="108000" tIns="36000" rIns="108000" bIns="36000" rtlCol="0" anchor="t">
            <a:spAutoFit/>
          </a:bodyPr>
          <a:lstStyle/>
          <a:p>
            <a:r>
              <a:rPr lang="en-US" altLang="ko-KR" sz="7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HAZZYS</a:t>
            </a:r>
          </a:p>
          <a:p>
            <a:r>
              <a:rPr lang="en-US" altLang="ko-KR" sz="7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[</a:t>
            </a:r>
            <a:r>
              <a:rPr lang="ko-KR" altLang="en-US" sz="7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시즌오프</a:t>
            </a:r>
            <a:r>
              <a:rPr lang="en-US" altLang="ko-KR" sz="7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][</a:t>
            </a:r>
            <a:r>
              <a:rPr lang="ko-KR" altLang="en-US" sz="7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인기급상승</a:t>
            </a:r>
            <a:r>
              <a:rPr lang="en-US" altLang="ko-KR" sz="7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] </a:t>
            </a:r>
            <a:r>
              <a:rPr lang="ko-KR" altLang="en-US" sz="7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다이아 패턴 구</a:t>
            </a:r>
            <a:r>
              <a:rPr lang="en-US" altLang="ko-KR" sz="7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…</a:t>
            </a:r>
            <a:endParaRPr lang="en-US" altLang="ko-KR" sz="70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265" name="TextBox 264"/>
          <p:cNvSpPr txBox="1"/>
          <p:nvPr/>
        </p:nvSpPr>
        <p:spPr>
          <a:xfrm>
            <a:off x="5759874" y="2005060"/>
            <a:ext cx="1184721" cy="180425"/>
          </a:xfrm>
          <a:prstGeom prst="rect">
            <a:avLst/>
          </a:prstGeom>
          <a:noFill/>
        </p:spPr>
        <p:txBody>
          <a:bodyPr wrap="none" lIns="108000" tIns="36000" rIns="108000" bIns="36000" rtlCol="0" anchor="ctr">
            <a:spAutoFit/>
          </a:bodyPr>
          <a:lstStyle/>
          <a:p>
            <a:r>
              <a:rPr lang="ko-KR" altLang="en-US" sz="700">
                <a:solidFill>
                  <a:schemeClr val="tx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</a:rPr>
              <a:t>진한 브라운 </a:t>
            </a:r>
            <a:r>
              <a:rPr lang="en-US" altLang="ko-KR" sz="700">
                <a:solidFill>
                  <a:schemeClr val="tx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</a:rPr>
              <a:t>/ 00S / 1</a:t>
            </a:r>
            <a:r>
              <a:rPr lang="ko-KR" altLang="en-US" sz="700">
                <a:solidFill>
                  <a:schemeClr val="tx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</a:rPr>
              <a:t>개</a:t>
            </a:r>
          </a:p>
        </p:txBody>
      </p:sp>
      <p:sp>
        <p:nvSpPr>
          <p:cNvPr id="268" name="모서리가 둥근 직사각형 267">
            <a:extLst>
              <a:ext uri="{FF2B5EF4-FFF2-40B4-BE49-F238E27FC236}">
                <a16:creationId xmlns:a16="http://schemas.microsoft.com/office/drawing/2014/main" xmlns="" id="{F9776C3A-3D6C-4965-9DA5-D76F1E6E1639}"/>
              </a:ext>
            </a:extLst>
          </p:cNvPr>
          <p:cNvSpPr/>
          <p:nvPr/>
        </p:nvSpPr>
        <p:spPr>
          <a:xfrm>
            <a:off x="6984130" y="1249797"/>
            <a:ext cx="576000" cy="216000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00" smtClean="0"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</a:rPr>
              <a:t>전체취소</a:t>
            </a:r>
            <a:endParaRPr lang="ko-KR" altLang="en-US" sz="800">
              <a:solidFill>
                <a:prstClr val="black">
                  <a:lumMod val="75000"/>
                  <a:lumOff val="25000"/>
                </a:prst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269" name="TextBox 268"/>
          <p:cNvSpPr txBox="1"/>
          <p:nvPr/>
        </p:nvSpPr>
        <p:spPr>
          <a:xfrm>
            <a:off x="4967874" y="2816932"/>
            <a:ext cx="431776" cy="180425"/>
          </a:xfrm>
          <a:prstGeom prst="rect">
            <a:avLst/>
          </a:prstGeom>
          <a:noFill/>
        </p:spPr>
        <p:txBody>
          <a:bodyPr wrap="none" lIns="36000" tIns="36000" rIns="36000" bIns="36000" rtlCol="0" anchor="ctr">
            <a:spAutoFit/>
          </a:bodyPr>
          <a:lstStyle/>
          <a:p>
            <a:r>
              <a:rPr lang="ko-KR" altLang="en-US" sz="7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결제완료</a:t>
            </a:r>
            <a:endParaRPr lang="ko-KR" altLang="en-US" sz="70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</a:endParaRPr>
          </a:p>
        </p:txBody>
      </p:sp>
      <p:grpSp>
        <p:nvGrpSpPr>
          <p:cNvPr id="272" name="그룹 271"/>
          <p:cNvGrpSpPr/>
          <p:nvPr/>
        </p:nvGrpSpPr>
        <p:grpSpPr>
          <a:xfrm>
            <a:off x="6335380" y="2799144"/>
            <a:ext cx="1223905" cy="216000"/>
            <a:chOff x="1656685" y="3879023"/>
            <a:chExt cx="1223905" cy="216000"/>
          </a:xfrm>
        </p:grpSpPr>
        <p:sp>
          <p:nvSpPr>
            <p:cNvPr id="285" name="모서리가 둥근 직사각형 284">
              <a:extLst>
                <a:ext uri="{FF2B5EF4-FFF2-40B4-BE49-F238E27FC236}">
                  <a16:creationId xmlns:a16="http://schemas.microsoft.com/office/drawing/2014/main" xmlns="" id="{F9776C3A-3D6C-4965-9DA5-D76F1E6E1639}"/>
                </a:ext>
              </a:extLst>
            </p:cNvPr>
            <p:cNvSpPr/>
            <p:nvPr/>
          </p:nvSpPr>
          <p:spPr>
            <a:xfrm>
              <a:off x="2304590" y="3879023"/>
              <a:ext cx="576000" cy="216000"/>
            </a:xfrm>
            <a:prstGeom prst="roundRect">
              <a:avLst/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800" smtClean="0">
                  <a:solidFill>
                    <a:prstClr val="black">
                      <a:lumMod val="75000"/>
                      <a:lumOff val="25000"/>
                    </a:prstClr>
                  </a:solidFill>
                  <a:latin typeface="맑은 고딕" panose="020B0503020000020004" pitchFamily="50" charset="-127"/>
                </a:rPr>
                <a:t>주문취소</a:t>
              </a:r>
              <a:endParaRPr lang="ko-KR" altLang="en-US" sz="800"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286" name="모서리가 둥근 직사각형 285">
              <a:extLst>
                <a:ext uri="{FF2B5EF4-FFF2-40B4-BE49-F238E27FC236}">
                  <a16:creationId xmlns:a16="http://schemas.microsoft.com/office/drawing/2014/main" xmlns="" id="{F9776C3A-3D6C-4965-9DA5-D76F1E6E1639}"/>
                </a:ext>
              </a:extLst>
            </p:cNvPr>
            <p:cNvSpPr/>
            <p:nvPr/>
          </p:nvSpPr>
          <p:spPr>
            <a:xfrm>
              <a:off x="1656685" y="3879023"/>
              <a:ext cx="576000" cy="216000"/>
            </a:xfrm>
            <a:prstGeom prst="roundRect">
              <a:avLst/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800" smtClean="0">
                  <a:solidFill>
                    <a:prstClr val="black">
                      <a:lumMod val="75000"/>
                      <a:lumOff val="25000"/>
                    </a:prstClr>
                  </a:solidFill>
                  <a:latin typeface="맑은 고딕" panose="020B0503020000020004" pitchFamily="50" charset="-127"/>
                </a:rPr>
                <a:t>옵션변경</a:t>
              </a:r>
              <a:endParaRPr lang="ko-KR" altLang="en-US" sz="800"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</a:endParaRPr>
            </a:p>
          </p:txBody>
        </p:sp>
      </p:grpSp>
      <p:sp>
        <p:nvSpPr>
          <p:cNvPr id="273" name="직사각형 272">
            <a:extLst>
              <a:ext uri="{FF2B5EF4-FFF2-40B4-BE49-F238E27FC236}">
                <a16:creationId xmlns:a16="http://schemas.microsoft.com/office/drawing/2014/main" xmlns="" id="{8392E679-C745-496E-8916-C656AE57791E}"/>
              </a:ext>
            </a:extLst>
          </p:cNvPr>
          <p:cNvSpPr/>
          <p:nvPr/>
        </p:nvSpPr>
        <p:spPr>
          <a:xfrm>
            <a:off x="4823874" y="3087144"/>
            <a:ext cx="2880000" cy="72000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 dirty="0">
              <a:solidFill>
                <a:prstClr val="black">
                  <a:lumMod val="75000"/>
                  <a:lumOff val="25000"/>
                </a:prst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274" name="직사각형 273">
            <a:extLst>
              <a:ext uri="{FF2B5EF4-FFF2-40B4-BE49-F238E27FC236}">
                <a16:creationId xmlns:a16="http://schemas.microsoft.com/office/drawing/2014/main" xmlns="" id="{F9776C3A-3D6C-4965-9DA5-D76F1E6E1639}"/>
              </a:ext>
            </a:extLst>
          </p:cNvPr>
          <p:cNvSpPr/>
          <p:nvPr/>
        </p:nvSpPr>
        <p:spPr>
          <a:xfrm>
            <a:off x="4823874" y="3158787"/>
            <a:ext cx="2880000" cy="432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>
              <a:solidFill>
                <a:prstClr val="black">
                  <a:lumMod val="75000"/>
                  <a:lumOff val="25000"/>
                </a:prst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275" name="TextBox 274">
            <a:extLst>
              <a:ext uri="{FF2B5EF4-FFF2-40B4-BE49-F238E27FC236}">
                <a16:creationId xmlns:a16="http://schemas.microsoft.com/office/drawing/2014/main" xmlns="" id="{0C96C875-C47F-4F5B-B4C1-F9D666A7BD9D}"/>
              </a:ext>
            </a:extLst>
          </p:cNvPr>
          <p:cNvSpPr txBox="1"/>
          <p:nvPr/>
        </p:nvSpPr>
        <p:spPr>
          <a:xfrm>
            <a:off x="4967874" y="3276880"/>
            <a:ext cx="483072" cy="195814"/>
          </a:xfrm>
          <a:prstGeom prst="rect">
            <a:avLst/>
          </a:prstGeom>
          <a:noFill/>
          <a:ln w="317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36000" tIns="36000" rIns="36000" bIns="36000" numCol="1" rtlCol="0" anchor="ctr" anchorCtr="0" compatLnSpc="1">
            <a:prstTxWarp prst="textNoShape">
              <a:avLst/>
            </a:prstTxWarp>
            <a:spAutoFit/>
          </a:bodyPr>
          <a:lstStyle/>
          <a:p>
            <a:r>
              <a:rPr lang="ko-KR" altLang="en-US" sz="800" b="1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배송정보</a:t>
            </a:r>
            <a:endParaRPr lang="ko-KR" altLang="en-US" sz="800" b="1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277" name="모서리가 둥근 직사각형 276">
            <a:extLst>
              <a:ext uri="{FF2B5EF4-FFF2-40B4-BE49-F238E27FC236}">
                <a16:creationId xmlns:a16="http://schemas.microsoft.com/office/drawing/2014/main" xmlns="" id="{F9776C3A-3D6C-4965-9DA5-D76F1E6E1639}"/>
              </a:ext>
            </a:extLst>
          </p:cNvPr>
          <p:cNvSpPr/>
          <p:nvPr/>
        </p:nvSpPr>
        <p:spPr>
          <a:xfrm>
            <a:off x="6839285" y="3266787"/>
            <a:ext cx="720000" cy="216000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00" smtClean="0"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</a:rPr>
              <a:t>배송지변경</a:t>
            </a:r>
            <a:endParaRPr lang="ko-KR" altLang="en-US" sz="800">
              <a:solidFill>
                <a:prstClr val="black">
                  <a:lumMod val="75000"/>
                  <a:lumOff val="25000"/>
                </a:prst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278" name="직사각형 277">
            <a:extLst>
              <a:ext uri="{FF2B5EF4-FFF2-40B4-BE49-F238E27FC236}">
                <a16:creationId xmlns:a16="http://schemas.microsoft.com/office/drawing/2014/main" xmlns="" id="{F9776C3A-3D6C-4965-9DA5-D76F1E6E1639}"/>
              </a:ext>
            </a:extLst>
          </p:cNvPr>
          <p:cNvSpPr/>
          <p:nvPr/>
        </p:nvSpPr>
        <p:spPr>
          <a:xfrm>
            <a:off x="4823718" y="3591956"/>
            <a:ext cx="2880000" cy="2088000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>
              <a:solidFill>
                <a:prstClr val="black">
                  <a:lumMod val="75000"/>
                  <a:lumOff val="25000"/>
                </a:prst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280" name="직사각형 279">
            <a:extLst>
              <a:ext uri="{FF2B5EF4-FFF2-40B4-BE49-F238E27FC236}">
                <a16:creationId xmlns:a16="http://schemas.microsoft.com/office/drawing/2014/main" xmlns="" id="{F9776C3A-3D6C-4965-9DA5-D76F1E6E1639}"/>
              </a:ext>
            </a:extLst>
          </p:cNvPr>
          <p:cNvSpPr/>
          <p:nvPr/>
        </p:nvSpPr>
        <p:spPr>
          <a:xfrm>
            <a:off x="4823874" y="5537591"/>
            <a:ext cx="2880000" cy="432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>
              <a:solidFill>
                <a:prstClr val="black">
                  <a:lumMod val="75000"/>
                  <a:lumOff val="25000"/>
                </a:prst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281" name="TextBox 280">
            <a:extLst>
              <a:ext uri="{FF2B5EF4-FFF2-40B4-BE49-F238E27FC236}">
                <a16:creationId xmlns:a16="http://schemas.microsoft.com/office/drawing/2014/main" xmlns="" id="{0C96C875-C47F-4F5B-B4C1-F9D666A7BD9D}"/>
              </a:ext>
            </a:extLst>
          </p:cNvPr>
          <p:cNvSpPr txBox="1"/>
          <p:nvPr/>
        </p:nvSpPr>
        <p:spPr>
          <a:xfrm>
            <a:off x="4967874" y="5655684"/>
            <a:ext cx="483072" cy="195814"/>
          </a:xfrm>
          <a:prstGeom prst="rect">
            <a:avLst/>
          </a:prstGeom>
          <a:noFill/>
          <a:ln w="317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36000" tIns="36000" rIns="36000" bIns="36000" numCol="1" rtlCol="0" anchor="ctr" anchorCtr="0" compatLnSpc="1">
            <a:prstTxWarp prst="textNoShape">
              <a:avLst/>
            </a:prstTxWarp>
            <a:spAutoFit/>
          </a:bodyPr>
          <a:lstStyle/>
          <a:p>
            <a:r>
              <a:rPr lang="ko-KR" altLang="en-US" sz="800" b="1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결제금액</a:t>
            </a:r>
            <a:endParaRPr lang="ko-KR" altLang="en-US" sz="800" b="1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282" name="TextBox 281">
            <a:extLst>
              <a:ext uri="{FF2B5EF4-FFF2-40B4-BE49-F238E27FC236}">
                <a16:creationId xmlns:a16="http://schemas.microsoft.com/office/drawing/2014/main" xmlns="" id="{0C96C875-C47F-4F5B-B4C1-F9D666A7BD9D}"/>
              </a:ext>
            </a:extLst>
          </p:cNvPr>
          <p:cNvSpPr txBox="1"/>
          <p:nvPr/>
        </p:nvSpPr>
        <p:spPr>
          <a:xfrm>
            <a:off x="7000871" y="5655684"/>
            <a:ext cx="558414" cy="195814"/>
          </a:xfrm>
          <a:prstGeom prst="rect">
            <a:avLst/>
          </a:prstGeom>
          <a:noFill/>
          <a:ln w="317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36000" tIns="36000" rIns="36000" bIns="36000" numCol="1" rtlCol="0" anchor="ctr" anchorCtr="0" compatLnSpc="1">
            <a:prstTxWarp prst="textNoShape">
              <a:avLst/>
            </a:prstTxWarp>
            <a:spAutoFit/>
          </a:bodyPr>
          <a:lstStyle/>
          <a:p>
            <a:pPr algn="r"/>
            <a:r>
              <a:rPr lang="en-US" altLang="ko-KR" sz="800" b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169,570</a:t>
            </a:r>
            <a:r>
              <a:rPr lang="ko-KR" altLang="en-US" sz="800" b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원</a:t>
            </a:r>
          </a:p>
        </p:txBody>
      </p:sp>
      <p:sp>
        <p:nvSpPr>
          <p:cNvPr id="283" name="직사각형 282">
            <a:extLst>
              <a:ext uri="{FF2B5EF4-FFF2-40B4-BE49-F238E27FC236}">
                <a16:creationId xmlns:a16="http://schemas.microsoft.com/office/drawing/2014/main" xmlns="" id="{19FD5FA0-B111-4EF7-BC86-418441928DD3}"/>
              </a:ext>
            </a:extLst>
          </p:cNvPr>
          <p:cNvSpPr/>
          <p:nvPr/>
        </p:nvSpPr>
        <p:spPr>
          <a:xfrm>
            <a:off x="7024917" y="6088048"/>
            <a:ext cx="534368" cy="195814"/>
          </a:xfrm>
          <a:prstGeom prst="rect">
            <a:avLst/>
          </a:prstGeom>
          <a:noFill/>
          <a:ln w="317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36000" tIns="36000" rIns="36000" bIns="36000" numCol="1" rtlCol="0" anchor="ctr" anchorCtr="0" compatLnSpc="1">
            <a:prstTxWarp prst="textNoShape">
              <a:avLst/>
            </a:prstTxWarp>
            <a:spAutoFit/>
          </a:bodyPr>
          <a:lstStyle/>
          <a:p>
            <a:pPr algn="r"/>
            <a:r>
              <a:rPr lang="en-US" altLang="ko-KR" sz="8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210,000</a:t>
            </a:r>
            <a:r>
              <a:rPr lang="ko-KR" altLang="en-US" sz="8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원</a:t>
            </a:r>
            <a:endParaRPr lang="ko-KR" altLang="en-US" sz="80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284" name="TextBox 283">
            <a:extLst>
              <a:ext uri="{FF2B5EF4-FFF2-40B4-BE49-F238E27FC236}">
                <a16:creationId xmlns:a16="http://schemas.microsoft.com/office/drawing/2014/main" xmlns="" id="{0C96C875-C47F-4F5B-B4C1-F9D666A7BD9D}"/>
              </a:ext>
            </a:extLst>
          </p:cNvPr>
          <p:cNvSpPr txBox="1"/>
          <p:nvPr/>
        </p:nvSpPr>
        <p:spPr>
          <a:xfrm>
            <a:off x="4967874" y="6088048"/>
            <a:ext cx="483072" cy="195814"/>
          </a:xfrm>
          <a:prstGeom prst="rect">
            <a:avLst/>
          </a:prstGeom>
          <a:noFill/>
          <a:ln w="317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36000" tIns="36000" rIns="36000" bIns="36000" numCol="1" rtlCol="0" anchor="ctr" anchorCtr="0" compatLnSpc="1">
            <a:prstTxWarp prst="textNoShape">
              <a:avLst/>
            </a:prstTxWarp>
            <a:spAutoFit/>
          </a:bodyPr>
          <a:lstStyle/>
          <a:p>
            <a:r>
              <a:rPr lang="ko-KR" altLang="en-US" sz="8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상품금액</a:t>
            </a:r>
            <a:endParaRPr lang="ko-KR" altLang="en-US" sz="7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289" name="직사각형 288">
            <a:extLst>
              <a:ext uri="{FF2B5EF4-FFF2-40B4-BE49-F238E27FC236}">
                <a16:creationId xmlns:a16="http://schemas.microsoft.com/office/drawing/2014/main" xmlns="" id="{8392E679-C745-496E-8916-C656AE57791E}"/>
              </a:ext>
            </a:extLst>
          </p:cNvPr>
          <p:cNvSpPr/>
          <p:nvPr/>
        </p:nvSpPr>
        <p:spPr>
          <a:xfrm>
            <a:off x="4823874" y="5464043"/>
            <a:ext cx="2880000" cy="72000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 dirty="0">
              <a:solidFill>
                <a:prstClr val="black">
                  <a:lumMod val="75000"/>
                  <a:lumOff val="25000"/>
                </a:prst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290" name="직사각형 289">
            <a:extLst>
              <a:ext uri="{FF2B5EF4-FFF2-40B4-BE49-F238E27FC236}">
                <a16:creationId xmlns:a16="http://schemas.microsoft.com/office/drawing/2014/main" xmlns="" id="{19FD5FA0-B111-4EF7-BC86-418441928DD3}"/>
              </a:ext>
            </a:extLst>
          </p:cNvPr>
          <p:cNvSpPr/>
          <p:nvPr/>
        </p:nvSpPr>
        <p:spPr>
          <a:xfrm>
            <a:off x="5831874" y="3709633"/>
            <a:ext cx="380480" cy="195814"/>
          </a:xfrm>
          <a:prstGeom prst="rect">
            <a:avLst/>
          </a:prstGeom>
          <a:noFill/>
          <a:ln w="317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36000" tIns="36000" rIns="36000" bIns="36000" numCol="1" rtlCol="0" anchor="ctr" anchorCtr="0" compatLnSpc="1">
            <a:prstTxWarp prst="textNoShape">
              <a:avLst/>
            </a:prstTxWarp>
            <a:spAutoFit/>
          </a:bodyPr>
          <a:lstStyle/>
          <a:p>
            <a:r>
              <a:rPr lang="ko-KR" altLang="en-US" sz="8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홍길동</a:t>
            </a:r>
          </a:p>
        </p:txBody>
      </p:sp>
      <p:sp>
        <p:nvSpPr>
          <p:cNvPr id="291" name="TextBox 290">
            <a:extLst>
              <a:ext uri="{FF2B5EF4-FFF2-40B4-BE49-F238E27FC236}">
                <a16:creationId xmlns:a16="http://schemas.microsoft.com/office/drawing/2014/main" xmlns="" id="{0C96C875-C47F-4F5B-B4C1-F9D666A7BD9D}"/>
              </a:ext>
            </a:extLst>
          </p:cNvPr>
          <p:cNvSpPr txBox="1"/>
          <p:nvPr/>
        </p:nvSpPr>
        <p:spPr>
          <a:xfrm>
            <a:off x="4967874" y="3709633"/>
            <a:ext cx="622534" cy="195814"/>
          </a:xfrm>
          <a:prstGeom prst="rect">
            <a:avLst/>
          </a:prstGeom>
          <a:noFill/>
          <a:ln w="317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36000" tIns="36000" rIns="36000" bIns="36000" numCol="1" rtlCol="0" anchor="ctr" anchorCtr="0" compatLnSpc="1">
            <a:prstTxWarp prst="textNoShape">
              <a:avLst/>
            </a:prstTxWarp>
            <a:spAutoFit/>
          </a:bodyPr>
          <a:lstStyle/>
          <a:p>
            <a:r>
              <a:rPr lang="ko-KR" altLang="en-US" sz="8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주문하신 분</a:t>
            </a:r>
            <a:endParaRPr lang="ko-KR" altLang="en-US" sz="7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292" name="직사각형 291">
            <a:extLst>
              <a:ext uri="{FF2B5EF4-FFF2-40B4-BE49-F238E27FC236}">
                <a16:creationId xmlns:a16="http://schemas.microsoft.com/office/drawing/2014/main" xmlns="" id="{19FD5FA0-B111-4EF7-BC86-418441928DD3}"/>
              </a:ext>
            </a:extLst>
          </p:cNvPr>
          <p:cNvSpPr/>
          <p:nvPr/>
        </p:nvSpPr>
        <p:spPr>
          <a:xfrm>
            <a:off x="5831874" y="3997789"/>
            <a:ext cx="734744" cy="195814"/>
          </a:xfrm>
          <a:prstGeom prst="rect">
            <a:avLst/>
          </a:prstGeom>
          <a:noFill/>
          <a:ln w="317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36000" tIns="36000" rIns="36000" bIns="36000" numCol="1" rtlCol="0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altLang="ko-KR" sz="8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Hong Gildong</a:t>
            </a:r>
            <a:endParaRPr lang="ko-KR" altLang="en-US" sz="80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293" name="TextBox 292">
            <a:extLst>
              <a:ext uri="{FF2B5EF4-FFF2-40B4-BE49-F238E27FC236}">
                <a16:creationId xmlns:a16="http://schemas.microsoft.com/office/drawing/2014/main" xmlns="" id="{0C96C875-C47F-4F5B-B4C1-F9D666A7BD9D}"/>
              </a:ext>
            </a:extLst>
          </p:cNvPr>
          <p:cNvSpPr txBox="1"/>
          <p:nvPr/>
        </p:nvSpPr>
        <p:spPr>
          <a:xfrm>
            <a:off x="4967874" y="3997789"/>
            <a:ext cx="622534" cy="195814"/>
          </a:xfrm>
          <a:prstGeom prst="rect">
            <a:avLst/>
          </a:prstGeom>
          <a:noFill/>
          <a:ln w="317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36000" tIns="36000" rIns="36000" bIns="36000" numCol="1" rtlCol="0" anchor="ctr" anchorCtr="0" compatLnSpc="1">
            <a:prstTxWarp prst="textNoShape">
              <a:avLst/>
            </a:prstTxWarp>
            <a:spAutoFit/>
          </a:bodyPr>
          <a:lstStyle/>
          <a:p>
            <a:r>
              <a:rPr lang="ko-KR" altLang="en-US" sz="8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받으시는 분</a:t>
            </a:r>
            <a:endParaRPr lang="ko-KR" altLang="en-US" sz="7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294" name="직사각형 293">
            <a:extLst>
              <a:ext uri="{FF2B5EF4-FFF2-40B4-BE49-F238E27FC236}">
                <a16:creationId xmlns:a16="http://schemas.microsoft.com/office/drawing/2014/main" xmlns="" id="{19FD5FA0-B111-4EF7-BC86-418441928DD3}"/>
              </a:ext>
            </a:extLst>
          </p:cNvPr>
          <p:cNvSpPr/>
          <p:nvPr/>
        </p:nvSpPr>
        <p:spPr>
          <a:xfrm>
            <a:off x="5831874" y="4285718"/>
            <a:ext cx="1470522" cy="195814"/>
          </a:xfrm>
          <a:prstGeom prst="rect">
            <a:avLst/>
          </a:prstGeom>
          <a:noFill/>
          <a:ln w="317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36000" tIns="36000" rIns="36000" bIns="36000" numCol="1" rtlCol="0" anchor="ctr" anchorCtr="0" compatLnSpc="1">
            <a:prstTxWarp prst="textNoShape">
              <a:avLst/>
            </a:prstTxWarp>
            <a:spAutoFit/>
          </a:bodyPr>
          <a:lstStyle/>
          <a:p>
            <a:r>
              <a:rPr lang="ko-KR" altLang="en-US" sz="8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서울시 강남구 언주로 </a:t>
            </a:r>
            <a:r>
              <a:rPr lang="en-US" altLang="ko-KR" sz="8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872 6</a:t>
            </a:r>
            <a:r>
              <a:rPr lang="ko-KR" altLang="en-US" sz="8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층</a:t>
            </a:r>
            <a:endParaRPr lang="ko-KR" altLang="en-US" sz="80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297" name="TextBox 296">
            <a:extLst>
              <a:ext uri="{FF2B5EF4-FFF2-40B4-BE49-F238E27FC236}">
                <a16:creationId xmlns:a16="http://schemas.microsoft.com/office/drawing/2014/main" xmlns="" id="{0C96C875-C47F-4F5B-B4C1-F9D666A7BD9D}"/>
              </a:ext>
            </a:extLst>
          </p:cNvPr>
          <p:cNvSpPr txBox="1"/>
          <p:nvPr/>
        </p:nvSpPr>
        <p:spPr>
          <a:xfrm>
            <a:off x="4967874" y="4285718"/>
            <a:ext cx="277888" cy="195814"/>
          </a:xfrm>
          <a:prstGeom prst="rect">
            <a:avLst/>
          </a:prstGeom>
          <a:noFill/>
          <a:ln w="317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36000" tIns="36000" rIns="36000" bIns="36000" numCol="1" rtlCol="0" anchor="ctr" anchorCtr="0" compatLnSpc="1">
            <a:prstTxWarp prst="textNoShape">
              <a:avLst/>
            </a:prstTxWarp>
            <a:spAutoFit/>
          </a:bodyPr>
          <a:lstStyle/>
          <a:p>
            <a:r>
              <a:rPr lang="ko-KR" altLang="en-US" sz="8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주소</a:t>
            </a:r>
            <a:endParaRPr lang="ko-KR" altLang="en-US" sz="7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298" name="직사각형 297">
            <a:extLst>
              <a:ext uri="{FF2B5EF4-FFF2-40B4-BE49-F238E27FC236}">
                <a16:creationId xmlns:a16="http://schemas.microsoft.com/office/drawing/2014/main" xmlns="" id="{19FD5FA0-B111-4EF7-BC86-418441928DD3}"/>
              </a:ext>
            </a:extLst>
          </p:cNvPr>
          <p:cNvSpPr/>
          <p:nvPr/>
        </p:nvSpPr>
        <p:spPr>
          <a:xfrm>
            <a:off x="5831874" y="4573874"/>
            <a:ext cx="156059" cy="195814"/>
          </a:xfrm>
          <a:prstGeom prst="rect">
            <a:avLst/>
          </a:prstGeom>
          <a:noFill/>
          <a:ln w="317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36000" tIns="36000" rIns="36000" bIns="36000" numCol="1" rtlCol="0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altLang="ko-KR" sz="8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--</a:t>
            </a:r>
            <a:endParaRPr lang="ko-KR" altLang="en-US" sz="80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299" name="TextBox 298">
            <a:extLst>
              <a:ext uri="{FF2B5EF4-FFF2-40B4-BE49-F238E27FC236}">
                <a16:creationId xmlns:a16="http://schemas.microsoft.com/office/drawing/2014/main" xmlns="" id="{0C96C875-C47F-4F5B-B4C1-F9D666A7BD9D}"/>
              </a:ext>
            </a:extLst>
          </p:cNvPr>
          <p:cNvSpPr txBox="1"/>
          <p:nvPr/>
        </p:nvSpPr>
        <p:spPr>
          <a:xfrm>
            <a:off x="4967874" y="4573874"/>
            <a:ext cx="483072" cy="195814"/>
          </a:xfrm>
          <a:prstGeom prst="rect">
            <a:avLst/>
          </a:prstGeom>
          <a:noFill/>
          <a:ln w="317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36000" tIns="36000" rIns="36000" bIns="36000" numCol="1" rtlCol="0" anchor="ctr" anchorCtr="0" compatLnSpc="1">
            <a:prstTxWarp prst="textNoShape">
              <a:avLst/>
            </a:prstTxWarp>
            <a:spAutoFit/>
          </a:bodyPr>
          <a:lstStyle/>
          <a:p>
            <a:r>
              <a:rPr lang="ko-KR" altLang="en-US" sz="8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일반전화</a:t>
            </a:r>
            <a:endParaRPr lang="ko-KR" altLang="en-US" sz="7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300" name="직사각형 299">
            <a:extLst>
              <a:ext uri="{FF2B5EF4-FFF2-40B4-BE49-F238E27FC236}">
                <a16:creationId xmlns:a16="http://schemas.microsoft.com/office/drawing/2014/main" xmlns="" id="{19FD5FA0-B111-4EF7-BC86-418441928DD3}"/>
              </a:ext>
            </a:extLst>
          </p:cNvPr>
          <p:cNvSpPr/>
          <p:nvPr/>
        </p:nvSpPr>
        <p:spPr>
          <a:xfrm>
            <a:off x="5831874" y="4861980"/>
            <a:ext cx="773216" cy="195814"/>
          </a:xfrm>
          <a:prstGeom prst="rect">
            <a:avLst/>
          </a:prstGeom>
          <a:noFill/>
          <a:ln w="317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36000" tIns="36000" rIns="36000" bIns="36000" numCol="1" rtlCol="0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altLang="ko-KR" sz="8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010-1234-5678</a:t>
            </a:r>
            <a:endParaRPr lang="ko-KR" altLang="en-US" sz="80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301" name="TextBox 300">
            <a:extLst>
              <a:ext uri="{FF2B5EF4-FFF2-40B4-BE49-F238E27FC236}">
                <a16:creationId xmlns:a16="http://schemas.microsoft.com/office/drawing/2014/main" xmlns="" id="{0C96C875-C47F-4F5B-B4C1-F9D666A7BD9D}"/>
              </a:ext>
            </a:extLst>
          </p:cNvPr>
          <p:cNvSpPr txBox="1"/>
          <p:nvPr/>
        </p:nvSpPr>
        <p:spPr>
          <a:xfrm>
            <a:off x="4967874" y="4861980"/>
            <a:ext cx="483072" cy="195814"/>
          </a:xfrm>
          <a:prstGeom prst="rect">
            <a:avLst/>
          </a:prstGeom>
          <a:noFill/>
          <a:ln w="317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36000" tIns="36000" rIns="36000" bIns="36000" numCol="1" rtlCol="0" anchor="ctr" anchorCtr="0" compatLnSpc="1">
            <a:prstTxWarp prst="textNoShape">
              <a:avLst/>
            </a:prstTxWarp>
            <a:spAutoFit/>
          </a:bodyPr>
          <a:lstStyle/>
          <a:p>
            <a:r>
              <a:rPr lang="ko-KR" altLang="en-US" sz="8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휴대전화</a:t>
            </a:r>
            <a:endParaRPr lang="ko-KR" altLang="en-US" sz="7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302" name="직사각형 301">
            <a:extLst>
              <a:ext uri="{FF2B5EF4-FFF2-40B4-BE49-F238E27FC236}">
                <a16:creationId xmlns:a16="http://schemas.microsoft.com/office/drawing/2014/main" xmlns="" id="{19FD5FA0-B111-4EF7-BC86-418441928DD3}"/>
              </a:ext>
            </a:extLst>
          </p:cNvPr>
          <p:cNvSpPr/>
          <p:nvPr/>
        </p:nvSpPr>
        <p:spPr>
          <a:xfrm>
            <a:off x="5831874" y="5150136"/>
            <a:ext cx="967179" cy="195814"/>
          </a:xfrm>
          <a:prstGeom prst="rect">
            <a:avLst/>
          </a:prstGeom>
          <a:noFill/>
          <a:ln w="317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36000" tIns="36000" rIns="36000" bIns="36000" numCol="1" rtlCol="0" anchor="ctr" anchorCtr="0" compatLnSpc="1">
            <a:prstTxWarp prst="textNoShape">
              <a:avLst/>
            </a:prstTxWarp>
            <a:spAutoFit/>
          </a:bodyPr>
          <a:lstStyle/>
          <a:p>
            <a:r>
              <a:rPr lang="ko-KR" altLang="en-US" sz="8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문 앞에 놓아주세요</a:t>
            </a:r>
            <a:endParaRPr lang="ko-KR" altLang="en-US" sz="80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303" name="TextBox 302">
            <a:extLst>
              <a:ext uri="{FF2B5EF4-FFF2-40B4-BE49-F238E27FC236}">
                <a16:creationId xmlns:a16="http://schemas.microsoft.com/office/drawing/2014/main" xmlns="" id="{0C96C875-C47F-4F5B-B4C1-F9D666A7BD9D}"/>
              </a:ext>
            </a:extLst>
          </p:cNvPr>
          <p:cNvSpPr txBox="1"/>
          <p:nvPr/>
        </p:nvSpPr>
        <p:spPr>
          <a:xfrm>
            <a:off x="4967874" y="5150136"/>
            <a:ext cx="483072" cy="195814"/>
          </a:xfrm>
          <a:prstGeom prst="rect">
            <a:avLst/>
          </a:prstGeom>
          <a:noFill/>
          <a:ln w="317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36000" tIns="36000" rIns="36000" bIns="36000" numCol="1" rtlCol="0" anchor="ctr" anchorCtr="0" compatLnSpc="1">
            <a:prstTxWarp prst="textNoShape">
              <a:avLst/>
            </a:prstTxWarp>
            <a:spAutoFit/>
          </a:bodyPr>
          <a:lstStyle/>
          <a:p>
            <a:r>
              <a:rPr lang="ko-KR" altLang="en-US" sz="8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배송메모</a:t>
            </a:r>
            <a:endParaRPr lang="ko-KR" altLang="en-US" sz="7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121" name="TextBox 120"/>
          <p:cNvSpPr txBox="1"/>
          <p:nvPr/>
        </p:nvSpPr>
        <p:spPr>
          <a:xfrm>
            <a:off x="1081179" y="2187775"/>
            <a:ext cx="703820" cy="195814"/>
          </a:xfrm>
          <a:prstGeom prst="rect">
            <a:avLst/>
          </a:prstGeom>
          <a:noFill/>
        </p:spPr>
        <p:txBody>
          <a:bodyPr wrap="none" lIns="108000" tIns="36000" rIns="108000" bIns="36000" rtlCol="0" anchor="ctr">
            <a:spAutoFit/>
          </a:bodyPr>
          <a:lstStyle/>
          <a:p>
            <a:r>
              <a:rPr lang="en-US" altLang="ko-KR" sz="800" b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390,910</a:t>
            </a:r>
            <a:r>
              <a:rPr lang="ko-KR" altLang="en-US" sz="800" b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원</a:t>
            </a:r>
            <a:endParaRPr lang="ko-KR" altLang="en-US" sz="700" b="1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266" name="TextBox 265"/>
          <p:cNvSpPr txBox="1"/>
          <p:nvPr/>
        </p:nvSpPr>
        <p:spPr>
          <a:xfrm>
            <a:off x="5759874" y="2187775"/>
            <a:ext cx="703820" cy="195814"/>
          </a:xfrm>
          <a:prstGeom prst="rect">
            <a:avLst/>
          </a:prstGeom>
          <a:noFill/>
        </p:spPr>
        <p:txBody>
          <a:bodyPr wrap="none" lIns="108000" tIns="36000" rIns="108000" bIns="36000" rtlCol="0" anchor="ctr">
            <a:spAutoFit/>
          </a:bodyPr>
          <a:lstStyle/>
          <a:p>
            <a:r>
              <a:rPr lang="en-US" altLang="ko-KR" sz="800" b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390,910</a:t>
            </a:r>
            <a:r>
              <a:rPr lang="ko-KR" altLang="en-US" sz="800" b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원</a:t>
            </a:r>
            <a:endParaRPr lang="ko-KR" altLang="en-US" sz="700" b="1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267" name="TextBox 266"/>
          <p:cNvSpPr txBox="1"/>
          <p:nvPr/>
        </p:nvSpPr>
        <p:spPr>
          <a:xfrm>
            <a:off x="5759874" y="2385985"/>
            <a:ext cx="987551" cy="180425"/>
          </a:xfrm>
          <a:prstGeom prst="rect">
            <a:avLst/>
          </a:prstGeom>
          <a:noFill/>
        </p:spPr>
        <p:txBody>
          <a:bodyPr wrap="none" lIns="108000" tIns="36000" rIns="108000" bIns="36000" rtlCol="0" anchor="t">
            <a:spAutoFit/>
          </a:bodyPr>
          <a:lstStyle/>
          <a:p>
            <a:r>
              <a:rPr lang="en-US" altLang="ko-KR" sz="700" smtClean="0">
                <a:solidFill>
                  <a:srgbClr val="DC2832"/>
                </a:solidFill>
                <a:latin typeface="맑은 고딕" panose="020B0503020000020004" pitchFamily="50" charset="-127"/>
              </a:rPr>
              <a:t>01/08(</a:t>
            </a:r>
            <a:r>
              <a:rPr lang="ko-KR" altLang="en-US" sz="700" smtClean="0">
                <a:solidFill>
                  <a:srgbClr val="DC2832"/>
                </a:solidFill>
                <a:latin typeface="맑은 고딕" panose="020B0503020000020004" pitchFamily="50" charset="-127"/>
              </a:rPr>
              <a:t>목</a:t>
            </a:r>
            <a:r>
              <a:rPr lang="en-US" altLang="ko-KR" sz="700" smtClean="0">
                <a:solidFill>
                  <a:srgbClr val="DC2832"/>
                </a:solidFill>
                <a:latin typeface="맑은 고딕" panose="020B0503020000020004" pitchFamily="50" charset="-127"/>
              </a:rPr>
              <a:t>) </a:t>
            </a:r>
            <a:r>
              <a:rPr lang="ko-KR" altLang="en-US" sz="7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도착예정</a:t>
            </a:r>
            <a:endParaRPr lang="ko-KR" altLang="en-US" sz="6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</a:endParaRPr>
          </a:p>
        </p:txBody>
      </p:sp>
      <p:grpSp>
        <p:nvGrpSpPr>
          <p:cNvPr id="305" name="그룹 304"/>
          <p:cNvGrpSpPr/>
          <p:nvPr/>
        </p:nvGrpSpPr>
        <p:grpSpPr>
          <a:xfrm>
            <a:off x="7775687" y="2293484"/>
            <a:ext cx="1017088" cy="360000"/>
            <a:chOff x="7775687" y="1141638"/>
            <a:chExt cx="1017088" cy="360000"/>
          </a:xfrm>
        </p:grpSpPr>
        <p:cxnSp>
          <p:nvCxnSpPr>
            <p:cNvPr id="306" name="직선 연결선 305"/>
            <p:cNvCxnSpPr/>
            <p:nvPr/>
          </p:nvCxnSpPr>
          <p:spPr>
            <a:xfrm>
              <a:off x="7811687" y="1141638"/>
              <a:ext cx="0" cy="360000"/>
            </a:xfrm>
            <a:prstGeom prst="line">
              <a:avLst/>
            </a:prstGeom>
            <a:ln>
              <a:solidFill>
                <a:schemeClr val="accent2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7" name="직선 연결선 306"/>
            <p:cNvCxnSpPr/>
            <p:nvPr/>
          </p:nvCxnSpPr>
          <p:spPr>
            <a:xfrm>
              <a:off x="7775687" y="1141638"/>
              <a:ext cx="72000" cy="0"/>
            </a:xfrm>
            <a:prstGeom prst="line">
              <a:avLst/>
            </a:prstGeom>
            <a:ln>
              <a:solidFill>
                <a:schemeClr val="accent2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9" name="직선 연결선 318"/>
            <p:cNvCxnSpPr/>
            <p:nvPr/>
          </p:nvCxnSpPr>
          <p:spPr>
            <a:xfrm>
              <a:off x="7775687" y="1501638"/>
              <a:ext cx="72000" cy="0"/>
            </a:xfrm>
            <a:prstGeom prst="line">
              <a:avLst/>
            </a:prstGeom>
            <a:ln>
              <a:solidFill>
                <a:schemeClr val="accent2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0" name="TextBox 319"/>
            <p:cNvSpPr txBox="1"/>
            <p:nvPr/>
          </p:nvSpPr>
          <p:spPr>
            <a:xfrm>
              <a:off x="7811687" y="1214914"/>
              <a:ext cx="981088" cy="213447"/>
            </a:xfrm>
            <a:prstGeom prst="rect">
              <a:avLst/>
            </a:prstGeom>
            <a:noFill/>
          </p:spPr>
          <p:txBody>
            <a:bodyPr wrap="none" lIns="72000" tIns="36000" rIns="36000" bIns="36000" rtlCol="0" anchor="ctr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ko-KR" altLang="en-US" sz="700" b="1" u="sng">
                  <a:solidFill>
                    <a:schemeClr val="accent2"/>
                  </a:solidFill>
                  <a:latin typeface="맑은 고딕" panose="020B0503020000020004" pitchFamily="50" charset="-127"/>
                </a:rPr>
                <a:t>기존 배송예정일 안내</a:t>
              </a:r>
              <a:endParaRPr lang="ko-KR" altLang="en-US" sz="700" b="1" u="sng" dirty="0">
                <a:solidFill>
                  <a:schemeClr val="accent2"/>
                </a:solidFill>
                <a:latin typeface="맑은 고딕" panose="020B0503020000020004" pitchFamily="50" charset="-127"/>
              </a:endParaRPr>
            </a:p>
          </p:txBody>
        </p:sp>
      </p:grpSp>
      <p:cxnSp>
        <p:nvCxnSpPr>
          <p:cNvPr id="324" name="직선 연결선 323"/>
          <p:cNvCxnSpPr/>
          <p:nvPr/>
        </p:nvCxnSpPr>
        <p:spPr>
          <a:xfrm>
            <a:off x="3131812" y="2293484"/>
            <a:ext cx="0" cy="720000"/>
          </a:xfrm>
          <a:prstGeom prst="line">
            <a:avLst/>
          </a:prstGeom>
          <a:ln>
            <a:solidFill>
              <a:schemeClr val="accent5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6" name="직선 연결선 325"/>
          <p:cNvCxnSpPr/>
          <p:nvPr/>
        </p:nvCxnSpPr>
        <p:spPr>
          <a:xfrm>
            <a:off x="3095812" y="2293484"/>
            <a:ext cx="72000" cy="0"/>
          </a:xfrm>
          <a:prstGeom prst="line">
            <a:avLst/>
          </a:prstGeom>
          <a:ln>
            <a:solidFill>
              <a:schemeClr val="accent5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9" name="직선 연결선 328"/>
          <p:cNvCxnSpPr/>
          <p:nvPr/>
        </p:nvCxnSpPr>
        <p:spPr>
          <a:xfrm>
            <a:off x="3095812" y="3015144"/>
            <a:ext cx="72000" cy="0"/>
          </a:xfrm>
          <a:prstGeom prst="line">
            <a:avLst/>
          </a:prstGeom>
          <a:ln>
            <a:solidFill>
              <a:schemeClr val="accent5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0" name="TextBox 329"/>
          <p:cNvSpPr txBox="1"/>
          <p:nvPr/>
        </p:nvSpPr>
        <p:spPr>
          <a:xfrm>
            <a:off x="3131812" y="2536341"/>
            <a:ext cx="859260" cy="234286"/>
          </a:xfrm>
          <a:prstGeom prst="rect">
            <a:avLst/>
          </a:prstGeom>
          <a:noFill/>
        </p:spPr>
        <p:txBody>
          <a:bodyPr wrap="none" lIns="72000" tIns="36000" rIns="36000" bIns="36000" rtlCol="0" anchor="ctr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700" b="1" u="sng" smtClean="0">
                <a:solidFill>
                  <a:schemeClr val="accent5"/>
                </a:solidFill>
                <a:latin typeface="맑은 고딕" panose="020B0503020000020004" pitchFamily="50" charset="-127"/>
              </a:rPr>
              <a:t>매장상품배송 </a:t>
            </a:r>
            <a:r>
              <a:rPr lang="ko-KR" altLang="en-US" sz="700" b="1" u="sng">
                <a:solidFill>
                  <a:schemeClr val="accent5"/>
                </a:solidFill>
                <a:latin typeface="맑은 고딕" panose="020B0503020000020004" pitchFamily="50" charset="-127"/>
              </a:rPr>
              <a:t>안내</a:t>
            </a:r>
            <a:endParaRPr lang="ko-KR" altLang="en-US" sz="700" b="1" u="sng" dirty="0">
              <a:solidFill>
                <a:schemeClr val="accent5"/>
              </a:solidFill>
              <a:latin typeface="맑은 고딕" panose="020B0503020000020004" pitchFamily="50" charset="-127"/>
            </a:endParaRPr>
          </a:p>
        </p:txBody>
      </p:sp>
      <p:sp>
        <p:nvSpPr>
          <p:cNvPr id="340" name="타원 339">
            <a:extLst>
              <a:ext uri="{FF2B5EF4-FFF2-40B4-BE49-F238E27FC236}">
                <a16:creationId xmlns:a16="http://schemas.microsoft.com/office/drawing/2014/main" xmlns="" id="{05928B69-0142-4C14-A783-3D8762E5BBE2}"/>
              </a:ext>
            </a:extLst>
          </p:cNvPr>
          <p:cNvSpPr/>
          <p:nvPr/>
        </p:nvSpPr>
        <p:spPr>
          <a:xfrm>
            <a:off x="0" y="2385985"/>
            <a:ext cx="144000" cy="144000"/>
          </a:xfrm>
          <a:prstGeom prst="ellipse">
            <a:avLst/>
          </a:prstGeom>
          <a:solidFill>
            <a:srgbClr val="C00000"/>
          </a:solidFill>
          <a:ln w="3175">
            <a:noFill/>
          </a:ln>
          <a:effectLst>
            <a:outerShdw blurRad="25400" dist="25400" dir="2700000" algn="tl" rotWithShape="0">
              <a:schemeClr val="tx1">
                <a:lumMod val="75000"/>
                <a:lumOff val="2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700" dirty="0">
                <a:solidFill>
                  <a:prstClr val="white"/>
                </a:solidFill>
                <a:latin typeface="맑은 고딕" panose="020B0503020000020004" pitchFamily="50" charset="-127"/>
              </a:rPr>
              <a:t>1</a:t>
            </a:r>
            <a:endParaRPr lang="ko-KR" altLang="en-US" sz="700" dirty="0">
              <a:solidFill>
                <a:prstClr val="white"/>
              </a:solidFill>
              <a:latin typeface="맑은 고딕" panose="020B0503020000020004" pitchFamily="50" charset="-127"/>
            </a:endParaRPr>
          </a:p>
        </p:txBody>
      </p:sp>
      <p:graphicFrame>
        <p:nvGraphicFramePr>
          <p:cNvPr id="99" name="Group 118">
            <a:extLst>
              <a:ext uri="{FF2B5EF4-FFF2-40B4-BE49-F238E27FC236}">
                <a16:creationId xmlns:a16="http://schemas.microsoft.com/office/drawing/2014/main" xmlns="" id="{41B5A014-BEDB-439E-A302-DBCECEC856B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57779619"/>
              </p:ext>
            </p:extLst>
          </p:nvPr>
        </p:nvGraphicFramePr>
        <p:xfrm>
          <a:off x="9647906" y="709700"/>
          <a:ext cx="2376000" cy="1590816"/>
        </p:xfrm>
        <a:graphic>
          <a:graphicData uri="http://schemas.openxmlformats.org/drawingml/2006/table">
            <a:tbl>
              <a:tblPr/>
              <a:tblGrid>
                <a:gridCol w="21600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21600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2520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 Semilight" panose="020B0502040204020203" pitchFamily="50" charset="-127"/>
                        </a:rPr>
                        <a:t>No</a:t>
                      </a:r>
                    </a:p>
                  </a:txBody>
                  <a:tcPr marL="42203" marR="42203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en-US" altLang="ko-KR" sz="700" b="0" baseline="0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 Semilight" panose="020B0502040204020203" pitchFamily="50" charset="-127"/>
                        </a:rPr>
                        <a:t>Description</a:t>
                      </a:r>
                    </a:p>
                  </a:txBody>
                  <a:tcPr marL="108000" marR="108000" marT="36000" marB="3600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 Semilight" panose="020B0502040204020203" pitchFamily="50" charset="-127"/>
                        </a:rPr>
                        <a:t>1</a:t>
                      </a:r>
                    </a:p>
                  </a:txBody>
                  <a:tcPr marL="42203" marR="42203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ko-KR" altLang="en-US" sz="700" b="0" baseline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  <a:cs typeface="Malgun Gothic Semilight" panose="020B0502040204020203" pitchFamily="50" charset="-127"/>
                        </a:rPr>
                        <a:t>주문 상품 정보 영역</a:t>
                      </a:r>
                      <a:endParaRPr lang="en-US" altLang="ko-KR" sz="700" b="0" baseline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  <a:cs typeface="Malgun Gothic Semilight" panose="020B0502040204020203" pitchFamily="50" charset="-127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en-US" altLang="ko-KR" sz="700" b="0" baseline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  <a:cs typeface="Malgun Gothic Semilight" panose="020B0502040204020203" pitchFamily="50" charset="-127"/>
                        </a:rPr>
                        <a:t> - </a:t>
                      </a:r>
                      <a:r>
                        <a:rPr lang="ko-KR" altLang="en-US" sz="700" b="0" baseline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  <a:cs typeface="Malgun Gothic Semilight" panose="020B0502040204020203" pitchFamily="50" charset="-127"/>
                        </a:rPr>
                        <a:t>배송 안내 영역에 </a:t>
                      </a:r>
                      <a:r>
                        <a:rPr lang="en-US" altLang="ko-KR" sz="700" b="0" baseline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  <a:cs typeface="Malgun Gothic Semilight" panose="020B0502040204020203" pitchFamily="50" charset="-127"/>
                        </a:rPr>
                        <a:t>‘</a:t>
                      </a:r>
                      <a:r>
                        <a:rPr lang="ko-KR" altLang="en-US" sz="700" b="0" baseline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  <a:cs typeface="Malgun Gothic Semilight" panose="020B0502040204020203" pitchFamily="50" charset="-127"/>
                        </a:rPr>
                        <a:t>매장상품배송</a:t>
                      </a:r>
                      <a:r>
                        <a:rPr lang="en-US" altLang="ko-KR" sz="700" b="0" baseline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  <a:cs typeface="Malgun Gothic Semilight" panose="020B0502040204020203" pitchFamily="50" charset="-127"/>
                        </a:rPr>
                        <a:t>’ </a:t>
                      </a:r>
                      <a:r>
                        <a:rPr lang="ko-KR" altLang="en-US" sz="700" b="0" baseline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  <a:cs typeface="Malgun Gothic Semilight" panose="020B0502040204020203" pitchFamily="50" charset="-127"/>
                        </a:rPr>
                        <a:t>정보 표현</a:t>
                      </a:r>
                      <a:endParaRPr lang="en-US" altLang="ko-KR" sz="700" b="0" baseline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108000" marR="108000" marT="36000" marB="3600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 Semilight" panose="020B0502040204020203" pitchFamily="50" charset="-127"/>
                        </a:rPr>
                        <a:t>2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42203" marR="42203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ko-KR" altLang="en-US" sz="700" b="0" baseline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  <a:cs typeface="Malgun Gothic Semilight" panose="020B0502040204020203" pitchFamily="50" charset="-127"/>
                        </a:rPr>
                        <a:t>주문 상품 정보 영역</a:t>
                      </a:r>
                      <a:endParaRPr lang="en-US" altLang="ko-KR" sz="700" b="0" baseline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  <a:cs typeface="Malgun Gothic Semilight" panose="020B0502040204020203" pitchFamily="50" charset="-127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en-US" altLang="ko-KR" sz="700" b="0" baseline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  <a:cs typeface="Malgun Gothic Semilight" panose="020B0502040204020203" pitchFamily="50" charset="-127"/>
                        </a:rPr>
                        <a:t> - ‘</a:t>
                      </a:r>
                      <a:r>
                        <a:rPr lang="ko-KR" altLang="en-US" sz="700" b="0" baseline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  <a:cs typeface="Malgun Gothic Semilight" panose="020B0502040204020203" pitchFamily="50" charset="-127"/>
                        </a:rPr>
                        <a:t>결제완료</a:t>
                      </a:r>
                      <a:r>
                        <a:rPr lang="en-US" altLang="ko-KR" sz="700" b="0" baseline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  <a:cs typeface="Malgun Gothic Semilight" panose="020B0502040204020203" pitchFamily="50" charset="-127"/>
                        </a:rPr>
                        <a:t>’ / ‘</a:t>
                      </a:r>
                      <a:r>
                        <a:rPr lang="ko-KR" altLang="en-US" sz="700" b="0" baseline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  <a:cs typeface="Malgun Gothic Semilight" panose="020B0502040204020203" pitchFamily="50" charset="-127"/>
                        </a:rPr>
                        <a:t>상품준비중</a:t>
                      </a:r>
                      <a:r>
                        <a:rPr lang="en-US" altLang="ko-KR" sz="700" b="0" baseline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  <a:cs typeface="Malgun Gothic Semilight" panose="020B0502040204020203" pitchFamily="50" charset="-127"/>
                        </a:rPr>
                        <a:t>’ </a:t>
                      </a:r>
                      <a:r>
                        <a:rPr lang="ko-KR" altLang="en-US" sz="700" b="0" baseline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  <a:cs typeface="Malgun Gothic Semilight" panose="020B0502040204020203" pitchFamily="50" charset="-127"/>
                        </a:rPr>
                        <a:t>까지 옵션변경 불가</a:t>
                      </a:r>
                      <a:endParaRPr lang="en-US" altLang="ko-KR" sz="700" b="0" baseline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  <a:cs typeface="Malgun Gothic Semilight" panose="020B0502040204020203" pitchFamily="50" charset="-127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en-US" altLang="ko-KR" sz="700" b="0" baseline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  <a:cs typeface="Malgun Gothic Semilight" panose="020B0502040204020203" pitchFamily="50" charset="-127"/>
                        </a:rPr>
                        <a:t> - ‘</a:t>
                      </a:r>
                      <a:r>
                        <a:rPr lang="ko-KR" altLang="en-US" sz="700" b="0" baseline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  <a:cs typeface="Malgun Gothic Semilight" panose="020B0502040204020203" pitchFamily="50" charset="-127"/>
                        </a:rPr>
                        <a:t>배송중</a:t>
                      </a:r>
                      <a:r>
                        <a:rPr lang="en-US" altLang="ko-KR" sz="700" b="0" baseline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  <a:cs typeface="Malgun Gothic Semilight" panose="020B0502040204020203" pitchFamily="50" charset="-127"/>
                        </a:rPr>
                        <a:t>’ </a:t>
                      </a:r>
                      <a:r>
                        <a:rPr lang="ko-KR" altLang="en-US" sz="700" b="0" baseline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  <a:cs typeface="Malgun Gothic Semilight" panose="020B0502040204020203" pitchFamily="50" charset="-127"/>
                        </a:rPr>
                        <a:t>상태부터는 기본 로직과 동일</a:t>
                      </a:r>
                      <a:endParaRPr lang="en-US" altLang="ko-KR" sz="700" b="0" baseline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  <a:cs typeface="Malgun Gothic Semilight" panose="020B0502040204020203" pitchFamily="50" charset="-127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en-US" altLang="ko-KR" sz="700" b="0" baseline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  <a:cs typeface="Malgun Gothic Semilight" panose="020B0502040204020203" pitchFamily="50" charset="-127"/>
                        </a:rPr>
                        <a:t> - [</a:t>
                      </a:r>
                      <a:r>
                        <a:rPr lang="ko-KR" altLang="en-US" sz="700" b="0" baseline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  <a:cs typeface="Malgun Gothic Semilight" panose="020B0502040204020203" pitchFamily="50" charset="-127"/>
                        </a:rPr>
                        <a:t>옵션변경</a:t>
                      </a:r>
                      <a:r>
                        <a:rPr lang="en-US" altLang="ko-KR" sz="700" b="0" baseline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  <a:cs typeface="Malgun Gothic Semilight" panose="020B0502040204020203" pitchFamily="50" charset="-127"/>
                        </a:rPr>
                        <a:t>] </a:t>
                      </a:r>
                      <a:r>
                        <a:rPr lang="ko-KR" altLang="en-US" sz="700" b="0" baseline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  <a:cs typeface="Malgun Gothic Semilight" panose="020B0502040204020203" pitchFamily="50" charset="-127"/>
                        </a:rPr>
                        <a:t>버튼 미노출</a:t>
                      </a:r>
                      <a:endParaRPr lang="en-US" altLang="ko-KR" sz="700" b="0" baseline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  <a:cs typeface="Malgun Gothic Semilight" panose="020B0502040204020203" pitchFamily="50" charset="-127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en-US" altLang="ko-KR" sz="700" b="0" baseline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  <a:cs typeface="Malgun Gothic Semilight" panose="020B0502040204020203" pitchFamily="50" charset="-127"/>
                        </a:rPr>
                        <a:t> - </a:t>
                      </a:r>
                      <a:r>
                        <a:rPr lang="ko-KR" altLang="en-US" sz="700" b="0" baseline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  <a:cs typeface="Malgun Gothic Semilight" panose="020B0502040204020203" pitchFamily="50" charset="-127"/>
                        </a:rPr>
                        <a:t>하단 안내 문구 표시</a:t>
                      </a:r>
                      <a:endParaRPr lang="en-US" altLang="ko-KR" sz="700" b="0" baseline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  <a:cs typeface="Malgun Gothic Semilight" panose="020B0502040204020203" pitchFamily="50" charset="-127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en-US" altLang="ko-KR" sz="700" b="0" baseline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  <a:cs typeface="Malgun Gothic Semilight" panose="020B0502040204020203" pitchFamily="50" charset="-127"/>
                        </a:rPr>
                        <a:t> ※ </a:t>
                      </a:r>
                      <a:r>
                        <a:rPr lang="ko-KR" altLang="en-US" sz="700" b="0" baseline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  <a:cs typeface="Malgun Gothic Semilight" panose="020B0502040204020203" pitchFamily="50" charset="-127"/>
                        </a:rPr>
                        <a:t>주문 즉시 </a:t>
                      </a:r>
                      <a:r>
                        <a:rPr lang="en-US" altLang="ko-KR" sz="700" b="0" baseline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  <a:cs typeface="Malgun Gothic Semilight" panose="020B0502040204020203" pitchFamily="50" charset="-127"/>
                        </a:rPr>
                        <a:t>‘</a:t>
                      </a:r>
                      <a:r>
                        <a:rPr lang="ko-KR" altLang="en-US" sz="700" b="0" baseline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  <a:cs typeface="Malgun Gothic Semilight" panose="020B0502040204020203" pitchFamily="50" charset="-127"/>
                        </a:rPr>
                        <a:t>물량이동지시</a:t>
                      </a:r>
                      <a:r>
                        <a:rPr lang="en-US" altLang="ko-KR" sz="700" b="0" baseline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  <a:cs typeface="Malgun Gothic Semilight" panose="020B0502040204020203" pitchFamily="50" charset="-127"/>
                        </a:rPr>
                        <a:t>’ </a:t>
                      </a:r>
                      <a:r>
                        <a:rPr lang="ko-KR" altLang="en-US" sz="700" b="0" baseline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  <a:cs typeface="Malgun Gothic Semilight" panose="020B0502040204020203" pitchFamily="50" charset="-127"/>
                        </a:rPr>
                        <a:t>가 진행되므로</a:t>
                      </a:r>
                      <a:r>
                        <a:rPr lang="en-US" altLang="ko-KR" sz="700" b="0" baseline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  <a:cs typeface="Malgun Gothic Semilight" panose="020B0502040204020203" pitchFamily="50" charset="-127"/>
                        </a:rPr>
                        <a:t>, </a:t>
                      </a:r>
                      <a:r>
                        <a:rPr lang="ko-KR" altLang="en-US" sz="700" b="0" baseline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  <a:cs typeface="Malgun Gothic Semilight" panose="020B0502040204020203" pitchFamily="50" charset="-127"/>
                        </a:rPr>
                        <a:t>옵션 변경을 할 경우 이슈가 많이 발생하므로</a:t>
                      </a:r>
                      <a:r>
                        <a:rPr lang="en-US" altLang="ko-KR" sz="700" b="0" baseline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  <a:cs typeface="Malgun Gothic Semilight" panose="020B0502040204020203" pitchFamily="50" charset="-127"/>
                        </a:rPr>
                        <a:t>, </a:t>
                      </a:r>
                      <a:r>
                        <a:rPr lang="ko-KR" altLang="en-US" sz="700" b="0" baseline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  <a:cs typeface="Malgun Gothic Semilight" panose="020B0502040204020203" pitchFamily="50" charset="-127"/>
                        </a:rPr>
                        <a:t>옵션변경을 할 수 없도록 제어</a:t>
                      </a:r>
                      <a:endParaRPr lang="en-US" altLang="ko-KR" sz="700" b="0" baseline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  <a:cs typeface="Malgun Gothic Semilight" panose="020B0502040204020203" pitchFamily="50" charset="-127"/>
                      </a:endParaRPr>
                    </a:p>
                  </a:txBody>
                  <a:tcPr marL="108000" marR="108000" marT="36000" marB="3600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  <p:grpSp>
        <p:nvGrpSpPr>
          <p:cNvPr id="104" name="그룹 103"/>
          <p:cNvGrpSpPr/>
          <p:nvPr/>
        </p:nvGrpSpPr>
        <p:grpSpPr>
          <a:xfrm>
            <a:off x="1081179" y="2404197"/>
            <a:ext cx="1641879" cy="144000"/>
            <a:chOff x="1043785" y="3012651"/>
            <a:chExt cx="1641879" cy="144000"/>
          </a:xfrm>
        </p:grpSpPr>
        <p:sp>
          <p:nvSpPr>
            <p:cNvPr id="105" name="TextBox 104">
              <a:extLst>
                <a:ext uri="{FF2B5EF4-FFF2-40B4-BE49-F238E27FC236}">
                  <a16:creationId xmlns="" xmlns:a16="http://schemas.microsoft.com/office/drawing/2014/main" id="{0C96C875-C47F-4F5B-B4C1-F9D666A7BD9D}"/>
                </a:ext>
              </a:extLst>
            </p:cNvPr>
            <p:cNvSpPr txBox="1"/>
            <p:nvPr/>
          </p:nvSpPr>
          <p:spPr>
            <a:xfrm>
              <a:off x="1043785" y="3030790"/>
              <a:ext cx="1641879" cy="107722"/>
            </a:xfrm>
            <a:prstGeom prst="rect">
              <a:avLst/>
            </a:prstGeom>
            <a:noFill/>
            <a:ln w="3175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none" lIns="756000" tIns="0" rIns="108000" bIns="0" numCol="1" rtlCol="0" anchor="ctr" anchorCtr="0" compatLnSpc="1">
              <a:prstTxWarp prst="textNoShape">
                <a:avLst/>
              </a:prstTxWarp>
              <a:spAutoFit/>
            </a:bodyPr>
            <a:lstStyle>
              <a:defPPr>
                <a:defRPr lang="ko-KR"/>
              </a:defPPr>
              <a:lvl1pPr>
                <a:defRPr sz="800">
                  <a:solidFill>
                    <a:prstClr val="black">
                      <a:lumMod val="75000"/>
                      <a:lumOff val="25000"/>
                    </a:prstClr>
                  </a:solidFill>
                  <a:latin typeface="맑은 고딕" panose="020B0503020000020004" pitchFamily="50" charset="-127"/>
                </a:defRPr>
              </a:lvl1pPr>
            </a:lstStyle>
            <a:p>
              <a:r>
                <a:rPr lang="en-US" altLang="ko-KR" sz="700">
                  <a:solidFill>
                    <a:srgbClr val="DC2832"/>
                  </a:solidFill>
                </a:rPr>
                <a:t>01/14(</a:t>
              </a:r>
              <a:r>
                <a:rPr lang="ko-KR" altLang="en-US" sz="700">
                  <a:solidFill>
                    <a:srgbClr val="DC2832"/>
                  </a:solidFill>
                </a:rPr>
                <a:t>수</a:t>
              </a:r>
              <a:r>
                <a:rPr lang="en-US" altLang="ko-KR" sz="700">
                  <a:solidFill>
                    <a:srgbClr val="DC2832"/>
                  </a:solidFill>
                </a:rPr>
                <a:t>) </a:t>
              </a:r>
              <a:r>
                <a:rPr lang="ko-KR" altLang="en-US" sz="70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도착예정</a:t>
              </a:r>
              <a:endParaRPr lang="ko-KR" altLang="en-US" sz="700" dirty="0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</p:txBody>
        </p:sp>
        <p:sp>
          <p:nvSpPr>
            <p:cNvPr id="106" name="직사각형 105"/>
            <p:cNvSpPr/>
            <p:nvPr/>
          </p:nvSpPr>
          <p:spPr>
            <a:xfrm>
              <a:off x="1151755" y="3012651"/>
              <a:ext cx="576000" cy="144000"/>
            </a:xfrm>
            <a:prstGeom prst="rect">
              <a:avLst/>
            </a:prstGeom>
            <a:gradFill flip="none" rotWithShape="1">
              <a:gsLst>
                <a:gs pos="0">
                  <a:schemeClr val="accent5">
                    <a:lumMod val="75000"/>
                  </a:schemeClr>
                </a:gs>
                <a:gs pos="50000">
                  <a:schemeClr val="accent5"/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0" scaled="1"/>
              <a:tileRect/>
            </a:gra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600" smtClean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매장상품배송</a:t>
              </a:r>
              <a:endParaRPr lang="ko-KR" altLang="en-US" sz="60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sp>
        <p:nvSpPr>
          <p:cNvPr id="101" name="타원 100">
            <a:extLst>
              <a:ext uri="{FF2B5EF4-FFF2-40B4-BE49-F238E27FC236}">
                <a16:creationId xmlns:a16="http://schemas.microsoft.com/office/drawing/2014/main" xmlns="" id="{05928B69-0142-4C14-A783-3D8762E5BBE2}"/>
              </a:ext>
            </a:extLst>
          </p:cNvPr>
          <p:cNvSpPr/>
          <p:nvPr/>
        </p:nvSpPr>
        <p:spPr>
          <a:xfrm>
            <a:off x="2159781" y="2798823"/>
            <a:ext cx="144000" cy="144000"/>
          </a:xfrm>
          <a:prstGeom prst="ellipse">
            <a:avLst/>
          </a:prstGeom>
          <a:solidFill>
            <a:srgbClr val="C00000"/>
          </a:solidFill>
          <a:ln w="3175">
            <a:noFill/>
          </a:ln>
          <a:effectLst>
            <a:outerShdw blurRad="25400" dist="25400" dir="2700000" algn="tl" rotWithShape="0">
              <a:schemeClr val="tx1">
                <a:lumMod val="75000"/>
                <a:lumOff val="2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700" smtClean="0">
                <a:solidFill>
                  <a:prstClr val="white"/>
                </a:solidFill>
                <a:latin typeface="맑은 고딕" panose="020B0503020000020004" pitchFamily="50" charset="-127"/>
              </a:rPr>
              <a:t>2</a:t>
            </a:r>
            <a:endParaRPr lang="ko-KR" altLang="en-US" sz="700" dirty="0">
              <a:solidFill>
                <a:prstClr val="white"/>
              </a:solidFill>
              <a:latin typeface="맑은 고딕" panose="020B0503020000020004" pitchFamily="50" charset="-127"/>
            </a:endParaRPr>
          </a:p>
        </p:txBody>
      </p:sp>
      <p:grpSp>
        <p:nvGrpSpPr>
          <p:cNvPr id="4" name="그룹 3"/>
          <p:cNvGrpSpPr/>
          <p:nvPr/>
        </p:nvGrpSpPr>
        <p:grpSpPr>
          <a:xfrm>
            <a:off x="145023" y="3305172"/>
            <a:ext cx="2880156" cy="3196718"/>
            <a:chOff x="145023" y="3087144"/>
            <a:chExt cx="2880156" cy="3196718"/>
          </a:xfrm>
        </p:grpSpPr>
        <p:sp>
          <p:nvSpPr>
            <p:cNvPr id="135" name="직사각형 134">
              <a:extLst>
                <a:ext uri="{FF2B5EF4-FFF2-40B4-BE49-F238E27FC236}">
                  <a16:creationId xmlns:a16="http://schemas.microsoft.com/office/drawing/2014/main" xmlns="" id="{8392E679-C745-496E-8916-C656AE57791E}"/>
                </a:ext>
              </a:extLst>
            </p:cNvPr>
            <p:cNvSpPr/>
            <p:nvPr/>
          </p:nvSpPr>
          <p:spPr>
            <a:xfrm>
              <a:off x="145179" y="3087144"/>
              <a:ext cx="2880000" cy="720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800" dirty="0"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136" name="직사각형 135">
              <a:extLst>
                <a:ext uri="{FF2B5EF4-FFF2-40B4-BE49-F238E27FC236}">
                  <a16:creationId xmlns:a16="http://schemas.microsoft.com/office/drawing/2014/main" xmlns="" id="{F9776C3A-3D6C-4965-9DA5-D76F1E6E1639}"/>
                </a:ext>
              </a:extLst>
            </p:cNvPr>
            <p:cNvSpPr/>
            <p:nvPr/>
          </p:nvSpPr>
          <p:spPr>
            <a:xfrm>
              <a:off x="145179" y="3158787"/>
              <a:ext cx="2880000" cy="432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800"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137" name="TextBox 136">
              <a:extLst>
                <a:ext uri="{FF2B5EF4-FFF2-40B4-BE49-F238E27FC236}">
                  <a16:creationId xmlns:a16="http://schemas.microsoft.com/office/drawing/2014/main" xmlns="" id="{0C96C875-C47F-4F5B-B4C1-F9D666A7BD9D}"/>
                </a:ext>
              </a:extLst>
            </p:cNvPr>
            <p:cNvSpPr txBox="1"/>
            <p:nvPr/>
          </p:nvSpPr>
          <p:spPr>
            <a:xfrm>
              <a:off x="289179" y="3276880"/>
              <a:ext cx="483072" cy="195814"/>
            </a:xfrm>
            <a:prstGeom prst="rect">
              <a:avLst/>
            </a:prstGeom>
            <a:noFill/>
            <a:ln w="3175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none" lIns="36000" tIns="36000" rIns="36000" bIns="36000" numCol="1" rtlCol="0" anchor="ctr" anchorCtr="0" compatLnSpc="1">
              <a:prstTxWarp prst="textNoShape">
                <a:avLst/>
              </a:prstTxWarp>
              <a:spAutoFit/>
            </a:bodyPr>
            <a:lstStyle/>
            <a:p>
              <a:r>
                <a:rPr lang="ko-KR" altLang="en-US" sz="800" b="1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배송정보</a:t>
              </a:r>
              <a:endParaRPr lang="ko-KR" altLang="en-US" sz="800" b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138" name="모서리가 둥근 직사각형 137">
              <a:extLst>
                <a:ext uri="{FF2B5EF4-FFF2-40B4-BE49-F238E27FC236}">
                  <a16:creationId xmlns:a16="http://schemas.microsoft.com/office/drawing/2014/main" xmlns="" id="{F9776C3A-3D6C-4965-9DA5-D76F1E6E1639}"/>
                </a:ext>
              </a:extLst>
            </p:cNvPr>
            <p:cNvSpPr/>
            <p:nvPr/>
          </p:nvSpPr>
          <p:spPr>
            <a:xfrm>
              <a:off x="2160590" y="3266787"/>
              <a:ext cx="720000" cy="216000"/>
            </a:xfrm>
            <a:prstGeom prst="roundRect">
              <a:avLst/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800" smtClean="0">
                  <a:solidFill>
                    <a:prstClr val="black">
                      <a:lumMod val="75000"/>
                      <a:lumOff val="25000"/>
                    </a:prstClr>
                  </a:solidFill>
                  <a:latin typeface="맑은 고딕" panose="020B0503020000020004" pitchFamily="50" charset="-127"/>
                </a:rPr>
                <a:t>배송지변경</a:t>
              </a:r>
              <a:endParaRPr lang="ko-KR" altLang="en-US" sz="800"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139" name="직사각형 138">
              <a:extLst>
                <a:ext uri="{FF2B5EF4-FFF2-40B4-BE49-F238E27FC236}">
                  <a16:creationId xmlns:a16="http://schemas.microsoft.com/office/drawing/2014/main" xmlns="" id="{F9776C3A-3D6C-4965-9DA5-D76F1E6E1639}"/>
                </a:ext>
              </a:extLst>
            </p:cNvPr>
            <p:cNvSpPr/>
            <p:nvPr/>
          </p:nvSpPr>
          <p:spPr>
            <a:xfrm>
              <a:off x="145023" y="3591956"/>
              <a:ext cx="2880000" cy="2088000"/>
            </a:xfrm>
            <a:prstGeom prst="rect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800"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154" name="직사각형 153">
              <a:extLst>
                <a:ext uri="{FF2B5EF4-FFF2-40B4-BE49-F238E27FC236}">
                  <a16:creationId xmlns:a16="http://schemas.microsoft.com/office/drawing/2014/main" xmlns="" id="{F9776C3A-3D6C-4965-9DA5-D76F1E6E1639}"/>
                </a:ext>
              </a:extLst>
            </p:cNvPr>
            <p:cNvSpPr/>
            <p:nvPr/>
          </p:nvSpPr>
          <p:spPr>
            <a:xfrm>
              <a:off x="145179" y="5537591"/>
              <a:ext cx="2880000" cy="432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800"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156" name="TextBox 155">
              <a:extLst>
                <a:ext uri="{FF2B5EF4-FFF2-40B4-BE49-F238E27FC236}">
                  <a16:creationId xmlns:a16="http://schemas.microsoft.com/office/drawing/2014/main" xmlns="" id="{0C96C875-C47F-4F5B-B4C1-F9D666A7BD9D}"/>
                </a:ext>
              </a:extLst>
            </p:cNvPr>
            <p:cNvSpPr txBox="1"/>
            <p:nvPr/>
          </p:nvSpPr>
          <p:spPr>
            <a:xfrm>
              <a:off x="289179" y="5655684"/>
              <a:ext cx="483072" cy="195814"/>
            </a:xfrm>
            <a:prstGeom prst="rect">
              <a:avLst/>
            </a:prstGeom>
            <a:noFill/>
            <a:ln w="3175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none" lIns="36000" tIns="36000" rIns="36000" bIns="36000" numCol="1" rtlCol="0" anchor="ctr" anchorCtr="0" compatLnSpc="1">
              <a:prstTxWarp prst="textNoShape">
                <a:avLst/>
              </a:prstTxWarp>
              <a:spAutoFit/>
            </a:bodyPr>
            <a:lstStyle/>
            <a:p>
              <a:r>
                <a:rPr lang="ko-KR" altLang="en-US" sz="800" b="1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결제금액</a:t>
              </a:r>
              <a:endParaRPr lang="ko-KR" altLang="en-US" sz="800" b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153" name="직사각형 152">
              <a:extLst>
                <a:ext uri="{FF2B5EF4-FFF2-40B4-BE49-F238E27FC236}">
                  <a16:creationId xmlns:a16="http://schemas.microsoft.com/office/drawing/2014/main" xmlns="" id="{8392E679-C745-496E-8916-C656AE57791E}"/>
                </a:ext>
              </a:extLst>
            </p:cNvPr>
            <p:cNvSpPr/>
            <p:nvPr/>
          </p:nvSpPr>
          <p:spPr>
            <a:xfrm>
              <a:off x="145179" y="5464043"/>
              <a:ext cx="2880000" cy="720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800" dirty="0"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140" name="직사각형 139">
              <a:extLst>
                <a:ext uri="{FF2B5EF4-FFF2-40B4-BE49-F238E27FC236}">
                  <a16:creationId xmlns:a16="http://schemas.microsoft.com/office/drawing/2014/main" xmlns="" id="{19FD5FA0-B111-4EF7-BC86-418441928DD3}"/>
                </a:ext>
              </a:extLst>
            </p:cNvPr>
            <p:cNvSpPr/>
            <p:nvPr/>
          </p:nvSpPr>
          <p:spPr>
            <a:xfrm>
              <a:off x="1153179" y="3709633"/>
              <a:ext cx="380480" cy="195814"/>
            </a:xfrm>
            <a:prstGeom prst="rect">
              <a:avLst/>
            </a:prstGeom>
            <a:noFill/>
            <a:ln w="3175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none" lIns="36000" tIns="36000" rIns="36000" bIns="36000" numCol="1" rtlCol="0" anchor="ctr" anchorCtr="0" compatLnSpc="1">
              <a:prstTxWarp prst="textNoShape">
                <a:avLst/>
              </a:prstTxWarp>
              <a:spAutoFit/>
            </a:bodyPr>
            <a:lstStyle/>
            <a:p>
              <a:r>
                <a:rPr lang="ko-KR" altLang="en-US" sz="80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홍길동</a:t>
              </a:r>
            </a:p>
          </p:txBody>
        </p:sp>
        <p:sp>
          <p:nvSpPr>
            <p:cNvPr id="141" name="TextBox 140">
              <a:extLst>
                <a:ext uri="{FF2B5EF4-FFF2-40B4-BE49-F238E27FC236}">
                  <a16:creationId xmlns:a16="http://schemas.microsoft.com/office/drawing/2014/main" xmlns="" id="{0C96C875-C47F-4F5B-B4C1-F9D666A7BD9D}"/>
                </a:ext>
              </a:extLst>
            </p:cNvPr>
            <p:cNvSpPr txBox="1"/>
            <p:nvPr/>
          </p:nvSpPr>
          <p:spPr>
            <a:xfrm>
              <a:off x="289179" y="3709633"/>
              <a:ext cx="622534" cy="195814"/>
            </a:xfrm>
            <a:prstGeom prst="rect">
              <a:avLst/>
            </a:prstGeom>
            <a:noFill/>
            <a:ln w="3175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none" lIns="36000" tIns="36000" rIns="36000" bIns="36000" numCol="1" rtlCol="0" anchor="ctr" anchorCtr="0" compatLnSpc="1">
              <a:prstTxWarp prst="textNoShape">
                <a:avLst/>
              </a:prstTxWarp>
              <a:spAutoFit/>
            </a:bodyPr>
            <a:lstStyle/>
            <a:p>
              <a:r>
                <a:rPr lang="ko-KR" altLang="en-US" sz="80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주문하신 분</a:t>
              </a:r>
              <a:endParaRPr lang="ko-KR" altLang="en-US" sz="7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159" name="직사각형 158">
              <a:extLst>
                <a:ext uri="{FF2B5EF4-FFF2-40B4-BE49-F238E27FC236}">
                  <a16:creationId xmlns:a16="http://schemas.microsoft.com/office/drawing/2014/main" xmlns="" id="{19FD5FA0-B111-4EF7-BC86-418441928DD3}"/>
                </a:ext>
              </a:extLst>
            </p:cNvPr>
            <p:cNvSpPr/>
            <p:nvPr/>
          </p:nvSpPr>
          <p:spPr>
            <a:xfrm>
              <a:off x="1153179" y="3997789"/>
              <a:ext cx="734744" cy="195814"/>
            </a:xfrm>
            <a:prstGeom prst="rect">
              <a:avLst/>
            </a:prstGeom>
            <a:noFill/>
            <a:ln w="3175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none" lIns="36000" tIns="36000" rIns="36000" bIns="36000" numCol="1" rtlCol="0" anchor="ctr" anchorCtr="0" compatLnSpc="1">
              <a:prstTxWarp prst="textNoShape">
                <a:avLst/>
              </a:prstTxWarp>
              <a:spAutoFit/>
            </a:bodyPr>
            <a:lstStyle/>
            <a:p>
              <a:r>
                <a:rPr lang="en-US" altLang="ko-KR" sz="80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Hong Gildong</a:t>
              </a:r>
              <a:endParaRPr lang="ko-KR" altLang="en-US" sz="8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162" name="TextBox 161">
              <a:extLst>
                <a:ext uri="{FF2B5EF4-FFF2-40B4-BE49-F238E27FC236}">
                  <a16:creationId xmlns:a16="http://schemas.microsoft.com/office/drawing/2014/main" xmlns="" id="{0C96C875-C47F-4F5B-B4C1-F9D666A7BD9D}"/>
                </a:ext>
              </a:extLst>
            </p:cNvPr>
            <p:cNvSpPr txBox="1"/>
            <p:nvPr/>
          </p:nvSpPr>
          <p:spPr>
            <a:xfrm>
              <a:off x="289179" y="3997789"/>
              <a:ext cx="622534" cy="195814"/>
            </a:xfrm>
            <a:prstGeom prst="rect">
              <a:avLst/>
            </a:prstGeom>
            <a:noFill/>
            <a:ln w="3175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none" lIns="36000" tIns="36000" rIns="36000" bIns="36000" numCol="1" rtlCol="0" anchor="ctr" anchorCtr="0" compatLnSpc="1">
              <a:prstTxWarp prst="textNoShape">
                <a:avLst/>
              </a:prstTxWarp>
              <a:spAutoFit/>
            </a:bodyPr>
            <a:lstStyle/>
            <a:p>
              <a:r>
                <a:rPr lang="ko-KR" altLang="en-US" sz="80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받으시는 분</a:t>
              </a:r>
              <a:endParaRPr lang="ko-KR" altLang="en-US" sz="7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170" name="직사각형 169">
              <a:extLst>
                <a:ext uri="{FF2B5EF4-FFF2-40B4-BE49-F238E27FC236}">
                  <a16:creationId xmlns:a16="http://schemas.microsoft.com/office/drawing/2014/main" xmlns="" id="{19FD5FA0-B111-4EF7-BC86-418441928DD3}"/>
                </a:ext>
              </a:extLst>
            </p:cNvPr>
            <p:cNvSpPr/>
            <p:nvPr/>
          </p:nvSpPr>
          <p:spPr>
            <a:xfrm>
              <a:off x="1153179" y="4285718"/>
              <a:ext cx="1470522" cy="195814"/>
            </a:xfrm>
            <a:prstGeom prst="rect">
              <a:avLst/>
            </a:prstGeom>
            <a:noFill/>
            <a:ln w="3175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none" lIns="36000" tIns="36000" rIns="36000" bIns="36000" numCol="1" rtlCol="0" anchor="ctr" anchorCtr="0" compatLnSpc="1">
              <a:prstTxWarp prst="textNoShape">
                <a:avLst/>
              </a:prstTxWarp>
              <a:spAutoFit/>
            </a:bodyPr>
            <a:lstStyle/>
            <a:p>
              <a:r>
                <a:rPr lang="ko-KR" altLang="en-US" sz="80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서울시 강남구 언주로 </a:t>
              </a:r>
              <a:r>
                <a:rPr lang="en-US" altLang="ko-KR" sz="80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872 6</a:t>
              </a:r>
              <a:r>
                <a:rPr lang="ko-KR" altLang="en-US" sz="80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층</a:t>
              </a:r>
              <a:endParaRPr lang="ko-KR" altLang="en-US" sz="8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171" name="TextBox 170">
              <a:extLst>
                <a:ext uri="{FF2B5EF4-FFF2-40B4-BE49-F238E27FC236}">
                  <a16:creationId xmlns:a16="http://schemas.microsoft.com/office/drawing/2014/main" xmlns="" id="{0C96C875-C47F-4F5B-B4C1-F9D666A7BD9D}"/>
                </a:ext>
              </a:extLst>
            </p:cNvPr>
            <p:cNvSpPr txBox="1"/>
            <p:nvPr/>
          </p:nvSpPr>
          <p:spPr>
            <a:xfrm>
              <a:off x="289179" y="4285718"/>
              <a:ext cx="277888" cy="195814"/>
            </a:xfrm>
            <a:prstGeom prst="rect">
              <a:avLst/>
            </a:prstGeom>
            <a:noFill/>
            <a:ln w="3175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none" lIns="36000" tIns="36000" rIns="36000" bIns="36000" numCol="1" rtlCol="0" anchor="ctr" anchorCtr="0" compatLnSpc="1">
              <a:prstTxWarp prst="textNoShape">
                <a:avLst/>
              </a:prstTxWarp>
              <a:spAutoFit/>
            </a:bodyPr>
            <a:lstStyle/>
            <a:p>
              <a:r>
                <a:rPr lang="ko-KR" altLang="en-US" sz="80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주소</a:t>
              </a:r>
              <a:endParaRPr lang="ko-KR" altLang="en-US" sz="7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175" name="직사각형 174">
              <a:extLst>
                <a:ext uri="{FF2B5EF4-FFF2-40B4-BE49-F238E27FC236}">
                  <a16:creationId xmlns:a16="http://schemas.microsoft.com/office/drawing/2014/main" xmlns="" id="{19FD5FA0-B111-4EF7-BC86-418441928DD3}"/>
                </a:ext>
              </a:extLst>
            </p:cNvPr>
            <p:cNvSpPr/>
            <p:nvPr/>
          </p:nvSpPr>
          <p:spPr>
            <a:xfrm>
              <a:off x="1153179" y="4573874"/>
              <a:ext cx="156059" cy="195814"/>
            </a:xfrm>
            <a:prstGeom prst="rect">
              <a:avLst/>
            </a:prstGeom>
            <a:noFill/>
            <a:ln w="3175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none" lIns="36000" tIns="36000" rIns="36000" bIns="36000" numCol="1" rtlCol="0" anchor="ctr" anchorCtr="0" compatLnSpc="1">
              <a:prstTxWarp prst="textNoShape">
                <a:avLst/>
              </a:prstTxWarp>
              <a:spAutoFit/>
            </a:bodyPr>
            <a:lstStyle/>
            <a:p>
              <a:r>
                <a:rPr lang="en-US" altLang="ko-KR" sz="80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--</a:t>
              </a:r>
              <a:endParaRPr lang="ko-KR" altLang="en-US" sz="8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176" name="TextBox 175">
              <a:extLst>
                <a:ext uri="{FF2B5EF4-FFF2-40B4-BE49-F238E27FC236}">
                  <a16:creationId xmlns:a16="http://schemas.microsoft.com/office/drawing/2014/main" xmlns="" id="{0C96C875-C47F-4F5B-B4C1-F9D666A7BD9D}"/>
                </a:ext>
              </a:extLst>
            </p:cNvPr>
            <p:cNvSpPr txBox="1"/>
            <p:nvPr/>
          </p:nvSpPr>
          <p:spPr>
            <a:xfrm>
              <a:off x="289179" y="4573874"/>
              <a:ext cx="483072" cy="195814"/>
            </a:xfrm>
            <a:prstGeom prst="rect">
              <a:avLst/>
            </a:prstGeom>
            <a:noFill/>
            <a:ln w="3175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none" lIns="36000" tIns="36000" rIns="36000" bIns="36000" numCol="1" rtlCol="0" anchor="ctr" anchorCtr="0" compatLnSpc="1">
              <a:prstTxWarp prst="textNoShape">
                <a:avLst/>
              </a:prstTxWarp>
              <a:spAutoFit/>
            </a:bodyPr>
            <a:lstStyle/>
            <a:p>
              <a:r>
                <a:rPr lang="ko-KR" altLang="en-US" sz="80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일반전화</a:t>
              </a:r>
              <a:endParaRPr lang="ko-KR" altLang="en-US" sz="7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184" name="직사각형 183">
              <a:extLst>
                <a:ext uri="{FF2B5EF4-FFF2-40B4-BE49-F238E27FC236}">
                  <a16:creationId xmlns:a16="http://schemas.microsoft.com/office/drawing/2014/main" xmlns="" id="{19FD5FA0-B111-4EF7-BC86-418441928DD3}"/>
                </a:ext>
              </a:extLst>
            </p:cNvPr>
            <p:cNvSpPr/>
            <p:nvPr/>
          </p:nvSpPr>
          <p:spPr>
            <a:xfrm>
              <a:off x="1153179" y="4861980"/>
              <a:ext cx="773216" cy="195814"/>
            </a:xfrm>
            <a:prstGeom prst="rect">
              <a:avLst/>
            </a:prstGeom>
            <a:noFill/>
            <a:ln w="3175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none" lIns="36000" tIns="36000" rIns="36000" bIns="36000" numCol="1" rtlCol="0" anchor="ctr" anchorCtr="0" compatLnSpc="1">
              <a:prstTxWarp prst="textNoShape">
                <a:avLst/>
              </a:prstTxWarp>
              <a:spAutoFit/>
            </a:bodyPr>
            <a:lstStyle/>
            <a:p>
              <a:r>
                <a:rPr lang="en-US" altLang="ko-KR" sz="80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010-1234-5678</a:t>
              </a:r>
              <a:endParaRPr lang="ko-KR" altLang="en-US" sz="8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185" name="TextBox 184">
              <a:extLst>
                <a:ext uri="{FF2B5EF4-FFF2-40B4-BE49-F238E27FC236}">
                  <a16:creationId xmlns:a16="http://schemas.microsoft.com/office/drawing/2014/main" xmlns="" id="{0C96C875-C47F-4F5B-B4C1-F9D666A7BD9D}"/>
                </a:ext>
              </a:extLst>
            </p:cNvPr>
            <p:cNvSpPr txBox="1"/>
            <p:nvPr/>
          </p:nvSpPr>
          <p:spPr>
            <a:xfrm>
              <a:off x="289179" y="4861980"/>
              <a:ext cx="483072" cy="195814"/>
            </a:xfrm>
            <a:prstGeom prst="rect">
              <a:avLst/>
            </a:prstGeom>
            <a:noFill/>
            <a:ln w="3175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none" lIns="36000" tIns="36000" rIns="36000" bIns="36000" numCol="1" rtlCol="0" anchor="ctr" anchorCtr="0" compatLnSpc="1">
              <a:prstTxWarp prst="textNoShape">
                <a:avLst/>
              </a:prstTxWarp>
              <a:spAutoFit/>
            </a:bodyPr>
            <a:lstStyle/>
            <a:p>
              <a:r>
                <a:rPr lang="ko-KR" altLang="en-US" sz="80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휴대전화</a:t>
              </a:r>
              <a:endParaRPr lang="ko-KR" altLang="en-US" sz="7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181" name="직사각형 180">
              <a:extLst>
                <a:ext uri="{FF2B5EF4-FFF2-40B4-BE49-F238E27FC236}">
                  <a16:creationId xmlns:a16="http://schemas.microsoft.com/office/drawing/2014/main" xmlns="" id="{19FD5FA0-B111-4EF7-BC86-418441928DD3}"/>
                </a:ext>
              </a:extLst>
            </p:cNvPr>
            <p:cNvSpPr/>
            <p:nvPr/>
          </p:nvSpPr>
          <p:spPr>
            <a:xfrm>
              <a:off x="1153179" y="5150136"/>
              <a:ext cx="967179" cy="195814"/>
            </a:xfrm>
            <a:prstGeom prst="rect">
              <a:avLst/>
            </a:prstGeom>
            <a:noFill/>
            <a:ln w="3175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none" lIns="36000" tIns="36000" rIns="36000" bIns="36000" numCol="1" rtlCol="0" anchor="ctr" anchorCtr="0" compatLnSpc="1">
              <a:prstTxWarp prst="textNoShape">
                <a:avLst/>
              </a:prstTxWarp>
              <a:spAutoFit/>
            </a:bodyPr>
            <a:lstStyle/>
            <a:p>
              <a:r>
                <a:rPr lang="ko-KR" altLang="en-US" sz="80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문 앞에 놓아주세요</a:t>
              </a:r>
              <a:endParaRPr lang="ko-KR" altLang="en-US" sz="8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182" name="TextBox 181">
              <a:extLst>
                <a:ext uri="{FF2B5EF4-FFF2-40B4-BE49-F238E27FC236}">
                  <a16:creationId xmlns:a16="http://schemas.microsoft.com/office/drawing/2014/main" xmlns="" id="{0C96C875-C47F-4F5B-B4C1-F9D666A7BD9D}"/>
                </a:ext>
              </a:extLst>
            </p:cNvPr>
            <p:cNvSpPr txBox="1"/>
            <p:nvPr/>
          </p:nvSpPr>
          <p:spPr>
            <a:xfrm>
              <a:off x="289179" y="5150136"/>
              <a:ext cx="483072" cy="195814"/>
            </a:xfrm>
            <a:prstGeom prst="rect">
              <a:avLst/>
            </a:prstGeom>
            <a:noFill/>
            <a:ln w="3175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none" lIns="36000" tIns="36000" rIns="36000" bIns="36000" numCol="1" rtlCol="0" anchor="ctr" anchorCtr="0" compatLnSpc="1">
              <a:prstTxWarp prst="textNoShape">
                <a:avLst/>
              </a:prstTxWarp>
              <a:spAutoFit/>
            </a:bodyPr>
            <a:lstStyle/>
            <a:p>
              <a:r>
                <a:rPr lang="ko-KR" altLang="en-US" sz="80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배송메모</a:t>
              </a:r>
              <a:endParaRPr lang="ko-KR" altLang="en-US" sz="7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195" name="TextBox 194">
              <a:extLst>
                <a:ext uri="{FF2B5EF4-FFF2-40B4-BE49-F238E27FC236}">
                  <a16:creationId xmlns:a16="http://schemas.microsoft.com/office/drawing/2014/main" xmlns="" id="{0C96C875-C47F-4F5B-B4C1-F9D666A7BD9D}"/>
                </a:ext>
              </a:extLst>
            </p:cNvPr>
            <p:cNvSpPr txBox="1"/>
            <p:nvPr/>
          </p:nvSpPr>
          <p:spPr>
            <a:xfrm>
              <a:off x="2322176" y="5655684"/>
              <a:ext cx="558414" cy="195814"/>
            </a:xfrm>
            <a:prstGeom prst="rect">
              <a:avLst/>
            </a:prstGeom>
            <a:noFill/>
            <a:ln w="3175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none" lIns="36000" tIns="36000" rIns="36000" bIns="36000" numCol="1" rtlCol="0" anchor="ctr" anchorCtr="0" compatLnSpc="1">
              <a:prstTxWarp prst="textNoShape">
                <a:avLst/>
              </a:prstTxWarp>
              <a:spAutoFit/>
            </a:bodyPr>
            <a:lstStyle/>
            <a:p>
              <a:pPr algn="r"/>
              <a:r>
                <a:rPr lang="en-US" altLang="ko-KR" sz="800" b="1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169,570</a:t>
              </a:r>
              <a:r>
                <a:rPr lang="ko-KR" altLang="en-US" sz="800" b="1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원</a:t>
              </a:r>
            </a:p>
          </p:txBody>
        </p:sp>
        <p:sp>
          <p:nvSpPr>
            <p:cNvPr id="203" name="직사각형 202">
              <a:extLst>
                <a:ext uri="{FF2B5EF4-FFF2-40B4-BE49-F238E27FC236}">
                  <a16:creationId xmlns:a16="http://schemas.microsoft.com/office/drawing/2014/main" xmlns="" id="{19FD5FA0-B111-4EF7-BC86-418441928DD3}"/>
                </a:ext>
              </a:extLst>
            </p:cNvPr>
            <p:cNvSpPr/>
            <p:nvPr/>
          </p:nvSpPr>
          <p:spPr>
            <a:xfrm>
              <a:off x="2346222" y="6088048"/>
              <a:ext cx="534368" cy="195814"/>
            </a:xfrm>
            <a:prstGeom prst="rect">
              <a:avLst/>
            </a:prstGeom>
            <a:noFill/>
            <a:ln w="3175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none" lIns="36000" tIns="36000" rIns="36000" bIns="36000" numCol="1" rtlCol="0" anchor="ctr" anchorCtr="0" compatLnSpc="1">
              <a:prstTxWarp prst="textNoShape">
                <a:avLst/>
              </a:prstTxWarp>
              <a:spAutoFit/>
            </a:bodyPr>
            <a:lstStyle/>
            <a:p>
              <a:pPr algn="r"/>
              <a:r>
                <a:rPr lang="en-US" altLang="ko-KR" sz="80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210,000</a:t>
              </a:r>
              <a:r>
                <a:rPr lang="ko-KR" altLang="en-US" sz="80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원</a:t>
              </a:r>
              <a:endParaRPr lang="ko-KR" altLang="en-US" sz="8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205" name="TextBox 204">
              <a:extLst>
                <a:ext uri="{FF2B5EF4-FFF2-40B4-BE49-F238E27FC236}">
                  <a16:creationId xmlns:a16="http://schemas.microsoft.com/office/drawing/2014/main" xmlns="" id="{0C96C875-C47F-4F5B-B4C1-F9D666A7BD9D}"/>
                </a:ext>
              </a:extLst>
            </p:cNvPr>
            <p:cNvSpPr txBox="1"/>
            <p:nvPr/>
          </p:nvSpPr>
          <p:spPr>
            <a:xfrm>
              <a:off x="289179" y="6088048"/>
              <a:ext cx="483072" cy="195814"/>
            </a:xfrm>
            <a:prstGeom prst="rect">
              <a:avLst/>
            </a:prstGeom>
            <a:noFill/>
            <a:ln w="3175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none" lIns="36000" tIns="36000" rIns="36000" bIns="36000" numCol="1" rtlCol="0" anchor="ctr" anchorCtr="0" compatLnSpc="1">
              <a:prstTxWarp prst="textNoShape">
                <a:avLst/>
              </a:prstTxWarp>
              <a:spAutoFit/>
            </a:bodyPr>
            <a:lstStyle/>
            <a:p>
              <a:r>
                <a:rPr lang="ko-KR" altLang="en-US" sz="80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상품금액</a:t>
              </a:r>
              <a:endParaRPr lang="ko-KR" altLang="en-US" sz="7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endParaRPr>
            </a:p>
          </p:txBody>
        </p:sp>
      </p:grpSp>
      <p:sp>
        <p:nvSpPr>
          <p:cNvPr id="110" name="TextBox 109"/>
          <p:cNvSpPr txBox="1"/>
          <p:nvPr/>
        </p:nvSpPr>
        <p:spPr>
          <a:xfrm>
            <a:off x="289179" y="3042328"/>
            <a:ext cx="1383960" cy="165036"/>
          </a:xfrm>
          <a:prstGeom prst="rect">
            <a:avLst/>
          </a:prstGeom>
          <a:noFill/>
        </p:spPr>
        <p:txBody>
          <a:bodyPr wrap="none" lIns="36000" tIns="36000" rIns="36000" bIns="36000" rtlCol="0" anchor="ctr">
            <a:spAutoFit/>
          </a:bodyPr>
          <a:lstStyle/>
          <a:p>
            <a:r>
              <a:rPr lang="ko-KR" altLang="en-US" sz="600" smtClean="0">
                <a:solidFill>
                  <a:schemeClr val="tx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</a:rPr>
              <a:t>매장상품은 </a:t>
            </a:r>
            <a:r>
              <a:rPr lang="en-US" altLang="ko-KR" sz="600" smtClean="0">
                <a:solidFill>
                  <a:schemeClr val="tx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</a:rPr>
              <a:t>[</a:t>
            </a:r>
            <a:r>
              <a:rPr lang="ko-KR" altLang="en-US" sz="600" smtClean="0">
                <a:solidFill>
                  <a:schemeClr val="tx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</a:rPr>
              <a:t>옵션변경</a:t>
            </a:r>
            <a:r>
              <a:rPr lang="en-US" altLang="ko-KR" sz="600" smtClean="0">
                <a:solidFill>
                  <a:schemeClr val="tx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</a:rPr>
              <a:t>] </a:t>
            </a:r>
            <a:r>
              <a:rPr lang="ko-KR" altLang="en-US" sz="600" smtClean="0">
                <a:solidFill>
                  <a:schemeClr val="tx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</a:rPr>
              <a:t>이 불가합니다</a:t>
            </a:r>
            <a:endParaRPr lang="ko-KR" altLang="en-US" sz="600">
              <a:solidFill>
                <a:schemeClr val="tx1">
                  <a:lumMod val="50000"/>
                  <a:lumOff val="50000"/>
                </a:schemeClr>
              </a:solidFill>
              <a:latin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612768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>
            <a:extLst>
              <a:ext uri="{FF2B5EF4-FFF2-40B4-BE49-F238E27FC236}">
                <a16:creationId xmlns:a16="http://schemas.microsoft.com/office/drawing/2014/main" xmlns="" id="{19FD5FA0-B111-4EF7-BC86-418441928DD3}"/>
              </a:ext>
            </a:extLst>
          </p:cNvPr>
          <p:cNvSpPr/>
          <p:nvPr/>
        </p:nvSpPr>
        <p:spPr>
          <a:xfrm>
            <a:off x="143906" y="1213972"/>
            <a:ext cx="9360000" cy="360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xmlns="" id="{6D9BB653-AF81-4298-B091-70A88A5E3296}"/>
              </a:ext>
            </a:extLst>
          </p:cNvPr>
          <p:cNvCxnSpPr>
            <a:cxnSpLocks/>
          </p:cNvCxnSpPr>
          <p:nvPr/>
        </p:nvCxnSpPr>
        <p:spPr>
          <a:xfrm>
            <a:off x="1896859" y="1060149"/>
            <a:ext cx="2520000" cy="0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직사각형 10">
            <a:extLst>
              <a:ext uri="{FF2B5EF4-FFF2-40B4-BE49-F238E27FC236}">
                <a16:creationId xmlns:a16="http://schemas.microsoft.com/office/drawing/2014/main" xmlns="" id="{1A86E461-8FB6-4FBD-BC34-A6A5D4CE53FA}"/>
              </a:ext>
            </a:extLst>
          </p:cNvPr>
          <p:cNvSpPr/>
          <p:nvPr/>
        </p:nvSpPr>
        <p:spPr>
          <a:xfrm>
            <a:off x="863906" y="1213972"/>
            <a:ext cx="360000" cy="360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xmlns="" id="{0C96C875-C47F-4F5B-B4C1-F9D666A7BD9D}"/>
              </a:ext>
            </a:extLst>
          </p:cNvPr>
          <p:cNvSpPr txBox="1"/>
          <p:nvPr/>
        </p:nvSpPr>
        <p:spPr>
          <a:xfrm>
            <a:off x="1223718" y="1296065"/>
            <a:ext cx="665348" cy="195814"/>
          </a:xfrm>
          <a:prstGeom prst="rect">
            <a:avLst/>
          </a:prstGeom>
          <a:noFill/>
          <a:ln w="317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108000" tIns="36000" rIns="108000" bIns="36000" numCol="1" rtlCol="0" anchor="ctr" anchorCtr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브랜드 ▼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xmlns="" id="{5656929D-49CE-4863-BDE5-0203E9C9C242}"/>
              </a:ext>
            </a:extLst>
          </p:cNvPr>
          <p:cNvSpPr txBox="1"/>
          <p:nvPr/>
        </p:nvSpPr>
        <p:spPr>
          <a:xfrm>
            <a:off x="1892260" y="1296065"/>
            <a:ext cx="423294" cy="195814"/>
          </a:xfrm>
          <a:prstGeom prst="rect">
            <a:avLst/>
          </a:prstGeom>
          <a:noFill/>
          <a:ln w="317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108000" tIns="36000" rIns="108000" bIns="36000" numCol="1" rtlCol="0" anchor="ctr" anchorCtr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여성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xmlns="" id="{CCF668A2-5ACD-4B85-BB91-BA428C62F804}"/>
              </a:ext>
            </a:extLst>
          </p:cNvPr>
          <p:cNvSpPr txBox="1"/>
          <p:nvPr/>
        </p:nvSpPr>
        <p:spPr>
          <a:xfrm>
            <a:off x="2317459" y="1296065"/>
            <a:ext cx="423294" cy="195814"/>
          </a:xfrm>
          <a:prstGeom prst="rect">
            <a:avLst/>
          </a:prstGeom>
          <a:noFill/>
          <a:ln w="317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108000" tIns="36000" rIns="108000" bIns="36000" numCol="1" rtlCol="0" anchor="ctr" anchorCtr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ko-KR" altLang="en-US" sz="80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남성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xmlns="" id="{15451AD2-D42D-4C9C-A654-73B0C330CF95}"/>
              </a:ext>
            </a:extLst>
          </p:cNvPr>
          <p:cNvSpPr txBox="1"/>
          <p:nvPr/>
        </p:nvSpPr>
        <p:spPr>
          <a:xfrm>
            <a:off x="2742658" y="1296065"/>
            <a:ext cx="668554" cy="195814"/>
          </a:xfrm>
          <a:prstGeom prst="rect">
            <a:avLst/>
          </a:prstGeom>
          <a:noFill/>
          <a:ln w="317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108000" tIns="36000" rIns="108000" bIns="36000" numCol="1" rtlCol="0" anchor="ctr" anchorCtr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잡화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/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슈즈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xmlns="" id="{6FB2EDFD-942A-4F5B-85FB-A1872509A015}"/>
              </a:ext>
            </a:extLst>
          </p:cNvPr>
          <p:cNvSpPr txBox="1"/>
          <p:nvPr/>
        </p:nvSpPr>
        <p:spPr>
          <a:xfrm>
            <a:off x="3413117" y="1296065"/>
            <a:ext cx="525886" cy="195814"/>
          </a:xfrm>
          <a:prstGeom prst="rect">
            <a:avLst/>
          </a:prstGeom>
          <a:noFill/>
          <a:ln w="317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108000" tIns="36000" rIns="108000" bIns="36000" numCol="1" rtlCol="0" anchor="ctr" anchorCtr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ko-KR" altLang="en-US" sz="8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베스트</a:t>
            </a:r>
            <a:endParaRPr lang="ko-KR" altLang="en-US" sz="80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xmlns="" id="{C412F599-C13F-441D-9DFA-33F4CBBCD43C}"/>
              </a:ext>
            </a:extLst>
          </p:cNvPr>
          <p:cNvSpPr txBox="1"/>
          <p:nvPr/>
        </p:nvSpPr>
        <p:spPr>
          <a:xfrm>
            <a:off x="3940950" y="1296065"/>
            <a:ext cx="771146" cy="195814"/>
          </a:xfrm>
          <a:prstGeom prst="rect">
            <a:avLst/>
          </a:prstGeom>
          <a:noFill/>
          <a:ln w="317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108000" tIns="36000" rIns="108000" bIns="36000" numCol="1" rtlCol="0" anchor="ctr" anchorCtr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ko-KR" altLang="en-US" sz="8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기획전</a:t>
            </a:r>
            <a:r>
              <a:rPr lang="en-US" altLang="ko-KR" sz="8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/</a:t>
            </a:r>
            <a:r>
              <a:rPr lang="ko-KR" altLang="en-US" sz="8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혜택</a:t>
            </a:r>
            <a:endParaRPr lang="ko-KR" altLang="en-US" sz="80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xmlns="" id="{914E81C0-732C-40E3-A382-8D825E138F47}"/>
              </a:ext>
            </a:extLst>
          </p:cNvPr>
          <p:cNvSpPr txBox="1"/>
          <p:nvPr/>
        </p:nvSpPr>
        <p:spPr>
          <a:xfrm>
            <a:off x="4714001" y="1296065"/>
            <a:ext cx="771146" cy="195814"/>
          </a:xfrm>
          <a:prstGeom prst="rect">
            <a:avLst/>
          </a:prstGeom>
          <a:noFill/>
          <a:ln w="317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108000" tIns="36000" rIns="108000" bIns="36000" numCol="1" rtlCol="0" anchor="ctr" anchorCtr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ko-KR" altLang="en-US" sz="8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골프</a:t>
            </a:r>
            <a:r>
              <a:rPr lang="en-US" altLang="ko-KR" sz="8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/</a:t>
            </a:r>
            <a:r>
              <a:rPr lang="ko-KR" altLang="en-US" sz="8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스포츠</a:t>
            </a:r>
            <a:endParaRPr lang="ko-KR" altLang="en-US" sz="80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xmlns="" id="{F5BB1519-0A10-4599-BA0E-83E5C1E40980}"/>
              </a:ext>
            </a:extLst>
          </p:cNvPr>
          <p:cNvSpPr txBox="1"/>
          <p:nvPr/>
        </p:nvSpPr>
        <p:spPr>
          <a:xfrm>
            <a:off x="5487052" y="1296065"/>
            <a:ext cx="665348" cy="195814"/>
          </a:xfrm>
          <a:prstGeom prst="rect">
            <a:avLst/>
          </a:prstGeom>
          <a:noFill/>
          <a:ln w="317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108000" tIns="36000" rIns="108000" bIns="36000" numCol="1" rtlCol="0" anchor="ctr" anchorCtr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아울렛 ▼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xmlns="" id="{600628EB-D7C2-4AF0-95D5-38B744B745C6}"/>
              </a:ext>
            </a:extLst>
          </p:cNvPr>
          <p:cNvSpPr txBox="1"/>
          <p:nvPr/>
        </p:nvSpPr>
        <p:spPr>
          <a:xfrm>
            <a:off x="6153537" y="1296065"/>
            <a:ext cx="525886" cy="195814"/>
          </a:xfrm>
          <a:prstGeom prst="rect">
            <a:avLst/>
          </a:prstGeom>
          <a:noFill/>
          <a:ln w="317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108000" tIns="36000" rIns="108000" bIns="36000" numCol="1" rtlCol="0" anchor="ctr" anchorCtr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ko-KR" altLang="en-US" sz="8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선물관</a:t>
            </a:r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xmlns="" id="{2FE06637-5393-45C3-9213-5E14D8C55631}"/>
              </a:ext>
            </a:extLst>
          </p:cNvPr>
          <p:cNvSpPr txBox="1"/>
          <p:nvPr/>
        </p:nvSpPr>
        <p:spPr>
          <a:xfrm>
            <a:off x="8140533" y="1303760"/>
            <a:ext cx="643373" cy="180425"/>
          </a:xfrm>
          <a:prstGeom prst="rect">
            <a:avLst/>
          </a:prstGeom>
          <a:noFill/>
          <a:ln w="317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36000" tIns="36000" rIns="36000" bIns="36000" numCol="1" rtlCol="0" anchor="ctr" anchorCtr="0" compatLnSpc="1">
            <a:prstTxWarp prst="textNoShape">
              <a:avLst/>
            </a:prstTxWarp>
            <a:spAutoFit/>
          </a:bodyPr>
          <a:lstStyle/>
          <a:p>
            <a:pPr algn="r"/>
            <a:r>
              <a:rPr lang="ko-KR" altLang="en-US" sz="70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최근본상품 ▼</a:t>
            </a:r>
          </a:p>
        </p:txBody>
      </p:sp>
      <p:sp>
        <p:nvSpPr>
          <p:cNvPr id="22" name="타원 21">
            <a:extLst>
              <a:ext uri="{FF2B5EF4-FFF2-40B4-BE49-F238E27FC236}">
                <a16:creationId xmlns:a16="http://schemas.microsoft.com/office/drawing/2014/main" xmlns="" id="{4CE33ED0-6BB3-4AEF-A2B1-A5BAB425B289}"/>
              </a:ext>
            </a:extLst>
          </p:cNvPr>
          <p:cNvSpPr/>
          <p:nvPr/>
        </p:nvSpPr>
        <p:spPr>
          <a:xfrm>
            <a:off x="7922628" y="1285972"/>
            <a:ext cx="216000" cy="216000"/>
          </a:xfrm>
          <a:prstGeom prst="ellipse">
            <a:avLst/>
          </a:prstGeom>
          <a:pattFill prst="openDmnd">
            <a:fgClr>
              <a:schemeClr val="bg1">
                <a:lumMod val="75000"/>
              </a:schemeClr>
            </a:fgClr>
            <a:bgClr>
              <a:schemeClr val="bg1"/>
            </a:bgClr>
          </a:patt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23" name="그룹 22"/>
          <p:cNvGrpSpPr/>
          <p:nvPr/>
        </p:nvGrpSpPr>
        <p:grpSpPr>
          <a:xfrm>
            <a:off x="876529" y="761094"/>
            <a:ext cx="1013101" cy="400110"/>
            <a:chOff x="876529" y="1085094"/>
            <a:chExt cx="1013101" cy="400110"/>
          </a:xfrm>
        </p:grpSpPr>
        <p:grpSp>
          <p:nvGrpSpPr>
            <p:cNvPr id="24" name="그룹 23"/>
            <p:cNvGrpSpPr/>
            <p:nvPr/>
          </p:nvGrpSpPr>
          <p:grpSpPr>
            <a:xfrm>
              <a:off x="876529" y="1177149"/>
              <a:ext cx="324000" cy="216000"/>
              <a:chOff x="557006" y="817700"/>
              <a:chExt cx="181800" cy="108000"/>
            </a:xfrm>
            <a:solidFill>
              <a:schemeClr val="tx1">
                <a:lumMod val="75000"/>
                <a:lumOff val="25000"/>
              </a:schemeClr>
            </a:solidFill>
          </p:grpSpPr>
          <p:sp>
            <p:nvSpPr>
              <p:cNvPr id="26" name="직사각형 25"/>
              <p:cNvSpPr/>
              <p:nvPr/>
            </p:nvSpPr>
            <p:spPr>
              <a:xfrm>
                <a:off x="557006" y="817700"/>
                <a:ext cx="36000" cy="108000"/>
              </a:xfrm>
              <a:prstGeom prst="rect">
                <a:avLst/>
              </a:prstGeom>
              <a:grpFill/>
              <a:ln w="31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80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  <p:sp>
            <p:nvSpPr>
              <p:cNvPr id="27" name="타원 26"/>
              <p:cNvSpPr/>
              <p:nvPr/>
            </p:nvSpPr>
            <p:spPr>
              <a:xfrm>
                <a:off x="603806" y="889700"/>
                <a:ext cx="36000" cy="36000"/>
              </a:xfrm>
              <a:prstGeom prst="ellipse">
                <a:avLst/>
              </a:prstGeom>
              <a:grpFill/>
              <a:ln w="31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80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  <p:sp>
            <p:nvSpPr>
              <p:cNvPr id="28" name="직사각형 27"/>
              <p:cNvSpPr/>
              <p:nvPr/>
            </p:nvSpPr>
            <p:spPr>
              <a:xfrm>
                <a:off x="656006" y="817700"/>
                <a:ext cx="36000" cy="108000"/>
              </a:xfrm>
              <a:prstGeom prst="rect">
                <a:avLst/>
              </a:prstGeom>
              <a:grpFill/>
              <a:ln w="31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80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  <p:sp>
            <p:nvSpPr>
              <p:cNvPr id="29" name="타원 28"/>
              <p:cNvSpPr/>
              <p:nvPr/>
            </p:nvSpPr>
            <p:spPr>
              <a:xfrm>
                <a:off x="702806" y="817700"/>
                <a:ext cx="36000" cy="36000"/>
              </a:xfrm>
              <a:prstGeom prst="ellipse">
                <a:avLst/>
              </a:prstGeom>
              <a:grpFill/>
              <a:ln w="31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80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  <p:sp>
            <p:nvSpPr>
              <p:cNvPr id="30" name="타원 29"/>
              <p:cNvSpPr/>
              <p:nvPr/>
            </p:nvSpPr>
            <p:spPr>
              <a:xfrm>
                <a:off x="702806" y="871700"/>
                <a:ext cx="36000" cy="36000"/>
              </a:xfrm>
              <a:prstGeom prst="ellipse">
                <a:avLst/>
              </a:prstGeom>
              <a:grpFill/>
              <a:ln w="31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80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</p:grpSp>
        <p:sp>
          <p:nvSpPr>
            <p:cNvPr id="25" name="TextBox 24"/>
            <p:cNvSpPr txBox="1"/>
            <p:nvPr/>
          </p:nvSpPr>
          <p:spPr>
            <a:xfrm>
              <a:off x="1187194" y="1085094"/>
              <a:ext cx="702436" cy="400110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r>
                <a:rPr lang="en-US" altLang="ko-KR" sz="2000" b="1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mall</a:t>
              </a:r>
              <a:endParaRPr lang="ko-KR" alt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grpSp>
        <p:nvGrpSpPr>
          <p:cNvPr id="31" name="그룹 30"/>
          <p:cNvGrpSpPr/>
          <p:nvPr/>
        </p:nvGrpSpPr>
        <p:grpSpPr>
          <a:xfrm>
            <a:off x="4272859" y="862149"/>
            <a:ext cx="144000" cy="144000"/>
            <a:chOff x="1007189" y="1604594"/>
            <a:chExt cx="180000" cy="180000"/>
          </a:xfrm>
        </p:grpSpPr>
        <p:sp>
          <p:nvSpPr>
            <p:cNvPr id="32" name="직사각형 31"/>
            <p:cNvSpPr/>
            <p:nvPr/>
          </p:nvSpPr>
          <p:spPr>
            <a:xfrm>
              <a:off x="1007189" y="1604594"/>
              <a:ext cx="180000" cy="180000"/>
            </a:xfrm>
            <a:prstGeom prst="rect">
              <a:avLst/>
            </a:prstGeom>
            <a:no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8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grpSp>
          <p:nvGrpSpPr>
            <p:cNvPr id="33" name="그룹 32"/>
            <p:cNvGrpSpPr/>
            <p:nvPr/>
          </p:nvGrpSpPr>
          <p:grpSpPr>
            <a:xfrm>
              <a:off x="1007190" y="1604594"/>
              <a:ext cx="179999" cy="180000"/>
              <a:chOff x="774028" y="1604594"/>
              <a:chExt cx="179999" cy="180000"/>
            </a:xfrm>
          </p:grpSpPr>
          <p:sp>
            <p:nvSpPr>
              <p:cNvPr id="34" name="타원 33"/>
              <p:cNvSpPr/>
              <p:nvPr/>
            </p:nvSpPr>
            <p:spPr>
              <a:xfrm>
                <a:off x="774028" y="1604594"/>
                <a:ext cx="126000" cy="126000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80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  <p:cxnSp>
            <p:nvCxnSpPr>
              <p:cNvPr id="35" name="직선 연결선 34"/>
              <p:cNvCxnSpPr/>
              <p:nvPr/>
            </p:nvCxnSpPr>
            <p:spPr>
              <a:xfrm>
                <a:off x="900027" y="1730594"/>
                <a:ext cx="54000" cy="54000"/>
              </a:xfrm>
              <a:prstGeom prst="line">
                <a:avLst/>
              </a:prstGeom>
              <a:solidFill>
                <a:schemeClr val="bg1"/>
              </a:solidFill>
              <a:ln w="9525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</p:grpSp>
      <p:cxnSp>
        <p:nvCxnSpPr>
          <p:cNvPr id="36" name="직선 연결선 35"/>
          <p:cNvCxnSpPr/>
          <p:nvPr/>
        </p:nvCxnSpPr>
        <p:spPr>
          <a:xfrm>
            <a:off x="971906" y="1340530"/>
            <a:ext cx="144000" cy="0"/>
          </a:xfrm>
          <a:prstGeom prst="line">
            <a:avLst/>
          </a:prstGeom>
          <a:ln w="63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직선 연결선 36"/>
          <p:cNvCxnSpPr/>
          <p:nvPr/>
        </p:nvCxnSpPr>
        <p:spPr>
          <a:xfrm>
            <a:off x="971906" y="1447414"/>
            <a:ext cx="144000" cy="0"/>
          </a:xfrm>
          <a:prstGeom prst="line">
            <a:avLst/>
          </a:prstGeom>
          <a:ln w="63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직선 연결선 37"/>
          <p:cNvCxnSpPr/>
          <p:nvPr/>
        </p:nvCxnSpPr>
        <p:spPr>
          <a:xfrm>
            <a:off x="971906" y="1393972"/>
            <a:ext cx="144000" cy="0"/>
          </a:xfrm>
          <a:prstGeom prst="line">
            <a:avLst/>
          </a:prstGeom>
          <a:ln w="63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9" name="그룹 38"/>
          <p:cNvGrpSpPr/>
          <p:nvPr/>
        </p:nvGrpSpPr>
        <p:grpSpPr>
          <a:xfrm>
            <a:off x="7160059" y="781333"/>
            <a:ext cx="303536" cy="352151"/>
            <a:chOff x="7219058" y="781333"/>
            <a:chExt cx="303536" cy="352151"/>
          </a:xfrm>
        </p:grpSpPr>
        <p:sp>
          <p:nvSpPr>
            <p:cNvPr id="40" name="직사각형 39">
              <a:extLst>
                <a:ext uri="{FF2B5EF4-FFF2-40B4-BE49-F238E27FC236}">
                  <a16:creationId xmlns:a16="http://schemas.microsoft.com/office/drawing/2014/main" xmlns="" id="{C1EFF5AB-B75F-4E4E-96DC-C13DFC7EFBE4}"/>
                </a:ext>
              </a:extLst>
            </p:cNvPr>
            <p:cNvSpPr/>
            <p:nvPr/>
          </p:nvSpPr>
          <p:spPr>
            <a:xfrm>
              <a:off x="7219058" y="968448"/>
              <a:ext cx="303536" cy="165036"/>
            </a:xfrm>
            <a:prstGeom prst="rect">
              <a:avLst/>
            </a:prstGeom>
            <a:no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36000" tIns="36000" rIns="36000" bIns="36000" rtlCol="0" anchor="ctr">
              <a:spAutoFit/>
            </a:bodyPr>
            <a:lstStyle/>
            <a:p>
              <a:pPr algn="ctr"/>
              <a:r>
                <a:rPr lang="ko-KR" altLang="en-US" sz="60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로그인</a:t>
              </a:r>
              <a:endParaRPr lang="ko-KR" altLang="en-US" sz="6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grpSp>
          <p:nvGrpSpPr>
            <p:cNvPr id="41" name="그룹 40"/>
            <p:cNvGrpSpPr/>
            <p:nvPr/>
          </p:nvGrpSpPr>
          <p:grpSpPr>
            <a:xfrm>
              <a:off x="7280826" y="781333"/>
              <a:ext cx="180000" cy="180000"/>
              <a:chOff x="7280826" y="781333"/>
              <a:chExt cx="180000" cy="180000"/>
            </a:xfrm>
          </p:grpSpPr>
          <p:sp>
            <p:nvSpPr>
              <p:cNvPr id="42" name="직사각형 41"/>
              <p:cNvSpPr/>
              <p:nvPr/>
            </p:nvSpPr>
            <p:spPr>
              <a:xfrm>
                <a:off x="7280826" y="781333"/>
                <a:ext cx="180000" cy="180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80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  <p:sp>
            <p:nvSpPr>
              <p:cNvPr id="43" name="직사각형 42"/>
              <p:cNvSpPr/>
              <p:nvPr/>
            </p:nvSpPr>
            <p:spPr>
              <a:xfrm>
                <a:off x="7298826" y="799368"/>
                <a:ext cx="90000" cy="144000"/>
              </a:xfrm>
              <a:prstGeom prst="rect">
                <a:avLst/>
              </a:prstGeom>
              <a:grpFill/>
              <a:ln w="635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80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  <p:cxnSp>
            <p:nvCxnSpPr>
              <p:cNvPr id="44" name="직선 연결선 43"/>
              <p:cNvCxnSpPr/>
              <p:nvPr/>
            </p:nvCxnSpPr>
            <p:spPr>
              <a:xfrm>
                <a:off x="7388826" y="817368"/>
                <a:ext cx="0" cy="108000"/>
              </a:xfrm>
              <a:prstGeom prst="line">
                <a:avLst/>
              </a:prstGeom>
              <a:grpFill/>
              <a:ln w="635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45" name="직선 연결선 44"/>
              <p:cNvCxnSpPr/>
              <p:nvPr/>
            </p:nvCxnSpPr>
            <p:spPr>
              <a:xfrm>
                <a:off x="7316826" y="871368"/>
                <a:ext cx="126000" cy="0"/>
              </a:xfrm>
              <a:prstGeom prst="line">
                <a:avLst/>
              </a:prstGeom>
              <a:grpFill/>
              <a:ln w="6350">
                <a:solidFill>
                  <a:schemeClr val="tx1">
                    <a:lumMod val="75000"/>
                    <a:lumOff val="25000"/>
                  </a:schemeClr>
                </a:solidFill>
                <a:headEnd type="arrow" w="sm" len="sm"/>
                <a:tailEnd type="none" w="med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</p:grpSp>
      <p:grpSp>
        <p:nvGrpSpPr>
          <p:cNvPr id="46" name="그룹 45"/>
          <p:cNvGrpSpPr/>
          <p:nvPr/>
        </p:nvGrpSpPr>
        <p:grpSpPr>
          <a:xfrm>
            <a:off x="7553813" y="781333"/>
            <a:ext cx="380481" cy="352151"/>
            <a:chOff x="7748737" y="781333"/>
            <a:chExt cx="380481" cy="352151"/>
          </a:xfrm>
        </p:grpSpPr>
        <p:grpSp>
          <p:nvGrpSpPr>
            <p:cNvPr id="47" name="그룹 46"/>
            <p:cNvGrpSpPr/>
            <p:nvPr/>
          </p:nvGrpSpPr>
          <p:grpSpPr>
            <a:xfrm>
              <a:off x="7848977" y="781333"/>
              <a:ext cx="180000" cy="241620"/>
              <a:chOff x="7848977" y="781333"/>
              <a:chExt cx="180000" cy="241620"/>
            </a:xfrm>
          </p:grpSpPr>
          <p:sp>
            <p:nvSpPr>
              <p:cNvPr id="49" name="타원 48"/>
              <p:cNvSpPr/>
              <p:nvPr/>
            </p:nvSpPr>
            <p:spPr>
              <a:xfrm>
                <a:off x="7866977" y="871754"/>
                <a:ext cx="144000" cy="144000"/>
              </a:xfrm>
              <a:prstGeom prst="ellipse">
                <a:avLst/>
              </a:prstGeom>
              <a:grpFill/>
              <a:ln w="635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80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  <p:sp>
            <p:nvSpPr>
              <p:cNvPr id="50" name="직사각형 49"/>
              <p:cNvSpPr/>
              <p:nvPr/>
            </p:nvSpPr>
            <p:spPr>
              <a:xfrm>
                <a:off x="7848977" y="781333"/>
                <a:ext cx="180000" cy="180000"/>
              </a:xfrm>
              <a:prstGeom prst="rect">
                <a:avLst/>
              </a:prstGeom>
              <a:noFill/>
              <a:ln w="3175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80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  <p:sp>
            <p:nvSpPr>
              <p:cNvPr id="51" name="타원 50"/>
              <p:cNvSpPr/>
              <p:nvPr/>
            </p:nvSpPr>
            <p:spPr>
              <a:xfrm>
                <a:off x="7902977" y="799368"/>
                <a:ext cx="72000" cy="72000"/>
              </a:xfrm>
              <a:prstGeom prst="ellipse">
                <a:avLst/>
              </a:prstGeom>
              <a:grpFill/>
              <a:ln w="635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80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  <p:cxnSp>
            <p:nvCxnSpPr>
              <p:cNvPr id="52" name="직선 연결선 51"/>
              <p:cNvCxnSpPr/>
              <p:nvPr/>
            </p:nvCxnSpPr>
            <p:spPr>
              <a:xfrm rot="5400000">
                <a:off x="7884977" y="847653"/>
                <a:ext cx="108000" cy="0"/>
              </a:xfrm>
              <a:prstGeom prst="line">
                <a:avLst/>
              </a:prstGeom>
              <a:ln w="952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3" name="직사각형 52"/>
              <p:cNvSpPr/>
              <p:nvPr/>
            </p:nvSpPr>
            <p:spPr>
              <a:xfrm>
                <a:off x="7938977" y="871333"/>
                <a:ext cx="90000" cy="90000"/>
              </a:xfrm>
              <a:prstGeom prst="rect">
                <a:avLst/>
              </a:prstGeom>
              <a:solidFill>
                <a:schemeClr val="bg1"/>
              </a:solidFill>
              <a:ln w="31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80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  <p:cxnSp>
            <p:nvCxnSpPr>
              <p:cNvPr id="54" name="직선 연결선 53"/>
              <p:cNvCxnSpPr/>
              <p:nvPr/>
            </p:nvCxnSpPr>
            <p:spPr>
              <a:xfrm>
                <a:off x="7974977" y="871333"/>
                <a:ext cx="0" cy="72000"/>
              </a:xfrm>
              <a:prstGeom prst="line">
                <a:avLst/>
              </a:prstGeom>
              <a:grpFill/>
              <a:ln w="635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55" name="직선 연결선 54"/>
              <p:cNvCxnSpPr/>
              <p:nvPr/>
            </p:nvCxnSpPr>
            <p:spPr>
              <a:xfrm>
                <a:off x="7938977" y="907333"/>
                <a:ext cx="72000" cy="0"/>
              </a:xfrm>
              <a:prstGeom prst="line">
                <a:avLst/>
              </a:prstGeom>
              <a:grpFill/>
              <a:ln w="635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sp>
            <p:nvSpPr>
              <p:cNvPr id="56" name="직사각형 55"/>
              <p:cNvSpPr/>
              <p:nvPr/>
            </p:nvSpPr>
            <p:spPr>
              <a:xfrm>
                <a:off x="7848977" y="950953"/>
                <a:ext cx="180000" cy="7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80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</p:grpSp>
        <p:sp>
          <p:nvSpPr>
            <p:cNvPr id="48" name="직사각형 47">
              <a:extLst>
                <a:ext uri="{FF2B5EF4-FFF2-40B4-BE49-F238E27FC236}">
                  <a16:creationId xmlns:a16="http://schemas.microsoft.com/office/drawing/2014/main" xmlns="" id="{C1EFF5AB-B75F-4E4E-96DC-C13DFC7EFBE4}"/>
                </a:ext>
              </a:extLst>
            </p:cNvPr>
            <p:cNvSpPr/>
            <p:nvPr/>
          </p:nvSpPr>
          <p:spPr>
            <a:xfrm>
              <a:off x="7748737" y="968448"/>
              <a:ext cx="380481" cy="165036"/>
            </a:xfrm>
            <a:prstGeom prst="rect">
              <a:avLst/>
            </a:prstGeom>
            <a:no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36000" tIns="36000" rIns="36000" bIns="36000" rtlCol="0" anchor="ctr">
              <a:spAutoFit/>
            </a:bodyPr>
            <a:lstStyle/>
            <a:p>
              <a:pPr algn="ctr"/>
              <a:r>
                <a:rPr lang="ko-KR" altLang="en-US" sz="60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회원가입</a:t>
              </a:r>
              <a:endParaRPr lang="ko-KR" altLang="en-US" sz="6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grpSp>
        <p:nvGrpSpPr>
          <p:cNvPr id="57" name="그룹 56"/>
          <p:cNvGrpSpPr/>
          <p:nvPr/>
        </p:nvGrpSpPr>
        <p:grpSpPr>
          <a:xfrm>
            <a:off x="7952141" y="781333"/>
            <a:ext cx="457425" cy="352151"/>
            <a:chOff x="8156218" y="781333"/>
            <a:chExt cx="457425" cy="352151"/>
          </a:xfrm>
        </p:grpSpPr>
        <p:grpSp>
          <p:nvGrpSpPr>
            <p:cNvPr id="58" name="그룹 57"/>
            <p:cNvGrpSpPr/>
            <p:nvPr/>
          </p:nvGrpSpPr>
          <p:grpSpPr>
            <a:xfrm>
              <a:off x="8294930" y="781333"/>
              <a:ext cx="180000" cy="241620"/>
              <a:chOff x="8294930" y="781333"/>
              <a:chExt cx="180000" cy="241620"/>
            </a:xfrm>
          </p:grpSpPr>
          <p:sp>
            <p:nvSpPr>
              <p:cNvPr id="60" name="타원 59"/>
              <p:cNvSpPr/>
              <p:nvPr/>
            </p:nvSpPr>
            <p:spPr>
              <a:xfrm>
                <a:off x="8312930" y="871754"/>
                <a:ext cx="144000" cy="144000"/>
              </a:xfrm>
              <a:prstGeom prst="ellipse">
                <a:avLst/>
              </a:prstGeom>
              <a:grpFill/>
              <a:ln w="635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80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  <p:sp>
            <p:nvSpPr>
              <p:cNvPr id="61" name="직사각형 60"/>
              <p:cNvSpPr/>
              <p:nvPr/>
            </p:nvSpPr>
            <p:spPr>
              <a:xfrm>
                <a:off x="8294930" y="781333"/>
                <a:ext cx="180000" cy="180000"/>
              </a:xfrm>
              <a:prstGeom prst="rect">
                <a:avLst/>
              </a:prstGeom>
              <a:noFill/>
              <a:ln w="3175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80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  <p:sp>
            <p:nvSpPr>
              <p:cNvPr id="62" name="타원 61"/>
              <p:cNvSpPr/>
              <p:nvPr/>
            </p:nvSpPr>
            <p:spPr>
              <a:xfrm>
                <a:off x="8348930" y="799368"/>
                <a:ext cx="72000" cy="72000"/>
              </a:xfrm>
              <a:prstGeom prst="ellipse">
                <a:avLst/>
              </a:prstGeom>
              <a:grpFill/>
              <a:ln w="635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80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  <p:cxnSp>
            <p:nvCxnSpPr>
              <p:cNvPr id="63" name="직선 연결선 62"/>
              <p:cNvCxnSpPr/>
              <p:nvPr/>
            </p:nvCxnSpPr>
            <p:spPr>
              <a:xfrm rot="5400000">
                <a:off x="8330930" y="847653"/>
                <a:ext cx="108000" cy="0"/>
              </a:xfrm>
              <a:prstGeom prst="line">
                <a:avLst/>
              </a:prstGeom>
              <a:ln w="952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4" name="직사각형 63"/>
              <p:cNvSpPr/>
              <p:nvPr/>
            </p:nvSpPr>
            <p:spPr>
              <a:xfrm>
                <a:off x="8294930" y="950953"/>
                <a:ext cx="180000" cy="72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80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</p:grpSp>
        <p:sp>
          <p:nvSpPr>
            <p:cNvPr id="59" name="직사각형 58">
              <a:extLst>
                <a:ext uri="{FF2B5EF4-FFF2-40B4-BE49-F238E27FC236}">
                  <a16:creationId xmlns:a16="http://schemas.microsoft.com/office/drawing/2014/main" xmlns="" id="{C1EFF5AB-B75F-4E4E-96DC-C13DFC7EFBE4}"/>
                </a:ext>
              </a:extLst>
            </p:cNvPr>
            <p:cNvSpPr/>
            <p:nvPr/>
          </p:nvSpPr>
          <p:spPr>
            <a:xfrm>
              <a:off x="8156218" y="968448"/>
              <a:ext cx="457425" cy="165036"/>
            </a:xfrm>
            <a:prstGeom prst="rect">
              <a:avLst/>
            </a:prstGeom>
            <a:no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36000" tIns="36000" rIns="36000" bIns="36000" rtlCol="0" anchor="ctr">
              <a:spAutoFit/>
            </a:bodyPr>
            <a:lstStyle/>
            <a:p>
              <a:pPr algn="ctr"/>
              <a:r>
                <a:rPr lang="ko-KR" altLang="en-US" sz="60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마이페이지</a:t>
              </a:r>
              <a:endParaRPr lang="ko-KR" altLang="en-US" sz="6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grpSp>
        <p:nvGrpSpPr>
          <p:cNvPr id="65" name="그룹 64"/>
          <p:cNvGrpSpPr/>
          <p:nvPr/>
        </p:nvGrpSpPr>
        <p:grpSpPr>
          <a:xfrm>
            <a:off x="8452138" y="781333"/>
            <a:ext cx="303537" cy="352151"/>
            <a:chOff x="8656827" y="781333"/>
            <a:chExt cx="303537" cy="352151"/>
          </a:xfrm>
        </p:grpSpPr>
        <p:grpSp>
          <p:nvGrpSpPr>
            <p:cNvPr id="66" name="그룹 65"/>
            <p:cNvGrpSpPr/>
            <p:nvPr/>
          </p:nvGrpSpPr>
          <p:grpSpPr>
            <a:xfrm>
              <a:off x="8718595" y="781333"/>
              <a:ext cx="180000" cy="180000"/>
              <a:chOff x="8718595" y="781333"/>
              <a:chExt cx="180000" cy="180000"/>
            </a:xfrm>
          </p:grpSpPr>
          <p:sp>
            <p:nvSpPr>
              <p:cNvPr id="68" name="직사각형 67"/>
              <p:cNvSpPr/>
              <p:nvPr/>
            </p:nvSpPr>
            <p:spPr>
              <a:xfrm>
                <a:off x="8718595" y="781333"/>
                <a:ext cx="180000" cy="180000"/>
              </a:xfrm>
              <a:prstGeom prst="rect">
                <a:avLst/>
              </a:prstGeom>
              <a:noFill/>
              <a:ln w="31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80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  <p:sp>
            <p:nvSpPr>
              <p:cNvPr id="69" name="사다리꼴 68"/>
              <p:cNvSpPr/>
              <p:nvPr/>
            </p:nvSpPr>
            <p:spPr>
              <a:xfrm>
                <a:off x="8736340" y="824001"/>
                <a:ext cx="144000" cy="126000"/>
              </a:xfrm>
              <a:prstGeom prst="trapezoid">
                <a:avLst>
                  <a:gd name="adj" fmla="val 8369"/>
                </a:avLst>
              </a:prstGeom>
              <a:solidFill>
                <a:schemeClr val="bg1"/>
              </a:solidFill>
              <a:ln w="635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80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  <p:sp>
            <p:nvSpPr>
              <p:cNvPr id="70" name="양쪽 모서리가 둥근 사각형 69"/>
              <p:cNvSpPr/>
              <p:nvPr/>
            </p:nvSpPr>
            <p:spPr>
              <a:xfrm>
                <a:off x="8772340" y="792666"/>
                <a:ext cx="72000" cy="720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noFill/>
              <a:ln w="635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80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  <p:sp>
            <p:nvSpPr>
              <p:cNvPr id="71" name="직사각형 70"/>
              <p:cNvSpPr/>
              <p:nvPr/>
            </p:nvSpPr>
            <p:spPr>
              <a:xfrm>
                <a:off x="8799595" y="817333"/>
                <a:ext cx="18000" cy="36000"/>
              </a:xfrm>
              <a:prstGeom prst="rect">
                <a:avLst/>
              </a:prstGeom>
              <a:solidFill>
                <a:schemeClr val="bg1"/>
              </a:solidFill>
              <a:ln w="31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80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  <p:sp>
            <p:nvSpPr>
              <p:cNvPr id="72" name="직사각형 71"/>
              <p:cNvSpPr/>
              <p:nvPr/>
            </p:nvSpPr>
            <p:spPr>
              <a:xfrm>
                <a:off x="8763340" y="847716"/>
                <a:ext cx="90000" cy="36000"/>
              </a:xfrm>
              <a:prstGeom prst="rect">
                <a:avLst/>
              </a:prstGeom>
              <a:solidFill>
                <a:schemeClr val="bg1"/>
              </a:solidFill>
              <a:ln w="31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80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</p:grpSp>
        <p:sp>
          <p:nvSpPr>
            <p:cNvPr id="67" name="직사각형 66">
              <a:extLst>
                <a:ext uri="{FF2B5EF4-FFF2-40B4-BE49-F238E27FC236}">
                  <a16:creationId xmlns:a16="http://schemas.microsoft.com/office/drawing/2014/main" xmlns="" id="{C1EFF5AB-B75F-4E4E-96DC-C13DFC7EFBE4}"/>
                </a:ext>
              </a:extLst>
            </p:cNvPr>
            <p:cNvSpPr/>
            <p:nvPr/>
          </p:nvSpPr>
          <p:spPr>
            <a:xfrm>
              <a:off x="8656827" y="968448"/>
              <a:ext cx="303537" cy="165036"/>
            </a:xfrm>
            <a:prstGeom prst="rect">
              <a:avLst/>
            </a:prstGeom>
            <a:no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36000" tIns="36000" rIns="36000" bIns="36000" rtlCol="0" anchor="ctr">
              <a:spAutoFit/>
            </a:bodyPr>
            <a:lstStyle/>
            <a:p>
              <a:pPr algn="ctr"/>
              <a:r>
                <a:rPr lang="ko-KR" altLang="en-US" sz="60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쇼핑백</a:t>
              </a:r>
              <a:endParaRPr lang="ko-KR" altLang="en-US" sz="6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sp>
        <p:nvSpPr>
          <p:cNvPr id="73" name="직사각형 72">
            <a:extLst>
              <a:ext uri="{FF2B5EF4-FFF2-40B4-BE49-F238E27FC236}">
                <a16:creationId xmlns:a16="http://schemas.microsoft.com/office/drawing/2014/main" xmlns="" id="{C1EFF5AB-B75F-4E4E-96DC-C13DFC7EFBE4}"/>
              </a:ext>
            </a:extLst>
          </p:cNvPr>
          <p:cNvSpPr/>
          <p:nvPr/>
        </p:nvSpPr>
        <p:spPr>
          <a:xfrm>
            <a:off x="863906" y="1685533"/>
            <a:ext cx="1948217" cy="180425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>
            <a:spAutoFit/>
          </a:bodyPr>
          <a:lstStyle/>
          <a:p>
            <a:r>
              <a:rPr lang="ko-KR" altLang="en-US" sz="700" smtClean="0">
                <a:solidFill>
                  <a:schemeClr val="tx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</a:rPr>
              <a:t>홈 </a:t>
            </a:r>
            <a:r>
              <a:rPr lang="en-US" altLang="ko-KR" sz="700" smtClean="0">
                <a:solidFill>
                  <a:schemeClr val="tx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</a:rPr>
              <a:t>〉 </a:t>
            </a:r>
            <a:r>
              <a:rPr lang="ko-KR" altLang="en-US" sz="700" smtClean="0">
                <a:solidFill>
                  <a:schemeClr val="tx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</a:rPr>
              <a:t>고객센터 </a:t>
            </a:r>
            <a:r>
              <a:rPr lang="en-US" altLang="ko-KR" sz="700" smtClean="0">
                <a:solidFill>
                  <a:schemeClr val="tx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</a:rPr>
              <a:t>〉 </a:t>
            </a:r>
            <a:r>
              <a:rPr lang="ko-KR" altLang="en-US" sz="700" smtClean="0">
                <a:solidFill>
                  <a:schemeClr val="tx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</a:rPr>
              <a:t>쇼핑 가이드 </a:t>
            </a:r>
            <a:r>
              <a:rPr lang="en-US" altLang="ko-KR" sz="700" smtClean="0">
                <a:solidFill>
                  <a:schemeClr val="tx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</a:rPr>
              <a:t>〉 </a:t>
            </a:r>
            <a:r>
              <a:rPr lang="ko-KR" altLang="en-US" sz="7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배송</a:t>
            </a:r>
            <a:r>
              <a:rPr lang="en-US" altLang="ko-KR" sz="7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/</a:t>
            </a:r>
            <a:r>
              <a:rPr lang="ko-KR" altLang="en-US" sz="7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반품</a:t>
            </a:r>
            <a:r>
              <a:rPr lang="en-US" altLang="ko-KR" sz="7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/</a:t>
            </a:r>
            <a:r>
              <a:rPr lang="ko-KR" altLang="en-US" sz="7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교환</a:t>
            </a:r>
            <a:endParaRPr lang="ko-KR" altLang="en-US" sz="70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77" name="제목 1"/>
          <p:cNvSpPr txBox="1">
            <a:spLocks/>
          </p:cNvSpPr>
          <p:nvPr/>
        </p:nvSpPr>
        <p:spPr>
          <a:xfrm>
            <a:off x="1223906" y="358660"/>
            <a:ext cx="1080000" cy="216000"/>
          </a:xfrm>
          <a:prstGeom prst="rect">
            <a:avLst/>
          </a:prstGeom>
        </p:spPr>
        <p:txBody>
          <a:bodyPr lIns="36000" tIns="36000" rIns="36000" bIns="36000" anchor="ctr"/>
          <a:lstStyle>
            <a:lvl1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2pPr>
            <a:lvl3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3pPr>
            <a:lvl4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4pPr>
            <a:lvl5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5pPr>
            <a:lvl6pPr marL="457212" algn="ctr" rtl="0" fontAlgn="base" latinLnBrk="1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6pPr>
            <a:lvl7pPr marL="914423" algn="ctr" rtl="0" fontAlgn="base" latinLnBrk="1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7pPr>
            <a:lvl8pPr marL="1371634" algn="ctr" rtl="0" fontAlgn="base" latinLnBrk="1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8pPr>
            <a:lvl9pPr marL="1828846" algn="ctr" rtl="0" fontAlgn="base" latinLnBrk="1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r>
              <a:rPr lang="en-US" altLang="ko-KR" sz="800" kern="0" dirty="0"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</a:rPr>
              <a:t>-</a:t>
            </a:r>
            <a:endParaRPr lang="ko-KR" altLang="en-US" sz="800" kern="0">
              <a:solidFill>
                <a:prstClr val="black">
                  <a:lumMod val="75000"/>
                  <a:lumOff val="25000"/>
                </a:prst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78" name="제목 1">
            <a:extLst>
              <a:ext uri="{FF2B5EF4-FFF2-40B4-BE49-F238E27FC236}">
                <a16:creationId xmlns:a16="http://schemas.microsoft.com/office/drawing/2014/main" xmlns="" id="{03F65532-A01C-4981-B987-5E15F64E3ABB}"/>
              </a:ext>
            </a:extLst>
          </p:cNvPr>
          <p:cNvSpPr txBox="1">
            <a:spLocks/>
          </p:cNvSpPr>
          <p:nvPr/>
        </p:nvSpPr>
        <p:spPr>
          <a:xfrm>
            <a:off x="3383718" y="142660"/>
            <a:ext cx="4320000" cy="216000"/>
          </a:xfrm>
          <a:prstGeom prst="rect">
            <a:avLst/>
          </a:prstGeom>
        </p:spPr>
        <p:txBody>
          <a:bodyPr lIns="180000" tIns="36000" rIns="180000" bIns="36000" anchor="ctr"/>
          <a:lstStyle>
            <a:defPPr>
              <a:defRPr lang="ko-KR"/>
            </a:defPPr>
            <a:lvl1pPr eaLnBrk="0" fontAlgn="base" hangingPunct="0">
              <a:spcBef>
                <a:spcPct val="0"/>
              </a:spcBef>
              <a:spcAft>
                <a:spcPct val="0"/>
              </a:spcAft>
              <a:defRPr kumimoji="1" sz="800" b="1" kern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defRPr>
            </a:lvl1pPr>
            <a:lvl2pPr algn="ctr" eaLnBrk="0" fontAlgn="base" hangingPunct="0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2pPr>
            <a:lvl3pPr algn="ctr" eaLnBrk="0" fontAlgn="base" hangingPunct="0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3pPr>
            <a:lvl4pPr algn="ctr" eaLnBrk="0" fontAlgn="base" hangingPunct="0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4pPr>
            <a:lvl5pPr algn="ctr" eaLnBrk="0" fontAlgn="base" hangingPunct="0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5pPr>
            <a:lvl6pPr marL="457212" algn="ctr" fontAlgn="base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6pPr>
            <a:lvl7pPr marL="914423" algn="ctr" fontAlgn="base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7pPr>
            <a:lvl8pPr marL="1371634" algn="ctr" fontAlgn="base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8pPr>
            <a:lvl9pPr marL="1828846" algn="ctr" fontAlgn="base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r>
              <a:rPr lang="en-US" altLang="ko-KR"/>
              <a:t>LFmall &gt; </a:t>
            </a:r>
            <a:r>
              <a:rPr lang="ko-KR" altLang="en-US" smtClean="0"/>
              <a:t>고객센터 </a:t>
            </a:r>
            <a:r>
              <a:rPr lang="en-US" altLang="ko-KR" smtClean="0"/>
              <a:t>&gt; </a:t>
            </a:r>
            <a:r>
              <a:rPr lang="ko-KR" altLang="en-US" smtClean="0"/>
              <a:t>쇼핑가이드 </a:t>
            </a:r>
            <a:r>
              <a:rPr lang="en-US" altLang="ko-KR" smtClean="0"/>
              <a:t>&gt; </a:t>
            </a:r>
            <a:r>
              <a:rPr lang="ko-KR" altLang="en-US" smtClean="0"/>
              <a:t>배송</a:t>
            </a:r>
            <a:r>
              <a:rPr lang="en-US" altLang="ko-KR" smtClean="0"/>
              <a:t>/</a:t>
            </a:r>
            <a:r>
              <a:rPr lang="ko-KR" altLang="en-US" smtClean="0"/>
              <a:t>반품</a:t>
            </a:r>
            <a:r>
              <a:rPr lang="en-US" altLang="ko-KR" smtClean="0"/>
              <a:t>/</a:t>
            </a:r>
            <a:r>
              <a:rPr lang="ko-KR" altLang="en-US" smtClean="0"/>
              <a:t>교환</a:t>
            </a:r>
            <a:endParaRPr lang="ko-KR" altLang="en-US"/>
          </a:p>
        </p:txBody>
      </p:sp>
      <p:sp>
        <p:nvSpPr>
          <p:cNvPr id="79" name="제목 1"/>
          <p:cNvSpPr txBox="1">
            <a:spLocks/>
          </p:cNvSpPr>
          <p:nvPr/>
        </p:nvSpPr>
        <p:spPr>
          <a:xfrm>
            <a:off x="1223906" y="142660"/>
            <a:ext cx="1080000" cy="216000"/>
          </a:xfrm>
          <a:prstGeom prst="rect">
            <a:avLst/>
          </a:prstGeom>
        </p:spPr>
        <p:txBody>
          <a:bodyPr lIns="36000" tIns="36000" rIns="36000" bIns="36000" anchor="ctr"/>
          <a:lstStyle>
            <a:lvl1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2pPr>
            <a:lvl3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3pPr>
            <a:lvl4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4pPr>
            <a:lvl5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5pPr>
            <a:lvl6pPr marL="457212" algn="ctr" rtl="0" fontAlgn="base" latinLnBrk="1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6pPr>
            <a:lvl7pPr marL="914423" algn="ctr" rtl="0" fontAlgn="base" latinLnBrk="1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7pPr>
            <a:lvl8pPr marL="1371634" algn="ctr" rtl="0" fontAlgn="base" latinLnBrk="1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8pPr>
            <a:lvl9pPr marL="1828846" algn="ctr" rtl="0" fontAlgn="base" latinLnBrk="1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r>
              <a:rPr lang="en-US" altLang="ko-KR" sz="800" kern="0" smtClean="0"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</a:rPr>
              <a:t>Front (Mobile)</a:t>
            </a:r>
            <a:endParaRPr lang="ko-KR" altLang="en-US" sz="800" kern="0" dirty="0">
              <a:solidFill>
                <a:prstClr val="black">
                  <a:lumMod val="75000"/>
                  <a:lumOff val="25000"/>
                </a:prst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80" name="제목 1">
            <a:extLst>
              <a:ext uri="{FF2B5EF4-FFF2-40B4-BE49-F238E27FC236}">
                <a16:creationId xmlns:a16="http://schemas.microsoft.com/office/drawing/2014/main" xmlns="" id="{03F65532-A01C-4981-B987-5E15F64E3ABB}"/>
              </a:ext>
            </a:extLst>
          </p:cNvPr>
          <p:cNvSpPr txBox="1">
            <a:spLocks/>
          </p:cNvSpPr>
          <p:nvPr/>
        </p:nvSpPr>
        <p:spPr>
          <a:xfrm>
            <a:off x="8783530" y="142660"/>
            <a:ext cx="1079290" cy="432000"/>
          </a:xfrm>
          <a:prstGeom prst="rect">
            <a:avLst/>
          </a:prstGeom>
        </p:spPr>
        <p:txBody>
          <a:bodyPr lIns="180000" tIns="36000" rIns="180000" bIns="36000" anchor="ctr"/>
          <a:lstStyle>
            <a:lvl1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2pPr>
            <a:lvl3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3pPr>
            <a:lvl4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4pPr>
            <a:lvl5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5pPr>
            <a:lvl6pPr marL="457212" algn="ctr" rtl="0" fontAlgn="base" latinLnBrk="1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6pPr>
            <a:lvl7pPr marL="914423" algn="ctr" rtl="0" fontAlgn="base" latinLnBrk="1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7pPr>
            <a:lvl8pPr marL="1371634" algn="ctr" rtl="0" fontAlgn="base" latinLnBrk="1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8pPr>
            <a:lvl9pPr marL="1828846" algn="ctr" rtl="0" fontAlgn="base" latinLnBrk="1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r>
              <a:rPr lang="ko-KR" altLang="en-US" sz="800" kern="0" smtClean="0"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</a:rPr>
              <a:t>최범열</a:t>
            </a:r>
            <a:endParaRPr lang="ko-KR" altLang="en-US" sz="800" kern="0">
              <a:solidFill>
                <a:prstClr val="black">
                  <a:lumMod val="75000"/>
                  <a:lumOff val="25000"/>
                </a:prstClr>
              </a:solidFill>
              <a:latin typeface="맑은 고딕" panose="020B0503020000020004" pitchFamily="50" charset="-127"/>
            </a:endParaRPr>
          </a:p>
        </p:txBody>
      </p:sp>
      <p:graphicFrame>
        <p:nvGraphicFramePr>
          <p:cNvPr id="81" name="Group 118">
            <a:extLst>
              <a:ext uri="{FF2B5EF4-FFF2-40B4-BE49-F238E27FC236}">
                <a16:creationId xmlns:a16="http://schemas.microsoft.com/office/drawing/2014/main" xmlns="" id="{41B5A014-BEDB-439E-A302-DBCECEC856B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34414615"/>
              </p:ext>
            </p:extLst>
          </p:nvPr>
        </p:nvGraphicFramePr>
        <p:xfrm>
          <a:off x="9647906" y="709700"/>
          <a:ext cx="2376000" cy="756000"/>
        </p:xfrm>
        <a:graphic>
          <a:graphicData uri="http://schemas.openxmlformats.org/drawingml/2006/table">
            <a:tbl>
              <a:tblPr/>
              <a:tblGrid>
                <a:gridCol w="21600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21600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2520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 Semilight" panose="020B0502040204020203" pitchFamily="50" charset="-127"/>
                        </a:rPr>
                        <a:t>No</a:t>
                      </a:r>
                    </a:p>
                  </a:txBody>
                  <a:tcPr marL="42203" marR="42203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en-US" altLang="ko-KR" sz="700" b="0" baseline="0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 Semilight" panose="020B0502040204020203" pitchFamily="50" charset="-127"/>
                        </a:rPr>
                        <a:t>Description</a:t>
                      </a:r>
                    </a:p>
                  </a:txBody>
                  <a:tcPr marL="108000" marR="108000" marT="36000" marB="3600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 Semilight" panose="020B0502040204020203" pitchFamily="50" charset="-127"/>
                        </a:rPr>
                        <a:t>※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42203" marR="42203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en-US" altLang="ko-KR" sz="700" b="0" baseline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 Semilight" panose="020B0502040204020203" pitchFamily="50" charset="-127"/>
                        </a:rPr>
                        <a:t>PC </a:t>
                      </a:r>
                      <a:r>
                        <a:rPr lang="ko-KR" altLang="en-US" sz="700" b="0" baseline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 Semilight" panose="020B0502040204020203" pitchFamily="50" charset="-127"/>
                        </a:rPr>
                        <a:t>에만 존재하는 페이지</a:t>
                      </a:r>
                      <a:endParaRPr lang="en-US" altLang="ko-KR" sz="700" b="0" baseline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108000" marR="108000" marT="36000" marB="3600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 Semilight" panose="020B0502040204020203" pitchFamily="50" charset="-127"/>
                        </a:rPr>
                        <a:t>1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42203" marR="42203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ko-KR" altLang="en-US" sz="700" b="0" baseline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 Semilight" panose="020B0502040204020203" pitchFamily="50" charset="-127"/>
                        </a:rPr>
                        <a:t>매장상품배송 서비스 안내 문구 추가</a:t>
                      </a:r>
                      <a:endParaRPr lang="en-US" altLang="ko-KR" sz="700" b="0" baseline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108000" marR="108000" marT="36000" marB="3600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8" name="직사각형 7"/>
          <p:cNvSpPr/>
          <p:nvPr/>
        </p:nvSpPr>
        <p:spPr>
          <a:xfrm>
            <a:off x="863906" y="2006417"/>
            <a:ext cx="1080000" cy="9360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b="1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고객센터</a:t>
            </a:r>
            <a:endParaRPr lang="ko-KR" altLang="en-US" sz="900" b="1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0" name="직사각형 89">
            <a:extLst>
              <a:ext uri="{FF2B5EF4-FFF2-40B4-BE49-F238E27FC236}">
                <a16:creationId xmlns:a16="http://schemas.microsoft.com/office/drawing/2014/main" xmlns="" id="{F9776C3A-3D6C-4965-9DA5-D76F1E6E1639}"/>
              </a:ext>
            </a:extLst>
          </p:cNvPr>
          <p:cNvSpPr/>
          <p:nvPr/>
        </p:nvSpPr>
        <p:spPr>
          <a:xfrm>
            <a:off x="5543906" y="2006417"/>
            <a:ext cx="3240000" cy="360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00" smtClean="0"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</a:rPr>
              <a:t>교환</a:t>
            </a:r>
            <a:r>
              <a:rPr lang="en-US" altLang="ko-KR" sz="800" smtClean="0"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</a:rPr>
              <a:t>/</a:t>
            </a:r>
            <a:r>
              <a:rPr lang="ko-KR" altLang="en-US" sz="800" smtClean="0"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</a:rPr>
              <a:t>반품 안내</a:t>
            </a:r>
            <a:endParaRPr lang="ko-KR" altLang="en-US" sz="800">
              <a:solidFill>
                <a:prstClr val="black">
                  <a:lumMod val="75000"/>
                  <a:lumOff val="25000"/>
                </a:prst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89" name="직사각형 88">
            <a:extLst>
              <a:ext uri="{FF2B5EF4-FFF2-40B4-BE49-F238E27FC236}">
                <a16:creationId xmlns:a16="http://schemas.microsoft.com/office/drawing/2014/main" xmlns="" id="{F9776C3A-3D6C-4965-9DA5-D76F1E6E1639}"/>
              </a:ext>
            </a:extLst>
          </p:cNvPr>
          <p:cNvSpPr/>
          <p:nvPr/>
        </p:nvSpPr>
        <p:spPr>
          <a:xfrm>
            <a:off x="2303718" y="2006417"/>
            <a:ext cx="3240000" cy="360000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00" smtClean="0"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</a:rPr>
              <a:t>배송 안내</a:t>
            </a:r>
            <a:endParaRPr lang="ko-KR" altLang="en-US" sz="800">
              <a:solidFill>
                <a:prstClr val="black">
                  <a:lumMod val="75000"/>
                  <a:lumOff val="25000"/>
                </a:prst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98" name="직사각형 97">
            <a:extLst>
              <a:ext uri="{FF2B5EF4-FFF2-40B4-BE49-F238E27FC236}">
                <a16:creationId xmlns:a16="http://schemas.microsoft.com/office/drawing/2014/main" xmlns="" id="{F9776C3A-3D6C-4965-9DA5-D76F1E6E1639}"/>
              </a:ext>
            </a:extLst>
          </p:cNvPr>
          <p:cNvSpPr/>
          <p:nvPr/>
        </p:nvSpPr>
        <p:spPr>
          <a:xfrm>
            <a:off x="863906" y="3302883"/>
            <a:ext cx="1080000" cy="216000"/>
          </a:xfrm>
          <a:prstGeom prst="rect">
            <a:avLst/>
          </a:pr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/>
          <a:lstStyle/>
          <a:p>
            <a:r>
              <a:rPr lang="ko-KR" altLang="en-US" sz="800" smtClean="0"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</a:rPr>
              <a:t>공지사항</a:t>
            </a:r>
            <a:endParaRPr lang="ko-KR" altLang="en-US" sz="800">
              <a:solidFill>
                <a:prstClr val="black">
                  <a:lumMod val="75000"/>
                  <a:lumOff val="25000"/>
                </a:prst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113" name="직사각형 112">
            <a:extLst>
              <a:ext uri="{FF2B5EF4-FFF2-40B4-BE49-F238E27FC236}">
                <a16:creationId xmlns:a16="http://schemas.microsoft.com/office/drawing/2014/main" xmlns="" id="{F9776C3A-3D6C-4965-9DA5-D76F1E6E1639}"/>
              </a:ext>
            </a:extLst>
          </p:cNvPr>
          <p:cNvSpPr/>
          <p:nvPr/>
        </p:nvSpPr>
        <p:spPr>
          <a:xfrm>
            <a:off x="2303718" y="2657282"/>
            <a:ext cx="574444" cy="211203"/>
          </a:xfrm>
          <a:prstGeom prst="rect">
            <a:avLst/>
          </a:pr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>
            <a:spAutoFit/>
          </a:bodyPr>
          <a:lstStyle/>
          <a:p>
            <a:r>
              <a:rPr lang="ko-KR" altLang="en-US" sz="900" smtClean="0"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</a:rPr>
              <a:t>배송 안내</a:t>
            </a:r>
            <a:endParaRPr lang="ko-KR" altLang="en-US" sz="900">
              <a:solidFill>
                <a:prstClr val="black">
                  <a:lumMod val="75000"/>
                  <a:lumOff val="25000"/>
                </a:prstClr>
              </a:solidFill>
              <a:latin typeface="맑은 고딕" panose="020B0503020000020004" pitchFamily="50" charset="-127"/>
            </a:endParaRPr>
          </a:p>
        </p:txBody>
      </p:sp>
      <p:cxnSp>
        <p:nvCxnSpPr>
          <p:cNvPr id="118" name="직선 연결선 117">
            <a:extLst>
              <a:ext uri="{FF2B5EF4-FFF2-40B4-BE49-F238E27FC236}">
                <a16:creationId xmlns:a16="http://schemas.microsoft.com/office/drawing/2014/main" xmlns="" id="{6D9BB653-AF81-4298-B091-70A88A5E3296}"/>
              </a:ext>
            </a:extLst>
          </p:cNvPr>
          <p:cNvCxnSpPr>
            <a:cxnSpLocks/>
          </p:cNvCxnSpPr>
          <p:nvPr/>
        </p:nvCxnSpPr>
        <p:spPr>
          <a:xfrm>
            <a:off x="2303718" y="2942883"/>
            <a:ext cx="6480000" cy="0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8" name="TextBox 127"/>
          <p:cNvSpPr txBox="1"/>
          <p:nvPr/>
        </p:nvSpPr>
        <p:spPr>
          <a:xfrm>
            <a:off x="3743718" y="3015504"/>
            <a:ext cx="2880000" cy="216000"/>
          </a:xfrm>
          <a:prstGeom prst="rect">
            <a:avLst/>
          </a:prstGeom>
          <a:noFill/>
        </p:spPr>
        <p:txBody>
          <a:bodyPr wrap="square" lIns="36000" tIns="36000" rIns="36000" bIns="36000" rtlCol="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700" b="1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LF </a:t>
            </a:r>
            <a:r>
              <a:rPr lang="ko-KR" altLang="en-US" sz="700" b="1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브랜드 상품</a:t>
            </a:r>
            <a:endParaRPr lang="ko-KR" altLang="en-US" sz="700" b="1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29" name="TextBox 128"/>
          <p:cNvSpPr txBox="1"/>
          <p:nvPr/>
        </p:nvSpPr>
        <p:spPr>
          <a:xfrm>
            <a:off x="6623718" y="3006361"/>
            <a:ext cx="2160000" cy="234286"/>
          </a:xfrm>
          <a:prstGeom prst="rect">
            <a:avLst/>
          </a:prstGeom>
          <a:noFill/>
        </p:spPr>
        <p:txBody>
          <a:bodyPr wrap="square" lIns="36000" tIns="36000" rIns="36000" bIns="36000" rtlCol="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700" b="1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LF </a:t>
            </a:r>
            <a:r>
              <a:rPr lang="ko-KR" altLang="en-US" sz="700" b="1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브랜드를 제외한 입점 상품</a:t>
            </a:r>
            <a:endParaRPr lang="ko-KR" altLang="en-US" sz="700" b="1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30" name="TextBox 129"/>
          <p:cNvSpPr txBox="1"/>
          <p:nvPr/>
        </p:nvSpPr>
        <p:spPr>
          <a:xfrm>
            <a:off x="2303718" y="3456530"/>
            <a:ext cx="1440000" cy="234286"/>
          </a:xfrm>
          <a:prstGeom prst="rect">
            <a:avLst/>
          </a:prstGeom>
          <a:noFill/>
        </p:spPr>
        <p:txBody>
          <a:bodyPr wrap="square" lIns="36000" tIns="36000" rIns="36000" bIns="36000" rtlCol="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700" b="1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배송 기간</a:t>
            </a:r>
            <a:endParaRPr lang="ko-KR" altLang="en-US" sz="700" b="1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134" name="직선 연결선 133">
            <a:extLst>
              <a:ext uri="{FF2B5EF4-FFF2-40B4-BE49-F238E27FC236}">
                <a16:creationId xmlns:a16="http://schemas.microsoft.com/office/drawing/2014/main" xmlns="" id="{6D9BB653-AF81-4298-B091-70A88A5E3296}"/>
              </a:ext>
            </a:extLst>
          </p:cNvPr>
          <p:cNvCxnSpPr>
            <a:cxnSpLocks/>
          </p:cNvCxnSpPr>
          <p:nvPr/>
        </p:nvCxnSpPr>
        <p:spPr>
          <a:xfrm>
            <a:off x="2303718" y="3303504"/>
            <a:ext cx="6480000" cy="0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4" name="TextBox 123"/>
          <p:cNvSpPr txBox="1"/>
          <p:nvPr/>
        </p:nvSpPr>
        <p:spPr>
          <a:xfrm>
            <a:off x="6623718" y="4500975"/>
            <a:ext cx="2160000" cy="557451"/>
          </a:xfrm>
          <a:prstGeom prst="rect">
            <a:avLst/>
          </a:prstGeom>
          <a:noFill/>
        </p:spPr>
        <p:txBody>
          <a:bodyPr wrap="square" lIns="72000" tIns="36000" rIns="72000" bIns="36000" rtlCol="0" anchor="ctr">
            <a:spAutoFit/>
          </a:bodyPr>
          <a:lstStyle/>
          <a:p>
            <a:pPr marL="92075" indent="-92075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7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입점 업체에 따라 배송기간 및 배송비 정책이 상이합니다</a:t>
            </a:r>
            <a:r>
              <a:rPr lang="en-US" altLang="ko-KR" sz="7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 sz="7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상품 상세페이지의 배송정보에서 확인해 주시기 바랍니다</a:t>
            </a:r>
            <a:r>
              <a:rPr lang="en-US" altLang="ko-KR" sz="7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 sz="7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142" name="그룹 141"/>
          <p:cNvGrpSpPr/>
          <p:nvPr/>
        </p:nvGrpSpPr>
        <p:grpSpPr>
          <a:xfrm>
            <a:off x="3743718" y="4526653"/>
            <a:ext cx="2880000" cy="793381"/>
            <a:chOff x="3743718" y="5248072"/>
            <a:chExt cx="2880000" cy="793381"/>
          </a:xfrm>
        </p:grpSpPr>
        <p:sp>
          <p:nvSpPr>
            <p:cNvPr id="125" name="TextBox 124"/>
            <p:cNvSpPr txBox="1"/>
            <p:nvPr/>
          </p:nvSpPr>
          <p:spPr>
            <a:xfrm>
              <a:off x="3743718" y="5248072"/>
              <a:ext cx="2880000" cy="395869"/>
            </a:xfrm>
            <a:prstGeom prst="rect">
              <a:avLst/>
            </a:prstGeom>
            <a:noFill/>
          </p:spPr>
          <p:txBody>
            <a:bodyPr wrap="square" lIns="72000" tIns="36000" rIns="72000" bIns="36000" rtlCol="0" anchor="ctr">
              <a:spAutoFit/>
            </a:bodyPr>
            <a:lstStyle>
              <a:defPPr>
                <a:defRPr lang="ko-KR"/>
              </a:defPPr>
              <a:lvl1pPr marL="92075" indent="-92075">
                <a:lnSpc>
                  <a:spcPct val="150000"/>
                </a:lnSpc>
                <a:buFont typeface="Arial" panose="020B0604020202020204" pitchFamily="34" charset="0"/>
                <a:buChar char="•"/>
                <a:defRPr sz="70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1pPr>
            </a:lstStyle>
            <a:p>
              <a:r>
                <a:rPr lang="en-US" altLang="ko-KR"/>
                <a:t>30,000</a:t>
              </a:r>
              <a:r>
                <a:rPr lang="ko-KR" altLang="en-US"/>
                <a:t>원 이상 구매 시 무료 배송이며</a:t>
              </a:r>
              <a:r>
                <a:rPr lang="en-US" altLang="ko-KR"/>
                <a:t>,</a:t>
              </a:r>
              <a:r>
                <a:rPr lang="ko-KR" altLang="en-US"/>
                <a:t> </a:t>
              </a:r>
              <a:r>
                <a:rPr lang="en-US" altLang="ko-KR"/>
                <a:t/>
              </a:r>
              <a:br>
                <a:rPr lang="en-US" altLang="ko-KR"/>
              </a:br>
              <a:r>
                <a:rPr lang="en-US" altLang="ko-KR"/>
                <a:t>30,000</a:t>
              </a:r>
              <a:r>
                <a:rPr lang="ko-KR" altLang="en-US"/>
                <a:t>원 미만 구매 시 </a:t>
              </a:r>
              <a:r>
                <a:rPr lang="en-US" altLang="ko-KR"/>
                <a:t>3,000</a:t>
              </a:r>
              <a:r>
                <a:rPr lang="ko-KR" altLang="en-US"/>
                <a:t>원이 부과됩니다</a:t>
              </a:r>
              <a:r>
                <a:rPr lang="en-US" altLang="ko-KR" smtClean="0"/>
                <a:t>.</a:t>
              </a:r>
            </a:p>
          </p:txBody>
        </p:sp>
        <p:sp>
          <p:nvSpPr>
            <p:cNvPr id="126" name="TextBox 125"/>
            <p:cNvSpPr txBox="1"/>
            <p:nvPr/>
          </p:nvSpPr>
          <p:spPr>
            <a:xfrm>
              <a:off x="3743718" y="5645584"/>
              <a:ext cx="2880000" cy="395869"/>
            </a:xfrm>
            <a:prstGeom prst="rect">
              <a:avLst/>
            </a:prstGeom>
            <a:noFill/>
          </p:spPr>
          <p:txBody>
            <a:bodyPr wrap="square" lIns="72000" tIns="36000" rIns="72000" bIns="36000" rtlCol="0" anchor="ctr">
              <a:spAutoFit/>
            </a:bodyPr>
            <a:lstStyle>
              <a:defPPr>
                <a:defRPr lang="ko-KR"/>
              </a:defPPr>
              <a:lvl1pPr marL="92075" indent="-92075">
                <a:lnSpc>
                  <a:spcPct val="150000"/>
                </a:lnSpc>
                <a:buFont typeface="Arial" panose="020B0604020202020204" pitchFamily="34" charset="0"/>
                <a:buChar char="•"/>
                <a:defRPr sz="70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1pPr>
            </a:lstStyle>
            <a:p>
              <a:r>
                <a:rPr lang="ko-KR" altLang="en-US"/>
                <a:t>일부 도서</a:t>
              </a:r>
              <a:r>
                <a:rPr lang="en-US" altLang="ko-KR"/>
                <a:t>/</a:t>
              </a:r>
              <a:r>
                <a:rPr lang="ko-KR" altLang="en-US"/>
                <a:t>산간 등 교통이 불편한 지역은 배송비가 추가될 수 </a:t>
              </a:r>
              <a:r>
                <a:rPr lang="ko-KR" altLang="en-US" smtClean="0"/>
                <a:t>있습니다</a:t>
              </a:r>
              <a:r>
                <a:rPr lang="en-US" altLang="ko-KR" smtClean="0"/>
                <a:t>.</a:t>
              </a:r>
            </a:p>
          </p:txBody>
        </p:sp>
      </p:grpSp>
      <p:cxnSp>
        <p:nvCxnSpPr>
          <p:cNvPr id="137" name="직선 연결선 136">
            <a:extLst>
              <a:ext uri="{FF2B5EF4-FFF2-40B4-BE49-F238E27FC236}">
                <a16:creationId xmlns:a16="http://schemas.microsoft.com/office/drawing/2014/main" xmlns="" id="{6D9BB653-AF81-4298-B091-70A88A5E3296}"/>
              </a:ext>
            </a:extLst>
          </p:cNvPr>
          <p:cNvCxnSpPr>
            <a:cxnSpLocks/>
          </p:cNvCxnSpPr>
          <p:nvPr/>
        </p:nvCxnSpPr>
        <p:spPr>
          <a:xfrm>
            <a:off x="2303718" y="4383343"/>
            <a:ext cx="4320000" cy="0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9" name="TextBox 138"/>
          <p:cNvSpPr txBox="1"/>
          <p:nvPr/>
        </p:nvSpPr>
        <p:spPr>
          <a:xfrm>
            <a:off x="2303718" y="4526653"/>
            <a:ext cx="1440000" cy="234286"/>
          </a:xfrm>
          <a:prstGeom prst="rect">
            <a:avLst/>
          </a:prstGeom>
          <a:noFill/>
        </p:spPr>
        <p:txBody>
          <a:bodyPr wrap="square" lIns="36000" tIns="36000" rIns="36000" bIns="36000" rtlCol="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700" b="1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배송 비용</a:t>
            </a:r>
            <a:endParaRPr lang="ko-KR" altLang="en-US" sz="700" b="1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143" name="직선 연결선 142">
            <a:extLst>
              <a:ext uri="{FF2B5EF4-FFF2-40B4-BE49-F238E27FC236}">
                <a16:creationId xmlns:a16="http://schemas.microsoft.com/office/drawing/2014/main" xmlns="" id="{6D9BB653-AF81-4298-B091-70A88A5E3296}"/>
              </a:ext>
            </a:extLst>
          </p:cNvPr>
          <p:cNvCxnSpPr>
            <a:cxnSpLocks/>
          </p:cNvCxnSpPr>
          <p:nvPr/>
        </p:nvCxnSpPr>
        <p:spPr>
          <a:xfrm>
            <a:off x="2303718" y="5463343"/>
            <a:ext cx="4320000" cy="0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7" name="TextBox 126"/>
          <p:cNvSpPr txBox="1"/>
          <p:nvPr/>
        </p:nvSpPr>
        <p:spPr>
          <a:xfrm>
            <a:off x="3743718" y="5561299"/>
            <a:ext cx="2880000" cy="234286"/>
          </a:xfrm>
          <a:prstGeom prst="rect">
            <a:avLst/>
          </a:prstGeom>
          <a:noFill/>
        </p:spPr>
        <p:txBody>
          <a:bodyPr wrap="square" lIns="72000" tIns="36000" rIns="72000" bIns="36000" rtlCol="0" anchor="ctr">
            <a:spAutoFit/>
          </a:bodyPr>
          <a:lstStyle>
            <a:defPPr>
              <a:defRPr lang="ko-KR"/>
            </a:defPPr>
            <a:lvl1pPr marL="92075" indent="-92075">
              <a:lnSpc>
                <a:spcPct val="150000"/>
              </a:lnSpc>
              <a:buFont typeface="Arial" panose="020B0604020202020204" pitchFamily="34" charset="0"/>
              <a:buChar char="•"/>
              <a:defRPr sz="7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/>
              <a:t>전국으로 배송이 가능하며</a:t>
            </a:r>
            <a:r>
              <a:rPr lang="en-US" altLang="ko-KR"/>
              <a:t>, </a:t>
            </a:r>
            <a:r>
              <a:rPr lang="ko-KR" altLang="en-US"/>
              <a:t>해외 배송은 불가합니다</a:t>
            </a:r>
            <a:r>
              <a:rPr lang="en-US" altLang="ko-KR"/>
              <a:t>.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2303718" y="5561299"/>
            <a:ext cx="1440000" cy="234286"/>
          </a:xfrm>
          <a:prstGeom prst="rect">
            <a:avLst/>
          </a:prstGeom>
          <a:noFill/>
        </p:spPr>
        <p:txBody>
          <a:bodyPr wrap="square" lIns="36000" tIns="36000" rIns="36000" bIns="36000" rtlCol="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700" b="1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배송 지역</a:t>
            </a:r>
            <a:endParaRPr lang="ko-KR" altLang="en-US" sz="700" b="1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138" name="직선 연결선 137">
            <a:extLst>
              <a:ext uri="{FF2B5EF4-FFF2-40B4-BE49-F238E27FC236}">
                <a16:creationId xmlns:a16="http://schemas.microsoft.com/office/drawing/2014/main" xmlns="" id="{6D9BB653-AF81-4298-B091-70A88A5E3296}"/>
              </a:ext>
            </a:extLst>
          </p:cNvPr>
          <p:cNvCxnSpPr>
            <a:cxnSpLocks/>
          </p:cNvCxnSpPr>
          <p:nvPr/>
        </p:nvCxnSpPr>
        <p:spPr>
          <a:xfrm>
            <a:off x="2303718" y="5894442"/>
            <a:ext cx="6480000" cy="0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1" name="타원 140">
            <a:extLst>
              <a:ext uri="{FF2B5EF4-FFF2-40B4-BE49-F238E27FC236}">
                <a16:creationId xmlns:a16="http://schemas.microsoft.com/office/drawing/2014/main" xmlns="" id="{05928B69-0142-4C14-A783-3D8762E5BBE2}"/>
              </a:ext>
            </a:extLst>
          </p:cNvPr>
          <p:cNvSpPr/>
          <p:nvPr/>
        </p:nvSpPr>
        <p:spPr>
          <a:xfrm>
            <a:off x="3599718" y="3843465"/>
            <a:ext cx="144000" cy="144000"/>
          </a:xfrm>
          <a:prstGeom prst="ellipse">
            <a:avLst/>
          </a:prstGeom>
          <a:solidFill>
            <a:srgbClr val="C00000"/>
          </a:solidFill>
          <a:ln w="3175">
            <a:noFill/>
          </a:ln>
          <a:effectLst>
            <a:outerShdw blurRad="25400" dist="25400" dir="2700000" algn="tl" rotWithShape="0">
              <a:schemeClr val="tx1">
                <a:lumMod val="75000"/>
                <a:lumOff val="2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700" dirty="0">
                <a:solidFill>
                  <a:prstClr val="white"/>
                </a:solidFill>
                <a:latin typeface="맑은 고딕" panose="020B0503020000020004" pitchFamily="50" charset="-127"/>
              </a:rPr>
              <a:t>1</a:t>
            </a:r>
            <a:endParaRPr lang="ko-KR" altLang="en-US" sz="700" dirty="0">
              <a:solidFill>
                <a:prstClr val="white"/>
              </a:solidFill>
              <a:latin typeface="맑은 고딕" panose="020B0503020000020004" pitchFamily="50" charset="-127"/>
            </a:endParaRPr>
          </a:p>
        </p:txBody>
      </p:sp>
      <p:sp>
        <p:nvSpPr>
          <p:cNvPr id="105" name="직사각형 104">
            <a:extLst>
              <a:ext uri="{FF2B5EF4-FFF2-40B4-BE49-F238E27FC236}">
                <a16:creationId xmlns:a16="http://schemas.microsoft.com/office/drawing/2014/main" xmlns="" id="{F9776C3A-3D6C-4965-9DA5-D76F1E6E1639}"/>
              </a:ext>
            </a:extLst>
          </p:cNvPr>
          <p:cNvSpPr/>
          <p:nvPr/>
        </p:nvSpPr>
        <p:spPr>
          <a:xfrm>
            <a:off x="863906" y="3662737"/>
            <a:ext cx="1080000" cy="216000"/>
          </a:xfrm>
          <a:prstGeom prst="rect">
            <a:avLst/>
          </a:pr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/>
          <a:lstStyle/>
          <a:p>
            <a:r>
              <a:rPr lang="ko-KR" altLang="en-US" sz="800" smtClean="0"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</a:rPr>
              <a:t>쇼핑 </a:t>
            </a:r>
            <a:r>
              <a:rPr lang="en-US" altLang="ko-KR" sz="800" smtClean="0"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</a:rPr>
              <a:t>FAQ</a:t>
            </a:r>
            <a:endParaRPr lang="ko-KR" altLang="en-US" sz="800">
              <a:solidFill>
                <a:prstClr val="black">
                  <a:lumMod val="75000"/>
                  <a:lumOff val="25000"/>
                </a:prst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109" name="직사각형 108">
            <a:extLst>
              <a:ext uri="{FF2B5EF4-FFF2-40B4-BE49-F238E27FC236}">
                <a16:creationId xmlns:a16="http://schemas.microsoft.com/office/drawing/2014/main" xmlns="" id="{F9776C3A-3D6C-4965-9DA5-D76F1E6E1639}"/>
              </a:ext>
            </a:extLst>
          </p:cNvPr>
          <p:cNvSpPr/>
          <p:nvPr/>
        </p:nvSpPr>
        <p:spPr>
          <a:xfrm>
            <a:off x="863906" y="3950054"/>
            <a:ext cx="1080000" cy="1296000"/>
          </a:xfrm>
          <a:prstGeom prst="rect">
            <a:avLst/>
          </a:pr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/>
          <a:lstStyle/>
          <a:p>
            <a:pPr>
              <a:lnSpc>
                <a:spcPct val="150000"/>
              </a:lnSpc>
            </a:pPr>
            <a:r>
              <a:rPr lang="ko-KR" altLang="en-US" sz="700" smtClean="0">
                <a:solidFill>
                  <a:schemeClr val="tx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</a:rPr>
              <a:t>배송</a:t>
            </a:r>
            <a:endParaRPr lang="en-US" altLang="ko-KR" sz="700" smtClean="0">
              <a:solidFill>
                <a:schemeClr val="tx1">
                  <a:lumMod val="50000"/>
                  <a:lumOff val="50000"/>
                </a:schemeClr>
              </a:solidFill>
              <a:latin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700" smtClean="0">
                <a:solidFill>
                  <a:schemeClr val="tx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</a:rPr>
              <a:t>취소</a:t>
            </a:r>
            <a:r>
              <a:rPr lang="en-US" altLang="ko-KR" sz="700" smtClean="0">
                <a:solidFill>
                  <a:schemeClr val="tx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</a:rPr>
              <a:t>/</a:t>
            </a:r>
            <a:r>
              <a:rPr lang="ko-KR" altLang="en-US" sz="700" smtClean="0">
                <a:solidFill>
                  <a:schemeClr val="tx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</a:rPr>
              <a:t>반품</a:t>
            </a:r>
            <a:r>
              <a:rPr lang="en-US" altLang="ko-KR" sz="700" smtClean="0">
                <a:solidFill>
                  <a:schemeClr val="tx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</a:rPr>
              <a:t>/</a:t>
            </a:r>
            <a:r>
              <a:rPr lang="ko-KR" altLang="en-US" sz="700" smtClean="0">
                <a:solidFill>
                  <a:schemeClr val="tx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</a:rPr>
              <a:t>교환</a:t>
            </a:r>
            <a:r>
              <a:rPr lang="en-US" altLang="ko-KR" sz="700" smtClean="0">
                <a:solidFill>
                  <a:schemeClr val="tx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</a:rPr>
              <a:t>/AS</a:t>
            </a:r>
          </a:p>
          <a:p>
            <a:pPr>
              <a:lnSpc>
                <a:spcPct val="150000"/>
              </a:lnSpc>
            </a:pPr>
            <a:r>
              <a:rPr lang="ko-KR" altLang="en-US" sz="700" smtClean="0">
                <a:solidFill>
                  <a:schemeClr val="tx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</a:rPr>
              <a:t>주문</a:t>
            </a:r>
            <a:r>
              <a:rPr lang="en-US" altLang="ko-KR" sz="700" smtClean="0">
                <a:solidFill>
                  <a:schemeClr val="tx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</a:rPr>
              <a:t>/</a:t>
            </a:r>
            <a:r>
              <a:rPr lang="ko-KR" altLang="en-US" sz="700" smtClean="0">
                <a:solidFill>
                  <a:schemeClr val="tx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</a:rPr>
              <a:t>결제</a:t>
            </a:r>
            <a:endParaRPr lang="en-US" altLang="ko-KR" sz="700" smtClean="0">
              <a:solidFill>
                <a:schemeClr val="tx1">
                  <a:lumMod val="50000"/>
                  <a:lumOff val="50000"/>
                </a:schemeClr>
              </a:solidFill>
              <a:latin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700" smtClean="0">
                <a:solidFill>
                  <a:schemeClr val="tx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</a:rPr>
              <a:t>영수증</a:t>
            </a:r>
            <a:r>
              <a:rPr lang="en-US" altLang="ko-KR" sz="700" smtClean="0">
                <a:solidFill>
                  <a:schemeClr val="tx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</a:rPr>
              <a:t>/</a:t>
            </a:r>
            <a:r>
              <a:rPr lang="ko-KR" altLang="en-US" sz="700" smtClean="0">
                <a:solidFill>
                  <a:schemeClr val="tx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</a:rPr>
              <a:t>세금계산서</a:t>
            </a:r>
            <a:endParaRPr lang="en-US" altLang="ko-KR" sz="700" smtClean="0">
              <a:solidFill>
                <a:schemeClr val="tx1">
                  <a:lumMod val="50000"/>
                  <a:lumOff val="50000"/>
                </a:schemeClr>
              </a:solidFill>
              <a:latin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700" smtClean="0">
                <a:solidFill>
                  <a:schemeClr val="tx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</a:rPr>
              <a:t>회원정보</a:t>
            </a:r>
            <a:r>
              <a:rPr lang="en-US" altLang="ko-KR" sz="700" smtClean="0">
                <a:solidFill>
                  <a:schemeClr val="tx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</a:rPr>
              <a:t>/</a:t>
            </a:r>
            <a:r>
              <a:rPr lang="ko-KR" altLang="en-US" sz="700" smtClean="0">
                <a:solidFill>
                  <a:schemeClr val="tx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</a:rPr>
              <a:t>서비스</a:t>
            </a:r>
            <a:endParaRPr lang="en-US" altLang="ko-KR" sz="700" smtClean="0">
              <a:solidFill>
                <a:schemeClr val="tx1">
                  <a:lumMod val="50000"/>
                  <a:lumOff val="50000"/>
                </a:schemeClr>
              </a:solidFill>
              <a:latin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700" smtClean="0">
                <a:solidFill>
                  <a:schemeClr val="tx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</a:rPr>
              <a:t>마일리지</a:t>
            </a:r>
            <a:r>
              <a:rPr lang="en-US" altLang="ko-KR" sz="700" smtClean="0">
                <a:solidFill>
                  <a:schemeClr val="tx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</a:rPr>
              <a:t>/</a:t>
            </a:r>
            <a:r>
              <a:rPr lang="ko-KR" altLang="en-US" sz="700" smtClean="0">
                <a:solidFill>
                  <a:schemeClr val="tx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</a:rPr>
              <a:t>쿠폰</a:t>
            </a:r>
            <a:endParaRPr lang="en-US" altLang="ko-KR" sz="700" smtClean="0">
              <a:solidFill>
                <a:schemeClr val="tx1">
                  <a:lumMod val="50000"/>
                  <a:lumOff val="50000"/>
                </a:schemeClr>
              </a:solidFill>
              <a:latin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700" smtClean="0">
                <a:solidFill>
                  <a:schemeClr val="tx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</a:rPr>
              <a:t>상품권</a:t>
            </a:r>
            <a:r>
              <a:rPr lang="en-US" altLang="ko-KR" sz="700" smtClean="0">
                <a:solidFill>
                  <a:schemeClr val="tx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</a:rPr>
              <a:t>/</a:t>
            </a:r>
            <a:r>
              <a:rPr lang="ko-KR" altLang="en-US" sz="700" smtClean="0">
                <a:solidFill>
                  <a:schemeClr val="tx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</a:rPr>
              <a:t>기타</a:t>
            </a:r>
            <a:endParaRPr lang="en-US" altLang="ko-KR" sz="700" smtClean="0">
              <a:solidFill>
                <a:schemeClr val="tx1">
                  <a:lumMod val="50000"/>
                  <a:lumOff val="50000"/>
                </a:schemeClr>
              </a:solidFill>
              <a:latin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700" smtClean="0">
                <a:solidFill>
                  <a:schemeClr val="tx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</a:rPr>
              <a:t>모바일</a:t>
            </a:r>
            <a:endParaRPr lang="ko-KR" altLang="en-US" sz="700">
              <a:solidFill>
                <a:schemeClr val="tx1">
                  <a:lumMod val="50000"/>
                  <a:lumOff val="50000"/>
                </a:scheme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145" name="직사각형 144">
            <a:extLst>
              <a:ext uri="{FF2B5EF4-FFF2-40B4-BE49-F238E27FC236}">
                <a16:creationId xmlns:a16="http://schemas.microsoft.com/office/drawing/2014/main" xmlns="" id="{F9776C3A-3D6C-4965-9DA5-D76F1E6E1639}"/>
              </a:ext>
            </a:extLst>
          </p:cNvPr>
          <p:cNvSpPr/>
          <p:nvPr/>
        </p:nvSpPr>
        <p:spPr>
          <a:xfrm>
            <a:off x="863906" y="5389908"/>
            <a:ext cx="1080000" cy="216000"/>
          </a:xfrm>
          <a:prstGeom prst="rect">
            <a:avLst/>
          </a:pr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/>
          <a:lstStyle/>
          <a:p>
            <a:r>
              <a:rPr lang="ko-KR" altLang="en-US" sz="800" smtClean="0"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</a:rPr>
              <a:t>쇼핑 가이드</a:t>
            </a:r>
            <a:endParaRPr lang="ko-KR" altLang="en-US" sz="800">
              <a:solidFill>
                <a:prstClr val="black">
                  <a:lumMod val="75000"/>
                  <a:lumOff val="25000"/>
                </a:prst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148" name="직사각형 147">
            <a:extLst>
              <a:ext uri="{FF2B5EF4-FFF2-40B4-BE49-F238E27FC236}">
                <a16:creationId xmlns:a16="http://schemas.microsoft.com/office/drawing/2014/main" xmlns="" id="{F9776C3A-3D6C-4965-9DA5-D76F1E6E1639}"/>
              </a:ext>
            </a:extLst>
          </p:cNvPr>
          <p:cNvSpPr/>
          <p:nvPr/>
        </p:nvSpPr>
        <p:spPr>
          <a:xfrm>
            <a:off x="863906" y="5677762"/>
            <a:ext cx="1080000" cy="864000"/>
          </a:xfrm>
          <a:prstGeom prst="rect">
            <a:avLst/>
          </a:pr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/>
          <a:lstStyle/>
          <a:p>
            <a:pPr>
              <a:lnSpc>
                <a:spcPct val="150000"/>
              </a:lnSpc>
            </a:pPr>
            <a:r>
              <a:rPr lang="ko-KR" altLang="en-US" sz="700" smtClean="0">
                <a:solidFill>
                  <a:schemeClr val="tx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</a:rPr>
              <a:t>회원혜택</a:t>
            </a:r>
            <a:endParaRPr lang="en-US" altLang="ko-KR" sz="700" smtClean="0">
              <a:solidFill>
                <a:schemeClr val="tx1">
                  <a:lumMod val="50000"/>
                  <a:lumOff val="50000"/>
                </a:schemeClr>
              </a:solidFill>
              <a:latin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700" smtClean="0">
                <a:solidFill>
                  <a:schemeClr val="tx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</a:rPr>
              <a:t>쿠폰</a:t>
            </a:r>
            <a:endParaRPr lang="en-US" altLang="ko-KR" sz="700" smtClean="0">
              <a:solidFill>
                <a:schemeClr val="tx1">
                  <a:lumMod val="50000"/>
                  <a:lumOff val="50000"/>
                </a:schemeClr>
              </a:solidFill>
              <a:latin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700" smtClean="0">
                <a:solidFill>
                  <a:schemeClr val="tx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</a:rPr>
              <a:t>마일리지</a:t>
            </a:r>
            <a:endParaRPr lang="en-US" altLang="ko-KR" sz="700" smtClean="0">
              <a:solidFill>
                <a:schemeClr val="tx1">
                  <a:lumMod val="50000"/>
                  <a:lumOff val="50000"/>
                </a:schemeClr>
              </a:solidFill>
              <a:latin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700" b="1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배송</a:t>
            </a:r>
            <a:r>
              <a:rPr lang="en-US" altLang="ko-KR" sz="700" b="1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/</a:t>
            </a:r>
            <a:r>
              <a:rPr lang="ko-KR" altLang="en-US" sz="700" b="1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반품</a:t>
            </a:r>
            <a:r>
              <a:rPr lang="en-US" altLang="ko-KR" sz="700" b="1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/</a:t>
            </a:r>
            <a:r>
              <a:rPr lang="ko-KR" altLang="en-US" sz="700" b="1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교환</a:t>
            </a:r>
            <a:endParaRPr lang="en-US" altLang="ko-KR" sz="700" b="1" smtClean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700" smtClean="0">
                <a:solidFill>
                  <a:schemeClr val="tx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</a:rPr>
              <a:t>배송지연</a:t>
            </a:r>
            <a:r>
              <a:rPr lang="en-US" altLang="ko-KR" sz="700" smtClean="0">
                <a:solidFill>
                  <a:schemeClr val="tx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</a:rPr>
              <a:t>/</a:t>
            </a:r>
            <a:r>
              <a:rPr lang="ko-KR" altLang="en-US" sz="700" smtClean="0">
                <a:solidFill>
                  <a:schemeClr val="tx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</a:rPr>
              <a:t>품절</a:t>
            </a:r>
            <a:r>
              <a:rPr lang="en-US" altLang="ko-KR" sz="700" smtClean="0">
                <a:solidFill>
                  <a:schemeClr val="tx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</a:rPr>
              <a:t>/</a:t>
            </a:r>
            <a:r>
              <a:rPr lang="ko-KR" altLang="en-US" sz="700" smtClean="0">
                <a:solidFill>
                  <a:schemeClr val="tx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</a:rPr>
              <a:t>오배송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3743718" y="3446111"/>
            <a:ext cx="2880000" cy="864000"/>
          </a:xfrm>
          <a:prstGeom prst="rect">
            <a:avLst/>
          </a:prstGeom>
          <a:noFill/>
        </p:spPr>
        <p:txBody>
          <a:bodyPr wrap="square" lIns="72000" tIns="36000" rIns="72000" bIns="36000" rtlCol="0" anchor="ctr">
            <a:spAutoFit/>
          </a:bodyPr>
          <a:lstStyle>
            <a:defPPr>
              <a:defRPr lang="ko-KR"/>
            </a:defPPr>
            <a:lvl1pPr marL="92075" indent="-92075">
              <a:lnSpc>
                <a:spcPct val="150000"/>
              </a:lnSpc>
              <a:buFont typeface="Arial" panose="020B0604020202020204" pitchFamily="34" charset="0"/>
              <a:buChar char="•"/>
              <a:defRPr sz="7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en-US" altLang="ko-KR"/>
              <a:t>LF</a:t>
            </a:r>
            <a:r>
              <a:rPr lang="ko-KR" altLang="en-US"/>
              <a:t>슝배송 </a:t>
            </a:r>
            <a:r>
              <a:rPr lang="en-US" altLang="ko-KR"/>
              <a:t>: 18</a:t>
            </a:r>
            <a:r>
              <a:rPr lang="ko-KR" altLang="en-US"/>
              <a:t>시 이전 결제 시 당일 출고가 가능합니다</a:t>
            </a:r>
            <a:r>
              <a:rPr lang="en-US" altLang="ko-KR"/>
              <a:t>.</a:t>
            </a:r>
          </a:p>
          <a:p>
            <a:r>
              <a:rPr lang="ko-KR" altLang="en-US"/>
              <a:t>일반배송 </a:t>
            </a:r>
            <a:r>
              <a:rPr lang="en-US" altLang="ko-KR"/>
              <a:t>: </a:t>
            </a:r>
            <a:r>
              <a:rPr lang="ko-KR" altLang="en-US"/>
              <a:t>결제완료일로부터 평균 </a:t>
            </a:r>
            <a:r>
              <a:rPr lang="en-US" altLang="ko-KR"/>
              <a:t>2~3</a:t>
            </a:r>
            <a:r>
              <a:rPr lang="ko-KR" altLang="en-US"/>
              <a:t>일</a:t>
            </a:r>
            <a:r>
              <a:rPr lang="en-US" altLang="ko-KR"/>
              <a:t>(</a:t>
            </a:r>
            <a:r>
              <a:rPr lang="ko-KR" altLang="en-US"/>
              <a:t>주말</a:t>
            </a:r>
            <a:r>
              <a:rPr lang="en-US" altLang="ko-KR"/>
              <a:t>,</a:t>
            </a:r>
            <a:r>
              <a:rPr lang="ko-KR" altLang="en-US"/>
              <a:t>공휴일 제외</a:t>
            </a:r>
            <a:r>
              <a:rPr lang="en-US" altLang="ko-KR"/>
              <a:t>) </a:t>
            </a:r>
            <a:r>
              <a:rPr lang="ko-KR" altLang="en-US"/>
              <a:t>소요될 수 있습니다</a:t>
            </a:r>
            <a:r>
              <a:rPr lang="en-US" altLang="ko-KR"/>
              <a:t>.</a:t>
            </a:r>
          </a:p>
          <a:p>
            <a:r>
              <a:rPr lang="ko-KR" altLang="en-US"/>
              <a:t>매장배송 </a:t>
            </a:r>
            <a:r>
              <a:rPr lang="en-US" altLang="ko-KR"/>
              <a:t>: </a:t>
            </a:r>
            <a:r>
              <a:rPr lang="ko-KR" altLang="en-US"/>
              <a:t>오프라인 매장 상품을 물류센터에서 검수 후 </a:t>
            </a:r>
            <a:r>
              <a:rPr lang="ko-KR" altLang="en-US"/>
              <a:t>발송하여 </a:t>
            </a:r>
            <a:r>
              <a:rPr lang="ko-KR" altLang="en-US" smtClean="0"/>
              <a:t>평균 </a:t>
            </a:r>
            <a:r>
              <a:rPr lang="en-US" altLang="ko-KR"/>
              <a:t>5~7</a:t>
            </a:r>
            <a:r>
              <a:rPr lang="ko-KR" altLang="en-US"/>
              <a:t>일</a:t>
            </a:r>
            <a:r>
              <a:rPr lang="en-US" altLang="ko-KR"/>
              <a:t>(</a:t>
            </a:r>
            <a:r>
              <a:rPr lang="ko-KR" altLang="en-US"/>
              <a:t>주말</a:t>
            </a:r>
            <a:r>
              <a:rPr lang="en-US" altLang="ko-KR"/>
              <a:t>, </a:t>
            </a:r>
            <a:r>
              <a:rPr lang="ko-KR" altLang="en-US"/>
              <a:t>공휴일 제외</a:t>
            </a:r>
            <a:r>
              <a:rPr lang="en-US" altLang="ko-KR"/>
              <a:t>) </a:t>
            </a:r>
            <a:r>
              <a:rPr lang="ko-KR" altLang="en-US"/>
              <a:t>소요될 수 있습니다</a:t>
            </a:r>
            <a:r>
              <a:rPr lang="en-US" altLang="ko-KR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8962423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직사각형 340">
            <a:extLst>
              <a:ext uri="{FF2B5EF4-FFF2-40B4-BE49-F238E27FC236}">
                <a16:creationId xmlns="" xmlns:a16="http://schemas.microsoft.com/office/drawing/2014/main" id="{ED30316B-09AE-48E0-BF18-1A5E3F61829D}"/>
              </a:ext>
            </a:extLst>
          </p:cNvPr>
          <p:cNvSpPr/>
          <p:nvPr/>
        </p:nvSpPr>
        <p:spPr>
          <a:xfrm>
            <a:off x="143906" y="1213699"/>
            <a:ext cx="1080000" cy="5184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  <a:effectLst>
            <a:outerShdw blurRad="12700" dist="12700" algn="l" rotWithShape="0">
              <a:schemeClr val="tx1">
                <a:lumMod val="75000"/>
                <a:lumOff val="2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endParaRPr lang="ko-KR" altLang="en-US" sz="1000" b="1">
              <a:solidFill>
                <a:schemeClr val="bg1">
                  <a:lumMod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42" name="직사각형 341"/>
          <p:cNvSpPr/>
          <p:nvPr/>
        </p:nvSpPr>
        <p:spPr>
          <a:xfrm>
            <a:off x="143906" y="1213699"/>
            <a:ext cx="1080000" cy="288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endParaRPr lang="ko-KR" altLang="en-US" sz="700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43" name="사각형: 둥근 모서리 296">
            <a:extLst>
              <a:ext uri="{FF2B5EF4-FFF2-40B4-BE49-F238E27FC236}">
                <a16:creationId xmlns="" xmlns:a16="http://schemas.microsoft.com/office/drawing/2014/main" id="{B58175FB-DF3C-47BC-89DF-82BB433EE187}"/>
              </a:ext>
            </a:extLst>
          </p:cNvPr>
          <p:cNvSpPr/>
          <p:nvPr/>
        </p:nvSpPr>
        <p:spPr bwMode="auto">
          <a:xfrm>
            <a:off x="215906" y="1285699"/>
            <a:ext cx="936000" cy="144000"/>
          </a:xfrm>
          <a:prstGeom prst="roundRect">
            <a:avLst/>
          </a:prstGeom>
          <a:solidFill>
            <a:schemeClr val="bg1"/>
          </a:solidFill>
          <a:ln w="3175" cap="flat" cmpd="sng" algn="ctr">
            <a:solidFill>
              <a:schemeClr val="bg1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>
            <a:outerShdw blurRad="12700" dist="12700" dir="2700000" algn="tl" rotWithShape="0">
              <a:schemeClr val="tx1">
                <a:lumMod val="75000"/>
                <a:lumOff val="25000"/>
                <a:alpha val="30000"/>
              </a:schemeClr>
            </a:outerShdw>
          </a:effectLst>
        </p:spPr>
        <p:txBody>
          <a:bodyPr rot="0" spcFirstLastPara="0" vertOverflow="overflow" horzOverflow="overflow" vert="horz" wrap="non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400" fontAlgn="base" latinLnBrk="0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700" kern="0" dirty="0">
                <a:solidFill>
                  <a:srgbClr val="000000"/>
                </a:solidFill>
                <a:latin typeface="+mn-ea"/>
              </a:rPr>
              <a:t>LFmall </a:t>
            </a:r>
            <a:r>
              <a:rPr kumimoji="1" lang="ko-KR" altLang="en-US" sz="700" kern="0" dirty="0">
                <a:solidFill>
                  <a:srgbClr val="000000"/>
                </a:solidFill>
                <a:latin typeface="+mn-ea"/>
              </a:rPr>
              <a:t>바로가기</a:t>
            </a:r>
          </a:p>
        </p:txBody>
      </p:sp>
      <p:sp>
        <p:nvSpPr>
          <p:cNvPr id="344" name="직사각형 343"/>
          <p:cNvSpPr/>
          <p:nvPr/>
        </p:nvSpPr>
        <p:spPr>
          <a:xfrm>
            <a:off x="143906" y="1501699"/>
            <a:ext cx="540000" cy="21600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7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메뉴</a:t>
            </a:r>
            <a:endParaRPr lang="ko-KR" altLang="en-US" sz="700" b="1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45" name="직사각형 344"/>
          <p:cNvSpPr/>
          <p:nvPr/>
        </p:nvSpPr>
        <p:spPr>
          <a:xfrm>
            <a:off x="683906" y="1501699"/>
            <a:ext cx="540000" cy="216000"/>
          </a:xfrm>
          <a:prstGeom prst="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70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즐겨찾기</a:t>
            </a:r>
            <a:endParaRPr lang="ko-KR" altLang="en-US" sz="700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1" name="제목 1"/>
          <p:cNvSpPr txBox="1">
            <a:spLocks/>
          </p:cNvSpPr>
          <p:nvPr/>
        </p:nvSpPr>
        <p:spPr>
          <a:xfrm>
            <a:off x="1223906" y="358660"/>
            <a:ext cx="1080000" cy="216000"/>
          </a:xfrm>
          <a:prstGeom prst="rect">
            <a:avLst/>
          </a:prstGeom>
        </p:spPr>
        <p:txBody>
          <a:bodyPr lIns="36000" tIns="36000" rIns="36000" bIns="36000" anchor="ctr"/>
          <a:lstStyle>
            <a:lvl1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2pPr>
            <a:lvl3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3pPr>
            <a:lvl4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4pPr>
            <a:lvl5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5pPr>
            <a:lvl6pPr marL="457212" algn="ctr" rtl="0" fontAlgn="base" latinLnBrk="1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6pPr>
            <a:lvl7pPr marL="914423" algn="ctr" rtl="0" fontAlgn="base" latinLnBrk="1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7pPr>
            <a:lvl8pPr marL="1371634" algn="ctr" rtl="0" fontAlgn="base" latinLnBrk="1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8pPr>
            <a:lvl9pPr marL="1828846" algn="ctr" rtl="0" fontAlgn="base" latinLnBrk="1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r>
              <a:rPr lang="en-US" altLang="ko-KR" sz="800" ker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-</a:t>
            </a:r>
            <a:endParaRPr lang="ko-KR" altLang="en-US" sz="800" kern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00" name="제목 1">
            <a:extLst>
              <a:ext uri="{FF2B5EF4-FFF2-40B4-BE49-F238E27FC236}">
                <a16:creationId xmlns="" xmlns:a16="http://schemas.microsoft.com/office/drawing/2014/main" id="{03F65532-A01C-4981-B987-5E15F64E3ABB}"/>
              </a:ext>
            </a:extLst>
          </p:cNvPr>
          <p:cNvSpPr txBox="1">
            <a:spLocks/>
          </p:cNvSpPr>
          <p:nvPr/>
        </p:nvSpPr>
        <p:spPr>
          <a:xfrm>
            <a:off x="3383718" y="142660"/>
            <a:ext cx="4320000" cy="216000"/>
          </a:xfrm>
          <a:prstGeom prst="rect">
            <a:avLst/>
          </a:prstGeom>
        </p:spPr>
        <p:txBody>
          <a:bodyPr lIns="180000" tIns="36000" rIns="180000" bIns="36000" anchor="ctr"/>
          <a:lstStyle>
            <a:lvl1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2pPr>
            <a:lvl3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3pPr>
            <a:lvl4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4pPr>
            <a:lvl5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5pPr>
            <a:lvl6pPr marL="457212" algn="ctr" rtl="0" fontAlgn="base" latinLnBrk="1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6pPr>
            <a:lvl7pPr marL="914423" algn="ctr" rtl="0" fontAlgn="base" latinLnBrk="1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7pPr>
            <a:lvl8pPr marL="1371634" algn="ctr" rtl="0" fontAlgn="base" latinLnBrk="1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8pPr>
            <a:lvl9pPr marL="1828846" algn="ctr" rtl="0" fontAlgn="base" latinLnBrk="1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l"/>
            <a:r>
              <a:rPr lang="ko-KR" altLang="en-US" sz="800" kern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상품 </a:t>
            </a:r>
            <a:r>
              <a:rPr lang="en-US" altLang="ko-KR" sz="800" ker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800" kern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상품관리 </a:t>
            </a:r>
            <a:r>
              <a:rPr lang="en-US" altLang="ko-KR" sz="800" ker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800" kern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상품관리</a:t>
            </a:r>
            <a:endParaRPr lang="ko-KR" altLang="en-US" sz="800" kern="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201" name="제목 1">
            <a:extLst>
              <a:ext uri="{FF2B5EF4-FFF2-40B4-BE49-F238E27FC236}">
                <a16:creationId xmlns="" xmlns:a16="http://schemas.microsoft.com/office/drawing/2014/main" id="{E2CFB5AD-2840-4821-B288-2284D6C0A05E}"/>
              </a:ext>
            </a:extLst>
          </p:cNvPr>
          <p:cNvSpPr txBox="1">
            <a:spLocks/>
          </p:cNvSpPr>
          <p:nvPr/>
        </p:nvSpPr>
        <p:spPr>
          <a:xfrm>
            <a:off x="3383718" y="358660"/>
            <a:ext cx="4320000" cy="216000"/>
          </a:xfrm>
          <a:prstGeom prst="rect">
            <a:avLst/>
          </a:prstGeom>
        </p:spPr>
        <p:txBody>
          <a:bodyPr lIns="180000" tIns="36000" rIns="180000" bIns="36000" anchor="ctr"/>
          <a:lstStyle>
            <a:lvl1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2pPr>
            <a:lvl3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3pPr>
            <a:lvl4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4pPr>
            <a:lvl5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5pPr>
            <a:lvl6pPr marL="457212" algn="ctr" rtl="0" fontAlgn="base" latinLnBrk="1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6pPr>
            <a:lvl7pPr marL="914423" algn="ctr" rtl="0" fontAlgn="base" latinLnBrk="1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7pPr>
            <a:lvl8pPr marL="1371634" algn="ctr" rtl="0" fontAlgn="base" latinLnBrk="1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8pPr>
            <a:lvl9pPr marL="1828846" algn="ctr" rtl="0" fontAlgn="base" latinLnBrk="1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l"/>
            <a:r>
              <a:rPr lang="en-US" altLang="ko-KR" sz="8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https://nbos.lfmall.co.kr/lfmadm/index.html</a:t>
            </a:r>
            <a:endParaRPr lang="ko-KR" altLang="en-US" sz="800" kern="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</a:endParaRPr>
          </a:p>
        </p:txBody>
      </p:sp>
      <p:graphicFrame>
        <p:nvGraphicFramePr>
          <p:cNvPr id="150" name="Group 118">
            <a:extLst>
              <a:ext uri="{FF2B5EF4-FFF2-40B4-BE49-F238E27FC236}">
                <a16:creationId xmlns="" xmlns:a16="http://schemas.microsoft.com/office/drawing/2014/main" id="{41B5A014-BEDB-439E-A302-DBCECEC856B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38804660"/>
              </p:ext>
            </p:extLst>
          </p:nvPr>
        </p:nvGraphicFramePr>
        <p:xfrm>
          <a:off x="9647906" y="709700"/>
          <a:ext cx="2376000" cy="504000"/>
        </p:xfrm>
        <a:graphic>
          <a:graphicData uri="http://schemas.openxmlformats.org/drawingml/2006/table">
            <a:tbl>
              <a:tblPr/>
              <a:tblGrid>
                <a:gridCol w="216000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2160000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</a:tblGrid>
              <a:tr h="2520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 Semilight" panose="020B0502040204020203" pitchFamily="50" charset="-127"/>
                        </a:rPr>
                        <a:t>No</a:t>
                      </a:r>
                    </a:p>
                  </a:txBody>
                  <a:tcPr marL="42203" marR="42203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en-US" altLang="ko-KR" sz="700" b="0" baseline="0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 Semilight" panose="020B0502040204020203" pitchFamily="50" charset="-127"/>
                        </a:rPr>
                        <a:t>Description</a:t>
                      </a:r>
                    </a:p>
                  </a:txBody>
                  <a:tcPr marL="108000" marR="108000" marT="36000" marB="3600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 Semilight" panose="020B0502040204020203" pitchFamily="50" charset="-127"/>
                        </a:rPr>
                        <a:t>1</a:t>
                      </a:r>
                    </a:p>
                  </a:txBody>
                  <a:tcPr marL="42203" marR="42203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ko-KR" altLang="en-US" sz="700" b="0" baseline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 Semilight" panose="020B0502040204020203" pitchFamily="50" charset="-127"/>
                        </a:rPr>
                        <a:t>변경사항 없음</a:t>
                      </a:r>
                      <a:endParaRPr lang="en-US" altLang="ko-KR" sz="700" b="0" baseline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108000" marR="108000" marT="36000" marB="3600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29" name="제목 1"/>
          <p:cNvSpPr txBox="1">
            <a:spLocks/>
          </p:cNvSpPr>
          <p:nvPr/>
        </p:nvSpPr>
        <p:spPr>
          <a:xfrm>
            <a:off x="1223906" y="142660"/>
            <a:ext cx="1080000" cy="216000"/>
          </a:xfrm>
          <a:prstGeom prst="rect">
            <a:avLst/>
          </a:prstGeom>
        </p:spPr>
        <p:txBody>
          <a:bodyPr lIns="36000" tIns="36000" rIns="36000" bIns="36000" anchor="ctr"/>
          <a:lstStyle>
            <a:lvl1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2pPr>
            <a:lvl3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3pPr>
            <a:lvl4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4pPr>
            <a:lvl5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5pPr>
            <a:lvl6pPr marL="457212" algn="ctr" rtl="0" fontAlgn="base" latinLnBrk="1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6pPr>
            <a:lvl7pPr marL="914423" algn="ctr" rtl="0" fontAlgn="base" latinLnBrk="1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7pPr>
            <a:lvl8pPr marL="1371634" algn="ctr" rtl="0" fontAlgn="base" latinLnBrk="1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8pPr>
            <a:lvl9pPr marL="1828846" algn="ctr" rtl="0" fontAlgn="base" latinLnBrk="1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r>
              <a:rPr lang="en-US" altLang="ko-KR" sz="8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nBOS</a:t>
            </a:r>
            <a:endParaRPr lang="ko-KR" altLang="en-US" sz="800" kern="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28" name="TextBox 127">
            <a:extLst>
              <a:ext uri="{FF2B5EF4-FFF2-40B4-BE49-F238E27FC236}">
                <a16:creationId xmlns="" xmlns:a16="http://schemas.microsoft.com/office/drawing/2014/main" id="{821D320A-7043-4925-9E68-A31B417D2A2B}"/>
              </a:ext>
            </a:extLst>
          </p:cNvPr>
          <p:cNvSpPr txBox="1"/>
          <p:nvPr/>
        </p:nvSpPr>
        <p:spPr>
          <a:xfrm>
            <a:off x="1367906" y="1439816"/>
            <a:ext cx="628478" cy="195814"/>
          </a:xfrm>
          <a:prstGeom prst="rect">
            <a:avLst/>
          </a:prstGeom>
          <a:noFill/>
          <a:ln w="317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108000" tIns="36000" rIns="108000" bIns="36000" numCol="1" rtlCol="0" anchor="ctr" anchorCtr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ko-KR" altLang="en-US" sz="800" b="1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상품관리</a:t>
            </a:r>
            <a:endParaRPr lang="ko-KR" altLang="en-US" sz="800" b="1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</p:txBody>
      </p:sp>
      <p:sp>
        <p:nvSpPr>
          <p:cNvPr id="130" name="직사각형 129">
            <a:extLst>
              <a:ext uri="{FF2B5EF4-FFF2-40B4-BE49-F238E27FC236}">
                <a16:creationId xmlns="" xmlns:a16="http://schemas.microsoft.com/office/drawing/2014/main" id="{1824E750-4BB3-4D13-BABD-9501057BC22E}"/>
              </a:ext>
            </a:extLst>
          </p:cNvPr>
          <p:cNvSpPr/>
          <p:nvPr/>
        </p:nvSpPr>
        <p:spPr>
          <a:xfrm>
            <a:off x="143906" y="709700"/>
            <a:ext cx="9360000" cy="288000"/>
          </a:xfrm>
          <a:prstGeom prst="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0" rIns="180000" bIns="0" rtlCol="0" anchor="ctr"/>
          <a:lstStyle/>
          <a:p>
            <a:pPr algn="l">
              <a:lnSpc>
                <a:spcPct val="150000"/>
              </a:lnSpc>
            </a:pPr>
            <a:endParaRPr lang="en-US" altLang="ko-KR" sz="700" b="0" i="0">
              <a:solidFill>
                <a:srgbClr val="FFFFFF"/>
              </a:solidFill>
              <a:effectLst/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131" name="사각형: 둥근 모서리 296">
            <a:extLst>
              <a:ext uri="{FF2B5EF4-FFF2-40B4-BE49-F238E27FC236}">
                <a16:creationId xmlns="" xmlns:a16="http://schemas.microsoft.com/office/drawing/2014/main" id="{B58175FB-DF3C-47BC-89DF-82BB433EE187}"/>
              </a:ext>
            </a:extLst>
          </p:cNvPr>
          <p:cNvSpPr/>
          <p:nvPr/>
        </p:nvSpPr>
        <p:spPr bwMode="auto">
          <a:xfrm>
            <a:off x="2087960" y="781700"/>
            <a:ext cx="1080000" cy="144000"/>
          </a:xfrm>
          <a:prstGeom prst="roundRect">
            <a:avLst/>
          </a:prstGeom>
          <a:solidFill>
            <a:srgbClr val="F3F7FB"/>
          </a:solidFill>
          <a:ln w="3175" cap="flat" cmpd="sng" algn="ctr">
            <a:solidFill>
              <a:schemeClr val="bg1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>
            <a:outerShdw blurRad="12700" dist="12700" dir="2700000" algn="tl" rotWithShape="0">
              <a:schemeClr val="tx1">
                <a:lumMod val="75000"/>
                <a:lumOff val="25000"/>
                <a:alpha val="30000"/>
              </a:schemeClr>
            </a:outerShdw>
          </a:effectLst>
        </p:spPr>
        <p:txBody>
          <a:bodyPr rot="0" spcFirstLastPara="0" vertOverflow="overflow" horzOverflow="overflow" vert="horz" wrap="non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400" fontAlgn="base" latinLnBrk="0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700" kern="0" dirty="0">
                <a:solidFill>
                  <a:srgbClr val="000000"/>
                </a:solidFill>
                <a:latin typeface="+mn-ea"/>
              </a:rPr>
              <a:t>업무담당자 연락처보기</a:t>
            </a:r>
          </a:p>
        </p:txBody>
      </p:sp>
      <p:sp>
        <p:nvSpPr>
          <p:cNvPr id="132" name="직사각형 131">
            <a:extLst>
              <a:ext uri="{FF2B5EF4-FFF2-40B4-BE49-F238E27FC236}">
                <a16:creationId xmlns="" xmlns:a16="http://schemas.microsoft.com/office/drawing/2014/main" id="{4601BB9D-29E6-4387-A9BC-B614256B84E6}"/>
              </a:ext>
            </a:extLst>
          </p:cNvPr>
          <p:cNvSpPr/>
          <p:nvPr/>
        </p:nvSpPr>
        <p:spPr>
          <a:xfrm>
            <a:off x="7488393" y="781356"/>
            <a:ext cx="1296000" cy="144000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/>
          <a:lstStyle/>
          <a:p>
            <a:pPr algn="r"/>
            <a:r>
              <a:rPr lang="ko-KR" altLang="en-US" sz="7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홍길동</a:t>
            </a:r>
            <a:r>
              <a:rPr lang="ko-KR" altLang="en-US" sz="7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관리자 </a:t>
            </a:r>
            <a:r>
              <a:rPr lang="en-US" altLang="ko-KR" sz="7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en-US" altLang="ko-KR" sz="700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administrator</a:t>
            </a:r>
            <a:r>
              <a:rPr lang="en-US" altLang="ko-KR" sz="7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endParaRPr lang="ko-KR" altLang="en-US" sz="7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133" name="Picture 2">
            <a:extLst>
              <a:ext uri="{FF2B5EF4-FFF2-40B4-BE49-F238E27FC236}">
                <a16:creationId xmlns="" xmlns:a16="http://schemas.microsoft.com/office/drawing/2014/main" id="{4828E12B-7F18-4601-B086-C3E535638F2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" r="74445" b="87250"/>
          <a:stretch/>
        </p:blipFill>
        <p:spPr bwMode="auto">
          <a:xfrm>
            <a:off x="323168" y="763700"/>
            <a:ext cx="721569" cy="18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4" name="TextBox 133">
            <a:extLst>
              <a:ext uri="{FF2B5EF4-FFF2-40B4-BE49-F238E27FC236}">
                <a16:creationId xmlns="" xmlns:a16="http://schemas.microsoft.com/office/drawing/2014/main" id="{22906217-2D84-45DA-8206-D6A7EAFC70CF}"/>
              </a:ext>
            </a:extLst>
          </p:cNvPr>
          <p:cNvSpPr txBox="1"/>
          <p:nvPr/>
        </p:nvSpPr>
        <p:spPr>
          <a:xfrm>
            <a:off x="1044737" y="763488"/>
            <a:ext cx="1043656" cy="180425"/>
          </a:xfrm>
          <a:prstGeom prst="rect">
            <a:avLst/>
          </a:prstGeom>
          <a:noFill/>
          <a:ln w="317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108000" tIns="36000" rIns="108000" bIns="36000" numCol="1" rtlCol="0" anchor="ctr" anchorCtr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altLang="ko-KR" sz="7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Back Office System</a:t>
            </a:r>
          </a:p>
        </p:txBody>
      </p:sp>
      <p:grpSp>
        <p:nvGrpSpPr>
          <p:cNvPr id="135" name="그룹 134"/>
          <p:cNvGrpSpPr/>
          <p:nvPr/>
        </p:nvGrpSpPr>
        <p:grpSpPr>
          <a:xfrm>
            <a:off x="143906" y="997699"/>
            <a:ext cx="9360000" cy="216000"/>
            <a:chOff x="143906" y="997699"/>
            <a:chExt cx="9360000" cy="216000"/>
          </a:xfrm>
          <a:solidFill>
            <a:schemeClr val="tx1">
              <a:lumMod val="75000"/>
              <a:lumOff val="25000"/>
            </a:schemeClr>
          </a:solidFill>
        </p:grpSpPr>
        <p:sp>
          <p:nvSpPr>
            <p:cNvPr id="136" name="직사각형 135"/>
            <p:cNvSpPr/>
            <p:nvPr/>
          </p:nvSpPr>
          <p:spPr>
            <a:xfrm>
              <a:off x="143906" y="997699"/>
              <a:ext cx="720000" cy="216000"/>
            </a:xfrm>
            <a:prstGeom prst="rect">
              <a:avLst/>
            </a:prstGeom>
            <a:grp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/>
              <a:r>
                <a:rPr lang="ko-KR" altLang="en-US" sz="70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홈</a:t>
              </a:r>
              <a:endParaRPr lang="ko-KR" altLang="en-US" sz="70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37" name="직사각형 136"/>
            <p:cNvSpPr/>
            <p:nvPr/>
          </p:nvSpPr>
          <p:spPr>
            <a:xfrm>
              <a:off x="863906" y="997699"/>
              <a:ext cx="720000" cy="216000"/>
            </a:xfrm>
            <a:prstGeom prst="rect">
              <a:avLst/>
            </a:prstGeom>
            <a:solidFill>
              <a:srgbClr val="C00000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/>
              <a:r>
                <a:rPr lang="ko-KR" altLang="en-US" sz="70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상품</a:t>
              </a:r>
              <a:endParaRPr lang="ko-KR" altLang="en-US" sz="70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38" name="직사각형 137"/>
            <p:cNvSpPr/>
            <p:nvPr/>
          </p:nvSpPr>
          <p:spPr>
            <a:xfrm>
              <a:off x="1583906" y="997699"/>
              <a:ext cx="720000" cy="216000"/>
            </a:xfrm>
            <a:prstGeom prst="rect">
              <a:avLst/>
            </a:prstGeom>
            <a:grp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/>
              <a:r>
                <a:rPr lang="ko-KR" altLang="en-US" sz="700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주문</a:t>
              </a:r>
              <a:r>
                <a:rPr lang="en-US" altLang="ko-KR" sz="700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/</a:t>
              </a:r>
              <a:r>
                <a:rPr lang="ko-KR" altLang="en-US" sz="700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배송</a:t>
              </a:r>
            </a:p>
          </p:txBody>
        </p:sp>
        <p:sp>
          <p:nvSpPr>
            <p:cNvPr id="139" name="직사각형 138"/>
            <p:cNvSpPr/>
            <p:nvPr/>
          </p:nvSpPr>
          <p:spPr>
            <a:xfrm>
              <a:off x="2303906" y="997699"/>
              <a:ext cx="720000" cy="216000"/>
            </a:xfrm>
            <a:prstGeom prst="rect">
              <a:avLst/>
            </a:prstGeom>
            <a:grp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/>
              <a:r>
                <a:rPr lang="ko-KR" altLang="en-US" sz="700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회원</a:t>
              </a:r>
              <a:r>
                <a:rPr lang="en-US" altLang="ko-KR" sz="700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/</a:t>
              </a:r>
              <a:r>
                <a:rPr lang="ko-KR" altLang="en-US" sz="700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프로모션</a:t>
              </a:r>
            </a:p>
          </p:txBody>
        </p:sp>
        <p:sp>
          <p:nvSpPr>
            <p:cNvPr id="140" name="직사각형 139"/>
            <p:cNvSpPr/>
            <p:nvPr/>
          </p:nvSpPr>
          <p:spPr>
            <a:xfrm>
              <a:off x="3023906" y="997699"/>
              <a:ext cx="720000" cy="216000"/>
            </a:xfrm>
            <a:prstGeom prst="rect">
              <a:avLst/>
            </a:prstGeom>
            <a:grp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/>
              <a:r>
                <a:rPr lang="ko-KR" altLang="en-US" sz="700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영업</a:t>
              </a:r>
            </a:p>
          </p:txBody>
        </p:sp>
        <p:sp>
          <p:nvSpPr>
            <p:cNvPr id="141" name="직사각형 140"/>
            <p:cNvSpPr/>
            <p:nvPr/>
          </p:nvSpPr>
          <p:spPr>
            <a:xfrm>
              <a:off x="3743906" y="997699"/>
              <a:ext cx="720000" cy="216000"/>
            </a:xfrm>
            <a:prstGeom prst="rect">
              <a:avLst/>
            </a:prstGeom>
            <a:grp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/>
              <a:r>
                <a:rPr lang="ko-KR" altLang="en-US" sz="700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정산</a:t>
              </a:r>
            </a:p>
          </p:txBody>
        </p:sp>
        <p:sp>
          <p:nvSpPr>
            <p:cNvPr id="142" name="직사각형 141"/>
            <p:cNvSpPr/>
            <p:nvPr/>
          </p:nvSpPr>
          <p:spPr>
            <a:xfrm>
              <a:off x="4463906" y="997699"/>
              <a:ext cx="720000" cy="216000"/>
            </a:xfrm>
            <a:prstGeom prst="rect">
              <a:avLst/>
            </a:prstGeom>
            <a:grp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/>
              <a:r>
                <a:rPr lang="ko-KR" altLang="en-US" sz="70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통계</a:t>
              </a:r>
              <a:endParaRPr lang="ko-KR" altLang="en-US" sz="70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43" name="직사각형 142"/>
            <p:cNvSpPr/>
            <p:nvPr/>
          </p:nvSpPr>
          <p:spPr>
            <a:xfrm>
              <a:off x="5183906" y="997699"/>
              <a:ext cx="720000" cy="216000"/>
            </a:xfrm>
            <a:prstGeom prst="rect">
              <a:avLst/>
            </a:prstGeom>
            <a:grp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/>
              <a:r>
                <a:rPr lang="ko-KR" altLang="en-US" sz="70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게시판</a:t>
              </a:r>
              <a:endParaRPr lang="ko-KR" altLang="en-US" sz="70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44" name="직사각형 143"/>
            <p:cNvSpPr/>
            <p:nvPr/>
          </p:nvSpPr>
          <p:spPr>
            <a:xfrm>
              <a:off x="5903906" y="997699"/>
              <a:ext cx="720000" cy="216000"/>
            </a:xfrm>
            <a:prstGeom prst="rect">
              <a:avLst/>
            </a:prstGeom>
            <a:grp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/>
              <a:r>
                <a:rPr lang="ko-KR" altLang="en-US" sz="700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고객추천지수</a:t>
              </a:r>
            </a:p>
          </p:txBody>
        </p:sp>
        <p:sp>
          <p:nvSpPr>
            <p:cNvPr id="145" name="직사각형 144"/>
            <p:cNvSpPr/>
            <p:nvPr/>
          </p:nvSpPr>
          <p:spPr>
            <a:xfrm>
              <a:off x="6623906" y="997699"/>
              <a:ext cx="720000" cy="216000"/>
            </a:xfrm>
            <a:prstGeom prst="rect">
              <a:avLst/>
            </a:prstGeom>
            <a:grp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/>
              <a:r>
                <a:rPr lang="ko-KR" altLang="en-US" sz="70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시스템</a:t>
              </a:r>
              <a:endParaRPr lang="ko-KR" altLang="en-US" sz="70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46" name="직사각형 145"/>
            <p:cNvSpPr/>
            <p:nvPr/>
          </p:nvSpPr>
          <p:spPr>
            <a:xfrm>
              <a:off x="7343906" y="997699"/>
              <a:ext cx="2160000" cy="216000"/>
            </a:xfrm>
            <a:prstGeom prst="rect">
              <a:avLst/>
            </a:prstGeom>
            <a:grp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/>
              <a:endParaRPr lang="ko-KR" altLang="en-US" sz="70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grpSp>
        <p:nvGrpSpPr>
          <p:cNvPr id="148" name="그룹 147"/>
          <p:cNvGrpSpPr/>
          <p:nvPr/>
        </p:nvGrpSpPr>
        <p:grpSpPr>
          <a:xfrm>
            <a:off x="8856393" y="781700"/>
            <a:ext cx="144000" cy="144000"/>
            <a:chOff x="8856393" y="781700"/>
            <a:chExt cx="144000" cy="144000"/>
          </a:xfrm>
        </p:grpSpPr>
        <p:sp>
          <p:nvSpPr>
            <p:cNvPr id="149" name="사각형: 둥근 모서리 296">
              <a:extLst>
                <a:ext uri="{FF2B5EF4-FFF2-40B4-BE49-F238E27FC236}">
                  <a16:creationId xmlns="" xmlns:a16="http://schemas.microsoft.com/office/drawing/2014/main" id="{5E2C148E-29FC-42C6-B221-CA7B7DA48E4E}"/>
                </a:ext>
              </a:extLst>
            </p:cNvPr>
            <p:cNvSpPr/>
            <p:nvPr/>
          </p:nvSpPr>
          <p:spPr bwMode="auto">
            <a:xfrm>
              <a:off x="8856393" y="781700"/>
              <a:ext cx="144000" cy="144000"/>
            </a:xfrm>
            <a:prstGeom prst="roundRect">
              <a:avLst/>
            </a:prstGeom>
            <a:solidFill>
              <a:srgbClr val="F3F7FB"/>
            </a:solidFill>
            <a:ln w="3175" cap="flat" cmpd="sng" algn="ctr">
              <a:solidFill>
                <a:schemeClr val="bg1">
                  <a:lumMod val="7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12700" dist="12700" dir="2700000" algn="tl" rotWithShape="0">
                <a:schemeClr val="tx1">
                  <a:lumMod val="75000"/>
                  <a:lumOff val="25000"/>
                  <a:alpha val="30000"/>
                </a:schemeClr>
              </a:outerShdw>
            </a:effectLst>
          </p:spPr>
          <p:txBody>
            <a:bodyPr rot="0" spcFirstLastPara="0" vertOverflow="overflow" horzOverflow="overflow" vert="horz" wrap="none" lIns="108000" tIns="36000" rIns="180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14400" fontAlgn="base" latinLnBrk="0">
                <a:spcBef>
                  <a:spcPct val="0"/>
                </a:spcBef>
                <a:spcAft>
                  <a:spcPct val="0"/>
                </a:spcAft>
              </a:pPr>
              <a:endParaRPr kumimoji="1" lang="ko-KR" altLang="en-US" sz="700" kern="0">
                <a:solidFill>
                  <a:srgbClr val="000000"/>
                </a:solidFill>
                <a:latin typeface="+mn-ea"/>
              </a:endParaRPr>
            </a:p>
          </p:txBody>
        </p:sp>
        <p:sp>
          <p:nvSpPr>
            <p:cNvPr id="151" name="Lock"/>
            <p:cNvSpPr>
              <a:spLocks noChangeAspect="1" noEditPoints="1"/>
            </p:cNvSpPr>
            <p:nvPr/>
          </p:nvSpPr>
          <p:spPr bwMode="auto">
            <a:xfrm>
              <a:off x="8872831" y="799700"/>
              <a:ext cx="111125" cy="108000"/>
            </a:xfrm>
            <a:custGeom>
              <a:avLst/>
              <a:gdLst>
                <a:gd name="T0" fmla="*/ 226 w 453"/>
                <a:gd name="T1" fmla="*/ 0 h 600"/>
                <a:gd name="T2" fmla="*/ 80 w 453"/>
                <a:gd name="T3" fmla="*/ 146 h 600"/>
                <a:gd name="T4" fmla="*/ 80 w 453"/>
                <a:gd name="T5" fmla="*/ 226 h 600"/>
                <a:gd name="T6" fmla="*/ 40 w 453"/>
                <a:gd name="T7" fmla="*/ 226 h 600"/>
                <a:gd name="T8" fmla="*/ 0 w 453"/>
                <a:gd name="T9" fmla="*/ 266 h 600"/>
                <a:gd name="T10" fmla="*/ 0 w 453"/>
                <a:gd name="T11" fmla="*/ 560 h 600"/>
                <a:gd name="T12" fmla="*/ 40 w 453"/>
                <a:gd name="T13" fmla="*/ 600 h 600"/>
                <a:gd name="T14" fmla="*/ 413 w 453"/>
                <a:gd name="T15" fmla="*/ 600 h 600"/>
                <a:gd name="T16" fmla="*/ 453 w 453"/>
                <a:gd name="T17" fmla="*/ 560 h 600"/>
                <a:gd name="T18" fmla="*/ 453 w 453"/>
                <a:gd name="T19" fmla="*/ 266 h 600"/>
                <a:gd name="T20" fmla="*/ 413 w 453"/>
                <a:gd name="T21" fmla="*/ 226 h 600"/>
                <a:gd name="T22" fmla="*/ 373 w 453"/>
                <a:gd name="T23" fmla="*/ 226 h 600"/>
                <a:gd name="T24" fmla="*/ 373 w 453"/>
                <a:gd name="T25" fmla="*/ 146 h 600"/>
                <a:gd name="T26" fmla="*/ 226 w 453"/>
                <a:gd name="T27" fmla="*/ 0 h 600"/>
                <a:gd name="T28" fmla="*/ 226 w 453"/>
                <a:gd name="T29" fmla="*/ 26 h 600"/>
                <a:gd name="T30" fmla="*/ 346 w 453"/>
                <a:gd name="T31" fmla="*/ 146 h 600"/>
                <a:gd name="T32" fmla="*/ 346 w 453"/>
                <a:gd name="T33" fmla="*/ 226 h 600"/>
                <a:gd name="T34" fmla="*/ 106 w 453"/>
                <a:gd name="T35" fmla="*/ 226 h 600"/>
                <a:gd name="T36" fmla="*/ 106 w 453"/>
                <a:gd name="T37" fmla="*/ 146 h 600"/>
                <a:gd name="T38" fmla="*/ 226 w 453"/>
                <a:gd name="T39" fmla="*/ 26 h 600"/>
                <a:gd name="T40" fmla="*/ 40 w 453"/>
                <a:gd name="T41" fmla="*/ 253 h 600"/>
                <a:gd name="T42" fmla="*/ 413 w 453"/>
                <a:gd name="T43" fmla="*/ 253 h 600"/>
                <a:gd name="T44" fmla="*/ 426 w 453"/>
                <a:gd name="T45" fmla="*/ 266 h 600"/>
                <a:gd name="T46" fmla="*/ 426 w 453"/>
                <a:gd name="T47" fmla="*/ 560 h 600"/>
                <a:gd name="T48" fmla="*/ 413 w 453"/>
                <a:gd name="T49" fmla="*/ 573 h 600"/>
                <a:gd name="T50" fmla="*/ 40 w 453"/>
                <a:gd name="T51" fmla="*/ 573 h 600"/>
                <a:gd name="T52" fmla="*/ 26 w 453"/>
                <a:gd name="T53" fmla="*/ 560 h 600"/>
                <a:gd name="T54" fmla="*/ 26 w 453"/>
                <a:gd name="T55" fmla="*/ 266 h 600"/>
                <a:gd name="T56" fmla="*/ 40 w 453"/>
                <a:gd name="T57" fmla="*/ 253 h 600"/>
                <a:gd name="T58" fmla="*/ 226 w 453"/>
                <a:gd name="T59" fmla="*/ 346 h 600"/>
                <a:gd name="T60" fmla="*/ 186 w 453"/>
                <a:gd name="T61" fmla="*/ 386 h 600"/>
                <a:gd name="T62" fmla="*/ 200 w 453"/>
                <a:gd name="T63" fmla="*/ 416 h 600"/>
                <a:gd name="T64" fmla="*/ 200 w 453"/>
                <a:gd name="T65" fmla="*/ 453 h 600"/>
                <a:gd name="T66" fmla="*/ 226 w 453"/>
                <a:gd name="T67" fmla="*/ 480 h 600"/>
                <a:gd name="T68" fmla="*/ 253 w 453"/>
                <a:gd name="T69" fmla="*/ 453 h 600"/>
                <a:gd name="T70" fmla="*/ 253 w 453"/>
                <a:gd name="T71" fmla="*/ 416 h 600"/>
                <a:gd name="T72" fmla="*/ 266 w 453"/>
                <a:gd name="T73" fmla="*/ 386 h 600"/>
                <a:gd name="T74" fmla="*/ 226 w 453"/>
                <a:gd name="T75" fmla="*/ 346 h 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453" h="600">
                  <a:moveTo>
                    <a:pt x="226" y="0"/>
                  </a:moveTo>
                  <a:cubicBezTo>
                    <a:pt x="146" y="0"/>
                    <a:pt x="80" y="65"/>
                    <a:pt x="80" y="146"/>
                  </a:cubicBezTo>
                  <a:lnTo>
                    <a:pt x="80" y="226"/>
                  </a:lnTo>
                  <a:lnTo>
                    <a:pt x="40" y="226"/>
                  </a:lnTo>
                  <a:cubicBezTo>
                    <a:pt x="18" y="226"/>
                    <a:pt x="0" y="244"/>
                    <a:pt x="0" y="266"/>
                  </a:cubicBezTo>
                  <a:lnTo>
                    <a:pt x="0" y="560"/>
                  </a:lnTo>
                  <a:cubicBezTo>
                    <a:pt x="0" y="582"/>
                    <a:pt x="18" y="600"/>
                    <a:pt x="40" y="600"/>
                  </a:cubicBezTo>
                  <a:lnTo>
                    <a:pt x="413" y="600"/>
                  </a:lnTo>
                  <a:cubicBezTo>
                    <a:pt x="435" y="600"/>
                    <a:pt x="453" y="582"/>
                    <a:pt x="453" y="560"/>
                  </a:cubicBezTo>
                  <a:lnTo>
                    <a:pt x="453" y="266"/>
                  </a:lnTo>
                  <a:cubicBezTo>
                    <a:pt x="453" y="244"/>
                    <a:pt x="435" y="226"/>
                    <a:pt x="413" y="226"/>
                  </a:cubicBezTo>
                  <a:lnTo>
                    <a:pt x="373" y="226"/>
                  </a:lnTo>
                  <a:lnTo>
                    <a:pt x="373" y="146"/>
                  </a:lnTo>
                  <a:cubicBezTo>
                    <a:pt x="373" y="65"/>
                    <a:pt x="307" y="0"/>
                    <a:pt x="226" y="0"/>
                  </a:cubicBezTo>
                  <a:close/>
                  <a:moveTo>
                    <a:pt x="226" y="26"/>
                  </a:moveTo>
                  <a:cubicBezTo>
                    <a:pt x="293" y="26"/>
                    <a:pt x="346" y="80"/>
                    <a:pt x="346" y="146"/>
                  </a:cubicBezTo>
                  <a:lnTo>
                    <a:pt x="346" y="226"/>
                  </a:lnTo>
                  <a:lnTo>
                    <a:pt x="106" y="226"/>
                  </a:lnTo>
                  <a:lnTo>
                    <a:pt x="106" y="146"/>
                  </a:lnTo>
                  <a:cubicBezTo>
                    <a:pt x="106" y="80"/>
                    <a:pt x="160" y="26"/>
                    <a:pt x="226" y="26"/>
                  </a:cubicBezTo>
                  <a:close/>
                  <a:moveTo>
                    <a:pt x="40" y="253"/>
                  </a:moveTo>
                  <a:lnTo>
                    <a:pt x="413" y="253"/>
                  </a:lnTo>
                  <a:cubicBezTo>
                    <a:pt x="421" y="253"/>
                    <a:pt x="426" y="259"/>
                    <a:pt x="426" y="266"/>
                  </a:cubicBezTo>
                  <a:lnTo>
                    <a:pt x="426" y="560"/>
                  </a:lnTo>
                  <a:cubicBezTo>
                    <a:pt x="426" y="567"/>
                    <a:pt x="421" y="573"/>
                    <a:pt x="413" y="573"/>
                  </a:cubicBezTo>
                  <a:lnTo>
                    <a:pt x="40" y="573"/>
                  </a:lnTo>
                  <a:cubicBezTo>
                    <a:pt x="32" y="573"/>
                    <a:pt x="26" y="567"/>
                    <a:pt x="26" y="560"/>
                  </a:cubicBezTo>
                  <a:lnTo>
                    <a:pt x="26" y="266"/>
                  </a:lnTo>
                  <a:cubicBezTo>
                    <a:pt x="26" y="259"/>
                    <a:pt x="32" y="253"/>
                    <a:pt x="40" y="253"/>
                  </a:cubicBezTo>
                  <a:close/>
                  <a:moveTo>
                    <a:pt x="226" y="346"/>
                  </a:moveTo>
                  <a:cubicBezTo>
                    <a:pt x="204" y="346"/>
                    <a:pt x="186" y="364"/>
                    <a:pt x="186" y="386"/>
                  </a:cubicBezTo>
                  <a:cubicBezTo>
                    <a:pt x="186" y="398"/>
                    <a:pt x="192" y="409"/>
                    <a:pt x="200" y="416"/>
                  </a:cubicBezTo>
                  <a:lnTo>
                    <a:pt x="200" y="453"/>
                  </a:lnTo>
                  <a:cubicBezTo>
                    <a:pt x="200" y="468"/>
                    <a:pt x="212" y="480"/>
                    <a:pt x="226" y="480"/>
                  </a:cubicBezTo>
                  <a:cubicBezTo>
                    <a:pt x="241" y="480"/>
                    <a:pt x="253" y="468"/>
                    <a:pt x="253" y="453"/>
                  </a:cubicBezTo>
                  <a:lnTo>
                    <a:pt x="253" y="416"/>
                  </a:lnTo>
                  <a:cubicBezTo>
                    <a:pt x="261" y="409"/>
                    <a:pt x="266" y="398"/>
                    <a:pt x="266" y="386"/>
                  </a:cubicBezTo>
                  <a:cubicBezTo>
                    <a:pt x="266" y="364"/>
                    <a:pt x="249" y="346"/>
                    <a:pt x="226" y="346"/>
                  </a:cubicBezTo>
                  <a:close/>
                </a:path>
              </a:pathLst>
            </a:custGeom>
            <a:solidFill>
              <a:srgbClr val="5F5F5F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152" name="그룹 151"/>
          <p:cNvGrpSpPr/>
          <p:nvPr/>
        </p:nvGrpSpPr>
        <p:grpSpPr>
          <a:xfrm>
            <a:off x="9072393" y="781700"/>
            <a:ext cx="144000" cy="144000"/>
            <a:chOff x="9072393" y="781700"/>
            <a:chExt cx="144000" cy="144000"/>
          </a:xfrm>
        </p:grpSpPr>
        <p:sp>
          <p:nvSpPr>
            <p:cNvPr id="153" name="사각형: 둥근 모서리 296">
              <a:extLst>
                <a:ext uri="{FF2B5EF4-FFF2-40B4-BE49-F238E27FC236}">
                  <a16:creationId xmlns="" xmlns:a16="http://schemas.microsoft.com/office/drawing/2014/main" id="{5E2C148E-29FC-42C6-B221-CA7B7DA48E4E}"/>
                </a:ext>
              </a:extLst>
            </p:cNvPr>
            <p:cNvSpPr/>
            <p:nvPr/>
          </p:nvSpPr>
          <p:spPr bwMode="auto">
            <a:xfrm>
              <a:off x="9072393" y="781700"/>
              <a:ext cx="144000" cy="144000"/>
            </a:xfrm>
            <a:prstGeom prst="roundRect">
              <a:avLst/>
            </a:prstGeom>
            <a:solidFill>
              <a:srgbClr val="F3F7FB"/>
            </a:solidFill>
            <a:ln w="3175" cap="flat" cmpd="sng" algn="ctr">
              <a:solidFill>
                <a:schemeClr val="bg1">
                  <a:lumMod val="7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12700" dist="12700" dir="2700000" algn="tl" rotWithShape="0">
                <a:schemeClr val="tx1">
                  <a:lumMod val="75000"/>
                  <a:lumOff val="25000"/>
                  <a:alpha val="30000"/>
                </a:schemeClr>
              </a:outerShdw>
            </a:effectLst>
          </p:spPr>
          <p:txBody>
            <a:bodyPr rot="0" spcFirstLastPara="0" vertOverflow="overflow" horzOverflow="overflow" vert="horz" wrap="none" lIns="108000" tIns="36000" rIns="180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14400" fontAlgn="base" latinLnBrk="0">
                <a:spcBef>
                  <a:spcPct val="0"/>
                </a:spcBef>
                <a:spcAft>
                  <a:spcPct val="0"/>
                </a:spcAft>
              </a:pPr>
              <a:endParaRPr kumimoji="1" lang="ko-KR" altLang="en-US" sz="700" kern="0">
                <a:solidFill>
                  <a:srgbClr val="000000"/>
                </a:solidFill>
                <a:latin typeface="+mn-ea"/>
              </a:endParaRPr>
            </a:p>
          </p:txBody>
        </p:sp>
        <p:sp>
          <p:nvSpPr>
            <p:cNvPr id="154" name="Insert Table"/>
            <p:cNvSpPr>
              <a:spLocks noChangeAspect="1" noEditPoints="1"/>
            </p:cNvSpPr>
            <p:nvPr/>
          </p:nvSpPr>
          <p:spPr bwMode="auto">
            <a:xfrm>
              <a:off x="9090393" y="799700"/>
              <a:ext cx="108000" cy="108000"/>
            </a:xfrm>
            <a:custGeom>
              <a:avLst/>
              <a:gdLst>
                <a:gd name="T0" fmla="*/ 13 w 667"/>
                <a:gd name="T1" fmla="*/ 0 h 667"/>
                <a:gd name="T2" fmla="*/ 0 w 667"/>
                <a:gd name="T3" fmla="*/ 13 h 667"/>
                <a:gd name="T4" fmla="*/ 0 w 667"/>
                <a:gd name="T5" fmla="*/ 653 h 667"/>
                <a:gd name="T6" fmla="*/ 13 w 667"/>
                <a:gd name="T7" fmla="*/ 667 h 667"/>
                <a:gd name="T8" fmla="*/ 653 w 667"/>
                <a:gd name="T9" fmla="*/ 667 h 667"/>
                <a:gd name="T10" fmla="*/ 667 w 667"/>
                <a:gd name="T11" fmla="*/ 653 h 667"/>
                <a:gd name="T12" fmla="*/ 667 w 667"/>
                <a:gd name="T13" fmla="*/ 13 h 667"/>
                <a:gd name="T14" fmla="*/ 653 w 667"/>
                <a:gd name="T15" fmla="*/ 0 h 667"/>
                <a:gd name="T16" fmla="*/ 13 w 667"/>
                <a:gd name="T17" fmla="*/ 0 h 667"/>
                <a:gd name="T18" fmla="*/ 27 w 667"/>
                <a:gd name="T19" fmla="*/ 27 h 667"/>
                <a:gd name="T20" fmla="*/ 320 w 667"/>
                <a:gd name="T21" fmla="*/ 27 h 667"/>
                <a:gd name="T22" fmla="*/ 320 w 667"/>
                <a:gd name="T23" fmla="*/ 213 h 667"/>
                <a:gd name="T24" fmla="*/ 27 w 667"/>
                <a:gd name="T25" fmla="*/ 213 h 667"/>
                <a:gd name="T26" fmla="*/ 27 w 667"/>
                <a:gd name="T27" fmla="*/ 27 h 667"/>
                <a:gd name="T28" fmla="*/ 347 w 667"/>
                <a:gd name="T29" fmla="*/ 27 h 667"/>
                <a:gd name="T30" fmla="*/ 640 w 667"/>
                <a:gd name="T31" fmla="*/ 27 h 667"/>
                <a:gd name="T32" fmla="*/ 640 w 667"/>
                <a:gd name="T33" fmla="*/ 213 h 667"/>
                <a:gd name="T34" fmla="*/ 347 w 667"/>
                <a:gd name="T35" fmla="*/ 213 h 667"/>
                <a:gd name="T36" fmla="*/ 347 w 667"/>
                <a:gd name="T37" fmla="*/ 27 h 667"/>
                <a:gd name="T38" fmla="*/ 27 w 667"/>
                <a:gd name="T39" fmla="*/ 240 h 667"/>
                <a:gd name="T40" fmla="*/ 320 w 667"/>
                <a:gd name="T41" fmla="*/ 240 h 667"/>
                <a:gd name="T42" fmla="*/ 320 w 667"/>
                <a:gd name="T43" fmla="*/ 427 h 667"/>
                <a:gd name="T44" fmla="*/ 27 w 667"/>
                <a:gd name="T45" fmla="*/ 427 h 667"/>
                <a:gd name="T46" fmla="*/ 27 w 667"/>
                <a:gd name="T47" fmla="*/ 240 h 667"/>
                <a:gd name="T48" fmla="*/ 347 w 667"/>
                <a:gd name="T49" fmla="*/ 240 h 667"/>
                <a:gd name="T50" fmla="*/ 640 w 667"/>
                <a:gd name="T51" fmla="*/ 240 h 667"/>
                <a:gd name="T52" fmla="*/ 640 w 667"/>
                <a:gd name="T53" fmla="*/ 427 h 667"/>
                <a:gd name="T54" fmla="*/ 347 w 667"/>
                <a:gd name="T55" fmla="*/ 427 h 667"/>
                <a:gd name="T56" fmla="*/ 347 w 667"/>
                <a:gd name="T57" fmla="*/ 240 h 667"/>
                <a:gd name="T58" fmla="*/ 27 w 667"/>
                <a:gd name="T59" fmla="*/ 453 h 667"/>
                <a:gd name="T60" fmla="*/ 320 w 667"/>
                <a:gd name="T61" fmla="*/ 453 h 667"/>
                <a:gd name="T62" fmla="*/ 320 w 667"/>
                <a:gd name="T63" fmla="*/ 640 h 667"/>
                <a:gd name="T64" fmla="*/ 27 w 667"/>
                <a:gd name="T65" fmla="*/ 640 h 667"/>
                <a:gd name="T66" fmla="*/ 27 w 667"/>
                <a:gd name="T67" fmla="*/ 453 h 667"/>
                <a:gd name="T68" fmla="*/ 347 w 667"/>
                <a:gd name="T69" fmla="*/ 453 h 667"/>
                <a:gd name="T70" fmla="*/ 640 w 667"/>
                <a:gd name="T71" fmla="*/ 453 h 667"/>
                <a:gd name="T72" fmla="*/ 640 w 667"/>
                <a:gd name="T73" fmla="*/ 640 h 667"/>
                <a:gd name="T74" fmla="*/ 347 w 667"/>
                <a:gd name="T75" fmla="*/ 640 h 667"/>
                <a:gd name="T76" fmla="*/ 347 w 667"/>
                <a:gd name="T77" fmla="*/ 453 h 6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667" h="667">
                  <a:moveTo>
                    <a:pt x="13" y="0"/>
                  </a:moveTo>
                  <a:cubicBezTo>
                    <a:pt x="6" y="0"/>
                    <a:pt x="0" y="6"/>
                    <a:pt x="0" y="13"/>
                  </a:cubicBezTo>
                  <a:cubicBezTo>
                    <a:pt x="0" y="227"/>
                    <a:pt x="0" y="440"/>
                    <a:pt x="0" y="653"/>
                  </a:cubicBezTo>
                  <a:cubicBezTo>
                    <a:pt x="0" y="661"/>
                    <a:pt x="6" y="667"/>
                    <a:pt x="13" y="667"/>
                  </a:cubicBezTo>
                  <a:cubicBezTo>
                    <a:pt x="227" y="667"/>
                    <a:pt x="440" y="667"/>
                    <a:pt x="653" y="667"/>
                  </a:cubicBezTo>
                  <a:cubicBezTo>
                    <a:pt x="661" y="667"/>
                    <a:pt x="667" y="661"/>
                    <a:pt x="667" y="653"/>
                  </a:cubicBezTo>
                  <a:cubicBezTo>
                    <a:pt x="667" y="440"/>
                    <a:pt x="667" y="227"/>
                    <a:pt x="667" y="13"/>
                  </a:cubicBezTo>
                  <a:cubicBezTo>
                    <a:pt x="667" y="6"/>
                    <a:pt x="661" y="0"/>
                    <a:pt x="653" y="0"/>
                  </a:cubicBezTo>
                  <a:cubicBezTo>
                    <a:pt x="440" y="0"/>
                    <a:pt x="227" y="0"/>
                    <a:pt x="13" y="0"/>
                  </a:cubicBezTo>
                  <a:close/>
                  <a:moveTo>
                    <a:pt x="27" y="27"/>
                  </a:moveTo>
                  <a:lnTo>
                    <a:pt x="320" y="27"/>
                  </a:lnTo>
                  <a:lnTo>
                    <a:pt x="320" y="213"/>
                  </a:lnTo>
                  <a:lnTo>
                    <a:pt x="27" y="213"/>
                  </a:lnTo>
                  <a:lnTo>
                    <a:pt x="27" y="27"/>
                  </a:lnTo>
                  <a:close/>
                  <a:moveTo>
                    <a:pt x="347" y="27"/>
                  </a:moveTo>
                  <a:lnTo>
                    <a:pt x="640" y="27"/>
                  </a:lnTo>
                  <a:lnTo>
                    <a:pt x="640" y="213"/>
                  </a:lnTo>
                  <a:lnTo>
                    <a:pt x="347" y="213"/>
                  </a:lnTo>
                  <a:lnTo>
                    <a:pt x="347" y="27"/>
                  </a:lnTo>
                  <a:close/>
                  <a:moveTo>
                    <a:pt x="27" y="240"/>
                  </a:moveTo>
                  <a:lnTo>
                    <a:pt x="320" y="240"/>
                  </a:lnTo>
                  <a:lnTo>
                    <a:pt x="320" y="427"/>
                  </a:lnTo>
                  <a:lnTo>
                    <a:pt x="27" y="427"/>
                  </a:lnTo>
                  <a:lnTo>
                    <a:pt x="27" y="240"/>
                  </a:lnTo>
                  <a:close/>
                  <a:moveTo>
                    <a:pt x="347" y="240"/>
                  </a:moveTo>
                  <a:lnTo>
                    <a:pt x="640" y="240"/>
                  </a:lnTo>
                  <a:lnTo>
                    <a:pt x="640" y="427"/>
                  </a:lnTo>
                  <a:lnTo>
                    <a:pt x="347" y="427"/>
                  </a:lnTo>
                  <a:lnTo>
                    <a:pt x="347" y="240"/>
                  </a:lnTo>
                  <a:close/>
                  <a:moveTo>
                    <a:pt x="27" y="453"/>
                  </a:moveTo>
                  <a:lnTo>
                    <a:pt x="320" y="453"/>
                  </a:lnTo>
                  <a:lnTo>
                    <a:pt x="320" y="640"/>
                  </a:lnTo>
                  <a:lnTo>
                    <a:pt x="27" y="640"/>
                  </a:lnTo>
                  <a:lnTo>
                    <a:pt x="27" y="453"/>
                  </a:lnTo>
                  <a:close/>
                  <a:moveTo>
                    <a:pt x="347" y="453"/>
                  </a:moveTo>
                  <a:lnTo>
                    <a:pt x="640" y="453"/>
                  </a:lnTo>
                  <a:lnTo>
                    <a:pt x="640" y="640"/>
                  </a:lnTo>
                  <a:lnTo>
                    <a:pt x="347" y="640"/>
                  </a:lnTo>
                  <a:lnTo>
                    <a:pt x="347" y="453"/>
                  </a:lnTo>
                  <a:close/>
                </a:path>
              </a:pathLst>
            </a:custGeom>
            <a:solidFill>
              <a:srgbClr val="5F5F5F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155" name="그룹 154"/>
          <p:cNvGrpSpPr/>
          <p:nvPr/>
        </p:nvGrpSpPr>
        <p:grpSpPr>
          <a:xfrm>
            <a:off x="9287906" y="781700"/>
            <a:ext cx="144000" cy="144000"/>
            <a:chOff x="9287906" y="781700"/>
            <a:chExt cx="144000" cy="144000"/>
          </a:xfrm>
        </p:grpSpPr>
        <p:sp>
          <p:nvSpPr>
            <p:cNvPr id="156" name="사각형: 둥근 모서리 296">
              <a:extLst>
                <a:ext uri="{FF2B5EF4-FFF2-40B4-BE49-F238E27FC236}">
                  <a16:creationId xmlns="" xmlns:a16="http://schemas.microsoft.com/office/drawing/2014/main" id="{5E2C148E-29FC-42C6-B221-CA7B7DA48E4E}"/>
                </a:ext>
              </a:extLst>
            </p:cNvPr>
            <p:cNvSpPr/>
            <p:nvPr/>
          </p:nvSpPr>
          <p:spPr bwMode="auto">
            <a:xfrm>
              <a:off x="9287906" y="781700"/>
              <a:ext cx="144000" cy="144000"/>
            </a:xfrm>
            <a:prstGeom prst="roundRect">
              <a:avLst/>
            </a:prstGeom>
            <a:solidFill>
              <a:srgbClr val="F3F7FB"/>
            </a:solidFill>
            <a:ln w="3175" cap="flat" cmpd="sng" algn="ctr">
              <a:solidFill>
                <a:schemeClr val="bg1">
                  <a:lumMod val="7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12700" dist="12700" dir="2700000" algn="tl" rotWithShape="0">
                <a:schemeClr val="tx1">
                  <a:lumMod val="75000"/>
                  <a:lumOff val="25000"/>
                  <a:alpha val="30000"/>
                </a:schemeClr>
              </a:outerShdw>
            </a:effectLst>
          </p:spPr>
          <p:txBody>
            <a:bodyPr rot="0" spcFirstLastPara="0" vertOverflow="overflow" horzOverflow="overflow" vert="horz" wrap="none" lIns="108000" tIns="36000" rIns="180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14400" fontAlgn="base" latinLnBrk="0">
                <a:spcBef>
                  <a:spcPct val="0"/>
                </a:spcBef>
                <a:spcAft>
                  <a:spcPct val="0"/>
                </a:spcAft>
              </a:pPr>
              <a:endParaRPr kumimoji="1" lang="ko-KR" altLang="en-US" sz="700" kern="0">
                <a:solidFill>
                  <a:srgbClr val="000000"/>
                </a:solidFill>
                <a:latin typeface="+mn-ea"/>
              </a:endParaRPr>
            </a:p>
          </p:txBody>
        </p:sp>
        <p:sp>
          <p:nvSpPr>
            <p:cNvPr id="157" name="Export"/>
            <p:cNvSpPr>
              <a:spLocks noChangeAspect="1" noEditPoints="1"/>
            </p:cNvSpPr>
            <p:nvPr/>
          </p:nvSpPr>
          <p:spPr bwMode="auto">
            <a:xfrm>
              <a:off x="9306955" y="799700"/>
              <a:ext cx="105903" cy="108000"/>
            </a:xfrm>
            <a:custGeom>
              <a:avLst/>
              <a:gdLst>
                <a:gd name="T0" fmla="*/ 14 w 659"/>
                <a:gd name="T1" fmla="*/ 0 h 668"/>
                <a:gd name="T2" fmla="*/ 0 w 659"/>
                <a:gd name="T3" fmla="*/ 14 h 668"/>
                <a:gd name="T4" fmla="*/ 0 w 659"/>
                <a:gd name="T5" fmla="*/ 654 h 668"/>
                <a:gd name="T6" fmla="*/ 14 w 659"/>
                <a:gd name="T7" fmla="*/ 668 h 668"/>
                <a:gd name="T8" fmla="*/ 414 w 659"/>
                <a:gd name="T9" fmla="*/ 668 h 668"/>
                <a:gd name="T10" fmla="*/ 428 w 659"/>
                <a:gd name="T11" fmla="*/ 654 h 668"/>
                <a:gd name="T12" fmla="*/ 428 w 659"/>
                <a:gd name="T13" fmla="*/ 521 h 668"/>
                <a:gd name="T14" fmla="*/ 400 w 659"/>
                <a:gd name="T15" fmla="*/ 521 h 668"/>
                <a:gd name="T16" fmla="*/ 400 w 659"/>
                <a:gd name="T17" fmla="*/ 640 h 668"/>
                <a:gd name="T18" fmla="*/ 28 w 659"/>
                <a:gd name="T19" fmla="*/ 640 h 668"/>
                <a:gd name="T20" fmla="*/ 28 w 659"/>
                <a:gd name="T21" fmla="*/ 28 h 668"/>
                <a:gd name="T22" fmla="*/ 400 w 659"/>
                <a:gd name="T23" fmla="*/ 28 h 668"/>
                <a:gd name="T24" fmla="*/ 400 w 659"/>
                <a:gd name="T25" fmla="*/ 148 h 668"/>
                <a:gd name="T26" fmla="*/ 428 w 659"/>
                <a:gd name="T27" fmla="*/ 148 h 668"/>
                <a:gd name="T28" fmla="*/ 428 w 659"/>
                <a:gd name="T29" fmla="*/ 14 h 668"/>
                <a:gd name="T30" fmla="*/ 414 w 659"/>
                <a:gd name="T31" fmla="*/ 0 h 668"/>
                <a:gd name="T32" fmla="*/ 14 w 659"/>
                <a:gd name="T33" fmla="*/ 0 h 668"/>
                <a:gd name="T34" fmla="*/ 522 w 659"/>
                <a:gd name="T35" fmla="*/ 202 h 668"/>
                <a:gd name="T36" fmla="*/ 513 w 659"/>
                <a:gd name="T37" fmla="*/ 225 h 668"/>
                <a:gd name="T38" fmla="*/ 608 w 659"/>
                <a:gd name="T39" fmla="*/ 321 h 668"/>
                <a:gd name="T40" fmla="*/ 214 w 659"/>
                <a:gd name="T41" fmla="*/ 321 h 668"/>
                <a:gd name="T42" fmla="*/ 214 w 659"/>
                <a:gd name="T43" fmla="*/ 348 h 668"/>
                <a:gd name="T44" fmla="*/ 608 w 659"/>
                <a:gd name="T45" fmla="*/ 348 h 668"/>
                <a:gd name="T46" fmla="*/ 513 w 659"/>
                <a:gd name="T47" fmla="*/ 443 h 668"/>
                <a:gd name="T48" fmla="*/ 531 w 659"/>
                <a:gd name="T49" fmla="*/ 462 h 668"/>
                <a:gd name="T50" fmla="*/ 659 w 659"/>
                <a:gd name="T51" fmla="*/ 334 h 668"/>
                <a:gd name="T52" fmla="*/ 531 w 659"/>
                <a:gd name="T53" fmla="*/ 206 h 668"/>
                <a:gd name="T54" fmla="*/ 522 w 659"/>
                <a:gd name="T55" fmla="*/ 202 h 6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659" h="668">
                  <a:moveTo>
                    <a:pt x="14" y="0"/>
                  </a:moveTo>
                  <a:cubicBezTo>
                    <a:pt x="6" y="0"/>
                    <a:pt x="0" y="7"/>
                    <a:pt x="0" y="14"/>
                  </a:cubicBezTo>
                  <a:lnTo>
                    <a:pt x="0" y="654"/>
                  </a:lnTo>
                  <a:cubicBezTo>
                    <a:pt x="0" y="662"/>
                    <a:pt x="6" y="668"/>
                    <a:pt x="14" y="668"/>
                  </a:cubicBezTo>
                  <a:lnTo>
                    <a:pt x="414" y="668"/>
                  </a:lnTo>
                  <a:cubicBezTo>
                    <a:pt x="421" y="668"/>
                    <a:pt x="428" y="662"/>
                    <a:pt x="428" y="654"/>
                  </a:cubicBezTo>
                  <a:lnTo>
                    <a:pt x="428" y="521"/>
                  </a:lnTo>
                  <a:lnTo>
                    <a:pt x="400" y="521"/>
                  </a:lnTo>
                  <a:lnTo>
                    <a:pt x="400" y="640"/>
                  </a:lnTo>
                  <a:lnTo>
                    <a:pt x="28" y="640"/>
                  </a:lnTo>
                  <a:lnTo>
                    <a:pt x="28" y="28"/>
                  </a:lnTo>
                  <a:lnTo>
                    <a:pt x="400" y="28"/>
                  </a:lnTo>
                  <a:lnTo>
                    <a:pt x="400" y="148"/>
                  </a:lnTo>
                  <a:lnTo>
                    <a:pt x="428" y="148"/>
                  </a:lnTo>
                  <a:lnTo>
                    <a:pt x="428" y="14"/>
                  </a:lnTo>
                  <a:cubicBezTo>
                    <a:pt x="428" y="7"/>
                    <a:pt x="421" y="0"/>
                    <a:pt x="414" y="0"/>
                  </a:cubicBezTo>
                  <a:lnTo>
                    <a:pt x="14" y="0"/>
                  </a:lnTo>
                  <a:close/>
                  <a:moveTo>
                    <a:pt x="522" y="202"/>
                  </a:moveTo>
                  <a:cubicBezTo>
                    <a:pt x="510" y="202"/>
                    <a:pt x="504" y="217"/>
                    <a:pt x="513" y="225"/>
                  </a:cubicBezTo>
                  <a:lnTo>
                    <a:pt x="608" y="321"/>
                  </a:lnTo>
                  <a:lnTo>
                    <a:pt x="214" y="321"/>
                  </a:lnTo>
                  <a:cubicBezTo>
                    <a:pt x="196" y="321"/>
                    <a:pt x="196" y="348"/>
                    <a:pt x="214" y="348"/>
                  </a:cubicBezTo>
                  <a:lnTo>
                    <a:pt x="608" y="348"/>
                  </a:lnTo>
                  <a:lnTo>
                    <a:pt x="513" y="443"/>
                  </a:lnTo>
                  <a:cubicBezTo>
                    <a:pt x="499" y="456"/>
                    <a:pt x="519" y="475"/>
                    <a:pt x="531" y="462"/>
                  </a:cubicBezTo>
                  <a:lnTo>
                    <a:pt x="659" y="334"/>
                  </a:lnTo>
                  <a:lnTo>
                    <a:pt x="531" y="206"/>
                  </a:lnTo>
                  <a:cubicBezTo>
                    <a:pt x="529" y="204"/>
                    <a:pt x="525" y="202"/>
                    <a:pt x="522" y="202"/>
                  </a:cubicBezTo>
                  <a:close/>
                </a:path>
              </a:pathLst>
            </a:custGeom>
            <a:solidFill>
              <a:srgbClr val="5F5F5F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sp>
        <p:nvSpPr>
          <p:cNvPr id="361" name="직사각형 360"/>
          <p:cNvSpPr/>
          <p:nvPr/>
        </p:nvSpPr>
        <p:spPr>
          <a:xfrm>
            <a:off x="143906" y="1717699"/>
            <a:ext cx="1080000" cy="216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36000" rIns="108000" bIns="36000" rtlCol="0" anchor="ctr"/>
          <a:lstStyle/>
          <a:p>
            <a:r>
              <a:rPr lang="ko-KR" altLang="en-US" sz="700" b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─ </a:t>
            </a:r>
            <a:r>
              <a:rPr lang="ko-KR" altLang="en-US" sz="700" b="1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상품관리</a:t>
            </a:r>
            <a:endParaRPr lang="ko-KR" altLang="en-US" sz="700" b="1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62" name="직사각형 361"/>
          <p:cNvSpPr/>
          <p:nvPr/>
        </p:nvSpPr>
        <p:spPr>
          <a:xfrm>
            <a:off x="143906" y="1933699"/>
            <a:ext cx="1080000" cy="216000"/>
          </a:xfrm>
          <a:prstGeom prst="rect">
            <a:avLst/>
          </a:prstGeom>
          <a:solidFill>
            <a:srgbClr val="C0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ko-KR" altLang="en-US" sz="600" b="1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상품관리</a:t>
            </a:r>
            <a:endParaRPr lang="ko-KR" altLang="en-US" sz="600" b="1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63" name="직사각형 362"/>
          <p:cNvSpPr/>
          <p:nvPr/>
        </p:nvSpPr>
        <p:spPr>
          <a:xfrm>
            <a:off x="143906" y="2149867"/>
            <a:ext cx="1080000" cy="216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ko-KR" altLang="en-US" sz="6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세트상품관리</a:t>
            </a:r>
            <a:endParaRPr lang="ko-KR" altLang="en-US" sz="6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64" name="직사각형 363"/>
          <p:cNvSpPr/>
          <p:nvPr/>
        </p:nvSpPr>
        <p:spPr>
          <a:xfrm>
            <a:off x="143906" y="2366035"/>
            <a:ext cx="1080000" cy="216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ko-KR" altLang="en-US" sz="6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상품그룹관리</a:t>
            </a:r>
            <a:endParaRPr lang="ko-KR" altLang="en-US" sz="6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65" name="직사각형 364"/>
          <p:cNvSpPr/>
          <p:nvPr/>
        </p:nvSpPr>
        <p:spPr>
          <a:xfrm>
            <a:off x="143906" y="2582158"/>
            <a:ext cx="1080000" cy="216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ko-KR" altLang="en-US" sz="6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품절관리</a:t>
            </a:r>
            <a:endParaRPr lang="ko-KR" altLang="en-US" sz="6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66" name="직사각형 365"/>
          <p:cNvSpPr/>
          <p:nvPr/>
        </p:nvSpPr>
        <p:spPr>
          <a:xfrm>
            <a:off x="143906" y="2798281"/>
            <a:ext cx="1080000" cy="216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r>
              <a:rPr lang="ko-KR" altLang="en-US" sz="6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외부몰판매다운로드</a:t>
            </a:r>
            <a:endParaRPr lang="ko-KR" altLang="en-US" sz="6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67" name="직사각형 366"/>
          <p:cNvSpPr/>
          <p:nvPr/>
        </p:nvSpPr>
        <p:spPr>
          <a:xfrm>
            <a:off x="143906" y="3014404"/>
            <a:ext cx="1080000" cy="216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ko-KR" altLang="en-US" sz="6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자사상품 매출</a:t>
            </a:r>
            <a:r>
              <a:rPr lang="en-US" altLang="ko-KR" sz="6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6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입판재</a:t>
            </a:r>
            <a:endParaRPr lang="ko-KR" altLang="en-US" sz="6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68" name="직사각형 367"/>
          <p:cNvSpPr/>
          <p:nvPr/>
        </p:nvSpPr>
        <p:spPr>
          <a:xfrm>
            <a:off x="143906" y="3228059"/>
            <a:ext cx="1080000" cy="216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ko-KR" altLang="en-US" sz="6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상품 손익 시뮬레이션</a:t>
            </a:r>
            <a:endParaRPr lang="ko-KR" altLang="en-US" sz="6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69" name="직사각형 368"/>
          <p:cNvSpPr/>
          <p:nvPr/>
        </p:nvSpPr>
        <p:spPr>
          <a:xfrm>
            <a:off x="143906" y="3444227"/>
            <a:ext cx="1080000" cy="216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ko-KR" altLang="en-US" sz="6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상품리뷰관리</a:t>
            </a:r>
            <a:endParaRPr lang="ko-KR" altLang="en-US" sz="6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70" name="직사각형 369"/>
          <p:cNvSpPr/>
          <p:nvPr/>
        </p:nvSpPr>
        <p:spPr>
          <a:xfrm>
            <a:off x="143906" y="3660395"/>
            <a:ext cx="1080000" cy="216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ko-KR" altLang="en-US" sz="6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관리자 상품리뷰관리</a:t>
            </a:r>
            <a:endParaRPr lang="ko-KR" altLang="en-US" sz="6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71" name="직사각형 370"/>
          <p:cNvSpPr/>
          <p:nvPr/>
        </p:nvSpPr>
        <p:spPr>
          <a:xfrm>
            <a:off x="143906" y="3876518"/>
            <a:ext cx="1080000" cy="216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ko-KR" altLang="en-US" sz="6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상품별브랜드변경관리</a:t>
            </a:r>
            <a:endParaRPr lang="ko-KR" altLang="en-US" sz="6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72" name="직사각형 371"/>
          <p:cNvSpPr/>
          <p:nvPr/>
        </p:nvSpPr>
        <p:spPr>
          <a:xfrm>
            <a:off x="143906" y="4092641"/>
            <a:ext cx="1080000" cy="216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r>
              <a:rPr lang="ko-KR" altLang="en-US" sz="6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공지배너관리</a:t>
            </a:r>
            <a:endParaRPr lang="ko-KR" altLang="en-US" sz="6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73" name="직사각형 372"/>
          <p:cNvSpPr/>
          <p:nvPr/>
        </p:nvSpPr>
        <p:spPr>
          <a:xfrm>
            <a:off x="143906" y="4308764"/>
            <a:ext cx="1080000" cy="216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ko-KR" altLang="en-US" sz="6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코스메틱 사은품 관리</a:t>
            </a:r>
            <a:endParaRPr lang="ko-KR" altLang="en-US" sz="6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2" name="그룹 1"/>
          <p:cNvGrpSpPr/>
          <p:nvPr/>
        </p:nvGrpSpPr>
        <p:grpSpPr>
          <a:xfrm>
            <a:off x="143906" y="4524640"/>
            <a:ext cx="1080000" cy="432123"/>
            <a:chOff x="143906" y="4757486"/>
            <a:chExt cx="1080000" cy="432123"/>
          </a:xfrm>
        </p:grpSpPr>
        <p:sp>
          <p:nvSpPr>
            <p:cNvPr id="288" name="직사각형 287"/>
            <p:cNvSpPr/>
            <p:nvPr/>
          </p:nvSpPr>
          <p:spPr>
            <a:xfrm>
              <a:off x="143906" y="4757486"/>
              <a:ext cx="1080000" cy="216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r>
                <a:rPr lang="ko-KR" altLang="en-US" sz="60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사은품 프로모션 관리</a:t>
              </a:r>
              <a:endParaRPr lang="ko-KR" altLang="en-US" sz="6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289" name="직사각형 288"/>
            <p:cNvSpPr/>
            <p:nvPr/>
          </p:nvSpPr>
          <p:spPr>
            <a:xfrm>
              <a:off x="143906" y="4973609"/>
              <a:ext cx="1080000" cy="216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r>
                <a:rPr lang="ko-KR" altLang="en-US" sz="60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입점상품 이월기준 관리</a:t>
              </a:r>
              <a:endParaRPr lang="ko-KR" altLang="en-US" sz="6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sp>
        <p:nvSpPr>
          <p:cNvPr id="484" name="제목 1">
            <a:extLst>
              <a:ext uri="{FF2B5EF4-FFF2-40B4-BE49-F238E27FC236}">
                <a16:creationId xmlns="" xmlns:a16="http://schemas.microsoft.com/office/drawing/2014/main" id="{03F65532-A01C-4981-B987-5E15F64E3ABB}"/>
              </a:ext>
            </a:extLst>
          </p:cNvPr>
          <p:cNvSpPr txBox="1">
            <a:spLocks/>
          </p:cNvSpPr>
          <p:nvPr/>
        </p:nvSpPr>
        <p:spPr>
          <a:xfrm>
            <a:off x="8783530" y="142660"/>
            <a:ext cx="1079290" cy="432000"/>
          </a:xfrm>
          <a:prstGeom prst="rect">
            <a:avLst/>
          </a:prstGeom>
        </p:spPr>
        <p:txBody>
          <a:bodyPr lIns="180000" tIns="36000" rIns="180000" bIns="36000" anchor="ctr"/>
          <a:lstStyle>
            <a:lvl1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2pPr>
            <a:lvl3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3pPr>
            <a:lvl4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4pPr>
            <a:lvl5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5pPr>
            <a:lvl6pPr marL="457212" algn="ctr" rtl="0" fontAlgn="base" latinLnBrk="1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6pPr>
            <a:lvl7pPr marL="914423" algn="ctr" rtl="0" fontAlgn="base" latinLnBrk="1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7pPr>
            <a:lvl8pPr marL="1371634" algn="ctr" rtl="0" fontAlgn="base" latinLnBrk="1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8pPr>
            <a:lvl9pPr marL="1828846" algn="ctr" rtl="0" fontAlgn="base" latinLnBrk="1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r>
              <a:rPr lang="ko-KR" altLang="en-US" sz="800" kern="0"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</a:rPr>
              <a:t>최범열</a:t>
            </a:r>
          </a:p>
        </p:txBody>
      </p:sp>
      <p:grpSp>
        <p:nvGrpSpPr>
          <p:cNvPr id="4" name="그룹 3"/>
          <p:cNvGrpSpPr/>
          <p:nvPr/>
        </p:nvGrpSpPr>
        <p:grpSpPr>
          <a:xfrm>
            <a:off x="143906" y="5605047"/>
            <a:ext cx="1080000" cy="863844"/>
            <a:chOff x="143906" y="4957650"/>
            <a:chExt cx="1080000" cy="863844"/>
          </a:xfrm>
        </p:grpSpPr>
        <p:sp>
          <p:nvSpPr>
            <p:cNvPr id="311" name="직사각형 310"/>
            <p:cNvSpPr/>
            <p:nvPr/>
          </p:nvSpPr>
          <p:spPr>
            <a:xfrm>
              <a:off x="143906" y="4957650"/>
              <a:ext cx="1080000" cy="216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36000" rIns="108000" bIns="36000" rtlCol="0" anchor="ctr"/>
            <a:lstStyle/>
            <a:p>
              <a:r>
                <a:rPr lang="ko-KR" altLang="en-US" sz="70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┼ </a:t>
              </a:r>
              <a:r>
                <a:rPr lang="ko-KR" altLang="en-US" sz="70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가격관리</a:t>
              </a:r>
              <a:endParaRPr lang="ko-KR" altLang="en-US" sz="7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312" name="직사각형 311"/>
            <p:cNvSpPr/>
            <p:nvPr/>
          </p:nvSpPr>
          <p:spPr>
            <a:xfrm>
              <a:off x="143906" y="5173650"/>
              <a:ext cx="1080000" cy="216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36000" rIns="108000" bIns="36000" rtlCol="0" anchor="ctr"/>
            <a:lstStyle/>
            <a:p>
              <a:r>
                <a:rPr lang="ko-KR" altLang="en-US" sz="70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┼ </a:t>
              </a:r>
              <a:r>
                <a:rPr lang="ko-KR" altLang="en-US" sz="70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상품부가정보관리</a:t>
              </a:r>
              <a:endParaRPr lang="ko-KR" altLang="en-US" sz="7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313" name="직사각형 312"/>
            <p:cNvSpPr/>
            <p:nvPr/>
          </p:nvSpPr>
          <p:spPr>
            <a:xfrm>
              <a:off x="143906" y="5389650"/>
              <a:ext cx="1080000" cy="216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36000" rIns="0" bIns="36000" rtlCol="0" anchor="ctr"/>
            <a:lstStyle/>
            <a:p>
              <a:r>
                <a:rPr lang="ko-KR" altLang="en-US" sz="70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┼ </a:t>
              </a:r>
              <a:r>
                <a:rPr lang="ko-KR" altLang="en-US" sz="70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브랜드</a:t>
              </a:r>
              <a:r>
                <a:rPr lang="en-US" altLang="ko-KR" sz="70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/</a:t>
              </a:r>
              <a:r>
                <a:rPr lang="ko-KR" altLang="en-US" sz="70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카테고리관리</a:t>
              </a:r>
              <a:endParaRPr lang="ko-KR" altLang="en-US" sz="7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314" name="직사각형 313"/>
            <p:cNvSpPr/>
            <p:nvPr/>
          </p:nvSpPr>
          <p:spPr>
            <a:xfrm>
              <a:off x="143906" y="5605494"/>
              <a:ext cx="1080000" cy="216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36000" rIns="108000" bIns="36000" rtlCol="0" anchor="ctr"/>
            <a:lstStyle/>
            <a:p>
              <a:r>
                <a:rPr lang="ko-KR" altLang="en-US" sz="70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┼ </a:t>
              </a:r>
              <a:r>
                <a:rPr lang="ko-KR" altLang="en-US" sz="70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촬영관리</a:t>
              </a:r>
              <a:endParaRPr lang="ko-KR" altLang="en-US" sz="7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endParaRPr>
            </a:p>
          </p:txBody>
        </p:sp>
      </p:grpSp>
      <p:sp>
        <p:nvSpPr>
          <p:cNvPr id="318" name="직사각형 317"/>
          <p:cNvSpPr/>
          <p:nvPr/>
        </p:nvSpPr>
        <p:spPr>
          <a:xfrm>
            <a:off x="143906" y="4956967"/>
            <a:ext cx="1080000" cy="216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ko-KR" altLang="en-US" sz="6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네이버최저가 대상상품 관리</a:t>
            </a:r>
            <a:endParaRPr lang="ko-KR" altLang="en-US" sz="6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20" name="직사각형 319"/>
          <p:cNvSpPr/>
          <p:nvPr/>
        </p:nvSpPr>
        <p:spPr>
          <a:xfrm>
            <a:off x="143906" y="5172843"/>
            <a:ext cx="1080000" cy="216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r>
              <a:rPr lang="ko-KR" altLang="en-US" sz="6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체험상품관리</a:t>
            </a:r>
            <a:endParaRPr lang="ko-KR" altLang="en-US" sz="6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21" name="직사각형 320"/>
          <p:cNvSpPr/>
          <p:nvPr/>
        </p:nvSpPr>
        <p:spPr>
          <a:xfrm>
            <a:off x="143906" y="5388966"/>
            <a:ext cx="1080000" cy="216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ko-KR" altLang="en-US" sz="6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대량 데이터 변경 관리</a:t>
            </a:r>
            <a:endParaRPr lang="ko-KR" altLang="en-US" sz="6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" name="직사각형 7"/>
          <p:cNvSpPr/>
          <p:nvPr/>
        </p:nvSpPr>
        <p:spPr>
          <a:xfrm>
            <a:off x="107906" y="6396891"/>
            <a:ext cx="1152000" cy="108000"/>
          </a:xfrm>
          <a:prstGeom prst="rect">
            <a:avLst/>
          </a:pr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32" name="직사각형 331">
            <a:extLst>
              <a:ext uri="{FF2B5EF4-FFF2-40B4-BE49-F238E27FC236}">
                <a16:creationId xmlns="" xmlns:a16="http://schemas.microsoft.com/office/drawing/2014/main" id="{D6E71F9F-6A05-4858-BCF1-F73872A38DCC}"/>
              </a:ext>
            </a:extLst>
          </p:cNvPr>
          <p:cNvSpPr/>
          <p:nvPr/>
        </p:nvSpPr>
        <p:spPr>
          <a:xfrm>
            <a:off x="1367906" y="1717723"/>
            <a:ext cx="900000" cy="864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36000" rIns="108000" bIns="36000" rtlCol="0" anchor="ctr"/>
          <a:lstStyle/>
          <a:p>
            <a:r>
              <a:rPr lang="ko-KR" altLang="en-US" sz="7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온라인상품코드</a:t>
            </a:r>
            <a:endParaRPr lang="en-US" altLang="ko-KR" sz="70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7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7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총 </a:t>
            </a:r>
            <a:r>
              <a:rPr lang="en-US" altLang="ko-KR" sz="70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</a:t>
            </a:r>
            <a:r>
              <a:rPr lang="ko-KR" altLang="en-US" sz="7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건</a:t>
            </a:r>
            <a:r>
              <a:rPr lang="en-US" altLang="ko-KR" sz="7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endParaRPr lang="ko-KR" altLang="en-US" sz="700" dirty="0">
              <a:solidFill>
                <a:srgbClr val="C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80" name="직사각형 379">
            <a:extLst>
              <a:ext uri="{FF2B5EF4-FFF2-40B4-BE49-F238E27FC236}">
                <a16:creationId xmlns="" xmlns:a16="http://schemas.microsoft.com/office/drawing/2014/main" id="{D6E71F9F-6A05-4858-BCF1-F73872A38DCC}"/>
              </a:ext>
            </a:extLst>
          </p:cNvPr>
          <p:cNvSpPr/>
          <p:nvPr/>
        </p:nvSpPr>
        <p:spPr>
          <a:xfrm>
            <a:off x="5363078" y="1717723"/>
            <a:ext cx="900000" cy="288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36000" rIns="108000" bIns="36000" rtlCol="0" anchor="ctr"/>
          <a:lstStyle/>
          <a:p>
            <a:r>
              <a:rPr lang="ko-KR" altLang="en-US" sz="7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상품명</a:t>
            </a:r>
            <a:endParaRPr lang="ko-KR" altLang="en-US" sz="700" dirty="0">
              <a:solidFill>
                <a:srgbClr val="C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88" name="직사각형 387">
            <a:extLst>
              <a:ext uri="{FF2B5EF4-FFF2-40B4-BE49-F238E27FC236}">
                <a16:creationId xmlns="" xmlns:a16="http://schemas.microsoft.com/office/drawing/2014/main" id="{D6E71F9F-6A05-4858-BCF1-F73872A38DCC}"/>
              </a:ext>
            </a:extLst>
          </p:cNvPr>
          <p:cNvSpPr/>
          <p:nvPr/>
        </p:nvSpPr>
        <p:spPr>
          <a:xfrm>
            <a:off x="7343630" y="1717723"/>
            <a:ext cx="900000" cy="288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36000" rIns="108000" bIns="36000" rtlCol="0" anchor="ctr"/>
          <a:lstStyle/>
          <a:p>
            <a:r>
              <a:rPr lang="ko-KR" altLang="en-US" sz="7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상품상태</a:t>
            </a:r>
            <a:endParaRPr lang="ko-KR" altLang="en-US" sz="700" dirty="0">
              <a:solidFill>
                <a:srgbClr val="C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76" name="직사각형 375">
            <a:extLst>
              <a:ext uri="{FF2B5EF4-FFF2-40B4-BE49-F238E27FC236}">
                <a16:creationId xmlns="" xmlns:a16="http://schemas.microsoft.com/office/drawing/2014/main" id="{D6E71F9F-6A05-4858-BCF1-F73872A38DCC}"/>
              </a:ext>
            </a:extLst>
          </p:cNvPr>
          <p:cNvSpPr/>
          <p:nvPr/>
        </p:nvSpPr>
        <p:spPr>
          <a:xfrm>
            <a:off x="3347492" y="1717723"/>
            <a:ext cx="900000" cy="864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36000" rIns="108000" bIns="36000" rtlCol="0" anchor="ctr"/>
          <a:lstStyle/>
          <a:p>
            <a:r>
              <a:rPr lang="ko-KR" altLang="en-US" sz="7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상품코드</a:t>
            </a:r>
            <a:endParaRPr lang="en-US" altLang="ko-KR" sz="70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7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7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총 </a:t>
            </a:r>
            <a:r>
              <a:rPr lang="en-US" altLang="ko-KR" sz="70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</a:t>
            </a:r>
            <a:r>
              <a:rPr lang="ko-KR" altLang="en-US" sz="7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건</a:t>
            </a:r>
            <a:r>
              <a:rPr lang="en-US" altLang="ko-KR" sz="7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endParaRPr lang="ko-KR" altLang="en-US" sz="700" dirty="0">
              <a:solidFill>
                <a:srgbClr val="C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81" name="직사각형 380">
            <a:extLst>
              <a:ext uri="{FF2B5EF4-FFF2-40B4-BE49-F238E27FC236}">
                <a16:creationId xmlns="" xmlns:a16="http://schemas.microsoft.com/office/drawing/2014/main" id="{869F0D91-4426-412C-8A0D-962A34E6A583}"/>
              </a:ext>
            </a:extLst>
          </p:cNvPr>
          <p:cNvSpPr/>
          <p:nvPr/>
        </p:nvSpPr>
        <p:spPr>
          <a:xfrm>
            <a:off x="6263354" y="1717723"/>
            <a:ext cx="1080000" cy="288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36000" rIns="108000" bIns="36000" rtlCol="0" anchor="ctr"/>
          <a:lstStyle/>
          <a:p>
            <a:endParaRPr lang="ko-KR" altLang="en-US" sz="80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89" name="직사각형 388">
            <a:extLst>
              <a:ext uri="{FF2B5EF4-FFF2-40B4-BE49-F238E27FC236}">
                <a16:creationId xmlns="" xmlns:a16="http://schemas.microsoft.com/office/drawing/2014/main" id="{869F0D91-4426-412C-8A0D-962A34E6A583}"/>
              </a:ext>
            </a:extLst>
          </p:cNvPr>
          <p:cNvSpPr/>
          <p:nvPr/>
        </p:nvSpPr>
        <p:spPr>
          <a:xfrm>
            <a:off x="8243906" y="1717723"/>
            <a:ext cx="1116000" cy="288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36000" rIns="108000" bIns="36000" rtlCol="0" anchor="ctr"/>
          <a:lstStyle/>
          <a:p>
            <a:endParaRPr lang="ko-KR" altLang="en-US" sz="80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493" name="그룹 492"/>
          <p:cNvGrpSpPr/>
          <p:nvPr/>
        </p:nvGrpSpPr>
        <p:grpSpPr>
          <a:xfrm>
            <a:off x="2267699" y="1717723"/>
            <a:ext cx="1080000" cy="864000"/>
            <a:chOff x="6377402" y="1717723"/>
            <a:chExt cx="1080000" cy="864000"/>
          </a:xfrm>
        </p:grpSpPr>
        <p:sp>
          <p:nvSpPr>
            <p:cNvPr id="494" name="직사각형 493">
              <a:extLst>
                <a:ext uri="{FF2B5EF4-FFF2-40B4-BE49-F238E27FC236}">
                  <a16:creationId xmlns="" xmlns:a16="http://schemas.microsoft.com/office/drawing/2014/main" id="{869F0D91-4426-412C-8A0D-962A34E6A583}"/>
                </a:ext>
              </a:extLst>
            </p:cNvPr>
            <p:cNvSpPr/>
            <p:nvPr/>
          </p:nvSpPr>
          <p:spPr>
            <a:xfrm>
              <a:off x="6377402" y="1717723"/>
              <a:ext cx="1080000" cy="864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36000" rIns="108000" bIns="36000" rtlCol="0" anchor="ctr"/>
            <a:lstStyle/>
            <a:p>
              <a:endParaRPr lang="ko-KR" altLang="en-US" sz="8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495" name="모서리가 둥근 직사각형 184">
              <a:extLst>
                <a:ext uri="{FF2B5EF4-FFF2-40B4-BE49-F238E27FC236}">
                  <a16:creationId xmlns="" xmlns:a16="http://schemas.microsoft.com/office/drawing/2014/main" id="{7C4181B1-00DE-4B1A-9AF4-36726F2433BA}"/>
                </a:ext>
              </a:extLst>
            </p:cNvPr>
            <p:cNvSpPr/>
            <p:nvPr/>
          </p:nvSpPr>
          <p:spPr bwMode="auto">
            <a:xfrm>
              <a:off x="6450853" y="1771723"/>
              <a:ext cx="720000" cy="468000"/>
            </a:xfrm>
            <a:prstGeom prst="roundRect">
              <a:avLst/>
            </a:prstGeom>
            <a:solidFill>
              <a:srgbClr val="FFFFEF"/>
            </a:solidFill>
            <a:ln w="3175" cap="flat" cmpd="sng" algn="ctr">
              <a:solidFill>
                <a:schemeClr val="bg1">
                  <a:lumMod val="7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none" lIns="108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defTabSz="914400" fontAlgn="base" latinLnBrk="0">
                <a:spcBef>
                  <a:spcPct val="0"/>
                </a:spcBef>
                <a:spcAft>
                  <a:spcPct val="0"/>
                </a:spcAft>
              </a:pPr>
              <a:endParaRPr kumimoji="1" lang="ko-KR" altLang="en-US" sz="700" b="0" i="0" u="none" strike="noStrike" kern="0" cap="none" spc="0" normalizeH="0" baseline="0" noProof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496" name="TextBox 495"/>
            <p:cNvSpPr txBox="1"/>
            <p:nvPr/>
          </p:nvSpPr>
          <p:spPr>
            <a:xfrm>
              <a:off x="7196146" y="1771723"/>
              <a:ext cx="226591" cy="257369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t">
              <a:spAutoFit/>
            </a:bodyPr>
            <a:lstStyle/>
            <a:p>
              <a:pPr algn="r"/>
              <a:r>
                <a:rPr lang="ko-KR" altLang="en-US" sz="600" u="sng">
                  <a:solidFill>
                    <a:schemeClr val="tx1">
                      <a:lumMod val="50000"/>
                      <a:lumOff val="50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모두</a:t>
              </a:r>
              <a:endParaRPr lang="en-US" altLang="ko-KR" sz="600" u="sng">
                <a:solidFill>
                  <a:schemeClr val="tx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algn="r"/>
              <a:r>
                <a:rPr lang="ko-KR" altLang="en-US" sz="600" u="sng">
                  <a:solidFill>
                    <a:schemeClr val="tx1">
                      <a:lumMod val="50000"/>
                      <a:lumOff val="50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삭제</a:t>
              </a:r>
              <a:endParaRPr lang="ko-KR" altLang="en-US" sz="600" u="sng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grpSp>
          <p:nvGrpSpPr>
            <p:cNvPr id="497" name="그룹 496"/>
            <p:cNvGrpSpPr/>
            <p:nvPr/>
          </p:nvGrpSpPr>
          <p:grpSpPr>
            <a:xfrm>
              <a:off x="6450853" y="2347511"/>
              <a:ext cx="828015" cy="180425"/>
              <a:chOff x="9488265" y="2923106"/>
              <a:chExt cx="828015" cy="180425"/>
            </a:xfrm>
          </p:grpSpPr>
          <p:sp>
            <p:nvSpPr>
              <p:cNvPr id="498" name="사각형: 둥근 모서리 393">
                <a:extLst>
                  <a:ext uri="{FF2B5EF4-FFF2-40B4-BE49-F238E27FC236}">
                    <a16:creationId xmlns="" xmlns:a16="http://schemas.microsoft.com/office/drawing/2014/main" id="{36E654BC-9DA7-40DE-810D-4DBC10DDAC9E}"/>
                  </a:ext>
                </a:extLst>
              </p:cNvPr>
              <p:cNvSpPr/>
              <p:nvPr/>
            </p:nvSpPr>
            <p:spPr bwMode="auto">
              <a:xfrm>
                <a:off x="9488265" y="2941319"/>
                <a:ext cx="144000" cy="144000"/>
              </a:xfrm>
              <a:prstGeom prst="roundRect">
                <a:avLst/>
              </a:prstGeom>
              <a:solidFill>
                <a:schemeClr val="bg1"/>
              </a:solidFill>
              <a:ln w="3175" cap="flat" cmpd="sng" algn="ctr">
                <a:solidFill>
                  <a:schemeClr val="bg1">
                    <a:lumMod val="7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>
                <a:innerShdw blurRad="12700" dist="12700" dir="13500000">
                  <a:schemeClr val="tx1">
                    <a:lumMod val="75000"/>
                    <a:lumOff val="25000"/>
                    <a:alpha val="30000"/>
                  </a:schemeClr>
                </a:innerShdw>
              </a:effectLst>
            </p:spPr>
            <p:txBody>
    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fontAlgn="base" latinLnBrk="0">
                  <a:spcBef>
                    <a:spcPct val="0"/>
                  </a:spcBef>
                  <a:spcAft>
                    <a:spcPct val="0"/>
                  </a:spcAft>
                </a:pPr>
                <a:endParaRPr kumimoji="1" lang="ko-KR" altLang="en-US" sz="700" b="1" ker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  <p:sp>
            <p:nvSpPr>
              <p:cNvPr id="499" name="TextBox 498">
                <a:extLst>
                  <a:ext uri="{FF2B5EF4-FFF2-40B4-BE49-F238E27FC236}">
                    <a16:creationId xmlns="" xmlns:a16="http://schemas.microsoft.com/office/drawing/2014/main" id="{5D1B3506-229B-45F0-9331-6EF4F4EF97DC}"/>
                  </a:ext>
                </a:extLst>
              </p:cNvPr>
              <p:cNvSpPr txBox="1"/>
              <p:nvPr/>
            </p:nvSpPr>
            <p:spPr>
              <a:xfrm>
                <a:off x="9632265" y="2923106"/>
                <a:ext cx="684015" cy="180425"/>
              </a:xfrm>
              <a:prstGeom prst="rect">
                <a:avLst/>
              </a:prstGeom>
              <a:noFill/>
              <a:ln w="3175" cap="flat" cmpd="sng" algn="ctr">
                <a:noFill/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txBody>
              <a:bodyPr vert="horz" wrap="none" lIns="108000" tIns="36000" rIns="36000" bIns="36000" numCol="1" rtlCol="0" anchor="ctr" anchorCtr="0" compatLnSpc="1">
                <a:prstTxWarp prst="textNoShape">
                  <a:avLst/>
                </a:prstTxWarp>
                <a:spAutoFit/>
              </a:bodyPr>
              <a:lstStyle/>
              <a:p>
                <a:pPr algn="l"/>
                <a:r>
                  <a:rPr lang="ko-KR" altLang="en-US" sz="700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</a:rPr>
                  <a:t>입력상품제외</a:t>
                </a:r>
                <a:endParaRPr lang="ko-KR" altLang="en-US" sz="700" dirty="0">
                  <a:solidFill>
                    <a:srgbClr val="C00000"/>
                  </a:solidFill>
                  <a:latin typeface="+mn-ea"/>
                </a:endParaRPr>
              </a:p>
            </p:txBody>
          </p:sp>
        </p:grpSp>
      </p:grpSp>
      <p:grpSp>
        <p:nvGrpSpPr>
          <p:cNvPr id="500" name="그룹 499"/>
          <p:cNvGrpSpPr/>
          <p:nvPr/>
        </p:nvGrpSpPr>
        <p:grpSpPr>
          <a:xfrm>
            <a:off x="4247285" y="1717723"/>
            <a:ext cx="1116000" cy="864000"/>
            <a:chOff x="6377402" y="1717723"/>
            <a:chExt cx="1116000" cy="864000"/>
          </a:xfrm>
        </p:grpSpPr>
        <p:sp>
          <p:nvSpPr>
            <p:cNvPr id="501" name="직사각형 500">
              <a:extLst>
                <a:ext uri="{FF2B5EF4-FFF2-40B4-BE49-F238E27FC236}">
                  <a16:creationId xmlns="" xmlns:a16="http://schemas.microsoft.com/office/drawing/2014/main" id="{869F0D91-4426-412C-8A0D-962A34E6A583}"/>
                </a:ext>
              </a:extLst>
            </p:cNvPr>
            <p:cNvSpPr/>
            <p:nvPr/>
          </p:nvSpPr>
          <p:spPr>
            <a:xfrm>
              <a:off x="6377402" y="1717723"/>
              <a:ext cx="1116000" cy="864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36000" rIns="108000" bIns="36000" rtlCol="0" anchor="ctr"/>
            <a:lstStyle/>
            <a:p>
              <a:endParaRPr lang="ko-KR" altLang="en-US" sz="8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502" name="모서리가 둥근 직사각형 184">
              <a:extLst>
                <a:ext uri="{FF2B5EF4-FFF2-40B4-BE49-F238E27FC236}">
                  <a16:creationId xmlns="" xmlns:a16="http://schemas.microsoft.com/office/drawing/2014/main" id="{7C4181B1-00DE-4B1A-9AF4-36726F2433BA}"/>
                </a:ext>
              </a:extLst>
            </p:cNvPr>
            <p:cNvSpPr/>
            <p:nvPr/>
          </p:nvSpPr>
          <p:spPr bwMode="auto">
            <a:xfrm>
              <a:off x="6450853" y="1771723"/>
              <a:ext cx="720000" cy="468000"/>
            </a:xfrm>
            <a:prstGeom prst="roundRect">
              <a:avLst/>
            </a:prstGeom>
            <a:solidFill>
              <a:srgbClr val="FFFFEF"/>
            </a:solidFill>
            <a:ln w="3175" cap="flat" cmpd="sng" algn="ctr">
              <a:solidFill>
                <a:schemeClr val="bg1">
                  <a:lumMod val="7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none" lIns="108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defTabSz="914400" fontAlgn="base" latinLnBrk="0">
                <a:spcBef>
                  <a:spcPct val="0"/>
                </a:spcBef>
                <a:spcAft>
                  <a:spcPct val="0"/>
                </a:spcAft>
              </a:pPr>
              <a:endParaRPr kumimoji="1" lang="ko-KR" altLang="en-US" sz="700" b="0" i="0" u="none" strike="noStrike" kern="0" cap="none" spc="0" normalizeH="0" baseline="0" noProof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503" name="TextBox 502"/>
            <p:cNvSpPr txBox="1"/>
            <p:nvPr/>
          </p:nvSpPr>
          <p:spPr>
            <a:xfrm>
              <a:off x="7196146" y="1771723"/>
              <a:ext cx="226591" cy="257369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t">
              <a:spAutoFit/>
            </a:bodyPr>
            <a:lstStyle/>
            <a:p>
              <a:pPr algn="r"/>
              <a:r>
                <a:rPr lang="ko-KR" altLang="en-US" sz="600" u="sng">
                  <a:solidFill>
                    <a:schemeClr val="tx1">
                      <a:lumMod val="50000"/>
                      <a:lumOff val="50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모두</a:t>
              </a:r>
              <a:endParaRPr lang="en-US" altLang="ko-KR" sz="600" u="sng">
                <a:solidFill>
                  <a:schemeClr val="tx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algn="r"/>
              <a:r>
                <a:rPr lang="ko-KR" altLang="en-US" sz="600" u="sng">
                  <a:solidFill>
                    <a:schemeClr val="tx1">
                      <a:lumMod val="50000"/>
                      <a:lumOff val="50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삭제</a:t>
              </a:r>
              <a:endParaRPr lang="ko-KR" altLang="en-US" sz="600" u="sng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grpSp>
          <p:nvGrpSpPr>
            <p:cNvPr id="504" name="그룹 503"/>
            <p:cNvGrpSpPr/>
            <p:nvPr/>
          </p:nvGrpSpPr>
          <p:grpSpPr>
            <a:xfrm>
              <a:off x="6450853" y="2347511"/>
              <a:ext cx="828015" cy="180425"/>
              <a:chOff x="9488265" y="2923106"/>
              <a:chExt cx="828015" cy="180425"/>
            </a:xfrm>
          </p:grpSpPr>
          <p:sp>
            <p:nvSpPr>
              <p:cNvPr id="505" name="사각형: 둥근 모서리 393">
                <a:extLst>
                  <a:ext uri="{FF2B5EF4-FFF2-40B4-BE49-F238E27FC236}">
                    <a16:creationId xmlns="" xmlns:a16="http://schemas.microsoft.com/office/drawing/2014/main" id="{36E654BC-9DA7-40DE-810D-4DBC10DDAC9E}"/>
                  </a:ext>
                </a:extLst>
              </p:cNvPr>
              <p:cNvSpPr/>
              <p:nvPr/>
            </p:nvSpPr>
            <p:spPr bwMode="auto">
              <a:xfrm>
                <a:off x="9488265" y="2941319"/>
                <a:ext cx="144000" cy="144000"/>
              </a:xfrm>
              <a:prstGeom prst="roundRect">
                <a:avLst/>
              </a:prstGeom>
              <a:solidFill>
                <a:schemeClr val="bg1"/>
              </a:solidFill>
              <a:ln w="3175" cap="flat" cmpd="sng" algn="ctr">
                <a:solidFill>
                  <a:schemeClr val="bg1">
                    <a:lumMod val="7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>
                <a:innerShdw blurRad="12700" dist="12700" dir="13500000">
                  <a:schemeClr val="tx1">
                    <a:lumMod val="75000"/>
                    <a:lumOff val="25000"/>
                    <a:alpha val="30000"/>
                  </a:schemeClr>
                </a:innerShdw>
              </a:effectLst>
            </p:spPr>
            <p:txBody>
    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fontAlgn="base" latinLnBrk="0">
                  <a:spcBef>
                    <a:spcPct val="0"/>
                  </a:spcBef>
                  <a:spcAft>
                    <a:spcPct val="0"/>
                  </a:spcAft>
                </a:pPr>
                <a:endParaRPr kumimoji="1" lang="ko-KR" altLang="en-US" sz="700" b="1" ker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  <p:sp>
            <p:nvSpPr>
              <p:cNvPr id="506" name="TextBox 505">
                <a:extLst>
                  <a:ext uri="{FF2B5EF4-FFF2-40B4-BE49-F238E27FC236}">
                    <a16:creationId xmlns="" xmlns:a16="http://schemas.microsoft.com/office/drawing/2014/main" id="{5D1B3506-229B-45F0-9331-6EF4F4EF97DC}"/>
                  </a:ext>
                </a:extLst>
              </p:cNvPr>
              <p:cNvSpPr txBox="1"/>
              <p:nvPr/>
            </p:nvSpPr>
            <p:spPr>
              <a:xfrm>
                <a:off x="9632265" y="2923106"/>
                <a:ext cx="684015" cy="180425"/>
              </a:xfrm>
              <a:prstGeom prst="rect">
                <a:avLst/>
              </a:prstGeom>
              <a:noFill/>
              <a:ln w="3175" cap="flat" cmpd="sng" algn="ctr">
                <a:noFill/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txBody>
              <a:bodyPr vert="horz" wrap="none" lIns="108000" tIns="36000" rIns="36000" bIns="36000" numCol="1" rtlCol="0" anchor="ctr" anchorCtr="0" compatLnSpc="1">
                <a:prstTxWarp prst="textNoShape">
                  <a:avLst/>
                </a:prstTxWarp>
                <a:spAutoFit/>
              </a:bodyPr>
              <a:lstStyle/>
              <a:p>
                <a:pPr algn="l"/>
                <a:r>
                  <a:rPr lang="ko-KR" altLang="en-US" sz="700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</a:rPr>
                  <a:t>입력상품제외</a:t>
                </a:r>
                <a:endParaRPr lang="ko-KR" altLang="en-US" sz="700" dirty="0">
                  <a:solidFill>
                    <a:srgbClr val="C00000"/>
                  </a:solidFill>
                  <a:latin typeface="+mn-ea"/>
                </a:endParaRPr>
              </a:p>
            </p:txBody>
          </p:sp>
        </p:grpSp>
      </p:grpSp>
      <p:cxnSp>
        <p:nvCxnSpPr>
          <p:cNvPr id="147" name="직선 연결선 146">
            <a:extLst>
              <a:ext uri="{FF2B5EF4-FFF2-40B4-BE49-F238E27FC236}">
                <a16:creationId xmlns="" xmlns:a16="http://schemas.microsoft.com/office/drawing/2014/main" id="{8B6CCFB5-6583-4FED-8393-9CCCF89D0E7A}"/>
              </a:ext>
            </a:extLst>
          </p:cNvPr>
          <p:cNvCxnSpPr>
            <a:cxnSpLocks/>
          </p:cNvCxnSpPr>
          <p:nvPr/>
        </p:nvCxnSpPr>
        <p:spPr>
          <a:xfrm>
            <a:off x="1367906" y="1717723"/>
            <a:ext cx="7992000" cy="0"/>
          </a:xfrm>
          <a:prstGeom prst="line">
            <a:avLst/>
          </a:prstGeom>
          <a:ln w="63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8" name="모서리가 둥근 직사각형 184">
            <a:extLst>
              <a:ext uri="{FF2B5EF4-FFF2-40B4-BE49-F238E27FC236}">
                <a16:creationId xmlns="" xmlns:a16="http://schemas.microsoft.com/office/drawing/2014/main" id="{7C4181B1-00DE-4B1A-9AF4-36726F2433BA}"/>
              </a:ext>
            </a:extLst>
          </p:cNvPr>
          <p:cNvSpPr/>
          <p:nvPr/>
        </p:nvSpPr>
        <p:spPr bwMode="auto">
          <a:xfrm>
            <a:off x="6336805" y="1771723"/>
            <a:ext cx="936000" cy="180000"/>
          </a:xfrm>
          <a:prstGeom prst="roundRect">
            <a:avLst/>
          </a:prstGeom>
          <a:solidFill>
            <a:srgbClr val="FFFFEF"/>
          </a:solidFill>
          <a:ln w="3175" cap="flat" cmpd="sng" algn="ctr">
            <a:solidFill>
              <a:schemeClr val="bg1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none" lIns="108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defTabSz="914400" fontAlgn="base" latinLnBrk="0">
              <a:spcBef>
                <a:spcPct val="0"/>
              </a:spcBef>
              <a:spcAft>
                <a:spcPct val="0"/>
              </a:spcAft>
            </a:pPr>
            <a:endParaRPr kumimoji="1" lang="ko-KR" altLang="en-US" sz="700" b="0" i="0" u="none" strike="noStrike" kern="0" cap="none" spc="0" normalizeH="0" baseline="0" noProof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09" name="직사각형 508">
            <a:extLst>
              <a:ext uri="{FF2B5EF4-FFF2-40B4-BE49-F238E27FC236}">
                <a16:creationId xmlns="" xmlns:a16="http://schemas.microsoft.com/office/drawing/2014/main" id="{D6E71F9F-6A05-4858-BCF1-F73872A38DCC}"/>
              </a:ext>
            </a:extLst>
          </p:cNvPr>
          <p:cNvSpPr/>
          <p:nvPr/>
        </p:nvSpPr>
        <p:spPr>
          <a:xfrm>
            <a:off x="5363078" y="2004119"/>
            <a:ext cx="900000" cy="576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36000" rIns="108000" bIns="36000" rtlCol="0" anchor="ctr"/>
          <a:lstStyle/>
          <a:p>
            <a:r>
              <a:rPr lang="ko-KR" altLang="en-US" sz="7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모델번호</a:t>
            </a:r>
            <a:r>
              <a:rPr lang="en-US" altLang="ko-KR" sz="7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7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모델명</a:t>
            </a:r>
            <a:endParaRPr lang="ko-KR" altLang="en-US" sz="700" dirty="0">
              <a:solidFill>
                <a:srgbClr val="C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10" name="직사각형 509">
            <a:extLst>
              <a:ext uri="{FF2B5EF4-FFF2-40B4-BE49-F238E27FC236}">
                <a16:creationId xmlns="" xmlns:a16="http://schemas.microsoft.com/office/drawing/2014/main" id="{869F0D91-4426-412C-8A0D-962A34E6A583}"/>
              </a:ext>
            </a:extLst>
          </p:cNvPr>
          <p:cNvSpPr/>
          <p:nvPr/>
        </p:nvSpPr>
        <p:spPr>
          <a:xfrm>
            <a:off x="6263354" y="2005723"/>
            <a:ext cx="1080000" cy="288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36000" rIns="108000" bIns="36000" rtlCol="0" anchor="ctr"/>
          <a:lstStyle/>
          <a:p>
            <a:endParaRPr lang="ko-KR" altLang="en-US" sz="80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11" name="모서리가 둥근 직사각형 184">
            <a:extLst>
              <a:ext uri="{FF2B5EF4-FFF2-40B4-BE49-F238E27FC236}">
                <a16:creationId xmlns="" xmlns:a16="http://schemas.microsoft.com/office/drawing/2014/main" id="{7C4181B1-00DE-4B1A-9AF4-36726F2433BA}"/>
              </a:ext>
            </a:extLst>
          </p:cNvPr>
          <p:cNvSpPr/>
          <p:nvPr/>
        </p:nvSpPr>
        <p:spPr bwMode="auto">
          <a:xfrm>
            <a:off x="6336805" y="2059723"/>
            <a:ext cx="936000" cy="180000"/>
          </a:xfrm>
          <a:prstGeom prst="roundRect">
            <a:avLst/>
          </a:prstGeom>
          <a:solidFill>
            <a:srgbClr val="FFFFEF"/>
          </a:solidFill>
          <a:ln w="3175" cap="flat" cmpd="sng" algn="ctr">
            <a:solidFill>
              <a:schemeClr val="bg1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none" lIns="108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defTabSz="914400" fontAlgn="base" latinLnBrk="0">
              <a:spcBef>
                <a:spcPct val="0"/>
              </a:spcBef>
              <a:spcAft>
                <a:spcPct val="0"/>
              </a:spcAft>
            </a:pPr>
            <a:endParaRPr kumimoji="1" lang="ko-KR" altLang="en-US" sz="700" b="0" i="0" u="none" strike="noStrike" kern="0" cap="none" spc="0" normalizeH="0" baseline="0" noProof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15" name="직사각형 514">
            <a:extLst>
              <a:ext uri="{FF2B5EF4-FFF2-40B4-BE49-F238E27FC236}">
                <a16:creationId xmlns="" xmlns:a16="http://schemas.microsoft.com/office/drawing/2014/main" id="{869F0D91-4426-412C-8A0D-962A34E6A583}"/>
              </a:ext>
            </a:extLst>
          </p:cNvPr>
          <p:cNvSpPr/>
          <p:nvPr/>
        </p:nvSpPr>
        <p:spPr>
          <a:xfrm>
            <a:off x="6263354" y="2293723"/>
            <a:ext cx="1080000" cy="288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36000" rIns="108000" bIns="36000" rtlCol="0" anchor="ctr"/>
          <a:lstStyle/>
          <a:p>
            <a:endParaRPr lang="ko-KR" altLang="en-US" sz="80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16" name="모서리가 둥근 직사각형 184">
            <a:extLst>
              <a:ext uri="{FF2B5EF4-FFF2-40B4-BE49-F238E27FC236}">
                <a16:creationId xmlns="" xmlns:a16="http://schemas.microsoft.com/office/drawing/2014/main" id="{7C4181B1-00DE-4B1A-9AF4-36726F2433BA}"/>
              </a:ext>
            </a:extLst>
          </p:cNvPr>
          <p:cNvSpPr/>
          <p:nvPr/>
        </p:nvSpPr>
        <p:spPr bwMode="auto">
          <a:xfrm>
            <a:off x="6336805" y="2347723"/>
            <a:ext cx="936000" cy="180000"/>
          </a:xfrm>
          <a:prstGeom prst="roundRect">
            <a:avLst/>
          </a:prstGeom>
          <a:solidFill>
            <a:srgbClr val="FFFFEF"/>
          </a:solidFill>
          <a:ln w="3175" cap="flat" cmpd="sng" algn="ctr">
            <a:solidFill>
              <a:schemeClr val="bg1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none" lIns="108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defTabSz="914400" fontAlgn="base" latinLnBrk="0">
              <a:spcBef>
                <a:spcPct val="0"/>
              </a:spcBef>
              <a:spcAft>
                <a:spcPct val="0"/>
              </a:spcAft>
            </a:pPr>
            <a:endParaRPr kumimoji="1" lang="ko-KR" altLang="en-US" sz="700" b="0" i="0" u="none" strike="noStrike" kern="0" cap="none" spc="0" normalizeH="0" baseline="0" noProof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18" name="모서리가 둥근 직사각형 139">
            <a:extLst>
              <a:ext uri="{FF2B5EF4-FFF2-40B4-BE49-F238E27FC236}">
                <a16:creationId xmlns="" xmlns:a16="http://schemas.microsoft.com/office/drawing/2014/main" id="{D20B2316-7950-45D5-A329-DFCDAA416345}"/>
              </a:ext>
            </a:extLst>
          </p:cNvPr>
          <p:cNvSpPr/>
          <p:nvPr/>
        </p:nvSpPr>
        <p:spPr bwMode="auto">
          <a:xfrm>
            <a:off x="8314594" y="1771723"/>
            <a:ext cx="936000" cy="180000"/>
          </a:xfrm>
          <a:prstGeom prst="roundRect">
            <a:avLst/>
          </a:prstGeom>
          <a:solidFill>
            <a:schemeClr val="bg1"/>
          </a:solidFill>
          <a:ln w="3175" cap="flat" cmpd="sng" algn="ctr">
            <a:solidFill>
              <a:schemeClr val="bg1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none" lIns="108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fontAlgn="base" latinLnBrk="0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700" kern="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[</a:t>
            </a:r>
            <a:r>
              <a:rPr kumimoji="1" lang="ko-KR" altLang="en-US" sz="700" kern="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전체</a:t>
            </a:r>
            <a:r>
              <a:rPr kumimoji="1" lang="en-US" altLang="ko-KR" sz="700" kern="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]</a:t>
            </a:r>
            <a:endParaRPr kumimoji="1" lang="ko-KR" altLang="en-US" sz="700" kern="0" dirty="0">
              <a:solidFill>
                <a:schemeClr val="tx1">
                  <a:lumMod val="50000"/>
                  <a:lumOff val="50000"/>
                </a:schemeClr>
              </a:solidFill>
              <a:latin typeface="+mn-ea"/>
            </a:endParaRPr>
          </a:p>
        </p:txBody>
      </p:sp>
      <p:sp>
        <p:nvSpPr>
          <p:cNvPr id="519" name="모서리가 둥근 직사각형 141">
            <a:extLst>
              <a:ext uri="{FF2B5EF4-FFF2-40B4-BE49-F238E27FC236}">
                <a16:creationId xmlns="" xmlns:a16="http://schemas.microsoft.com/office/drawing/2014/main" id="{9D3BF834-DC28-4D1A-B5CB-ED60EA5C7751}"/>
              </a:ext>
            </a:extLst>
          </p:cNvPr>
          <p:cNvSpPr/>
          <p:nvPr/>
        </p:nvSpPr>
        <p:spPr bwMode="auto">
          <a:xfrm>
            <a:off x="9070594" y="1771723"/>
            <a:ext cx="180000" cy="180000"/>
          </a:xfrm>
          <a:prstGeom prst="roundRect">
            <a:avLst/>
          </a:prstGeom>
          <a:solidFill>
            <a:schemeClr val="bg1"/>
          </a:solidFill>
          <a:ln w="3175" cap="flat" cmpd="sng" algn="ctr">
            <a:solidFill>
              <a:schemeClr val="bg1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non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fontAlgn="base" latinLnBrk="0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700" kern="0" dirty="0">
                <a:solidFill>
                  <a:srgbClr val="000000"/>
                </a:solidFill>
                <a:latin typeface="+mn-ea"/>
              </a:rPr>
              <a:t>▼</a:t>
            </a:r>
          </a:p>
        </p:txBody>
      </p:sp>
      <p:sp>
        <p:nvSpPr>
          <p:cNvPr id="520" name="직사각형 519">
            <a:extLst>
              <a:ext uri="{FF2B5EF4-FFF2-40B4-BE49-F238E27FC236}">
                <a16:creationId xmlns="" xmlns:a16="http://schemas.microsoft.com/office/drawing/2014/main" id="{D6E71F9F-6A05-4858-BCF1-F73872A38DCC}"/>
              </a:ext>
            </a:extLst>
          </p:cNvPr>
          <p:cNvSpPr/>
          <p:nvPr/>
        </p:nvSpPr>
        <p:spPr>
          <a:xfrm>
            <a:off x="7343630" y="2005723"/>
            <a:ext cx="900000" cy="576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36000" rIns="108000" bIns="36000" rtlCol="0" anchor="ctr"/>
          <a:lstStyle/>
          <a:p>
            <a:r>
              <a:rPr lang="ko-KR" altLang="en-US" sz="7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담당</a:t>
            </a:r>
            <a:r>
              <a:rPr lang="en-US" altLang="ko-KR" sz="7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MD</a:t>
            </a:r>
            <a:endParaRPr lang="ko-KR" altLang="en-US" sz="700" dirty="0">
              <a:solidFill>
                <a:srgbClr val="C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21" name="직사각형 520">
            <a:extLst>
              <a:ext uri="{FF2B5EF4-FFF2-40B4-BE49-F238E27FC236}">
                <a16:creationId xmlns="" xmlns:a16="http://schemas.microsoft.com/office/drawing/2014/main" id="{869F0D91-4426-412C-8A0D-962A34E6A583}"/>
              </a:ext>
            </a:extLst>
          </p:cNvPr>
          <p:cNvSpPr/>
          <p:nvPr/>
        </p:nvSpPr>
        <p:spPr>
          <a:xfrm>
            <a:off x="8243906" y="2005723"/>
            <a:ext cx="1116000" cy="576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36000" rIns="108000" bIns="36000" rtlCol="0" anchor="ctr"/>
          <a:lstStyle/>
          <a:p>
            <a:endParaRPr lang="ko-KR" altLang="en-US" sz="80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22" name="모서리가 둥근 직사각형 184">
            <a:extLst>
              <a:ext uri="{FF2B5EF4-FFF2-40B4-BE49-F238E27FC236}">
                <a16:creationId xmlns="" xmlns:a16="http://schemas.microsoft.com/office/drawing/2014/main" id="{7C4181B1-00DE-4B1A-9AF4-36726F2433BA}"/>
              </a:ext>
            </a:extLst>
          </p:cNvPr>
          <p:cNvSpPr/>
          <p:nvPr/>
        </p:nvSpPr>
        <p:spPr bwMode="auto">
          <a:xfrm>
            <a:off x="8314594" y="2059723"/>
            <a:ext cx="720000" cy="180000"/>
          </a:xfrm>
          <a:prstGeom prst="roundRect">
            <a:avLst/>
          </a:prstGeom>
          <a:solidFill>
            <a:srgbClr val="FFFFEF"/>
          </a:solidFill>
          <a:ln w="3175" cap="flat" cmpd="sng" algn="ctr">
            <a:solidFill>
              <a:schemeClr val="bg1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none" lIns="108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defTabSz="914400" fontAlgn="base" latinLnBrk="0">
              <a:spcBef>
                <a:spcPct val="0"/>
              </a:spcBef>
              <a:spcAft>
                <a:spcPct val="0"/>
              </a:spcAft>
            </a:pPr>
            <a:endParaRPr kumimoji="1" lang="ko-KR" altLang="en-US" sz="700" b="0" i="0" u="none" strike="noStrike" kern="0" cap="none" spc="0" normalizeH="0" baseline="0" noProof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24" name="모서리가 둥근 직사각형 184">
            <a:extLst>
              <a:ext uri="{FF2B5EF4-FFF2-40B4-BE49-F238E27FC236}">
                <a16:creationId xmlns="" xmlns:a16="http://schemas.microsoft.com/office/drawing/2014/main" id="{7C4181B1-00DE-4B1A-9AF4-36726F2433BA}"/>
              </a:ext>
            </a:extLst>
          </p:cNvPr>
          <p:cNvSpPr/>
          <p:nvPr/>
        </p:nvSpPr>
        <p:spPr bwMode="auto">
          <a:xfrm>
            <a:off x="9070594" y="2059723"/>
            <a:ext cx="217312" cy="180000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3175" cap="flat" cmpd="sng" algn="ctr">
            <a:solidFill>
              <a:schemeClr val="bg1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none" lIns="108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defTabSz="914400" fontAlgn="base" latinLnBrk="0">
              <a:spcBef>
                <a:spcPct val="0"/>
              </a:spcBef>
              <a:spcAft>
                <a:spcPct val="0"/>
              </a:spcAft>
            </a:pPr>
            <a:endParaRPr kumimoji="1" lang="ko-KR" altLang="en-US" sz="700" b="0" i="0" u="none" strike="noStrike" kern="0" cap="none" spc="0" normalizeH="0" baseline="0" noProof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26" name="Search"/>
          <p:cNvSpPr>
            <a:spLocks noChangeAspect="1" noEditPoints="1"/>
          </p:cNvSpPr>
          <p:nvPr/>
        </p:nvSpPr>
        <p:spPr bwMode="auto">
          <a:xfrm>
            <a:off x="8854456" y="2078286"/>
            <a:ext cx="144000" cy="142875"/>
          </a:xfrm>
          <a:custGeom>
            <a:avLst/>
            <a:gdLst>
              <a:gd name="T0" fmla="*/ 227 w 572"/>
              <a:gd name="T1" fmla="*/ 0 h 585"/>
              <a:gd name="T2" fmla="*/ 0 w 572"/>
              <a:gd name="T3" fmla="*/ 227 h 585"/>
              <a:gd name="T4" fmla="*/ 227 w 572"/>
              <a:gd name="T5" fmla="*/ 453 h 585"/>
              <a:gd name="T6" fmla="*/ 359 w 572"/>
              <a:gd name="T7" fmla="*/ 410 h 585"/>
              <a:gd name="T8" fmla="*/ 535 w 572"/>
              <a:gd name="T9" fmla="*/ 585 h 585"/>
              <a:gd name="T10" fmla="*/ 572 w 572"/>
              <a:gd name="T11" fmla="*/ 548 h 585"/>
              <a:gd name="T12" fmla="*/ 399 w 572"/>
              <a:gd name="T13" fmla="*/ 374 h 585"/>
              <a:gd name="T14" fmla="*/ 454 w 572"/>
              <a:gd name="T15" fmla="*/ 227 h 585"/>
              <a:gd name="T16" fmla="*/ 227 w 572"/>
              <a:gd name="T17" fmla="*/ 0 h 585"/>
              <a:gd name="T18" fmla="*/ 227 w 572"/>
              <a:gd name="T19" fmla="*/ 27 h 585"/>
              <a:gd name="T20" fmla="*/ 427 w 572"/>
              <a:gd name="T21" fmla="*/ 227 h 585"/>
              <a:gd name="T22" fmla="*/ 227 w 572"/>
              <a:gd name="T23" fmla="*/ 427 h 585"/>
              <a:gd name="T24" fmla="*/ 27 w 572"/>
              <a:gd name="T25" fmla="*/ 227 h 585"/>
              <a:gd name="T26" fmla="*/ 227 w 572"/>
              <a:gd name="T27" fmla="*/ 27 h 58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572" h="585">
                <a:moveTo>
                  <a:pt x="227" y="0"/>
                </a:moveTo>
                <a:cubicBezTo>
                  <a:pt x="102" y="0"/>
                  <a:pt x="0" y="102"/>
                  <a:pt x="0" y="227"/>
                </a:cubicBezTo>
                <a:cubicBezTo>
                  <a:pt x="0" y="352"/>
                  <a:pt x="102" y="453"/>
                  <a:pt x="227" y="453"/>
                </a:cubicBezTo>
                <a:cubicBezTo>
                  <a:pt x="276" y="453"/>
                  <a:pt x="322" y="437"/>
                  <a:pt x="359" y="410"/>
                </a:cubicBezTo>
                <a:lnTo>
                  <a:pt x="535" y="585"/>
                </a:lnTo>
                <a:lnTo>
                  <a:pt x="572" y="548"/>
                </a:lnTo>
                <a:lnTo>
                  <a:pt x="399" y="374"/>
                </a:lnTo>
                <a:cubicBezTo>
                  <a:pt x="433" y="335"/>
                  <a:pt x="454" y="283"/>
                  <a:pt x="454" y="227"/>
                </a:cubicBezTo>
                <a:cubicBezTo>
                  <a:pt x="454" y="102"/>
                  <a:pt x="352" y="0"/>
                  <a:pt x="227" y="0"/>
                </a:cubicBezTo>
                <a:close/>
                <a:moveTo>
                  <a:pt x="227" y="27"/>
                </a:moveTo>
                <a:cubicBezTo>
                  <a:pt x="338" y="27"/>
                  <a:pt x="427" y="116"/>
                  <a:pt x="427" y="227"/>
                </a:cubicBezTo>
                <a:cubicBezTo>
                  <a:pt x="427" y="337"/>
                  <a:pt x="338" y="427"/>
                  <a:pt x="227" y="427"/>
                </a:cubicBezTo>
                <a:cubicBezTo>
                  <a:pt x="116" y="427"/>
                  <a:pt x="27" y="337"/>
                  <a:pt x="27" y="227"/>
                </a:cubicBezTo>
                <a:cubicBezTo>
                  <a:pt x="27" y="116"/>
                  <a:pt x="116" y="27"/>
                  <a:pt x="227" y="27"/>
                </a:cubicBezTo>
                <a:close/>
              </a:path>
            </a:pathLst>
          </a:custGeom>
          <a:solidFill>
            <a:srgbClr val="5F5F5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90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23" name="직사각형 422">
            <a:extLst>
              <a:ext uri="{FF2B5EF4-FFF2-40B4-BE49-F238E27FC236}">
                <a16:creationId xmlns="" xmlns:a16="http://schemas.microsoft.com/office/drawing/2014/main" id="{C3CBC899-E192-4597-B3EF-23483E494D33}"/>
              </a:ext>
            </a:extLst>
          </p:cNvPr>
          <p:cNvSpPr/>
          <p:nvPr/>
        </p:nvSpPr>
        <p:spPr>
          <a:xfrm>
            <a:off x="1367906" y="2581912"/>
            <a:ext cx="900000" cy="288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36000" rIns="108000" bIns="36000" rtlCol="0" anchor="ctr"/>
          <a:lstStyle/>
          <a:p>
            <a:r>
              <a:rPr lang="ko-KR" altLang="en-US" sz="7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상품구분</a:t>
            </a:r>
            <a:endParaRPr lang="ko-KR" altLang="en-US" sz="7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24" name="직사각형 423">
            <a:extLst>
              <a:ext uri="{FF2B5EF4-FFF2-40B4-BE49-F238E27FC236}">
                <a16:creationId xmlns="" xmlns:a16="http://schemas.microsoft.com/office/drawing/2014/main" id="{C8E8B8B5-F2A9-4F2D-8F41-E83BE71E8F5A}"/>
              </a:ext>
            </a:extLst>
          </p:cNvPr>
          <p:cNvSpPr/>
          <p:nvPr/>
        </p:nvSpPr>
        <p:spPr>
          <a:xfrm>
            <a:off x="2266455" y="2581912"/>
            <a:ext cx="1080000" cy="288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36000" rIns="108000" bIns="36000" rtlCol="0" anchor="ctr"/>
          <a:lstStyle/>
          <a:p>
            <a:endParaRPr lang="ko-KR" altLang="en-US" sz="80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425" name="그룹 424">
            <a:extLst>
              <a:ext uri="{FF2B5EF4-FFF2-40B4-BE49-F238E27FC236}">
                <a16:creationId xmlns="" xmlns:a16="http://schemas.microsoft.com/office/drawing/2014/main" id="{CE03C03E-4F04-4133-AEEC-AC03458859A7}"/>
              </a:ext>
            </a:extLst>
          </p:cNvPr>
          <p:cNvGrpSpPr/>
          <p:nvPr/>
        </p:nvGrpSpPr>
        <p:grpSpPr>
          <a:xfrm>
            <a:off x="2339906" y="2635912"/>
            <a:ext cx="936000" cy="180000"/>
            <a:chOff x="2554666" y="3787347"/>
            <a:chExt cx="936000" cy="180000"/>
          </a:xfrm>
        </p:grpSpPr>
        <p:sp>
          <p:nvSpPr>
            <p:cNvPr id="431" name="모서리가 둥근 직사각형 139">
              <a:extLst>
                <a:ext uri="{FF2B5EF4-FFF2-40B4-BE49-F238E27FC236}">
                  <a16:creationId xmlns="" xmlns:a16="http://schemas.microsoft.com/office/drawing/2014/main" id="{D20B2316-7950-45D5-A329-DFCDAA416345}"/>
                </a:ext>
              </a:extLst>
            </p:cNvPr>
            <p:cNvSpPr/>
            <p:nvPr/>
          </p:nvSpPr>
          <p:spPr bwMode="auto">
            <a:xfrm>
              <a:off x="2554666" y="3787347"/>
              <a:ext cx="936000" cy="180000"/>
            </a:xfrm>
            <a:prstGeom prst="roundRect">
              <a:avLst/>
            </a:prstGeom>
            <a:solidFill>
              <a:schemeClr val="bg1"/>
            </a:solidFill>
            <a:ln w="3175" cap="flat" cmpd="sng" algn="ctr">
              <a:solidFill>
                <a:schemeClr val="bg1">
                  <a:lumMod val="7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none" lIns="108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fontAlgn="base" latinLnBrk="0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ko-KR" sz="700" kern="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[</a:t>
              </a:r>
              <a:r>
                <a:rPr kumimoji="1" lang="ko-KR" altLang="en-US" sz="700" kern="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전체</a:t>
              </a:r>
              <a:r>
                <a:rPr kumimoji="1" lang="en-US" altLang="ko-KR" sz="700" kern="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]</a:t>
              </a:r>
              <a:endParaRPr kumimoji="1" lang="ko-KR" altLang="en-US" sz="700" kern="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endParaRPr>
            </a:p>
          </p:txBody>
        </p:sp>
        <p:sp>
          <p:nvSpPr>
            <p:cNvPr id="432" name="모서리가 둥근 직사각형 141">
              <a:extLst>
                <a:ext uri="{FF2B5EF4-FFF2-40B4-BE49-F238E27FC236}">
                  <a16:creationId xmlns="" xmlns:a16="http://schemas.microsoft.com/office/drawing/2014/main" id="{9D3BF834-DC28-4D1A-B5CB-ED60EA5C7751}"/>
                </a:ext>
              </a:extLst>
            </p:cNvPr>
            <p:cNvSpPr/>
            <p:nvPr/>
          </p:nvSpPr>
          <p:spPr bwMode="auto">
            <a:xfrm>
              <a:off x="3310666" y="3787347"/>
              <a:ext cx="180000" cy="180000"/>
            </a:xfrm>
            <a:prstGeom prst="roundRect">
              <a:avLst/>
            </a:prstGeom>
            <a:solidFill>
              <a:schemeClr val="bg1"/>
            </a:solidFill>
            <a:ln w="3175" cap="flat" cmpd="sng" algn="ctr">
              <a:solidFill>
                <a:schemeClr val="bg1">
                  <a:lumMod val="7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none" lIns="36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fontAlgn="base" latinLnBrk="0">
                <a:spcBef>
                  <a:spcPct val="0"/>
                </a:spcBef>
                <a:spcAft>
                  <a:spcPct val="0"/>
                </a:spcAft>
              </a:pPr>
              <a:r>
                <a:rPr kumimoji="1" lang="ko-KR" altLang="en-US" sz="700" kern="0" dirty="0">
                  <a:solidFill>
                    <a:srgbClr val="000000"/>
                  </a:solidFill>
                  <a:latin typeface="+mn-ea"/>
                </a:rPr>
                <a:t>▼</a:t>
              </a:r>
            </a:p>
          </p:txBody>
        </p:sp>
      </p:grpSp>
      <p:sp>
        <p:nvSpPr>
          <p:cNvPr id="426" name="직사각형 425">
            <a:extLst>
              <a:ext uri="{FF2B5EF4-FFF2-40B4-BE49-F238E27FC236}">
                <a16:creationId xmlns="" xmlns:a16="http://schemas.microsoft.com/office/drawing/2014/main" id="{C3CBC899-E192-4597-B3EF-23483E494D33}"/>
              </a:ext>
            </a:extLst>
          </p:cNvPr>
          <p:cNvSpPr/>
          <p:nvPr/>
        </p:nvSpPr>
        <p:spPr>
          <a:xfrm>
            <a:off x="3347422" y="2581912"/>
            <a:ext cx="900000" cy="288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36000" rIns="72000" bIns="36000" rtlCol="0" anchor="ctr"/>
          <a:lstStyle/>
          <a:p>
            <a:r>
              <a:rPr lang="ko-KR" altLang="en-US" sz="7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원코드</a:t>
            </a:r>
            <a:endParaRPr lang="ko-KR" altLang="en-US" sz="7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27" name="직사각형 426">
            <a:extLst>
              <a:ext uri="{FF2B5EF4-FFF2-40B4-BE49-F238E27FC236}">
                <a16:creationId xmlns="" xmlns:a16="http://schemas.microsoft.com/office/drawing/2014/main" id="{C8E8B8B5-F2A9-4F2D-8F41-E83BE71E8F5A}"/>
              </a:ext>
            </a:extLst>
          </p:cNvPr>
          <p:cNvSpPr/>
          <p:nvPr/>
        </p:nvSpPr>
        <p:spPr>
          <a:xfrm>
            <a:off x="4247285" y="2581912"/>
            <a:ext cx="1116000" cy="288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36000" rIns="108000" bIns="36000" rtlCol="0" anchor="ctr"/>
          <a:lstStyle/>
          <a:p>
            <a:endParaRPr lang="ko-KR" altLang="en-US" sz="80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34" name="직사각형 433">
            <a:extLst>
              <a:ext uri="{FF2B5EF4-FFF2-40B4-BE49-F238E27FC236}">
                <a16:creationId xmlns="" xmlns:a16="http://schemas.microsoft.com/office/drawing/2014/main" id="{C3CBC899-E192-4597-B3EF-23483E494D33}"/>
              </a:ext>
            </a:extLst>
          </p:cNvPr>
          <p:cNvSpPr/>
          <p:nvPr/>
        </p:nvSpPr>
        <p:spPr>
          <a:xfrm>
            <a:off x="5363078" y="2581912"/>
            <a:ext cx="900000" cy="288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36000" rIns="108000" bIns="36000" rtlCol="0" anchor="ctr"/>
          <a:lstStyle/>
          <a:p>
            <a:r>
              <a:rPr lang="ko-KR" altLang="en-US" sz="7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담당</a:t>
            </a:r>
            <a:r>
              <a:rPr lang="en-US" altLang="ko-KR" sz="7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BM</a:t>
            </a:r>
            <a:endParaRPr lang="ko-KR" altLang="en-US" sz="7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35" name="직사각형 434">
            <a:extLst>
              <a:ext uri="{FF2B5EF4-FFF2-40B4-BE49-F238E27FC236}">
                <a16:creationId xmlns="" xmlns:a16="http://schemas.microsoft.com/office/drawing/2014/main" id="{C8E8B8B5-F2A9-4F2D-8F41-E83BE71E8F5A}"/>
              </a:ext>
            </a:extLst>
          </p:cNvPr>
          <p:cNvSpPr/>
          <p:nvPr/>
        </p:nvSpPr>
        <p:spPr>
          <a:xfrm>
            <a:off x="6263906" y="2581912"/>
            <a:ext cx="3096000" cy="288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36000" rIns="108000" bIns="36000" rtlCol="0" anchor="ctr"/>
          <a:lstStyle/>
          <a:p>
            <a:endParaRPr lang="ko-KR" altLang="en-US" sz="80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27" name="모서리가 둥근 직사각형 184">
            <a:extLst>
              <a:ext uri="{FF2B5EF4-FFF2-40B4-BE49-F238E27FC236}">
                <a16:creationId xmlns="" xmlns:a16="http://schemas.microsoft.com/office/drawing/2014/main" id="{7C4181B1-00DE-4B1A-9AF4-36726F2433BA}"/>
              </a:ext>
            </a:extLst>
          </p:cNvPr>
          <p:cNvSpPr/>
          <p:nvPr/>
        </p:nvSpPr>
        <p:spPr bwMode="auto">
          <a:xfrm>
            <a:off x="4319422" y="2635912"/>
            <a:ext cx="936000" cy="180000"/>
          </a:xfrm>
          <a:prstGeom prst="roundRect">
            <a:avLst/>
          </a:prstGeom>
          <a:solidFill>
            <a:srgbClr val="FFFFEF"/>
          </a:solidFill>
          <a:ln w="3175" cap="flat" cmpd="sng" algn="ctr">
            <a:solidFill>
              <a:schemeClr val="bg1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none" lIns="108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defTabSz="914400" fontAlgn="base" latinLnBrk="0">
              <a:spcBef>
                <a:spcPct val="0"/>
              </a:spcBef>
              <a:spcAft>
                <a:spcPct val="0"/>
              </a:spcAft>
            </a:pPr>
            <a:endParaRPr kumimoji="1" lang="ko-KR" altLang="en-US" sz="700" b="0" i="0" u="none" strike="noStrike" kern="0" cap="none" spc="0" normalizeH="0" baseline="0" noProof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43" name="모서리가 둥근 직사각형 184">
            <a:extLst>
              <a:ext uri="{FF2B5EF4-FFF2-40B4-BE49-F238E27FC236}">
                <a16:creationId xmlns="" xmlns:a16="http://schemas.microsoft.com/office/drawing/2014/main" id="{7C4181B1-00DE-4B1A-9AF4-36726F2433BA}"/>
              </a:ext>
            </a:extLst>
          </p:cNvPr>
          <p:cNvSpPr/>
          <p:nvPr/>
        </p:nvSpPr>
        <p:spPr bwMode="auto">
          <a:xfrm>
            <a:off x="6336805" y="2635912"/>
            <a:ext cx="720000" cy="180000"/>
          </a:xfrm>
          <a:prstGeom prst="roundRect">
            <a:avLst/>
          </a:prstGeom>
          <a:solidFill>
            <a:srgbClr val="FFFFEF"/>
          </a:solidFill>
          <a:ln w="3175" cap="flat" cmpd="sng" algn="ctr">
            <a:solidFill>
              <a:schemeClr val="bg1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none" lIns="108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defTabSz="914400" fontAlgn="base" latinLnBrk="0">
              <a:spcBef>
                <a:spcPct val="0"/>
              </a:spcBef>
              <a:spcAft>
                <a:spcPct val="0"/>
              </a:spcAft>
            </a:pPr>
            <a:endParaRPr kumimoji="1" lang="ko-KR" altLang="en-US" sz="700" b="0" i="0" u="none" strike="noStrike" kern="0" cap="none" spc="0" normalizeH="0" baseline="0" noProof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44" name="모서리가 둥근 직사각형 184">
            <a:extLst>
              <a:ext uri="{FF2B5EF4-FFF2-40B4-BE49-F238E27FC236}">
                <a16:creationId xmlns="" xmlns:a16="http://schemas.microsoft.com/office/drawing/2014/main" id="{7C4181B1-00DE-4B1A-9AF4-36726F2433BA}"/>
              </a:ext>
            </a:extLst>
          </p:cNvPr>
          <p:cNvSpPr/>
          <p:nvPr/>
        </p:nvSpPr>
        <p:spPr bwMode="auto">
          <a:xfrm>
            <a:off x="7092805" y="2635912"/>
            <a:ext cx="720000" cy="180000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3175" cap="flat" cmpd="sng" algn="ctr">
            <a:solidFill>
              <a:schemeClr val="bg1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none" lIns="108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defTabSz="914400" fontAlgn="base" latinLnBrk="0">
              <a:spcBef>
                <a:spcPct val="0"/>
              </a:spcBef>
              <a:spcAft>
                <a:spcPct val="0"/>
              </a:spcAft>
            </a:pPr>
            <a:endParaRPr kumimoji="1" lang="ko-KR" altLang="en-US" sz="700" b="0" i="0" u="none" strike="noStrike" kern="0" cap="none" spc="0" normalizeH="0" baseline="0" noProof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45" name="Search"/>
          <p:cNvSpPr>
            <a:spLocks noChangeAspect="1" noEditPoints="1"/>
          </p:cNvSpPr>
          <p:nvPr/>
        </p:nvSpPr>
        <p:spPr bwMode="auto">
          <a:xfrm>
            <a:off x="6876667" y="2654475"/>
            <a:ext cx="144000" cy="142875"/>
          </a:xfrm>
          <a:custGeom>
            <a:avLst/>
            <a:gdLst>
              <a:gd name="T0" fmla="*/ 227 w 572"/>
              <a:gd name="T1" fmla="*/ 0 h 585"/>
              <a:gd name="T2" fmla="*/ 0 w 572"/>
              <a:gd name="T3" fmla="*/ 227 h 585"/>
              <a:gd name="T4" fmla="*/ 227 w 572"/>
              <a:gd name="T5" fmla="*/ 453 h 585"/>
              <a:gd name="T6" fmla="*/ 359 w 572"/>
              <a:gd name="T7" fmla="*/ 410 h 585"/>
              <a:gd name="T8" fmla="*/ 535 w 572"/>
              <a:gd name="T9" fmla="*/ 585 h 585"/>
              <a:gd name="T10" fmla="*/ 572 w 572"/>
              <a:gd name="T11" fmla="*/ 548 h 585"/>
              <a:gd name="T12" fmla="*/ 399 w 572"/>
              <a:gd name="T13" fmla="*/ 374 h 585"/>
              <a:gd name="T14" fmla="*/ 454 w 572"/>
              <a:gd name="T15" fmla="*/ 227 h 585"/>
              <a:gd name="T16" fmla="*/ 227 w 572"/>
              <a:gd name="T17" fmla="*/ 0 h 585"/>
              <a:gd name="T18" fmla="*/ 227 w 572"/>
              <a:gd name="T19" fmla="*/ 27 h 585"/>
              <a:gd name="T20" fmla="*/ 427 w 572"/>
              <a:gd name="T21" fmla="*/ 227 h 585"/>
              <a:gd name="T22" fmla="*/ 227 w 572"/>
              <a:gd name="T23" fmla="*/ 427 h 585"/>
              <a:gd name="T24" fmla="*/ 27 w 572"/>
              <a:gd name="T25" fmla="*/ 227 h 585"/>
              <a:gd name="T26" fmla="*/ 227 w 572"/>
              <a:gd name="T27" fmla="*/ 27 h 58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572" h="585">
                <a:moveTo>
                  <a:pt x="227" y="0"/>
                </a:moveTo>
                <a:cubicBezTo>
                  <a:pt x="102" y="0"/>
                  <a:pt x="0" y="102"/>
                  <a:pt x="0" y="227"/>
                </a:cubicBezTo>
                <a:cubicBezTo>
                  <a:pt x="0" y="352"/>
                  <a:pt x="102" y="453"/>
                  <a:pt x="227" y="453"/>
                </a:cubicBezTo>
                <a:cubicBezTo>
                  <a:pt x="276" y="453"/>
                  <a:pt x="322" y="437"/>
                  <a:pt x="359" y="410"/>
                </a:cubicBezTo>
                <a:lnTo>
                  <a:pt x="535" y="585"/>
                </a:lnTo>
                <a:lnTo>
                  <a:pt x="572" y="548"/>
                </a:lnTo>
                <a:lnTo>
                  <a:pt x="399" y="374"/>
                </a:lnTo>
                <a:cubicBezTo>
                  <a:pt x="433" y="335"/>
                  <a:pt x="454" y="283"/>
                  <a:pt x="454" y="227"/>
                </a:cubicBezTo>
                <a:cubicBezTo>
                  <a:pt x="454" y="102"/>
                  <a:pt x="352" y="0"/>
                  <a:pt x="227" y="0"/>
                </a:cubicBezTo>
                <a:close/>
                <a:moveTo>
                  <a:pt x="227" y="27"/>
                </a:moveTo>
                <a:cubicBezTo>
                  <a:pt x="338" y="27"/>
                  <a:pt x="427" y="116"/>
                  <a:pt x="427" y="227"/>
                </a:cubicBezTo>
                <a:cubicBezTo>
                  <a:pt x="427" y="337"/>
                  <a:pt x="338" y="427"/>
                  <a:pt x="227" y="427"/>
                </a:cubicBezTo>
                <a:cubicBezTo>
                  <a:pt x="116" y="427"/>
                  <a:pt x="27" y="337"/>
                  <a:pt x="27" y="227"/>
                </a:cubicBezTo>
                <a:cubicBezTo>
                  <a:pt x="27" y="116"/>
                  <a:pt x="116" y="27"/>
                  <a:pt x="227" y="27"/>
                </a:cubicBezTo>
                <a:close/>
              </a:path>
            </a:pathLst>
          </a:custGeom>
          <a:solidFill>
            <a:srgbClr val="5F5F5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90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46" name="직사각형 445">
            <a:extLst>
              <a:ext uri="{FF2B5EF4-FFF2-40B4-BE49-F238E27FC236}">
                <a16:creationId xmlns="" xmlns:a16="http://schemas.microsoft.com/office/drawing/2014/main" id="{C3CBC899-E192-4597-B3EF-23483E494D33}"/>
              </a:ext>
            </a:extLst>
          </p:cNvPr>
          <p:cNvSpPr/>
          <p:nvPr/>
        </p:nvSpPr>
        <p:spPr>
          <a:xfrm>
            <a:off x="1367906" y="2870101"/>
            <a:ext cx="900000" cy="288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36000" rIns="108000" bIns="36000" rtlCol="0" anchor="ctr"/>
          <a:lstStyle/>
          <a:p>
            <a:r>
              <a:rPr lang="ko-KR" altLang="en-US" sz="7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대표브랜드</a:t>
            </a:r>
            <a:endParaRPr lang="ko-KR" altLang="en-US" sz="7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47" name="직사각형 446">
            <a:extLst>
              <a:ext uri="{FF2B5EF4-FFF2-40B4-BE49-F238E27FC236}">
                <a16:creationId xmlns="" xmlns:a16="http://schemas.microsoft.com/office/drawing/2014/main" id="{C8E8B8B5-F2A9-4F2D-8F41-E83BE71E8F5A}"/>
              </a:ext>
            </a:extLst>
          </p:cNvPr>
          <p:cNvSpPr/>
          <p:nvPr/>
        </p:nvSpPr>
        <p:spPr>
          <a:xfrm>
            <a:off x="2266453" y="2870101"/>
            <a:ext cx="3096000" cy="288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36000" rIns="108000" bIns="36000" rtlCol="0" anchor="ctr"/>
          <a:lstStyle/>
          <a:p>
            <a:endParaRPr lang="ko-KR" altLang="en-US" sz="80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57" name="직사각형 456">
            <a:extLst>
              <a:ext uri="{FF2B5EF4-FFF2-40B4-BE49-F238E27FC236}">
                <a16:creationId xmlns="" xmlns:a16="http://schemas.microsoft.com/office/drawing/2014/main" id="{C3CBC899-E192-4597-B3EF-23483E494D33}"/>
              </a:ext>
            </a:extLst>
          </p:cNvPr>
          <p:cNvSpPr/>
          <p:nvPr/>
        </p:nvSpPr>
        <p:spPr>
          <a:xfrm>
            <a:off x="5363078" y="2870101"/>
            <a:ext cx="900000" cy="288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36000" rIns="108000" bIns="36000" rtlCol="0" anchor="ctr"/>
          <a:lstStyle/>
          <a:p>
            <a:r>
              <a:rPr lang="ko-KR" altLang="en-US" sz="7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브랜드</a:t>
            </a:r>
            <a:endParaRPr lang="ko-KR" altLang="en-US" sz="7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458" name="직사각형 457">
            <a:extLst>
              <a:ext uri="{FF2B5EF4-FFF2-40B4-BE49-F238E27FC236}">
                <a16:creationId xmlns="" xmlns:a16="http://schemas.microsoft.com/office/drawing/2014/main" id="{C8E8B8B5-F2A9-4F2D-8F41-E83BE71E8F5A}"/>
              </a:ext>
            </a:extLst>
          </p:cNvPr>
          <p:cNvSpPr/>
          <p:nvPr/>
        </p:nvSpPr>
        <p:spPr>
          <a:xfrm>
            <a:off x="6263906" y="2870101"/>
            <a:ext cx="3096000" cy="288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36000" rIns="108000" bIns="36000" rtlCol="0" anchor="ctr"/>
          <a:lstStyle/>
          <a:p>
            <a:endParaRPr lang="ko-KR" altLang="en-US" sz="80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53" name="모서리가 둥근 직사각형 184">
            <a:extLst>
              <a:ext uri="{FF2B5EF4-FFF2-40B4-BE49-F238E27FC236}">
                <a16:creationId xmlns="" xmlns:a16="http://schemas.microsoft.com/office/drawing/2014/main" id="{7C4181B1-00DE-4B1A-9AF4-36726F2433BA}"/>
              </a:ext>
            </a:extLst>
          </p:cNvPr>
          <p:cNvSpPr/>
          <p:nvPr/>
        </p:nvSpPr>
        <p:spPr bwMode="auto">
          <a:xfrm>
            <a:off x="6336805" y="2924101"/>
            <a:ext cx="720000" cy="180000"/>
          </a:xfrm>
          <a:prstGeom prst="roundRect">
            <a:avLst/>
          </a:prstGeom>
          <a:solidFill>
            <a:srgbClr val="FFFFEF"/>
          </a:solidFill>
          <a:ln w="3175" cap="flat" cmpd="sng" algn="ctr">
            <a:solidFill>
              <a:schemeClr val="bg1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none" lIns="108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defTabSz="914400" fontAlgn="base" latinLnBrk="0">
              <a:spcBef>
                <a:spcPct val="0"/>
              </a:spcBef>
              <a:spcAft>
                <a:spcPct val="0"/>
              </a:spcAft>
            </a:pPr>
            <a:endParaRPr kumimoji="1" lang="ko-KR" altLang="en-US" sz="700" b="0" i="0" u="none" strike="noStrike" kern="0" cap="none" spc="0" normalizeH="0" baseline="0" noProof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54" name="모서리가 둥근 직사각형 184">
            <a:extLst>
              <a:ext uri="{FF2B5EF4-FFF2-40B4-BE49-F238E27FC236}">
                <a16:creationId xmlns="" xmlns:a16="http://schemas.microsoft.com/office/drawing/2014/main" id="{7C4181B1-00DE-4B1A-9AF4-36726F2433BA}"/>
              </a:ext>
            </a:extLst>
          </p:cNvPr>
          <p:cNvSpPr/>
          <p:nvPr/>
        </p:nvSpPr>
        <p:spPr bwMode="auto">
          <a:xfrm>
            <a:off x="7092805" y="2924101"/>
            <a:ext cx="720000" cy="180000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3175" cap="flat" cmpd="sng" algn="ctr">
            <a:solidFill>
              <a:schemeClr val="bg1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none" lIns="108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defTabSz="914400" fontAlgn="base" latinLnBrk="0">
              <a:spcBef>
                <a:spcPct val="0"/>
              </a:spcBef>
              <a:spcAft>
                <a:spcPct val="0"/>
              </a:spcAft>
            </a:pPr>
            <a:endParaRPr kumimoji="1" lang="ko-KR" altLang="en-US" sz="700" b="0" i="0" u="none" strike="noStrike" kern="0" cap="none" spc="0" normalizeH="0" baseline="0" noProof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55" name="Search"/>
          <p:cNvSpPr>
            <a:spLocks noChangeAspect="1" noEditPoints="1"/>
          </p:cNvSpPr>
          <p:nvPr/>
        </p:nvSpPr>
        <p:spPr bwMode="auto">
          <a:xfrm>
            <a:off x="6876667" y="2942664"/>
            <a:ext cx="144000" cy="142875"/>
          </a:xfrm>
          <a:custGeom>
            <a:avLst/>
            <a:gdLst>
              <a:gd name="T0" fmla="*/ 227 w 572"/>
              <a:gd name="T1" fmla="*/ 0 h 585"/>
              <a:gd name="T2" fmla="*/ 0 w 572"/>
              <a:gd name="T3" fmla="*/ 227 h 585"/>
              <a:gd name="T4" fmla="*/ 227 w 572"/>
              <a:gd name="T5" fmla="*/ 453 h 585"/>
              <a:gd name="T6" fmla="*/ 359 w 572"/>
              <a:gd name="T7" fmla="*/ 410 h 585"/>
              <a:gd name="T8" fmla="*/ 535 w 572"/>
              <a:gd name="T9" fmla="*/ 585 h 585"/>
              <a:gd name="T10" fmla="*/ 572 w 572"/>
              <a:gd name="T11" fmla="*/ 548 h 585"/>
              <a:gd name="T12" fmla="*/ 399 w 572"/>
              <a:gd name="T13" fmla="*/ 374 h 585"/>
              <a:gd name="T14" fmla="*/ 454 w 572"/>
              <a:gd name="T15" fmla="*/ 227 h 585"/>
              <a:gd name="T16" fmla="*/ 227 w 572"/>
              <a:gd name="T17" fmla="*/ 0 h 585"/>
              <a:gd name="T18" fmla="*/ 227 w 572"/>
              <a:gd name="T19" fmla="*/ 27 h 585"/>
              <a:gd name="T20" fmla="*/ 427 w 572"/>
              <a:gd name="T21" fmla="*/ 227 h 585"/>
              <a:gd name="T22" fmla="*/ 227 w 572"/>
              <a:gd name="T23" fmla="*/ 427 h 585"/>
              <a:gd name="T24" fmla="*/ 27 w 572"/>
              <a:gd name="T25" fmla="*/ 227 h 585"/>
              <a:gd name="T26" fmla="*/ 227 w 572"/>
              <a:gd name="T27" fmla="*/ 27 h 58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572" h="585">
                <a:moveTo>
                  <a:pt x="227" y="0"/>
                </a:moveTo>
                <a:cubicBezTo>
                  <a:pt x="102" y="0"/>
                  <a:pt x="0" y="102"/>
                  <a:pt x="0" y="227"/>
                </a:cubicBezTo>
                <a:cubicBezTo>
                  <a:pt x="0" y="352"/>
                  <a:pt x="102" y="453"/>
                  <a:pt x="227" y="453"/>
                </a:cubicBezTo>
                <a:cubicBezTo>
                  <a:pt x="276" y="453"/>
                  <a:pt x="322" y="437"/>
                  <a:pt x="359" y="410"/>
                </a:cubicBezTo>
                <a:lnTo>
                  <a:pt x="535" y="585"/>
                </a:lnTo>
                <a:lnTo>
                  <a:pt x="572" y="548"/>
                </a:lnTo>
                <a:lnTo>
                  <a:pt x="399" y="374"/>
                </a:lnTo>
                <a:cubicBezTo>
                  <a:pt x="433" y="335"/>
                  <a:pt x="454" y="283"/>
                  <a:pt x="454" y="227"/>
                </a:cubicBezTo>
                <a:cubicBezTo>
                  <a:pt x="454" y="102"/>
                  <a:pt x="352" y="0"/>
                  <a:pt x="227" y="0"/>
                </a:cubicBezTo>
                <a:close/>
                <a:moveTo>
                  <a:pt x="227" y="27"/>
                </a:moveTo>
                <a:cubicBezTo>
                  <a:pt x="338" y="27"/>
                  <a:pt x="427" y="116"/>
                  <a:pt x="427" y="227"/>
                </a:cubicBezTo>
                <a:cubicBezTo>
                  <a:pt x="427" y="337"/>
                  <a:pt x="338" y="427"/>
                  <a:pt x="227" y="427"/>
                </a:cubicBezTo>
                <a:cubicBezTo>
                  <a:pt x="116" y="427"/>
                  <a:pt x="27" y="337"/>
                  <a:pt x="27" y="227"/>
                </a:cubicBezTo>
                <a:cubicBezTo>
                  <a:pt x="27" y="116"/>
                  <a:pt x="116" y="27"/>
                  <a:pt x="227" y="27"/>
                </a:cubicBezTo>
                <a:close/>
              </a:path>
            </a:pathLst>
          </a:custGeom>
          <a:solidFill>
            <a:srgbClr val="5F5F5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90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grpSp>
        <p:nvGrpSpPr>
          <p:cNvPr id="556" name="그룹 555"/>
          <p:cNvGrpSpPr/>
          <p:nvPr/>
        </p:nvGrpSpPr>
        <p:grpSpPr>
          <a:xfrm>
            <a:off x="2339906" y="2924101"/>
            <a:ext cx="1476000" cy="180000"/>
            <a:chOff x="8314594" y="2059723"/>
            <a:chExt cx="1476000" cy="180000"/>
          </a:xfrm>
        </p:grpSpPr>
        <p:sp>
          <p:nvSpPr>
            <p:cNvPr id="557" name="모서리가 둥근 직사각형 184">
              <a:extLst>
                <a:ext uri="{FF2B5EF4-FFF2-40B4-BE49-F238E27FC236}">
                  <a16:creationId xmlns="" xmlns:a16="http://schemas.microsoft.com/office/drawing/2014/main" id="{7C4181B1-00DE-4B1A-9AF4-36726F2433BA}"/>
                </a:ext>
              </a:extLst>
            </p:cNvPr>
            <p:cNvSpPr/>
            <p:nvPr/>
          </p:nvSpPr>
          <p:spPr bwMode="auto">
            <a:xfrm>
              <a:off x="8314594" y="2059723"/>
              <a:ext cx="720000" cy="180000"/>
            </a:xfrm>
            <a:prstGeom prst="roundRect">
              <a:avLst/>
            </a:prstGeom>
            <a:solidFill>
              <a:srgbClr val="FFFFEF"/>
            </a:solidFill>
            <a:ln w="3175" cap="flat" cmpd="sng" algn="ctr">
              <a:solidFill>
                <a:schemeClr val="bg1">
                  <a:lumMod val="7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none" lIns="108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defTabSz="914400" fontAlgn="base" latinLnBrk="0">
                <a:spcBef>
                  <a:spcPct val="0"/>
                </a:spcBef>
                <a:spcAft>
                  <a:spcPct val="0"/>
                </a:spcAft>
              </a:pPr>
              <a:endParaRPr kumimoji="1" lang="ko-KR" altLang="en-US" sz="700" b="0" i="0" u="none" strike="noStrike" kern="0" cap="none" spc="0" normalizeH="0" baseline="0" noProof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558" name="모서리가 둥근 직사각형 184">
              <a:extLst>
                <a:ext uri="{FF2B5EF4-FFF2-40B4-BE49-F238E27FC236}">
                  <a16:creationId xmlns="" xmlns:a16="http://schemas.microsoft.com/office/drawing/2014/main" id="{7C4181B1-00DE-4B1A-9AF4-36726F2433BA}"/>
                </a:ext>
              </a:extLst>
            </p:cNvPr>
            <p:cNvSpPr/>
            <p:nvPr/>
          </p:nvSpPr>
          <p:spPr bwMode="auto">
            <a:xfrm>
              <a:off x="9070594" y="2059723"/>
              <a:ext cx="720000" cy="180000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 w="3175" cap="flat" cmpd="sng" algn="ctr">
              <a:solidFill>
                <a:schemeClr val="bg1">
                  <a:lumMod val="7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none" lIns="108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defTabSz="914400" fontAlgn="base" latinLnBrk="0">
                <a:spcBef>
                  <a:spcPct val="0"/>
                </a:spcBef>
                <a:spcAft>
                  <a:spcPct val="0"/>
                </a:spcAft>
              </a:pPr>
              <a:endParaRPr kumimoji="1" lang="ko-KR" altLang="en-US" sz="700" b="0" i="0" u="none" strike="noStrike" kern="0" cap="none" spc="0" normalizeH="0" baseline="0" noProof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559" name="Search"/>
            <p:cNvSpPr>
              <a:spLocks noChangeAspect="1" noEditPoints="1"/>
            </p:cNvSpPr>
            <p:nvPr/>
          </p:nvSpPr>
          <p:spPr bwMode="auto">
            <a:xfrm>
              <a:off x="8854456" y="2078286"/>
              <a:ext cx="144000" cy="142875"/>
            </a:xfrm>
            <a:custGeom>
              <a:avLst/>
              <a:gdLst>
                <a:gd name="T0" fmla="*/ 227 w 572"/>
                <a:gd name="T1" fmla="*/ 0 h 585"/>
                <a:gd name="T2" fmla="*/ 0 w 572"/>
                <a:gd name="T3" fmla="*/ 227 h 585"/>
                <a:gd name="T4" fmla="*/ 227 w 572"/>
                <a:gd name="T5" fmla="*/ 453 h 585"/>
                <a:gd name="T6" fmla="*/ 359 w 572"/>
                <a:gd name="T7" fmla="*/ 410 h 585"/>
                <a:gd name="T8" fmla="*/ 535 w 572"/>
                <a:gd name="T9" fmla="*/ 585 h 585"/>
                <a:gd name="T10" fmla="*/ 572 w 572"/>
                <a:gd name="T11" fmla="*/ 548 h 585"/>
                <a:gd name="T12" fmla="*/ 399 w 572"/>
                <a:gd name="T13" fmla="*/ 374 h 585"/>
                <a:gd name="T14" fmla="*/ 454 w 572"/>
                <a:gd name="T15" fmla="*/ 227 h 585"/>
                <a:gd name="T16" fmla="*/ 227 w 572"/>
                <a:gd name="T17" fmla="*/ 0 h 585"/>
                <a:gd name="T18" fmla="*/ 227 w 572"/>
                <a:gd name="T19" fmla="*/ 27 h 585"/>
                <a:gd name="T20" fmla="*/ 427 w 572"/>
                <a:gd name="T21" fmla="*/ 227 h 585"/>
                <a:gd name="T22" fmla="*/ 227 w 572"/>
                <a:gd name="T23" fmla="*/ 427 h 585"/>
                <a:gd name="T24" fmla="*/ 27 w 572"/>
                <a:gd name="T25" fmla="*/ 227 h 585"/>
                <a:gd name="T26" fmla="*/ 227 w 572"/>
                <a:gd name="T27" fmla="*/ 27 h 5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572" h="585">
                  <a:moveTo>
                    <a:pt x="227" y="0"/>
                  </a:moveTo>
                  <a:cubicBezTo>
                    <a:pt x="102" y="0"/>
                    <a:pt x="0" y="102"/>
                    <a:pt x="0" y="227"/>
                  </a:cubicBezTo>
                  <a:cubicBezTo>
                    <a:pt x="0" y="352"/>
                    <a:pt x="102" y="453"/>
                    <a:pt x="227" y="453"/>
                  </a:cubicBezTo>
                  <a:cubicBezTo>
                    <a:pt x="276" y="453"/>
                    <a:pt x="322" y="437"/>
                    <a:pt x="359" y="410"/>
                  </a:cubicBezTo>
                  <a:lnTo>
                    <a:pt x="535" y="585"/>
                  </a:lnTo>
                  <a:lnTo>
                    <a:pt x="572" y="548"/>
                  </a:lnTo>
                  <a:lnTo>
                    <a:pt x="399" y="374"/>
                  </a:lnTo>
                  <a:cubicBezTo>
                    <a:pt x="433" y="335"/>
                    <a:pt x="454" y="283"/>
                    <a:pt x="454" y="227"/>
                  </a:cubicBezTo>
                  <a:cubicBezTo>
                    <a:pt x="454" y="102"/>
                    <a:pt x="352" y="0"/>
                    <a:pt x="227" y="0"/>
                  </a:cubicBezTo>
                  <a:close/>
                  <a:moveTo>
                    <a:pt x="227" y="27"/>
                  </a:moveTo>
                  <a:cubicBezTo>
                    <a:pt x="338" y="27"/>
                    <a:pt x="427" y="116"/>
                    <a:pt x="427" y="227"/>
                  </a:cubicBezTo>
                  <a:cubicBezTo>
                    <a:pt x="427" y="337"/>
                    <a:pt x="338" y="427"/>
                    <a:pt x="227" y="427"/>
                  </a:cubicBezTo>
                  <a:cubicBezTo>
                    <a:pt x="116" y="427"/>
                    <a:pt x="27" y="337"/>
                    <a:pt x="27" y="227"/>
                  </a:cubicBezTo>
                  <a:cubicBezTo>
                    <a:pt x="27" y="116"/>
                    <a:pt x="116" y="27"/>
                    <a:pt x="227" y="27"/>
                  </a:cubicBezTo>
                  <a:close/>
                </a:path>
              </a:pathLst>
            </a:custGeom>
            <a:solidFill>
              <a:srgbClr val="5F5F5F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sp>
        <p:nvSpPr>
          <p:cNvPr id="397" name="직사각형 396">
            <a:extLst>
              <a:ext uri="{FF2B5EF4-FFF2-40B4-BE49-F238E27FC236}">
                <a16:creationId xmlns="" xmlns:a16="http://schemas.microsoft.com/office/drawing/2014/main" id="{C3CBC899-E192-4597-B3EF-23483E494D33}"/>
              </a:ext>
            </a:extLst>
          </p:cNvPr>
          <p:cNvSpPr/>
          <p:nvPr/>
        </p:nvSpPr>
        <p:spPr>
          <a:xfrm>
            <a:off x="1367906" y="3158290"/>
            <a:ext cx="900000" cy="288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36000" rIns="108000" bIns="36000" rtlCol="0" anchor="ctr"/>
          <a:lstStyle/>
          <a:p>
            <a:r>
              <a:rPr lang="ko-KR" altLang="en-US" sz="7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카테고리</a:t>
            </a:r>
            <a:endParaRPr lang="ko-KR" altLang="en-US" sz="7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98" name="직사각형 397">
            <a:extLst>
              <a:ext uri="{FF2B5EF4-FFF2-40B4-BE49-F238E27FC236}">
                <a16:creationId xmlns="" xmlns:a16="http://schemas.microsoft.com/office/drawing/2014/main" id="{C8E8B8B5-F2A9-4F2D-8F41-E83BE71E8F5A}"/>
              </a:ext>
            </a:extLst>
          </p:cNvPr>
          <p:cNvSpPr/>
          <p:nvPr/>
        </p:nvSpPr>
        <p:spPr>
          <a:xfrm>
            <a:off x="2266455" y="3158290"/>
            <a:ext cx="5076899" cy="288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36000" rIns="108000" bIns="36000" rtlCol="0" anchor="ctr"/>
          <a:lstStyle/>
          <a:p>
            <a:endParaRPr lang="ko-KR" altLang="en-US" sz="80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560" name="그룹 559">
            <a:extLst>
              <a:ext uri="{FF2B5EF4-FFF2-40B4-BE49-F238E27FC236}">
                <a16:creationId xmlns="" xmlns:a16="http://schemas.microsoft.com/office/drawing/2014/main" id="{CE03C03E-4F04-4133-AEEC-AC03458859A7}"/>
              </a:ext>
            </a:extLst>
          </p:cNvPr>
          <p:cNvGrpSpPr/>
          <p:nvPr/>
        </p:nvGrpSpPr>
        <p:grpSpPr>
          <a:xfrm>
            <a:off x="2339906" y="3212290"/>
            <a:ext cx="936000" cy="180000"/>
            <a:chOff x="2554666" y="3787347"/>
            <a:chExt cx="936000" cy="180000"/>
          </a:xfrm>
        </p:grpSpPr>
        <p:sp>
          <p:nvSpPr>
            <p:cNvPr id="561" name="모서리가 둥근 직사각형 139">
              <a:extLst>
                <a:ext uri="{FF2B5EF4-FFF2-40B4-BE49-F238E27FC236}">
                  <a16:creationId xmlns="" xmlns:a16="http://schemas.microsoft.com/office/drawing/2014/main" id="{D20B2316-7950-45D5-A329-DFCDAA416345}"/>
                </a:ext>
              </a:extLst>
            </p:cNvPr>
            <p:cNvSpPr/>
            <p:nvPr/>
          </p:nvSpPr>
          <p:spPr bwMode="auto">
            <a:xfrm>
              <a:off x="2554666" y="3787347"/>
              <a:ext cx="936000" cy="180000"/>
            </a:xfrm>
            <a:prstGeom prst="roundRect">
              <a:avLst/>
            </a:prstGeom>
            <a:solidFill>
              <a:schemeClr val="bg1"/>
            </a:solidFill>
            <a:ln w="3175" cap="flat" cmpd="sng" algn="ctr">
              <a:solidFill>
                <a:schemeClr val="bg1">
                  <a:lumMod val="7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none" lIns="108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fontAlgn="base" latinLnBrk="0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ko-KR" sz="700" kern="0" smtClean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[</a:t>
              </a:r>
              <a:r>
                <a:rPr kumimoji="1" lang="ko-KR" altLang="en-US" sz="700" kern="0" smtClean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선택</a:t>
              </a:r>
              <a:r>
                <a:rPr kumimoji="1" lang="en-US" altLang="ko-KR" sz="700" kern="0" smtClean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]</a:t>
              </a:r>
              <a:endParaRPr kumimoji="1" lang="ko-KR" altLang="en-US" sz="700" kern="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endParaRPr>
            </a:p>
          </p:txBody>
        </p:sp>
        <p:sp>
          <p:nvSpPr>
            <p:cNvPr id="562" name="모서리가 둥근 직사각형 141">
              <a:extLst>
                <a:ext uri="{FF2B5EF4-FFF2-40B4-BE49-F238E27FC236}">
                  <a16:creationId xmlns="" xmlns:a16="http://schemas.microsoft.com/office/drawing/2014/main" id="{9D3BF834-DC28-4D1A-B5CB-ED60EA5C7751}"/>
                </a:ext>
              </a:extLst>
            </p:cNvPr>
            <p:cNvSpPr/>
            <p:nvPr/>
          </p:nvSpPr>
          <p:spPr bwMode="auto">
            <a:xfrm>
              <a:off x="3310666" y="3787347"/>
              <a:ext cx="180000" cy="180000"/>
            </a:xfrm>
            <a:prstGeom prst="roundRect">
              <a:avLst/>
            </a:prstGeom>
            <a:solidFill>
              <a:schemeClr val="bg1"/>
            </a:solidFill>
            <a:ln w="3175" cap="flat" cmpd="sng" algn="ctr">
              <a:solidFill>
                <a:schemeClr val="bg1">
                  <a:lumMod val="7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none" lIns="36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fontAlgn="base" latinLnBrk="0">
                <a:spcBef>
                  <a:spcPct val="0"/>
                </a:spcBef>
                <a:spcAft>
                  <a:spcPct val="0"/>
                </a:spcAft>
              </a:pPr>
              <a:r>
                <a:rPr kumimoji="1" lang="ko-KR" altLang="en-US" sz="700" kern="0" dirty="0">
                  <a:solidFill>
                    <a:srgbClr val="000000"/>
                  </a:solidFill>
                  <a:latin typeface="+mn-ea"/>
                </a:rPr>
                <a:t>▼</a:t>
              </a:r>
            </a:p>
          </p:txBody>
        </p:sp>
      </p:grpSp>
      <p:grpSp>
        <p:nvGrpSpPr>
          <p:cNvPr id="563" name="그룹 562">
            <a:extLst>
              <a:ext uri="{FF2B5EF4-FFF2-40B4-BE49-F238E27FC236}">
                <a16:creationId xmlns="" xmlns:a16="http://schemas.microsoft.com/office/drawing/2014/main" id="{CE03C03E-4F04-4133-AEEC-AC03458859A7}"/>
              </a:ext>
            </a:extLst>
          </p:cNvPr>
          <p:cNvGrpSpPr/>
          <p:nvPr/>
        </p:nvGrpSpPr>
        <p:grpSpPr>
          <a:xfrm>
            <a:off x="3348188" y="3212290"/>
            <a:ext cx="936000" cy="180000"/>
            <a:chOff x="2554666" y="3787347"/>
            <a:chExt cx="936000" cy="180000"/>
          </a:xfrm>
        </p:grpSpPr>
        <p:sp>
          <p:nvSpPr>
            <p:cNvPr id="564" name="모서리가 둥근 직사각형 139">
              <a:extLst>
                <a:ext uri="{FF2B5EF4-FFF2-40B4-BE49-F238E27FC236}">
                  <a16:creationId xmlns="" xmlns:a16="http://schemas.microsoft.com/office/drawing/2014/main" id="{D20B2316-7950-45D5-A329-DFCDAA416345}"/>
                </a:ext>
              </a:extLst>
            </p:cNvPr>
            <p:cNvSpPr/>
            <p:nvPr/>
          </p:nvSpPr>
          <p:spPr bwMode="auto">
            <a:xfrm>
              <a:off x="2554666" y="3787347"/>
              <a:ext cx="936000" cy="180000"/>
            </a:xfrm>
            <a:prstGeom prst="roundRect">
              <a:avLst/>
            </a:prstGeom>
            <a:solidFill>
              <a:schemeClr val="bg1"/>
            </a:solidFill>
            <a:ln w="3175" cap="flat" cmpd="sng" algn="ctr">
              <a:solidFill>
                <a:schemeClr val="bg1">
                  <a:lumMod val="7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none" lIns="108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fontAlgn="base" latinLnBrk="0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ko-KR" sz="700" kern="0" smtClean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[</a:t>
              </a:r>
              <a:r>
                <a:rPr kumimoji="1" lang="ko-KR" altLang="en-US" sz="700" kern="0" smtClean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선택</a:t>
              </a:r>
              <a:r>
                <a:rPr kumimoji="1" lang="en-US" altLang="ko-KR" sz="700" kern="0" smtClean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]</a:t>
              </a:r>
              <a:endParaRPr kumimoji="1" lang="ko-KR" altLang="en-US" sz="700" kern="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endParaRPr>
            </a:p>
          </p:txBody>
        </p:sp>
        <p:sp>
          <p:nvSpPr>
            <p:cNvPr id="565" name="모서리가 둥근 직사각형 141">
              <a:extLst>
                <a:ext uri="{FF2B5EF4-FFF2-40B4-BE49-F238E27FC236}">
                  <a16:creationId xmlns="" xmlns:a16="http://schemas.microsoft.com/office/drawing/2014/main" id="{9D3BF834-DC28-4D1A-B5CB-ED60EA5C7751}"/>
                </a:ext>
              </a:extLst>
            </p:cNvPr>
            <p:cNvSpPr/>
            <p:nvPr/>
          </p:nvSpPr>
          <p:spPr bwMode="auto">
            <a:xfrm>
              <a:off x="3310666" y="3787347"/>
              <a:ext cx="180000" cy="180000"/>
            </a:xfrm>
            <a:prstGeom prst="roundRect">
              <a:avLst/>
            </a:prstGeom>
            <a:solidFill>
              <a:schemeClr val="bg1"/>
            </a:solidFill>
            <a:ln w="3175" cap="flat" cmpd="sng" algn="ctr">
              <a:solidFill>
                <a:schemeClr val="bg1">
                  <a:lumMod val="7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none" lIns="36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fontAlgn="base" latinLnBrk="0">
                <a:spcBef>
                  <a:spcPct val="0"/>
                </a:spcBef>
                <a:spcAft>
                  <a:spcPct val="0"/>
                </a:spcAft>
              </a:pPr>
              <a:r>
                <a:rPr kumimoji="1" lang="ko-KR" altLang="en-US" sz="700" kern="0" dirty="0">
                  <a:solidFill>
                    <a:srgbClr val="000000"/>
                  </a:solidFill>
                  <a:latin typeface="+mn-ea"/>
                </a:rPr>
                <a:t>▼</a:t>
              </a:r>
            </a:p>
          </p:txBody>
        </p:sp>
      </p:grpSp>
      <p:grpSp>
        <p:nvGrpSpPr>
          <p:cNvPr id="566" name="그룹 565">
            <a:extLst>
              <a:ext uri="{FF2B5EF4-FFF2-40B4-BE49-F238E27FC236}">
                <a16:creationId xmlns="" xmlns:a16="http://schemas.microsoft.com/office/drawing/2014/main" id="{CE03C03E-4F04-4133-AEEC-AC03458859A7}"/>
              </a:ext>
            </a:extLst>
          </p:cNvPr>
          <p:cNvGrpSpPr/>
          <p:nvPr/>
        </p:nvGrpSpPr>
        <p:grpSpPr>
          <a:xfrm>
            <a:off x="4355183" y="3212290"/>
            <a:ext cx="936000" cy="180000"/>
            <a:chOff x="2554666" y="3787347"/>
            <a:chExt cx="936000" cy="180000"/>
          </a:xfrm>
        </p:grpSpPr>
        <p:sp>
          <p:nvSpPr>
            <p:cNvPr id="567" name="모서리가 둥근 직사각형 139">
              <a:extLst>
                <a:ext uri="{FF2B5EF4-FFF2-40B4-BE49-F238E27FC236}">
                  <a16:creationId xmlns="" xmlns:a16="http://schemas.microsoft.com/office/drawing/2014/main" id="{D20B2316-7950-45D5-A329-DFCDAA416345}"/>
                </a:ext>
              </a:extLst>
            </p:cNvPr>
            <p:cNvSpPr/>
            <p:nvPr/>
          </p:nvSpPr>
          <p:spPr bwMode="auto">
            <a:xfrm>
              <a:off x="2554666" y="3787347"/>
              <a:ext cx="936000" cy="180000"/>
            </a:xfrm>
            <a:prstGeom prst="roundRect">
              <a:avLst/>
            </a:prstGeom>
            <a:solidFill>
              <a:schemeClr val="bg1"/>
            </a:solidFill>
            <a:ln w="3175" cap="flat" cmpd="sng" algn="ctr">
              <a:solidFill>
                <a:schemeClr val="bg1">
                  <a:lumMod val="7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none" lIns="108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fontAlgn="base" latinLnBrk="0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ko-KR" sz="700" kern="0" smtClean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[</a:t>
              </a:r>
              <a:r>
                <a:rPr kumimoji="1" lang="ko-KR" altLang="en-US" sz="700" kern="0" smtClean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선택</a:t>
              </a:r>
              <a:r>
                <a:rPr kumimoji="1" lang="en-US" altLang="ko-KR" sz="700" kern="0" smtClean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]</a:t>
              </a:r>
              <a:endParaRPr kumimoji="1" lang="ko-KR" altLang="en-US" sz="700" kern="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endParaRPr>
            </a:p>
          </p:txBody>
        </p:sp>
        <p:sp>
          <p:nvSpPr>
            <p:cNvPr id="568" name="모서리가 둥근 직사각형 141">
              <a:extLst>
                <a:ext uri="{FF2B5EF4-FFF2-40B4-BE49-F238E27FC236}">
                  <a16:creationId xmlns="" xmlns:a16="http://schemas.microsoft.com/office/drawing/2014/main" id="{9D3BF834-DC28-4D1A-B5CB-ED60EA5C7751}"/>
                </a:ext>
              </a:extLst>
            </p:cNvPr>
            <p:cNvSpPr/>
            <p:nvPr/>
          </p:nvSpPr>
          <p:spPr bwMode="auto">
            <a:xfrm>
              <a:off x="3310666" y="3787347"/>
              <a:ext cx="180000" cy="180000"/>
            </a:xfrm>
            <a:prstGeom prst="roundRect">
              <a:avLst/>
            </a:prstGeom>
            <a:solidFill>
              <a:schemeClr val="bg1"/>
            </a:solidFill>
            <a:ln w="3175" cap="flat" cmpd="sng" algn="ctr">
              <a:solidFill>
                <a:schemeClr val="bg1">
                  <a:lumMod val="7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none" lIns="36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fontAlgn="base" latinLnBrk="0">
                <a:spcBef>
                  <a:spcPct val="0"/>
                </a:spcBef>
                <a:spcAft>
                  <a:spcPct val="0"/>
                </a:spcAft>
              </a:pPr>
              <a:r>
                <a:rPr kumimoji="1" lang="ko-KR" altLang="en-US" sz="700" kern="0" dirty="0">
                  <a:solidFill>
                    <a:srgbClr val="000000"/>
                  </a:solidFill>
                  <a:latin typeface="+mn-ea"/>
                </a:rPr>
                <a:t>▼</a:t>
              </a:r>
            </a:p>
          </p:txBody>
        </p:sp>
      </p:grpSp>
      <p:sp>
        <p:nvSpPr>
          <p:cNvPr id="570" name="모서리가 둥근 직사각형 184">
            <a:extLst>
              <a:ext uri="{FF2B5EF4-FFF2-40B4-BE49-F238E27FC236}">
                <a16:creationId xmlns="" xmlns:a16="http://schemas.microsoft.com/office/drawing/2014/main" id="{7C4181B1-00DE-4B1A-9AF4-36726F2433BA}"/>
              </a:ext>
            </a:extLst>
          </p:cNvPr>
          <p:cNvSpPr/>
          <p:nvPr/>
        </p:nvSpPr>
        <p:spPr bwMode="auto">
          <a:xfrm>
            <a:off x="5362454" y="3212290"/>
            <a:ext cx="936000" cy="180000"/>
          </a:xfrm>
          <a:prstGeom prst="roundRect">
            <a:avLst/>
          </a:prstGeom>
          <a:solidFill>
            <a:srgbClr val="FFFFEF"/>
          </a:solidFill>
          <a:ln w="3175" cap="flat" cmpd="sng" algn="ctr">
            <a:solidFill>
              <a:schemeClr val="bg1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none" lIns="108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defTabSz="914400" fontAlgn="base" latinLnBrk="0">
              <a:spcBef>
                <a:spcPct val="0"/>
              </a:spcBef>
              <a:spcAft>
                <a:spcPct val="0"/>
              </a:spcAft>
            </a:pPr>
            <a:endParaRPr kumimoji="1" lang="ko-KR" altLang="en-US" sz="700" b="0" i="0" u="none" strike="noStrike" kern="0" cap="none" spc="0" normalizeH="0" baseline="0" noProof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71" name="직사각형 570">
            <a:extLst>
              <a:ext uri="{FF2B5EF4-FFF2-40B4-BE49-F238E27FC236}">
                <a16:creationId xmlns="" xmlns:a16="http://schemas.microsoft.com/office/drawing/2014/main" id="{D6E71F9F-6A05-4858-BCF1-F73872A38DCC}"/>
              </a:ext>
            </a:extLst>
          </p:cNvPr>
          <p:cNvSpPr/>
          <p:nvPr/>
        </p:nvSpPr>
        <p:spPr>
          <a:xfrm>
            <a:off x="7343630" y="3158290"/>
            <a:ext cx="900000" cy="288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36000" rIns="108000" bIns="36000" rtlCol="0" anchor="ctr"/>
          <a:lstStyle/>
          <a:p>
            <a:r>
              <a:rPr lang="ko-KR" altLang="en-US" sz="7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이월구분</a:t>
            </a:r>
            <a:endParaRPr lang="ko-KR" altLang="en-US" sz="700" dirty="0">
              <a:solidFill>
                <a:srgbClr val="C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72" name="직사각형 571">
            <a:extLst>
              <a:ext uri="{FF2B5EF4-FFF2-40B4-BE49-F238E27FC236}">
                <a16:creationId xmlns="" xmlns:a16="http://schemas.microsoft.com/office/drawing/2014/main" id="{869F0D91-4426-412C-8A0D-962A34E6A583}"/>
              </a:ext>
            </a:extLst>
          </p:cNvPr>
          <p:cNvSpPr/>
          <p:nvPr/>
        </p:nvSpPr>
        <p:spPr>
          <a:xfrm>
            <a:off x="8243906" y="3158290"/>
            <a:ext cx="1116000" cy="288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36000" rIns="108000" bIns="36000" rtlCol="0" anchor="ctr"/>
          <a:lstStyle/>
          <a:p>
            <a:endParaRPr lang="ko-KR" altLang="en-US" sz="80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573" name="그룹 572">
            <a:extLst>
              <a:ext uri="{FF2B5EF4-FFF2-40B4-BE49-F238E27FC236}">
                <a16:creationId xmlns="" xmlns:a16="http://schemas.microsoft.com/office/drawing/2014/main" id="{CE03C03E-4F04-4133-AEEC-AC03458859A7}"/>
              </a:ext>
            </a:extLst>
          </p:cNvPr>
          <p:cNvGrpSpPr/>
          <p:nvPr/>
        </p:nvGrpSpPr>
        <p:grpSpPr>
          <a:xfrm>
            <a:off x="8314594" y="3212290"/>
            <a:ext cx="936000" cy="180000"/>
            <a:chOff x="2554666" y="3787347"/>
            <a:chExt cx="936000" cy="180000"/>
          </a:xfrm>
        </p:grpSpPr>
        <p:sp>
          <p:nvSpPr>
            <p:cNvPr id="574" name="모서리가 둥근 직사각형 139">
              <a:extLst>
                <a:ext uri="{FF2B5EF4-FFF2-40B4-BE49-F238E27FC236}">
                  <a16:creationId xmlns="" xmlns:a16="http://schemas.microsoft.com/office/drawing/2014/main" id="{D20B2316-7950-45D5-A329-DFCDAA416345}"/>
                </a:ext>
              </a:extLst>
            </p:cNvPr>
            <p:cNvSpPr/>
            <p:nvPr/>
          </p:nvSpPr>
          <p:spPr bwMode="auto">
            <a:xfrm>
              <a:off x="2554666" y="3787347"/>
              <a:ext cx="936000" cy="180000"/>
            </a:xfrm>
            <a:prstGeom prst="roundRect">
              <a:avLst/>
            </a:prstGeom>
            <a:solidFill>
              <a:schemeClr val="bg1"/>
            </a:solidFill>
            <a:ln w="3175" cap="flat" cmpd="sng" algn="ctr">
              <a:solidFill>
                <a:schemeClr val="bg1">
                  <a:lumMod val="7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none" lIns="108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fontAlgn="base" latinLnBrk="0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ko-KR" sz="700" kern="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[</a:t>
              </a:r>
              <a:r>
                <a:rPr kumimoji="1" lang="ko-KR" altLang="en-US" sz="700" kern="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전체</a:t>
              </a:r>
              <a:r>
                <a:rPr kumimoji="1" lang="en-US" altLang="ko-KR" sz="700" kern="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]</a:t>
              </a:r>
              <a:endParaRPr kumimoji="1" lang="ko-KR" altLang="en-US" sz="700" kern="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endParaRPr>
            </a:p>
          </p:txBody>
        </p:sp>
        <p:sp>
          <p:nvSpPr>
            <p:cNvPr id="575" name="모서리가 둥근 직사각형 141">
              <a:extLst>
                <a:ext uri="{FF2B5EF4-FFF2-40B4-BE49-F238E27FC236}">
                  <a16:creationId xmlns="" xmlns:a16="http://schemas.microsoft.com/office/drawing/2014/main" id="{9D3BF834-DC28-4D1A-B5CB-ED60EA5C7751}"/>
                </a:ext>
              </a:extLst>
            </p:cNvPr>
            <p:cNvSpPr/>
            <p:nvPr/>
          </p:nvSpPr>
          <p:spPr bwMode="auto">
            <a:xfrm>
              <a:off x="3310666" y="3787347"/>
              <a:ext cx="180000" cy="180000"/>
            </a:xfrm>
            <a:prstGeom prst="roundRect">
              <a:avLst/>
            </a:prstGeom>
            <a:solidFill>
              <a:schemeClr val="bg1"/>
            </a:solidFill>
            <a:ln w="3175" cap="flat" cmpd="sng" algn="ctr">
              <a:solidFill>
                <a:schemeClr val="bg1">
                  <a:lumMod val="7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none" lIns="36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fontAlgn="base" latinLnBrk="0">
                <a:spcBef>
                  <a:spcPct val="0"/>
                </a:spcBef>
                <a:spcAft>
                  <a:spcPct val="0"/>
                </a:spcAft>
              </a:pPr>
              <a:r>
                <a:rPr kumimoji="1" lang="ko-KR" altLang="en-US" sz="700" kern="0" dirty="0">
                  <a:solidFill>
                    <a:srgbClr val="000000"/>
                  </a:solidFill>
                  <a:latin typeface="+mn-ea"/>
                </a:rPr>
                <a:t>▼</a:t>
              </a:r>
            </a:p>
          </p:txBody>
        </p:sp>
      </p:grpSp>
      <p:sp>
        <p:nvSpPr>
          <p:cNvPr id="463" name="직사각형 462">
            <a:extLst>
              <a:ext uri="{FF2B5EF4-FFF2-40B4-BE49-F238E27FC236}">
                <a16:creationId xmlns="" xmlns:a16="http://schemas.microsoft.com/office/drawing/2014/main" id="{C3CBC899-E192-4597-B3EF-23483E494D33}"/>
              </a:ext>
            </a:extLst>
          </p:cNvPr>
          <p:cNvSpPr/>
          <p:nvPr/>
        </p:nvSpPr>
        <p:spPr>
          <a:xfrm>
            <a:off x="1367906" y="3446479"/>
            <a:ext cx="900000" cy="288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36000" rIns="108000" bIns="36000" rtlCol="0" anchor="ctr"/>
          <a:lstStyle/>
          <a:p>
            <a:r>
              <a:rPr lang="ko-KR" altLang="en-US" sz="7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년도</a:t>
            </a:r>
            <a:r>
              <a:rPr lang="en-US" altLang="ko-KR" sz="7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7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시즌</a:t>
            </a:r>
            <a:endParaRPr lang="ko-KR" altLang="en-US" sz="7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64" name="직사각형 463">
            <a:extLst>
              <a:ext uri="{FF2B5EF4-FFF2-40B4-BE49-F238E27FC236}">
                <a16:creationId xmlns="" xmlns:a16="http://schemas.microsoft.com/office/drawing/2014/main" id="{C8E8B8B5-F2A9-4F2D-8F41-E83BE71E8F5A}"/>
              </a:ext>
            </a:extLst>
          </p:cNvPr>
          <p:cNvSpPr/>
          <p:nvPr/>
        </p:nvSpPr>
        <p:spPr>
          <a:xfrm>
            <a:off x="2266455" y="3446479"/>
            <a:ext cx="3095174" cy="288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36000" rIns="108000" bIns="36000" rtlCol="0" anchor="ctr"/>
          <a:lstStyle/>
          <a:p>
            <a:endParaRPr lang="ko-KR" altLang="en-US" sz="80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51" name="직사각형 450">
            <a:extLst>
              <a:ext uri="{FF2B5EF4-FFF2-40B4-BE49-F238E27FC236}">
                <a16:creationId xmlns="" xmlns:a16="http://schemas.microsoft.com/office/drawing/2014/main" id="{C3CBC899-E192-4597-B3EF-23483E494D33}"/>
              </a:ext>
            </a:extLst>
          </p:cNvPr>
          <p:cNvSpPr/>
          <p:nvPr/>
        </p:nvSpPr>
        <p:spPr>
          <a:xfrm>
            <a:off x="5363078" y="3446479"/>
            <a:ext cx="900000" cy="288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36000" rIns="108000" bIns="36000" rtlCol="0" anchor="ctr"/>
          <a:lstStyle/>
          <a:p>
            <a:r>
              <a:rPr lang="ko-KR" altLang="en-US" sz="7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업체코드</a:t>
            </a:r>
            <a:endParaRPr lang="ko-KR" altLang="en-US" sz="7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452" name="직사각형 451">
            <a:extLst>
              <a:ext uri="{FF2B5EF4-FFF2-40B4-BE49-F238E27FC236}">
                <a16:creationId xmlns="" xmlns:a16="http://schemas.microsoft.com/office/drawing/2014/main" id="{C8E8B8B5-F2A9-4F2D-8F41-E83BE71E8F5A}"/>
              </a:ext>
            </a:extLst>
          </p:cNvPr>
          <p:cNvSpPr/>
          <p:nvPr/>
        </p:nvSpPr>
        <p:spPr>
          <a:xfrm>
            <a:off x="6263283" y="3446479"/>
            <a:ext cx="3096623" cy="288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36000" rIns="108000" bIns="36000" rtlCol="0" anchor="ctr"/>
          <a:lstStyle/>
          <a:p>
            <a:endParaRPr lang="ko-KR" altLang="en-US" sz="80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576" name="그룹 575">
            <a:extLst>
              <a:ext uri="{FF2B5EF4-FFF2-40B4-BE49-F238E27FC236}">
                <a16:creationId xmlns="" xmlns:a16="http://schemas.microsoft.com/office/drawing/2014/main" id="{CE03C03E-4F04-4133-AEEC-AC03458859A7}"/>
              </a:ext>
            </a:extLst>
          </p:cNvPr>
          <p:cNvGrpSpPr/>
          <p:nvPr/>
        </p:nvGrpSpPr>
        <p:grpSpPr>
          <a:xfrm>
            <a:off x="2339906" y="3500479"/>
            <a:ext cx="936000" cy="180000"/>
            <a:chOff x="2554666" y="3787347"/>
            <a:chExt cx="936000" cy="180000"/>
          </a:xfrm>
        </p:grpSpPr>
        <p:sp>
          <p:nvSpPr>
            <p:cNvPr id="577" name="모서리가 둥근 직사각형 139">
              <a:extLst>
                <a:ext uri="{FF2B5EF4-FFF2-40B4-BE49-F238E27FC236}">
                  <a16:creationId xmlns="" xmlns:a16="http://schemas.microsoft.com/office/drawing/2014/main" id="{D20B2316-7950-45D5-A329-DFCDAA416345}"/>
                </a:ext>
              </a:extLst>
            </p:cNvPr>
            <p:cNvSpPr/>
            <p:nvPr/>
          </p:nvSpPr>
          <p:spPr bwMode="auto">
            <a:xfrm>
              <a:off x="2554666" y="3787347"/>
              <a:ext cx="936000" cy="180000"/>
            </a:xfrm>
            <a:prstGeom prst="roundRect">
              <a:avLst/>
            </a:prstGeom>
            <a:solidFill>
              <a:schemeClr val="bg1"/>
            </a:solidFill>
            <a:ln w="3175" cap="flat" cmpd="sng" algn="ctr">
              <a:solidFill>
                <a:schemeClr val="bg1">
                  <a:lumMod val="7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none" lIns="108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fontAlgn="base" latinLnBrk="0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ko-KR" sz="700" kern="0" smtClean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[</a:t>
              </a:r>
              <a:r>
                <a:rPr kumimoji="1" lang="ko-KR" altLang="en-US" sz="700" kern="0" smtClean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선택</a:t>
              </a:r>
              <a:r>
                <a:rPr kumimoji="1" lang="en-US" altLang="ko-KR" sz="700" kern="0" smtClean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]</a:t>
              </a:r>
              <a:endParaRPr kumimoji="1" lang="ko-KR" altLang="en-US" sz="700" kern="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endParaRPr>
            </a:p>
          </p:txBody>
        </p:sp>
        <p:sp>
          <p:nvSpPr>
            <p:cNvPr id="578" name="모서리가 둥근 직사각형 141">
              <a:extLst>
                <a:ext uri="{FF2B5EF4-FFF2-40B4-BE49-F238E27FC236}">
                  <a16:creationId xmlns="" xmlns:a16="http://schemas.microsoft.com/office/drawing/2014/main" id="{9D3BF834-DC28-4D1A-B5CB-ED60EA5C7751}"/>
                </a:ext>
              </a:extLst>
            </p:cNvPr>
            <p:cNvSpPr/>
            <p:nvPr/>
          </p:nvSpPr>
          <p:spPr bwMode="auto">
            <a:xfrm>
              <a:off x="3310666" y="3787347"/>
              <a:ext cx="180000" cy="180000"/>
            </a:xfrm>
            <a:prstGeom prst="roundRect">
              <a:avLst/>
            </a:prstGeom>
            <a:solidFill>
              <a:schemeClr val="bg1"/>
            </a:solidFill>
            <a:ln w="3175" cap="flat" cmpd="sng" algn="ctr">
              <a:solidFill>
                <a:schemeClr val="bg1">
                  <a:lumMod val="7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none" lIns="36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fontAlgn="base" latinLnBrk="0">
                <a:spcBef>
                  <a:spcPct val="0"/>
                </a:spcBef>
                <a:spcAft>
                  <a:spcPct val="0"/>
                </a:spcAft>
              </a:pPr>
              <a:r>
                <a:rPr kumimoji="1" lang="ko-KR" altLang="en-US" sz="700" kern="0" dirty="0">
                  <a:solidFill>
                    <a:srgbClr val="000000"/>
                  </a:solidFill>
                  <a:latin typeface="+mn-ea"/>
                </a:rPr>
                <a:t>▼</a:t>
              </a:r>
            </a:p>
          </p:txBody>
        </p:sp>
      </p:grpSp>
      <p:grpSp>
        <p:nvGrpSpPr>
          <p:cNvPr id="579" name="그룹 578">
            <a:extLst>
              <a:ext uri="{FF2B5EF4-FFF2-40B4-BE49-F238E27FC236}">
                <a16:creationId xmlns="" xmlns:a16="http://schemas.microsoft.com/office/drawing/2014/main" id="{CE03C03E-4F04-4133-AEEC-AC03458859A7}"/>
              </a:ext>
            </a:extLst>
          </p:cNvPr>
          <p:cNvGrpSpPr/>
          <p:nvPr/>
        </p:nvGrpSpPr>
        <p:grpSpPr>
          <a:xfrm>
            <a:off x="3348188" y="3500479"/>
            <a:ext cx="936000" cy="180000"/>
            <a:chOff x="2554666" y="3787347"/>
            <a:chExt cx="936000" cy="180000"/>
          </a:xfrm>
        </p:grpSpPr>
        <p:sp>
          <p:nvSpPr>
            <p:cNvPr id="583" name="모서리가 둥근 직사각형 139">
              <a:extLst>
                <a:ext uri="{FF2B5EF4-FFF2-40B4-BE49-F238E27FC236}">
                  <a16:creationId xmlns="" xmlns:a16="http://schemas.microsoft.com/office/drawing/2014/main" id="{D20B2316-7950-45D5-A329-DFCDAA416345}"/>
                </a:ext>
              </a:extLst>
            </p:cNvPr>
            <p:cNvSpPr/>
            <p:nvPr/>
          </p:nvSpPr>
          <p:spPr bwMode="auto">
            <a:xfrm>
              <a:off x="2554666" y="3787347"/>
              <a:ext cx="936000" cy="180000"/>
            </a:xfrm>
            <a:prstGeom prst="roundRect">
              <a:avLst/>
            </a:prstGeom>
            <a:solidFill>
              <a:schemeClr val="bg1"/>
            </a:solidFill>
            <a:ln w="3175" cap="flat" cmpd="sng" algn="ctr">
              <a:solidFill>
                <a:schemeClr val="bg1">
                  <a:lumMod val="7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none" lIns="108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fontAlgn="base" latinLnBrk="0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ko-KR" sz="700" kern="0" smtClean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[</a:t>
              </a:r>
              <a:r>
                <a:rPr kumimoji="1" lang="ko-KR" altLang="en-US" sz="700" kern="0" smtClean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선택</a:t>
              </a:r>
              <a:r>
                <a:rPr kumimoji="1" lang="en-US" altLang="ko-KR" sz="700" kern="0" smtClean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]</a:t>
              </a:r>
              <a:endParaRPr kumimoji="1" lang="ko-KR" altLang="en-US" sz="700" kern="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endParaRPr>
            </a:p>
          </p:txBody>
        </p:sp>
        <p:sp>
          <p:nvSpPr>
            <p:cNvPr id="584" name="모서리가 둥근 직사각형 141">
              <a:extLst>
                <a:ext uri="{FF2B5EF4-FFF2-40B4-BE49-F238E27FC236}">
                  <a16:creationId xmlns="" xmlns:a16="http://schemas.microsoft.com/office/drawing/2014/main" id="{9D3BF834-DC28-4D1A-B5CB-ED60EA5C7751}"/>
                </a:ext>
              </a:extLst>
            </p:cNvPr>
            <p:cNvSpPr/>
            <p:nvPr/>
          </p:nvSpPr>
          <p:spPr bwMode="auto">
            <a:xfrm>
              <a:off x="3310666" y="3787347"/>
              <a:ext cx="180000" cy="180000"/>
            </a:xfrm>
            <a:prstGeom prst="roundRect">
              <a:avLst/>
            </a:prstGeom>
            <a:solidFill>
              <a:schemeClr val="bg1"/>
            </a:solidFill>
            <a:ln w="3175" cap="flat" cmpd="sng" algn="ctr">
              <a:solidFill>
                <a:schemeClr val="bg1">
                  <a:lumMod val="7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none" lIns="36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fontAlgn="base" latinLnBrk="0">
                <a:spcBef>
                  <a:spcPct val="0"/>
                </a:spcBef>
                <a:spcAft>
                  <a:spcPct val="0"/>
                </a:spcAft>
              </a:pPr>
              <a:r>
                <a:rPr kumimoji="1" lang="ko-KR" altLang="en-US" sz="700" kern="0" dirty="0">
                  <a:solidFill>
                    <a:srgbClr val="000000"/>
                  </a:solidFill>
                  <a:latin typeface="+mn-ea"/>
                </a:rPr>
                <a:t>▼</a:t>
              </a:r>
            </a:p>
          </p:txBody>
        </p:sp>
      </p:grpSp>
      <p:grpSp>
        <p:nvGrpSpPr>
          <p:cNvPr id="585" name="그룹 584">
            <a:extLst>
              <a:ext uri="{FF2B5EF4-FFF2-40B4-BE49-F238E27FC236}">
                <a16:creationId xmlns="" xmlns:a16="http://schemas.microsoft.com/office/drawing/2014/main" id="{CE03C03E-4F04-4133-AEEC-AC03458859A7}"/>
              </a:ext>
            </a:extLst>
          </p:cNvPr>
          <p:cNvGrpSpPr/>
          <p:nvPr/>
        </p:nvGrpSpPr>
        <p:grpSpPr>
          <a:xfrm>
            <a:off x="4355183" y="3500479"/>
            <a:ext cx="936000" cy="180000"/>
            <a:chOff x="2554666" y="3787347"/>
            <a:chExt cx="936000" cy="180000"/>
          </a:xfrm>
        </p:grpSpPr>
        <p:sp>
          <p:nvSpPr>
            <p:cNvPr id="586" name="모서리가 둥근 직사각형 139">
              <a:extLst>
                <a:ext uri="{FF2B5EF4-FFF2-40B4-BE49-F238E27FC236}">
                  <a16:creationId xmlns="" xmlns:a16="http://schemas.microsoft.com/office/drawing/2014/main" id="{D20B2316-7950-45D5-A329-DFCDAA416345}"/>
                </a:ext>
              </a:extLst>
            </p:cNvPr>
            <p:cNvSpPr/>
            <p:nvPr/>
          </p:nvSpPr>
          <p:spPr bwMode="auto">
            <a:xfrm>
              <a:off x="2554666" y="3787347"/>
              <a:ext cx="936000" cy="180000"/>
            </a:xfrm>
            <a:prstGeom prst="roundRect">
              <a:avLst/>
            </a:prstGeom>
            <a:solidFill>
              <a:schemeClr val="bg1"/>
            </a:solidFill>
            <a:ln w="3175" cap="flat" cmpd="sng" algn="ctr">
              <a:solidFill>
                <a:schemeClr val="bg1">
                  <a:lumMod val="7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none" lIns="108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fontAlgn="base" latinLnBrk="0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ko-KR" sz="700" kern="0" smtClean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[</a:t>
              </a:r>
              <a:r>
                <a:rPr kumimoji="1" lang="ko-KR" altLang="en-US" sz="700" kern="0" smtClean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선택</a:t>
              </a:r>
              <a:r>
                <a:rPr kumimoji="1" lang="en-US" altLang="ko-KR" sz="700" kern="0" smtClean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]</a:t>
              </a:r>
              <a:endParaRPr kumimoji="1" lang="ko-KR" altLang="en-US" sz="700" kern="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endParaRPr>
            </a:p>
          </p:txBody>
        </p:sp>
        <p:sp>
          <p:nvSpPr>
            <p:cNvPr id="587" name="모서리가 둥근 직사각형 141">
              <a:extLst>
                <a:ext uri="{FF2B5EF4-FFF2-40B4-BE49-F238E27FC236}">
                  <a16:creationId xmlns="" xmlns:a16="http://schemas.microsoft.com/office/drawing/2014/main" id="{9D3BF834-DC28-4D1A-B5CB-ED60EA5C7751}"/>
                </a:ext>
              </a:extLst>
            </p:cNvPr>
            <p:cNvSpPr/>
            <p:nvPr/>
          </p:nvSpPr>
          <p:spPr bwMode="auto">
            <a:xfrm>
              <a:off x="3310666" y="3787347"/>
              <a:ext cx="180000" cy="180000"/>
            </a:xfrm>
            <a:prstGeom prst="roundRect">
              <a:avLst/>
            </a:prstGeom>
            <a:solidFill>
              <a:schemeClr val="bg1"/>
            </a:solidFill>
            <a:ln w="3175" cap="flat" cmpd="sng" algn="ctr">
              <a:solidFill>
                <a:schemeClr val="bg1">
                  <a:lumMod val="7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none" lIns="36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fontAlgn="base" latinLnBrk="0">
                <a:spcBef>
                  <a:spcPct val="0"/>
                </a:spcBef>
                <a:spcAft>
                  <a:spcPct val="0"/>
                </a:spcAft>
              </a:pPr>
              <a:r>
                <a:rPr kumimoji="1" lang="ko-KR" altLang="en-US" sz="700" kern="0" dirty="0">
                  <a:solidFill>
                    <a:srgbClr val="000000"/>
                  </a:solidFill>
                  <a:latin typeface="+mn-ea"/>
                </a:rPr>
                <a:t>▼</a:t>
              </a:r>
            </a:p>
          </p:txBody>
        </p:sp>
      </p:grpSp>
      <p:sp>
        <p:nvSpPr>
          <p:cNvPr id="589" name="모서리가 둥근 직사각형 184">
            <a:extLst>
              <a:ext uri="{FF2B5EF4-FFF2-40B4-BE49-F238E27FC236}">
                <a16:creationId xmlns="" xmlns:a16="http://schemas.microsoft.com/office/drawing/2014/main" id="{7C4181B1-00DE-4B1A-9AF4-36726F2433BA}"/>
              </a:ext>
            </a:extLst>
          </p:cNvPr>
          <p:cNvSpPr/>
          <p:nvPr/>
        </p:nvSpPr>
        <p:spPr bwMode="auto">
          <a:xfrm>
            <a:off x="6336805" y="3500479"/>
            <a:ext cx="720000" cy="180000"/>
          </a:xfrm>
          <a:prstGeom prst="roundRect">
            <a:avLst/>
          </a:prstGeom>
          <a:solidFill>
            <a:srgbClr val="FFFFEF"/>
          </a:solidFill>
          <a:ln w="3175" cap="flat" cmpd="sng" algn="ctr">
            <a:solidFill>
              <a:schemeClr val="bg1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none" lIns="108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defTabSz="914400" fontAlgn="base" latinLnBrk="0">
              <a:spcBef>
                <a:spcPct val="0"/>
              </a:spcBef>
              <a:spcAft>
                <a:spcPct val="0"/>
              </a:spcAft>
            </a:pPr>
            <a:endParaRPr kumimoji="1" lang="ko-KR" altLang="en-US" sz="700" b="0" i="0" u="none" strike="noStrike" kern="0" cap="none" spc="0" normalizeH="0" baseline="0" noProof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90" name="모서리가 둥근 직사각형 184">
            <a:extLst>
              <a:ext uri="{FF2B5EF4-FFF2-40B4-BE49-F238E27FC236}">
                <a16:creationId xmlns="" xmlns:a16="http://schemas.microsoft.com/office/drawing/2014/main" id="{7C4181B1-00DE-4B1A-9AF4-36726F2433BA}"/>
              </a:ext>
            </a:extLst>
          </p:cNvPr>
          <p:cNvSpPr/>
          <p:nvPr/>
        </p:nvSpPr>
        <p:spPr bwMode="auto">
          <a:xfrm>
            <a:off x="7092805" y="3500479"/>
            <a:ext cx="720000" cy="180000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3175" cap="flat" cmpd="sng" algn="ctr">
            <a:solidFill>
              <a:schemeClr val="bg1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none" lIns="108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defTabSz="914400" fontAlgn="base" latinLnBrk="0">
              <a:spcBef>
                <a:spcPct val="0"/>
              </a:spcBef>
              <a:spcAft>
                <a:spcPct val="0"/>
              </a:spcAft>
            </a:pPr>
            <a:endParaRPr kumimoji="1" lang="ko-KR" altLang="en-US" sz="700" b="0" i="0" u="none" strike="noStrike" kern="0" cap="none" spc="0" normalizeH="0" baseline="0" noProof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91" name="Search"/>
          <p:cNvSpPr>
            <a:spLocks noChangeAspect="1" noEditPoints="1"/>
          </p:cNvSpPr>
          <p:nvPr/>
        </p:nvSpPr>
        <p:spPr bwMode="auto">
          <a:xfrm>
            <a:off x="6876667" y="3519042"/>
            <a:ext cx="144000" cy="142875"/>
          </a:xfrm>
          <a:custGeom>
            <a:avLst/>
            <a:gdLst>
              <a:gd name="T0" fmla="*/ 227 w 572"/>
              <a:gd name="T1" fmla="*/ 0 h 585"/>
              <a:gd name="T2" fmla="*/ 0 w 572"/>
              <a:gd name="T3" fmla="*/ 227 h 585"/>
              <a:gd name="T4" fmla="*/ 227 w 572"/>
              <a:gd name="T5" fmla="*/ 453 h 585"/>
              <a:gd name="T6" fmla="*/ 359 w 572"/>
              <a:gd name="T7" fmla="*/ 410 h 585"/>
              <a:gd name="T8" fmla="*/ 535 w 572"/>
              <a:gd name="T9" fmla="*/ 585 h 585"/>
              <a:gd name="T10" fmla="*/ 572 w 572"/>
              <a:gd name="T11" fmla="*/ 548 h 585"/>
              <a:gd name="T12" fmla="*/ 399 w 572"/>
              <a:gd name="T13" fmla="*/ 374 h 585"/>
              <a:gd name="T14" fmla="*/ 454 w 572"/>
              <a:gd name="T15" fmla="*/ 227 h 585"/>
              <a:gd name="T16" fmla="*/ 227 w 572"/>
              <a:gd name="T17" fmla="*/ 0 h 585"/>
              <a:gd name="T18" fmla="*/ 227 w 572"/>
              <a:gd name="T19" fmla="*/ 27 h 585"/>
              <a:gd name="T20" fmla="*/ 427 w 572"/>
              <a:gd name="T21" fmla="*/ 227 h 585"/>
              <a:gd name="T22" fmla="*/ 227 w 572"/>
              <a:gd name="T23" fmla="*/ 427 h 585"/>
              <a:gd name="T24" fmla="*/ 27 w 572"/>
              <a:gd name="T25" fmla="*/ 227 h 585"/>
              <a:gd name="T26" fmla="*/ 227 w 572"/>
              <a:gd name="T27" fmla="*/ 27 h 58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572" h="585">
                <a:moveTo>
                  <a:pt x="227" y="0"/>
                </a:moveTo>
                <a:cubicBezTo>
                  <a:pt x="102" y="0"/>
                  <a:pt x="0" y="102"/>
                  <a:pt x="0" y="227"/>
                </a:cubicBezTo>
                <a:cubicBezTo>
                  <a:pt x="0" y="352"/>
                  <a:pt x="102" y="453"/>
                  <a:pt x="227" y="453"/>
                </a:cubicBezTo>
                <a:cubicBezTo>
                  <a:pt x="276" y="453"/>
                  <a:pt x="322" y="437"/>
                  <a:pt x="359" y="410"/>
                </a:cubicBezTo>
                <a:lnTo>
                  <a:pt x="535" y="585"/>
                </a:lnTo>
                <a:lnTo>
                  <a:pt x="572" y="548"/>
                </a:lnTo>
                <a:lnTo>
                  <a:pt x="399" y="374"/>
                </a:lnTo>
                <a:cubicBezTo>
                  <a:pt x="433" y="335"/>
                  <a:pt x="454" y="283"/>
                  <a:pt x="454" y="227"/>
                </a:cubicBezTo>
                <a:cubicBezTo>
                  <a:pt x="454" y="102"/>
                  <a:pt x="352" y="0"/>
                  <a:pt x="227" y="0"/>
                </a:cubicBezTo>
                <a:close/>
                <a:moveTo>
                  <a:pt x="227" y="27"/>
                </a:moveTo>
                <a:cubicBezTo>
                  <a:pt x="338" y="27"/>
                  <a:pt x="427" y="116"/>
                  <a:pt x="427" y="227"/>
                </a:cubicBezTo>
                <a:cubicBezTo>
                  <a:pt x="427" y="337"/>
                  <a:pt x="338" y="427"/>
                  <a:pt x="227" y="427"/>
                </a:cubicBezTo>
                <a:cubicBezTo>
                  <a:pt x="116" y="427"/>
                  <a:pt x="27" y="337"/>
                  <a:pt x="27" y="227"/>
                </a:cubicBezTo>
                <a:cubicBezTo>
                  <a:pt x="27" y="116"/>
                  <a:pt x="116" y="27"/>
                  <a:pt x="227" y="27"/>
                </a:cubicBezTo>
                <a:close/>
              </a:path>
            </a:pathLst>
          </a:custGeom>
          <a:solidFill>
            <a:srgbClr val="5F5F5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90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14" name="직사각형 613">
            <a:extLst>
              <a:ext uri="{FF2B5EF4-FFF2-40B4-BE49-F238E27FC236}">
                <a16:creationId xmlns="" xmlns:a16="http://schemas.microsoft.com/office/drawing/2014/main" id="{C8E8B8B5-F2A9-4F2D-8F41-E83BE71E8F5A}"/>
              </a:ext>
            </a:extLst>
          </p:cNvPr>
          <p:cNvSpPr/>
          <p:nvPr/>
        </p:nvSpPr>
        <p:spPr>
          <a:xfrm>
            <a:off x="2266455" y="3734668"/>
            <a:ext cx="5074482" cy="288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36000" rIns="108000" bIns="36000" rtlCol="0" anchor="ctr"/>
          <a:lstStyle/>
          <a:p>
            <a:endParaRPr lang="ko-KR" altLang="en-US" sz="80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99" name="사각형: 둥근 모서리 244">
            <a:extLst>
              <a:ext uri="{FF2B5EF4-FFF2-40B4-BE49-F238E27FC236}">
                <a16:creationId xmlns="" xmlns:a16="http://schemas.microsoft.com/office/drawing/2014/main" id="{F619FFE3-660F-4049-833F-429116654593}"/>
              </a:ext>
            </a:extLst>
          </p:cNvPr>
          <p:cNvSpPr/>
          <p:nvPr/>
        </p:nvSpPr>
        <p:spPr bwMode="auto">
          <a:xfrm>
            <a:off x="5362939" y="3788668"/>
            <a:ext cx="216000" cy="18000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3175" cap="flat" cmpd="sng" algn="ctr">
            <a:solidFill>
              <a:schemeClr val="bg1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>
            <a:outerShdw blurRad="12700" dist="12700" dir="2700000" algn="tl" rotWithShape="0">
              <a:schemeClr val="tx1">
                <a:lumMod val="75000"/>
                <a:lumOff val="25000"/>
                <a:alpha val="30000"/>
              </a:schemeClr>
            </a:outerShdw>
          </a:effectLst>
        </p:spPr>
        <p:txBody>
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400" fontAlgn="base" latinLnBrk="0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700" kern="0">
                <a:solidFill>
                  <a:schemeClr val="bg1"/>
                </a:solidFill>
                <a:latin typeface="+mn-ea"/>
              </a:rPr>
              <a:t>-1D</a:t>
            </a:r>
            <a:endParaRPr kumimoji="1" lang="ko-KR" altLang="en-US" sz="700" kern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400" name="사각형: 둥근 모서리 245">
            <a:extLst>
              <a:ext uri="{FF2B5EF4-FFF2-40B4-BE49-F238E27FC236}">
                <a16:creationId xmlns="" xmlns:a16="http://schemas.microsoft.com/office/drawing/2014/main" id="{11508A1B-6873-43BE-B180-6726CCE07D46}"/>
              </a:ext>
            </a:extLst>
          </p:cNvPr>
          <p:cNvSpPr/>
          <p:nvPr/>
        </p:nvSpPr>
        <p:spPr bwMode="auto">
          <a:xfrm>
            <a:off x="5614589" y="3788668"/>
            <a:ext cx="216000" cy="18000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3175" cap="flat" cmpd="sng" algn="ctr">
            <a:solidFill>
              <a:schemeClr val="bg1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>
            <a:outerShdw blurRad="12700" dist="12700" dir="2700000" algn="tl" rotWithShape="0">
              <a:schemeClr val="tx1">
                <a:lumMod val="75000"/>
                <a:lumOff val="25000"/>
                <a:alpha val="30000"/>
              </a:schemeClr>
            </a:outerShdw>
          </a:effectLst>
        </p:spPr>
        <p:txBody>
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400" fontAlgn="base" latinLnBrk="0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700" kern="0">
                <a:solidFill>
                  <a:schemeClr val="bg1"/>
                </a:solidFill>
                <a:latin typeface="+mn-ea"/>
              </a:rPr>
              <a:t>-1W</a:t>
            </a:r>
            <a:endParaRPr kumimoji="1" lang="ko-KR" altLang="en-US" sz="700" kern="0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403" name="사각형: 둥근 모서리 283">
            <a:extLst>
              <a:ext uri="{FF2B5EF4-FFF2-40B4-BE49-F238E27FC236}">
                <a16:creationId xmlns="" xmlns:a16="http://schemas.microsoft.com/office/drawing/2014/main" id="{75A43A2E-BCFB-4021-BA9E-A7B5042F9232}"/>
              </a:ext>
            </a:extLst>
          </p:cNvPr>
          <p:cNvSpPr/>
          <p:nvPr/>
        </p:nvSpPr>
        <p:spPr bwMode="auto">
          <a:xfrm>
            <a:off x="5866239" y="3788668"/>
            <a:ext cx="216000" cy="18000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3175" cap="flat" cmpd="sng" algn="ctr">
            <a:solidFill>
              <a:schemeClr val="bg1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>
            <a:outerShdw blurRad="12700" dist="12700" dir="2700000" algn="tl" rotWithShape="0">
              <a:schemeClr val="tx1">
                <a:lumMod val="75000"/>
                <a:lumOff val="25000"/>
                <a:alpha val="30000"/>
              </a:schemeClr>
            </a:outerShdw>
          </a:effectLst>
        </p:spPr>
        <p:txBody>
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400" fontAlgn="base" latinLnBrk="0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700" kern="0">
                <a:solidFill>
                  <a:schemeClr val="bg1"/>
                </a:solidFill>
                <a:latin typeface="+mn-ea"/>
              </a:rPr>
              <a:t>-2W</a:t>
            </a:r>
            <a:endParaRPr kumimoji="1" lang="ko-KR" altLang="en-US" sz="700" kern="0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409" name="사각형: 둥근 모서리 296">
            <a:extLst>
              <a:ext uri="{FF2B5EF4-FFF2-40B4-BE49-F238E27FC236}">
                <a16:creationId xmlns="" xmlns:a16="http://schemas.microsoft.com/office/drawing/2014/main" id="{AF3A2839-D952-4BD4-BE52-1953FF219D20}"/>
              </a:ext>
            </a:extLst>
          </p:cNvPr>
          <p:cNvSpPr/>
          <p:nvPr/>
        </p:nvSpPr>
        <p:spPr bwMode="auto">
          <a:xfrm>
            <a:off x="6117889" y="3788668"/>
            <a:ext cx="216000" cy="18000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3175" cap="flat" cmpd="sng" algn="ctr">
            <a:solidFill>
              <a:schemeClr val="bg1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>
            <a:outerShdw blurRad="12700" dist="12700" dir="2700000" algn="tl" rotWithShape="0">
              <a:schemeClr val="tx1">
                <a:lumMod val="75000"/>
                <a:lumOff val="25000"/>
                <a:alpha val="30000"/>
              </a:schemeClr>
            </a:outerShdw>
          </a:effectLst>
        </p:spPr>
        <p:txBody>
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400" fontAlgn="base" latinLnBrk="0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700" kern="0">
                <a:solidFill>
                  <a:schemeClr val="bg1"/>
                </a:solidFill>
                <a:latin typeface="+mn-ea"/>
              </a:rPr>
              <a:t>-1M</a:t>
            </a:r>
            <a:endParaRPr kumimoji="1" lang="ko-KR" altLang="en-US" sz="700" kern="0" dirty="0">
              <a:solidFill>
                <a:schemeClr val="bg1"/>
              </a:solidFill>
              <a:latin typeface="+mn-ea"/>
            </a:endParaRPr>
          </a:p>
        </p:txBody>
      </p:sp>
      <p:grpSp>
        <p:nvGrpSpPr>
          <p:cNvPr id="411" name="그룹 410">
            <a:extLst>
              <a:ext uri="{FF2B5EF4-FFF2-40B4-BE49-F238E27FC236}">
                <a16:creationId xmlns="" xmlns:a16="http://schemas.microsoft.com/office/drawing/2014/main" id="{D8FEFE47-A296-42FB-AFBE-4C16947CEE22}"/>
              </a:ext>
            </a:extLst>
          </p:cNvPr>
          <p:cNvGrpSpPr/>
          <p:nvPr/>
        </p:nvGrpSpPr>
        <p:grpSpPr>
          <a:xfrm>
            <a:off x="3348188" y="3788668"/>
            <a:ext cx="900000" cy="180000"/>
            <a:chOff x="2339906" y="1618462"/>
            <a:chExt cx="900000" cy="180000"/>
          </a:xfrm>
        </p:grpSpPr>
        <p:sp>
          <p:nvSpPr>
            <p:cNvPr id="442" name="직사각형 441">
              <a:extLst>
                <a:ext uri="{FF2B5EF4-FFF2-40B4-BE49-F238E27FC236}">
                  <a16:creationId xmlns="" xmlns:a16="http://schemas.microsoft.com/office/drawing/2014/main" id="{4D7A0961-8C09-4E31-85D7-7E8CB7FE27E9}"/>
                </a:ext>
              </a:extLst>
            </p:cNvPr>
            <p:cNvSpPr/>
            <p:nvPr/>
          </p:nvSpPr>
          <p:spPr bwMode="auto">
            <a:xfrm>
              <a:off x="2339906" y="1618462"/>
              <a:ext cx="900000" cy="180000"/>
            </a:xfrm>
            <a:prstGeom prst="rect">
              <a:avLst/>
            </a:prstGeom>
            <a:solidFill>
              <a:schemeClr val="bg1"/>
            </a:solidFill>
            <a:ln w="3175" cap="flat" cmpd="sng" algn="ctr">
              <a:solidFill>
                <a:schemeClr val="bg1">
                  <a:lumMod val="7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none" lIns="108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1" lang="en-US" altLang="ko-KR" sz="700" b="0" i="0" u="none" strike="noStrike" kern="0" cap="none" spc="0" normalizeH="0" baseline="0" noProof="0" smtClean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latin typeface="+mn-ea"/>
                </a:rPr>
                <a:t>    -  -</a:t>
              </a:r>
              <a:endParaRPr kumimoji="1" lang="ko-KR" altLang="en-US" sz="700" b="0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n-ea"/>
              </a:endParaRPr>
            </a:p>
          </p:txBody>
        </p:sp>
        <p:sp>
          <p:nvSpPr>
            <p:cNvPr id="445" name="Calendar">
              <a:extLst>
                <a:ext uri="{FF2B5EF4-FFF2-40B4-BE49-F238E27FC236}">
                  <a16:creationId xmlns="" xmlns:a16="http://schemas.microsoft.com/office/drawing/2014/main" id="{3D15E5BE-BCD5-4038-936C-3757ECB3E11B}"/>
                </a:ext>
              </a:extLst>
            </p:cNvPr>
            <p:cNvSpPr>
              <a:spLocks noChangeAspect="1" noEditPoints="1"/>
            </p:cNvSpPr>
            <p:nvPr/>
          </p:nvSpPr>
          <p:spPr bwMode="auto">
            <a:xfrm>
              <a:off x="3095906" y="1654462"/>
              <a:ext cx="108000" cy="108000"/>
            </a:xfrm>
            <a:custGeom>
              <a:avLst/>
              <a:gdLst>
                <a:gd name="T0" fmla="*/ 120 w 667"/>
                <a:gd name="T1" fmla="*/ 27 h 667"/>
                <a:gd name="T2" fmla="*/ 8 w 667"/>
                <a:gd name="T3" fmla="*/ 61 h 667"/>
                <a:gd name="T4" fmla="*/ 8 w 667"/>
                <a:gd name="T5" fmla="*/ 659 h 667"/>
                <a:gd name="T6" fmla="*/ 659 w 667"/>
                <a:gd name="T7" fmla="*/ 659 h 667"/>
                <a:gd name="T8" fmla="*/ 659 w 667"/>
                <a:gd name="T9" fmla="*/ 61 h 667"/>
                <a:gd name="T10" fmla="*/ 547 w 667"/>
                <a:gd name="T11" fmla="*/ 27 h 667"/>
                <a:gd name="T12" fmla="*/ 493 w 667"/>
                <a:gd name="T13" fmla="*/ 0 h 667"/>
                <a:gd name="T14" fmla="*/ 467 w 667"/>
                <a:gd name="T15" fmla="*/ 54 h 667"/>
                <a:gd name="T16" fmla="*/ 192 w 667"/>
                <a:gd name="T17" fmla="*/ 8 h 667"/>
                <a:gd name="T18" fmla="*/ 147 w 667"/>
                <a:gd name="T19" fmla="*/ 27 h 667"/>
                <a:gd name="T20" fmla="*/ 147 w 667"/>
                <a:gd name="T21" fmla="*/ 107 h 667"/>
                <a:gd name="T22" fmla="*/ 520 w 667"/>
                <a:gd name="T23" fmla="*/ 27 h 667"/>
                <a:gd name="T24" fmla="*/ 493 w 667"/>
                <a:gd name="T25" fmla="*/ 27 h 667"/>
                <a:gd name="T26" fmla="*/ 120 w 667"/>
                <a:gd name="T27" fmla="*/ 107 h 667"/>
                <a:gd name="T28" fmla="*/ 173 w 667"/>
                <a:gd name="T29" fmla="*/ 134 h 667"/>
                <a:gd name="T30" fmla="*/ 200 w 667"/>
                <a:gd name="T31" fmla="*/ 80 h 667"/>
                <a:gd name="T32" fmla="*/ 474 w 667"/>
                <a:gd name="T33" fmla="*/ 126 h 667"/>
                <a:gd name="T34" fmla="*/ 539 w 667"/>
                <a:gd name="T35" fmla="*/ 126 h 667"/>
                <a:gd name="T36" fmla="*/ 640 w 667"/>
                <a:gd name="T37" fmla="*/ 80 h 667"/>
                <a:gd name="T38" fmla="*/ 27 w 667"/>
                <a:gd name="T39" fmla="*/ 80 h 667"/>
                <a:gd name="T40" fmla="*/ 640 w 667"/>
                <a:gd name="T41" fmla="*/ 640 h 667"/>
                <a:gd name="T42" fmla="*/ 93 w 667"/>
                <a:gd name="T43" fmla="*/ 280 h 667"/>
                <a:gd name="T44" fmla="*/ 93 w 667"/>
                <a:gd name="T45" fmla="*/ 587 h 667"/>
                <a:gd name="T46" fmla="*/ 587 w 667"/>
                <a:gd name="T47" fmla="*/ 574 h 667"/>
                <a:gd name="T48" fmla="*/ 93 w 667"/>
                <a:gd name="T49" fmla="*/ 280 h 667"/>
                <a:gd name="T50" fmla="*/ 200 w 667"/>
                <a:gd name="T51" fmla="*/ 374 h 667"/>
                <a:gd name="T52" fmla="*/ 227 w 667"/>
                <a:gd name="T53" fmla="*/ 307 h 667"/>
                <a:gd name="T54" fmla="*/ 227 w 667"/>
                <a:gd name="T55" fmla="*/ 374 h 667"/>
                <a:gd name="T56" fmla="*/ 440 w 667"/>
                <a:gd name="T57" fmla="*/ 307 h 667"/>
                <a:gd name="T58" fmla="*/ 347 w 667"/>
                <a:gd name="T59" fmla="*/ 307 h 667"/>
                <a:gd name="T60" fmla="*/ 560 w 667"/>
                <a:gd name="T61" fmla="*/ 374 h 667"/>
                <a:gd name="T62" fmla="*/ 107 w 667"/>
                <a:gd name="T63" fmla="*/ 400 h 667"/>
                <a:gd name="T64" fmla="*/ 107 w 667"/>
                <a:gd name="T65" fmla="*/ 467 h 667"/>
                <a:gd name="T66" fmla="*/ 320 w 667"/>
                <a:gd name="T67" fmla="*/ 400 h 667"/>
                <a:gd name="T68" fmla="*/ 227 w 667"/>
                <a:gd name="T69" fmla="*/ 400 h 667"/>
                <a:gd name="T70" fmla="*/ 440 w 667"/>
                <a:gd name="T71" fmla="*/ 467 h 667"/>
                <a:gd name="T72" fmla="*/ 467 w 667"/>
                <a:gd name="T73" fmla="*/ 400 h 667"/>
                <a:gd name="T74" fmla="*/ 467 w 667"/>
                <a:gd name="T75" fmla="*/ 467 h 667"/>
                <a:gd name="T76" fmla="*/ 200 w 667"/>
                <a:gd name="T77" fmla="*/ 494 h 667"/>
                <a:gd name="T78" fmla="*/ 107 w 667"/>
                <a:gd name="T79" fmla="*/ 494 h 667"/>
                <a:gd name="T80" fmla="*/ 320 w 667"/>
                <a:gd name="T81" fmla="*/ 560 h 667"/>
                <a:gd name="T82" fmla="*/ 347 w 667"/>
                <a:gd name="T83" fmla="*/ 494 h 667"/>
                <a:gd name="T84" fmla="*/ 400 w 667"/>
                <a:gd name="T85" fmla="*/ 560 h 667"/>
                <a:gd name="T86" fmla="*/ 467 w 667"/>
                <a:gd name="T87" fmla="*/ 494 h 667"/>
                <a:gd name="T88" fmla="*/ 467 w 667"/>
                <a:gd name="T89" fmla="*/ 560 h 6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667" h="667">
                  <a:moveTo>
                    <a:pt x="147" y="0"/>
                  </a:moveTo>
                  <a:cubicBezTo>
                    <a:pt x="140" y="0"/>
                    <a:pt x="133" y="3"/>
                    <a:pt x="128" y="8"/>
                  </a:cubicBezTo>
                  <a:cubicBezTo>
                    <a:pt x="123" y="13"/>
                    <a:pt x="120" y="20"/>
                    <a:pt x="120" y="27"/>
                  </a:cubicBezTo>
                  <a:lnTo>
                    <a:pt x="120" y="54"/>
                  </a:lnTo>
                  <a:lnTo>
                    <a:pt x="27" y="54"/>
                  </a:lnTo>
                  <a:cubicBezTo>
                    <a:pt x="20" y="54"/>
                    <a:pt x="13" y="56"/>
                    <a:pt x="8" y="61"/>
                  </a:cubicBezTo>
                  <a:cubicBezTo>
                    <a:pt x="3" y="66"/>
                    <a:pt x="0" y="73"/>
                    <a:pt x="0" y="80"/>
                  </a:cubicBezTo>
                  <a:lnTo>
                    <a:pt x="0" y="640"/>
                  </a:lnTo>
                  <a:cubicBezTo>
                    <a:pt x="0" y="647"/>
                    <a:pt x="3" y="654"/>
                    <a:pt x="8" y="659"/>
                  </a:cubicBezTo>
                  <a:cubicBezTo>
                    <a:pt x="13" y="664"/>
                    <a:pt x="20" y="667"/>
                    <a:pt x="27" y="667"/>
                  </a:cubicBezTo>
                  <a:lnTo>
                    <a:pt x="640" y="667"/>
                  </a:lnTo>
                  <a:cubicBezTo>
                    <a:pt x="647" y="667"/>
                    <a:pt x="654" y="664"/>
                    <a:pt x="659" y="659"/>
                  </a:cubicBezTo>
                  <a:cubicBezTo>
                    <a:pt x="664" y="654"/>
                    <a:pt x="667" y="647"/>
                    <a:pt x="667" y="640"/>
                  </a:cubicBezTo>
                  <a:lnTo>
                    <a:pt x="667" y="80"/>
                  </a:lnTo>
                  <a:cubicBezTo>
                    <a:pt x="667" y="73"/>
                    <a:pt x="664" y="66"/>
                    <a:pt x="659" y="61"/>
                  </a:cubicBezTo>
                  <a:cubicBezTo>
                    <a:pt x="654" y="56"/>
                    <a:pt x="647" y="54"/>
                    <a:pt x="640" y="54"/>
                  </a:cubicBezTo>
                  <a:lnTo>
                    <a:pt x="547" y="54"/>
                  </a:lnTo>
                  <a:lnTo>
                    <a:pt x="547" y="27"/>
                  </a:lnTo>
                  <a:cubicBezTo>
                    <a:pt x="547" y="20"/>
                    <a:pt x="544" y="13"/>
                    <a:pt x="539" y="8"/>
                  </a:cubicBezTo>
                  <a:cubicBezTo>
                    <a:pt x="534" y="3"/>
                    <a:pt x="527" y="0"/>
                    <a:pt x="520" y="0"/>
                  </a:cubicBezTo>
                  <a:lnTo>
                    <a:pt x="493" y="0"/>
                  </a:lnTo>
                  <a:cubicBezTo>
                    <a:pt x="486" y="0"/>
                    <a:pt x="479" y="3"/>
                    <a:pt x="474" y="8"/>
                  </a:cubicBezTo>
                  <a:cubicBezTo>
                    <a:pt x="469" y="13"/>
                    <a:pt x="467" y="20"/>
                    <a:pt x="467" y="27"/>
                  </a:cubicBezTo>
                  <a:lnTo>
                    <a:pt x="467" y="54"/>
                  </a:lnTo>
                  <a:lnTo>
                    <a:pt x="200" y="54"/>
                  </a:lnTo>
                  <a:lnTo>
                    <a:pt x="200" y="27"/>
                  </a:lnTo>
                  <a:cubicBezTo>
                    <a:pt x="200" y="20"/>
                    <a:pt x="197" y="13"/>
                    <a:pt x="192" y="8"/>
                  </a:cubicBezTo>
                  <a:cubicBezTo>
                    <a:pt x="187" y="3"/>
                    <a:pt x="180" y="0"/>
                    <a:pt x="173" y="0"/>
                  </a:cubicBezTo>
                  <a:lnTo>
                    <a:pt x="147" y="0"/>
                  </a:lnTo>
                  <a:close/>
                  <a:moveTo>
                    <a:pt x="147" y="27"/>
                  </a:moveTo>
                  <a:lnTo>
                    <a:pt x="173" y="27"/>
                  </a:lnTo>
                  <a:lnTo>
                    <a:pt x="173" y="107"/>
                  </a:lnTo>
                  <a:lnTo>
                    <a:pt x="147" y="107"/>
                  </a:lnTo>
                  <a:lnTo>
                    <a:pt x="147" y="27"/>
                  </a:lnTo>
                  <a:close/>
                  <a:moveTo>
                    <a:pt x="493" y="27"/>
                  </a:moveTo>
                  <a:lnTo>
                    <a:pt x="520" y="27"/>
                  </a:lnTo>
                  <a:lnTo>
                    <a:pt x="520" y="107"/>
                  </a:lnTo>
                  <a:lnTo>
                    <a:pt x="493" y="107"/>
                  </a:lnTo>
                  <a:lnTo>
                    <a:pt x="493" y="27"/>
                  </a:lnTo>
                  <a:close/>
                  <a:moveTo>
                    <a:pt x="27" y="80"/>
                  </a:moveTo>
                  <a:lnTo>
                    <a:pt x="120" y="80"/>
                  </a:lnTo>
                  <a:lnTo>
                    <a:pt x="120" y="107"/>
                  </a:lnTo>
                  <a:cubicBezTo>
                    <a:pt x="120" y="114"/>
                    <a:pt x="123" y="121"/>
                    <a:pt x="128" y="126"/>
                  </a:cubicBezTo>
                  <a:cubicBezTo>
                    <a:pt x="133" y="131"/>
                    <a:pt x="140" y="134"/>
                    <a:pt x="147" y="134"/>
                  </a:cubicBezTo>
                  <a:lnTo>
                    <a:pt x="173" y="134"/>
                  </a:lnTo>
                  <a:cubicBezTo>
                    <a:pt x="180" y="134"/>
                    <a:pt x="187" y="131"/>
                    <a:pt x="192" y="126"/>
                  </a:cubicBezTo>
                  <a:cubicBezTo>
                    <a:pt x="197" y="121"/>
                    <a:pt x="200" y="114"/>
                    <a:pt x="200" y="107"/>
                  </a:cubicBezTo>
                  <a:lnTo>
                    <a:pt x="200" y="80"/>
                  </a:lnTo>
                  <a:lnTo>
                    <a:pt x="467" y="80"/>
                  </a:lnTo>
                  <a:lnTo>
                    <a:pt x="467" y="107"/>
                  </a:lnTo>
                  <a:cubicBezTo>
                    <a:pt x="467" y="114"/>
                    <a:pt x="469" y="121"/>
                    <a:pt x="474" y="126"/>
                  </a:cubicBezTo>
                  <a:cubicBezTo>
                    <a:pt x="479" y="131"/>
                    <a:pt x="486" y="134"/>
                    <a:pt x="493" y="134"/>
                  </a:cubicBezTo>
                  <a:lnTo>
                    <a:pt x="520" y="134"/>
                  </a:lnTo>
                  <a:cubicBezTo>
                    <a:pt x="527" y="134"/>
                    <a:pt x="534" y="131"/>
                    <a:pt x="539" y="126"/>
                  </a:cubicBezTo>
                  <a:cubicBezTo>
                    <a:pt x="544" y="121"/>
                    <a:pt x="547" y="114"/>
                    <a:pt x="547" y="107"/>
                  </a:cubicBezTo>
                  <a:lnTo>
                    <a:pt x="547" y="80"/>
                  </a:lnTo>
                  <a:lnTo>
                    <a:pt x="640" y="80"/>
                  </a:lnTo>
                  <a:lnTo>
                    <a:pt x="640" y="187"/>
                  </a:lnTo>
                  <a:lnTo>
                    <a:pt x="27" y="187"/>
                  </a:lnTo>
                  <a:lnTo>
                    <a:pt x="27" y="80"/>
                  </a:lnTo>
                  <a:close/>
                  <a:moveTo>
                    <a:pt x="27" y="214"/>
                  </a:moveTo>
                  <a:lnTo>
                    <a:pt x="640" y="214"/>
                  </a:lnTo>
                  <a:lnTo>
                    <a:pt x="640" y="640"/>
                  </a:lnTo>
                  <a:lnTo>
                    <a:pt x="27" y="640"/>
                  </a:lnTo>
                  <a:lnTo>
                    <a:pt x="27" y="214"/>
                  </a:lnTo>
                  <a:close/>
                  <a:moveTo>
                    <a:pt x="93" y="280"/>
                  </a:moveTo>
                  <a:cubicBezTo>
                    <a:pt x="86" y="280"/>
                    <a:pt x="80" y="286"/>
                    <a:pt x="80" y="294"/>
                  </a:cubicBezTo>
                  <a:lnTo>
                    <a:pt x="80" y="574"/>
                  </a:lnTo>
                  <a:cubicBezTo>
                    <a:pt x="80" y="581"/>
                    <a:pt x="86" y="587"/>
                    <a:pt x="93" y="587"/>
                  </a:cubicBezTo>
                  <a:lnTo>
                    <a:pt x="400" y="587"/>
                  </a:lnTo>
                  <a:lnTo>
                    <a:pt x="573" y="587"/>
                  </a:lnTo>
                  <a:cubicBezTo>
                    <a:pt x="581" y="587"/>
                    <a:pt x="587" y="581"/>
                    <a:pt x="587" y="574"/>
                  </a:cubicBezTo>
                  <a:lnTo>
                    <a:pt x="587" y="294"/>
                  </a:lnTo>
                  <a:cubicBezTo>
                    <a:pt x="587" y="286"/>
                    <a:pt x="581" y="280"/>
                    <a:pt x="573" y="280"/>
                  </a:cubicBezTo>
                  <a:lnTo>
                    <a:pt x="93" y="280"/>
                  </a:lnTo>
                  <a:close/>
                  <a:moveTo>
                    <a:pt x="107" y="307"/>
                  </a:moveTo>
                  <a:lnTo>
                    <a:pt x="200" y="307"/>
                  </a:lnTo>
                  <a:lnTo>
                    <a:pt x="200" y="374"/>
                  </a:lnTo>
                  <a:lnTo>
                    <a:pt x="107" y="374"/>
                  </a:lnTo>
                  <a:lnTo>
                    <a:pt x="107" y="307"/>
                  </a:lnTo>
                  <a:close/>
                  <a:moveTo>
                    <a:pt x="227" y="307"/>
                  </a:moveTo>
                  <a:lnTo>
                    <a:pt x="320" y="307"/>
                  </a:lnTo>
                  <a:lnTo>
                    <a:pt x="320" y="374"/>
                  </a:lnTo>
                  <a:lnTo>
                    <a:pt x="227" y="374"/>
                  </a:lnTo>
                  <a:lnTo>
                    <a:pt x="227" y="307"/>
                  </a:lnTo>
                  <a:close/>
                  <a:moveTo>
                    <a:pt x="347" y="307"/>
                  </a:moveTo>
                  <a:lnTo>
                    <a:pt x="440" y="307"/>
                  </a:lnTo>
                  <a:lnTo>
                    <a:pt x="440" y="374"/>
                  </a:lnTo>
                  <a:lnTo>
                    <a:pt x="347" y="374"/>
                  </a:lnTo>
                  <a:lnTo>
                    <a:pt x="347" y="307"/>
                  </a:lnTo>
                  <a:close/>
                  <a:moveTo>
                    <a:pt x="467" y="307"/>
                  </a:moveTo>
                  <a:lnTo>
                    <a:pt x="560" y="307"/>
                  </a:lnTo>
                  <a:lnTo>
                    <a:pt x="560" y="374"/>
                  </a:lnTo>
                  <a:lnTo>
                    <a:pt x="467" y="374"/>
                  </a:lnTo>
                  <a:lnTo>
                    <a:pt x="467" y="307"/>
                  </a:lnTo>
                  <a:close/>
                  <a:moveTo>
                    <a:pt x="107" y="400"/>
                  </a:moveTo>
                  <a:lnTo>
                    <a:pt x="200" y="400"/>
                  </a:lnTo>
                  <a:lnTo>
                    <a:pt x="200" y="467"/>
                  </a:lnTo>
                  <a:lnTo>
                    <a:pt x="107" y="467"/>
                  </a:lnTo>
                  <a:lnTo>
                    <a:pt x="107" y="400"/>
                  </a:lnTo>
                  <a:close/>
                  <a:moveTo>
                    <a:pt x="227" y="400"/>
                  </a:moveTo>
                  <a:lnTo>
                    <a:pt x="320" y="400"/>
                  </a:lnTo>
                  <a:lnTo>
                    <a:pt x="320" y="467"/>
                  </a:lnTo>
                  <a:lnTo>
                    <a:pt x="227" y="467"/>
                  </a:lnTo>
                  <a:lnTo>
                    <a:pt x="227" y="400"/>
                  </a:lnTo>
                  <a:close/>
                  <a:moveTo>
                    <a:pt x="347" y="400"/>
                  </a:moveTo>
                  <a:lnTo>
                    <a:pt x="440" y="400"/>
                  </a:lnTo>
                  <a:lnTo>
                    <a:pt x="440" y="467"/>
                  </a:lnTo>
                  <a:lnTo>
                    <a:pt x="347" y="467"/>
                  </a:lnTo>
                  <a:lnTo>
                    <a:pt x="347" y="400"/>
                  </a:lnTo>
                  <a:close/>
                  <a:moveTo>
                    <a:pt x="467" y="400"/>
                  </a:moveTo>
                  <a:lnTo>
                    <a:pt x="560" y="400"/>
                  </a:lnTo>
                  <a:lnTo>
                    <a:pt x="560" y="467"/>
                  </a:lnTo>
                  <a:lnTo>
                    <a:pt x="467" y="467"/>
                  </a:lnTo>
                  <a:lnTo>
                    <a:pt x="467" y="400"/>
                  </a:lnTo>
                  <a:close/>
                  <a:moveTo>
                    <a:pt x="107" y="494"/>
                  </a:moveTo>
                  <a:lnTo>
                    <a:pt x="200" y="494"/>
                  </a:lnTo>
                  <a:lnTo>
                    <a:pt x="200" y="560"/>
                  </a:lnTo>
                  <a:lnTo>
                    <a:pt x="107" y="560"/>
                  </a:lnTo>
                  <a:lnTo>
                    <a:pt x="107" y="494"/>
                  </a:lnTo>
                  <a:close/>
                  <a:moveTo>
                    <a:pt x="227" y="494"/>
                  </a:moveTo>
                  <a:lnTo>
                    <a:pt x="320" y="494"/>
                  </a:lnTo>
                  <a:lnTo>
                    <a:pt x="320" y="560"/>
                  </a:lnTo>
                  <a:lnTo>
                    <a:pt x="227" y="560"/>
                  </a:lnTo>
                  <a:lnTo>
                    <a:pt x="227" y="494"/>
                  </a:lnTo>
                  <a:close/>
                  <a:moveTo>
                    <a:pt x="347" y="494"/>
                  </a:moveTo>
                  <a:lnTo>
                    <a:pt x="440" y="494"/>
                  </a:lnTo>
                  <a:lnTo>
                    <a:pt x="440" y="560"/>
                  </a:lnTo>
                  <a:lnTo>
                    <a:pt x="400" y="560"/>
                  </a:lnTo>
                  <a:lnTo>
                    <a:pt x="347" y="560"/>
                  </a:lnTo>
                  <a:lnTo>
                    <a:pt x="347" y="494"/>
                  </a:lnTo>
                  <a:close/>
                  <a:moveTo>
                    <a:pt x="467" y="494"/>
                  </a:moveTo>
                  <a:lnTo>
                    <a:pt x="560" y="494"/>
                  </a:lnTo>
                  <a:lnTo>
                    <a:pt x="560" y="560"/>
                  </a:lnTo>
                  <a:lnTo>
                    <a:pt x="467" y="560"/>
                  </a:lnTo>
                  <a:lnTo>
                    <a:pt x="467" y="494"/>
                  </a:lnTo>
                  <a:close/>
                </a:path>
              </a:pathLst>
            </a:custGeom>
            <a:solidFill>
              <a:srgbClr val="5F5F5F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sp>
        <p:nvSpPr>
          <p:cNvPr id="414" name="TextBox 413">
            <a:extLst>
              <a:ext uri="{FF2B5EF4-FFF2-40B4-BE49-F238E27FC236}">
                <a16:creationId xmlns="" xmlns:a16="http://schemas.microsoft.com/office/drawing/2014/main" id="{BEF44E57-E280-4345-9063-E951A919EA82}"/>
              </a:ext>
            </a:extLst>
          </p:cNvPr>
          <p:cNvSpPr txBox="1"/>
          <p:nvPr/>
        </p:nvSpPr>
        <p:spPr>
          <a:xfrm>
            <a:off x="4252112" y="3788456"/>
            <a:ext cx="135221" cy="180425"/>
          </a:xfrm>
          <a:prstGeom prst="rect">
            <a:avLst/>
          </a:prstGeom>
          <a:solidFill>
            <a:schemeClr val="bg1">
              <a:alpha val="10000"/>
            </a:schemeClr>
          </a:solidFill>
          <a:ln w="317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36000" tIns="36000" rIns="36000" bIns="36000" numCol="1" rtlCol="0" anchor="ctr" anchorCtr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altLang="ko-KR" sz="70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~</a:t>
            </a:r>
            <a:endParaRPr lang="ko-KR" altLang="en-US" sz="70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</p:txBody>
      </p:sp>
      <p:sp>
        <p:nvSpPr>
          <p:cNvPr id="416" name="사각형: 둥근 모서리 296">
            <a:extLst>
              <a:ext uri="{FF2B5EF4-FFF2-40B4-BE49-F238E27FC236}">
                <a16:creationId xmlns="" xmlns:a16="http://schemas.microsoft.com/office/drawing/2014/main" id="{B65D9BD6-5D77-4758-AC89-9EDBDB7AE548}"/>
              </a:ext>
            </a:extLst>
          </p:cNvPr>
          <p:cNvSpPr/>
          <p:nvPr/>
        </p:nvSpPr>
        <p:spPr bwMode="auto">
          <a:xfrm>
            <a:off x="6369539" y="3788668"/>
            <a:ext cx="216000" cy="18000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3175" cap="flat" cmpd="sng" algn="ctr">
            <a:solidFill>
              <a:schemeClr val="bg1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>
            <a:outerShdw blurRad="12700" dist="12700" dir="2700000" algn="tl" rotWithShape="0">
              <a:schemeClr val="tx1">
                <a:lumMod val="75000"/>
                <a:lumOff val="25000"/>
                <a:alpha val="30000"/>
              </a:schemeClr>
            </a:outerShdw>
          </a:effectLst>
        </p:spPr>
        <p:txBody>
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400" fontAlgn="base" latinLnBrk="0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700" kern="0">
                <a:solidFill>
                  <a:schemeClr val="bg1"/>
                </a:solidFill>
                <a:latin typeface="+mn-ea"/>
              </a:rPr>
              <a:t>-6M</a:t>
            </a:r>
            <a:endParaRPr kumimoji="1" lang="ko-KR" altLang="en-US" sz="700" kern="0" dirty="0">
              <a:solidFill>
                <a:schemeClr val="bg1"/>
              </a:solidFill>
              <a:latin typeface="+mn-ea"/>
            </a:endParaRPr>
          </a:p>
        </p:txBody>
      </p:sp>
      <p:grpSp>
        <p:nvGrpSpPr>
          <p:cNvPr id="418" name="그룹 417">
            <a:extLst>
              <a:ext uri="{FF2B5EF4-FFF2-40B4-BE49-F238E27FC236}">
                <a16:creationId xmlns="" xmlns:a16="http://schemas.microsoft.com/office/drawing/2014/main" id="{7508C5D5-8DD6-44D9-A381-74F97813FCBB}"/>
              </a:ext>
            </a:extLst>
          </p:cNvPr>
          <p:cNvGrpSpPr/>
          <p:nvPr/>
        </p:nvGrpSpPr>
        <p:grpSpPr>
          <a:xfrm>
            <a:off x="4391258" y="3788668"/>
            <a:ext cx="900000" cy="180000"/>
            <a:chOff x="3419399" y="1618462"/>
            <a:chExt cx="900000" cy="180000"/>
          </a:xfrm>
        </p:grpSpPr>
        <p:sp>
          <p:nvSpPr>
            <p:cNvPr id="421" name="직사각형 420">
              <a:extLst>
                <a:ext uri="{FF2B5EF4-FFF2-40B4-BE49-F238E27FC236}">
                  <a16:creationId xmlns="" xmlns:a16="http://schemas.microsoft.com/office/drawing/2014/main" id="{8EBFEB4C-0106-4B1F-89F5-3AAE8C1DFEDC}"/>
                </a:ext>
              </a:extLst>
            </p:cNvPr>
            <p:cNvSpPr/>
            <p:nvPr/>
          </p:nvSpPr>
          <p:spPr bwMode="auto">
            <a:xfrm>
              <a:off x="3419399" y="1618462"/>
              <a:ext cx="900000" cy="180000"/>
            </a:xfrm>
            <a:prstGeom prst="rect">
              <a:avLst/>
            </a:prstGeom>
            <a:solidFill>
              <a:schemeClr val="bg1"/>
            </a:solidFill>
            <a:ln w="3175" cap="flat" cmpd="sng" algn="ctr">
              <a:solidFill>
                <a:schemeClr val="bg1">
                  <a:lumMod val="7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none" lIns="108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defTabSz="914400" fontAlgn="base" latinLnBrk="0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ko-KR" sz="700" ker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 -  -</a:t>
              </a:r>
              <a:endParaRPr kumimoji="1" lang="ko-KR" altLang="en-US" sz="7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endParaRPr>
            </a:p>
          </p:txBody>
        </p:sp>
        <p:sp>
          <p:nvSpPr>
            <p:cNvPr id="422" name="Calendar">
              <a:extLst>
                <a:ext uri="{FF2B5EF4-FFF2-40B4-BE49-F238E27FC236}">
                  <a16:creationId xmlns="" xmlns:a16="http://schemas.microsoft.com/office/drawing/2014/main" id="{676728E2-A861-4D69-92C1-E9A16363CFB4}"/>
                </a:ext>
              </a:extLst>
            </p:cNvPr>
            <p:cNvSpPr>
              <a:spLocks noChangeAspect="1" noEditPoints="1"/>
            </p:cNvSpPr>
            <p:nvPr/>
          </p:nvSpPr>
          <p:spPr bwMode="auto">
            <a:xfrm>
              <a:off x="4174976" y="1654462"/>
              <a:ext cx="108000" cy="108000"/>
            </a:xfrm>
            <a:custGeom>
              <a:avLst/>
              <a:gdLst>
                <a:gd name="T0" fmla="*/ 120 w 667"/>
                <a:gd name="T1" fmla="*/ 27 h 667"/>
                <a:gd name="T2" fmla="*/ 8 w 667"/>
                <a:gd name="T3" fmla="*/ 61 h 667"/>
                <a:gd name="T4" fmla="*/ 8 w 667"/>
                <a:gd name="T5" fmla="*/ 659 h 667"/>
                <a:gd name="T6" fmla="*/ 659 w 667"/>
                <a:gd name="T7" fmla="*/ 659 h 667"/>
                <a:gd name="T8" fmla="*/ 659 w 667"/>
                <a:gd name="T9" fmla="*/ 61 h 667"/>
                <a:gd name="T10" fmla="*/ 547 w 667"/>
                <a:gd name="T11" fmla="*/ 27 h 667"/>
                <a:gd name="T12" fmla="*/ 493 w 667"/>
                <a:gd name="T13" fmla="*/ 0 h 667"/>
                <a:gd name="T14" fmla="*/ 467 w 667"/>
                <a:gd name="T15" fmla="*/ 54 h 667"/>
                <a:gd name="T16" fmla="*/ 192 w 667"/>
                <a:gd name="T17" fmla="*/ 8 h 667"/>
                <a:gd name="T18" fmla="*/ 147 w 667"/>
                <a:gd name="T19" fmla="*/ 27 h 667"/>
                <a:gd name="T20" fmla="*/ 147 w 667"/>
                <a:gd name="T21" fmla="*/ 107 h 667"/>
                <a:gd name="T22" fmla="*/ 520 w 667"/>
                <a:gd name="T23" fmla="*/ 27 h 667"/>
                <a:gd name="T24" fmla="*/ 493 w 667"/>
                <a:gd name="T25" fmla="*/ 27 h 667"/>
                <a:gd name="T26" fmla="*/ 120 w 667"/>
                <a:gd name="T27" fmla="*/ 107 h 667"/>
                <a:gd name="T28" fmla="*/ 173 w 667"/>
                <a:gd name="T29" fmla="*/ 134 h 667"/>
                <a:gd name="T30" fmla="*/ 200 w 667"/>
                <a:gd name="T31" fmla="*/ 80 h 667"/>
                <a:gd name="T32" fmla="*/ 474 w 667"/>
                <a:gd name="T33" fmla="*/ 126 h 667"/>
                <a:gd name="T34" fmla="*/ 539 w 667"/>
                <a:gd name="T35" fmla="*/ 126 h 667"/>
                <a:gd name="T36" fmla="*/ 640 w 667"/>
                <a:gd name="T37" fmla="*/ 80 h 667"/>
                <a:gd name="T38" fmla="*/ 27 w 667"/>
                <a:gd name="T39" fmla="*/ 80 h 667"/>
                <a:gd name="T40" fmla="*/ 640 w 667"/>
                <a:gd name="T41" fmla="*/ 640 h 667"/>
                <a:gd name="T42" fmla="*/ 93 w 667"/>
                <a:gd name="T43" fmla="*/ 280 h 667"/>
                <a:gd name="T44" fmla="*/ 93 w 667"/>
                <a:gd name="T45" fmla="*/ 587 h 667"/>
                <a:gd name="T46" fmla="*/ 587 w 667"/>
                <a:gd name="T47" fmla="*/ 574 h 667"/>
                <a:gd name="T48" fmla="*/ 93 w 667"/>
                <a:gd name="T49" fmla="*/ 280 h 667"/>
                <a:gd name="T50" fmla="*/ 200 w 667"/>
                <a:gd name="T51" fmla="*/ 374 h 667"/>
                <a:gd name="T52" fmla="*/ 227 w 667"/>
                <a:gd name="T53" fmla="*/ 307 h 667"/>
                <a:gd name="T54" fmla="*/ 227 w 667"/>
                <a:gd name="T55" fmla="*/ 374 h 667"/>
                <a:gd name="T56" fmla="*/ 440 w 667"/>
                <a:gd name="T57" fmla="*/ 307 h 667"/>
                <a:gd name="T58" fmla="*/ 347 w 667"/>
                <a:gd name="T59" fmla="*/ 307 h 667"/>
                <a:gd name="T60" fmla="*/ 560 w 667"/>
                <a:gd name="T61" fmla="*/ 374 h 667"/>
                <a:gd name="T62" fmla="*/ 107 w 667"/>
                <a:gd name="T63" fmla="*/ 400 h 667"/>
                <a:gd name="T64" fmla="*/ 107 w 667"/>
                <a:gd name="T65" fmla="*/ 467 h 667"/>
                <a:gd name="T66" fmla="*/ 320 w 667"/>
                <a:gd name="T67" fmla="*/ 400 h 667"/>
                <a:gd name="T68" fmla="*/ 227 w 667"/>
                <a:gd name="T69" fmla="*/ 400 h 667"/>
                <a:gd name="T70" fmla="*/ 440 w 667"/>
                <a:gd name="T71" fmla="*/ 467 h 667"/>
                <a:gd name="T72" fmla="*/ 467 w 667"/>
                <a:gd name="T73" fmla="*/ 400 h 667"/>
                <a:gd name="T74" fmla="*/ 467 w 667"/>
                <a:gd name="T75" fmla="*/ 467 h 667"/>
                <a:gd name="T76" fmla="*/ 200 w 667"/>
                <a:gd name="T77" fmla="*/ 494 h 667"/>
                <a:gd name="T78" fmla="*/ 107 w 667"/>
                <a:gd name="T79" fmla="*/ 494 h 667"/>
                <a:gd name="T80" fmla="*/ 320 w 667"/>
                <a:gd name="T81" fmla="*/ 560 h 667"/>
                <a:gd name="T82" fmla="*/ 347 w 667"/>
                <a:gd name="T83" fmla="*/ 494 h 667"/>
                <a:gd name="T84" fmla="*/ 400 w 667"/>
                <a:gd name="T85" fmla="*/ 560 h 667"/>
                <a:gd name="T86" fmla="*/ 467 w 667"/>
                <a:gd name="T87" fmla="*/ 494 h 667"/>
                <a:gd name="T88" fmla="*/ 467 w 667"/>
                <a:gd name="T89" fmla="*/ 560 h 6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667" h="667">
                  <a:moveTo>
                    <a:pt x="147" y="0"/>
                  </a:moveTo>
                  <a:cubicBezTo>
                    <a:pt x="140" y="0"/>
                    <a:pt x="133" y="3"/>
                    <a:pt x="128" y="8"/>
                  </a:cubicBezTo>
                  <a:cubicBezTo>
                    <a:pt x="123" y="13"/>
                    <a:pt x="120" y="20"/>
                    <a:pt x="120" y="27"/>
                  </a:cubicBezTo>
                  <a:lnTo>
                    <a:pt x="120" y="54"/>
                  </a:lnTo>
                  <a:lnTo>
                    <a:pt x="27" y="54"/>
                  </a:lnTo>
                  <a:cubicBezTo>
                    <a:pt x="20" y="54"/>
                    <a:pt x="13" y="56"/>
                    <a:pt x="8" y="61"/>
                  </a:cubicBezTo>
                  <a:cubicBezTo>
                    <a:pt x="3" y="66"/>
                    <a:pt x="0" y="73"/>
                    <a:pt x="0" y="80"/>
                  </a:cubicBezTo>
                  <a:lnTo>
                    <a:pt x="0" y="640"/>
                  </a:lnTo>
                  <a:cubicBezTo>
                    <a:pt x="0" y="647"/>
                    <a:pt x="3" y="654"/>
                    <a:pt x="8" y="659"/>
                  </a:cubicBezTo>
                  <a:cubicBezTo>
                    <a:pt x="13" y="664"/>
                    <a:pt x="20" y="667"/>
                    <a:pt x="27" y="667"/>
                  </a:cubicBezTo>
                  <a:lnTo>
                    <a:pt x="640" y="667"/>
                  </a:lnTo>
                  <a:cubicBezTo>
                    <a:pt x="647" y="667"/>
                    <a:pt x="654" y="664"/>
                    <a:pt x="659" y="659"/>
                  </a:cubicBezTo>
                  <a:cubicBezTo>
                    <a:pt x="664" y="654"/>
                    <a:pt x="667" y="647"/>
                    <a:pt x="667" y="640"/>
                  </a:cubicBezTo>
                  <a:lnTo>
                    <a:pt x="667" y="80"/>
                  </a:lnTo>
                  <a:cubicBezTo>
                    <a:pt x="667" y="73"/>
                    <a:pt x="664" y="66"/>
                    <a:pt x="659" y="61"/>
                  </a:cubicBezTo>
                  <a:cubicBezTo>
                    <a:pt x="654" y="56"/>
                    <a:pt x="647" y="54"/>
                    <a:pt x="640" y="54"/>
                  </a:cubicBezTo>
                  <a:lnTo>
                    <a:pt x="547" y="54"/>
                  </a:lnTo>
                  <a:lnTo>
                    <a:pt x="547" y="27"/>
                  </a:lnTo>
                  <a:cubicBezTo>
                    <a:pt x="547" y="20"/>
                    <a:pt x="544" y="13"/>
                    <a:pt x="539" y="8"/>
                  </a:cubicBezTo>
                  <a:cubicBezTo>
                    <a:pt x="534" y="3"/>
                    <a:pt x="527" y="0"/>
                    <a:pt x="520" y="0"/>
                  </a:cubicBezTo>
                  <a:lnTo>
                    <a:pt x="493" y="0"/>
                  </a:lnTo>
                  <a:cubicBezTo>
                    <a:pt x="486" y="0"/>
                    <a:pt x="479" y="3"/>
                    <a:pt x="474" y="8"/>
                  </a:cubicBezTo>
                  <a:cubicBezTo>
                    <a:pt x="469" y="13"/>
                    <a:pt x="467" y="20"/>
                    <a:pt x="467" y="27"/>
                  </a:cubicBezTo>
                  <a:lnTo>
                    <a:pt x="467" y="54"/>
                  </a:lnTo>
                  <a:lnTo>
                    <a:pt x="200" y="54"/>
                  </a:lnTo>
                  <a:lnTo>
                    <a:pt x="200" y="27"/>
                  </a:lnTo>
                  <a:cubicBezTo>
                    <a:pt x="200" y="20"/>
                    <a:pt x="197" y="13"/>
                    <a:pt x="192" y="8"/>
                  </a:cubicBezTo>
                  <a:cubicBezTo>
                    <a:pt x="187" y="3"/>
                    <a:pt x="180" y="0"/>
                    <a:pt x="173" y="0"/>
                  </a:cubicBezTo>
                  <a:lnTo>
                    <a:pt x="147" y="0"/>
                  </a:lnTo>
                  <a:close/>
                  <a:moveTo>
                    <a:pt x="147" y="27"/>
                  </a:moveTo>
                  <a:lnTo>
                    <a:pt x="173" y="27"/>
                  </a:lnTo>
                  <a:lnTo>
                    <a:pt x="173" y="107"/>
                  </a:lnTo>
                  <a:lnTo>
                    <a:pt x="147" y="107"/>
                  </a:lnTo>
                  <a:lnTo>
                    <a:pt x="147" y="27"/>
                  </a:lnTo>
                  <a:close/>
                  <a:moveTo>
                    <a:pt x="493" y="27"/>
                  </a:moveTo>
                  <a:lnTo>
                    <a:pt x="520" y="27"/>
                  </a:lnTo>
                  <a:lnTo>
                    <a:pt x="520" y="107"/>
                  </a:lnTo>
                  <a:lnTo>
                    <a:pt x="493" y="107"/>
                  </a:lnTo>
                  <a:lnTo>
                    <a:pt x="493" y="27"/>
                  </a:lnTo>
                  <a:close/>
                  <a:moveTo>
                    <a:pt x="27" y="80"/>
                  </a:moveTo>
                  <a:lnTo>
                    <a:pt x="120" y="80"/>
                  </a:lnTo>
                  <a:lnTo>
                    <a:pt x="120" y="107"/>
                  </a:lnTo>
                  <a:cubicBezTo>
                    <a:pt x="120" y="114"/>
                    <a:pt x="123" y="121"/>
                    <a:pt x="128" y="126"/>
                  </a:cubicBezTo>
                  <a:cubicBezTo>
                    <a:pt x="133" y="131"/>
                    <a:pt x="140" y="134"/>
                    <a:pt x="147" y="134"/>
                  </a:cubicBezTo>
                  <a:lnTo>
                    <a:pt x="173" y="134"/>
                  </a:lnTo>
                  <a:cubicBezTo>
                    <a:pt x="180" y="134"/>
                    <a:pt x="187" y="131"/>
                    <a:pt x="192" y="126"/>
                  </a:cubicBezTo>
                  <a:cubicBezTo>
                    <a:pt x="197" y="121"/>
                    <a:pt x="200" y="114"/>
                    <a:pt x="200" y="107"/>
                  </a:cubicBezTo>
                  <a:lnTo>
                    <a:pt x="200" y="80"/>
                  </a:lnTo>
                  <a:lnTo>
                    <a:pt x="467" y="80"/>
                  </a:lnTo>
                  <a:lnTo>
                    <a:pt x="467" y="107"/>
                  </a:lnTo>
                  <a:cubicBezTo>
                    <a:pt x="467" y="114"/>
                    <a:pt x="469" y="121"/>
                    <a:pt x="474" y="126"/>
                  </a:cubicBezTo>
                  <a:cubicBezTo>
                    <a:pt x="479" y="131"/>
                    <a:pt x="486" y="134"/>
                    <a:pt x="493" y="134"/>
                  </a:cubicBezTo>
                  <a:lnTo>
                    <a:pt x="520" y="134"/>
                  </a:lnTo>
                  <a:cubicBezTo>
                    <a:pt x="527" y="134"/>
                    <a:pt x="534" y="131"/>
                    <a:pt x="539" y="126"/>
                  </a:cubicBezTo>
                  <a:cubicBezTo>
                    <a:pt x="544" y="121"/>
                    <a:pt x="547" y="114"/>
                    <a:pt x="547" y="107"/>
                  </a:cubicBezTo>
                  <a:lnTo>
                    <a:pt x="547" y="80"/>
                  </a:lnTo>
                  <a:lnTo>
                    <a:pt x="640" y="80"/>
                  </a:lnTo>
                  <a:lnTo>
                    <a:pt x="640" y="187"/>
                  </a:lnTo>
                  <a:lnTo>
                    <a:pt x="27" y="187"/>
                  </a:lnTo>
                  <a:lnTo>
                    <a:pt x="27" y="80"/>
                  </a:lnTo>
                  <a:close/>
                  <a:moveTo>
                    <a:pt x="27" y="214"/>
                  </a:moveTo>
                  <a:lnTo>
                    <a:pt x="640" y="214"/>
                  </a:lnTo>
                  <a:lnTo>
                    <a:pt x="640" y="640"/>
                  </a:lnTo>
                  <a:lnTo>
                    <a:pt x="27" y="640"/>
                  </a:lnTo>
                  <a:lnTo>
                    <a:pt x="27" y="214"/>
                  </a:lnTo>
                  <a:close/>
                  <a:moveTo>
                    <a:pt x="93" y="280"/>
                  </a:moveTo>
                  <a:cubicBezTo>
                    <a:pt x="86" y="280"/>
                    <a:pt x="80" y="286"/>
                    <a:pt x="80" y="294"/>
                  </a:cubicBezTo>
                  <a:lnTo>
                    <a:pt x="80" y="574"/>
                  </a:lnTo>
                  <a:cubicBezTo>
                    <a:pt x="80" y="581"/>
                    <a:pt x="86" y="587"/>
                    <a:pt x="93" y="587"/>
                  </a:cubicBezTo>
                  <a:lnTo>
                    <a:pt x="400" y="587"/>
                  </a:lnTo>
                  <a:lnTo>
                    <a:pt x="573" y="587"/>
                  </a:lnTo>
                  <a:cubicBezTo>
                    <a:pt x="581" y="587"/>
                    <a:pt x="587" y="581"/>
                    <a:pt x="587" y="574"/>
                  </a:cubicBezTo>
                  <a:lnTo>
                    <a:pt x="587" y="294"/>
                  </a:lnTo>
                  <a:cubicBezTo>
                    <a:pt x="587" y="286"/>
                    <a:pt x="581" y="280"/>
                    <a:pt x="573" y="280"/>
                  </a:cubicBezTo>
                  <a:lnTo>
                    <a:pt x="93" y="280"/>
                  </a:lnTo>
                  <a:close/>
                  <a:moveTo>
                    <a:pt x="107" y="307"/>
                  </a:moveTo>
                  <a:lnTo>
                    <a:pt x="200" y="307"/>
                  </a:lnTo>
                  <a:lnTo>
                    <a:pt x="200" y="374"/>
                  </a:lnTo>
                  <a:lnTo>
                    <a:pt x="107" y="374"/>
                  </a:lnTo>
                  <a:lnTo>
                    <a:pt x="107" y="307"/>
                  </a:lnTo>
                  <a:close/>
                  <a:moveTo>
                    <a:pt x="227" y="307"/>
                  </a:moveTo>
                  <a:lnTo>
                    <a:pt x="320" y="307"/>
                  </a:lnTo>
                  <a:lnTo>
                    <a:pt x="320" y="374"/>
                  </a:lnTo>
                  <a:lnTo>
                    <a:pt x="227" y="374"/>
                  </a:lnTo>
                  <a:lnTo>
                    <a:pt x="227" y="307"/>
                  </a:lnTo>
                  <a:close/>
                  <a:moveTo>
                    <a:pt x="347" y="307"/>
                  </a:moveTo>
                  <a:lnTo>
                    <a:pt x="440" y="307"/>
                  </a:lnTo>
                  <a:lnTo>
                    <a:pt x="440" y="374"/>
                  </a:lnTo>
                  <a:lnTo>
                    <a:pt x="347" y="374"/>
                  </a:lnTo>
                  <a:lnTo>
                    <a:pt x="347" y="307"/>
                  </a:lnTo>
                  <a:close/>
                  <a:moveTo>
                    <a:pt x="467" y="307"/>
                  </a:moveTo>
                  <a:lnTo>
                    <a:pt x="560" y="307"/>
                  </a:lnTo>
                  <a:lnTo>
                    <a:pt x="560" y="374"/>
                  </a:lnTo>
                  <a:lnTo>
                    <a:pt x="467" y="374"/>
                  </a:lnTo>
                  <a:lnTo>
                    <a:pt x="467" y="307"/>
                  </a:lnTo>
                  <a:close/>
                  <a:moveTo>
                    <a:pt x="107" y="400"/>
                  </a:moveTo>
                  <a:lnTo>
                    <a:pt x="200" y="400"/>
                  </a:lnTo>
                  <a:lnTo>
                    <a:pt x="200" y="467"/>
                  </a:lnTo>
                  <a:lnTo>
                    <a:pt x="107" y="467"/>
                  </a:lnTo>
                  <a:lnTo>
                    <a:pt x="107" y="400"/>
                  </a:lnTo>
                  <a:close/>
                  <a:moveTo>
                    <a:pt x="227" y="400"/>
                  </a:moveTo>
                  <a:lnTo>
                    <a:pt x="320" y="400"/>
                  </a:lnTo>
                  <a:lnTo>
                    <a:pt x="320" y="467"/>
                  </a:lnTo>
                  <a:lnTo>
                    <a:pt x="227" y="467"/>
                  </a:lnTo>
                  <a:lnTo>
                    <a:pt x="227" y="400"/>
                  </a:lnTo>
                  <a:close/>
                  <a:moveTo>
                    <a:pt x="347" y="400"/>
                  </a:moveTo>
                  <a:lnTo>
                    <a:pt x="440" y="400"/>
                  </a:lnTo>
                  <a:lnTo>
                    <a:pt x="440" y="467"/>
                  </a:lnTo>
                  <a:lnTo>
                    <a:pt x="347" y="467"/>
                  </a:lnTo>
                  <a:lnTo>
                    <a:pt x="347" y="400"/>
                  </a:lnTo>
                  <a:close/>
                  <a:moveTo>
                    <a:pt x="467" y="400"/>
                  </a:moveTo>
                  <a:lnTo>
                    <a:pt x="560" y="400"/>
                  </a:lnTo>
                  <a:lnTo>
                    <a:pt x="560" y="467"/>
                  </a:lnTo>
                  <a:lnTo>
                    <a:pt x="467" y="467"/>
                  </a:lnTo>
                  <a:lnTo>
                    <a:pt x="467" y="400"/>
                  </a:lnTo>
                  <a:close/>
                  <a:moveTo>
                    <a:pt x="107" y="494"/>
                  </a:moveTo>
                  <a:lnTo>
                    <a:pt x="200" y="494"/>
                  </a:lnTo>
                  <a:lnTo>
                    <a:pt x="200" y="560"/>
                  </a:lnTo>
                  <a:lnTo>
                    <a:pt x="107" y="560"/>
                  </a:lnTo>
                  <a:lnTo>
                    <a:pt x="107" y="494"/>
                  </a:lnTo>
                  <a:close/>
                  <a:moveTo>
                    <a:pt x="227" y="494"/>
                  </a:moveTo>
                  <a:lnTo>
                    <a:pt x="320" y="494"/>
                  </a:lnTo>
                  <a:lnTo>
                    <a:pt x="320" y="560"/>
                  </a:lnTo>
                  <a:lnTo>
                    <a:pt x="227" y="560"/>
                  </a:lnTo>
                  <a:lnTo>
                    <a:pt x="227" y="494"/>
                  </a:lnTo>
                  <a:close/>
                  <a:moveTo>
                    <a:pt x="347" y="494"/>
                  </a:moveTo>
                  <a:lnTo>
                    <a:pt x="440" y="494"/>
                  </a:lnTo>
                  <a:lnTo>
                    <a:pt x="440" y="560"/>
                  </a:lnTo>
                  <a:lnTo>
                    <a:pt x="400" y="560"/>
                  </a:lnTo>
                  <a:lnTo>
                    <a:pt x="347" y="560"/>
                  </a:lnTo>
                  <a:lnTo>
                    <a:pt x="347" y="494"/>
                  </a:lnTo>
                  <a:close/>
                  <a:moveTo>
                    <a:pt x="467" y="494"/>
                  </a:moveTo>
                  <a:lnTo>
                    <a:pt x="560" y="494"/>
                  </a:lnTo>
                  <a:lnTo>
                    <a:pt x="560" y="560"/>
                  </a:lnTo>
                  <a:lnTo>
                    <a:pt x="467" y="560"/>
                  </a:lnTo>
                  <a:lnTo>
                    <a:pt x="467" y="494"/>
                  </a:lnTo>
                  <a:close/>
                </a:path>
              </a:pathLst>
            </a:custGeom>
            <a:solidFill>
              <a:srgbClr val="5F5F5F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sp>
        <p:nvSpPr>
          <p:cNvPr id="419" name="사각형: 둥근 모서리 296">
            <a:extLst>
              <a:ext uri="{FF2B5EF4-FFF2-40B4-BE49-F238E27FC236}">
                <a16:creationId xmlns="" xmlns:a16="http://schemas.microsoft.com/office/drawing/2014/main" id="{AF3A2839-D952-4BD4-BE52-1953FF219D20}"/>
              </a:ext>
            </a:extLst>
          </p:cNvPr>
          <p:cNvSpPr/>
          <p:nvPr/>
        </p:nvSpPr>
        <p:spPr bwMode="auto">
          <a:xfrm>
            <a:off x="6621191" y="3788668"/>
            <a:ext cx="216000" cy="18000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3175" cap="flat" cmpd="sng" algn="ctr">
            <a:solidFill>
              <a:schemeClr val="bg1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>
            <a:outerShdw blurRad="12700" dist="12700" dir="2700000" algn="tl" rotWithShape="0">
              <a:schemeClr val="tx1">
                <a:lumMod val="75000"/>
                <a:lumOff val="25000"/>
                <a:alpha val="30000"/>
              </a:schemeClr>
            </a:outerShdw>
          </a:effectLst>
        </p:spPr>
        <p:txBody>
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400" fontAlgn="base" latinLnBrk="0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700" kern="0">
                <a:solidFill>
                  <a:schemeClr val="bg1"/>
                </a:solidFill>
                <a:latin typeface="+mn-ea"/>
              </a:rPr>
              <a:t>Ⅹ</a:t>
            </a:r>
            <a:endParaRPr kumimoji="1" lang="ko-KR" altLang="en-US" sz="700" kern="0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613" name="직사각형 612">
            <a:extLst>
              <a:ext uri="{FF2B5EF4-FFF2-40B4-BE49-F238E27FC236}">
                <a16:creationId xmlns="" xmlns:a16="http://schemas.microsoft.com/office/drawing/2014/main" id="{C3CBC899-E192-4597-B3EF-23483E494D33}"/>
              </a:ext>
            </a:extLst>
          </p:cNvPr>
          <p:cNvSpPr/>
          <p:nvPr/>
        </p:nvSpPr>
        <p:spPr>
          <a:xfrm>
            <a:off x="1367906" y="3734668"/>
            <a:ext cx="900000" cy="288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36000" rIns="108000" bIns="36000" rtlCol="0" anchor="ctr"/>
          <a:lstStyle/>
          <a:p>
            <a:r>
              <a:rPr lang="ko-KR" altLang="en-US" sz="7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등록일</a:t>
            </a:r>
            <a:endParaRPr lang="ko-KR" altLang="en-US" sz="7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615" name="그룹 614">
            <a:extLst>
              <a:ext uri="{FF2B5EF4-FFF2-40B4-BE49-F238E27FC236}">
                <a16:creationId xmlns="" xmlns:a16="http://schemas.microsoft.com/office/drawing/2014/main" id="{CE03C03E-4F04-4133-AEEC-AC03458859A7}"/>
              </a:ext>
            </a:extLst>
          </p:cNvPr>
          <p:cNvGrpSpPr/>
          <p:nvPr/>
        </p:nvGrpSpPr>
        <p:grpSpPr>
          <a:xfrm>
            <a:off x="2339906" y="3788668"/>
            <a:ext cx="936000" cy="180000"/>
            <a:chOff x="2554666" y="3787347"/>
            <a:chExt cx="936000" cy="180000"/>
          </a:xfrm>
        </p:grpSpPr>
        <p:sp>
          <p:nvSpPr>
            <p:cNvPr id="621" name="모서리가 둥근 직사각형 139">
              <a:extLst>
                <a:ext uri="{FF2B5EF4-FFF2-40B4-BE49-F238E27FC236}">
                  <a16:creationId xmlns="" xmlns:a16="http://schemas.microsoft.com/office/drawing/2014/main" id="{D20B2316-7950-45D5-A329-DFCDAA416345}"/>
                </a:ext>
              </a:extLst>
            </p:cNvPr>
            <p:cNvSpPr/>
            <p:nvPr/>
          </p:nvSpPr>
          <p:spPr bwMode="auto">
            <a:xfrm>
              <a:off x="2554666" y="3787347"/>
              <a:ext cx="936000" cy="180000"/>
            </a:xfrm>
            <a:prstGeom prst="roundRect">
              <a:avLst/>
            </a:prstGeom>
            <a:solidFill>
              <a:schemeClr val="bg1"/>
            </a:solidFill>
            <a:ln w="3175" cap="flat" cmpd="sng" algn="ctr">
              <a:solidFill>
                <a:schemeClr val="bg1">
                  <a:lumMod val="7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none" lIns="108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fontAlgn="base" latinLnBrk="0">
                <a:spcBef>
                  <a:spcPct val="0"/>
                </a:spcBef>
                <a:spcAft>
                  <a:spcPct val="0"/>
                </a:spcAft>
              </a:pPr>
              <a:r>
                <a:rPr kumimoji="1" lang="ko-KR" altLang="en-US" sz="700" kern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등록일</a:t>
              </a:r>
              <a:endParaRPr kumimoji="1" lang="ko-KR" altLang="en-US" sz="7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endParaRPr>
            </a:p>
          </p:txBody>
        </p:sp>
        <p:sp>
          <p:nvSpPr>
            <p:cNvPr id="622" name="모서리가 둥근 직사각형 141">
              <a:extLst>
                <a:ext uri="{FF2B5EF4-FFF2-40B4-BE49-F238E27FC236}">
                  <a16:creationId xmlns="" xmlns:a16="http://schemas.microsoft.com/office/drawing/2014/main" id="{9D3BF834-DC28-4D1A-B5CB-ED60EA5C7751}"/>
                </a:ext>
              </a:extLst>
            </p:cNvPr>
            <p:cNvSpPr/>
            <p:nvPr/>
          </p:nvSpPr>
          <p:spPr bwMode="auto">
            <a:xfrm>
              <a:off x="3310666" y="3787347"/>
              <a:ext cx="180000" cy="180000"/>
            </a:xfrm>
            <a:prstGeom prst="roundRect">
              <a:avLst/>
            </a:prstGeom>
            <a:solidFill>
              <a:schemeClr val="bg1"/>
            </a:solidFill>
            <a:ln w="3175" cap="flat" cmpd="sng" algn="ctr">
              <a:solidFill>
                <a:schemeClr val="bg1">
                  <a:lumMod val="7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none" lIns="36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fontAlgn="base" latinLnBrk="0">
                <a:spcBef>
                  <a:spcPct val="0"/>
                </a:spcBef>
                <a:spcAft>
                  <a:spcPct val="0"/>
                </a:spcAft>
              </a:pPr>
              <a:r>
                <a:rPr kumimoji="1" lang="ko-KR" altLang="en-US" sz="700" kern="0" dirty="0">
                  <a:solidFill>
                    <a:srgbClr val="000000"/>
                  </a:solidFill>
                  <a:latin typeface="+mn-ea"/>
                </a:rPr>
                <a:t>▼</a:t>
              </a:r>
            </a:p>
          </p:txBody>
        </p:sp>
      </p:grpSp>
      <p:sp>
        <p:nvSpPr>
          <p:cNvPr id="596" name="직사각형 595">
            <a:extLst>
              <a:ext uri="{FF2B5EF4-FFF2-40B4-BE49-F238E27FC236}">
                <a16:creationId xmlns="" xmlns:a16="http://schemas.microsoft.com/office/drawing/2014/main" id="{D6E71F9F-6A05-4858-BCF1-F73872A38DCC}"/>
              </a:ext>
            </a:extLst>
          </p:cNvPr>
          <p:cNvSpPr/>
          <p:nvPr/>
        </p:nvSpPr>
        <p:spPr>
          <a:xfrm>
            <a:off x="7343630" y="3734668"/>
            <a:ext cx="900000" cy="288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36000" rIns="108000" bIns="36000" rtlCol="0" anchor="ctr"/>
          <a:lstStyle/>
          <a:p>
            <a:r>
              <a:rPr lang="ko-KR" altLang="en-US" sz="7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자사</a:t>
            </a:r>
            <a:r>
              <a:rPr lang="en-US" altLang="ko-KR" sz="7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7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입점구분</a:t>
            </a:r>
            <a:endParaRPr lang="ko-KR" altLang="en-US" sz="700" dirty="0">
              <a:solidFill>
                <a:srgbClr val="C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97" name="직사각형 596">
            <a:extLst>
              <a:ext uri="{FF2B5EF4-FFF2-40B4-BE49-F238E27FC236}">
                <a16:creationId xmlns="" xmlns:a16="http://schemas.microsoft.com/office/drawing/2014/main" id="{869F0D91-4426-412C-8A0D-962A34E6A583}"/>
              </a:ext>
            </a:extLst>
          </p:cNvPr>
          <p:cNvSpPr/>
          <p:nvPr/>
        </p:nvSpPr>
        <p:spPr>
          <a:xfrm>
            <a:off x="8243906" y="3734668"/>
            <a:ext cx="1116000" cy="288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36000" rIns="108000" bIns="36000" rtlCol="0" anchor="ctr"/>
          <a:lstStyle/>
          <a:p>
            <a:endParaRPr lang="ko-KR" altLang="en-US" sz="80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598" name="그룹 597">
            <a:extLst>
              <a:ext uri="{FF2B5EF4-FFF2-40B4-BE49-F238E27FC236}">
                <a16:creationId xmlns="" xmlns:a16="http://schemas.microsoft.com/office/drawing/2014/main" id="{CE03C03E-4F04-4133-AEEC-AC03458859A7}"/>
              </a:ext>
            </a:extLst>
          </p:cNvPr>
          <p:cNvGrpSpPr/>
          <p:nvPr/>
        </p:nvGrpSpPr>
        <p:grpSpPr>
          <a:xfrm>
            <a:off x="8314594" y="3788668"/>
            <a:ext cx="936000" cy="180000"/>
            <a:chOff x="2554666" y="3787347"/>
            <a:chExt cx="936000" cy="180000"/>
          </a:xfrm>
        </p:grpSpPr>
        <p:sp>
          <p:nvSpPr>
            <p:cNvPr id="600" name="모서리가 둥근 직사각형 139">
              <a:extLst>
                <a:ext uri="{FF2B5EF4-FFF2-40B4-BE49-F238E27FC236}">
                  <a16:creationId xmlns="" xmlns:a16="http://schemas.microsoft.com/office/drawing/2014/main" id="{D20B2316-7950-45D5-A329-DFCDAA416345}"/>
                </a:ext>
              </a:extLst>
            </p:cNvPr>
            <p:cNvSpPr/>
            <p:nvPr/>
          </p:nvSpPr>
          <p:spPr bwMode="auto">
            <a:xfrm>
              <a:off x="2554666" y="3787347"/>
              <a:ext cx="936000" cy="180000"/>
            </a:xfrm>
            <a:prstGeom prst="roundRect">
              <a:avLst/>
            </a:prstGeom>
            <a:solidFill>
              <a:schemeClr val="bg1"/>
            </a:solidFill>
            <a:ln w="3175" cap="flat" cmpd="sng" algn="ctr">
              <a:solidFill>
                <a:schemeClr val="bg1">
                  <a:lumMod val="7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none" lIns="108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fontAlgn="base" latinLnBrk="0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ko-KR" sz="700" kern="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[</a:t>
              </a:r>
              <a:r>
                <a:rPr kumimoji="1" lang="ko-KR" altLang="en-US" sz="700" kern="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전체</a:t>
              </a:r>
              <a:r>
                <a:rPr kumimoji="1" lang="en-US" altLang="ko-KR" sz="700" kern="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]</a:t>
              </a:r>
              <a:endParaRPr kumimoji="1" lang="ko-KR" altLang="en-US" sz="700" kern="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endParaRPr>
            </a:p>
          </p:txBody>
        </p:sp>
        <p:sp>
          <p:nvSpPr>
            <p:cNvPr id="601" name="모서리가 둥근 직사각형 141">
              <a:extLst>
                <a:ext uri="{FF2B5EF4-FFF2-40B4-BE49-F238E27FC236}">
                  <a16:creationId xmlns="" xmlns:a16="http://schemas.microsoft.com/office/drawing/2014/main" id="{9D3BF834-DC28-4D1A-B5CB-ED60EA5C7751}"/>
                </a:ext>
              </a:extLst>
            </p:cNvPr>
            <p:cNvSpPr/>
            <p:nvPr/>
          </p:nvSpPr>
          <p:spPr bwMode="auto">
            <a:xfrm>
              <a:off x="3310666" y="3787347"/>
              <a:ext cx="180000" cy="180000"/>
            </a:xfrm>
            <a:prstGeom prst="roundRect">
              <a:avLst/>
            </a:prstGeom>
            <a:solidFill>
              <a:schemeClr val="bg1"/>
            </a:solidFill>
            <a:ln w="3175" cap="flat" cmpd="sng" algn="ctr">
              <a:solidFill>
                <a:schemeClr val="bg1">
                  <a:lumMod val="7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none" lIns="36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fontAlgn="base" latinLnBrk="0">
                <a:spcBef>
                  <a:spcPct val="0"/>
                </a:spcBef>
                <a:spcAft>
                  <a:spcPct val="0"/>
                </a:spcAft>
              </a:pPr>
              <a:r>
                <a:rPr kumimoji="1" lang="ko-KR" altLang="en-US" sz="700" kern="0" dirty="0">
                  <a:solidFill>
                    <a:srgbClr val="000000"/>
                  </a:solidFill>
                  <a:latin typeface="+mn-ea"/>
                </a:rPr>
                <a:t>▼</a:t>
              </a:r>
            </a:p>
          </p:txBody>
        </p:sp>
      </p:grpSp>
      <p:sp>
        <p:nvSpPr>
          <p:cNvPr id="537" name="직사각형 536">
            <a:extLst>
              <a:ext uri="{FF2B5EF4-FFF2-40B4-BE49-F238E27FC236}">
                <a16:creationId xmlns="" xmlns:a16="http://schemas.microsoft.com/office/drawing/2014/main" id="{C3CBC899-E192-4597-B3EF-23483E494D33}"/>
              </a:ext>
            </a:extLst>
          </p:cNvPr>
          <p:cNvSpPr/>
          <p:nvPr/>
        </p:nvSpPr>
        <p:spPr>
          <a:xfrm>
            <a:off x="1367906" y="4022857"/>
            <a:ext cx="900000" cy="288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36000" rIns="36000" bIns="36000" rtlCol="0" anchor="ctr"/>
          <a:lstStyle/>
          <a:p>
            <a:r>
              <a:rPr lang="ko-KR" altLang="en-US" sz="7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판매가</a:t>
            </a:r>
            <a:endParaRPr lang="ko-KR" altLang="en-US" sz="7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10" name="직사각형 609">
            <a:extLst>
              <a:ext uri="{FF2B5EF4-FFF2-40B4-BE49-F238E27FC236}">
                <a16:creationId xmlns="" xmlns:a16="http://schemas.microsoft.com/office/drawing/2014/main" id="{C8E8B8B5-F2A9-4F2D-8F41-E83BE71E8F5A}"/>
              </a:ext>
            </a:extLst>
          </p:cNvPr>
          <p:cNvSpPr/>
          <p:nvPr/>
        </p:nvSpPr>
        <p:spPr>
          <a:xfrm>
            <a:off x="2266455" y="4022857"/>
            <a:ext cx="3095174" cy="288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36000" rIns="108000" bIns="36000" rtlCol="0" anchor="ctr"/>
          <a:lstStyle/>
          <a:p>
            <a:endParaRPr lang="ko-KR" altLang="en-US" sz="80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42" name="그룹 41"/>
          <p:cNvGrpSpPr/>
          <p:nvPr/>
        </p:nvGrpSpPr>
        <p:grpSpPr>
          <a:xfrm>
            <a:off x="2339906" y="4076645"/>
            <a:ext cx="2047474" cy="180425"/>
            <a:chOff x="6336805" y="4154867"/>
            <a:chExt cx="2047474" cy="180425"/>
          </a:xfrm>
        </p:grpSpPr>
        <p:sp>
          <p:nvSpPr>
            <p:cNvPr id="602" name="모서리가 둥근 직사각형 184">
              <a:extLst>
                <a:ext uri="{FF2B5EF4-FFF2-40B4-BE49-F238E27FC236}">
                  <a16:creationId xmlns="" xmlns:a16="http://schemas.microsoft.com/office/drawing/2014/main" id="{7C4181B1-00DE-4B1A-9AF4-36726F2433BA}"/>
                </a:ext>
              </a:extLst>
            </p:cNvPr>
            <p:cNvSpPr/>
            <p:nvPr/>
          </p:nvSpPr>
          <p:spPr bwMode="auto">
            <a:xfrm>
              <a:off x="6336805" y="4155079"/>
              <a:ext cx="720000" cy="180000"/>
            </a:xfrm>
            <a:prstGeom prst="roundRect">
              <a:avLst/>
            </a:prstGeom>
            <a:solidFill>
              <a:srgbClr val="FFFFEF"/>
            </a:solidFill>
            <a:ln w="3175" cap="flat" cmpd="sng" algn="ctr">
              <a:solidFill>
                <a:schemeClr val="bg1">
                  <a:lumMod val="7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none" lIns="108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defTabSz="914400" fontAlgn="base" latinLnBrk="0">
                <a:spcBef>
                  <a:spcPct val="0"/>
                </a:spcBef>
                <a:spcAft>
                  <a:spcPct val="0"/>
                </a:spcAft>
              </a:pPr>
              <a:endParaRPr kumimoji="1" lang="ko-KR" altLang="en-US" sz="700" b="0" i="0" u="none" strike="noStrike" kern="0" cap="none" spc="0" normalizeH="0" baseline="0" noProof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606" name="TextBox 605">
              <a:extLst>
                <a:ext uri="{FF2B5EF4-FFF2-40B4-BE49-F238E27FC236}">
                  <a16:creationId xmlns="" xmlns:a16="http://schemas.microsoft.com/office/drawing/2014/main" id="{371DEE5A-1B36-43FA-89E6-F3BCF143BE9F}"/>
                </a:ext>
              </a:extLst>
            </p:cNvPr>
            <p:cNvSpPr txBox="1"/>
            <p:nvPr/>
          </p:nvSpPr>
          <p:spPr>
            <a:xfrm>
              <a:off x="7056805" y="4154867"/>
              <a:ext cx="235174" cy="180425"/>
            </a:xfrm>
            <a:prstGeom prst="rect">
              <a:avLst/>
            </a:prstGeom>
            <a:noFill/>
            <a:ln w="3175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none" lIns="108000" tIns="36000" rIns="36000" bIns="36000" numCol="1" rtlCol="0" anchor="ctr" anchorCtr="0" compatLnSpc="1">
              <a:prstTxWarp prst="textNoShape">
                <a:avLst/>
              </a:prstTxWarp>
              <a:spAutoFit/>
            </a:bodyPr>
            <a:lstStyle/>
            <a:p>
              <a:pPr algn="l"/>
              <a:r>
                <a:rPr lang="ko-KR" altLang="en-US" sz="70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원</a:t>
              </a:r>
              <a:endParaRPr lang="ko-KR" altLang="en-US" sz="70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endParaRPr>
            </a:p>
          </p:txBody>
        </p:sp>
        <p:sp>
          <p:nvSpPr>
            <p:cNvPr id="607" name="TextBox 606">
              <a:extLst>
                <a:ext uri="{FF2B5EF4-FFF2-40B4-BE49-F238E27FC236}">
                  <a16:creationId xmlns="" xmlns:a16="http://schemas.microsoft.com/office/drawing/2014/main" id="{BEF44E57-E280-4345-9063-E951A919EA82}"/>
                </a:ext>
              </a:extLst>
            </p:cNvPr>
            <p:cNvSpPr txBox="1"/>
            <p:nvPr/>
          </p:nvSpPr>
          <p:spPr>
            <a:xfrm>
              <a:off x="7293884" y="4154867"/>
              <a:ext cx="135221" cy="180425"/>
            </a:xfrm>
            <a:prstGeom prst="rect">
              <a:avLst/>
            </a:prstGeom>
            <a:solidFill>
              <a:schemeClr val="bg1">
                <a:alpha val="10000"/>
              </a:schemeClr>
            </a:solidFill>
            <a:ln w="3175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none" lIns="36000" tIns="36000" rIns="36000" bIns="36000" numCol="1" rtlCol="0" anchor="ctr" anchorCtr="0" compatLnSpc="1">
              <a:prstTxWarp prst="textNoShape">
                <a:avLst/>
              </a:prstTxWarp>
              <a:spAutoFit/>
            </a:bodyPr>
            <a:lstStyle/>
            <a:p>
              <a:pPr algn="l"/>
              <a:r>
                <a:rPr lang="en-US" altLang="ko-KR" sz="7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~</a:t>
              </a:r>
              <a:endParaRPr lang="ko-KR" altLang="en-US" sz="70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endParaRPr>
            </a:p>
          </p:txBody>
        </p:sp>
        <p:sp>
          <p:nvSpPr>
            <p:cNvPr id="608" name="모서리가 둥근 직사각형 184">
              <a:extLst>
                <a:ext uri="{FF2B5EF4-FFF2-40B4-BE49-F238E27FC236}">
                  <a16:creationId xmlns="" xmlns:a16="http://schemas.microsoft.com/office/drawing/2014/main" id="{7C4181B1-00DE-4B1A-9AF4-36726F2433BA}"/>
                </a:ext>
              </a:extLst>
            </p:cNvPr>
            <p:cNvSpPr/>
            <p:nvPr/>
          </p:nvSpPr>
          <p:spPr bwMode="auto">
            <a:xfrm>
              <a:off x="7429105" y="4155079"/>
              <a:ext cx="720000" cy="180000"/>
            </a:xfrm>
            <a:prstGeom prst="roundRect">
              <a:avLst/>
            </a:prstGeom>
            <a:solidFill>
              <a:srgbClr val="FFFFEF"/>
            </a:solidFill>
            <a:ln w="3175" cap="flat" cmpd="sng" algn="ctr">
              <a:solidFill>
                <a:schemeClr val="bg1">
                  <a:lumMod val="7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none" lIns="108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defTabSz="914400" fontAlgn="base" latinLnBrk="0">
                <a:spcBef>
                  <a:spcPct val="0"/>
                </a:spcBef>
                <a:spcAft>
                  <a:spcPct val="0"/>
                </a:spcAft>
              </a:pPr>
              <a:endParaRPr kumimoji="1" lang="ko-KR" altLang="en-US" sz="700" b="0" i="0" u="none" strike="noStrike" kern="0" cap="none" spc="0" normalizeH="0" baseline="0" noProof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609" name="TextBox 608">
              <a:extLst>
                <a:ext uri="{FF2B5EF4-FFF2-40B4-BE49-F238E27FC236}">
                  <a16:creationId xmlns="" xmlns:a16="http://schemas.microsoft.com/office/drawing/2014/main" id="{371DEE5A-1B36-43FA-89E6-F3BCF143BE9F}"/>
                </a:ext>
              </a:extLst>
            </p:cNvPr>
            <p:cNvSpPr txBox="1"/>
            <p:nvPr/>
          </p:nvSpPr>
          <p:spPr>
            <a:xfrm>
              <a:off x="8149105" y="4154867"/>
              <a:ext cx="235174" cy="180425"/>
            </a:xfrm>
            <a:prstGeom prst="rect">
              <a:avLst/>
            </a:prstGeom>
            <a:noFill/>
            <a:ln w="3175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none" lIns="108000" tIns="36000" rIns="36000" bIns="36000" numCol="1" rtlCol="0" anchor="ctr" anchorCtr="0" compatLnSpc="1">
              <a:prstTxWarp prst="textNoShape">
                <a:avLst/>
              </a:prstTxWarp>
              <a:spAutoFit/>
            </a:bodyPr>
            <a:lstStyle/>
            <a:p>
              <a:pPr algn="l"/>
              <a:r>
                <a:rPr lang="ko-KR" altLang="en-US" sz="70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원</a:t>
              </a:r>
              <a:endParaRPr lang="ko-KR" altLang="en-US" sz="70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endParaRPr>
            </a:p>
          </p:txBody>
        </p:sp>
      </p:grpSp>
      <p:sp>
        <p:nvSpPr>
          <p:cNvPr id="623" name="직사각형 622">
            <a:extLst>
              <a:ext uri="{FF2B5EF4-FFF2-40B4-BE49-F238E27FC236}">
                <a16:creationId xmlns="" xmlns:a16="http://schemas.microsoft.com/office/drawing/2014/main" id="{C3CBC899-E192-4597-B3EF-23483E494D33}"/>
              </a:ext>
            </a:extLst>
          </p:cNvPr>
          <p:cNvSpPr/>
          <p:nvPr/>
        </p:nvSpPr>
        <p:spPr>
          <a:xfrm>
            <a:off x="5363078" y="4022857"/>
            <a:ext cx="900000" cy="288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36000" rIns="108000" bIns="36000" rtlCol="0" anchor="ctr"/>
          <a:lstStyle/>
          <a:p>
            <a:r>
              <a:rPr lang="ko-KR" altLang="en-US" sz="7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개런티 상품여부</a:t>
            </a:r>
            <a:endParaRPr lang="ko-KR" altLang="en-US" sz="7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24" name="직사각형 623">
            <a:extLst>
              <a:ext uri="{FF2B5EF4-FFF2-40B4-BE49-F238E27FC236}">
                <a16:creationId xmlns="" xmlns:a16="http://schemas.microsoft.com/office/drawing/2014/main" id="{C8E8B8B5-F2A9-4F2D-8F41-E83BE71E8F5A}"/>
              </a:ext>
            </a:extLst>
          </p:cNvPr>
          <p:cNvSpPr/>
          <p:nvPr/>
        </p:nvSpPr>
        <p:spPr>
          <a:xfrm>
            <a:off x="6262941" y="4022857"/>
            <a:ext cx="1080000" cy="288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36000" rIns="108000" bIns="36000" rtlCol="0" anchor="ctr"/>
          <a:lstStyle/>
          <a:p>
            <a:endParaRPr lang="ko-KR" altLang="en-US" sz="80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26" name="사각형: 둥근 모서리 393">
            <a:extLst>
              <a:ext uri="{FF2B5EF4-FFF2-40B4-BE49-F238E27FC236}">
                <a16:creationId xmlns="" xmlns:a16="http://schemas.microsoft.com/office/drawing/2014/main" id="{290E9852-4338-4EEA-B9C3-64E5DDED0B7A}"/>
              </a:ext>
            </a:extLst>
          </p:cNvPr>
          <p:cNvSpPr/>
          <p:nvPr/>
        </p:nvSpPr>
        <p:spPr bwMode="auto">
          <a:xfrm>
            <a:off x="6335078" y="4094858"/>
            <a:ext cx="144000" cy="144000"/>
          </a:xfrm>
          <a:prstGeom prst="ellipse">
            <a:avLst/>
          </a:prstGeom>
          <a:solidFill>
            <a:schemeClr val="bg1"/>
          </a:solidFill>
          <a:ln w="3175" cap="flat" cmpd="sng" algn="ctr">
            <a:solidFill>
              <a:schemeClr val="bg1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>
            <a:innerShdw blurRad="12700" dist="12700" dir="13500000">
              <a:schemeClr val="tx1">
                <a:lumMod val="75000"/>
                <a:lumOff val="25000"/>
                <a:alpha val="30000"/>
              </a:schemeClr>
            </a:innerShdw>
          </a:effectLst>
        </p:spPr>
        <p:txBody>
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fontAlgn="base" latinLnBrk="0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600" kern="0">
                <a:solidFill>
                  <a:srgbClr val="C00000"/>
                </a:solidFill>
                <a:latin typeface="맑은 고딕" panose="020B0503020000020004" pitchFamily="50" charset="-127"/>
              </a:rPr>
              <a:t>●</a:t>
            </a:r>
          </a:p>
        </p:txBody>
      </p:sp>
      <p:sp>
        <p:nvSpPr>
          <p:cNvPr id="627" name="TextBox 626">
            <a:extLst>
              <a:ext uri="{FF2B5EF4-FFF2-40B4-BE49-F238E27FC236}">
                <a16:creationId xmlns="" xmlns:a16="http://schemas.microsoft.com/office/drawing/2014/main" id="{371DEE5A-1B36-43FA-89E6-F3BCF143BE9F}"/>
              </a:ext>
            </a:extLst>
          </p:cNvPr>
          <p:cNvSpPr txBox="1"/>
          <p:nvPr/>
        </p:nvSpPr>
        <p:spPr>
          <a:xfrm>
            <a:off x="6479078" y="4076645"/>
            <a:ext cx="252239" cy="180425"/>
          </a:xfrm>
          <a:prstGeom prst="rect">
            <a:avLst/>
          </a:prstGeom>
          <a:noFill/>
          <a:ln w="317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36000" tIns="36000" rIns="36000" bIns="36000" numCol="1" rtlCol="0" anchor="ctr" anchorCtr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ko-KR" altLang="en-US" sz="70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전체</a:t>
            </a:r>
          </a:p>
        </p:txBody>
      </p:sp>
      <p:sp>
        <p:nvSpPr>
          <p:cNvPr id="644" name="직사각형 643">
            <a:extLst>
              <a:ext uri="{FF2B5EF4-FFF2-40B4-BE49-F238E27FC236}">
                <a16:creationId xmlns="" xmlns:a16="http://schemas.microsoft.com/office/drawing/2014/main" id="{C3CBC899-E192-4597-B3EF-23483E494D33}"/>
              </a:ext>
            </a:extLst>
          </p:cNvPr>
          <p:cNvSpPr/>
          <p:nvPr/>
        </p:nvSpPr>
        <p:spPr>
          <a:xfrm>
            <a:off x="1367906" y="4311046"/>
            <a:ext cx="900000" cy="288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36000" rIns="36000" bIns="36000" rtlCol="0" anchor="ctr"/>
          <a:lstStyle/>
          <a:p>
            <a:r>
              <a:rPr lang="ko-KR" altLang="en-US" sz="7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할인율</a:t>
            </a:r>
            <a:endParaRPr lang="ko-KR" altLang="en-US" sz="7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45" name="직사각형 644">
            <a:extLst>
              <a:ext uri="{FF2B5EF4-FFF2-40B4-BE49-F238E27FC236}">
                <a16:creationId xmlns="" xmlns:a16="http://schemas.microsoft.com/office/drawing/2014/main" id="{C8E8B8B5-F2A9-4F2D-8F41-E83BE71E8F5A}"/>
              </a:ext>
            </a:extLst>
          </p:cNvPr>
          <p:cNvSpPr/>
          <p:nvPr/>
        </p:nvSpPr>
        <p:spPr>
          <a:xfrm>
            <a:off x="2266455" y="4311046"/>
            <a:ext cx="3095174" cy="288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36000" rIns="108000" bIns="36000" rtlCol="0" anchor="ctr"/>
          <a:lstStyle/>
          <a:p>
            <a:endParaRPr lang="ko-KR" altLang="en-US" sz="80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646" name="그룹 645"/>
          <p:cNvGrpSpPr/>
          <p:nvPr/>
        </p:nvGrpSpPr>
        <p:grpSpPr>
          <a:xfrm>
            <a:off x="2339906" y="4364834"/>
            <a:ext cx="2033048" cy="180425"/>
            <a:chOff x="6336805" y="4154867"/>
            <a:chExt cx="2033048" cy="180425"/>
          </a:xfrm>
        </p:grpSpPr>
        <p:sp>
          <p:nvSpPr>
            <p:cNvPr id="647" name="모서리가 둥근 직사각형 184">
              <a:extLst>
                <a:ext uri="{FF2B5EF4-FFF2-40B4-BE49-F238E27FC236}">
                  <a16:creationId xmlns="" xmlns:a16="http://schemas.microsoft.com/office/drawing/2014/main" id="{7C4181B1-00DE-4B1A-9AF4-36726F2433BA}"/>
                </a:ext>
              </a:extLst>
            </p:cNvPr>
            <p:cNvSpPr/>
            <p:nvPr/>
          </p:nvSpPr>
          <p:spPr bwMode="auto">
            <a:xfrm>
              <a:off x="6336805" y="4155079"/>
              <a:ext cx="720000" cy="180000"/>
            </a:xfrm>
            <a:prstGeom prst="roundRect">
              <a:avLst/>
            </a:prstGeom>
            <a:solidFill>
              <a:srgbClr val="FFFFEF"/>
            </a:solidFill>
            <a:ln w="3175" cap="flat" cmpd="sng" algn="ctr">
              <a:solidFill>
                <a:schemeClr val="bg1">
                  <a:lumMod val="7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none" lIns="108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defTabSz="914400" fontAlgn="base" latinLnBrk="0">
                <a:spcBef>
                  <a:spcPct val="0"/>
                </a:spcBef>
                <a:spcAft>
                  <a:spcPct val="0"/>
                </a:spcAft>
              </a:pPr>
              <a:endParaRPr kumimoji="1" lang="ko-KR" altLang="en-US" sz="700" b="0" i="0" u="none" strike="noStrike" kern="0" cap="none" spc="0" normalizeH="0" baseline="0" noProof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648" name="TextBox 647">
              <a:extLst>
                <a:ext uri="{FF2B5EF4-FFF2-40B4-BE49-F238E27FC236}">
                  <a16:creationId xmlns="" xmlns:a16="http://schemas.microsoft.com/office/drawing/2014/main" id="{371DEE5A-1B36-43FA-89E6-F3BCF143BE9F}"/>
                </a:ext>
              </a:extLst>
            </p:cNvPr>
            <p:cNvSpPr txBox="1"/>
            <p:nvPr/>
          </p:nvSpPr>
          <p:spPr>
            <a:xfrm>
              <a:off x="7056805" y="4154867"/>
              <a:ext cx="220748" cy="180425"/>
            </a:xfrm>
            <a:prstGeom prst="rect">
              <a:avLst/>
            </a:prstGeom>
            <a:noFill/>
            <a:ln w="3175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none" lIns="108000" tIns="36000" rIns="36000" bIns="36000" numCol="1" rtlCol="0" anchor="ctr" anchorCtr="0" compatLnSpc="1">
              <a:prstTxWarp prst="textNoShape">
                <a:avLst/>
              </a:prstTxWarp>
              <a:spAutoFit/>
            </a:bodyPr>
            <a:lstStyle/>
            <a:p>
              <a:pPr algn="l"/>
              <a:r>
                <a:rPr lang="en-US" altLang="ko-KR" sz="70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%</a:t>
              </a:r>
              <a:endParaRPr lang="ko-KR" altLang="en-US" sz="70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endParaRPr>
            </a:p>
          </p:txBody>
        </p:sp>
        <p:sp>
          <p:nvSpPr>
            <p:cNvPr id="649" name="TextBox 648">
              <a:extLst>
                <a:ext uri="{FF2B5EF4-FFF2-40B4-BE49-F238E27FC236}">
                  <a16:creationId xmlns="" xmlns:a16="http://schemas.microsoft.com/office/drawing/2014/main" id="{BEF44E57-E280-4345-9063-E951A919EA82}"/>
                </a:ext>
              </a:extLst>
            </p:cNvPr>
            <p:cNvSpPr txBox="1"/>
            <p:nvPr/>
          </p:nvSpPr>
          <p:spPr>
            <a:xfrm>
              <a:off x="7293884" y="4154867"/>
              <a:ext cx="135221" cy="180425"/>
            </a:xfrm>
            <a:prstGeom prst="rect">
              <a:avLst/>
            </a:prstGeom>
            <a:solidFill>
              <a:schemeClr val="bg1">
                <a:alpha val="10000"/>
              </a:schemeClr>
            </a:solidFill>
            <a:ln w="3175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none" lIns="36000" tIns="36000" rIns="36000" bIns="36000" numCol="1" rtlCol="0" anchor="ctr" anchorCtr="0" compatLnSpc="1">
              <a:prstTxWarp prst="textNoShape">
                <a:avLst/>
              </a:prstTxWarp>
              <a:spAutoFit/>
            </a:bodyPr>
            <a:lstStyle/>
            <a:p>
              <a:pPr algn="l"/>
              <a:r>
                <a:rPr lang="en-US" altLang="ko-KR" sz="7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~</a:t>
              </a:r>
              <a:endParaRPr lang="ko-KR" altLang="en-US" sz="70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endParaRPr>
            </a:p>
          </p:txBody>
        </p:sp>
        <p:sp>
          <p:nvSpPr>
            <p:cNvPr id="650" name="모서리가 둥근 직사각형 184">
              <a:extLst>
                <a:ext uri="{FF2B5EF4-FFF2-40B4-BE49-F238E27FC236}">
                  <a16:creationId xmlns="" xmlns:a16="http://schemas.microsoft.com/office/drawing/2014/main" id="{7C4181B1-00DE-4B1A-9AF4-36726F2433BA}"/>
                </a:ext>
              </a:extLst>
            </p:cNvPr>
            <p:cNvSpPr/>
            <p:nvPr/>
          </p:nvSpPr>
          <p:spPr bwMode="auto">
            <a:xfrm>
              <a:off x="7429105" y="4155079"/>
              <a:ext cx="720000" cy="180000"/>
            </a:xfrm>
            <a:prstGeom prst="roundRect">
              <a:avLst/>
            </a:prstGeom>
            <a:solidFill>
              <a:srgbClr val="FFFFEF"/>
            </a:solidFill>
            <a:ln w="3175" cap="flat" cmpd="sng" algn="ctr">
              <a:solidFill>
                <a:schemeClr val="bg1">
                  <a:lumMod val="7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none" lIns="108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defTabSz="914400" fontAlgn="base" latinLnBrk="0">
                <a:spcBef>
                  <a:spcPct val="0"/>
                </a:spcBef>
                <a:spcAft>
                  <a:spcPct val="0"/>
                </a:spcAft>
              </a:pPr>
              <a:endParaRPr kumimoji="1" lang="ko-KR" altLang="en-US" sz="700" b="0" i="0" u="none" strike="noStrike" kern="0" cap="none" spc="0" normalizeH="0" baseline="0" noProof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651" name="TextBox 650">
              <a:extLst>
                <a:ext uri="{FF2B5EF4-FFF2-40B4-BE49-F238E27FC236}">
                  <a16:creationId xmlns="" xmlns:a16="http://schemas.microsoft.com/office/drawing/2014/main" id="{371DEE5A-1B36-43FA-89E6-F3BCF143BE9F}"/>
                </a:ext>
              </a:extLst>
            </p:cNvPr>
            <p:cNvSpPr txBox="1"/>
            <p:nvPr/>
          </p:nvSpPr>
          <p:spPr>
            <a:xfrm>
              <a:off x="8149105" y="4154867"/>
              <a:ext cx="220748" cy="180425"/>
            </a:xfrm>
            <a:prstGeom prst="rect">
              <a:avLst/>
            </a:prstGeom>
            <a:noFill/>
            <a:ln w="3175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none" lIns="108000" tIns="36000" rIns="36000" bIns="36000" numCol="1" rtlCol="0" anchor="ctr" anchorCtr="0" compatLnSpc="1">
              <a:prstTxWarp prst="textNoShape">
                <a:avLst/>
              </a:prstTxWarp>
              <a:spAutoFit/>
            </a:bodyPr>
            <a:lstStyle/>
            <a:p>
              <a:r>
                <a:rPr lang="en-US" altLang="ko-KR" sz="7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%</a:t>
              </a:r>
              <a:endParaRPr lang="ko-KR" altLang="en-US" sz="70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endParaRPr>
            </a:p>
          </p:txBody>
        </p:sp>
      </p:grpSp>
      <p:sp>
        <p:nvSpPr>
          <p:cNvPr id="652" name="직사각형 651">
            <a:extLst>
              <a:ext uri="{FF2B5EF4-FFF2-40B4-BE49-F238E27FC236}">
                <a16:creationId xmlns="" xmlns:a16="http://schemas.microsoft.com/office/drawing/2014/main" id="{C3CBC899-E192-4597-B3EF-23483E494D33}"/>
              </a:ext>
            </a:extLst>
          </p:cNvPr>
          <p:cNvSpPr/>
          <p:nvPr/>
        </p:nvSpPr>
        <p:spPr>
          <a:xfrm>
            <a:off x="5363078" y="4311046"/>
            <a:ext cx="900000" cy="288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36000" rIns="108000" bIns="36000" rtlCol="0" anchor="ctr"/>
          <a:lstStyle/>
          <a:p>
            <a:r>
              <a:rPr lang="ko-KR" altLang="en-US" sz="7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품절여부</a:t>
            </a:r>
            <a:endParaRPr lang="ko-KR" altLang="en-US" sz="7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53" name="직사각형 652">
            <a:extLst>
              <a:ext uri="{FF2B5EF4-FFF2-40B4-BE49-F238E27FC236}">
                <a16:creationId xmlns="" xmlns:a16="http://schemas.microsoft.com/office/drawing/2014/main" id="{C8E8B8B5-F2A9-4F2D-8F41-E83BE71E8F5A}"/>
              </a:ext>
            </a:extLst>
          </p:cNvPr>
          <p:cNvSpPr/>
          <p:nvPr/>
        </p:nvSpPr>
        <p:spPr>
          <a:xfrm>
            <a:off x="6262941" y="4311046"/>
            <a:ext cx="1080000" cy="288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36000" rIns="108000" bIns="36000" rtlCol="0" anchor="ctr"/>
          <a:lstStyle/>
          <a:p>
            <a:endParaRPr lang="ko-KR" altLang="en-US" sz="80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55" name="사각형: 둥근 모서리 393">
            <a:extLst>
              <a:ext uri="{FF2B5EF4-FFF2-40B4-BE49-F238E27FC236}">
                <a16:creationId xmlns="" xmlns:a16="http://schemas.microsoft.com/office/drawing/2014/main" id="{290E9852-4338-4EEA-B9C3-64E5DDED0B7A}"/>
              </a:ext>
            </a:extLst>
          </p:cNvPr>
          <p:cNvSpPr/>
          <p:nvPr/>
        </p:nvSpPr>
        <p:spPr bwMode="auto">
          <a:xfrm>
            <a:off x="6335078" y="4383047"/>
            <a:ext cx="144000" cy="144000"/>
          </a:xfrm>
          <a:prstGeom prst="ellipse">
            <a:avLst/>
          </a:prstGeom>
          <a:solidFill>
            <a:schemeClr val="bg1"/>
          </a:solidFill>
          <a:ln w="3175" cap="flat" cmpd="sng" algn="ctr">
            <a:solidFill>
              <a:schemeClr val="bg1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>
            <a:innerShdw blurRad="12700" dist="12700" dir="13500000">
              <a:schemeClr val="tx1">
                <a:lumMod val="75000"/>
                <a:lumOff val="25000"/>
                <a:alpha val="30000"/>
              </a:schemeClr>
            </a:innerShdw>
          </a:effectLst>
        </p:spPr>
        <p:txBody>
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fontAlgn="base" latinLnBrk="0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600" kern="0">
                <a:solidFill>
                  <a:srgbClr val="C00000"/>
                </a:solidFill>
                <a:latin typeface="맑은 고딕" panose="020B0503020000020004" pitchFamily="50" charset="-127"/>
              </a:rPr>
              <a:t>●</a:t>
            </a:r>
          </a:p>
        </p:txBody>
      </p:sp>
      <p:sp>
        <p:nvSpPr>
          <p:cNvPr id="656" name="TextBox 655">
            <a:extLst>
              <a:ext uri="{FF2B5EF4-FFF2-40B4-BE49-F238E27FC236}">
                <a16:creationId xmlns="" xmlns:a16="http://schemas.microsoft.com/office/drawing/2014/main" id="{371DEE5A-1B36-43FA-89E6-F3BCF143BE9F}"/>
              </a:ext>
            </a:extLst>
          </p:cNvPr>
          <p:cNvSpPr txBox="1"/>
          <p:nvPr/>
        </p:nvSpPr>
        <p:spPr>
          <a:xfrm>
            <a:off x="6479078" y="4364834"/>
            <a:ext cx="252239" cy="180425"/>
          </a:xfrm>
          <a:prstGeom prst="rect">
            <a:avLst/>
          </a:prstGeom>
          <a:noFill/>
          <a:ln w="317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36000" tIns="36000" rIns="36000" bIns="36000" numCol="1" rtlCol="0" anchor="ctr" anchorCtr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ko-KR" altLang="en-US" sz="70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전체</a:t>
            </a:r>
          </a:p>
        </p:txBody>
      </p:sp>
      <p:sp>
        <p:nvSpPr>
          <p:cNvPr id="629" name="사각형: 둥근 모서리 393">
            <a:extLst>
              <a:ext uri="{FF2B5EF4-FFF2-40B4-BE49-F238E27FC236}">
                <a16:creationId xmlns="" xmlns:a16="http://schemas.microsoft.com/office/drawing/2014/main" id="{290E9852-4338-4EEA-B9C3-64E5DDED0B7A}"/>
              </a:ext>
            </a:extLst>
          </p:cNvPr>
          <p:cNvSpPr/>
          <p:nvPr/>
        </p:nvSpPr>
        <p:spPr bwMode="auto">
          <a:xfrm>
            <a:off x="6803357" y="4094858"/>
            <a:ext cx="144000" cy="144000"/>
          </a:xfrm>
          <a:prstGeom prst="ellipse">
            <a:avLst/>
          </a:prstGeom>
          <a:solidFill>
            <a:schemeClr val="bg1"/>
          </a:solidFill>
          <a:ln w="3175" cap="flat" cmpd="sng" algn="ctr">
            <a:solidFill>
              <a:schemeClr val="bg1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>
            <a:innerShdw blurRad="12700" dist="12700" dir="13500000">
              <a:schemeClr val="tx1">
                <a:lumMod val="75000"/>
                <a:lumOff val="25000"/>
                <a:alpha val="30000"/>
              </a:schemeClr>
            </a:innerShdw>
          </a:effectLst>
        </p:spPr>
        <p:txBody>
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fontAlgn="base" latinLnBrk="0">
              <a:spcBef>
                <a:spcPct val="0"/>
              </a:spcBef>
              <a:spcAft>
                <a:spcPct val="0"/>
              </a:spcAft>
            </a:pPr>
            <a:endParaRPr kumimoji="1" lang="ko-KR" altLang="en-US" sz="800" b="1" kern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30" name="TextBox 629">
            <a:extLst>
              <a:ext uri="{FF2B5EF4-FFF2-40B4-BE49-F238E27FC236}">
                <a16:creationId xmlns="" xmlns:a16="http://schemas.microsoft.com/office/drawing/2014/main" id="{371DEE5A-1B36-43FA-89E6-F3BCF143BE9F}"/>
              </a:ext>
            </a:extLst>
          </p:cNvPr>
          <p:cNvSpPr txBox="1"/>
          <p:nvPr/>
        </p:nvSpPr>
        <p:spPr>
          <a:xfrm>
            <a:off x="6947357" y="4076645"/>
            <a:ext cx="123999" cy="180425"/>
          </a:xfrm>
          <a:prstGeom prst="rect">
            <a:avLst/>
          </a:prstGeom>
          <a:noFill/>
          <a:ln w="317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36000" tIns="36000" rIns="36000" bIns="36000" numCol="1" rtlCol="0" anchor="ctr" anchorCtr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altLang="ko-KR" sz="70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Y</a:t>
            </a:r>
            <a:endParaRPr lang="ko-KR" altLang="en-US" sz="70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</p:txBody>
      </p:sp>
      <p:sp>
        <p:nvSpPr>
          <p:cNvPr id="658" name="사각형: 둥근 모서리 393">
            <a:extLst>
              <a:ext uri="{FF2B5EF4-FFF2-40B4-BE49-F238E27FC236}">
                <a16:creationId xmlns="" xmlns:a16="http://schemas.microsoft.com/office/drawing/2014/main" id="{290E9852-4338-4EEA-B9C3-64E5DDED0B7A}"/>
              </a:ext>
            </a:extLst>
          </p:cNvPr>
          <p:cNvSpPr/>
          <p:nvPr/>
        </p:nvSpPr>
        <p:spPr bwMode="auto">
          <a:xfrm>
            <a:off x="6803357" y="4383047"/>
            <a:ext cx="144000" cy="144000"/>
          </a:xfrm>
          <a:prstGeom prst="ellipse">
            <a:avLst/>
          </a:prstGeom>
          <a:solidFill>
            <a:schemeClr val="bg1"/>
          </a:solidFill>
          <a:ln w="3175" cap="flat" cmpd="sng" algn="ctr">
            <a:solidFill>
              <a:schemeClr val="bg1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>
            <a:innerShdw blurRad="12700" dist="12700" dir="13500000">
              <a:schemeClr val="tx1">
                <a:lumMod val="75000"/>
                <a:lumOff val="25000"/>
                <a:alpha val="30000"/>
              </a:schemeClr>
            </a:innerShdw>
          </a:effectLst>
        </p:spPr>
        <p:txBody>
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fontAlgn="base" latinLnBrk="0">
              <a:spcBef>
                <a:spcPct val="0"/>
              </a:spcBef>
              <a:spcAft>
                <a:spcPct val="0"/>
              </a:spcAft>
            </a:pPr>
            <a:endParaRPr kumimoji="1" lang="ko-KR" altLang="en-US" sz="800" b="1" kern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59" name="TextBox 658">
            <a:extLst>
              <a:ext uri="{FF2B5EF4-FFF2-40B4-BE49-F238E27FC236}">
                <a16:creationId xmlns="" xmlns:a16="http://schemas.microsoft.com/office/drawing/2014/main" id="{371DEE5A-1B36-43FA-89E6-F3BCF143BE9F}"/>
              </a:ext>
            </a:extLst>
          </p:cNvPr>
          <p:cNvSpPr txBox="1"/>
          <p:nvPr/>
        </p:nvSpPr>
        <p:spPr>
          <a:xfrm>
            <a:off x="6947357" y="4364834"/>
            <a:ext cx="123999" cy="180425"/>
          </a:xfrm>
          <a:prstGeom prst="rect">
            <a:avLst/>
          </a:prstGeom>
          <a:noFill/>
          <a:ln w="317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36000" tIns="36000" rIns="36000" bIns="36000" numCol="1" rtlCol="0" anchor="ctr" anchorCtr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altLang="ko-KR" sz="70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Y</a:t>
            </a:r>
            <a:endParaRPr lang="ko-KR" altLang="en-US" sz="70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</p:txBody>
      </p:sp>
      <p:sp>
        <p:nvSpPr>
          <p:cNvPr id="669" name="직사각형 668">
            <a:extLst>
              <a:ext uri="{FF2B5EF4-FFF2-40B4-BE49-F238E27FC236}">
                <a16:creationId xmlns="" xmlns:a16="http://schemas.microsoft.com/office/drawing/2014/main" id="{C3CBC899-E192-4597-B3EF-23483E494D33}"/>
              </a:ext>
            </a:extLst>
          </p:cNvPr>
          <p:cNvSpPr/>
          <p:nvPr/>
        </p:nvSpPr>
        <p:spPr>
          <a:xfrm>
            <a:off x="1367906" y="4599233"/>
            <a:ext cx="900000" cy="288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36000" rIns="108000" bIns="36000" rtlCol="0" anchor="ctr"/>
          <a:lstStyle/>
          <a:p>
            <a:r>
              <a:rPr lang="ko-KR" altLang="en-US" sz="7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배송실적자동화</a:t>
            </a:r>
            <a:endParaRPr lang="ko-KR" altLang="en-US" sz="7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70" name="직사각형 669">
            <a:extLst>
              <a:ext uri="{FF2B5EF4-FFF2-40B4-BE49-F238E27FC236}">
                <a16:creationId xmlns="" xmlns:a16="http://schemas.microsoft.com/office/drawing/2014/main" id="{C3CBC899-E192-4597-B3EF-23483E494D33}"/>
              </a:ext>
            </a:extLst>
          </p:cNvPr>
          <p:cNvSpPr/>
          <p:nvPr/>
        </p:nvSpPr>
        <p:spPr>
          <a:xfrm>
            <a:off x="5363078" y="4599233"/>
            <a:ext cx="900000" cy="288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36000" rIns="108000" bIns="36000" rtlCol="0" anchor="ctr"/>
          <a:lstStyle/>
          <a:p>
            <a:r>
              <a:rPr lang="ko-KR" altLang="en-US" sz="7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도착리드타임</a:t>
            </a:r>
            <a:endParaRPr lang="ko-KR" altLang="en-US" sz="7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71" name="직사각형 670">
            <a:extLst>
              <a:ext uri="{FF2B5EF4-FFF2-40B4-BE49-F238E27FC236}">
                <a16:creationId xmlns="" xmlns:a16="http://schemas.microsoft.com/office/drawing/2014/main" id="{C8E8B8B5-F2A9-4F2D-8F41-E83BE71E8F5A}"/>
              </a:ext>
            </a:extLst>
          </p:cNvPr>
          <p:cNvSpPr/>
          <p:nvPr/>
        </p:nvSpPr>
        <p:spPr>
          <a:xfrm>
            <a:off x="6263283" y="4599233"/>
            <a:ext cx="3096623" cy="288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36000" rIns="108000" bIns="36000" rtlCol="0" anchor="ctr"/>
          <a:lstStyle/>
          <a:p>
            <a:endParaRPr lang="ko-KR" altLang="en-US" sz="80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72" name="직사각형 671">
            <a:extLst>
              <a:ext uri="{FF2B5EF4-FFF2-40B4-BE49-F238E27FC236}">
                <a16:creationId xmlns="" xmlns:a16="http://schemas.microsoft.com/office/drawing/2014/main" id="{C8E8B8B5-F2A9-4F2D-8F41-E83BE71E8F5A}"/>
              </a:ext>
            </a:extLst>
          </p:cNvPr>
          <p:cNvSpPr/>
          <p:nvPr/>
        </p:nvSpPr>
        <p:spPr>
          <a:xfrm>
            <a:off x="2267769" y="4599233"/>
            <a:ext cx="3094342" cy="288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36000" rIns="108000" bIns="36000" rtlCol="0" anchor="ctr"/>
          <a:lstStyle/>
          <a:p>
            <a:endParaRPr lang="ko-KR" altLang="en-US" sz="80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673" name="직선 연결선 672">
            <a:extLst>
              <a:ext uri="{FF2B5EF4-FFF2-40B4-BE49-F238E27FC236}">
                <a16:creationId xmlns="" xmlns:a16="http://schemas.microsoft.com/office/drawing/2014/main" id="{B5201B55-6C75-4C21-B4D8-E575C02D8E94}"/>
              </a:ext>
            </a:extLst>
          </p:cNvPr>
          <p:cNvCxnSpPr>
            <a:cxnSpLocks/>
          </p:cNvCxnSpPr>
          <p:nvPr/>
        </p:nvCxnSpPr>
        <p:spPr>
          <a:xfrm>
            <a:off x="1366455" y="4887233"/>
            <a:ext cx="7992000" cy="0"/>
          </a:xfrm>
          <a:prstGeom prst="line">
            <a:avLst/>
          </a:prstGeom>
          <a:ln w="63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7" name="모서리가 둥근 직사각형 184">
            <a:extLst>
              <a:ext uri="{FF2B5EF4-FFF2-40B4-BE49-F238E27FC236}">
                <a16:creationId xmlns="" xmlns:a16="http://schemas.microsoft.com/office/drawing/2014/main" id="{7C4181B1-00DE-4B1A-9AF4-36726F2433BA}"/>
              </a:ext>
            </a:extLst>
          </p:cNvPr>
          <p:cNvSpPr/>
          <p:nvPr/>
        </p:nvSpPr>
        <p:spPr bwMode="auto">
          <a:xfrm>
            <a:off x="6336805" y="4653233"/>
            <a:ext cx="720000" cy="180000"/>
          </a:xfrm>
          <a:prstGeom prst="roundRect">
            <a:avLst/>
          </a:prstGeom>
          <a:solidFill>
            <a:srgbClr val="FFFFEF"/>
          </a:solidFill>
          <a:ln w="3175" cap="flat" cmpd="sng" algn="ctr">
            <a:solidFill>
              <a:schemeClr val="bg1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none" lIns="108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defTabSz="914400" fontAlgn="base" latinLnBrk="0">
              <a:spcBef>
                <a:spcPct val="0"/>
              </a:spcBef>
              <a:spcAft>
                <a:spcPct val="0"/>
              </a:spcAft>
            </a:pPr>
            <a:endParaRPr kumimoji="1" lang="ko-KR" altLang="en-US" sz="700" b="0" i="0" u="none" strike="noStrike" kern="0" cap="none" spc="0" normalizeH="0" baseline="0" noProof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78" name="TextBox 677">
            <a:extLst>
              <a:ext uri="{FF2B5EF4-FFF2-40B4-BE49-F238E27FC236}">
                <a16:creationId xmlns="" xmlns:a16="http://schemas.microsoft.com/office/drawing/2014/main" id="{371DEE5A-1B36-43FA-89E6-F3BCF143BE9F}"/>
              </a:ext>
            </a:extLst>
          </p:cNvPr>
          <p:cNvSpPr txBox="1"/>
          <p:nvPr/>
        </p:nvSpPr>
        <p:spPr>
          <a:xfrm>
            <a:off x="7056805" y="4653021"/>
            <a:ext cx="235174" cy="180425"/>
          </a:xfrm>
          <a:prstGeom prst="rect">
            <a:avLst/>
          </a:prstGeom>
          <a:noFill/>
          <a:ln w="317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108000" tIns="36000" rIns="36000" bIns="36000" numCol="1" rtlCol="0" anchor="ctr" anchorCtr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ko-KR" altLang="en-US" sz="70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일</a:t>
            </a:r>
          </a:p>
        </p:txBody>
      </p:sp>
      <p:sp>
        <p:nvSpPr>
          <p:cNvPr id="679" name="TextBox 678">
            <a:extLst>
              <a:ext uri="{FF2B5EF4-FFF2-40B4-BE49-F238E27FC236}">
                <a16:creationId xmlns="" xmlns:a16="http://schemas.microsoft.com/office/drawing/2014/main" id="{BEF44E57-E280-4345-9063-E951A919EA82}"/>
              </a:ext>
            </a:extLst>
          </p:cNvPr>
          <p:cNvSpPr txBox="1"/>
          <p:nvPr/>
        </p:nvSpPr>
        <p:spPr>
          <a:xfrm>
            <a:off x="7293884" y="4653021"/>
            <a:ext cx="135221" cy="180425"/>
          </a:xfrm>
          <a:prstGeom prst="rect">
            <a:avLst/>
          </a:prstGeom>
          <a:solidFill>
            <a:schemeClr val="bg1">
              <a:alpha val="10000"/>
            </a:schemeClr>
          </a:solidFill>
          <a:ln w="317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36000" tIns="36000" rIns="36000" bIns="36000" numCol="1" rtlCol="0" anchor="ctr" anchorCtr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altLang="ko-KR" sz="70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~</a:t>
            </a:r>
            <a:endParaRPr lang="ko-KR" altLang="en-US" sz="70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</p:txBody>
      </p:sp>
      <p:sp>
        <p:nvSpPr>
          <p:cNvPr id="680" name="모서리가 둥근 직사각형 184">
            <a:extLst>
              <a:ext uri="{FF2B5EF4-FFF2-40B4-BE49-F238E27FC236}">
                <a16:creationId xmlns="" xmlns:a16="http://schemas.microsoft.com/office/drawing/2014/main" id="{7C4181B1-00DE-4B1A-9AF4-36726F2433BA}"/>
              </a:ext>
            </a:extLst>
          </p:cNvPr>
          <p:cNvSpPr/>
          <p:nvPr/>
        </p:nvSpPr>
        <p:spPr bwMode="auto">
          <a:xfrm>
            <a:off x="7429105" y="4653233"/>
            <a:ext cx="720000" cy="180000"/>
          </a:xfrm>
          <a:prstGeom prst="roundRect">
            <a:avLst/>
          </a:prstGeom>
          <a:solidFill>
            <a:srgbClr val="FFFFEF"/>
          </a:solidFill>
          <a:ln w="3175" cap="flat" cmpd="sng" algn="ctr">
            <a:solidFill>
              <a:schemeClr val="bg1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none" lIns="108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defTabSz="914400" fontAlgn="base" latinLnBrk="0">
              <a:spcBef>
                <a:spcPct val="0"/>
              </a:spcBef>
              <a:spcAft>
                <a:spcPct val="0"/>
              </a:spcAft>
            </a:pPr>
            <a:endParaRPr kumimoji="1" lang="ko-KR" altLang="en-US" sz="700" b="0" i="0" u="none" strike="noStrike" kern="0" cap="none" spc="0" normalizeH="0" baseline="0" noProof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81" name="TextBox 680">
            <a:extLst>
              <a:ext uri="{FF2B5EF4-FFF2-40B4-BE49-F238E27FC236}">
                <a16:creationId xmlns="" xmlns:a16="http://schemas.microsoft.com/office/drawing/2014/main" id="{371DEE5A-1B36-43FA-89E6-F3BCF143BE9F}"/>
              </a:ext>
            </a:extLst>
          </p:cNvPr>
          <p:cNvSpPr txBox="1"/>
          <p:nvPr/>
        </p:nvSpPr>
        <p:spPr>
          <a:xfrm>
            <a:off x="8149105" y="4653021"/>
            <a:ext cx="235174" cy="180425"/>
          </a:xfrm>
          <a:prstGeom prst="rect">
            <a:avLst/>
          </a:prstGeom>
          <a:noFill/>
          <a:ln w="317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108000" tIns="36000" rIns="36000" bIns="36000" numCol="1" rtlCol="0" anchor="ctr" anchorCtr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ko-KR" altLang="en-US" sz="70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일</a:t>
            </a:r>
          </a:p>
        </p:txBody>
      </p:sp>
      <p:sp>
        <p:nvSpPr>
          <p:cNvPr id="682" name="TextBox 681">
            <a:extLst>
              <a:ext uri="{FF2B5EF4-FFF2-40B4-BE49-F238E27FC236}">
                <a16:creationId xmlns="" xmlns:a16="http://schemas.microsoft.com/office/drawing/2014/main" id="{116334FC-EA39-45F8-9823-C272781057F2}"/>
              </a:ext>
            </a:extLst>
          </p:cNvPr>
          <p:cNvSpPr txBox="1"/>
          <p:nvPr/>
        </p:nvSpPr>
        <p:spPr>
          <a:xfrm>
            <a:off x="1367906" y="5442546"/>
            <a:ext cx="1125409" cy="180425"/>
          </a:xfrm>
          <a:prstGeom prst="rect">
            <a:avLst/>
          </a:prstGeom>
          <a:noFill/>
          <a:ln w="317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108000" tIns="36000" rIns="108000" bIns="36000" numCol="1" rtlCol="0" anchor="ctr" anchorCtr="0" compatLnSpc="1">
            <a:prstTxWarp prst="textNoShape">
              <a:avLst/>
            </a:prstTxWarp>
            <a:spAutoFit/>
          </a:bodyPr>
          <a:lstStyle/>
          <a:p>
            <a:r>
              <a:rPr lang="ko-KR" altLang="en-US" sz="7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상품목록 </a:t>
            </a:r>
            <a:r>
              <a:rPr lang="en-US" altLang="ko-KR" sz="70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(</a:t>
            </a:r>
            <a:r>
              <a:rPr lang="ko-KR" altLang="en-US" sz="70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총 </a:t>
            </a:r>
            <a:r>
              <a:rPr lang="en-US" altLang="ko-KR" sz="700">
                <a:solidFill>
                  <a:schemeClr val="accent2"/>
                </a:solidFill>
                <a:latin typeface="+mn-ea"/>
              </a:rPr>
              <a:t>1,234</a:t>
            </a:r>
            <a:r>
              <a:rPr lang="ko-KR" altLang="en-US" sz="70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건</a:t>
            </a:r>
            <a:r>
              <a:rPr lang="en-US" altLang="ko-KR" sz="70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)</a:t>
            </a:r>
            <a:endParaRPr lang="ko-KR" altLang="en-US" sz="70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</p:txBody>
      </p:sp>
      <p:grpSp>
        <p:nvGrpSpPr>
          <p:cNvPr id="684" name="그룹 683"/>
          <p:cNvGrpSpPr/>
          <p:nvPr/>
        </p:nvGrpSpPr>
        <p:grpSpPr>
          <a:xfrm>
            <a:off x="8855906" y="5029950"/>
            <a:ext cx="504000" cy="216000"/>
            <a:chOff x="1367906" y="3586031"/>
            <a:chExt cx="504000" cy="216000"/>
          </a:xfrm>
        </p:grpSpPr>
        <p:grpSp>
          <p:nvGrpSpPr>
            <p:cNvPr id="727" name="그룹 726"/>
            <p:cNvGrpSpPr/>
            <p:nvPr/>
          </p:nvGrpSpPr>
          <p:grpSpPr>
            <a:xfrm>
              <a:off x="1655906" y="3586031"/>
              <a:ext cx="216000" cy="216000"/>
              <a:chOff x="2096446" y="3586031"/>
              <a:chExt cx="216000" cy="216000"/>
            </a:xfrm>
          </p:grpSpPr>
          <p:sp>
            <p:nvSpPr>
              <p:cNvPr id="731" name="사각형: 둥근 모서리 368">
                <a:extLst>
                  <a:ext uri="{FF2B5EF4-FFF2-40B4-BE49-F238E27FC236}">
                    <a16:creationId xmlns="" xmlns:a16="http://schemas.microsoft.com/office/drawing/2014/main" id="{69DF4169-9711-4CBB-BBC0-35A1DA411BF3}"/>
                  </a:ext>
                </a:extLst>
              </p:cNvPr>
              <p:cNvSpPr/>
              <p:nvPr/>
            </p:nvSpPr>
            <p:spPr bwMode="auto">
              <a:xfrm>
                <a:off x="2096446" y="3586031"/>
                <a:ext cx="216000" cy="216000"/>
              </a:xfrm>
              <a:prstGeom prst="roundRect">
                <a:avLst/>
              </a:prstGeom>
              <a:solidFill>
                <a:schemeClr val="bg1">
                  <a:lumMod val="95000"/>
                </a:schemeClr>
              </a:solidFill>
              <a:ln w="3175" cap="flat" cmpd="sng" algn="ctr">
                <a:solidFill>
                  <a:schemeClr val="bg1">
                    <a:lumMod val="7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>
                <a:outerShdw blurRad="12700" dist="12700" dir="2700000" algn="tl" rotWithShape="0">
                  <a:schemeClr val="tx1">
                    <a:lumMod val="75000"/>
                    <a:lumOff val="25000"/>
                    <a:alpha val="30000"/>
                  </a:schemeClr>
                </a:outerShdw>
              </a:effectLst>
            </p:spPr>
            <p:txBody>
              <a:bodyPr rot="0" spcFirstLastPara="0" vertOverflow="overflow" horzOverflow="overflow" vert="horz" wrap="none" lIns="180000" tIns="45720" rIns="3600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indent="0" algn="ctr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1" lang="ko-KR" altLang="en-US" sz="700" i="0" u="none" strike="noStrike" kern="0" cap="none" spc="0" normalizeH="0" baseline="0" noProof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latin typeface="+mn-ea"/>
                </a:endParaRPr>
              </a:p>
            </p:txBody>
          </p:sp>
          <p:sp>
            <p:nvSpPr>
              <p:cNvPr id="732" name="Reload">
                <a:extLst>
                  <a:ext uri="{FF2B5EF4-FFF2-40B4-BE49-F238E27FC236}">
                    <a16:creationId xmlns="" xmlns:a16="http://schemas.microsoft.com/office/drawing/2014/main" id="{639C9F0C-EF86-4670-8665-513669F8444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2151166" y="3640031"/>
                <a:ext cx="106560" cy="108000"/>
              </a:xfrm>
              <a:custGeom>
                <a:avLst/>
                <a:gdLst>
                  <a:gd name="T0" fmla="*/ 440 w 480"/>
                  <a:gd name="T1" fmla="*/ 0 h 494"/>
                  <a:gd name="T2" fmla="*/ 427 w 480"/>
                  <a:gd name="T3" fmla="*/ 14 h 494"/>
                  <a:gd name="T4" fmla="*/ 427 w 480"/>
                  <a:gd name="T5" fmla="*/ 103 h 494"/>
                  <a:gd name="T6" fmla="*/ 418 w 480"/>
                  <a:gd name="T7" fmla="*/ 93 h 494"/>
                  <a:gd name="T8" fmla="*/ 418 w 480"/>
                  <a:gd name="T9" fmla="*/ 93 h 494"/>
                  <a:gd name="T10" fmla="*/ 240 w 480"/>
                  <a:gd name="T11" fmla="*/ 14 h 494"/>
                  <a:gd name="T12" fmla="*/ 0 w 480"/>
                  <a:gd name="T13" fmla="*/ 254 h 494"/>
                  <a:gd name="T14" fmla="*/ 240 w 480"/>
                  <a:gd name="T15" fmla="*/ 494 h 494"/>
                  <a:gd name="T16" fmla="*/ 480 w 480"/>
                  <a:gd name="T17" fmla="*/ 254 h 494"/>
                  <a:gd name="T18" fmla="*/ 453 w 480"/>
                  <a:gd name="T19" fmla="*/ 254 h 494"/>
                  <a:gd name="T20" fmla="*/ 240 w 480"/>
                  <a:gd name="T21" fmla="*/ 467 h 494"/>
                  <a:gd name="T22" fmla="*/ 27 w 480"/>
                  <a:gd name="T23" fmla="*/ 254 h 494"/>
                  <a:gd name="T24" fmla="*/ 240 w 480"/>
                  <a:gd name="T25" fmla="*/ 41 h 494"/>
                  <a:gd name="T26" fmla="*/ 398 w 480"/>
                  <a:gd name="T27" fmla="*/ 111 h 494"/>
                  <a:gd name="T28" fmla="*/ 406 w 480"/>
                  <a:gd name="T29" fmla="*/ 121 h 494"/>
                  <a:gd name="T30" fmla="*/ 320 w 480"/>
                  <a:gd name="T31" fmla="*/ 121 h 494"/>
                  <a:gd name="T32" fmla="*/ 320 w 480"/>
                  <a:gd name="T33" fmla="*/ 147 h 494"/>
                  <a:gd name="T34" fmla="*/ 453 w 480"/>
                  <a:gd name="T35" fmla="*/ 147 h 494"/>
                  <a:gd name="T36" fmla="*/ 453 w 480"/>
                  <a:gd name="T37" fmla="*/ 14 h 494"/>
                  <a:gd name="T38" fmla="*/ 440 w 480"/>
                  <a:gd name="T39" fmla="*/ 0 h 4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480" h="494">
                    <a:moveTo>
                      <a:pt x="440" y="0"/>
                    </a:moveTo>
                    <a:cubicBezTo>
                      <a:pt x="432" y="0"/>
                      <a:pt x="427" y="7"/>
                      <a:pt x="427" y="14"/>
                    </a:cubicBezTo>
                    <a:lnTo>
                      <a:pt x="427" y="103"/>
                    </a:lnTo>
                    <a:cubicBezTo>
                      <a:pt x="424" y="100"/>
                      <a:pt x="421" y="96"/>
                      <a:pt x="418" y="93"/>
                    </a:cubicBezTo>
                    <a:lnTo>
                      <a:pt x="418" y="93"/>
                    </a:lnTo>
                    <a:cubicBezTo>
                      <a:pt x="374" y="45"/>
                      <a:pt x="311" y="14"/>
                      <a:pt x="240" y="14"/>
                    </a:cubicBezTo>
                    <a:cubicBezTo>
                      <a:pt x="108" y="14"/>
                      <a:pt x="0" y="122"/>
                      <a:pt x="0" y="254"/>
                    </a:cubicBezTo>
                    <a:cubicBezTo>
                      <a:pt x="0" y="386"/>
                      <a:pt x="108" y="494"/>
                      <a:pt x="240" y="494"/>
                    </a:cubicBezTo>
                    <a:cubicBezTo>
                      <a:pt x="372" y="494"/>
                      <a:pt x="480" y="386"/>
                      <a:pt x="480" y="254"/>
                    </a:cubicBezTo>
                    <a:cubicBezTo>
                      <a:pt x="480" y="236"/>
                      <a:pt x="453" y="236"/>
                      <a:pt x="453" y="254"/>
                    </a:cubicBezTo>
                    <a:cubicBezTo>
                      <a:pt x="453" y="372"/>
                      <a:pt x="358" y="467"/>
                      <a:pt x="240" y="467"/>
                    </a:cubicBezTo>
                    <a:cubicBezTo>
                      <a:pt x="122" y="467"/>
                      <a:pt x="27" y="372"/>
                      <a:pt x="27" y="254"/>
                    </a:cubicBezTo>
                    <a:cubicBezTo>
                      <a:pt x="27" y="136"/>
                      <a:pt x="122" y="41"/>
                      <a:pt x="240" y="41"/>
                    </a:cubicBezTo>
                    <a:cubicBezTo>
                      <a:pt x="303" y="41"/>
                      <a:pt x="359" y="68"/>
                      <a:pt x="398" y="111"/>
                    </a:cubicBezTo>
                    <a:cubicBezTo>
                      <a:pt x="401" y="114"/>
                      <a:pt x="404" y="117"/>
                      <a:pt x="406" y="121"/>
                    </a:cubicBezTo>
                    <a:lnTo>
                      <a:pt x="320" y="121"/>
                    </a:lnTo>
                    <a:cubicBezTo>
                      <a:pt x="302" y="120"/>
                      <a:pt x="302" y="148"/>
                      <a:pt x="320" y="147"/>
                    </a:cubicBezTo>
                    <a:lnTo>
                      <a:pt x="453" y="147"/>
                    </a:lnTo>
                    <a:lnTo>
                      <a:pt x="453" y="14"/>
                    </a:lnTo>
                    <a:cubicBezTo>
                      <a:pt x="453" y="6"/>
                      <a:pt x="447" y="0"/>
                      <a:pt x="440" y="0"/>
                    </a:cubicBezTo>
                    <a:close/>
                  </a:path>
                </a:pathLst>
              </a:custGeom>
              <a:solidFill>
                <a:srgbClr val="5F5F5F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sz="900"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p:grpSp>
        <p:grpSp>
          <p:nvGrpSpPr>
            <p:cNvPr id="728" name="그룹 727"/>
            <p:cNvGrpSpPr/>
            <p:nvPr/>
          </p:nvGrpSpPr>
          <p:grpSpPr>
            <a:xfrm>
              <a:off x="1367906" y="3586031"/>
              <a:ext cx="216000" cy="216000"/>
              <a:chOff x="1367906" y="3586031"/>
              <a:chExt cx="216000" cy="216000"/>
            </a:xfrm>
          </p:grpSpPr>
          <p:sp>
            <p:nvSpPr>
              <p:cNvPr id="729" name="사각형: 둥근 모서리 368">
                <a:extLst>
                  <a:ext uri="{FF2B5EF4-FFF2-40B4-BE49-F238E27FC236}">
                    <a16:creationId xmlns="" xmlns:a16="http://schemas.microsoft.com/office/drawing/2014/main" id="{69DF4169-9711-4CBB-BBC0-35A1DA411BF3}"/>
                  </a:ext>
                </a:extLst>
              </p:cNvPr>
              <p:cNvSpPr/>
              <p:nvPr/>
            </p:nvSpPr>
            <p:spPr bwMode="auto">
              <a:xfrm>
                <a:off x="1367906" y="3586031"/>
                <a:ext cx="216000" cy="216000"/>
              </a:xfrm>
              <a:prstGeom prst="roundRect">
                <a:avLst/>
              </a:prstGeom>
              <a:solidFill>
                <a:schemeClr val="bg1">
                  <a:lumMod val="95000"/>
                </a:schemeClr>
              </a:solidFill>
              <a:ln w="3175" cap="flat" cmpd="sng" algn="ctr">
                <a:solidFill>
                  <a:schemeClr val="bg1">
                    <a:lumMod val="7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>
                <a:outerShdw blurRad="12700" dist="12700" dir="2700000" algn="tl" rotWithShape="0">
                  <a:schemeClr val="tx1">
                    <a:lumMod val="75000"/>
                    <a:lumOff val="25000"/>
                    <a:alpha val="30000"/>
                  </a:schemeClr>
                </a:outerShdw>
              </a:effectLst>
            </p:spPr>
            <p:txBody>
              <a:bodyPr rot="0" spcFirstLastPara="0" vertOverflow="overflow" horzOverflow="overflow" vert="horz" wrap="none" lIns="180000" tIns="45720" rIns="3600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indent="0" algn="ctr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1" lang="ko-KR" altLang="en-US" sz="700" i="0" u="none" strike="noStrike" kern="0" cap="none" spc="0" normalizeH="0" baseline="0" noProof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latin typeface="+mn-ea"/>
                </a:endParaRPr>
              </a:p>
            </p:txBody>
          </p:sp>
          <p:sp>
            <p:nvSpPr>
              <p:cNvPr id="730" name="Download"/>
              <p:cNvSpPr>
                <a:spLocks noChangeAspect="1" noEditPoints="1"/>
              </p:cNvSpPr>
              <p:nvPr/>
            </p:nvSpPr>
            <p:spPr bwMode="auto">
              <a:xfrm>
                <a:off x="1436342" y="3640031"/>
                <a:ext cx="79128" cy="108000"/>
              </a:xfrm>
              <a:custGeom>
                <a:avLst/>
                <a:gdLst>
                  <a:gd name="T0" fmla="*/ 239 w 480"/>
                  <a:gd name="T1" fmla="*/ 1 h 655"/>
                  <a:gd name="T2" fmla="*/ 227 w 480"/>
                  <a:gd name="T3" fmla="*/ 15 h 655"/>
                  <a:gd name="T4" fmla="*/ 227 w 480"/>
                  <a:gd name="T5" fmla="*/ 422 h 655"/>
                  <a:gd name="T6" fmla="*/ 143 w 480"/>
                  <a:gd name="T7" fmla="*/ 339 h 655"/>
                  <a:gd name="T8" fmla="*/ 131 w 480"/>
                  <a:gd name="T9" fmla="*/ 335 h 655"/>
                  <a:gd name="T10" fmla="*/ 124 w 480"/>
                  <a:gd name="T11" fmla="*/ 358 h 655"/>
                  <a:gd name="T12" fmla="*/ 240 w 480"/>
                  <a:gd name="T13" fmla="*/ 474 h 655"/>
                  <a:gd name="T14" fmla="*/ 356 w 480"/>
                  <a:gd name="T15" fmla="*/ 358 h 655"/>
                  <a:gd name="T16" fmla="*/ 356 w 480"/>
                  <a:gd name="T17" fmla="*/ 339 h 655"/>
                  <a:gd name="T18" fmla="*/ 337 w 480"/>
                  <a:gd name="T19" fmla="*/ 339 h 655"/>
                  <a:gd name="T20" fmla="*/ 254 w 480"/>
                  <a:gd name="T21" fmla="*/ 422 h 655"/>
                  <a:gd name="T22" fmla="*/ 254 w 480"/>
                  <a:gd name="T23" fmla="*/ 15 h 655"/>
                  <a:gd name="T24" fmla="*/ 239 w 480"/>
                  <a:gd name="T25" fmla="*/ 1 h 655"/>
                  <a:gd name="T26" fmla="*/ 0 w 480"/>
                  <a:gd name="T27" fmla="*/ 201 h 655"/>
                  <a:gd name="T28" fmla="*/ 0 w 480"/>
                  <a:gd name="T29" fmla="*/ 655 h 655"/>
                  <a:gd name="T30" fmla="*/ 480 w 480"/>
                  <a:gd name="T31" fmla="*/ 655 h 655"/>
                  <a:gd name="T32" fmla="*/ 480 w 480"/>
                  <a:gd name="T33" fmla="*/ 201 h 655"/>
                  <a:gd name="T34" fmla="*/ 347 w 480"/>
                  <a:gd name="T35" fmla="*/ 201 h 655"/>
                  <a:gd name="T36" fmla="*/ 333 w 480"/>
                  <a:gd name="T37" fmla="*/ 215 h 655"/>
                  <a:gd name="T38" fmla="*/ 347 w 480"/>
                  <a:gd name="T39" fmla="*/ 228 h 655"/>
                  <a:gd name="T40" fmla="*/ 454 w 480"/>
                  <a:gd name="T41" fmla="*/ 228 h 655"/>
                  <a:gd name="T42" fmla="*/ 454 w 480"/>
                  <a:gd name="T43" fmla="*/ 628 h 655"/>
                  <a:gd name="T44" fmla="*/ 27 w 480"/>
                  <a:gd name="T45" fmla="*/ 628 h 655"/>
                  <a:gd name="T46" fmla="*/ 27 w 480"/>
                  <a:gd name="T47" fmla="*/ 228 h 655"/>
                  <a:gd name="T48" fmla="*/ 134 w 480"/>
                  <a:gd name="T49" fmla="*/ 228 h 655"/>
                  <a:gd name="T50" fmla="*/ 147 w 480"/>
                  <a:gd name="T51" fmla="*/ 215 h 655"/>
                  <a:gd name="T52" fmla="*/ 134 w 480"/>
                  <a:gd name="T53" fmla="*/ 201 h 655"/>
                  <a:gd name="T54" fmla="*/ 0 w 480"/>
                  <a:gd name="T55" fmla="*/ 201 h 6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</a:cxnLst>
                <a:rect l="0" t="0" r="r" b="b"/>
                <a:pathLst>
                  <a:path w="480" h="655">
                    <a:moveTo>
                      <a:pt x="239" y="1"/>
                    </a:moveTo>
                    <a:cubicBezTo>
                      <a:pt x="231" y="2"/>
                      <a:pt x="227" y="5"/>
                      <a:pt x="227" y="15"/>
                    </a:cubicBezTo>
                    <a:lnTo>
                      <a:pt x="227" y="422"/>
                    </a:lnTo>
                    <a:lnTo>
                      <a:pt x="143" y="339"/>
                    </a:lnTo>
                    <a:cubicBezTo>
                      <a:pt x="140" y="335"/>
                      <a:pt x="135" y="334"/>
                      <a:pt x="131" y="335"/>
                    </a:cubicBezTo>
                    <a:cubicBezTo>
                      <a:pt x="121" y="337"/>
                      <a:pt x="117" y="351"/>
                      <a:pt x="124" y="358"/>
                    </a:cubicBezTo>
                    <a:cubicBezTo>
                      <a:pt x="163" y="396"/>
                      <a:pt x="201" y="436"/>
                      <a:pt x="240" y="474"/>
                    </a:cubicBezTo>
                    <a:cubicBezTo>
                      <a:pt x="279" y="435"/>
                      <a:pt x="318" y="396"/>
                      <a:pt x="356" y="358"/>
                    </a:cubicBezTo>
                    <a:cubicBezTo>
                      <a:pt x="361" y="353"/>
                      <a:pt x="361" y="344"/>
                      <a:pt x="356" y="339"/>
                    </a:cubicBezTo>
                    <a:cubicBezTo>
                      <a:pt x="351" y="334"/>
                      <a:pt x="342" y="334"/>
                      <a:pt x="337" y="339"/>
                    </a:cubicBezTo>
                    <a:lnTo>
                      <a:pt x="254" y="422"/>
                    </a:lnTo>
                    <a:lnTo>
                      <a:pt x="254" y="15"/>
                    </a:lnTo>
                    <a:cubicBezTo>
                      <a:pt x="254" y="7"/>
                      <a:pt x="246" y="0"/>
                      <a:pt x="239" y="1"/>
                    </a:cubicBezTo>
                    <a:close/>
                    <a:moveTo>
                      <a:pt x="0" y="201"/>
                    </a:moveTo>
                    <a:lnTo>
                      <a:pt x="0" y="655"/>
                    </a:lnTo>
                    <a:lnTo>
                      <a:pt x="480" y="655"/>
                    </a:lnTo>
                    <a:lnTo>
                      <a:pt x="480" y="201"/>
                    </a:lnTo>
                    <a:lnTo>
                      <a:pt x="347" y="201"/>
                    </a:lnTo>
                    <a:cubicBezTo>
                      <a:pt x="340" y="201"/>
                      <a:pt x="333" y="208"/>
                      <a:pt x="333" y="215"/>
                    </a:cubicBezTo>
                    <a:cubicBezTo>
                      <a:pt x="333" y="222"/>
                      <a:pt x="340" y="228"/>
                      <a:pt x="347" y="228"/>
                    </a:cubicBezTo>
                    <a:lnTo>
                      <a:pt x="454" y="228"/>
                    </a:lnTo>
                    <a:lnTo>
                      <a:pt x="454" y="628"/>
                    </a:lnTo>
                    <a:lnTo>
                      <a:pt x="27" y="628"/>
                    </a:lnTo>
                    <a:lnTo>
                      <a:pt x="27" y="228"/>
                    </a:lnTo>
                    <a:lnTo>
                      <a:pt x="134" y="228"/>
                    </a:lnTo>
                    <a:cubicBezTo>
                      <a:pt x="141" y="228"/>
                      <a:pt x="147" y="222"/>
                      <a:pt x="147" y="215"/>
                    </a:cubicBezTo>
                    <a:cubicBezTo>
                      <a:pt x="147" y="208"/>
                      <a:pt x="141" y="201"/>
                      <a:pt x="134" y="201"/>
                    </a:cubicBezTo>
                    <a:lnTo>
                      <a:pt x="0" y="201"/>
                    </a:lnTo>
                    <a:close/>
                  </a:path>
                </a:pathLst>
              </a:custGeom>
              <a:solidFill>
                <a:srgbClr val="5F5F5F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sz="900"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p:grpSp>
      </p:grpSp>
      <p:grpSp>
        <p:nvGrpSpPr>
          <p:cNvPr id="685" name="그룹 684"/>
          <p:cNvGrpSpPr/>
          <p:nvPr/>
        </p:nvGrpSpPr>
        <p:grpSpPr>
          <a:xfrm>
            <a:off x="4571183" y="5029950"/>
            <a:ext cx="1582545" cy="216000"/>
            <a:chOff x="4606976" y="5317589"/>
            <a:chExt cx="1582545" cy="216000"/>
          </a:xfrm>
        </p:grpSpPr>
        <p:sp>
          <p:nvSpPr>
            <p:cNvPr id="725" name="사각형: 둥근 모서리 370">
              <a:extLst>
                <a:ext uri="{FF2B5EF4-FFF2-40B4-BE49-F238E27FC236}">
                  <a16:creationId xmlns="" xmlns:a16="http://schemas.microsoft.com/office/drawing/2014/main" id="{40426C93-54F4-4D06-9E1D-260D2A45518E}"/>
                </a:ext>
              </a:extLst>
            </p:cNvPr>
            <p:cNvSpPr/>
            <p:nvPr/>
          </p:nvSpPr>
          <p:spPr bwMode="auto">
            <a:xfrm>
              <a:off x="5469521" y="5317589"/>
              <a:ext cx="720000" cy="216000"/>
            </a:xfrm>
            <a:prstGeom prst="roundRect">
              <a:avLst/>
            </a:prstGeom>
            <a:solidFill>
              <a:srgbClr val="C00000"/>
            </a:solidFill>
            <a:ln w="3175" cap="flat" cmpd="sng" algn="ctr">
              <a:solidFill>
                <a:schemeClr val="bg1">
                  <a:lumMod val="7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12700" dist="12700" dir="2700000" algn="tl" rotWithShape="0">
                <a:schemeClr val="tx1">
                  <a:lumMod val="75000"/>
                  <a:lumOff val="25000"/>
                  <a:alpha val="30000"/>
                </a:schemeClr>
              </a:outerShdw>
            </a:effectLst>
          </p:spPr>
          <p:txBody>
            <a:bodyPr rot="0" spcFirstLastPara="0" vertOverflow="overflow" horzOverflow="overflow" vert="horz" wrap="none" lIns="36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1" lang="ko-KR" altLang="en-US" sz="700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ea"/>
                </a:rPr>
                <a:t>조회</a:t>
              </a:r>
            </a:p>
          </p:txBody>
        </p:sp>
        <p:sp>
          <p:nvSpPr>
            <p:cNvPr id="726" name="사각형: 둥근 모서리 370">
              <a:extLst>
                <a:ext uri="{FF2B5EF4-FFF2-40B4-BE49-F238E27FC236}">
                  <a16:creationId xmlns="" xmlns:a16="http://schemas.microsoft.com/office/drawing/2014/main" id="{40426C93-54F4-4D06-9E1D-260D2A45518E}"/>
                </a:ext>
              </a:extLst>
            </p:cNvPr>
            <p:cNvSpPr/>
            <p:nvPr/>
          </p:nvSpPr>
          <p:spPr bwMode="auto">
            <a:xfrm>
              <a:off x="4606976" y="5317589"/>
              <a:ext cx="720000" cy="216000"/>
            </a:xfrm>
            <a:prstGeom prst="roundRect">
              <a:avLst/>
            </a:prstGeom>
            <a:solidFill>
              <a:schemeClr val="bg1"/>
            </a:solidFill>
            <a:ln w="3175" cap="flat" cmpd="sng" algn="ctr">
              <a:solidFill>
                <a:schemeClr val="bg1">
                  <a:lumMod val="7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12700" dist="12700" dir="2700000" algn="tl" rotWithShape="0">
                <a:schemeClr val="tx1">
                  <a:lumMod val="75000"/>
                  <a:lumOff val="25000"/>
                  <a:alpha val="30000"/>
                </a:schemeClr>
              </a:outerShdw>
            </a:effectLst>
          </p:spPr>
          <p:txBody>
            <a:bodyPr rot="0" spcFirstLastPara="0" vertOverflow="overflow" horzOverflow="overflow" vert="horz" wrap="none" lIns="36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1" lang="ko-KR" altLang="en-US" sz="700" i="0" u="none" strike="noStrike" kern="0" cap="none" spc="0" normalizeH="0" baseline="0" noProof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latin typeface="+mn-ea"/>
                </a:rPr>
                <a:t>엑셀조회</a:t>
              </a:r>
            </a:p>
          </p:txBody>
        </p:sp>
      </p:grpSp>
      <p:sp>
        <p:nvSpPr>
          <p:cNvPr id="683" name="직사각형 682">
            <a:extLst>
              <a:ext uri="{FF2B5EF4-FFF2-40B4-BE49-F238E27FC236}">
                <a16:creationId xmlns="" xmlns:a16="http://schemas.microsoft.com/office/drawing/2014/main" id="{4778C4A6-E116-4A27-97F3-5AB5EB72E738}"/>
              </a:ext>
            </a:extLst>
          </p:cNvPr>
          <p:cNvSpPr/>
          <p:nvPr/>
        </p:nvSpPr>
        <p:spPr>
          <a:xfrm>
            <a:off x="1367906" y="5678097"/>
            <a:ext cx="7992000" cy="28800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0000" tIns="36000" rIns="180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kumimoji="1" lang="ko-KR" altLang="en-US" sz="700" kern="0">
              <a:solidFill>
                <a:schemeClr val="bg1">
                  <a:lumMod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686" name="그룹 685">
            <a:extLst>
              <a:ext uri="{FF2B5EF4-FFF2-40B4-BE49-F238E27FC236}">
                <a16:creationId xmlns="" xmlns:a16="http://schemas.microsoft.com/office/drawing/2014/main" id="{A977A86B-CF46-4884-B332-B067BCAE0870}"/>
              </a:ext>
            </a:extLst>
          </p:cNvPr>
          <p:cNvGrpSpPr/>
          <p:nvPr/>
        </p:nvGrpSpPr>
        <p:grpSpPr>
          <a:xfrm>
            <a:off x="8785572" y="5732097"/>
            <a:ext cx="504000" cy="180000"/>
            <a:chOff x="2749822" y="4322696"/>
            <a:chExt cx="504000" cy="180000"/>
          </a:xfrm>
        </p:grpSpPr>
        <p:sp>
          <p:nvSpPr>
            <p:cNvPr id="723" name="모서리가 둥근 직사각형 240">
              <a:extLst>
                <a:ext uri="{FF2B5EF4-FFF2-40B4-BE49-F238E27FC236}">
                  <a16:creationId xmlns="" xmlns:a16="http://schemas.microsoft.com/office/drawing/2014/main" id="{1FEE6B18-FA7D-4DF7-9C80-FD39C9AD8EDC}"/>
                </a:ext>
              </a:extLst>
            </p:cNvPr>
            <p:cNvSpPr/>
            <p:nvPr/>
          </p:nvSpPr>
          <p:spPr bwMode="auto">
            <a:xfrm>
              <a:off x="2749822" y="4322696"/>
              <a:ext cx="504000" cy="180000"/>
            </a:xfrm>
            <a:prstGeom prst="roundRect">
              <a:avLst/>
            </a:prstGeom>
            <a:solidFill>
              <a:schemeClr val="bg1"/>
            </a:solidFill>
            <a:ln w="3175" cap="flat" cmpd="sng" algn="ctr">
              <a:solidFill>
                <a:schemeClr val="bg1">
                  <a:lumMod val="7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none" lIns="72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fontAlgn="base" latinLnBrk="0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ko-KR" sz="700" kern="0">
                  <a:solidFill>
                    <a:srgbClr val="000000"/>
                  </a:solidFill>
                  <a:latin typeface="+mn-ea"/>
                </a:rPr>
                <a:t>1/1</a:t>
              </a:r>
              <a:endParaRPr kumimoji="1" lang="ko-KR" altLang="en-US" sz="700" kern="0" dirty="0">
                <a:solidFill>
                  <a:srgbClr val="000000"/>
                </a:solidFill>
                <a:latin typeface="+mn-ea"/>
              </a:endParaRPr>
            </a:p>
          </p:txBody>
        </p:sp>
        <p:sp>
          <p:nvSpPr>
            <p:cNvPr id="724" name="모서리가 둥근 직사각형 241">
              <a:extLst>
                <a:ext uri="{FF2B5EF4-FFF2-40B4-BE49-F238E27FC236}">
                  <a16:creationId xmlns="" xmlns:a16="http://schemas.microsoft.com/office/drawing/2014/main" id="{E7A68BD9-AFD0-4F2A-8223-6CB9CD833C50}"/>
                </a:ext>
              </a:extLst>
            </p:cNvPr>
            <p:cNvSpPr/>
            <p:nvPr/>
          </p:nvSpPr>
          <p:spPr bwMode="auto">
            <a:xfrm>
              <a:off x="3073822" y="4322696"/>
              <a:ext cx="180000" cy="180000"/>
            </a:xfrm>
            <a:prstGeom prst="roundRect">
              <a:avLst/>
            </a:prstGeom>
            <a:solidFill>
              <a:schemeClr val="bg1"/>
            </a:solidFill>
            <a:ln w="3175" cap="flat" cmpd="sng" algn="ctr">
              <a:solidFill>
                <a:schemeClr val="bg1">
                  <a:lumMod val="7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none" lIns="36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fontAlgn="base" latinLnBrk="0">
                <a:spcBef>
                  <a:spcPct val="0"/>
                </a:spcBef>
                <a:spcAft>
                  <a:spcPct val="0"/>
                </a:spcAft>
              </a:pPr>
              <a:r>
                <a:rPr kumimoji="1" lang="ko-KR" altLang="en-US" sz="700" kern="0" dirty="0">
                  <a:solidFill>
                    <a:srgbClr val="000000"/>
                  </a:solidFill>
                  <a:latin typeface="+mn-ea"/>
                </a:rPr>
                <a:t>▼</a:t>
              </a:r>
            </a:p>
          </p:txBody>
        </p:sp>
      </p:grpSp>
      <p:sp>
        <p:nvSpPr>
          <p:cNvPr id="687" name="모서리가 둥근 직사각형 240">
            <a:extLst>
              <a:ext uri="{FF2B5EF4-FFF2-40B4-BE49-F238E27FC236}">
                <a16:creationId xmlns="" xmlns:a16="http://schemas.microsoft.com/office/drawing/2014/main" id="{1FEE6B18-FA7D-4DF7-9C80-FD39C9AD8EDC}"/>
              </a:ext>
            </a:extLst>
          </p:cNvPr>
          <p:cNvSpPr/>
          <p:nvPr/>
        </p:nvSpPr>
        <p:spPr bwMode="auto">
          <a:xfrm>
            <a:off x="8065572" y="5732097"/>
            <a:ext cx="648000" cy="180000"/>
          </a:xfrm>
          <a:prstGeom prst="roundRect">
            <a:avLst/>
          </a:prstGeom>
          <a:solidFill>
            <a:schemeClr val="tx1">
              <a:lumMod val="75000"/>
              <a:lumOff val="25000"/>
            </a:schemeClr>
          </a:solidFill>
          <a:ln w="317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non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fontAlgn="base" latinLnBrk="0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700" kern="0">
                <a:solidFill>
                  <a:schemeClr val="bg1"/>
                </a:solidFill>
                <a:latin typeface="+mn-ea"/>
              </a:rPr>
              <a:t>엑셀다운로드</a:t>
            </a:r>
            <a:endParaRPr kumimoji="1" lang="ko-KR" altLang="en-US" sz="700" kern="0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692" name="직사각형 691">
            <a:extLst>
              <a:ext uri="{FF2B5EF4-FFF2-40B4-BE49-F238E27FC236}">
                <a16:creationId xmlns="" xmlns:a16="http://schemas.microsoft.com/office/drawing/2014/main" id="{A9090594-210F-4E03-B821-432BBB0030E9}"/>
              </a:ext>
            </a:extLst>
          </p:cNvPr>
          <p:cNvSpPr/>
          <p:nvPr/>
        </p:nvSpPr>
        <p:spPr>
          <a:xfrm>
            <a:off x="2123906" y="5967618"/>
            <a:ext cx="720000" cy="2160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70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상품이미지 등록</a:t>
            </a:r>
          </a:p>
        </p:txBody>
      </p:sp>
      <p:sp>
        <p:nvSpPr>
          <p:cNvPr id="693" name="직사각형 692">
            <a:extLst>
              <a:ext uri="{FF2B5EF4-FFF2-40B4-BE49-F238E27FC236}">
                <a16:creationId xmlns="" xmlns:a16="http://schemas.microsoft.com/office/drawing/2014/main" id="{C2B96CB1-836B-48A8-AFA2-417DDACEDE0E}"/>
              </a:ext>
            </a:extLst>
          </p:cNvPr>
          <p:cNvSpPr/>
          <p:nvPr/>
        </p:nvSpPr>
        <p:spPr>
          <a:xfrm>
            <a:off x="2123906" y="6181723"/>
            <a:ext cx="720000" cy="216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700" u="sng" smtClean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[</a:t>
            </a:r>
            <a:r>
              <a:rPr lang="ko-KR" altLang="en-US" sz="700" u="sng" smtClean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상품이미지등록</a:t>
            </a:r>
            <a:r>
              <a:rPr lang="en-US" altLang="ko-KR" sz="700" u="sng" smtClean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]</a:t>
            </a:r>
            <a:endParaRPr lang="ko-KR" altLang="en-US" sz="700" u="sng">
              <a:solidFill>
                <a:srgbClr val="0070C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94" name="직사각형 693">
            <a:extLst>
              <a:ext uri="{FF2B5EF4-FFF2-40B4-BE49-F238E27FC236}">
                <a16:creationId xmlns="" xmlns:a16="http://schemas.microsoft.com/office/drawing/2014/main" id="{6C46722B-A1C8-40C5-9355-BEF50DEEB2FE}"/>
              </a:ext>
            </a:extLst>
          </p:cNvPr>
          <p:cNvSpPr/>
          <p:nvPr/>
        </p:nvSpPr>
        <p:spPr>
          <a:xfrm>
            <a:off x="2843906" y="5967618"/>
            <a:ext cx="540000" cy="2160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70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제품상세</a:t>
            </a:r>
          </a:p>
        </p:txBody>
      </p:sp>
      <p:sp>
        <p:nvSpPr>
          <p:cNvPr id="695" name="직사각형 694">
            <a:extLst>
              <a:ext uri="{FF2B5EF4-FFF2-40B4-BE49-F238E27FC236}">
                <a16:creationId xmlns="" xmlns:a16="http://schemas.microsoft.com/office/drawing/2014/main" id="{125A9445-0B2B-4F55-8AE2-07E57374FAAD}"/>
              </a:ext>
            </a:extLst>
          </p:cNvPr>
          <p:cNvSpPr/>
          <p:nvPr/>
        </p:nvSpPr>
        <p:spPr>
          <a:xfrm>
            <a:off x="2843906" y="6181723"/>
            <a:ext cx="540000" cy="216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700" u="sng" smtClean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[</a:t>
            </a:r>
            <a:r>
              <a:rPr lang="ko-KR" altLang="en-US" sz="700" u="sng" smtClean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제품생성</a:t>
            </a:r>
            <a:r>
              <a:rPr lang="en-US" altLang="ko-KR" sz="700" u="sng" smtClean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]</a:t>
            </a:r>
            <a:endParaRPr lang="ko-KR" altLang="en-US" sz="700" u="sng">
              <a:solidFill>
                <a:srgbClr val="0070C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96" name="직사각형 695">
            <a:extLst>
              <a:ext uri="{FF2B5EF4-FFF2-40B4-BE49-F238E27FC236}">
                <a16:creationId xmlns="" xmlns:a16="http://schemas.microsoft.com/office/drawing/2014/main" id="{A9090594-210F-4E03-B821-432BBB0030E9}"/>
              </a:ext>
            </a:extLst>
          </p:cNvPr>
          <p:cNvSpPr/>
          <p:nvPr/>
        </p:nvSpPr>
        <p:spPr>
          <a:xfrm>
            <a:off x="3383906" y="5967618"/>
            <a:ext cx="540000" cy="2160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70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AI </a:t>
            </a:r>
            <a:r>
              <a:rPr lang="ko-KR" altLang="en-US" sz="70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상품상세</a:t>
            </a:r>
          </a:p>
        </p:txBody>
      </p:sp>
      <p:sp>
        <p:nvSpPr>
          <p:cNvPr id="697" name="직사각형 696">
            <a:extLst>
              <a:ext uri="{FF2B5EF4-FFF2-40B4-BE49-F238E27FC236}">
                <a16:creationId xmlns="" xmlns:a16="http://schemas.microsoft.com/office/drawing/2014/main" id="{C2B96CB1-836B-48A8-AFA2-417DDACEDE0E}"/>
              </a:ext>
            </a:extLst>
          </p:cNvPr>
          <p:cNvSpPr/>
          <p:nvPr/>
        </p:nvSpPr>
        <p:spPr>
          <a:xfrm>
            <a:off x="3383906" y="6181723"/>
            <a:ext cx="540000" cy="216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700" u="sng" smtClean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Y</a:t>
            </a:r>
            <a:endParaRPr lang="ko-KR" altLang="en-US" sz="700" u="sng">
              <a:solidFill>
                <a:srgbClr val="0070C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98" name="직사각형 697">
            <a:extLst>
              <a:ext uri="{FF2B5EF4-FFF2-40B4-BE49-F238E27FC236}">
                <a16:creationId xmlns="" xmlns:a16="http://schemas.microsoft.com/office/drawing/2014/main" id="{A9090594-210F-4E03-B821-432BBB0030E9}"/>
              </a:ext>
            </a:extLst>
          </p:cNvPr>
          <p:cNvSpPr/>
          <p:nvPr/>
        </p:nvSpPr>
        <p:spPr>
          <a:xfrm>
            <a:off x="3923906" y="5967618"/>
            <a:ext cx="540000" cy="2160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70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기획랭킹</a:t>
            </a:r>
          </a:p>
        </p:txBody>
      </p:sp>
      <p:sp>
        <p:nvSpPr>
          <p:cNvPr id="699" name="직사각형 698">
            <a:extLst>
              <a:ext uri="{FF2B5EF4-FFF2-40B4-BE49-F238E27FC236}">
                <a16:creationId xmlns="" xmlns:a16="http://schemas.microsoft.com/office/drawing/2014/main" id="{C2B96CB1-836B-48A8-AFA2-417DDACEDE0E}"/>
              </a:ext>
            </a:extLst>
          </p:cNvPr>
          <p:cNvSpPr/>
          <p:nvPr/>
        </p:nvSpPr>
        <p:spPr>
          <a:xfrm>
            <a:off x="3923906" y="6181723"/>
            <a:ext cx="540000" cy="216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ko-KR" altLang="en-US" sz="70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00" name="직사각형 699">
            <a:extLst>
              <a:ext uri="{FF2B5EF4-FFF2-40B4-BE49-F238E27FC236}">
                <a16:creationId xmlns="" xmlns:a16="http://schemas.microsoft.com/office/drawing/2014/main" id="{A9090594-210F-4E03-B821-432BBB0030E9}"/>
              </a:ext>
            </a:extLst>
          </p:cNvPr>
          <p:cNvSpPr/>
          <p:nvPr/>
        </p:nvSpPr>
        <p:spPr>
          <a:xfrm>
            <a:off x="4463906" y="5967618"/>
            <a:ext cx="540000" cy="2160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70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캐리오버</a:t>
            </a:r>
          </a:p>
        </p:txBody>
      </p:sp>
      <p:sp>
        <p:nvSpPr>
          <p:cNvPr id="701" name="직사각형 700">
            <a:extLst>
              <a:ext uri="{FF2B5EF4-FFF2-40B4-BE49-F238E27FC236}">
                <a16:creationId xmlns="" xmlns:a16="http://schemas.microsoft.com/office/drawing/2014/main" id="{C2B96CB1-836B-48A8-AFA2-417DDACEDE0E}"/>
              </a:ext>
            </a:extLst>
          </p:cNvPr>
          <p:cNvSpPr/>
          <p:nvPr/>
        </p:nvSpPr>
        <p:spPr>
          <a:xfrm>
            <a:off x="4463906" y="6181723"/>
            <a:ext cx="540000" cy="216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7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N</a:t>
            </a:r>
            <a:endParaRPr lang="ko-KR" altLang="en-US" sz="70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02" name="직사각형 701">
            <a:extLst>
              <a:ext uri="{FF2B5EF4-FFF2-40B4-BE49-F238E27FC236}">
                <a16:creationId xmlns="" xmlns:a16="http://schemas.microsoft.com/office/drawing/2014/main" id="{6C46722B-A1C8-40C5-9355-BEF50DEEB2FE}"/>
              </a:ext>
            </a:extLst>
          </p:cNvPr>
          <p:cNvSpPr/>
          <p:nvPr/>
        </p:nvSpPr>
        <p:spPr>
          <a:xfrm>
            <a:off x="5003906" y="5967618"/>
            <a:ext cx="540000" cy="2160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70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재고등급</a:t>
            </a:r>
          </a:p>
        </p:txBody>
      </p:sp>
      <p:sp>
        <p:nvSpPr>
          <p:cNvPr id="703" name="직사각형 702">
            <a:extLst>
              <a:ext uri="{FF2B5EF4-FFF2-40B4-BE49-F238E27FC236}">
                <a16:creationId xmlns="" xmlns:a16="http://schemas.microsoft.com/office/drawing/2014/main" id="{125A9445-0B2B-4F55-8AE2-07E57374FAAD}"/>
              </a:ext>
            </a:extLst>
          </p:cNvPr>
          <p:cNvSpPr/>
          <p:nvPr/>
        </p:nvSpPr>
        <p:spPr>
          <a:xfrm>
            <a:off x="5003906" y="6181723"/>
            <a:ext cx="540000" cy="216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ko-KR" altLang="en-US" sz="700" b="1" u="sng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04" name="직사각형 703">
            <a:extLst>
              <a:ext uri="{FF2B5EF4-FFF2-40B4-BE49-F238E27FC236}">
                <a16:creationId xmlns="" xmlns:a16="http://schemas.microsoft.com/office/drawing/2014/main" id="{A9090594-210F-4E03-B821-432BBB0030E9}"/>
              </a:ext>
            </a:extLst>
          </p:cNvPr>
          <p:cNvSpPr/>
          <p:nvPr/>
        </p:nvSpPr>
        <p:spPr>
          <a:xfrm>
            <a:off x="5543906" y="5967618"/>
            <a:ext cx="720000" cy="2160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70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온라인상품코드</a:t>
            </a:r>
          </a:p>
        </p:txBody>
      </p:sp>
      <p:sp>
        <p:nvSpPr>
          <p:cNvPr id="705" name="직사각형 704">
            <a:extLst>
              <a:ext uri="{FF2B5EF4-FFF2-40B4-BE49-F238E27FC236}">
                <a16:creationId xmlns="" xmlns:a16="http://schemas.microsoft.com/office/drawing/2014/main" id="{C2B96CB1-836B-48A8-AFA2-417DDACEDE0E}"/>
              </a:ext>
            </a:extLst>
          </p:cNvPr>
          <p:cNvSpPr/>
          <p:nvPr/>
        </p:nvSpPr>
        <p:spPr>
          <a:xfrm>
            <a:off x="5543906" y="6181723"/>
            <a:ext cx="720000" cy="216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700" u="sng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LF001274579</a:t>
            </a:r>
            <a:endParaRPr lang="ko-KR" altLang="en-US" sz="700" u="sng">
              <a:solidFill>
                <a:srgbClr val="0070C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06" name="직사각형 705">
            <a:extLst>
              <a:ext uri="{FF2B5EF4-FFF2-40B4-BE49-F238E27FC236}">
                <a16:creationId xmlns="" xmlns:a16="http://schemas.microsoft.com/office/drawing/2014/main" id="{A9090594-210F-4E03-B821-432BBB0030E9}"/>
              </a:ext>
            </a:extLst>
          </p:cNvPr>
          <p:cNvSpPr/>
          <p:nvPr/>
        </p:nvSpPr>
        <p:spPr>
          <a:xfrm>
            <a:off x="6263906" y="5967618"/>
            <a:ext cx="720000" cy="2160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70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상품코드</a:t>
            </a:r>
          </a:p>
        </p:txBody>
      </p:sp>
      <p:sp>
        <p:nvSpPr>
          <p:cNvPr id="707" name="직사각형 706">
            <a:extLst>
              <a:ext uri="{FF2B5EF4-FFF2-40B4-BE49-F238E27FC236}">
                <a16:creationId xmlns="" xmlns:a16="http://schemas.microsoft.com/office/drawing/2014/main" id="{C2B96CB1-836B-48A8-AFA2-417DDACEDE0E}"/>
              </a:ext>
            </a:extLst>
          </p:cNvPr>
          <p:cNvSpPr/>
          <p:nvPr/>
        </p:nvSpPr>
        <p:spPr>
          <a:xfrm>
            <a:off x="6263906" y="6181723"/>
            <a:ext cx="720000" cy="216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700" u="sng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HSJU5D011BK</a:t>
            </a:r>
            <a:endParaRPr lang="ko-KR" altLang="en-US" sz="700" u="sng">
              <a:solidFill>
                <a:srgbClr val="0070C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08" name="직사각형 707">
            <a:extLst>
              <a:ext uri="{FF2B5EF4-FFF2-40B4-BE49-F238E27FC236}">
                <a16:creationId xmlns="" xmlns:a16="http://schemas.microsoft.com/office/drawing/2014/main" id="{A9090594-210F-4E03-B821-432BBB0030E9}"/>
              </a:ext>
            </a:extLst>
          </p:cNvPr>
          <p:cNvSpPr/>
          <p:nvPr/>
        </p:nvSpPr>
        <p:spPr>
          <a:xfrm>
            <a:off x="6983906" y="5967618"/>
            <a:ext cx="720000" cy="2160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70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원코드</a:t>
            </a:r>
          </a:p>
        </p:txBody>
      </p:sp>
      <p:sp>
        <p:nvSpPr>
          <p:cNvPr id="709" name="직사각형 708">
            <a:extLst>
              <a:ext uri="{FF2B5EF4-FFF2-40B4-BE49-F238E27FC236}">
                <a16:creationId xmlns="" xmlns:a16="http://schemas.microsoft.com/office/drawing/2014/main" id="{C2B96CB1-836B-48A8-AFA2-417DDACEDE0E}"/>
              </a:ext>
            </a:extLst>
          </p:cNvPr>
          <p:cNvSpPr/>
          <p:nvPr/>
        </p:nvSpPr>
        <p:spPr>
          <a:xfrm>
            <a:off x="6983906" y="6181723"/>
            <a:ext cx="720000" cy="216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7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HSJU5D011BK</a:t>
            </a:r>
            <a:endParaRPr lang="ko-KR" altLang="en-US" sz="70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10" name="직사각형 709">
            <a:extLst>
              <a:ext uri="{FF2B5EF4-FFF2-40B4-BE49-F238E27FC236}">
                <a16:creationId xmlns="" xmlns:a16="http://schemas.microsoft.com/office/drawing/2014/main" id="{A9090594-210F-4E03-B821-432BBB0030E9}"/>
              </a:ext>
            </a:extLst>
          </p:cNvPr>
          <p:cNvSpPr/>
          <p:nvPr/>
        </p:nvSpPr>
        <p:spPr>
          <a:xfrm>
            <a:off x="7703906" y="5967618"/>
            <a:ext cx="720000" cy="2160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70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캐리오버</a:t>
            </a:r>
            <a:r>
              <a:rPr lang="en-US" altLang="ko-KR" sz="70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70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전시즌</a:t>
            </a:r>
          </a:p>
        </p:txBody>
      </p:sp>
      <p:sp>
        <p:nvSpPr>
          <p:cNvPr id="711" name="직사각형 710">
            <a:extLst>
              <a:ext uri="{FF2B5EF4-FFF2-40B4-BE49-F238E27FC236}">
                <a16:creationId xmlns="" xmlns:a16="http://schemas.microsoft.com/office/drawing/2014/main" id="{C2B96CB1-836B-48A8-AFA2-417DDACEDE0E}"/>
              </a:ext>
            </a:extLst>
          </p:cNvPr>
          <p:cNvSpPr/>
          <p:nvPr/>
        </p:nvSpPr>
        <p:spPr>
          <a:xfrm>
            <a:off x="7703906" y="6181723"/>
            <a:ext cx="720000" cy="216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ko-KR" altLang="en-US" sz="70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12" name="직사각형 711">
            <a:extLst>
              <a:ext uri="{FF2B5EF4-FFF2-40B4-BE49-F238E27FC236}">
                <a16:creationId xmlns="" xmlns:a16="http://schemas.microsoft.com/office/drawing/2014/main" id="{A9090594-210F-4E03-B821-432BBB0030E9}"/>
              </a:ext>
            </a:extLst>
          </p:cNvPr>
          <p:cNvSpPr/>
          <p:nvPr/>
        </p:nvSpPr>
        <p:spPr>
          <a:xfrm>
            <a:off x="8423906" y="5967618"/>
            <a:ext cx="720000" cy="2160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70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캐리오버 후시즌</a:t>
            </a:r>
          </a:p>
        </p:txBody>
      </p:sp>
      <p:sp>
        <p:nvSpPr>
          <p:cNvPr id="713" name="직사각형 712">
            <a:extLst>
              <a:ext uri="{FF2B5EF4-FFF2-40B4-BE49-F238E27FC236}">
                <a16:creationId xmlns="" xmlns:a16="http://schemas.microsoft.com/office/drawing/2014/main" id="{C2B96CB1-836B-48A8-AFA2-417DDACEDE0E}"/>
              </a:ext>
            </a:extLst>
          </p:cNvPr>
          <p:cNvSpPr/>
          <p:nvPr/>
        </p:nvSpPr>
        <p:spPr>
          <a:xfrm>
            <a:off x="8423906" y="6181723"/>
            <a:ext cx="720000" cy="216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ko-KR" altLang="en-US" sz="70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16" name="직사각형 715">
            <a:extLst>
              <a:ext uri="{FF2B5EF4-FFF2-40B4-BE49-F238E27FC236}">
                <a16:creationId xmlns="" xmlns:a16="http://schemas.microsoft.com/office/drawing/2014/main" id="{A9090594-210F-4E03-B821-432BBB0030E9}"/>
              </a:ext>
            </a:extLst>
          </p:cNvPr>
          <p:cNvSpPr/>
          <p:nvPr/>
        </p:nvSpPr>
        <p:spPr>
          <a:xfrm>
            <a:off x="9143906" y="5967618"/>
            <a:ext cx="216000" cy="2160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70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…</a:t>
            </a:r>
            <a:endParaRPr lang="ko-KR" altLang="en-US" sz="70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17" name="직사각형 716">
            <a:extLst>
              <a:ext uri="{FF2B5EF4-FFF2-40B4-BE49-F238E27FC236}">
                <a16:creationId xmlns="" xmlns:a16="http://schemas.microsoft.com/office/drawing/2014/main" id="{C2B96CB1-836B-48A8-AFA2-417DDACEDE0E}"/>
              </a:ext>
            </a:extLst>
          </p:cNvPr>
          <p:cNvSpPr/>
          <p:nvPr/>
        </p:nvSpPr>
        <p:spPr>
          <a:xfrm>
            <a:off x="9143906" y="6181723"/>
            <a:ext cx="216000" cy="216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7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…</a:t>
            </a:r>
            <a:endParaRPr lang="ko-KR" altLang="en-US" sz="70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88" name="직사각형 687">
            <a:extLst>
              <a:ext uri="{FF2B5EF4-FFF2-40B4-BE49-F238E27FC236}">
                <a16:creationId xmlns="" xmlns:a16="http://schemas.microsoft.com/office/drawing/2014/main" id="{6C46722B-A1C8-40C5-9355-BEF50DEEB2FE}"/>
              </a:ext>
            </a:extLst>
          </p:cNvPr>
          <p:cNvSpPr/>
          <p:nvPr/>
        </p:nvSpPr>
        <p:spPr>
          <a:xfrm>
            <a:off x="1367906" y="5967618"/>
            <a:ext cx="216000" cy="2160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ko-KR" altLang="en-US" sz="70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39" name="사각형: 둥근 모서리 393">
            <a:extLst>
              <a:ext uri="{FF2B5EF4-FFF2-40B4-BE49-F238E27FC236}">
                <a16:creationId xmlns="" xmlns:a16="http://schemas.microsoft.com/office/drawing/2014/main" id="{36E654BC-9DA7-40DE-810D-4DBC10DDAC9E}"/>
              </a:ext>
            </a:extLst>
          </p:cNvPr>
          <p:cNvSpPr/>
          <p:nvPr/>
        </p:nvSpPr>
        <p:spPr bwMode="auto">
          <a:xfrm>
            <a:off x="1403906" y="6003618"/>
            <a:ext cx="144000" cy="144000"/>
          </a:xfrm>
          <a:prstGeom prst="roundRect">
            <a:avLst/>
          </a:prstGeom>
          <a:solidFill>
            <a:schemeClr val="bg1"/>
          </a:solidFill>
          <a:ln w="3175" cap="flat" cmpd="sng" algn="ctr">
            <a:solidFill>
              <a:schemeClr val="bg1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>
            <a:innerShdw blurRad="12700" dist="12700" dir="13500000">
              <a:schemeClr val="tx1">
                <a:lumMod val="75000"/>
                <a:lumOff val="25000"/>
                <a:alpha val="30000"/>
              </a:schemeClr>
            </a:innerShdw>
          </a:effectLst>
        </p:spPr>
        <p:txBody>
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fontAlgn="base" latinLnBrk="0">
              <a:spcBef>
                <a:spcPct val="0"/>
              </a:spcBef>
              <a:spcAft>
                <a:spcPct val="0"/>
              </a:spcAft>
            </a:pPr>
            <a:endParaRPr kumimoji="1" lang="ko-KR" altLang="en-US" sz="700" b="1" kern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90" name="직사각형 689">
            <a:extLst>
              <a:ext uri="{FF2B5EF4-FFF2-40B4-BE49-F238E27FC236}">
                <a16:creationId xmlns="" xmlns:a16="http://schemas.microsoft.com/office/drawing/2014/main" id="{125A9445-0B2B-4F55-8AE2-07E57374FAAD}"/>
              </a:ext>
            </a:extLst>
          </p:cNvPr>
          <p:cNvSpPr/>
          <p:nvPr/>
        </p:nvSpPr>
        <p:spPr>
          <a:xfrm>
            <a:off x="1367906" y="6181723"/>
            <a:ext cx="216000" cy="216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ko-KR" altLang="en-US" sz="700" b="1" u="sng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40" name="사각형: 둥근 모서리 393">
            <a:extLst>
              <a:ext uri="{FF2B5EF4-FFF2-40B4-BE49-F238E27FC236}">
                <a16:creationId xmlns="" xmlns:a16="http://schemas.microsoft.com/office/drawing/2014/main" id="{36E654BC-9DA7-40DE-810D-4DBC10DDAC9E}"/>
              </a:ext>
            </a:extLst>
          </p:cNvPr>
          <p:cNvSpPr/>
          <p:nvPr/>
        </p:nvSpPr>
        <p:spPr bwMode="auto">
          <a:xfrm>
            <a:off x="1403906" y="6217723"/>
            <a:ext cx="144000" cy="144000"/>
          </a:xfrm>
          <a:prstGeom prst="roundRect">
            <a:avLst/>
          </a:prstGeom>
          <a:solidFill>
            <a:schemeClr val="bg1"/>
          </a:solidFill>
          <a:ln w="3175" cap="flat" cmpd="sng" algn="ctr">
            <a:solidFill>
              <a:schemeClr val="bg1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>
            <a:innerShdw blurRad="12700" dist="12700" dir="13500000">
              <a:schemeClr val="tx1">
                <a:lumMod val="75000"/>
                <a:lumOff val="25000"/>
                <a:alpha val="30000"/>
              </a:schemeClr>
            </a:innerShdw>
          </a:effectLst>
        </p:spPr>
        <p:txBody>
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fontAlgn="base" latinLnBrk="0">
              <a:spcBef>
                <a:spcPct val="0"/>
              </a:spcBef>
              <a:spcAft>
                <a:spcPct val="0"/>
              </a:spcAft>
            </a:pPr>
            <a:endParaRPr kumimoji="1" lang="ko-KR" altLang="en-US" sz="700" b="1" kern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89" name="직사각형 688">
            <a:extLst>
              <a:ext uri="{FF2B5EF4-FFF2-40B4-BE49-F238E27FC236}">
                <a16:creationId xmlns="" xmlns:a16="http://schemas.microsoft.com/office/drawing/2014/main" id="{A9090594-210F-4E03-B821-432BBB0030E9}"/>
              </a:ext>
            </a:extLst>
          </p:cNvPr>
          <p:cNvSpPr/>
          <p:nvPr/>
        </p:nvSpPr>
        <p:spPr>
          <a:xfrm>
            <a:off x="1583906" y="5967618"/>
            <a:ext cx="540000" cy="2160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70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미리보기</a:t>
            </a:r>
          </a:p>
        </p:txBody>
      </p:sp>
      <p:sp>
        <p:nvSpPr>
          <p:cNvPr id="691" name="직사각형 690">
            <a:extLst>
              <a:ext uri="{FF2B5EF4-FFF2-40B4-BE49-F238E27FC236}">
                <a16:creationId xmlns="" xmlns:a16="http://schemas.microsoft.com/office/drawing/2014/main" id="{C2B96CB1-836B-48A8-AFA2-417DDACEDE0E}"/>
              </a:ext>
            </a:extLst>
          </p:cNvPr>
          <p:cNvSpPr/>
          <p:nvPr/>
        </p:nvSpPr>
        <p:spPr>
          <a:xfrm>
            <a:off x="1583906" y="6181723"/>
            <a:ext cx="540000" cy="216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ko-KR" altLang="en-US" sz="70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45" name="사각형: 둥근 모서리 370">
            <a:extLst>
              <a:ext uri="{FF2B5EF4-FFF2-40B4-BE49-F238E27FC236}">
                <a16:creationId xmlns="" xmlns:a16="http://schemas.microsoft.com/office/drawing/2014/main" id="{40426C93-54F4-4D06-9E1D-260D2A45518E}"/>
              </a:ext>
            </a:extLst>
          </p:cNvPr>
          <p:cNvSpPr/>
          <p:nvPr/>
        </p:nvSpPr>
        <p:spPr bwMode="auto">
          <a:xfrm>
            <a:off x="1637906" y="6217723"/>
            <a:ext cx="432000" cy="144000"/>
          </a:xfrm>
          <a:prstGeom prst="roundRect">
            <a:avLst/>
          </a:prstGeom>
          <a:solidFill>
            <a:schemeClr val="bg1"/>
          </a:solidFill>
          <a:ln w="3175" cap="flat" cmpd="sng" algn="ctr">
            <a:solidFill>
              <a:schemeClr val="bg1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>
            <a:outerShdw blurRad="12700" dist="12700" dir="2700000" algn="tl" rotWithShape="0">
              <a:schemeClr val="tx1">
                <a:lumMod val="75000"/>
                <a:lumOff val="25000"/>
                <a:alpha val="30000"/>
              </a:schemeClr>
            </a:outerShdw>
          </a:effectLst>
        </p:spPr>
        <p:txBody>
          <a:bodyPr rot="0" spcFirstLastPara="0" vertOverflow="overflow" horzOverflow="overflow" vert="horz" wrap="non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altLang="en-US" sz="700" i="0" u="none" strike="noStrike" kern="0" cap="none" spc="0" normalizeH="0" baseline="0" noProof="0" smtClean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n-ea"/>
              </a:rPr>
              <a:t>미리보기</a:t>
            </a:r>
            <a:endParaRPr kumimoji="1" lang="ko-KR" altLang="en-US" sz="700" i="0" u="none" strike="noStrike" kern="0" cap="none" spc="0" normalizeH="0" baseline="0" noProof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748" name="사각형: 둥근 모서리 393">
            <a:extLst>
              <a:ext uri="{FF2B5EF4-FFF2-40B4-BE49-F238E27FC236}">
                <a16:creationId xmlns="" xmlns:a16="http://schemas.microsoft.com/office/drawing/2014/main" id="{290E9852-4338-4EEA-B9C3-64E5DDED0B7A}"/>
              </a:ext>
            </a:extLst>
          </p:cNvPr>
          <p:cNvSpPr/>
          <p:nvPr/>
        </p:nvSpPr>
        <p:spPr bwMode="auto">
          <a:xfrm>
            <a:off x="7146053" y="4094858"/>
            <a:ext cx="144000" cy="144000"/>
          </a:xfrm>
          <a:prstGeom prst="ellipse">
            <a:avLst/>
          </a:prstGeom>
          <a:solidFill>
            <a:schemeClr val="bg1"/>
          </a:solidFill>
          <a:ln w="3175" cap="flat" cmpd="sng" algn="ctr">
            <a:solidFill>
              <a:schemeClr val="bg1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>
            <a:innerShdw blurRad="12700" dist="12700" dir="13500000">
              <a:schemeClr val="tx1">
                <a:lumMod val="75000"/>
                <a:lumOff val="25000"/>
                <a:alpha val="30000"/>
              </a:schemeClr>
            </a:innerShdw>
          </a:effectLst>
        </p:spPr>
        <p:txBody>
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fontAlgn="base" latinLnBrk="0">
              <a:spcBef>
                <a:spcPct val="0"/>
              </a:spcBef>
              <a:spcAft>
                <a:spcPct val="0"/>
              </a:spcAft>
            </a:pPr>
            <a:endParaRPr kumimoji="1" lang="ko-KR" altLang="en-US" sz="800" b="1" kern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49" name="TextBox 748">
            <a:extLst>
              <a:ext uri="{FF2B5EF4-FFF2-40B4-BE49-F238E27FC236}">
                <a16:creationId xmlns="" xmlns:a16="http://schemas.microsoft.com/office/drawing/2014/main" id="{371DEE5A-1B36-43FA-89E6-F3BCF143BE9F}"/>
              </a:ext>
            </a:extLst>
          </p:cNvPr>
          <p:cNvSpPr txBox="1"/>
          <p:nvPr/>
        </p:nvSpPr>
        <p:spPr>
          <a:xfrm>
            <a:off x="7290053" y="4076645"/>
            <a:ext cx="141633" cy="180425"/>
          </a:xfrm>
          <a:prstGeom prst="rect">
            <a:avLst/>
          </a:prstGeom>
          <a:noFill/>
          <a:ln w="317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36000" tIns="36000" rIns="36000" bIns="36000" numCol="1" rtlCol="0" anchor="ctr" anchorCtr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altLang="ko-KR" sz="7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N</a:t>
            </a:r>
            <a:endParaRPr lang="ko-KR" altLang="en-US" sz="70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</p:txBody>
      </p:sp>
      <p:sp>
        <p:nvSpPr>
          <p:cNvPr id="750" name="사각형: 둥근 모서리 393">
            <a:extLst>
              <a:ext uri="{FF2B5EF4-FFF2-40B4-BE49-F238E27FC236}">
                <a16:creationId xmlns="" xmlns:a16="http://schemas.microsoft.com/office/drawing/2014/main" id="{290E9852-4338-4EEA-B9C3-64E5DDED0B7A}"/>
              </a:ext>
            </a:extLst>
          </p:cNvPr>
          <p:cNvSpPr/>
          <p:nvPr/>
        </p:nvSpPr>
        <p:spPr bwMode="auto">
          <a:xfrm>
            <a:off x="7146053" y="4383047"/>
            <a:ext cx="144000" cy="144000"/>
          </a:xfrm>
          <a:prstGeom prst="ellipse">
            <a:avLst/>
          </a:prstGeom>
          <a:solidFill>
            <a:schemeClr val="bg1"/>
          </a:solidFill>
          <a:ln w="3175" cap="flat" cmpd="sng" algn="ctr">
            <a:solidFill>
              <a:schemeClr val="bg1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>
            <a:innerShdw blurRad="12700" dist="12700" dir="13500000">
              <a:schemeClr val="tx1">
                <a:lumMod val="75000"/>
                <a:lumOff val="25000"/>
                <a:alpha val="30000"/>
              </a:schemeClr>
            </a:innerShdw>
          </a:effectLst>
        </p:spPr>
        <p:txBody>
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fontAlgn="base" latinLnBrk="0">
              <a:spcBef>
                <a:spcPct val="0"/>
              </a:spcBef>
              <a:spcAft>
                <a:spcPct val="0"/>
              </a:spcAft>
            </a:pPr>
            <a:endParaRPr kumimoji="1" lang="ko-KR" altLang="en-US" sz="800" b="1" kern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51" name="TextBox 750">
            <a:extLst>
              <a:ext uri="{FF2B5EF4-FFF2-40B4-BE49-F238E27FC236}">
                <a16:creationId xmlns="" xmlns:a16="http://schemas.microsoft.com/office/drawing/2014/main" id="{371DEE5A-1B36-43FA-89E6-F3BCF143BE9F}"/>
              </a:ext>
            </a:extLst>
          </p:cNvPr>
          <p:cNvSpPr txBox="1"/>
          <p:nvPr/>
        </p:nvSpPr>
        <p:spPr>
          <a:xfrm>
            <a:off x="7290053" y="4364834"/>
            <a:ext cx="141633" cy="180425"/>
          </a:xfrm>
          <a:prstGeom prst="rect">
            <a:avLst/>
          </a:prstGeom>
          <a:noFill/>
          <a:ln w="317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36000" tIns="36000" rIns="36000" bIns="36000" numCol="1" rtlCol="0" anchor="ctr" anchorCtr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altLang="ko-KR" sz="7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N</a:t>
            </a:r>
            <a:endParaRPr lang="ko-KR" altLang="en-US" sz="70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</p:txBody>
      </p:sp>
      <p:sp>
        <p:nvSpPr>
          <p:cNvPr id="635" name="직사각형 634">
            <a:extLst>
              <a:ext uri="{FF2B5EF4-FFF2-40B4-BE49-F238E27FC236}">
                <a16:creationId xmlns="" xmlns:a16="http://schemas.microsoft.com/office/drawing/2014/main" id="{D6E71F9F-6A05-4858-BCF1-F73872A38DCC}"/>
              </a:ext>
            </a:extLst>
          </p:cNvPr>
          <p:cNvSpPr/>
          <p:nvPr/>
        </p:nvSpPr>
        <p:spPr>
          <a:xfrm>
            <a:off x="7343630" y="4022857"/>
            <a:ext cx="900000" cy="288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36000" rIns="108000" bIns="36000" rtlCol="0" anchor="ctr"/>
          <a:lstStyle/>
          <a:p>
            <a:r>
              <a:rPr lang="ko-KR" altLang="en-US" sz="7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재고수량</a:t>
            </a:r>
            <a:endParaRPr lang="ko-KR" altLang="en-US" sz="700" dirty="0">
              <a:solidFill>
                <a:srgbClr val="C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36" name="직사각형 635">
            <a:extLst>
              <a:ext uri="{FF2B5EF4-FFF2-40B4-BE49-F238E27FC236}">
                <a16:creationId xmlns="" xmlns:a16="http://schemas.microsoft.com/office/drawing/2014/main" id="{869F0D91-4426-412C-8A0D-962A34E6A583}"/>
              </a:ext>
            </a:extLst>
          </p:cNvPr>
          <p:cNvSpPr/>
          <p:nvPr/>
        </p:nvSpPr>
        <p:spPr>
          <a:xfrm>
            <a:off x="8243906" y="4022857"/>
            <a:ext cx="1116000" cy="288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36000" rIns="108000" bIns="36000" rtlCol="0" anchor="ctr"/>
          <a:lstStyle/>
          <a:p>
            <a:endParaRPr lang="ko-KR" altLang="en-US" sz="80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637" name="그룹 636">
            <a:extLst>
              <a:ext uri="{FF2B5EF4-FFF2-40B4-BE49-F238E27FC236}">
                <a16:creationId xmlns="" xmlns:a16="http://schemas.microsoft.com/office/drawing/2014/main" id="{CE03C03E-4F04-4133-AEEC-AC03458859A7}"/>
              </a:ext>
            </a:extLst>
          </p:cNvPr>
          <p:cNvGrpSpPr/>
          <p:nvPr/>
        </p:nvGrpSpPr>
        <p:grpSpPr>
          <a:xfrm>
            <a:off x="8314594" y="4076857"/>
            <a:ext cx="936000" cy="180000"/>
            <a:chOff x="2554666" y="3787347"/>
            <a:chExt cx="936000" cy="180000"/>
          </a:xfrm>
        </p:grpSpPr>
        <p:sp>
          <p:nvSpPr>
            <p:cNvPr id="638" name="모서리가 둥근 직사각형 139">
              <a:extLst>
                <a:ext uri="{FF2B5EF4-FFF2-40B4-BE49-F238E27FC236}">
                  <a16:creationId xmlns="" xmlns:a16="http://schemas.microsoft.com/office/drawing/2014/main" id="{D20B2316-7950-45D5-A329-DFCDAA416345}"/>
                </a:ext>
              </a:extLst>
            </p:cNvPr>
            <p:cNvSpPr/>
            <p:nvPr/>
          </p:nvSpPr>
          <p:spPr bwMode="auto">
            <a:xfrm>
              <a:off x="2554666" y="3787347"/>
              <a:ext cx="936000" cy="180000"/>
            </a:xfrm>
            <a:prstGeom prst="roundRect">
              <a:avLst/>
            </a:prstGeom>
            <a:solidFill>
              <a:schemeClr val="bg1"/>
            </a:solidFill>
            <a:ln w="3175" cap="flat" cmpd="sng" algn="ctr">
              <a:solidFill>
                <a:schemeClr val="bg1">
                  <a:lumMod val="7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none" lIns="108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fontAlgn="base" latinLnBrk="0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ko-KR" sz="700" kern="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[</a:t>
              </a:r>
              <a:r>
                <a:rPr kumimoji="1" lang="ko-KR" altLang="en-US" sz="700" kern="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전체</a:t>
              </a:r>
              <a:r>
                <a:rPr kumimoji="1" lang="en-US" altLang="ko-KR" sz="700" kern="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]</a:t>
              </a:r>
              <a:endParaRPr kumimoji="1" lang="ko-KR" altLang="en-US" sz="700" kern="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endParaRPr>
            </a:p>
          </p:txBody>
        </p:sp>
        <p:sp>
          <p:nvSpPr>
            <p:cNvPr id="639" name="모서리가 둥근 직사각형 141">
              <a:extLst>
                <a:ext uri="{FF2B5EF4-FFF2-40B4-BE49-F238E27FC236}">
                  <a16:creationId xmlns="" xmlns:a16="http://schemas.microsoft.com/office/drawing/2014/main" id="{9D3BF834-DC28-4D1A-B5CB-ED60EA5C7751}"/>
                </a:ext>
              </a:extLst>
            </p:cNvPr>
            <p:cNvSpPr/>
            <p:nvPr/>
          </p:nvSpPr>
          <p:spPr bwMode="auto">
            <a:xfrm>
              <a:off x="3310666" y="3787347"/>
              <a:ext cx="180000" cy="180000"/>
            </a:xfrm>
            <a:prstGeom prst="roundRect">
              <a:avLst/>
            </a:prstGeom>
            <a:solidFill>
              <a:schemeClr val="bg1"/>
            </a:solidFill>
            <a:ln w="3175" cap="flat" cmpd="sng" algn="ctr">
              <a:solidFill>
                <a:schemeClr val="bg1">
                  <a:lumMod val="7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none" lIns="36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fontAlgn="base" latinLnBrk="0">
                <a:spcBef>
                  <a:spcPct val="0"/>
                </a:spcBef>
                <a:spcAft>
                  <a:spcPct val="0"/>
                </a:spcAft>
              </a:pPr>
              <a:r>
                <a:rPr kumimoji="1" lang="ko-KR" altLang="en-US" sz="700" kern="0" dirty="0">
                  <a:solidFill>
                    <a:srgbClr val="000000"/>
                  </a:solidFill>
                  <a:latin typeface="+mn-ea"/>
                </a:rPr>
                <a:t>▼</a:t>
              </a:r>
            </a:p>
          </p:txBody>
        </p:sp>
      </p:grpSp>
      <p:sp>
        <p:nvSpPr>
          <p:cNvPr id="662" name="직사각형 661">
            <a:extLst>
              <a:ext uri="{FF2B5EF4-FFF2-40B4-BE49-F238E27FC236}">
                <a16:creationId xmlns="" xmlns:a16="http://schemas.microsoft.com/office/drawing/2014/main" id="{D6E71F9F-6A05-4858-BCF1-F73872A38DCC}"/>
              </a:ext>
            </a:extLst>
          </p:cNvPr>
          <p:cNvSpPr/>
          <p:nvPr/>
        </p:nvSpPr>
        <p:spPr>
          <a:xfrm>
            <a:off x="7343630" y="4311046"/>
            <a:ext cx="900000" cy="288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36000" rIns="108000" bIns="36000" rtlCol="0" anchor="ctr"/>
          <a:lstStyle/>
          <a:p>
            <a:r>
              <a:rPr lang="ko-KR" altLang="en-US" sz="7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마케팅문구</a:t>
            </a:r>
            <a:endParaRPr lang="ko-KR" altLang="en-US" sz="700" dirty="0">
              <a:solidFill>
                <a:srgbClr val="C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63" name="직사각형 662">
            <a:extLst>
              <a:ext uri="{FF2B5EF4-FFF2-40B4-BE49-F238E27FC236}">
                <a16:creationId xmlns="" xmlns:a16="http://schemas.microsoft.com/office/drawing/2014/main" id="{869F0D91-4426-412C-8A0D-962A34E6A583}"/>
              </a:ext>
            </a:extLst>
          </p:cNvPr>
          <p:cNvSpPr/>
          <p:nvPr/>
        </p:nvSpPr>
        <p:spPr>
          <a:xfrm>
            <a:off x="8243906" y="4311046"/>
            <a:ext cx="1116000" cy="288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36000" rIns="108000" bIns="36000" rtlCol="0" anchor="ctr"/>
          <a:lstStyle/>
          <a:p>
            <a:endParaRPr lang="ko-KR" altLang="en-US" sz="80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67" name="모서리가 둥근 직사각형 184">
            <a:extLst>
              <a:ext uri="{FF2B5EF4-FFF2-40B4-BE49-F238E27FC236}">
                <a16:creationId xmlns="" xmlns:a16="http://schemas.microsoft.com/office/drawing/2014/main" id="{7C4181B1-00DE-4B1A-9AF4-36726F2433BA}"/>
              </a:ext>
            </a:extLst>
          </p:cNvPr>
          <p:cNvSpPr/>
          <p:nvPr/>
        </p:nvSpPr>
        <p:spPr bwMode="auto">
          <a:xfrm>
            <a:off x="8314594" y="4365046"/>
            <a:ext cx="936000" cy="180000"/>
          </a:xfrm>
          <a:prstGeom prst="roundRect">
            <a:avLst/>
          </a:prstGeom>
          <a:solidFill>
            <a:srgbClr val="FFFFEF"/>
          </a:solidFill>
          <a:ln w="3175" cap="flat" cmpd="sng" algn="ctr">
            <a:solidFill>
              <a:schemeClr val="bg1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none" lIns="108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defTabSz="914400" fontAlgn="base" latinLnBrk="0">
              <a:spcBef>
                <a:spcPct val="0"/>
              </a:spcBef>
              <a:spcAft>
                <a:spcPct val="0"/>
              </a:spcAft>
            </a:pPr>
            <a:endParaRPr kumimoji="1" lang="ko-KR" altLang="en-US" sz="700" b="0" i="0" u="none" strike="noStrike" kern="0" cap="none" spc="0" normalizeH="0" baseline="0" noProof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759" name="그룹 758"/>
          <p:cNvGrpSpPr/>
          <p:nvPr/>
        </p:nvGrpSpPr>
        <p:grpSpPr>
          <a:xfrm>
            <a:off x="2339906" y="4653021"/>
            <a:ext cx="1096608" cy="180425"/>
            <a:chOff x="6335078" y="5082630"/>
            <a:chExt cx="1096608" cy="180425"/>
          </a:xfrm>
        </p:grpSpPr>
        <p:sp>
          <p:nvSpPr>
            <p:cNvPr id="760" name="사각형: 둥근 모서리 393">
              <a:extLst>
                <a:ext uri="{FF2B5EF4-FFF2-40B4-BE49-F238E27FC236}">
                  <a16:creationId xmlns="" xmlns:a16="http://schemas.microsoft.com/office/drawing/2014/main" id="{290E9852-4338-4EEA-B9C3-64E5DDED0B7A}"/>
                </a:ext>
              </a:extLst>
            </p:cNvPr>
            <p:cNvSpPr/>
            <p:nvPr/>
          </p:nvSpPr>
          <p:spPr bwMode="auto">
            <a:xfrm>
              <a:off x="6335078" y="5100843"/>
              <a:ext cx="144000" cy="144000"/>
            </a:xfrm>
            <a:prstGeom prst="ellipse">
              <a:avLst/>
            </a:prstGeom>
            <a:solidFill>
              <a:schemeClr val="bg1"/>
            </a:solidFill>
            <a:ln w="3175" cap="flat" cmpd="sng" algn="ctr">
              <a:solidFill>
                <a:schemeClr val="bg1">
                  <a:lumMod val="7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>
              <a:innerShdw blurRad="12700" dist="12700" dir="13500000">
                <a:schemeClr val="tx1">
                  <a:lumMod val="75000"/>
                  <a:lumOff val="25000"/>
                  <a:alpha val="30000"/>
                </a:schemeClr>
              </a:innerShdw>
            </a:effectLst>
          </p:spPr>
          <p:txBody>
  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fontAlgn="base" latinLnBrk="0">
                <a:spcBef>
                  <a:spcPct val="0"/>
                </a:spcBef>
                <a:spcAft>
                  <a:spcPct val="0"/>
                </a:spcAft>
              </a:pPr>
              <a:r>
                <a:rPr kumimoji="1" lang="ko-KR" altLang="en-US" sz="600" kern="0">
                  <a:solidFill>
                    <a:srgbClr val="C00000"/>
                  </a:solidFill>
                  <a:latin typeface="맑은 고딕" panose="020B0503020000020004" pitchFamily="50" charset="-127"/>
                </a:rPr>
                <a:t>●</a:t>
              </a:r>
            </a:p>
          </p:txBody>
        </p:sp>
        <p:sp>
          <p:nvSpPr>
            <p:cNvPr id="761" name="TextBox 760">
              <a:extLst>
                <a:ext uri="{FF2B5EF4-FFF2-40B4-BE49-F238E27FC236}">
                  <a16:creationId xmlns="" xmlns:a16="http://schemas.microsoft.com/office/drawing/2014/main" id="{371DEE5A-1B36-43FA-89E6-F3BCF143BE9F}"/>
                </a:ext>
              </a:extLst>
            </p:cNvPr>
            <p:cNvSpPr txBox="1"/>
            <p:nvPr/>
          </p:nvSpPr>
          <p:spPr>
            <a:xfrm>
              <a:off x="6479078" y="5082630"/>
              <a:ext cx="252239" cy="180425"/>
            </a:xfrm>
            <a:prstGeom prst="rect">
              <a:avLst/>
            </a:prstGeom>
            <a:noFill/>
            <a:ln w="3175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none" lIns="36000" tIns="36000" rIns="36000" bIns="36000" numCol="1" rtlCol="0" anchor="ctr" anchorCtr="0" compatLnSpc="1">
              <a:prstTxWarp prst="textNoShape">
                <a:avLst/>
              </a:prstTxWarp>
              <a:spAutoFit/>
            </a:bodyPr>
            <a:lstStyle/>
            <a:p>
              <a:pPr algn="l"/>
              <a:r>
                <a:rPr lang="ko-KR" altLang="en-US" sz="7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전체</a:t>
              </a:r>
            </a:p>
          </p:txBody>
        </p:sp>
        <p:sp>
          <p:nvSpPr>
            <p:cNvPr id="762" name="사각형: 둥근 모서리 393">
              <a:extLst>
                <a:ext uri="{FF2B5EF4-FFF2-40B4-BE49-F238E27FC236}">
                  <a16:creationId xmlns="" xmlns:a16="http://schemas.microsoft.com/office/drawing/2014/main" id="{290E9852-4338-4EEA-B9C3-64E5DDED0B7A}"/>
                </a:ext>
              </a:extLst>
            </p:cNvPr>
            <p:cNvSpPr/>
            <p:nvPr/>
          </p:nvSpPr>
          <p:spPr bwMode="auto">
            <a:xfrm>
              <a:off x="6803357" y="5100843"/>
              <a:ext cx="144000" cy="144000"/>
            </a:xfrm>
            <a:prstGeom prst="ellipse">
              <a:avLst/>
            </a:prstGeom>
            <a:solidFill>
              <a:schemeClr val="bg1"/>
            </a:solidFill>
            <a:ln w="3175" cap="flat" cmpd="sng" algn="ctr">
              <a:solidFill>
                <a:schemeClr val="bg1">
                  <a:lumMod val="7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>
              <a:innerShdw blurRad="12700" dist="12700" dir="13500000">
                <a:schemeClr val="tx1">
                  <a:lumMod val="75000"/>
                  <a:lumOff val="25000"/>
                  <a:alpha val="30000"/>
                </a:schemeClr>
              </a:innerShdw>
            </a:effectLst>
          </p:spPr>
          <p:txBody>
  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fontAlgn="base" latinLnBrk="0">
                <a:spcBef>
                  <a:spcPct val="0"/>
                </a:spcBef>
                <a:spcAft>
                  <a:spcPct val="0"/>
                </a:spcAft>
              </a:pPr>
              <a:endParaRPr kumimoji="1" lang="ko-KR" altLang="en-US" sz="800" b="1" ker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763" name="TextBox 762">
              <a:extLst>
                <a:ext uri="{FF2B5EF4-FFF2-40B4-BE49-F238E27FC236}">
                  <a16:creationId xmlns="" xmlns:a16="http://schemas.microsoft.com/office/drawing/2014/main" id="{371DEE5A-1B36-43FA-89E6-F3BCF143BE9F}"/>
                </a:ext>
              </a:extLst>
            </p:cNvPr>
            <p:cNvSpPr txBox="1"/>
            <p:nvPr/>
          </p:nvSpPr>
          <p:spPr>
            <a:xfrm>
              <a:off x="6947357" y="5082630"/>
              <a:ext cx="123999" cy="180425"/>
            </a:xfrm>
            <a:prstGeom prst="rect">
              <a:avLst/>
            </a:prstGeom>
            <a:noFill/>
            <a:ln w="3175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none" lIns="36000" tIns="36000" rIns="36000" bIns="36000" numCol="1" rtlCol="0" anchor="ctr" anchorCtr="0" compatLnSpc="1">
              <a:prstTxWarp prst="textNoShape">
                <a:avLst/>
              </a:prstTxWarp>
              <a:spAutoFit/>
            </a:bodyPr>
            <a:lstStyle/>
            <a:p>
              <a:pPr algn="l"/>
              <a:r>
                <a:rPr lang="en-US" altLang="ko-KR" sz="7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Y</a:t>
              </a:r>
              <a:endParaRPr lang="ko-KR" altLang="en-US" sz="70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endParaRPr>
            </a:p>
          </p:txBody>
        </p:sp>
        <p:sp>
          <p:nvSpPr>
            <p:cNvPr id="764" name="사각형: 둥근 모서리 393">
              <a:extLst>
                <a:ext uri="{FF2B5EF4-FFF2-40B4-BE49-F238E27FC236}">
                  <a16:creationId xmlns="" xmlns:a16="http://schemas.microsoft.com/office/drawing/2014/main" id="{290E9852-4338-4EEA-B9C3-64E5DDED0B7A}"/>
                </a:ext>
              </a:extLst>
            </p:cNvPr>
            <p:cNvSpPr/>
            <p:nvPr/>
          </p:nvSpPr>
          <p:spPr bwMode="auto">
            <a:xfrm>
              <a:off x="7146053" y="5100843"/>
              <a:ext cx="144000" cy="144000"/>
            </a:xfrm>
            <a:prstGeom prst="ellipse">
              <a:avLst/>
            </a:prstGeom>
            <a:solidFill>
              <a:schemeClr val="bg1"/>
            </a:solidFill>
            <a:ln w="3175" cap="flat" cmpd="sng" algn="ctr">
              <a:solidFill>
                <a:schemeClr val="bg1">
                  <a:lumMod val="7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>
              <a:innerShdw blurRad="12700" dist="12700" dir="13500000">
                <a:schemeClr val="tx1">
                  <a:lumMod val="75000"/>
                  <a:lumOff val="25000"/>
                  <a:alpha val="30000"/>
                </a:schemeClr>
              </a:innerShdw>
            </a:effectLst>
          </p:spPr>
          <p:txBody>
  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fontAlgn="base" latinLnBrk="0">
                <a:spcBef>
                  <a:spcPct val="0"/>
                </a:spcBef>
                <a:spcAft>
                  <a:spcPct val="0"/>
                </a:spcAft>
              </a:pPr>
              <a:endParaRPr kumimoji="1" lang="ko-KR" altLang="en-US" sz="800" b="1" ker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765" name="TextBox 764">
              <a:extLst>
                <a:ext uri="{FF2B5EF4-FFF2-40B4-BE49-F238E27FC236}">
                  <a16:creationId xmlns="" xmlns:a16="http://schemas.microsoft.com/office/drawing/2014/main" id="{371DEE5A-1B36-43FA-89E6-F3BCF143BE9F}"/>
                </a:ext>
              </a:extLst>
            </p:cNvPr>
            <p:cNvSpPr txBox="1"/>
            <p:nvPr/>
          </p:nvSpPr>
          <p:spPr>
            <a:xfrm>
              <a:off x="7290053" y="5082630"/>
              <a:ext cx="141633" cy="180425"/>
            </a:xfrm>
            <a:prstGeom prst="rect">
              <a:avLst/>
            </a:prstGeom>
            <a:noFill/>
            <a:ln w="3175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none" lIns="36000" tIns="36000" rIns="36000" bIns="36000" numCol="1" rtlCol="0" anchor="ctr" anchorCtr="0" compatLnSpc="1">
              <a:prstTxWarp prst="textNoShape">
                <a:avLst/>
              </a:prstTxWarp>
              <a:spAutoFit/>
            </a:bodyPr>
            <a:lstStyle/>
            <a:p>
              <a:pPr algn="l"/>
              <a:r>
                <a:rPr lang="en-US" altLang="ko-KR" sz="70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N</a:t>
              </a:r>
              <a:endParaRPr lang="ko-KR" altLang="en-US" sz="70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9375911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Group 118">
            <a:extLst>
              <a:ext uri="{FF2B5EF4-FFF2-40B4-BE49-F238E27FC236}">
                <a16:creationId xmlns="" xmlns:a16="http://schemas.microsoft.com/office/drawing/2014/main" id="{41B5A014-BEDB-439E-A302-DBCECEC856B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11354739"/>
              </p:ext>
            </p:extLst>
          </p:nvPr>
        </p:nvGraphicFramePr>
        <p:xfrm>
          <a:off x="9647906" y="709700"/>
          <a:ext cx="2376000" cy="1406784"/>
        </p:xfrm>
        <a:graphic>
          <a:graphicData uri="http://schemas.openxmlformats.org/drawingml/2006/table">
            <a:tbl>
              <a:tblPr/>
              <a:tblGrid>
                <a:gridCol w="216000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2160000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</a:tblGrid>
              <a:tr h="2520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 Semilight" panose="020B0502040204020203" pitchFamily="50" charset="-127"/>
                        </a:rPr>
                        <a:t>No</a:t>
                      </a:r>
                    </a:p>
                  </a:txBody>
                  <a:tcPr marL="42203" marR="42203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en-US" altLang="ko-KR" sz="700" b="0" baseline="0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 Semilight" panose="020B0502040204020203" pitchFamily="50" charset="-127"/>
                        </a:rPr>
                        <a:t>Description</a:t>
                      </a:r>
                    </a:p>
                  </a:txBody>
                  <a:tcPr marL="108000" marR="108000" marT="36000" marB="3600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 Semilight" panose="020B0502040204020203" pitchFamily="50" charset="-127"/>
                        </a:rPr>
                        <a:t>1</a:t>
                      </a:r>
                    </a:p>
                  </a:txBody>
                  <a:tcPr marL="42203" marR="42203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ko-KR" altLang="en-US" sz="700" b="0" baseline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  <a:cs typeface="Malgun Gothic Semilight" panose="020B0502040204020203" pitchFamily="50" charset="-127"/>
                        </a:rPr>
                        <a:t>사이즈 정보 영역</a:t>
                      </a:r>
                      <a:endParaRPr lang="en-US" altLang="ko-KR" sz="700" b="0" baseline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  <a:cs typeface="Malgun Gothic Semilight" panose="020B0502040204020203" pitchFamily="50" charset="-127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en-US" altLang="ko-KR" sz="700" b="0" baseline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  <a:cs typeface="Malgun Gothic Semilight" panose="020B0502040204020203" pitchFamily="50" charset="-127"/>
                        </a:rPr>
                        <a:t> - </a:t>
                      </a:r>
                      <a:r>
                        <a:rPr lang="ko-KR" altLang="en-US" sz="700" b="0" baseline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  <a:cs typeface="Malgun Gothic Semilight" panose="020B0502040204020203" pitchFamily="50" charset="-127"/>
                        </a:rPr>
                        <a:t>기존 컬럼 </a:t>
                      </a:r>
                      <a:r>
                        <a:rPr lang="en-US" altLang="ko-KR" sz="700" b="0" baseline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  <a:cs typeface="Malgun Gothic Semilight" panose="020B0502040204020203" pitchFamily="50" charset="-127"/>
                        </a:rPr>
                        <a:t>[</a:t>
                      </a:r>
                      <a:r>
                        <a:rPr lang="ko-KR" altLang="en-US" sz="700" b="0" baseline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  <a:cs typeface="Malgun Gothic Semilight" panose="020B0502040204020203" pitchFamily="50" charset="-127"/>
                        </a:rPr>
                        <a:t>구해드림 </a:t>
                      </a:r>
                      <a:r>
                        <a:rPr lang="en-US" altLang="ko-KR" sz="700" b="0" baseline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  <a:cs typeface="Malgun Gothic Semilight" panose="020B0502040204020203" pitchFamily="50" charset="-127"/>
                        </a:rPr>
                        <a:t>1</a:t>
                      </a:r>
                      <a:r>
                        <a:rPr lang="ko-KR" altLang="en-US" sz="700" b="0" baseline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  <a:cs typeface="Malgun Gothic Semilight" panose="020B0502040204020203" pitchFamily="50" charset="-127"/>
                        </a:rPr>
                        <a:t>단계 구매가능재고</a:t>
                      </a:r>
                      <a:r>
                        <a:rPr lang="en-US" altLang="ko-KR" sz="700" b="0" baseline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  <a:cs typeface="Malgun Gothic Semilight" panose="020B0502040204020203" pitchFamily="50" charset="-127"/>
                        </a:rPr>
                        <a:t>] [</a:t>
                      </a:r>
                      <a:r>
                        <a:rPr lang="ko-KR" altLang="en-US" sz="700" b="0" baseline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  <a:cs typeface="Malgun Gothic Semilight" panose="020B0502040204020203" pitchFamily="50" charset="-127"/>
                        </a:rPr>
                        <a:t>구해드림 </a:t>
                      </a:r>
                      <a:r>
                        <a:rPr lang="en-US" altLang="ko-KR" sz="700" b="0" baseline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  <a:cs typeface="Malgun Gothic Semilight" panose="020B0502040204020203" pitchFamily="50" charset="-127"/>
                        </a:rPr>
                        <a:t>2</a:t>
                      </a:r>
                      <a:r>
                        <a:rPr lang="ko-KR" altLang="en-US" sz="700" b="0" baseline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  <a:cs typeface="Malgun Gothic Semilight" panose="020B0502040204020203" pitchFamily="50" charset="-127"/>
                        </a:rPr>
                        <a:t>단계 구매가능재고</a:t>
                      </a:r>
                      <a:r>
                        <a:rPr lang="en-US" altLang="ko-KR" sz="700" b="0" baseline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  <a:cs typeface="Malgun Gothic Semilight" panose="020B0502040204020203" pitchFamily="50" charset="-127"/>
                        </a:rPr>
                        <a:t>] </a:t>
                      </a:r>
                      <a:r>
                        <a:rPr lang="ko-KR" altLang="en-US" sz="700" b="0" baseline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  <a:cs typeface="Malgun Gothic Semilight" panose="020B0502040204020203" pitchFamily="50" charset="-127"/>
                        </a:rPr>
                        <a:t>삭제</a:t>
                      </a:r>
                      <a:endParaRPr lang="en-US" altLang="ko-KR" sz="700" b="0" baseline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  <a:cs typeface="Malgun Gothic Semilight" panose="020B0502040204020203" pitchFamily="50" charset="-127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en-US" altLang="ko-KR" sz="700" b="0" baseline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  <a:cs typeface="Malgun Gothic Semilight" panose="020B0502040204020203" pitchFamily="50" charset="-127"/>
                        </a:rPr>
                        <a:t> - </a:t>
                      </a:r>
                      <a:r>
                        <a:rPr lang="ko-KR" altLang="en-US" sz="700" b="0" baseline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  <a:cs typeface="Malgun Gothic Semilight" panose="020B0502040204020203" pitchFamily="50" charset="-127"/>
                        </a:rPr>
                        <a:t>신규 컬럼 </a:t>
                      </a:r>
                      <a:r>
                        <a:rPr lang="en-US" altLang="ko-KR" sz="700" b="0" baseline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  <a:cs typeface="Malgun Gothic Semilight" panose="020B0502040204020203" pitchFamily="50" charset="-127"/>
                        </a:rPr>
                        <a:t>[</a:t>
                      </a:r>
                      <a:r>
                        <a:rPr lang="ko-KR" altLang="en-US" sz="700" b="0" baseline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  <a:cs typeface="Malgun Gothic Semilight" panose="020B0502040204020203" pitchFamily="50" charset="-127"/>
                        </a:rPr>
                        <a:t>비직송매장 재고</a:t>
                      </a:r>
                      <a:r>
                        <a:rPr lang="en-US" altLang="ko-KR" sz="700" b="0" baseline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  <a:cs typeface="Malgun Gothic Semilight" panose="020B0502040204020203" pitchFamily="50" charset="-127"/>
                        </a:rPr>
                        <a:t>] </a:t>
                      </a:r>
                      <a:r>
                        <a:rPr lang="ko-KR" altLang="en-US" sz="700" b="0" baseline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  <a:cs typeface="Malgun Gothic Semilight" panose="020B0502040204020203" pitchFamily="50" charset="-127"/>
                        </a:rPr>
                        <a:t>추가</a:t>
                      </a:r>
                      <a:endParaRPr lang="en-US" altLang="ko-KR" sz="700" b="0" baseline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  <a:cs typeface="Malgun Gothic Semilight" panose="020B0502040204020203" pitchFamily="50" charset="-127"/>
                      </a:endParaRPr>
                    </a:p>
                  </a:txBody>
                  <a:tcPr marL="108000" marR="108000" marT="36000" marB="3600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 Semilight" panose="020B0502040204020203" pitchFamily="50" charset="-127"/>
                        </a:rPr>
                        <a:t>2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42203" marR="42203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ko-KR" altLang="en-US" sz="700" b="0" baseline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  <a:cs typeface="Malgun Gothic Semilight" panose="020B0502040204020203" pitchFamily="50" charset="-127"/>
                        </a:rPr>
                        <a:t>상세 내역 </a:t>
                      </a:r>
                      <a:r>
                        <a:rPr lang="en-US" altLang="ko-KR" sz="700" b="0" baseline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  <a:cs typeface="Malgun Gothic Semilight" panose="020B0502040204020203" pitchFamily="50" charset="-127"/>
                        </a:rPr>
                        <a:t>TAB </a:t>
                      </a:r>
                      <a:r>
                        <a:rPr lang="ko-KR" altLang="en-US" sz="700" b="0" baseline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  <a:cs typeface="Malgun Gothic Semilight" panose="020B0502040204020203" pitchFamily="50" charset="-127"/>
                        </a:rPr>
                        <a:t>영역</a:t>
                      </a:r>
                      <a:endParaRPr lang="en-US" altLang="ko-KR" sz="700" b="0" baseline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  <a:cs typeface="Malgun Gothic Semilight" panose="020B0502040204020203" pitchFamily="50" charset="-127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en-US" altLang="ko-KR" sz="700" b="0" baseline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  <a:cs typeface="Malgun Gothic Semilight" panose="020B0502040204020203" pitchFamily="50" charset="-127"/>
                        </a:rPr>
                        <a:t> - </a:t>
                      </a:r>
                      <a:r>
                        <a:rPr lang="ko-KR" altLang="en-US" sz="700" b="0" baseline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  <a:cs typeface="Malgun Gothic Semilight" panose="020B0502040204020203" pitchFamily="50" charset="-127"/>
                        </a:rPr>
                        <a:t>기존 기능 유지</a:t>
                      </a:r>
                      <a:endParaRPr lang="en-US" altLang="ko-KR" sz="700" b="0" baseline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  <a:cs typeface="Malgun Gothic Semilight" panose="020B0502040204020203" pitchFamily="50" charset="-127"/>
                      </a:endParaRPr>
                    </a:p>
                  </a:txBody>
                  <a:tcPr marL="108000" marR="108000" marT="36000" marB="3600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 Semilight" panose="020B0502040204020203" pitchFamily="50" charset="-127"/>
                        </a:rPr>
                        <a:t>3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42203" marR="42203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ko-KR" altLang="en-US" sz="700" b="0" baseline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  <a:cs typeface="Malgun Gothic Semilight" panose="020B0502040204020203" pitchFamily="50" charset="-127"/>
                        </a:rPr>
                        <a:t>주문내역</a:t>
                      </a:r>
                      <a:r>
                        <a:rPr lang="en-US" altLang="ko-KR" sz="700" b="0" baseline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  <a:cs typeface="Malgun Gothic Semilight" panose="020B0502040204020203" pitchFamily="50" charset="-127"/>
                        </a:rPr>
                        <a:t> </a:t>
                      </a:r>
                      <a:r>
                        <a:rPr lang="ko-KR" altLang="en-US" sz="700" b="0" baseline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  <a:cs typeface="Malgun Gothic Semilight" panose="020B0502040204020203" pitchFamily="50" charset="-127"/>
                        </a:rPr>
                        <a:t>데이터 영역</a:t>
                      </a:r>
                      <a:endParaRPr lang="en-US" altLang="ko-KR" sz="700" b="0" baseline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  <a:cs typeface="Malgun Gothic Semilight" panose="020B0502040204020203" pitchFamily="50" charset="-127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en-US" altLang="ko-KR" sz="700" b="0" baseline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  <a:cs typeface="Malgun Gothic Semilight" panose="020B0502040204020203" pitchFamily="50" charset="-127"/>
                        </a:rPr>
                        <a:t> - [</a:t>
                      </a:r>
                      <a:r>
                        <a:rPr lang="ko-KR" altLang="en-US" sz="700" b="0" baseline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  <a:cs typeface="Malgun Gothic Semilight" panose="020B0502040204020203" pitchFamily="50" charset="-127"/>
                        </a:rPr>
                        <a:t>상태</a:t>
                      </a:r>
                      <a:r>
                        <a:rPr lang="en-US" altLang="ko-KR" sz="700" b="0" baseline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  <a:cs typeface="Malgun Gothic Semilight" panose="020B0502040204020203" pitchFamily="50" charset="-127"/>
                        </a:rPr>
                        <a:t>] </a:t>
                      </a:r>
                      <a:r>
                        <a:rPr lang="ko-KR" altLang="en-US" sz="700" b="0" baseline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  <a:cs typeface="Malgun Gothic Semilight" panose="020B0502040204020203" pitchFamily="50" charset="-127"/>
                        </a:rPr>
                        <a:t>필드 </a:t>
                      </a:r>
                      <a:r>
                        <a:rPr lang="en-US" altLang="ko-KR" sz="700" b="0" baseline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  <a:cs typeface="Malgun Gothic Semilight" panose="020B0502040204020203" pitchFamily="50" charset="-127"/>
                        </a:rPr>
                        <a:t>‘</a:t>
                      </a:r>
                      <a:r>
                        <a:rPr lang="ko-KR" altLang="en-US" sz="700" b="0" baseline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  <a:cs typeface="Malgun Gothic Semilight" panose="020B0502040204020203" pitchFamily="50" charset="-127"/>
                        </a:rPr>
                        <a:t>맞교환</a:t>
                      </a:r>
                      <a:r>
                        <a:rPr lang="en-US" altLang="ko-KR" sz="700" b="0" baseline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  <a:cs typeface="Malgun Gothic Semilight" panose="020B0502040204020203" pitchFamily="50" charset="-127"/>
                        </a:rPr>
                        <a:t>’ </a:t>
                      </a:r>
                      <a:r>
                        <a:rPr lang="ko-KR" altLang="en-US" sz="700" b="0" baseline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  <a:cs typeface="Malgun Gothic Semilight" panose="020B0502040204020203" pitchFamily="50" charset="-127"/>
                        </a:rPr>
                        <a:t>프로세스 표현 개발</a:t>
                      </a:r>
                      <a:endParaRPr lang="en-US" altLang="ko-KR" sz="700" b="0" baseline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  <a:cs typeface="Malgun Gothic Semilight" panose="020B0502040204020203" pitchFamily="50" charset="-127"/>
                      </a:endParaRPr>
                    </a:p>
                  </a:txBody>
                  <a:tcPr marL="108000" marR="108000" marT="36000" marB="3600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제목 1"/>
          <p:cNvSpPr txBox="1">
            <a:spLocks/>
          </p:cNvSpPr>
          <p:nvPr/>
        </p:nvSpPr>
        <p:spPr>
          <a:xfrm>
            <a:off x="1223906" y="142660"/>
            <a:ext cx="1080000" cy="216000"/>
          </a:xfrm>
          <a:prstGeom prst="rect">
            <a:avLst/>
          </a:prstGeom>
        </p:spPr>
        <p:txBody>
          <a:bodyPr lIns="36000" tIns="36000" rIns="36000" bIns="36000" anchor="ctr"/>
          <a:lstStyle>
            <a:lvl1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2pPr>
            <a:lvl3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3pPr>
            <a:lvl4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4pPr>
            <a:lvl5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5pPr>
            <a:lvl6pPr marL="457212" algn="ctr" rtl="0" fontAlgn="base" latinLnBrk="1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6pPr>
            <a:lvl7pPr marL="914423" algn="ctr" rtl="0" fontAlgn="base" latinLnBrk="1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7pPr>
            <a:lvl8pPr marL="1371634" algn="ctr" rtl="0" fontAlgn="base" latinLnBrk="1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8pPr>
            <a:lvl9pPr marL="1828846" algn="ctr" rtl="0" fontAlgn="base" latinLnBrk="1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r>
              <a:rPr lang="en-US" altLang="ko-KR" sz="8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nBOS</a:t>
            </a:r>
            <a:endParaRPr lang="ko-KR" altLang="en-US" sz="800" kern="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01" name="직사각형 200">
            <a:extLst>
              <a:ext uri="{FF2B5EF4-FFF2-40B4-BE49-F238E27FC236}">
                <a16:creationId xmlns="" xmlns:a16="http://schemas.microsoft.com/office/drawing/2014/main" id="{09B54577-DFD2-4CD0-A7A1-F1C86267855F}"/>
              </a:ext>
            </a:extLst>
          </p:cNvPr>
          <p:cNvSpPr/>
          <p:nvPr/>
        </p:nvSpPr>
        <p:spPr>
          <a:xfrm>
            <a:off x="143906" y="709700"/>
            <a:ext cx="9360000" cy="5688022"/>
          </a:xfrm>
          <a:prstGeom prst="rect">
            <a:avLst/>
          </a:prstGeom>
          <a:solidFill>
            <a:schemeClr val="tx1">
              <a:lumMod val="75000"/>
              <a:lumOff val="25000"/>
              <a:alpha val="7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 b="1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81" name="제목 1"/>
          <p:cNvSpPr txBox="1">
            <a:spLocks/>
          </p:cNvSpPr>
          <p:nvPr/>
        </p:nvSpPr>
        <p:spPr>
          <a:xfrm>
            <a:off x="1223906" y="358660"/>
            <a:ext cx="1080000" cy="216000"/>
          </a:xfrm>
          <a:prstGeom prst="rect">
            <a:avLst/>
          </a:prstGeom>
        </p:spPr>
        <p:txBody>
          <a:bodyPr lIns="36000" tIns="36000" rIns="36000" bIns="36000" anchor="ctr"/>
          <a:lstStyle>
            <a:lvl1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2pPr>
            <a:lvl3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3pPr>
            <a:lvl4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4pPr>
            <a:lvl5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5pPr>
            <a:lvl6pPr marL="457212" algn="ctr" rtl="0" fontAlgn="base" latinLnBrk="1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6pPr>
            <a:lvl7pPr marL="914423" algn="ctr" rtl="0" fontAlgn="base" latinLnBrk="1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7pPr>
            <a:lvl8pPr marL="1371634" algn="ctr" rtl="0" fontAlgn="base" latinLnBrk="1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8pPr>
            <a:lvl9pPr marL="1828846" algn="ctr" rtl="0" fontAlgn="base" latinLnBrk="1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r>
              <a:rPr lang="en-US" altLang="ko-KR" sz="800" ker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-</a:t>
            </a:r>
            <a:endParaRPr lang="ko-KR" altLang="en-US" sz="800" kern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82" name="제목 1">
            <a:extLst>
              <a:ext uri="{FF2B5EF4-FFF2-40B4-BE49-F238E27FC236}">
                <a16:creationId xmlns="" xmlns:a16="http://schemas.microsoft.com/office/drawing/2014/main" id="{03F65532-A01C-4981-B987-5E15F64E3ABB}"/>
              </a:ext>
            </a:extLst>
          </p:cNvPr>
          <p:cNvSpPr txBox="1">
            <a:spLocks/>
          </p:cNvSpPr>
          <p:nvPr/>
        </p:nvSpPr>
        <p:spPr>
          <a:xfrm>
            <a:off x="3383718" y="142660"/>
            <a:ext cx="4320000" cy="216000"/>
          </a:xfrm>
          <a:prstGeom prst="rect">
            <a:avLst/>
          </a:prstGeom>
        </p:spPr>
        <p:txBody>
          <a:bodyPr lIns="180000" tIns="36000" rIns="180000" bIns="36000" anchor="ctr"/>
          <a:lstStyle>
            <a:lvl1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2pPr>
            <a:lvl3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3pPr>
            <a:lvl4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4pPr>
            <a:lvl5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5pPr>
            <a:lvl6pPr marL="457212" algn="ctr" rtl="0" fontAlgn="base" latinLnBrk="1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6pPr>
            <a:lvl7pPr marL="914423" algn="ctr" rtl="0" fontAlgn="base" latinLnBrk="1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7pPr>
            <a:lvl8pPr marL="1371634" algn="ctr" rtl="0" fontAlgn="base" latinLnBrk="1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8pPr>
            <a:lvl9pPr marL="1828846" algn="ctr" rtl="0" fontAlgn="base" latinLnBrk="1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l"/>
            <a:r>
              <a:rPr lang="ko-KR" altLang="en-US" sz="800" ker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상품 </a:t>
            </a:r>
            <a:r>
              <a:rPr lang="en-US" altLang="ko-KR" sz="800" ker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&gt; </a:t>
            </a:r>
            <a:r>
              <a:rPr lang="ko-KR" altLang="en-US" sz="800" ker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상품관리 </a:t>
            </a:r>
            <a:r>
              <a:rPr lang="en-US" altLang="ko-KR" sz="800" ker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&gt; </a:t>
            </a:r>
            <a:r>
              <a:rPr lang="ko-KR" altLang="en-US" sz="800" kern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상품관리 </a:t>
            </a:r>
            <a:r>
              <a:rPr lang="en-US" altLang="ko-KR" sz="800" kern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&gt; </a:t>
            </a:r>
            <a:r>
              <a:rPr lang="ko-KR" altLang="en-US" sz="800" kern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자사상품상세</a:t>
            </a:r>
            <a:endParaRPr lang="ko-KR" altLang="en-US" sz="800" kern="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183" name="제목 1">
            <a:extLst>
              <a:ext uri="{FF2B5EF4-FFF2-40B4-BE49-F238E27FC236}">
                <a16:creationId xmlns="" xmlns:a16="http://schemas.microsoft.com/office/drawing/2014/main" id="{E2CFB5AD-2840-4821-B288-2284D6C0A05E}"/>
              </a:ext>
            </a:extLst>
          </p:cNvPr>
          <p:cNvSpPr txBox="1">
            <a:spLocks/>
          </p:cNvSpPr>
          <p:nvPr/>
        </p:nvSpPr>
        <p:spPr>
          <a:xfrm>
            <a:off x="3383718" y="358660"/>
            <a:ext cx="4320000" cy="216000"/>
          </a:xfrm>
          <a:prstGeom prst="rect">
            <a:avLst/>
          </a:prstGeom>
        </p:spPr>
        <p:txBody>
          <a:bodyPr lIns="180000" tIns="36000" rIns="180000" bIns="36000" anchor="ctr"/>
          <a:lstStyle>
            <a:lvl1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2pPr>
            <a:lvl3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3pPr>
            <a:lvl4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4pPr>
            <a:lvl5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5pPr>
            <a:lvl6pPr marL="457212" algn="ctr" rtl="0" fontAlgn="base" latinLnBrk="1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6pPr>
            <a:lvl7pPr marL="914423" algn="ctr" rtl="0" fontAlgn="base" latinLnBrk="1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7pPr>
            <a:lvl8pPr marL="1371634" algn="ctr" rtl="0" fontAlgn="base" latinLnBrk="1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8pPr>
            <a:lvl9pPr marL="1828846" algn="ctr" rtl="0" fontAlgn="base" latinLnBrk="1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l"/>
            <a:r>
              <a:rPr lang="en-US" altLang="ko-KR" sz="8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https://nbos.lfmall.co.kr/lfmadm/index.html</a:t>
            </a:r>
            <a:endParaRPr lang="ko-KR" altLang="en-US" sz="800" kern="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184" name="제목 1">
            <a:extLst>
              <a:ext uri="{FF2B5EF4-FFF2-40B4-BE49-F238E27FC236}">
                <a16:creationId xmlns="" xmlns:a16="http://schemas.microsoft.com/office/drawing/2014/main" id="{03F65532-A01C-4981-B987-5E15F64E3ABB}"/>
              </a:ext>
            </a:extLst>
          </p:cNvPr>
          <p:cNvSpPr txBox="1">
            <a:spLocks/>
          </p:cNvSpPr>
          <p:nvPr/>
        </p:nvSpPr>
        <p:spPr>
          <a:xfrm>
            <a:off x="8783530" y="142660"/>
            <a:ext cx="1079290" cy="432000"/>
          </a:xfrm>
          <a:prstGeom prst="rect">
            <a:avLst/>
          </a:prstGeom>
        </p:spPr>
        <p:txBody>
          <a:bodyPr lIns="180000" tIns="36000" rIns="180000" bIns="36000" anchor="ctr"/>
          <a:lstStyle>
            <a:lvl1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2pPr>
            <a:lvl3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3pPr>
            <a:lvl4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4pPr>
            <a:lvl5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5pPr>
            <a:lvl6pPr marL="457212" algn="ctr" rtl="0" fontAlgn="base" latinLnBrk="1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6pPr>
            <a:lvl7pPr marL="914423" algn="ctr" rtl="0" fontAlgn="base" latinLnBrk="1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7pPr>
            <a:lvl8pPr marL="1371634" algn="ctr" rtl="0" fontAlgn="base" latinLnBrk="1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8pPr>
            <a:lvl9pPr marL="1828846" algn="ctr" rtl="0" fontAlgn="base" latinLnBrk="1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r>
              <a:rPr lang="ko-KR" altLang="en-US" sz="800" kern="0"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</a:rPr>
              <a:t>최범열</a:t>
            </a:r>
          </a:p>
        </p:txBody>
      </p:sp>
      <p:sp>
        <p:nvSpPr>
          <p:cNvPr id="202" name="사각형: 둥근 모서리 58">
            <a:extLst>
              <a:ext uri="{FF2B5EF4-FFF2-40B4-BE49-F238E27FC236}">
                <a16:creationId xmlns="" xmlns:a16="http://schemas.microsoft.com/office/drawing/2014/main" id="{DD080841-1344-4C9C-ADD3-8387E4C1C248}"/>
              </a:ext>
            </a:extLst>
          </p:cNvPr>
          <p:cNvSpPr/>
          <p:nvPr/>
        </p:nvSpPr>
        <p:spPr bwMode="auto">
          <a:xfrm>
            <a:off x="683906" y="1033711"/>
            <a:ext cx="8280000" cy="5040000"/>
          </a:xfrm>
          <a:prstGeom prst="roundRect">
            <a:avLst>
              <a:gd name="adj" fmla="val 750"/>
            </a:avLst>
          </a:prstGeom>
          <a:solidFill>
            <a:srgbClr val="FFFFFF"/>
          </a:solidFill>
          <a:ln w="3175" cap="flat" cmpd="sng" algn="ctr">
            <a:solidFill>
              <a:srgbClr val="FFFFFF">
                <a:lumMod val="75000"/>
              </a:srgbClr>
            </a:solidFill>
            <a:prstDash val="solid"/>
            <a:round/>
            <a:headEnd type="none" w="med" len="med"/>
            <a:tailEnd type="none" w="med" len="med"/>
          </a:ln>
          <a:effectLst>
            <a:outerShdw blurRad="25400" dist="12700" dir="2700000" algn="tl" rotWithShape="0">
              <a:prstClr val="black">
                <a:alpha val="60000"/>
              </a:prstClr>
            </a:outerShdw>
          </a:effectLst>
        </p:spPr>
        <p:txBody>
          <a:bodyPr vert="horz" wrap="square" lIns="36000" tIns="36000" rIns="36000" bIns="3600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87313" indent="-87313" algn="ctr" defTabSz="914400" fontAlgn="base" latinLnBrk="0">
              <a:lnSpc>
                <a:spcPct val="110000"/>
              </a:lnSpc>
              <a:spcBef>
                <a:spcPct val="25000"/>
              </a:spcBef>
              <a:spcAft>
                <a:spcPct val="0"/>
              </a:spcAft>
              <a:defRPr/>
            </a:pPr>
            <a:endParaRPr kumimoji="1" lang="ko-KR" altLang="en-US" sz="700" kern="0">
              <a:solidFill>
                <a:srgbClr val="000000">
                  <a:lumMod val="75000"/>
                  <a:lumOff val="25000"/>
                </a:srgbClr>
              </a:solidFill>
              <a:latin typeface="맑은 고딕" panose="020B0503020000020004" pitchFamily="50" charset="-127"/>
            </a:endParaRPr>
          </a:p>
        </p:txBody>
      </p:sp>
      <p:grpSp>
        <p:nvGrpSpPr>
          <p:cNvPr id="197" name="그룹 196"/>
          <p:cNvGrpSpPr/>
          <p:nvPr/>
        </p:nvGrpSpPr>
        <p:grpSpPr>
          <a:xfrm>
            <a:off x="4029429" y="5713872"/>
            <a:ext cx="1582545" cy="216000"/>
            <a:chOff x="4606976" y="5317589"/>
            <a:chExt cx="1582545" cy="216000"/>
          </a:xfrm>
        </p:grpSpPr>
        <p:sp>
          <p:nvSpPr>
            <p:cNvPr id="198" name="사각형: 둥근 모서리 370">
              <a:extLst>
                <a:ext uri="{FF2B5EF4-FFF2-40B4-BE49-F238E27FC236}">
                  <a16:creationId xmlns="" xmlns:a16="http://schemas.microsoft.com/office/drawing/2014/main" id="{40426C93-54F4-4D06-9E1D-260D2A45518E}"/>
                </a:ext>
              </a:extLst>
            </p:cNvPr>
            <p:cNvSpPr/>
            <p:nvPr/>
          </p:nvSpPr>
          <p:spPr bwMode="auto">
            <a:xfrm>
              <a:off x="5469521" y="5317589"/>
              <a:ext cx="720000" cy="216000"/>
            </a:xfrm>
            <a:prstGeom prst="roundRect">
              <a:avLst/>
            </a:prstGeom>
            <a:solidFill>
              <a:srgbClr val="C00000"/>
            </a:solidFill>
            <a:ln w="3175" cap="flat" cmpd="sng" algn="ctr">
              <a:solidFill>
                <a:schemeClr val="bg1">
                  <a:lumMod val="7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12700" dist="12700" dir="2700000" algn="tl" rotWithShape="0">
                <a:schemeClr val="tx1">
                  <a:lumMod val="75000"/>
                  <a:lumOff val="25000"/>
                  <a:alpha val="30000"/>
                </a:schemeClr>
              </a:outerShdw>
            </a:effectLst>
          </p:spPr>
          <p:txBody>
            <a:bodyPr rot="0" spcFirstLastPara="0" vertOverflow="overflow" horzOverflow="overflow" vert="horz" wrap="none" lIns="36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1" lang="ko-KR" altLang="en-US" sz="700" i="0" u="none" strike="noStrike" kern="0" cap="none" spc="0" normalizeH="0" baseline="0" noProof="0" smtClean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ea"/>
                </a:rPr>
                <a:t>수정</a:t>
              </a:r>
              <a:endParaRPr kumimoji="1" lang="ko-KR" altLang="en-US" sz="700" i="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</a:endParaRPr>
            </a:p>
          </p:txBody>
        </p:sp>
        <p:sp>
          <p:nvSpPr>
            <p:cNvPr id="199" name="사각형: 둥근 모서리 370">
              <a:extLst>
                <a:ext uri="{FF2B5EF4-FFF2-40B4-BE49-F238E27FC236}">
                  <a16:creationId xmlns="" xmlns:a16="http://schemas.microsoft.com/office/drawing/2014/main" id="{40426C93-54F4-4D06-9E1D-260D2A45518E}"/>
                </a:ext>
              </a:extLst>
            </p:cNvPr>
            <p:cNvSpPr/>
            <p:nvPr/>
          </p:nvSpPr>
          <p:spPr bwMode="auto">
            <a:xfrm>
              <a:off x="4606976" y="5317589"/>
              <a:ext cx="720000" cy="216000"/>
            </a:xfrm>
            <a:prstGeom prst="roundRect">
              <a:avLst/>
            </a:prstGeom>
            <a:solidFill>
              <a:schemeClr val="bg1"/>
            </a:solidFill>
            <a:ln w="3175" cap="flat" cmpd="sng" algn="ctr">
              <a:solidFill>
                <a:schemeClr val="bg1">
                  <a:lumMod val="7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12700" dist="12700" dir="2700000" algn="tl" rotWithShape="0">
                <a:schemeClr val="tx1">
                  <a:lumMod val="75000"/>
                  <a:lumOff val="25000"/>
                  <a:alpha val="30000"/>
                </a:schemeClr>
              </a:outerShdw>
            </a:effectLst>
          </p:spPr>
          <p:txBody>
            <a:bodyPr rot="0" spcFirstLastPara="0" vertOverflow="overflow" horzOverflow="overflow" vert="horz" wrap="none" lIns="36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1" lang="ko-KR" altLang="en-US" sz="700" i="0" u="none" strike="noStrike" kern="0" cap="none" spc="0" normalizeH="0" baseline="0" noProof="0" smtClean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latin typeface="+mn-ea"/>
                </a:rPr>
                <a:t>닫기</a:t>
              </a:r>
              <a:endParaRPr kumimoji="1" lang="ko-KR" altLang="en-US" sz="700" i="0" u="none" strike="noStrike" kern="0" cap="none" spc="0" normalizeH="0" baseline="0" noProof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n-ea"/>
              </a:endParaRPr>
            </a:p>
          </p:txBody>
        </p:sp>
      </p:grpSp>
      <p:grpSp>
        <p:nvGrpSpPr>
          <p:cNvPr id="5" name="그룹 4"/>
          <p:cNvGrpSpPr/>
          <p:nvPr/>
        </p:nvGrpSpPr>
        <p:grpSpPr>
          <a:xfrm>
            <a:off x="827906" y="4488603"/>
            <a:ext cx="7990634" cy="1080000"/>
            <a:chOff x="827906" y="3912193"/>
            <a:chExt cx="7990634" cy="1080000"/>
          </a:xfrm>
        </p:grpSpPr>
        <p:sp>
          <p:nvSpPr>
            <p:cNvPr id="207" name="직사각형 206">
              <a:extLst>
                <a:ext uri="{FF2B5EF4-FFF2-40B4-BE49-F238E27FC236}">
                  <a16:creationId xmlns:a16="http://schemas.microsoft.com/office/drawing/2014/main" xmlns="" id="{2086226C-F3B2-4253-81E2-3DD09EF4018E}"/>
                </a:ext>
              </a:extLst>
            </p:cNvPr>
            <p:cNvSpPr/>
            <p:nvPr/>
          </p:nvSpPr>
          <p:spPr>
            <a:xfrm>
              <a:off x="827906" y="3912193"/>
              <a:ext cx="1080000" cy="1080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36000" rIns="36000" bIns="36000" rtlCol="0" anchor="ctr"/>
            <a:lstStyle/>
            <a:p>
              <a:r>
                <a:rPr lang="ko-KR" altLang="en-US" sz="70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코디상품등록</a:t>
              </a:r>
              <a:endParaRPr lang="ko-KR" altLang="en-US" sz="7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208" name="직사각형 207">
              <a:extLst>
                <a:ext uri="{FF2B5EF4-FFF2-40B4-BE49-F238E27FC236}">
                  <a16:creationId xmlns:a16="http://schemas.microsoft.com/office/drawing/2014/main" xmlns="" id="{E955F0F7-52A0-48E2-96C0-51A6B4AD6027}"/>
                </a:ext>
              </a:extLst>
            </p:cNvPr>
            <p:cNvSpPr/>
            <p:nvPr/>
          </p:nvSpPr>
          <p:spPr>
            <a:xfrm>
              <a:off x="1907905" y="3912193"/>
              <a:ext cx="6910635" cy="1080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36000" rIns="108000" bIns="36000" rtlCol="0" anchor="ctr"/>
            <a:lstStyle/>
            <a:p>
              <a:endParaRPr lang="ko-KR" altLang="en-US" sz="7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sp>
        <p:nvSpPr>
          <p:cNvPr id="209" name="직사각형 208">
            <a:extLst>
              <a:ext uri="{FF2B5EF4-FFF2-40B4-BE49-F238E27FC236}">
                <a16:creationId xmlns="" xmlns:a16="http://schemas.microsoft.com/office/drawing/2014/main" id="{E955F0F7-52A0-48E2-96C0-51A6B4AD6027}"/>
              </a:ext>
            </a:extLst>
          </p:cNvPr>
          <p:cNvSpPr/>
          <p:nvPr/>
        </p:nvSpPr>
        <p:spPr>
          <a:xfrm>
            <a:off x="1907904" y="4488603"/>
            <a:ext cx="6910636" cy="288000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36000" rIns="36000" bIns="36000" rtlCol="0" anchor="ctr"/>
          <a:lstStyle/>
          <a:p>
            <a:endParaRPr lang="ko-KR" altLang="en-US" sz="700" b="1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12" name="직사각형 211"/>
          <p:cNvSpPr/>
          <p:nvPr/>
        </p:nvSpPr>
        <p:spPr>
          <a:xfrm>
            <a:off x="1907904" y="4776603"/>
            <a:ext cx="1080000" cy="2160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70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온라인상품코드</a:t>
            </a:r>
            <a:endParaRPr lang="ko-KR" altLang="en-US" sz="70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13" name="사각형: 둥근 모서리 244">
            <a:extLst>
              <a:ext uri="{FF2B5EF4-FFF2-40B4-BE49-F238E27FC236}">
                <a16:creationId xmlns="" xmlns:a16="http://schemas.microsoft.com/office/drawing/2014/main" id="{6A3ABAA2-A5F4-4C8F-B9C8-C37B43E8884D}"/>
              </a:ext>
            </a:extLst>
          </p:cNvPr>
          <p:cNvSpPr/>
          <p:nvPr/>
        </p:nvSpPr>
        <p:spPr bwMode="auto">
          <a:xfrm>
            <a:off x="8242671" y="4542603"/>
            <a:ext cx="504000" cy="18000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317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12700" dist="12700" dir="2700000" algn="tl" rotWithShape="0">
              <a:schemeClr val="tx1">
                <a:lumMod val="75000"/>
                <a:lumOff val="25000"/>
                <a:alpha val="30000"/>
              </a:schemeClr>
            </a:outerShdw>
          </a:effectLst>
        </p:spPr>
        <p:txBody>
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400" fontAlgn="base" latinLnBrk="0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700" kern="0" smtClean="0">
                <a:solidFill>
                  <a:schemeClr val="bg1"/>
                </a:solidFill>
                <a:latin typeface="+mn-ea"/>
              </a:rPr>
              <a:t>상품추가</a:t>
            </a:r>
            <a:endParaRPr kumimoji="1" lang="ko-KR" altLang="en-US" sz="700" kern="0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214" name="직사각형 213"/>
          <p:cNvSpPr/>
          <p:nvPr/>
        </p:nvSpPr>
        <p:spPr>
          <a:xfrm>
            <a:off x="2987904" y="4776603"/>
            <a:ext cx="1080000" cy="2160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70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품목코드</a:t>
            </a:r>
            <a:endParaRPr lang="ko-KR" altLang="en-US" sz="70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15" name="직사각형 214"/>
          <p:cNvSpPr/>
          <p:nvPr/>
        </p:nvSpPr>
        <p:spPr>
          <a:xfrm>
            <a:off x="4067901" y="4776603"/>
            <a:ext cx="2590637" cy="2160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70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품목명</a:t>
            </a:r>
            <a:endParaRPr lang="ko-KR" altLang="en-US" sz="70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16" name="직사각형 215"/>
          <p:cNvSpPr/>
          <p:nvPr/>
        </p:nvSpPr>
        <p:spPr>
          <a:xfrm>
            <a:off x="6658540" y="4776603"/>
            <a:ext cx="1080000" cy="2160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70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우선순위</a:t>
            </a:r>
            <a:endParaRPr lang="ko-KR" altLang="en-US" sz="70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17" name="직사각형 216"/>
          <p:cNvSpPr/>
          <p:nvPr/>
        </p:nvSpPr>
        <p:spPr>
          <a:xfrm>
            <a:off x="7738540" y="4776603"/>
            <a:ext cx="1080000" cy="2160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70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사용유무</a:t>
            </a:r>
            <a:endParaRPr lang="ko-KR" altLang="en-US" sz="70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19" name="직사각형 218">
            <a:extLst>
              <a:ext uri="{FF2B5EF4-FFF2-40B4-BE49-F238E27FC236}">
                <a16:creationId xmlns:a16="http://schemas.microsoft.com/office/drawing/2014/main" xmlns="" id="{E955F0F7-52A0-48E2-96C0-51A6B4AD6027}"/>
              </a:ext>
            </a:extLst>
          </p:cNvPr>
          <p:cNvSpPr/>
          <p:nvPr/>
        </p:nvSpPr>
        <p:spPr>
          <a:xfrm>
            <a:off x="827906" y="3048737"/>
            <a:ext cx="7990634" cy="1440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36000" rIns="108000" bIns="36000" rtlCol="0" anchor="ctr"/>
          <a:lstStyle/>
          <a:p>
            <a:endParaRPr lang="ko-KR" altLang="en-US" sz="7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20" name="직사각형 219"/>
          <p:cNvSpPr/>
          <p:nvPr/>
        </p:nvSpPr>
        <p:spPr>
          <a:xfrm>
            <a:off x="827906" y="3049756"/>
            <a:ext cx="792000" cy="2160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70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사이즈</a:t>
            </a:r>
            <a:endParaRPr lang="ko-KR" altLang="en-US" sz="70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21" name="직사각형 220"/>
          <p:cNvSpPr/>
          <p:nvPr/>
        </p:nvSpPr>
        <p:spPr>
          <a:xfrm>
            <a:off x="827906" y="3265756"/>
            <a:ext cx="792000" cy="216000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/>
          <a:lstStyle/>
          <a:p>
            <a:pPr algn="ctr"/>
            <a:r>
              <a:rPr lang="en-US" altLang="ko-KR" sz="7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085</a:t>
            </a:r>
            <a:endParaRPr lang="ko-KR" altLang="en-US" sz="70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22" name="직사각형 221"/>
          <p:cNvSpPr/>
          <p:nvPr/>
        </p:nvSpPr>
        <p:spPr>
          <a:xfrm>
            <a:off x="1619754" y="3049756"/>
            <a:ext cx="792000" cy="2160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70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공통매핑사이즈</a:t>
            </a:r>
            <a:endParaRPr lang="ko-KR" altLang="en-US" sz="70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23" name="직사각형 222"/>
          <p:cNvSpPr/>
          <p:nvPr/>
        </p:nvSpPr>
        <p:spPr>
          <a:xfrm>
            <a:off x="1619754" y="3265756"/>
            <a:ext cx="792000" cy="216000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/>
          <a:lstStyle/>
          <a:p>
            <a:pPr algn="ctr"/>
            <a:endParaRPr lang="ko-KR" altLang="en-US" sz="70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24" name="직사각형 223"/>
          <p:cNvSpPr/>
          <p:nvPr/>
        </p:nvSpPr>
        <p:spPr>
          <a:xfrm>
            <a:off x="827906" y="3481767"/>
            <a:ext cx="792000" cy="216000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/>
          <a:lstStyle/>
          <a:p>
            <a:pPr algn="ctr"/>
            <a:r>
              <a:rPr lang="en-US" altLang="ko-KR" sz="7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090</a:t>
            </a:r>
            <a:endParaRPr lang="ko-KR" altLang="en-US" sz="70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25" name="직사각형 224"/>
          <p:cNvSpPr/>
          <p:nvPr/>
        </p:nvSpPr>
        <p:spPr>
          <a:xfrm>
            <a:off x="1619754" y="3481767"/>
            <a:ext cx="792000" cy="216000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/>
          <a:lstStyle/>
          <a:p>
            <a:pPr algn="ctr"/>
            <a:endParaRPr lang="ko-KR" altLang="en-US" sz="70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26" name="직사각형 225"/>
          <p:cNvSpPr/>
          <p:nvPr/>
        </p:nvSpPr>
        <p:spPr>
          <a:xfrm>
            <a:off x="827906" y="3697611"/>
            <a:ext cx="792000" cy="216000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/>
          <a:lstStyle/>
          <a:p>
            <a:pPr algn="ctr"/>
            <a:r>
              <a:rPr lang="en-US" altLang="ko-KR" sz="7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095</a:t>
            </a:r>
            <a:endParaRPr lang="ko-KR" altLang="en-US" sz="70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27" name="직사각형 226"/>
          <p:cNvSpPr/>
          <p:nvPr/>
        </p:nvSpPr>
        <p:spPr>
          <a:xfrm>
            <a:off x="1619754" y="3697611"/>
            <a:ext cx="792000" cy="216000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/>
          <a:lstStyle/>
          <a:p>
            <a:pPr algn="ctr"/>
            <a:endParaRPr lang="ko-KR" altLang="en-US" sz="70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28" name="직사각형 227"/>
          <p:cNvSpPr/>
          <p:nvPr/>
        </p:nvSpPr>
        <p:spPr>
          <a:xfrm>
            <a:off x="827906" y="3913622"/>
            <a:ext cx="792000" cy="216000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/>
          <a:lstStyle/>
          <a:p>
            <a:pPr algn="ctr"/>
            <a:r>
              <a:rPr lang="en-US" altLang="ko-KR" sz="7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100</a:t>
            </a:r>
            <a:endParaRPr lang="ko-KR" altLang="en-US" sz="70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31" name="직사각형 230"/>
          <p:cNvSpPr/>
          <p:nvPr/>
        </p:nvSpPr>
        <p:spPr>
          <a:xfrm>
            <a:off x="1619754" y="3913622"/>
            <a:ext cx="792000" cy="216000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/>
          <a:lstStyle/>
          <a:p>
            <a:pPr algn="ctr"/>
            <a:endParaRPr lang="ko-KR" altLang="en-US" sz="70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34" name="직사각형 233"/>
          <p:cNvSpPr/>
          <p:nvPr/>
        </p:nvSpPr>
        <p:spPr>
          <a:xfrm>
            <a:off x="2411602" y="3049756"/>
            <a:ext cx="792000" cy="2160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70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예외매핑사이즈</a:t>
            </a:r>
            <a:endParaRPr lang="ko-KR" altLang="en-US" sz="70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35" name="직사각형 234"/>
          <p:cNvSpPr/>
          <p:nvPr/>
        </p:nvSpPr>
        <p:spPr>
          <a:xfrm>
            <a:off x="2411602" y="3265756"/>
            <a:ext cx="792000" cy="216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/>
          <a:lstStyle/>
          <a:p>
            <a:pPr algn="ctr"/>
            <a:endParaRPr lang="ko-KR" altLang="en-US" sz="70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36" name="직사각형 235"/>
          <p:cNvSpPr/>
          <p:nvPr/>
        </p:nvSpPr>
        <p:spPr>
          <a:xfrm>
            <a:off x="2411602" y="3481767"/>
            <a:ext cx="792000" cy="216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/>
          <a:lstStyle/>
          <a:p>
            <a:pPr algn="ctr"/>
            <a:endParaRPr lang="ko-KR" altLang="en-US" sz="70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37" name="직사각형 236"/>
          <p:cNvSpPr/>
          <p:nvPr/>
        </p:nvSpPr>
        <p:spPr>
          <a:xfrm>
            <a:off x="2411602" y="3697611"/>
            <a:ext cx="792000" cy="216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/>
          <a:lstStyle/>
          <a:p>
            <a:pPr algn="ctr"/>
            <a:endParaRPr lang="ko-KR" altLang="en-US" sz="70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38" name="직사각형 237"/>
          <p:cNvSpPr/>
          <p:nvPr/>
        </p:nvSpPr>
        <p:spPr>
          <a:xfrm>
            <a:off x="2411602" y="3913622"/>
            <a:ext cx="792000" cy="216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/>
          <a:lstStyle/>
          <a:p>
            <a:pPr algn="ctr"/>
            <a:endParaRPr lang="ko-KR" altLang="en-US" sz="70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39" name="직사각형 238"/>
          <p:cNvSpPr/>
          <p:nvPr/>
        </p:nvSpPr>
        <p:spPr>
          <a:xfrm>
            <a:off x="3203450" y="3049756"/>
            <a:ext cx="792000" cy="2160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70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우선순위</a:t>
            </a:r>
            <a:endParaRPr lang="ko-KR" altLang="en-US" sz="70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40" name="직사각형 239"/>
          <p:cNvSpPr/>
          <p:nvPr/>
        </p:nvSpPr>
        <p:spPr>
          <a:xfrm>
            <a:off x="3203450" y="3265756"/>
            <a:ext cx="792000" cy="216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/>
          <a:lstStyle/>
          <a:p>
            <a:pPr algn="ctr"/>
            <a:endParaRPr lang="ko-KR" altLang="en-US" sz="70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41" name="직사각형 240"/>
          <p:cNvSpPr/>
          <p:nvPr/>
        </p:nvSpPr>
        <p:spPr>
          <a:xfrm>
            <a:off x="3203450" y="3481767"/>
            <a:ext cx="792000" cy="216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/>
          <a:lstStyle/>
          <a:p>
            <a:pPr algn="ctr"/>
            <a:endParaRPr lang="ko-KR" altLang="en-US" sz="70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42" name="직사각형 241"/>
          <p:cNvSpPr/>
          <p:nvPr/>
        </p:nvSpPr>
        <p:spPr>
          <a:xfrm>
            <a:off x="3203450" y="3697611"/>
            <a:ext cx="792000" cy="216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/>
          <a:lstStyle/>
          <a:p>
            <a:pPr algn="ctr"/>
            <a:endParaRPr lang="ko-KR" altLang="en-US" sz="70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43" name="직사각형 242"/>
          <p:cNvSpPr/>
          <p:nvPr/>
        </p:nvSpPr>
        <p:spPr>
          <a:xfrm>
            <a:off x="3203450" y="3913622"/>
            <a:ext cx="792000" cy="216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/>
          <a:lstStyle/>
          <a:p>
            <a:pPr algn="ctr"/>
            <a:endParaRPr lang="ko-KR" altLang="en-US" sz="70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44" name="모서리가 둥근 직사각형 184">
            <a:extLst>
              <a:ext uri="{FF2B5EF4-FFF2-40B4-BE49-F238E27FC236}">
                <a16:creationId xmlns="" xmlns:a16="http://schemas.microsoft.com/office/drawing/2014/main" id="{7C4181B1-00DE-4B1A-9AF4-36726F2433BA}"/>
              </a:ext>
            </a:extLst>
          </p:cNvPr>
          <p:cNvSpPr/>
          <p:nvPr/>
        </p:nvSpPr>
        <p:spPr bwMode="auto">
          <a:xfrm>
            <a:off x="3239450" y="3301756"/>
            <a:ext cx="720000" cy="144000"/>
          </a:xfrm>
          <a:prstGeom prst="roundRect">
            <a:avLst/>
          </a:prstGeom>
          <a:solidFill>
            <a:srgbClr val="FFFFEF"/>
          </a:solidFill>
          <a:ln w="3175" cap="flat" cmpd="sng" algn="ctr">
            <a:solidFill>
              <a:schemeClr val="bg1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none" lIns="108000" tIns="36000" rIns="108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r" defTabSz="914400" fontAlgn="base" latinLnBrk="0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700" b="0" i="0" u="none" strike="noStrike" kern="0" cap="none" spc="0" normalizeH="0" baseline="0" noProof="0" smtClean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0</a:t>
            </a:r>
            <a:endParaRPr kumimoji="1" lang="ko-KR" altLang="en-US" sz="700" b="0" i="0" u="none" strike="noStrike" kern="0" cap="none" spc="0" normalizeH="0" baseline="0" noProof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45" name="모서리가 둥근 직사각형 184">
            <a:extLst>
              <a:ext uri="{FF2B5EF4-FFF2-40B4-BE49-F238E27FC236}">
                <a16:creationId xmlns="" xmlns:a16="http://schemas.microsoft.com/office/drawing/2014/main" id="{7C4181B1-00DE-4B1A-9AF4-36726F2433BA}"/>
              </a:ext>
            </a:extLst>
          </p:cNvPr>
          <p:cNvSpPr/>
          <p:nvPr/>
        </p:nvSpPr>
        <p:spPr bwMode="auto">
          <a:xfrm>
            <a:off x="3239450" y="3517767"/>
            <a:ext cx="720000" cy="144000"/>
          </a:xfrm>
          <a:prstGeom prst="roundRect">
            <a:avLst/>
          </a:prstGeom>
          <a:solidFill>
            <a:srgbClr val="FFFFEF"/>
          </a:solidFill>
          <a:ln w="3175" cap="flat" cmpd="sng" algn="ctr">
            <a:solidFill>
              <a:schemeClr val="bg1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none" lIns="108000" tIns="36000" rIns="108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r" defTabSz="914400" fontAlgn="base" latinLnBrk="0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700" b="0" i="0" u="none" strike="noStrike" kern="0" cap="none" spc="0" normalizeH="0" baseline="0" noProof="0" smtClean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0</a:t>
            </a:r>
            <a:endParaRPr kumimoji="1" lang="ko-KR" altLang="en-US" sz="700" b="0" i="0" u="none" strike="noStrike" kern="0" cap="none" spc="0" normalizeH="0" baseline="0" noProof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46" name="모서리가 둥근 직사각형 184">
            <a:extLst>
              <a:ext uri="{FF2B5EF4-FFF2-40B4-BE49-F238E27FC236}">
                <a16:creationId xmlns="" xmlns:a16="http://schemas.microsoft.com/office/drawing/2014/main" id="{7C4181B1-00DE-4B1A-9AF4-36726F2433BA}"/>
              </a:ext>
            </a:extLst>
          </p:cNvPr>
          <p:cNvSpPr/>
          <p:nvPr/>
        </p:nvSpPr>
        <p:spPr bwMode="auto">
          <a:xfrm>
            <a:off x="3239450" y="3733611"/>
            <a:ext cx="720000" cy="144000"/>
          </a:xfrm>
          <a:prstGeom prst="roundRect">
            <a:avLst/>
          </a:prstGeom>
          <a:solidFill>
            <a:srgbClr val="FFFFEF"/>
          </a:solidFill>
          <a:ln w="3175" cap="flat" cmpd="sng" algn="ctr">
            <a:solidFill>
              <a:schemeClr val="bg1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none" lIns="108000" tIns="36000" rIns="108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r" defTabSz="914400" fontAlgn="base" latinLnBrk="0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700" b="0" i="0" u="none" strike="noStrike" kern="0" cap="none" spc="0" normalizeH="0" baseline="0" noProof="0" smtClean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0</a:t>
            </a:r>
            <a:endParaRPr kumimoji="1" lang="ko-KR" altLang="en-US" sz="700" b="0" i="0" u="none" strike="noStrike" kern="0" cap="none" spc="0" normalizeH="0" baseline="0" noProof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47" name="모서리가 둥근 직사각형 184">
            <a:extLst>
              <a:ext uri="{FF2B5EF4-FFF2-40B4-BE49-F238E27FC236}">
                <a16:creationId xmlns="" xmlns:a16="http://schemas.microsoft.com/office/drawing/2014/main" id="{7C4181B1-00DE-4B1A-9AF4-36726F2433BA}"/>
              </a:ext>
            </a:extLst>
          </p:cNvPr>
          <p:cNvSpPr/>
          <p:nvPr/>
        </p:nvSpPr>
        <p:spPr bwMode="auto">
          <a:xfrm>
            <a:off x="3239450" y="3949622"/>
            <a:ext cx="720000" cy="144000"/>
          </a:xfrm>
          <a:prstGeom prst="roundRect">
            <a:avLst/>
          </a:prstGeom>
          <a:solidFill>
            <a:srgbClr val="FFFFEF"/>
          </a:solidFill>
          <a:ln w="3175" cap="flat" cmpd="sng" algn="ctr">
            <a:solidFill>
              <a:schemeClr val="bg1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none" lIns="108000" tIns="36000" rIns="108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r" defTabSz="914400" fontAlgn="base" latinLnBrk="0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700" b="0" i="0" u="none" strike="noStrike" kern="0" cap="none" spc="0" normalizeH="0" baseline="0" noProof="0" smtClean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0</a:t>
            </a:r>
            <a:endParaRPr kumimoji="1" lang="ko-KR" altLang="en-US" sz="700" b="0" i="0" u="none" strike="noStrike" kern="0" cap="none" spc="0" normalizeH="0" baseline="0" noProof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48" name="직사각형 247"/>
          <p:cNvSpPr/>
          <p:nvPr/>
        </p:nvSpPr>
        <p:spPr>
          <a:xfrm>
            <a:off x="3995298" y="3049756"/>
            <a:ext cx="792000" cy="2160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70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전체재고</a:t>
            </a:r>
            <a:endParaRPr lang="ko-KR" altLang="en-US" sz="70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49" name="직사각형 248"/>
          <p:cNvSpPr/>
          <p:nvPr/>
        </p:nvSpPr>
        <p:spPr>
          <a:xfrm>
            <a:off x="3995298" y="3265756"/>
            <a:ext cx="792000" cy="216000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/>
          <a:lstStyle/>
          <a:p>
            <a:pPr algn="ctr"/>
            <a:r>
              <a:rPr lang="en-US" altLang="ko-KR" sz="7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14</a:t>
            </a:r>
            <a:endParaRPr lang="ko-KR" altLang="en-US" sz="70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50" name="직사각형 249"/>
          <p:cNvSpPr/>
          <p:nvPr/>
        </p:nvSpPr>
        <p:spPr>
          <a:xfrm>
            <a:off x="3995298" y="3481767"/>
            <a:ext cx="792000" cy="216000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/>
          <a:lstStyle/>
          <a:p>
            <a:pPr algn="ctr"/>
            <a:r>
              <a:rPr lang="en-US" altLang="ko-KR" sz="7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39</a:t>
            </a:r>
            <a:endParaRPr lang="ko-KR" altLang="en-US" sz="70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51" name="직사각형 250"/>
          <p:cNvSpPr/>
          <p:nvPr/>
        </p:nvSpPr>
        <p:spPr>
          <a:xfrm>
            <a:off x="3995298" y="3697611"/>
            <a:ext cx="792000" cy="216000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/>
          <a:lstStyle/>
          <a:p>
            <a:pPr algn="ctr"/>
            <a:r>
              <a:rPr lang="en-US" altLang="ko-KR" sz="7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27</a:t>
            </a:r>
            <a:endParaRPr lang="ko-KR" altLang="en-US" sz="70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52" name="직사각형 251"/>
          <p:cNvSpPr/>
          <p:nvPr/>
        </p:nvSpPr>
        <p:spPr>
          <a:xfrm>
            <a:off x="3995298" y="3913622"/>
            <a:ext cx="792000" cy="216000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/>
          <a:lstStyle/>
          <a:p>
            <a:pPr algn="ctr"/>
            <a:r>
              <a:rPr lang="en-US" altLang="ko-KR" sz="7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5</a:t>
            </a:r>
            <a:endParaRPr lang="ko-KR" altLang="en-US" sz="70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53" name="직사각형 252"/>
          <p:cNvSpPr/>
          <p:nvPr/>
        </p:nvSpPr>
        <p:spPr>
          <a:xfrm>
            <a:off x="4787146" y="3049756"/>
            <a:ext cx="792000" cy="2160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70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안전재고</a:t>
            </a:r>
            <a:endParaRPr lang="ko-KR" altLang="en-US" sz="70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54" name="직사각형 253"/>
          <p:cNvSpPr/>
          <p:nvPr/>
        </p:nvSpPr>
        <p:spPr>
          <a:xfrm>
            <a:off x="4787146" y="3265756"/>
            <a:ext cx="792000" cy="216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/>
          <a:lstStyle/>
          <a:p>
            <a:pPr algn="ctr"/>
            <a:endParaRPr lang="ko-KR" altLang="en-US" sz="70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60" name="직사각형 259"/>
          <p:cNvSpPr/>
          <p:nvPr/>
        </p:nvSpPr>
        <p:spPr>
          <a:xfrm>
            <a:off x="4787146" y="3481767"/>
            <a:ext cx="792000" cy="216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/>
          <a:lstStyle/>
          <a:p>
            <a:pPr algn="ctr"/>
            <a:endParaRPr lang="ko-KR" altLang="en-US" sz="70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62" name="직사각형 261"/>
          <p:cNvSpPr/>
          <p:nvPr/>
        </p:nvSpPr>
        <p:spPr>
          <a:xfrm>
            <a:off x="4787146" y="3697611"/>
            <a:ext cx="792000" cy="216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/>
          <a:lstStyle/>
          <a:p>
            <a:pPr algn="ctr"/>
            <a:endParaRPr lang="ko-KR" altLang="en-US" sz="70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63" name="직사각형 262"/>
          <p:cNvSpPr/>
          <p:nvPr/>
        </p:nvSpPr>
        <p:spPr>
          <a:xfrm>
            <a:off x="4787146" y="3913622"/>
            <a:ext cx="792000" cy="216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/>
          <a:lstStyle/>
          <a:p>
            <a:pPr algn="ctr"/>
            <a:endParaRPr lang="ko-KR" altLang="en-US" sz="70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64" name="모서리가 둥근 직사각형 184">
            <a:extLst>
              <a:ext uri="{FF2B5EF4-FFF2-40B4-BE49-F238E27FC236}">
                <a16:creationId xmlns="" xmlns:a16="http://schemas.microsoft.com/office/drawing/2014/main" id="{7C4181B1-00DE-4B1A-9AF4-36726F2433BA}"/>
              </a:ext>
            </a:extLst>
          </p:cNvPr>
          <p:cNvSpPr/>
          <p:nvPr/>
        </p:nvSpPr>
        <p:spPr bwMode="auto">
          <a:xfrm>
            <a:off x="4823146" y="3301756"/>
            <a:ext cx="720000" cy="144000"/>
          </a:xfrm>
          <a:prstGeom prst="roundRect">
            <a:avLst/>
          </a:prstGeom>
          <a:solidFill>
            <a:srgbClr val="FFFFEF"/>
          </a:solidFill>
          <a:ln w="3175" cap="flat" cmpd="sng" algn="ctr">
            <a:solidFill>
              <a:schemeClr val="bg1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none" lIns="108000" tIns="36000" rIns="108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r" defTabSz="914400" fontAlgn="base" latinLnBrk="0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700" b="0" i="0" u="none" strike="noStrike" kern="0" cap="none" spc="0" normalizeH="0" baseline="0" noProof="0" smtClean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0</a:t>
            </a:r>
            <a:endParaRPr kumimoji="1" lang="ko-KR" altLang="en-US" sz="700" b="0" i="0" u="none" strike="noStrike" kern="0" cap="none" spc="0" normalizeH="0" baseline="0" noProof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65" name="모서리가 둥근 직사각형 184">
            <a:extLst>
              <a:ext uri="{FF2B5EF4-FFF2-40B4-BE49-F238E27FC236}">
                <a16:creationId xmlns="" xmlns:a16="http://schemas.microsoft.com/office/drawing/2014/main" id="{7C4181B1-00DE-4B1A-9AF4-36726F2433BA}"/>
              </a:ext>
            </a:extLst>
          </p:cNvPr>
          <p:cNvSpPr/>
          <p:nvPr/>
        </p:nvSpPr>
        <p:spPr bwMode="auto">
          <a:xfrm>
            <a:off x="4823146" y="3517767"/>
            <a:ext cx="720000" cy="144000"/>
          </a:xfrm>
          <a:prstGeom prst="roundRect">
            <a:avLst/>
          </a:prstGeom>
          <a:solidFill>
            <a:srgbClr val="FFFFEF"/>
          </a:solidFill>
          <a:ln w="3175" cap="flat" cmpd="sng" algn="ctr">
            <a:solidFill>
              <a:schemeClr val="bg1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none" lIns="108000" tIns="36000" rIns="108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r" defTabSz="914400" fontAlgn="base" latinLnBrk="0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700" b="0" i="0" u="none" strike="noStrike" kern="0" cap="none" spc="0" normalizeH="0" baseline="0" noProof="0" smtClean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endParaRPr kumimoji="1" lang="ko-KR" altLang="en-US" sz="700" b="0" i="0" u="none" strike="noStrike" kern="0" cap="none" spc="0" normalizeH="0" baseline="0" noProof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66" name="모서리가 둥근 직사각형 184">
            <a:extLst>
              <a:ext uri="{FF2B5EF4-FFF2-40B4-BE49-F238E27FC236}">
                <a16:creationId xmlns="" xmlns:a16="http://schemas.microsoft.com/office/drawing/2014/main" id="{7C4181B1-00DE-4B1A-9AF4-36726F2433BA}"/>
              </a:ext>
            </a:extLst>
          </p:cNvPr>
          <p:cNvSpPr/>
          <p:nvPr/>
        </p:nvSpPr>
        <p:spPr bwMode="auto">
          <a:xfrm>
            <a:off x="4823146" y="3733611"/>
            <a:ext cx="720000" cy="144000"/>
          </a:xfrm>
          <a:prstGeom prst="roundRect">
            <a:avLst/>
          </a:prstGeom>
          <a:solidFill>
            <a:srgbClr val="FFFFEF"/>
          </a:solidFill>
          <a:ln w="3175" cap="flat" cmpd="sng" algn="ctr">
            <a:solidFill>
              <a:schemeClr val="bg1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none" lIns="108000" tIns="36000" rIns="108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r" defTabSz="914400" fontAlgn="base" latinLnBrk="0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700" b="0" i="0" u="none" strike="noStrike" kern="0" cap="none" spc="0" normalizeH="0" baseline="0" noProof="0" smtClean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endParaRPr kumimoji="1" lang="ko-KR" altLang="en-US" sz="700" b="0" i="0" u="none" strike="noStrike" kern="0" cap="none" spc="0" normalizeH="0" baseline="0" noProof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67" name="모서리가 둥근 직사각형 184">
            <a:extLst>
              <a:ext uri="{FF2B5EF4-FFF2-40B4-BE49-F238E27FC236}">
                <a16:creationId xmlns="" xmlns:a16="http://schemas.microsoft.com/office/drawing/2014/main" id="{7C4181B1-00DE-4B1A-9AF4-36726F2433BA}"/>
              </a:ext>
            </a:extLst>
          </p:cNvPr>
          <p:cNvSpPr/>
          <p:nvPr/>
        </p:nvSpPr>
        <p:spPr bwMode="auto">
          <a:xfrm>
            <a:off x="4823146" y="3949622"/>
            <a:ext cx="720000" cy="144000"/>
          </a:xfrm>
          <a:prstGeom prst="roundRect">
            <a:avLst/>
          </a:prstGeom>
          <a:solidFill>
            <a:srgbClr val="FFFFEF"/>
          </a:solidFill>
          <a:ln w="3175" cap="flat" cmpd="sng" algn="ctr">
            <a:solidFill>
              <a:schemeClr val="bg1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none" lIns="108000" tIns="36000" rIns="108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r" defTabSz="914400" fontAlgn="base" latinLnBrk="0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700" b="0" i="0" u="none" strike="noStrike" kern="0" cap="none" spc="0" normalizeH="0" baseline="0" noProof="0" smtClean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0</a:t>
            </a:r>
            <a:endParaRPr kumimoji="1" lang="ko-KR" altLang="en-US" sz="700" b="0" i="0" u="none" strike="noStrike" kern="0" cap="none" spc="0" normalizeH="0" baseline="0" noProof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69" name="직사각형 268"/>
          <p:cNvSpPr/>
          <p:nvPr/>
        </p:nvSpPr>
        <p:spPr>
          <a:xfrm>
            <a:off x="5578994" y="3049756"/>
            <a:ext cx="792000" cy="2160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70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유효재고</a:t>
            </a:r>
            <a:endParaRPr lang="ko-KR" altLang="en-US" sz="70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70" name="직사각형 269"/>
          <p:cNvSpPr/>
          <p:nvPr/>
        </p:nvSpPr>
        <p:spPr>
          <a:xfrm>
            <a:off x="5578994" y="3265756"/>
            <a:ext cx="792000" cy="216000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/>
          <a:lstStyle/>
          <a:p>
            <a:pPr algn="ctr"/>
            <a:r>
              <a:rPr lang="en-US" altLang="ko-KR" sz="7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14</a:t>
            </a:r>
            <a:endParaRPr lang="ko-KR" altLang="en-US" sz="70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71" name="직사각형 270"/>
          <p:cNvSpPr/>
          <p:nvPr/>
        </p:nvSpPr>
        <p:spPr>
          <a:xfrm>
            <a:off x="5578994" y="3481767"/>
            <a:ext cx="792000" cy="216000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/>
          <a:lstStyle/>
          <a:p>
            <a:pPr algn="ctr"/>
            <a:r>
              <a:rPr lang="en-US" altLang="ko-KR" sz="7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38</a:t>
            </a:r>
            <a:endParaRPr lang="ko-KR" altLang="en-US" sz="70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72" name="직사각형 271"/>
          <p:cNvSpPr/>
          <p:nvPr/>
        </p:nvSpPr>
        <p:spPr>
          <a:xfrm>
            <a:off x="5578994" y="3697611"/>
            <a:ext cx="792000" cy="216000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/>
          <a:lstStyle/>
          <a:p>
            <a:pPr algn="ctr"/>
            <a:r>
              <a:rPr lang="en-US" altLang="ko-KR" sz="7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26</a:t>
            </a:r>
            <a:endParaRPr lang="ko-KR" altLang="en-US" sz="70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73" name="직사각형 272"/>
          <p:cNvSpPr/>
          <p:nvPr/>
        </p:nvSpPr>
        <p:spPr>
          <a:xfrm>
            <a:off x="5578994" y="3913622"/>
            <a:ext cx="792000" cy="216000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/>
          <a:lstStyle/>
          <a:p>
            <a:pPr algn="ctr"/>
            <a:r>
              <a:rPr lang="en-US" altLang="ko-KR" sz="7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5</a:t>
            </a:r>
            <a:endParaRPr lang="ko-KR" altLang="en-US" sz="70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86" name="직사각형 285"/>
          <p:cNvSpPr/>
          <p:nvPr/>
        </p:nvSpPr>
        <p:spPr>
          <a:xfrm>
            <a:off x="6370842" y="3049756"/>
            <a:ext cx="792000" cy="2160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70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품절여부</a:t>
            </a:r>
            <a:endParaRPr lang="ko-KR" altLang="en-US" sz="70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89" name="직사각형 288"/>
          <p:cNvSpPr/>
          <p:nvPr/>
        </p:nvSpPr>
        <p:spPr>
          <a:xfrm>
            <a:off x="6370842" y="3265756"/>
            <a:ext cx="792000" cy="216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/>
          <a:lstStyle/>
          <a:p>
            <a:pPr algn="ctr"/>
            <a:endParaRPr lang="ko-KR" altLang="en-US" sz="70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90" name="직사각형 289"/>
          <p:cNvSpPr/>
          <p:nvPr/>
        </p:nvSpPr>
        <p:spPr>
          <a:xfrm>
            <a:off x="6370842" y="3481767"/>
            <a:ext cx="792000" cy="216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/>
          <a:lstStyle/>
          <a:p>
            <a:pPr algn="ctr"/>
            <a:endParaRPr lang="ko-KR" altLang="en-US" sz="70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91" name="직사각형 290"/>
          <p:cNvSpPr/>
          <p:nvPr/>
        </p:nvSpPr>
        <p:spPr>
          <a:xfrm>
            <a:off x="6370842" y="3697611"/>
            <a:ext cx="792000" cy="216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/>
          <a:lstStyle/>
          <a:p>
            <a:pPr algn="ctr"/>
            <a:endParaRPr lang="ko-KR" altLang="en-US" sz="70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92" name="직사각형 291"/>
          <p:cNvSpPr/>
          <p:nvPr/>
        </p:nvSpPr>
        <p:spPr>
          <a:xfrm>
            <a:off x="6370842" y="3913622"/>
            <a:ext cx="792000" cy="216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/>
          <a:lstStyle/>
          <a:p>
            <a:pPr algn="ctr"/>
            <a:endParaRPr lang="ko-KR" altLang="en-US" sz="70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7" name="그룹 6"/>
          <p:cNvGrpSpPr/>
          <p:nvPr/>
        </p:nvGrpSpPr>
        <p:grpSpPr>
          <a:xfrm>
            <a:off x="6406842" y="3301756"/>
            <a:ext cx="720000" cy="144000"/>
            <a:chOff x="5903906" y="3517756"/>
            <a:chExt cx="720000" cy="144000"/>
          </a:xfrm>
        </p:grpSpPr>
        <p:sp>
          <p:nvSpPr>
            <p:cNvPr id="300" name="모서리가 둥근 직사각형 139">
              <a:extLst>
                <a:ext uri="{FF2B5EF4-FFF2-40B4-BE49-F238E27FC236}">
                  <a16:creationId xmlns="" xmlns:a16="http://schemas.microsoft.com/office/drawing/2014/main" id="{D20B2316-7950-45D5-A329-DFCDAA416345}"/>
                </a:ext>
              </a:extLst>
            </p:cNvPr>
            <p:cNvSpPr/>
            <p:nvPr/>
          </p:nvSpPr>
          <p:spPr bwMode="auto">
            <a:xfrm>
              <a:off x="5903906" y="3517756"/>
              <a:ext cx="720000" cy="144000"/>
            </a:xfrm>
            <a:prstGeom prst="roundRect">
              <a:avLst/>
            </a:prstGeom>
            <a:solidFill>
              <a:schemeClr val="bg1"/>
            </a:solidFill>
            <a:ln w="3175" cap="flat" cmpd="sng" algn="ctr">
              <a:solidFill>
                <a:schemeClr val="bg1">
                  <a:lumMod val="7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none" lIns="36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fontAlgn="base" latinLnBrk="0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ko-KR" sz="700" kern="0" smtClean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N</a:t>
              </a:r>
              <a:endParaRPr kumimoji="1" lang="ko-KR" altLang="en-US" sz="700" kern="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endParaRPr>
            </a:p>
          </p:txBody>
        </p:sp>
        <p:sp>
          <p:nvSpPr>
            <p:cNvPr id="301" name="모서리가 둥근 직사각형 141">
              <a:extLst>
                <a:ext uri="{FF2B5EF4-FFF2-40B4-BE49-F238E27FC236}">
                  <a16:creationId xmlns="" xmlns:a16="http://schemas.microsoft.com/office/drawing/2014/main" id="{9D3BF834-DC28-4D1A-B5CB-ED60EA5C7751}"/>
                </a:ext>
              </a:extLst>
            </p:cNvPr>
            <p:cNvSpPr/>
            <p:nvPr/>
          </p:nvSpPr>
          <p:spPr bwMode="auto">
            <a:xfrm>
              <a:off x="6479906" y="3517756"/>
              <a:ext cx="144000" cy="144000"/>
            </a:xfrm>
            <a:prstGeom prst="roundRect">
              <a:avLst/>
            </a:prstGeom>
            <a:solidFill>
              <a:schemeClr val="bg1"/>
            </a:solidFill>
            <a:ln w="3175" cap="flat" cmpd="sng" algn="ctr">
              <a:solidFill>
                <a:schemeClr val="bg1">
                  <a:lumMod val="7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none" lIns="36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fontAlgn="base" latinLnBrk="0">
                <a:spcBef>
                  <a:spcPct val="0"/>
                </a:spcBef>
                <a:spcAft>
                  <a:spcPct val="0"/>
                </a:spcAft>
              </a:pPr>
              <a:r>
                <a:rPr kumimoji="1" lang="ko-KR" altLang="en-US" sz="700" kern="0" dirty="0">
                  <a:solidFill>
                    <a:srgbClr val="000000"/>
                  </a:solidFill>
                  <a:latin typeface="+mn-ea"/>
                </a:rPr>
                <a:t>▼</a:t>
              </a:r>
            </a:p>
          </p:txBody>
        </p:sp>
      </p:grpSp>
      <p:grpSp>
        <p:nvGrpSpPr>
          <p:cNvPr id="8" name="그룹 7"/>
          <p:cNvGrpSpPr/>
          <p:nvPr/>
        </p:nvGrpSpPr>
        <p:grpSpPr>
          <a:xfrm>
            <a:off x="6406842" y="3516737"/>
            <a:ext cx="720000" cy="144000"/>
            <a:chOff x="5903906" y="3732737"/>
            <a:chExt cx="720000" cy="144000"/>
          </a:xfrm>
        </p:grpSpPr>
        <p:sp>
          <p:nvSpPr>
            <p:cNvPr id="303" name="모서리가 둥근 직사각형 139">
              <a:extLst>
                <a:ext uri="{FF2B5EF4-FFF2-40B4-BE49-F238E27FC236}">
                  <a16:creationId xmlns="" xmlns:a16="http://schemas.microsoft.com/office/drawing/2014/main" id="{D20B2316-7950-45D5-A329-DFCDAA416345}"/>
                </a:ext>
              </a:extLst>
            </p:cNvPr>
            <p:cNvSpPr/>
            <p:nvPr/>
          </p:nvSpPr>
          <p:spPr bwMode="auto">
            <a:xfrm>
              <a:off x="5903906" y="3732737"/>
              <a:ext cx="720000" cy="144000"/>
            </a:xfrm>
            <a:prstGeom prst="roundRect">
              <a:avLst/>
            </a:prstGeom>
            <a:solidFill>
              <a:schemeClr val="bg1"/>
            </a:solidFill>
            <a:ln w="3175" cap="flat" cmpd="sng" algn="ctr">
              <a:solidFill>
                <a:schemeClr val="bg1">
                  <a:lumMod val="7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none" lIns="36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fontAlgn="base" latinLnBrk="0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ko-KR" sz="700" kern="0" smtClean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N</a:t>
              </a:r>
              <a:endParaRPr kumimoji="1" lang="ko-KR" altLang="en-US" sz="700" kern="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endParaRPr>
            </a:p>
          </p:txBody>
        </p:sp>
        <p:sp>
          <p:nvSpPr>
            <p:cNvPr id="304" name="모서리가 둥근 직사각형 141">
              <a:extLst>
                <a:ext uri="{FF2B5EF4-FFF2-40B4-BE49-F238E27FC236}">
                  <a16:creationId xmlns="" xmlns:a16="http://schemas.microsoft.com/office/drawing/2014/main" id="{9D3BF834-DC28-4D1A-B5CB-ED60EA5C7751}"/>
                </a:ext>
              </a:extLst>
            </p:cNvPr>
            <p:cNvSpPr/>
            <p:nvPr/>
          </p:nvSpPr>
          <p:spPr bwMode="auto">
            <a:xfrm>
              <a:off x="6479906" y="3732737"/>
              <a:ext cx="144000" cy="144000"/>
            </a:xfrm>
            <a:prstGeom prst="roundRect">
              <a:avLst/>
            </a:prstGeom>
            <a:solidFill>
              <a:schemeClr val="bg1"/>
            </a:solidFill>
            <a:ln w="3175" cap="flat" cmpd="sng" algn="ctr">
              <a:solidFill>
                <a:schemeClr val="bg1">
                  <a:lumMod val="7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none" lIns="36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fontAlgn="base" latinLnBrk="0">
                <a:spcBef>
                  <a:spcPct val="0"/>
                </a:spcBef>
                <a:spcAft>
                  <a:spcPct val="0"/>
                </a:spcAft>
              </a:pPr>
              <a:r>
                <a:rPr kumimoji="1" lang="ko-KR" altLang="en-US" sz="700" kern="0" dirty="0">
                  <a:solidFill>
                    <a:srgbClr val="000000"/>
                  </a:solidFill>
                  <a:latin typeface="+mn-ea"/>
                </a:rPr>
                <a:t>▼</a:t>
              </a:r>
            </a:p>
          </p:txBody>
        </p:sp>
      </p:grpSp>
      <p:grpSp>
        <p:nvGrpSpPr>
          <p:cNvPr id="9" name="그룹 8"/>
          <p:cNvGrpSpPr/>
          <p:nvPr/>
        </p:nvGrpSpPr>
        <p:grpSpPr>
          <a:xfrm>
            <a:off x="6406842" y="3733611"/>
            <a:ext cx="720000" cy="144000"/>
            <a:chOff x="5903906" y="3949611"/>
            <a:chExt cx="720000" cy="144000"/>
          </a:xfrm>
        </p:grpSpPr>
        <p:sp>
          <p:nvSpPr>
            <p:cNvPr id="306" name="모서리가 둥근 직사각형 139">
              <a:extLst>
                <a:ext uri="{FF2B5EF4-FFF2-40B4-BE49-F238E27FC236}">
                  <a16:creationId xmlns="" xmlns:a16="http://schemas.microsoft.com/office/drawing/2014/main" id="{D20B2316-7950-45D5-A329-DFCDAA416345}"/>
                </a:ext>
              </a:extLst>
            </p:cNvPr>
            <p:cNvSpPr/>
            <p:nvPr/>
          </p:nvSpPr>
          <p:spPr bwMode="auto">
            <a:xfrm>
              <a:off x="5903906" y="3949611"/>
              <a:ext cx="720000" cy="144000"/>
            </a:xfrm>
            <a:prstGeom prst="roundRect">
              <a:avLst/>
            </a:prstGeom>
            <a:solidFill>
              <a:schemeClr val="bg1"/>
            </a:solidFill>
            <a:ln w="3175" cap="flat" cmpd="sng" algn="ctr">
              <a:solidFill>
                <a:schemeClr val="bg1">
                  <a:lumMod val="7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none" lIns="36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fontAlgn="base" latinLnBrk="0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ko-KR" sz="700" kern="0" smtClean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N</a:t>
              </a:r>
              <a:endParaRPr kumimoji="1" lang="ko-KR" altLang="en-US" sz="700" kern="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endParaRPr>
            </a:p>
          </p:txBody>
        </p:sp>
        <p:sp>
          <p:nvSpPr>
            <p:cNvPr id="307" name="모서리가 둥근 직사각형 141">
              <a:extLst>
                <a:ext uri="{FF2B5EF4-FFF2-40B4-BE49-F238E27FC236}">
                  <a16:creationId xmlns="" xmlns:a16="http://schemas.microsoft.com/office/drawing/2014/main" id="{9D3BF834-DC28-4D1A-B5CB-ED60EA5C7751}"/>
                </a:ext>
              </a:extLst>
            </p:cNvPr>
            <p:cNvSpPr/>
            <p:nvPr/>
          </p:nvSpPr>
          <p:spPr bwMode="auto">
            <a:xfrm>
              <a:off x="6479906" y="3949611"/>
              <a:ext cx="144000" cy="144000"/>
            </a:xfrm>
            <a:prstGeom prst="roundRect">
              <a:avLst/>
            </a:prstGeom>
            <a:solidFill>
              <a:schemeClr val="bg1"/>
            </a:solidFill>
            <a:ln w="3175" cap="flat" cmpd="sng" algn="ctr">
              <a:solidFill>
                <a:schemeClr val="bg1">
                  <a:lumMod val="7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none" lIns="36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fontAlgn="base" latinLnBrk="0">
                <a:spcBef>
                  <a:spcPct val="0"/>
                </a:spcBef>
                <a:spcAft>
                  <a:spcPct val="0"/>
                </a:spcAft>
              </a:pPr>
              <a:r>
                <a:rPr kumimoji="1" lang="ko-KR" altLang="en-US" sz="700" kern="0" dirty="0">
                  <a:solidFill>
                    <a:srgbClr val="000000"/>
                  </a:solidFill>
                  <a:latin typeface="+mn-ea"/>
                </a:rPr>
                <a:t>▼</a:t>
              </a:r>
            </a:p>
          </p:txBody>
        </p:sp>
      </p:grpSp>
      <p:grpSp>
        <p:nvGrpSpPr>
          <p:cNvPr id="10" name="그룹 9"/>
          <p:cNvGrpSpPr/>
          <p:nvPr/>
        </p:nvGrpSpPr>
        <p:grpSpPr>
          <a:xfrm>
            <a:off x="6406842" y="3949622"/>
            <a:ext cx="720000" cy="144000"/>
            <a:chOff x="5903906" y="4165622"/>
            <a:chExt cx="720000" cy="144000"/>
          </a:xfrm>
        </p:grpSpPr>
        <p:sp>
          <p:nvSpPr>
            <p:cNvPr id="312" name="모서리가 둥근 직사각형 139">
              <a:extLst>
                <a:ext uri="{FF2B5EF4-FFF2-40B4-BE49-F238E27FC236}">
                  <a16:creationId xmlns="" xmlns:a16="http://schemas.microsoft.com/office/drawing/2014/main" id="{D20B2316-7950-45D5-A329-DFCDAA416345}"/>
                </a:ext>
              </a:extLst>
            </p:cNvPr>
            <p:cNvSpPr/>
            <p:nvPr/>
          </p:nvSpPr>
          <p:spPr bwMode="auto">
            <a:xfrm>
              <a:off x="5903906" y="4165622"/>
              <a:ext cx="720000" cy="144000"/>
            </a:xfrm>
            <a:prstGeom prst="roundRect">
              <a:avLst/>
            </a:prstGeom>
            <a:solidFill>
              <a:schemeClr val="bg1"/>
            </a:solidFill>
            <a:ln w="3175" cap="flat" cmpd="sng" algn="ctr">
              <a:solidFill>
                <a:schemeClr val="bg1">
                  <a:lumMod val="7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none" lIns="36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fontAlgn="base" latinLnBrk="0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ko-KR" sz="700" kern="0" smtClean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N</a:t>
              </a:r>
              <a:endParaRPr kumimoji="1" lang="ko-KR" altLang="en-US" sz="700" kern="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endParaRPr>
            </a:p>
          </p:txBody>
        </p:sp>
        <p:sp>
          <p:nvSpPr>
            <p:cNvPr id="315" name="모서리가 둥근 직사각형 141">
              <a:extLst>
                <a:ext uri="{FF2B5EF4-FFF2-40B4-BE49-F238E27FC236}">
                  <a16:creationId xmlns="" xmlns:a16="http://schemas.microsoft.com/office/drawing/2014/main" id="{9D3BF834-DC28-4D1A-B5CB-ED60EA5C7751}"/>
                </a:ext>
              </a:extLst>
            </p:cNvPr>
            <p:cNvSpPr/>
            <p:nvPr/>
          </p:nvSpPr>
          <p:spPr bwMode="auto">
            <a:xfrm>
              <a:off x="6479906" y="4165622"/>
              <a:ext cx="144000" cy="144000"/>
            </a:xfrm>
            <a:prstGeom prst="roundRect">
              <a:avLst/>
            </a:prstGeom>
            <a:solidFill>
              <a:schemeClr val="bg1"/>
            </a:solidFill>
            <a:ln w="3175" cap="flat" cmpd="sng" algn="ctr">
              <a:solidFill>
                <a:schemeClr val="bg1">
                  <a:lumMod val="7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none" lIns="36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fontAlgn="base" latinLnBrk="0">
                <a:spcBef>
                  <a:spcPct val="0"/>
                </a:spcBef>
                <a:spcAft>
                  <a:spcPct val="0"/>
                </a:spcAft>
              </a:pPr>
              <a:r>
                <a:rPr kumimoji="1" lang="ko-KR" altLang="en-US" sz="700" kern="0" dirty="0">
                  <a:solidFill>
                    <a:srgbClr val="000000"/>
                  </a:solidFill>
                  <a:latin typeface="+mn-ea"/>
                </a:rPr>
                <a:t>▼</a:t>
              </a:r>
            </a:p>
          </p:txBody>
        </p:sp>
      </p:grpSp>
      <p:sp>
        <p:nvSpPr>
          <p:cNvPr id="115" name="직사각형 114"/>
          <p:cNvSpPr/>
          <p:nvPr/>
        </p:nvSpPr>
        <p:spPr>
          <a:xfrm>
            <a:off x="7162690" y="3049756"/>
            <a:ext cx="792000" cy="2160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70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비직송매장 재고</a:t>
            </a:r>
            <a:endParaRPr lang="ko-KR" altLang="en-US" sz="70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16" name="직사각형 115"/>
          <p:cNvSpPr/>
          <p:nvPr/>
        </p:nvSpPr>
        <p:spPr>
          <a:xfrm>
            <a:off x="7162690" y="3265756"/>
            <a:ext cx="792000" cy="216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/>
          <a:lstStyle/>
          <a:p>
            <a:pPr algn="ctr"/>
            <a:r>
              <a:rPr lang="en-US" altLang="ko-KR" sz="7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32</a:t>
            </a:r>
            <a:endParaRPr lang="ko-KR" altLang="en-US" sz="70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17" name="직사각형 116"/>
          <p:cNvSpPr/>
          <p:nvPr/>
        </p:nvSpPr>
        <p:spPr>
          <a:xfrm>
            <a:off x="7162690" y="3481767"/>
            <a:ext cx="792000" cy="216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/>
          <a:lstStyle/>
          <a:p>
            <a:pPr algn="ctr"/>
            <a:r>
              <a:rPr lang="en-US" altLang="ko-KR" sz="7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65</a:t>
            </a:r>
            <a:endParaRPr lang="ko-KR" altLang="en-US" sz="70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18" name="직사각형 117"/>
          <p:cNvSpPr/>
          <p:nvPr/>
        </p:nvSpPr>
        <p:spPr>
          <a:xfrm>
            <a:off x="7162690" y="3697611"/>
            <a:ext cx="792000" cy="216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/>
          <a:lstStyle/>
          <a:p>
            <a:pPr algn="ctr"/>
            <a:r>
              <a:rPr lang="en-US" altLang="ko-KR" sz="7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59</a:t>
            </a:r>
            <a:endParaRPr lang="ko-KR" altLang="en-US" sz="70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19" name="직사각형 118"/>
          <p:cNvSpPr/>
          <p:nvPr/>
        </p:nvSpPr>
        <p:spPr>
          <a:xfrm>
            <a:off x="7162690" y="3913622"/>
            <a:ext cx="792000" cy="216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/>
          <a:lstStyle/>
          <a:p>
            <a:pPr algn="ctr"/>
            <a:r>
              <a:rPr lang="en-US" altLang="ko-KR" sz="7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17</a:t>
            </a:r>
            <a:endParaRPr lang="ko-KR" altLang="en-US" sz="70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28" name="직사각형 127"/>
          <p:cNvSpPr/>
          <p:nvPr/>
        </p:nvSpPr>
        <p:spPr>
          <a:xfrm>
            <a:off x="7954540" y="3049756"/>
            <a:ext cx="864000" cy="2160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70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기간계재고</a:t>
            </a:r>
            <a:endParaRPr lang="ko-KR" altLang="en-US" sz="70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29" name="직사각형 128"/>
          <p:cNvSpPr/>
          <p:nvPr/>
        </p:nvSpPr>
        <p:spPr>
          <a:xfrm>
            <a:off x="7954540" y="3265756"/>
            <a:ext cx="864000" cy="216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/>
          <a:lstStyle/>
          <a:p>
            <a:pPr algn="ctr"/>
            <a:endParaRPr lang="ko-KR" altLang="en-US" sz="70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30" name="직사각형 129"/>
          <p:cNvSpPr/>
          <p:nvPr/>
        </p:nvSpPr>
        <p:spPr>
          <a:xfrm>
            <a:off x="7954540" y="3481767"/>
            <a:ext cx="864000" cy="216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/>
          <a:lstStyle/>
          <a:p>
            <a:pPr algn="ctr"/>
            <a:endParaRPr lang="ko-KR" altLang="en-US" sz="70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31" name="직사각형 130"/>
          <p:cNvSpPr/>
          <p:nvPr/>
        </p:nvSpPr>
        <p:spPr>
          <a:xfrm>
            <a:off x="7954540" y="3697611"/>
            <a:ext cx="864000" cy="216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/>
          <a:lstStyle/>
          <a:p>
            <a:pPr algn="ctr"/>
            <a:endParaRPr lang="ko-KR" altLang="en-US" sz="70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32" name="직사각형 131"/>
          <p:cNvSpPr/>
          <p:nvPr/>
        </p:nvSpPr>
        <p:spPr>
          <a:xfrm>
            <a:off x="7954540" y="3913622"/>
            <a:ext cx="864000" cy="216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/>
          <a:lstStyle/>
          <a:p>
            <a:pPr algn="ctr"/>
            <a:endParaRPr lang="ko-KR" altLang="en-US" sz="70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41" name="직사각형 140">
            <a:extLst>
              <a:ext uri="{FF2B5EF4-FFF2-40B4-BE49-F238E27FC236}">
                <a16:creationId xmlns="" xmlns:a16="http://schemas.microsoft.com/office/drawing/2014/main" id="{2086226C-F3B2-4253-81E2-3DD09EF4018E}"/>
              </a:ext>
            </a:extLst>
          </p:cNvPr>
          <p:cNvSpPr/>
          <p:nvPr/>
        </p:nvSpPr>
        <p:spPr>
          <a:xfrm>
            <a:off x="827906" y="2759468"/>
            <a:ext cx="828000" cy="288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36000" rIns="36000" bIns="36000" rtlCol="0" anchor="ctr"/>
          <a:lstStyle/>
          <a:p>
            <a:r>
              <a:rPr lang="ko-KR" altLang="en-US" sz="7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동영상유튜브</a:t>
            </a:r>
            <a:endParaRPr lang="ko-KR" altLang="en-US" sz="7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142" name="직사각형 141">
            <a:extLst>
              <a:ext uri="{FF2B5EF4-FFF2-40B4-BE49-F238E27FC236}">
                <a16:creationId xmlns="" xmlns:a16="http://schemas.microsoft.com/office/drawing/2014/main" id="{E955F0F7-52A0-48E2-96C0-51A6B4AD6027}"/>
              </a:ext>
            </a:extLst>
          </p:cNvPr>
          <p:cNvSpPr/>
          <p:nvPr/>
        </p:nvSpPr>
        <p:spPr>
          <a:xfrm>
            <a:off x="1655906" y="2759468"/>
            <a:ext cx="7162634" cy="288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36000" rIns="108000" bIns="36000" rtlCol="0" anchor="ctr"/>
          <a:lstStyle/>
          <a:p>
            <a:endParaRPr lang="ko-KR" altLang="en-US" sz="7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44" name="사각형: 둥근 모서리 244">
            <a:extLst>
              <a:ext uri="{FF2B5EF4-FFF2-40B4-BE49-F238E27FC236}">
                <a16:creationId xmlns="" xmlns:a16="http://schemas.microsoft.com/office/drawing/2014/main" id="{6A3ABAA2-A5F4-4C8F-B9C8-C37B43E8884D}"/>
              </a:ext>
            </a:extLst>
          </p:cNvPr>
          <p:cNvSpPr/>
          <p:nvPr/>
        </p:nvSpPr>
        <p:spPr bwMode="auto">
          <a:xfrm>
            <a:off x="7990540" y="3301133"/>
            <a:ext cx="792000" cy="14400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317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12700" dist="12700" dir="2700000" algn="tl" rotWithShape="0">
              <a:schemeClr val="tx1">
                <a:lumMod val="75000"/>
                <a:lumOff val="25000"/>
                <a:alpha val="30000"/>
              </a:schemeClr>
            </a:outerShdw>
          </a:effectLst>
        </p:spPr>
        <p:txBody>
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400" fontAlgn="base" latinLnBrk="0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700" kern="0" smtClean="0">
                <a:solidFill>
                  <a:schemeClr val="bg1"/>
                </a:solidFill>
                <a:latin typeface="+mn-ea"/>
              </a:rPr>
              <a:t>재고보기</a:t>
            </a:r>
            <a:endParaRPr kumimoji="1" lang="ko-KR" altLang="en-US" sz="700" kern="0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145" name="사각형: 둥근 모서리 244">
            <a:extLst>
              <a:ext uri="{FF2B5EF4-FFF2-40B4-BE49-F238E27FC236}">
                <a16:creationId xmlns="" xmlns:a16="http://schemas.microsoft.com/office/drawing/2014/main" id="{6A3ABAA2-A5F4-4C8F-B9C8-C37B43E8884D}"/>
              </a:ext>
            </a:extLst>
          </p:cNvPr>
          <p:cNvSpPr/>
          <p:nvPr/>
        </p:nvSpPr>
        <p:spPr bwMode="auto">
          <a:xfrm>
            <a:off x="7990540" y="3517767"/>
            <a:ext cx="792000" cy="14400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317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12700" dist="12700" dir="2700000" algn="tl" rotWithShape="0">
              <a:schemeClr val="tx1">
                <a:lumMod val="75000"/>
                <a:lumOff val="25000"/>
                <a:alpha val="30000"/>
              </a:schemeClr>
            </a:outerShdw>
          </a:effectLst>
        </p:spPr>
        <p:txBody>
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400" fontAlgn="base" latinLnBrk="0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700" kern="0" smtClean="0">
                <a:solidFill>
                  <a:schemeClr val="bg1"/>
                </a:solidFill>
                <a:latin typeface="+mn-ea"/>
              </a:rPr>
              <a:t>재고보기</a:t>
            </a:r>
            <a:endParaRPr kumimoji="1" lang="ko-KR" altLang="en-US" sz="700" kern="0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146" name="사각형: 둥근 모서리 244">
            <a:extLst>
              <a:ext uri="{FF2B5EF4-FFF2-40B4-BE49-F238E27FC236}">
                <a16:creationId xmlns="" xmlns:a16="http://schemas.microsoft.com/office/drawing/2014/main" id="{6A3ABAA2-A5F4-4C8F-B9C8-C37B43E8884D}"/>
              </a:ext>
            </a:extLst>
          </p:cNvPr>
          <p:cNvSpPr/>
          <p:nvPr/>
        </p:nvSpPr>
        <p:spPr bwMode="auto">
          <a:xfrm>
            <a:off x="7990540" y="3733611"/>
            <a:ext cx="792000" cy="14400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317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12700" dist="12700" dir="2700000" algn="tl" rotWithShape="0">
              <a:schemeClr val="tx1">
                <a:lumMod val="75000"/>
                <a:lumOff val="25000"/>
                <a:alpha val="30000"/>
              </a:schemeClr>
            </a:outerShdw>
          </a:effectLst>
        </p:spPr>
        <p:txBody>
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400" fontAlgn="base" latinLnBrk="0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700" kern="0" smtClean="0">
                <a:solidFill>
                  <a:schemeClr val="bg1"/>
                </a:solidFill>
                <a:latin typeface="+mn-ea"/>
              </a:rPr>
              <a:t>재고보기</a:t>
            </a:r>
            <a:endParaRPr kumimoji="1" lang="ko-KR" altLang="en-US" sz="700" kern="0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147" name="사각형: 둥근 모서리 244">
            <a:extLst>
              <a:ext uri="{FF2B5EF4-FFF2-40B4-BE49-F238E27FC236}">
                <a16:creationId xmlns="" xmlns:a16="http://schemas.microsoft.com/office/drawing/2014/main" id="{6A3ABAA2-A5F4-4C8F-B9C8-C37B43E8884D}"/>
              </a:ext>
            </a:extLst>
          </p:cNvPr>
          <p:cNvSpPr/>
          <p:nvPr/>
        </p:nvSpPr>
        <p:spPr bwMode="auto">
          <a:xfrm>
            <a:off x="7990540" y="3949622"/>
            <a:ext cx="792000" cy="14400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317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12700" dist="12700" dir="2700000" algn="tl" rotWithShape="0">
              <a:schemeClr val="tx1">
                <a:lumMod val="75000"/>
                <a:lumOff val="25000"/>
                <a:alpha val="30000"/>
              </a:schemeClr>
            </a:outerShdw>
          </a:effectLst>
        </p:spPr>
        <p:txBody>
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400" fontAlgn="base" latinLnBrk="0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700" kern="0" smtClean="0">
                <a:solidFill>
                  <a:schemeClr val="bg1"/>
                </a:solidFill>
                <a:latin typeface="+mn-ea"/>
              </a:rPr>
              <a:t>재고보기</a:t>
            </a:r>
            <a:endParaRPr kumimoji="1" lang="ko-KR" altLang="en-US" sz="700" kern="0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148" name="모서리가 둥근 직사각형 184">
            <a:extLst>
              <a:ext uri="{FF2B5EF4-FFF2-40B4-BE49-F238E27FC236}">
                <a16:creationId xmlns="" xmlns:a16="http://schemas.microsoft.com/office/drawing/2014/main" id="{7C4181B1-00DE-4B1A-9AF4-36726F2433BA}"/>
              </a:ext>
            </a:extLst>
          </p:cNvPr>
          <p:cNvSpPr/>
          <p:nvPr/>
        </p:nvSpPr>
        <p:spPr bwMode="auto">
          <a:xfrm>
            <a:off x="1727223" y="2813468"/>
            <a:ext cx="7020000" cy="180000"/>
          </a:xfrm>
          <a:prstGeom prst="roundRect">
            <a:avLst/>
          </a:prstGeom>
          <a:solidFill>
            <a:srgbClr val="FFFFEF"/>
          </a:solidFill>
          <a:ln w="3175" cap="flat" cmpd="sng" algn="ctr">
            <a:solidFill>
              <a:schemeClr val="bg1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none" lIns="108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defTabSz="914400" fontAlgn="base" latinLnBrk="0">
              <a:spcBef>
                <a:spcPct val="0"/>
              </a:spcBef>
              <a:spcAft>
                <a:spcPct val="0"/>
              </a:spcAft>
            </a:pPr>
            <a:endParaRPr kumimoji="1" lang="ko-KR" altLang="en-US" sz="700" b="0" i="0" u="none" strike="noStrike" kern="0" cap="none" spc="0" normalizeH="0" baseline="0" noProof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50" name="직사각형 149">
            <a:extLst>
              <a:ext uri="{FF2B5EF4-FFF2-40B4-BE49-F238E27FC236}">
                <a16:creationId xmlns="" xmlns:a16="http://schemas.microsoft.com/office/drawing/2014/main" id="{2086226C-F3B2-4253-81E2-3DD09EF4018E}"/>
              </a:ext>
            </a:extLst>
          </p:cNvPr>
          <p:cNvSpPr/>
          <p:nvPr/>
        </p:nvSpPr>
        <p:spPr>
          <a:xfrm>
            <a:off x="827906" y="2471602"/>
            <a:ext cx="828000" cy="288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36000" rIns="36000" bIns="36000" rtlCol="0" anchor="ctr"/>
          <a:lstStyle/>
          <a:p>
            <a:r>
              <a:rPr lang="ko-KR" altLang="en-US" sz="7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등록오류메세지</a:t>
            </a:r>
            <a:endParaRPr lang="ko-KR" altLang="en-US" sz="7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151" name="직사각형 150">
            <a:extLst>
              <a:ext uri="{FF2B5EF4-FFF2-40B4-BE49-F238E27FC236}">
                <a16:creationId xmlns="" xmlns:a16="http://schemas.microsoft.com/office/drawing/2014/main" id="{E955F0F7-52A0-48E2-96C0-51A6B4AD6027}"/>
              </a:ext>
            </a:extLst>
          </p:cNvPr>
          <p:cNvSpPr/>
          <p:nvPr/>
        </p:nvSpPr>
        <p:spPr>
          <a:xfrm>
            <a:off x="1655906" y="2471602"/>
            <a:ext cx="7162634" cy="288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36000" rIns="108000" bIns="36000" rtlCol="0" anchor="ctr"/>
          <a:lstStyle/>
          <a:p>
            <a:endParaRPr lang="ko-KR" altLang="en-US" sz="7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52" name="모서리가 둥근 직사각형 184">
            <a:extLst>
              <a:ext uri="{FF2B5EF4-FFF2-40B4-BE49-F238E27FC236}">
                <a16:creationId xmlns="" xmlns:a16="http://schemas.microsoft.com/office/drawing/2014/main" id="{7C4181B1-00DE-4B1A-9AF4-36726F2433BA}"/>
              </a:ext>
            </a:extLst>
          </p:cNvPr>
          <p:cNvSpPr/>
          <p:nvPr/>
        </p:nvSpPr>
        <p:spPr bwMode="auto">
          <a:xfrm>
            <a:off x="1727223" y="2525602"/>
            <a:ext cx="7020000" cy="180000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3175" cap="flat" cmpd="sng" algn="ctr">
            <a:solidFill>
              <a:schemeClr val="bg1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none" lIns="108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defTabSz="914400" fontAlgn="base" latinLnBrk="0">
              <a:spcBef>
                <a:spcPct val="0"/>
              </a:spcBef>
              <a:spcAft>
                <a:spcPct val="0"/>
              </a:spcAft>
            </a:pPr>
            <a:endParaRPr kumimoji="1" lang="ko-KR" altLang="en-US" sz="700" b="0" i="0" u="none" strike="noStrike" kern="0" cap="none" spc="0" normalizeH="0" baseline="0" noProof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53" name="직사각형 152">
            <a:extLst>
              <a:ext uri="{FF2B5EF4-FFF2-40B4-BE49-F238E27FC236}">
                <a16:creationId xmlns="" xmlns:a16="http://schemas.microsoft.com/office/drawing/2014/main" id="{2086226C-F3B2-4253-81E2-3DD09EF4018E}"/>
              </a:ext>
            </a:extLst>
          </p:cNvPr>
          <p:cNvSpPr/>
          <p:nvPr/>
        </p:nvSpPr>
        <p:spPr>
          <a:xfrm>
            <a:off x="827906" y="1319736"/>
            <a:ext cx="828000" cy="1152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36000" rIns="36000" bIns="36000" rtlCol="0" anchor="ctr"/>
          <a:lstStyle/>
          <a:p>
            <a:r>
              <a:rPr lang="ko-KR" altLang="en-US" sz="7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상품 노출 검색</a:t>
            </a:r>
            <a:endParaRPr lang="ko-KR" altLang="en-US" sz="7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154" name="직사각형 153">
            <a:extLst>
              <a:ext uri="{FF2B5EF4-FFF2-40B4-BE49-F238E27FC236}">
                <a16:creationId xmlns="" xmlns:a16="http://schemas.microsoft.com/office/drawing/2014/main" id="{E955F0F7-52A0-48E2-96C0-51A6B4AD6027}"/>
              </a:ext>
            </a:extLst>
          </p:cNvPr>
          <p:cNvSpPr/>
          <p:nvPr/>
        </p:nvSpPr>
        <p:spPr>
          <a:xfrm>
            <a:off x="2483906" y="2039736"/>
            <a:ext cx="6334634" cy="432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36000" rIns="108000" bIns="36000" rtlCol="0" anchor="ctr"/>
          <a:lstStyle/>
          <a:p>
            <a:endParaRPr lang="ko-KR" altLang="en-US" sz="7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56" name="직사각형 155">
            <a:extLst>
              <a:ext uri="{FF2B5EF4-FFF2-40B4-BE49-F238E27FC236}">
                <a16:creationId xmlns="" xmlns:a16="http://schemas.microsoft.com/office/drawing/2014/main" id="{2086226C-F3B2-4253-81E2-3DD09EF4018E}"/>
              </a:ext>
            </a:extLst>
          </p:cNvPr>
          <p:cNvSpPr/>
          <p:nvPr/>
        </p:nvSpPr>
        <p:spPr>
          <a:xfrm>
            <a:off x="1655906" y="1751736"/>
            <a:ext cx="828000" cy="720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36000" rIns="36000" bIns="36000" rtlCol="0" anchor="ctr"/>
          <a:lstStyle/>
          <a:p>
            <a:pPr algn="ctr"/>
            <a:r>
              <a:rPr lang="ko-KR" altLang="en-US" sz="7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선택형</a:t>
            </a:r>
            <a:endParaRPr lang="en-US" altLang="ko-KR" sz="700" smtClean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</a:endParaRPr>
          </a:p>
          <a:p>
            <a:pPr algn="ctr">
              <a:lnSpc>
                <a:spcPct val="150000"/>
              </a:lnSpc>
            </a:pPr>
            <a:r>
              <a:rPr lang="en-US" altLang="ko-KR" sz="7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(</a:t>
            </a:r>
            <a:r>
              <a:rPr lang="ko-KR" altLang="en-US" sz="7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최대 </a:t>
            </a:r>
            <a:r>
              <a:rPr lang="en-US" altLang="ko-KR" sz="7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4</a:t>
            </a:r>
            <a:r>
              <a:rPr lang="ko-KR" altLang="en-US" sz="7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개 선택</a:t>
            </a:r>
            <a:r>
              <a:rPr lang="en-US" altLang="ko-KR" sz="7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)</a:t>
            </a:r>
            <a:endParaRPr lang="ko-KR" altLang="en-US" sz="7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157" name="직사각형 156">
            <a:extLst>
              <a:ext uri="{FF2B5EF4-FFF2-40B4-BE49-F238E27FC236}">
                <a16:creationId xmlns="" xmlns:a16="http://schemas.microsoft.com/office/drawing/2014/main" id="{2086226C-F3B2-4253-81E2-3DD09EF4018E}"/>
              </a:ext>
            </a:extLst>
          </p:cNvPr>
          <p:cNvSpPr/>
          <p:nvPr/>
        </p:nvSpPr>
        <p:spPr>
          <a:xfrm>
            <a:off x="2483906" y="1751736"/>
            <a:ext cx="828000" cy="288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36000" rIns="36000" bIns="36000" rtlCol="0" anchor="ctr"/>
          <a:lstStyle/>
          <a:p>
            <a:pPr algn="ctr"/>
            <a:r>
              <a:rPr lang="ko-KR" altLang="en-US" sz="7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룩</a:t>
            </a:r>
            <a:r>
              <a:rPr lang="en-US" altLang="ko-KR" sz="7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/</a:t>
            </a:r>
            <a:r>
              <a:rPr lang="ko-KR" altLang="en-US" sz="7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스타일</a:t>
            </a:r>
            <a:endParaRPr lang="ko-KR" altLang="en-US" sz="7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158" name="직사각형 157">
            <a:extLst>
              <a:ext uri="{FF2B5EF4-FFF2-40B4-BE49-F238E27FC236}">
                <a16:creationId xmlns="" xmlns:a16="http://schemas.microsoft.com/office/drawing/2014/main" id="{E955F0F7-52A0-48E2-96C0-51A6B4AD6027}"/>
              </a:ext>
            </a:extLst>
          </p:cNvPr>
          <p:cNvSpPr/>
          <p:nvPr/>
        </p:nvSpPr>
        <p:spPr>
          <a:xfrm>
            <a:off x="3311906" y="1751736"/>
            <a:ext cx="5506634" cy="288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36000" rIns="108000" bIns="36000" rtlCol="0" anchor="ctr"/>
          <a:lstStyle/>
          <a:p>
            <a:endParaRPr lang="ko-KR" altLang="en-US" sz="7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18" name="그룹 17"/>
          <p:cNvGrpSpPr/>
          <p:nvPr/>
        </p:nvGrpSpPr>
        <p:grpSpPr>
          <a:xfrm>
            <a:off x="3383718" y="1812286"/>
            <a:ext cx="860075" cy="180425"/>
            <a:chOff x="2341150" y="2347511"/>
            <a:chExt cx="860075" cy="180425"/>
          </a:xfrm>
        </p:grpSpPr>
        <p:sp>
          <p:nvSpPr>
            <p:cNvPr id="159" name="사각형: 둥근 모서리 393">
              <a:extLst>
                <a:ext uri="{FF2B5EF4-FFF2-40B4-BE49-F238E27FC236}">
                  <a16:creationId xmlns="" xmlns:a16="http://schemas.microsoft.com/office/drawing/2014/main" id="{36E654BC-9DA7-40DE-810D-4DBC10DDAC9E}"/>
                </a:ext>
              </a:extLst>
            </p:cNvPr>
            <p:cNvSpPr/>
            <p:nvPr/>
          </p:nvSpPr>
          <p:spPr bwMode="auto">
            <a:xfrm>
              <a:off x="2341150" y="2365724"/>
              <a:ext cx="144000" cy="144000"/>
            </a:xfrm>
            <a:prstGeom prst="roundRect">
              <a:avLst/>
            </a:prstGeom>
            <a:solidFill>
              <a:schemeClr val="bg1"/>
            </a:solidFill>
            <a:ln w="3175" cap="flat" cmpd="sng" algn="ctr">
              <a:solidFill>
                <a:schemeClr val="bg1">
                  <a:lumMod val="7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>
              <a:innerShdw blurRad="12700" dist="12700" dir="13500000">
                <a:schemeClr val="tx1">
                  <a:lumMod val="75000"/>
                  <a:lumOff val="25000"/>
                  <a:alpha val="30000"/>
                </a:schemeClr>
              </a:innerShdw>
            </a:effectLst>
          </p:spPr>
          <p:txBody>
  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fontAlgn="base" latinLnBrk="0">
                <a:spcBef>
                  <a:spcPct val="0"/>
                </a:spcBef>
                <a:spcAft>
                  <a:spcPct val="0"/>
                </a:spcAft>
              </a:pPr>
              <a:endParaRPr kumimoji="1" lang="ko-KR" altLang="en-US" sz="700" b="1" ker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60" name="TextBox 159">
              <a:extLst>
                <a:ext uri="{FF2B5EF4-FFF2-40B4-BE49-F238E27FC236}">
                  <a16:creationId xmlns="" xmlns:a16="http://schemas.microsoft.com/office/drawing/2014/main" id="{5D1B3506-229B-45F0-9331-6EF4F4EF97DC}"/>
                </a:ext>
              </a:extLst>
            </p:cNvPr>
            <p:cNvSpPr txBox="1"/>
            <p:nvPr/>
          </p:nvSpPr>
          <p:spPr>
            <a:xfrm>
              <a:off x="2485150" y="2347511"/>
              <a:ext cx="716075" cy="180425"/>
            </a:xfrm>
            <a:prstGeom prst="rect">
              <a:avLst/>
            </a:prstGeom>
            <a:noFill/>
            <a:ln w="3175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none" lIns="108000" tIns="36000" rIns="36000" bIns="36000" numCol="1" rtlCol="0" anchor="ctr" anchorCtr="0" compatLnSpc="1">
              <a:prstTxWarp prst="textNoShape">
                <a:avLst/>
              </a:prstTxWarp>
              <a:spAutoFit/>
            </a:bodyPr>
            <a:lstStyle/>
            <a:p>
              <a:pPr algn="l"/>
              <a:r>
                <a:rPr lang="ko-KR" altLang="en-US" sz="70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데일리룩 추천</a:t>
              </a:r>
              <a:endParaRPr lang="ko-KR" altLang="en-US" sz="700" dirty="0">
                <a:solidFill>
                  <a:srgbClr val="C00000"/>
                </a:solidFill>
                <a:latin typeface="+mn-ea"/>
              </a:endParaRPr>
            </a:p>
          </p:txBody>
        </p:sp>
      </p:grpSp>
      <p:grpSp>
        <p:nvGrpSpPr>
          <p:cNvPr id="162" name="그룹 161"/>
          <p:cNvGrpSpPr/>
          <p:nvPr/>
        </p:nvGrpSpPr>
        <p:grpSpPr>
          <a:xfrm>
            <a:off x="4393108" y="1812286"/>
            <a:ext cx="860075" cy="180425"/>
            <a:chOff x="2341150" y="2347511"/>
            <a:chExt cx="860075" cy="180425"/>
          </a:xfrm>
        </p:grpSpPr>
        <p:sp>
          <p:nvSpPr>
            <p:cNvPr id="163" name="사각형: 둥근 모서리 393">
              <a:extLst>
                <a:ext uri="{FF2B5EF4-FFF2-40B4-BE49-F238E27FC236}">
                  <a16:creationId xmlns="" xmlns:a16="http://schemas.microsoft.com/office/drawing/2014/main" id="{36E654BC-9DA7-40DE-810D-4DBC10DDAC9E}"/>
                </a:ext>
              </a:extLst>
            </p:cNvPr>
            <p:cNvSpPr/>
            <p:nvPr/>
          </p:nvSpPr>
          <p:spPr bwMode="auto">
            <a:xfrm>
              <a:off x="2341150" y="2365724"/>
              <a:ext cx="144000" cy="144000"/>
            </a:xfrm>
            <a:prstGeom prst="roundRect">
              <a:avLst/>
            </a:prstGeom>
            <a:solidFill>
              <a:schemeClr val="bg1"/>
            </a:solidFill>
            <a:ln w="3175" cap="flat" cmpd="sng" algn="ctr">
              <a:solidFill>
                <a:schemeClr val="bg1">
                  <a:lumMod val="7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>
              <a:innerShdw blurRad="12700" dist="12700" dir="13500000">
                <a:schemeClr val="tx1">
                  <a:lumMod val="75000"/>
                  <a:lumOff val="25000"/>
                  <a:alpha val="30000"/>
                </a:schemeClr>
              </a:innerShdw>
            </a:effectLst>
          </p:spPr>
          <p:txBody>
  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fontAlgn="base" latinLnBrk="0">
                <a:spcBef>
                  <a:spcPct val="0"/>
                </a:spcBef>
                <a:spcAft>
                  <a:spcPct val="0"/>
                </a:spcAft>
              </a:pPr>
              <a:endParaRPr kumimoji="1" lang="ko-KR" altLang="en-US" sz="700" b="1" ker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64" name="TextBox 163">
              <a:extLst>
                <a:ext uri="{FF2B5EF4-FFF2-40B4-BE49-F238E27FC236}">
                  <a16:creationId xmlns="" xmlns:a16="http://schemas.microsoft.com/office/drawing/2014/main" id="{5D1B3506-229B-45F0-9331-6EF4F4EF97DC}"/>
                </a:ext>
              </a:extLst>
            </p:cNvPr>
            <p:cNvSpPr txBox="1"/>
            <p:nvPr/>
          </p:nvSpPr>
          <p:spPr>
            <a:xfrm>
              <a:off x="2485150" y="2347511"/>
              <a:ext cx="716075" cy="180425"/>
            </a:xfrm>
            <a:prstGeom prst="rect">
              <a:avLst/>
            </a:prstGeom>
            <a:noFill/>
            <a:ln w="3175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none" lIns="108000" tIns="36000" rIns="36000" bIns="36000" numCol="1" rtlCol="0" anchor="ctr" anchorCtr="0" compatLnSpc="1">
              <a:prstTxWarp prst="textNoShape">
                <a:avLst/>
              </a:prstTxWarp>
              <a:spAutoFit/>
            </a:bodyPr>
            <a:lstStyle/>
            <a:p>
              <a:pPr algn="l"/>
              <a:r>
                <a:rPr lang="ko-KR" altLang="en-US" sz="70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오피스룩 추천</a:t>
              </a:r>
              <a:endParaRPr lang="ko-KR" altLang="en-US" sz="700" dirty="0">
                <a:solidFill>
                  <a:srgbClr val="C00000"/>
                </a:solidFill>
                <a:latin typeface="+mn-ea"/>
              </a:endParaRPr>
            </a:p>
          </p:txBody>
        </p:sp>
      </p:grpSp>
      <p:grpSp>
        <p:nvGrpSpPr>
          <p:cNvPr id="167" name="그룹 166"/>
          <p:cNvGrpSpPr/>
          <p:nvPr/>
        </p:nvGrpSpPr>
        <p:grpSpPr>
          <a:xfrm>
            <a:off x="5400112" y="1812286"/>
            <a:ext cx="770307" cy="180425"/>
            <a:chOff x="2341150" y="2347511"/>
            <a:chExt cx="770307" cy="180425"/>
          </a:xfrm>
        </p:grpSpPr>
        <p:sp>
          <p:nvSpPr>
            <p:cNvPr id="168" name="사각형: 둥근 모서리 393">
              <a:extLst>
                <a:ext uri="{FF2B5EF4-FFF2-40B4-BE49-F238E27FC236}">
                  <a16:creationId xmlns="" xmlns:a16="http://schemas.microsoft.com/office/drawing/2014/main" id="{36E654BC-9DA7-40DE-810D-4DBC10DDAC9E}"/>
                </a:ext>
              </a:extLst>
            </p:cNvPr>
            <p:cNvSpPr/>
            <p:nvPr/>
          </p:nvSpPr>
          <p:spPr bwMode="auto">
            <a:xfrm>
              <a:off x="2341150" y="2365724"/>
              <a:ext cx="144000" cy="144000"/>
            </a:xfrm>
            <a:prstGeom prst="roundRect">
              <a:avLst/>
            </a:prstGeom>
            <a:solidFill>
              <a:schemeClr val="bg1"/>
            </a:solidFill>
            <a:ln w="3175" cap="flat" cmpd="sng" algn="ctr">
              <a:solidFill>
                <a:schemeClr val="bg1">
                  <a:lumMod val="7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>
              <a:innerShdw blurRad="12700" dist="12700" dir="13500000">
                <a:schemeClr val="tx1">
                  <a:lumMod val="75000"/>
                  <a:lumOff val="25000"/>
                  <a:alpha val="30000"/>
                </a:schemeClr>
              </a:innerShdw>
            </a:effectLst>
          </p:spPr>
          <p:txBody>
  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fontAlgn="base" latinLnBrk="0">
                <a:spcBef>
                  <a:spcPct val="0"/>
                </a:spcBef>
                <a:spcAft>
                  <a:spcPct val="0"/>
                </a:spcAft>
              </a:pPr>
              <a:endParaRPr kumimoji="1" lang="ko-KR" altLang="en-US" sz="700" b="1" ker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69" name="TextBox 168">
              <a:extLst>
                <a:ext uri="{FF2B5EF4-FFF2-40B4-BE49-F238E27FC236}">
                  <a16:creationId xmlns="" xmlns:a16="http://schemas.microsoft.com/office/drawing/2014/main" id="{5D1B3506-229B-45F0-9331-6EF4F4EF97DC}"/>
                </a:ext>
              </a:extLst>
            </p:cNvPr>
            <p:cNvSpPr txBox="1"/>
            <p:nvPr/>
          </p:nvSpPr>
          <p:spPr>
            <a:xfrm>
              <a:off x="2485150" y="2347511"/>
              <a:ext cx="626307" cy="180425"/>
            </a:xfrm>
            <a:prstGeom prst="rect">
              <a:avLst/>
            </a:prstGeom>
            <a:noFill/>
            <a:ln w="3175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none" lIns="108000" tIns="36000" rIns="36000" bIns="36000" numCol="1" rtlCol="0" anchor="ctr" anchorCtr="0" compatLnSpc="1">
              <a:prstTxWarp prst="textNoShape">
                <a:avLst/>
              </a:prstTxWarp>
              <a:spAutoFit/>
            </a:bodyPr>
            <a:lstStyle/>
            <a:p>
              <a:pPr algn="l"/>
              <a:r>
                <a:rPr lang="ko-KR" altLang="en-US" sz="70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하객룩 추천</a:t>
              </a:r>
              <a:endParaRPr lang="ko-KR" altLang="en-US" sz="700" dirty="0">
                <a:solidFill>
                  <a:srgbClr val="C00000"/>
                </a:solidFill>
                <a:latin typeface="+mn-ea"/>
              </a:endParaRPr>
            </a:p>
          </p:txBody>
        </p:sp>
      </p:grpSp>
      <p:grpSp>
        <p:nvGrpSpPr>
          <p:cNvPr id="171" name="그룹 170"/>
          <p:cNvGrpSpPr/>
          <p:nvPr/>
        </p:nvGrpSpPr>
        <p:grpSpPr>
          <a:xfrm>
            <a:off x="6314419" y="1812286"/>
            <a:ext cx="770307" cy="180425"/>
            <a:chOff x="2341150" y="2347511"/>
            <a:chExt cx="770307" cy="180425"/>
          </a:xfrm>
        </p:grpSpPr>
        <p:sp>
          <p:nvSpPr>
            <p:cNvPr id="172" name="사각형: 둥근 모서리 393">
              <a:extLst>
                <a:ext uri="{FF2B5EF4-FFF2-40B4-BE49-F238E27FC236}">
                  <a16:creationId xmlns="" xmlns:a16="http://schemas.microsoft.com/office/drawing/2014/main" id="{36E654BC-9DA7-40DE-810D-4DBC10DDAC9E}"/>
                </a:ext>
              </a:extLst>
            </p:cNvPr>
            <p:cNvSpPr/>
            <p:nvPr/>
          </p:nvSpPr>
          <p:spPr bwMode="auto">
            <a:xfrm>
              <a:off x="2341150" y="2365724"/>
              <a:ext cx="144000" cy="144000"/>
            </a:xfrm>
            <a:prstGeom prst="roundRect">
              <a:avLst/>
            </a:prstGeom>
            <a:solidFill>
              <a:schemeClr val="bg1"/>
            </a:solidFill>
            <a:ln w="3175" cap="flat" cmpd="sng" algn="ctr">
              <a:solidFill>
                <a:schemeClr val="bg1">
                  <a:lumMod val="7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>
              <a:innerShdw blurRad="12700" dist="12700" dir="13500000">
                <a:schemeClr val="tx1">
                  <a:lumMod val="75000"/>
                  <a:lumOff val="25000"/>
                  <a:alpha val="30000"/>
                </a:schemeClr>
              </a:innerShdw>
            </a:effectLst>
          </p:spPr>
          <p:txBody>
  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fontAlgn="base" latinLnBrk="0">
                <a:spcBef>
                  <a:spcPct val="0"/>
                </a:spcBef>
                <a:spcAft>
                  <a:spcPct val="0"/>
                </a:spcAft>
              </a:pPr>
              <a:endParaRPr kumimoji="1" lang="ko-KR" altLang="en-US" sz="700" b="1" ker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73" name="TextBox 172">
              <a:extLst>
                <a:ext uri="{FF2B5EF4-FFF2-40B4-BE49-F238E27FC236}">
                  <a16:creationId xmlns="" xmlns:a16="http://schemas.microsoft.com/office/drawing/2014/main" id="{5D1B3506-229B-45F0-9331-6EF4F4EF97DC}"/>
                </a:ext>
              </a:extLst>
            </p:cNvPr>
            <p:cNvSpPr txBox="1"/>
            <p:nvPr/>
          </p:nvSpPr>
          <p:spPr>
            <a:xfrm>
              <a:off x="2485150" y="2347511"/>
              <a:ext cx="626307" cy="180425"/>
            </a:xfrm>
            <a:prstGeom prst="rect">
              <a:avLst/>
            </a:prstGeom>
            <a:noFill/>
            <a:ln w="3175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none" lIns="108000" tIns="36000" rIns="36000" bIns="36000" numCol="1" rtlCol="0" anchor="ctr" anchorCtr="0" compatLnSpc="1">
              <a:prstTxWarp prst="textNoShape">
                <a:avLst/>
              </a:prstTxWarp>
              <a:spAutoFit/>
            </a:bodyPr>
            <a:lstStyle/>
            <a:p>
              <a:pPr algn="l"/>
              <a:r>
                <a:rPr lang="ko-KR" altLang="en-US" sz="70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모임룩 추천</a:t>
              </a:r>
              <a:endParaRPr lang="ko-KR" altLang="en-US" sz="700" dirty="0">
                <a:solidFill>
                  <a:srgbClr val="C00000"/>
                </a:solidFill>
                <a:latin typeface="+mn-ea"/>
              </a:endParaRPr>
            </a:p>
          </p:txBody>
        </p:sp>
      </p:grpSp>
      <p:sp>
        <p:nvSpPr>
          <p:cNvPr id="176" name="직사각형 175">
            <a:extLst>
              <a:ext uri="{FF2B5EF4-FFF2-40B4-BE49-F238E27FC236}">
                <a16:creationId xmlns="" xmlns:a16="http://schemas.microsoft.com/office/drawing/2014/main" id="{E955F0F7-52A0-48E2-96C0-51A6B4AD6027}"/>
              </a:ext>
            </a:extLst>
          </p:cNvPr>
          <p:cNvSpPr/>
          <p:nvPr/>
        </p:nvSpPr>
        <p:spPr>
          <a:xfrm>
            <a:off x="1655906" y="1319736"/>
            <a:ext cx="7162634" cy="432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36000" rIns="108000" bIns="36000" rtlCol="0" anchor="ctr"/>
          <a:lstStyle/>
          <a:p>
            <a:endParaRPr lang="ko-KR" altLang="en-US" sz="7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23" name="그룹 22"/>
          <p:cNvGrpSpPr/>
          <p:nvPr/>
        </p:nvGrpSpPr>
        <p:grpSpPr>
          <a:xfrm>
            <a:off x="683906" y="1033711"/>
            <a:ext cx="8280000" cy="287752"/>
            <a:chOff x="683906" y="1033711"/>
            <a:chExt cx="8280000" cy="287752"/>
          </a:xfrm>
        </p:grpSpPr>
        <p:sp>
          <p:nvSpPr>
            <p:cNvPr id="203" name="사각형: 둥근 모서리 59">
              <a:extLst>
                <a:ext uri="{FF2B5EF4-FFF2-40B4-BE49-F238E27FC236}">
                  <a16:creationId xmlns="" xmlns:a16="http://schemas.microsoft.com/office/drawing/2014/main" id="{0292A016-C154-4D66-B0A3-EA847A752A31}"/>
                </a:ext>
              </a:extLst>
            </p:cNvPr>
            <p:cNvSpPr/>
            <p:nvPr/>
          </p:nvSpPr>
          <p:spPr bwMode="auto">
            <a:xfrm>
              <a:off x="683906" y="1033711"/>
              <a:ext cx="8280000" cy="287752"/>
            </a:xfrm>
            <a:prstGeom prst="roundRect">
              <a:avLst>
                <a:gd name="adj" fmla="val 12975"/>
              </a:avLst>
            </a:prstGeom>
            <a:solidFill>
              <a:srgbClr val="FFFFFF">
                <a:lumMod val="85000"/>
              </a:srgbClr>
            </a:solidFill>
            <a:ln w="3175" cap="flat" cmpd="sng" algn="ctr">
              <a:solidFill>
                <a:srgbClr val="FFFFFF">
                  <a:lumMod val="75000"/>
                </a:srgb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8000" tIns="36000" rIns="36000" bIns="36000" numCol="1" rtlCol="0" anchor="ctr" anchorCtr="0" compatLnSpc="1">
              <a:prstTxWarp prst="textNoShape">
                <a:avLst/>
              </a:prstTxWarp>
              <a:noAutofit/>
            </a:bodyPr>
            <a:lstStyle/>
            <a:p>
              <a:pPr marL="87313" indent="-87313" defTabSz="914400" fontAlgn="base" latinLnBrk="0">
                <a:lnSpc>
                  <a:spcPct val="110000"/>
                </a:lnSpc>
                <a:spcBef>
                  <a:spcPct val="25000"/>
                </a:spcBef>
                <a:spcAft>
                  <a:spcPct val="0"/>
                </a:spcAft>
                <a:defRPr/>
              </a:pPr>
              <a:r>
                <a:rPr kumimoji="1" lang="ko-KR" altLang="en-US" sz="800" b="1" kern="0" smtClean="0">
                  <a:solidFill>
                    <a:srgbClr val="000000">
                      <a:lumMod val="75000"/>
                      <a:lumOff val="25000"/>
                    </a:srgbClr>
                  </a:solidFill>
                  <a:latin typeface="맑은 고딕" panose="020B0503020000020004" pitchFamily="50" charset="-127"/>
                </a:rPr>
                <a:t>자사상품</a:t>
              </a:r>
              <a:r>
                <a:rPr kumimoji="1" lang="en-US" altLang="ko-KR" sz="800" b="1" kern="0" smtClean="0">
                  <a:solidFill>
                    <a:srgbClr val="000000">
                      <a:lumMod val="75000"/>
                      <a:lumOff val="25000"/>
                    </a:srgbClr>
                  </a:solidFill>
                  <a:latin typeface="맑은 고딕" panose="020B0503020000020004" pitchFamily="50" charset="-127"/>
                </a:rPr>
                <a:t> </a:t>
              </a:r>
              <a:r>
                <a:rPr kumimoji="1" lang="ko-KR" altLang="en-US" sz="800" b="1" kern="0" smtClean="0">
                  <a:solidFill>
                    <a:srgbClr val="000000">
                      <a:lumMod val="75000"/>
                      <a:lumOff val="25000"/>
                    </a:srgbClr>
                  </a:solidFill>
                  <a:latin typeface="맑은 고딕" panose="020B0503020000020004" pitchFamily="50" charset="-127"/>
                </a:rPr>
                <a:t>상세</a:t>
              </a:r>
              <a:endParaRPr kumimoji="1" lang="ko-KR" altLang="en-US" sz="800" b="1" kern="0">
                <a:solidFill>
                  <a:srgbClr val="000000">
                    <a:lumMod val="75000"/>
                    <a:lumOff val="25000"/>
                  </a:srgbClr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204" name="곱하기 기호 199">
              <a:extLst>
                <a:ext uri="{FF2B5EF4-FFF2-40B4-BE49-F238E27FC236}">
                  <a16:creationId xmlns="" xmlns:a16="http://schemas.microsoft.com/office/drawing/2014/main" id="{FC59F712-927B-4C6B-A7B9-6F7D03C2E8DC}"/>
                </a:ext>
              </a:extLst>
            </p:cNvPr>
            <p:cNvSpPr/>
            <p:nvPr/>
          </p:nvSpPr>
          <p:spPr bwMode="auto">
            <a:xfrm>
              <a:off x="8712512" y="1105587"/>
              <a:ext cx="144000" cy="144000"/>
            </a:xfrm>
            <a:prstGeom prst="mathMultiply">
              <a:avLst>
                <a:gd name="adj1" fmla="val 0"/>
              </a:avLst>
            </a:prstGeom>
            <a:noFill/>
            <a:ln w="6350" cap="flat" cmpd="sng" algn="ctr">
              <a:solidFill>
                <a:srgbClr val="FFFFFF">
                  <a:lumMod val="50000"/>
                </a:srgb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  <a:noAutofit/>
            </a:bodyPr>
            <a:lstStyle/>
            <a:p>
              <a:pPr marL="87313" indent="-87313" algn="ctr" defTabSz="914400" fontAlgn="base" latinLnBrk="0">
                <a:lnSpc>
                  <a:spcPct val="110000"/>
                </a:lnSpc>
                <a:spcBef>
                  <a:spcPct val="25000"/>
                </a:spcBef>
                <a:spcAft>
                  <a:spcPct val="0"/>
                </a:spcAft>
                <a:buFont typeface="Wingdings" pitchFamily="2" charset="2"/>
                <a:buNone/>
                <a:defRPr/>
              </a:pPr>
              <a:endParaRPr kumimoji="1" lang="ko-KR" altLang="en-US" sz="800" b="1" kern="0">
                <a:solidFill>
                  <a:srgbClr val="000000">
                    <a:lumMod val="75000"/>
                    <a:lumOff val="25000"/>
                  </a:srgbClr>
                </a:solidFill>
                <a:latin typeface="맑은 고딕" panose="020B0503020000020004" pitchFamily="50" charset="-127"/>
              </a:endParaRPr>
            </a:p>
          </p:txBody>
        </p:sp>
      </p:grpSp>
      <p:sp>
        <p:nvSpPr>
          <p:cNvPr id="178" name="타원 177">
            <a:extLst>
              <a:ext uri="{FF2B5EF4-FFF2-40B4-BE49-F238E27FC236}">
                <a16:creationId xmlns="" xmlns:a16="http://schemas.microsoft.com/office/drawing/2014/main" id="{05928B69-0142-4C14-A783-3D8762E5BBE2}"/>
              </a:ext>
            </a:extLst>
          </p:cNvPr>
          <p:cNvSpPr/>
          <p:nvPr/>
        </p:nvSpPr>
        <p:spPr>
          <a:xfrm>
            <a:off x="7091373" y="2982236"/>
            <a:ext cx="144000" cy="144000"/>
          </a:xfrm>
          <a:prstGeom prst="ellipse">
            <a:avLst/>
          </a:prstGeom>
          <a:solidFill>
            <a:srgbClr val="C00000"/>
          </a:solidFill>
          <a:ln w="3175">
            <a:noFill/>
          </a:ln>
          <a:effectLst>
            <a:outerShdw blurRad="25400" dist="25400" dir="2700000" algn="tl" rotWithShape="0">
              <a:schemeClr val="tx1">
                <a:lumMod val="75000"/>
                <a:lumOff val="2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70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endParaRPr lang="ko-KR" altLang="en-US" sz="70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126" name="그룹 125"/>
          <p:cNvGrpSpPr/>
          <p:nvPr/>
        </p:nvGrpSpPr>
        <p:grpSpPr>
          <a:xfrm>
            <a:off x="683906" y="1267463"/>
            <a:ext cx="8280000" cy="108000"/>
            <a:chOff x="1367906" y="5198893"/>
            <a:chExt cx="7992000" cy="108000"/>
          </a:xfrm>
        </p:grpSpPr>
        <p:sp>
          <p:nvSpPr>
            <p:cNvPr id="127" name="Fill">
              <a:extLst>
                <a:ext uri="{FF2B5EF4-FFF2-40B4-BE49-F238E27FC236}">
                  <a16:creationId xmlns="" xmlns:a16="http://schemas.microsoft.com/office/drawing/2014/main" id="{037FE56A-459C-4D17-A0B7-95ABD183D048}"/>
                </a:ext>
              </a:extLst>
            </p:cNvPr>
            <p:cNvSpPr>
              <a:spLocks/>
            </p:cNvSpPr>
            <p:nvPr/>
          </p:nvSpPr>
          <p:spPr bwMode="auto">
            <a:xfrm rot="16200000">
              <a:off x="5309906" y="1256893"/>
              <a:ext cx="108000" cy="7992000"/>
            </a:xfrm>
            <a:custGeom>
              <a:avLst/>
              <a:gdLst>
                <a:gd name="T0" fmla="*/ 74 w 151"/>
                <a:gd name="T1" fmla="*/ 588 h 588"/>
                <a:gd name="T2" fmla="*/ 151 w 151"/>
                <a:gd name="T3" fmla="*/ 518 h 588"/>
                <a:gd name="T4" fmla="*/ 74 w 151"/>
                <a:gd name="T5" fmla="*/ 441 h 588"/>
                <a:gd name="T6" fmla="*/ 151 w 151"/>
                <a:gd name="T7" fmla="*/ 375 h 588"/>
                <a:gd name="T8" fmla="*/ 74 w 151"/>
                <a:gd name="T9" fmla="*/ 294 h 588"/>
                <a:gd name="T10" fmla="*/ 151 w 151"/>
                <a:gd name="T11" fmla="*/ 231 h 588"/>
                <a:gd name="T12" fmla="*/ 74 w 151"/>
                <a:gd name="T13" fmla="*/ 147 h 588"/>
                <a:gd name="T14" fmla="*/ 151 w 151"/>
                <a:gd name="T15" fmla="*/ 88 h 588"/>
                <a:gd name="T16" fmla="*/ 74 w 151"/>
                <a:gd name="T17" fmla="*/ 0 h 588"/>
                <a:gd name="T18" fmla="*/ 0 w 151"/>
                <a:gd name="T19" fmla="*/ 0 h 588"/>
                <a:gd name="T20" fmla="*/ 78 w 151"/>
                <a:gd name="T21" fmla="*/ 88 h 588"/>
                <a:gd name="T22" fmla="*/ 0 w 151"/>
                <a:gd name="T23" fmla="*/ 147 h 588"/>
                <a:gd name="T24" fmla="*/ 78 w 151"/>
                <a:gd name="T25" fmla="*/ 231 h 588"/>
                <a:gd name="T26" fmla="*/ 0 w 151"/>
                <a:gd name="T27" fmla="*/ 294 h 588"/>
                <a:gd name="T28" fmla="*/ 78 w 151"/>
                <a:gd name="T29" fmla="*/ 375 h 588"/>
                <a:gd name="T30" fmla="*/ 0 w 151"/>
                <a:gd name="T31" fmla="*/ 441 h 588"/>
                <a:gd name="T32" fmla="*/ 78 w 151"/>
                <a:gd name="T33" fmla="*/ 518 h 588"/>
                <a:gd name="T34" fmla="*/ 0 w 151"/>
                <a:gd name="T35" fmla="*/ 588 h 588"/>
                <a:gd name="T36" fmla="*/ 74 w 151"/>
                <a:gd name="T37" fmla="*/ 588 h 5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51" h="588">
                  <a:moveTo>
                    <a:pt x="74" y="588"/>
                  </a:moveTo>
                  <a:lnTo>
                    <a:pt x="151" y="518"/>
                  </a:lnTo>
                  <a:lnTo>
                    <a:pt x="74" y="441"/>
                  </a:lnTo>
                  <a:lnTo>
                    <a:pt x="151" y="375"/>
                  </a:lnTo>
                  <a:lnTo>
                    <a:pt x="74" y="294"/>
                  </a:lnTo>
                  <a:lnTo>
                    <a:pt x="151" y="231"/>
                  </a:lnTo>
                  <a:lnTo>
                    <a:pt x="74" y="147"/>
                  </a:lnTo>
                  <a:lnTo>
                    <a:pt x="151" y="88"/>
                  </a:lnTo>
                  <a:lnTo>
                    <a:pt x="74" y="0"/>
                  </a:lnTo>
                  <a:lnTo>
                    <a:pt x="0" y="0"/>
                  </a:lnTo>
                  <a:lnTo>
                    <a:pt x="78" y="88"/>
                  </a:lnTo>
                  <a:lnTo>
                    <a:pt x="0" y="147"/>
                  </a:lnTo>
                  <a:lnTo>
                    <a:pt x="78" y="231"/>
                  </a:lnTo>
                  <a:lnTo>
                    <a:pt x="0" y="294"/>
                  </a:lnTo>
                  <a:lnTo>
                    <a:pt x="78" y="375"/>
                  </a:lnTo>
                  <a:lnTo>
                    <a:pt x="0" y="441"/>
                  </a:lnTo>
                  <a:lnTo>
                    <a:pt x="78" y="518"/>
                  </a:lnTo>
                  <a:lnTo>
                    <a:pt x="0" y="588"/>
                  </a:lnTo>
                  <a:lnTo>
                    <a:pt x="74" y="588"/>
                  </a:lnTo>
                  <a:close/>
                </a:path>
              </a:pathLst>
            </a:custGeom>
            <a:solidFill>
              <a:srgbClr val="F79646">
                <a:lumMod val="20000"/>
                <a:lumOff val="80000"/>
              </a:srgbClr>
            </a:solidFill>
            <a:ln w="6350" cap="flat" cmpd="sng" algn="ctr">
              <a:solidFill>
                <a:srgbClr val="F79646">
                  <a:lumMod val="60000"/>
                  <a:lumOff val="40000"/>
                </a:srgbClr>
              </a:solidFill>
              <a:prstDash val="solid"/>
            </a:ln>
            <a:effectLst/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Segoe UI" panose="020B0502040204020203" pitchFamily="34" charset="0"/>
                <a:ea typeface="맑은 고딕"/>
                <a:cs typeface="Segoe UI" panose="020B0502040204020203" pitchFamily="34" charset="0"/>
              </a:endParaRPr>
            </a:p>
          </p:txBody>
        </p:sp>
        <p:sp>
          <p:nvSpPr>
            <p:cNvPr id="133" name="Border">
              <a:extLst>
                <a:ext uri="{FF2B5EF4-FFF2-40B4-BE49-F238E27FC236}">
                  <a16:creationId xmlns="" xmlns:a16="http://schemas.microsoft.com/office/drawing/2014/main" id="{3C344D81-4CE5-4D66-9FA5-12D6AFF14483}"/>
                </a:ext>
              </a:extLst>
            </p:cNvPr>
            <p:cNvSpPr>
              <a:spLocks noEditPoints="1"/>
            </p:cNvSpPr>
            <p:nvPr/>
          </p:nvSpPr>
          <p:spPr bwMode="auto">
            <a:xfrm rot="16200000">
              <a:off x="5309906" y="1256893"/>
              <a:ext cx="108000" cy="7992000"/>
            </a:xfrm>
            <a:custGeom>
              <a:avLst/>
              <a:gdLst>
                <a:gd name="T0" fmla="*/ 0 w 909"/>
                <a:gd name="T1" fmla="*/ 0 h 3585"/>
                <a:gd name="T2" fmla="*/ 467 w 909"/>
                <a:gd name="T3" fmla="*/ 535 h 3585"/>
                <a:gd name="T4" fmla="*/ 0 w 909"/>
                <a:gd name="T5" fmla="*/ 896 h 3585"/>
                <a:gd name="T6" fmla="*/ 467 w 909"/>
                <a:gd name="T7" fmla="*/ 1409 h 3585"/>
                <a:gd name="T8" fmla="*/ 0 w 909"/>
                <a:gd name="T9" fmla="*/ 1793 h 3585"/>
                <a:gd name="T10" fmla="*/ 467 w 909"/>
                <a:gd name="T11" fmla="*/ 2284 h 3585"/>
                <a:gd name="T12" fmla="*/ 0 w 909"/>
                <a:gd name="T13" fmla="*/ 2689 h 3585"/>
                <a:gd name="T14" fmla="*/ 467 w 909"/>
                <a:gd name="T15" fmla="*/ 3158 h 3585"/>
                <a:gd name="T16" fmla="*/ 0 w 909"/>
                <a:gd name="T17" fmla="*/ 3585 h 3585"/>
                <a:gd name="T18" fmla="*/ 442 w 909"/>
                <a:gd name="T19" fmla="*/ 3585 h 3585"/>
                <a:gd name="T20" fmla="*/ 909 w 909"/>
                <a:gd name="T21" fmla="*/ 3158 h 3585"/>
                <a:gd name="T22" fmla="*/ 442 w 909"/>
                <a:gd name="T23" fmla="*/ 2689 h 3585"/>
                <a:gd name="T24" fmla="*/ 909 w 909"/>
                <a:gd name="T25" fmla="*/ 2284 h 3585"/>
                <a:gd name="T26" fmla="*/ 442 w 909"/>
                <a:gd name="T27" fmla="*/ 1793 h 3585"/>
                <a:gd name="T28" fmla="*/ 909 w 909"/>
                <a:gd name="T29" fmla="*/ 1409 h 3585"/>
                <a:gd name="T30" fmla="*/ 442 w 909"/>
                <a:gd name="T31" fmla="*/ 896 h 3585"/>
                <a:gd name="T32" fmla="*/ 909 w 909"/>
                <a:gd name="T33" fmla="*/ 535 h 3585"/>
                <a:gd name="T34" fmla="*/ 442 w 909"/>
                <a:gd name="T35" fmla="*/ 0 h 35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909" h="3585">
                  <a:moveTo>
                    <a:pt x="0" y="0"/>
                  </a:moveTo>
                  <a:lnTo>
                    <a:pt x="467" y="535"/>
                  </a:lnTo>
                  <a:lnTo>
                    <a:pt x="0" y="896"/>
                  </a:lnTo>
                  <a:lnTo>
                    <a:pt x="467" y="1409"/>
                  </a:lnTo>
                  <a:lnTo>
                    <a:pt x="0" y="1793"/>
                  </a:lnTo>
                  <a:lnTo>
                    <a:pt x="467" y="2284"/>
                  </a:lnTo>
                  <a:lnTo>
                    <a:pt x="0" y="2689"/>
                  </a:lnTo>
                  <a:lnTo>
                    <a:pt x="467" y="3158"/>
                  </a:lnTo>
                  <a:lnTo>
                    <a:pt x="0" y="3585"/>
                  </a:lnTo>
                  <a:moveTo>
                    <a:pt x="442" y="3585"/>
                  </a:moveTo>
                  <a:lnTo>
                    <a:pt x="909" y="3158"/>
                  </a:lnTo>
                  <a:lnTo>
                    <a:pt x="442" y="2689"/>
                  </a:lnTo>
                  <a:lnTo>
                    <a:pt x="909" y="2284"/>
                  </a:lnTo>
                  <a:lnTo>
                    <a:pt x="442" y="1793"/>
                  </a:lnTo>
                  <a:lnTo>
                    <a:pt x="909" y="1409"/>
                  </a:lnTo>
                  <a:lnTo>
                    <a:pt x="442" y="896"/>
                  </a:lnTo>
                  <a:lnTo>
                    <a:pt x="909" y="535"/>
                  </a:lnTo>
                  <a:lnTo>
                    <a:pt x="442" y="0"/>
                  </a:lnTo>
                </a:path>
              </a:pathLst>
            </a:custGeom>
            <a:noFill/>
            <a:ln w="6350" cap="flat" cmpd="sng" algn="ctr">
              <a:solidFill>
                <a:srgbClr val="F79646">
                  <a:lumMod val="60000"/>
                  <a:lumOff val="40000"/>
                </a:srgbClr>
              </a:solidFill>
              <a:prstDash val="solid"/>
            </a:ln>
            <a:effectLst/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Segoe UI" panose="020B0502040204020203" pitchFamily="34" charset="0"/>
                <a:ea typeface="맑은 고딕"/>
                <a:cs typeface="Segoe UI" panose="020B0502040204020203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2897320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Group 118">
            <a:extLst>
              <a:ext uri="{FF2B5EF4-FFF2-40B4-BE49-F238E27FC236}">
                <a16:creationId xmlns="" xmlns:a16="http://schemas.microsoft.com/office/drawing/2014/main" id="{41B5A014-BEDB-439E-A302-DBCECEC856B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8564065"/>
              </p:ext>
            </p:extLst>
          </p:nvPr>
        </p:nvGraphicFramePr>
        <p:xfrm>
          <a:off x="9647906" y="709700"/>
          <a:ext cx="2376000" cy="1352088"/>
        </p:xfrm>
        <a:graphic>
          <a:graphicData uri="http://schemas.openxmlformats.org/drawingml/2006/table">
            <a:tbl>
              <a:tblPr/>
              <a:tblGrid>
                <a:gridCol w="216000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2160000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</a:tblGrid>
              <a:tr h="2520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 Semilight" panose="020B0502040204020203" pitchFamily="50" charset="-127"/>
                        </a:rPr>
                        <a:t>No</a:t>
                      </a:r>
                    </a:p>
                  </a:txBody>
                  <a:tcPr marL="42203" marR="42203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en-US" altLang="ko-KR" sz="700" b="0" baseline="0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 Semilight" panose="020B0502040204020203" pitchFamily="50" charset="-127"/>
                        </a:rPr>
                        <a:t>Description</a:t>
                      </a:r>
                    </a:p>
                  </a:txBody>
                  <a:tcPr marL="108000" marR="108000" marT="36000" marB="3600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 Semilight" panose="020B0502040204020203" pitchFamily="50" charset="-127"/>
                        </a:rPr>
                        <a:t>1</a:t>
                      </a:r>
                    </a:p>
                  </a:txBody>
                  <a:tcPr marL="42203" marR="42203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ko-KR" altLang="en-US" sz="700" b="0" baseline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  <a:cs typeface="Malgun Gothic Semilight" panose="020B0502040204020203" pitchFamily="50" charset="-127"/>
                        </a:rPr>
                        <a:t>재고정보 팝업</a:t>
                      </a:r>
                      <a:endParaRPr lang="en-US" altLang="ko-KR" sz="700" b="0" baseline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  <a:cs typeface="Malgun Gothic Semilight" panose="020B0502040204020203" pitchFamily="50" charset="-127"/>
                      </a:endParaRPr>
                    </a:p>
                  </a:txBody>
                  <a:tcPr marL="108000" marR="108000" marT="36000" marB="3600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 Semilight" panose="020B0502040204020203" pitchFamily="50" charset="-127"/>
                        </a:rPr>
                        <a:t>2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42203" marR="42203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ko-KR" altLang="en-US" sz="700" b="0" baseline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  <a:cs typeface="Malgun Gothic Semilight" panose="020B0502040204020203" pitchFamily="50" charset="-127"/>
                        </a:rPr>
                        <a:t>출고처 리스트</a:t>
                      </a:r>
                      <a:endParaRPr lang="en-US" altLang="ko-KR" sz="700" b="0" baseline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  <a:cs typeface="Malgun Gothic Semilight" panose="020B0502040204020203" pitchFamily="50" charset="-127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en-US" altLang="ko-KR" sz="700" b="0" baseline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  <a:cs typeface="Malgun Gothic Semilight" panose="020B0502040204020203" pitchFamily="50" charset="-127"/>
                        </a:rPr>
                        <a:t> - [</a:t>
                      </a:r>
                      <a:r>
                        <a:rPr lang="ko-KR" altLang="en-US" sz="700" b="0" baseline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  <a:cs typeface="Malgun Gothic Semilight" panose="020B0502040204020203" pitchFamily="50" charset="-127"/>
                        </a:rPr>
                        <a:t>출고처코드</a:t>
                      </a:r>
                      <a:r>
                        <a:rPr lang="en-US" altLang="ko-KR" sz="700" b="0" baseline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  <a:cs typeface="Malgun Gothic Semilight" panose="020B0502040204020203" pitchFamily="50" charset="-127"/>
                        </a:rPr>
                        <a:t>] </a:t>
                      </a:r>
                      <a:r>
                        <a:rPr lang="ko-KR" altLang="en-US" sz="700" b="0" baseline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  <a:cs typeface="Malgun Gothic Semilight" panose="020B0502040204020203" pitchFamily="50" charset="-127"/>
                        </a:rPr>
                        <a:t>항목 추가</a:t>
                      </a:r>
                      <a:endParaRPr lang="en-US" altLang="ko-KR" sz="700" b="0" baseline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  <a:cs typeface="Malgun Gothic Semilight" panose="020B0502040204020203" pitchFamily="50" charset="-127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en-US" altLang="ko-KR" sz="700" b="0" baseline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  <a:cs typeface="Malgun Gothic Semilight" panose="020B0502040204020203" pitchFamily="50" charset="-127"/>
                        </a:rPr>
                        <a:t> - </a:t>
                      </a:r>
                      <a:r>
                        <a:rPr lang="ko-KR" altLang="en-US" sz="700" b="0" baseline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  <a:cs typeface="Malgun Gothic Semilight" panose="020B0502040204020203" pitchFamily="50" charset="-127"/>
                        </a:rPr>
                        <a:t>기존 </a:t>
                      </a:r>
                      <a:r>
                        <a:rPr lang="en-US" altLang="ko-KR" sz="700" b="0" baseline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  <a:cs typeface="Malgun Gothic Semilight" panose="020B0502040204020203" pitchFamily="50" charset="-127"/>
                        </a:rPr>
                        <a:t>[</a:t>
                      </a:r>
                      <a:r>
                        <a:rPr lang="ko-KR" altLang="en-US" sz="700" b="0" baseline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  <a:cs typeface="Malgun Gothic Semilight" panose="020B0502040204020203" pitchFamily="50" charset="-127"/>
                        </a:rPr>
                        <a:t>출고처명</a:t>
                      </a:r>
                      <a:r>
                        <a:rPr lang="en-US" altLang="ko-KR" sz="700" b="0" baseline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  <a:cs typeface="Malgun Gothic Semilight" panose="020B0502040204020203" pitchFamily="50" charset="-127"/>
                        </a:rPr>
                        <a:t>] </a:t>
                      </a:r>
                      <a:r>
                        <a:rPr lang="ko-KR" altLang="en-US" sz="700" b="0" baseline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  <a:cs typeface="Malgun Gothic Semilight" panose="020B0502040204020203" pitchFamily="50" charset="-127"/>
                        </a:rPr>
                        <a:t>에 함께 표현되었던 </a:t>
                      </a:r>
                      <a:r>
                        <a:rPr lang="en-US" altLang="ko-KR" sz="700" b="0" baseline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  <a:cs typeface="Malgun Gothic Semilight" panose="020B0502040204020203" pitchFamily="50" charset="-127"/>
                        </a:rPr>
                        <a:t>‘</a:t>
                      </a:r>
                      <a:r>
                        <a:rPr lang="ko-KR" altLang="en-US" sz="700" b="0" baseline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  <a:cs typeface="Malgun Gothic Semilight" panose="020B0502040204020203" pitchFamily="50" charset="-127"/>
                        </a:rPr>
                        <a:t>코드</a:t>
                      </a:r>
                      <a:r>
                        <a:rPr lang="en-US" altLang="ko-KR" sz="700" b="0" baseline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  <a:cs typeface="Malgun Gothic Semilight" panose="020B0502040204020203" pitchFamily="50" charset="-127"/>
                        </a:rPr>
                        <a:t>’ </a:t>
                      </a:r>
                      <a:r>
                        <a:rPr lang="ko-KR" altLang="en-US" sz="700" b="0" baseline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  <a:cs typeface="Malgun Gothic Semilight" panose="020B0502040204020203" pitchFamily="50" charset="-127"/>
                        </a:rPr>
                        <a:t>를 분리하여 표현</a:t>
                      </a:r>
                      <a:endParaRPr lang="en-US" altLang="ko-KR" sz="700" b="0" baseline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  <a:cs typeface="Malgun Gothic Semilight" panose="020B0502040204020203" pitchFamily="50" charset="-127"/>
                      </a:endParaRPr>
                    </a:p>
                  </a:txBody>
                  <a:tcPr marL="108000" marR="108000" marT="36000" marB="3600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 Semilight" panose="020B0502040204020203" pitchFamily="50" charset="-127"/>
                        </a:rPr>
                        <a:t>3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42203" marR="42203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ko-KR" altLang="en-US" sz="700" b="0" baseline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  <a:cs typeface="Malgun Gothic Semilight" panose="020B0502040204020203" pitchFamily="50" charset="-127"/>
                        </a:rPr>
                        <a:t>비직송매장 표현</a:t>
                      </a:r>
                      <a:endParaRPr lang="en-US" altLang="ko-KR" sz="700" b="0" baseline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  <a:cs typeface="Malgun Gothic Semilight" panose="020B0502040204020203" pitchFamily="50" charset="-127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en-US" altLang="ko-KR" sz="700" b="0" baseline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  <a:cs typeface="Malgun Gothic Semilight" panose="020B0502040204020203" pitchFamily="50" charset="-127"/>
                        </a:rPr>
                        <a:t> - </a:t>
                      </a:r>
                      <a:r>
                        <a:rPr lang="ko-KR" altLang="en-US" sz="700" b="0" baseline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  <a:cs typeface="Malgun Gothic Semilight" panose="020B0502040204020203" pitchFamily="50" charset="-127"/>
                        </a:rPr>
                        <a:t>데이터 기본값 관련 추가 협의 예정</a:t>
                      </a:r>
                      <a:endParaRPr lang="en-US" altLang="ko-KR" sz="700" b="0" baseline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  <a:cs typeface="Malgun Gothic Semilight" panose="020B0502040204020203" pitchFamily="50" charset="-127"/>
                      </a:endParaRPr>
                    </a:p>
                  </a:txBody>
                  <a:tcPr marL="108000" marR="108000" marT="36000" marB="3600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6" name="제목 1"/>
          <p:cNvSpPr txBox="1">
            <a:spLocks/>
          </p:cNvSpPr>
          <p:nvPr/>
        </p:nvSpPr>
        <p:spPr>
          <a:xfrm>
            <a:off x="1223906" y="142660"/>
            <a:ext cx="1080000" cy="216000"/>
          </a:xfrm>
          <a:prstGeom prst="rect">
            <a:avLst/>
          </a:prstGeom>
        </p:spPr>
        <p:txBody>
          <a:bodyPr lIns="36000" tIns="36000" rIns="36000" bIns="36000" anchor="ctr"/>
          <a:lstStyle>
            <a:lvl1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2pPr>
            <a:lvl3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3pPr>
            <a:lvl4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4pPr>
            <a:lvl5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5pPr>
            <a:lvl6pPr marL="457212" algn="ctr" rtl="0" fontAlgn="base" latinLnBrk="1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6pPr>
            <a:lvl7pPr marL="914423" algn="ctr" rtl="0" fontAlgn="base" latinLnBrk="1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7pPr>
            <a:lvl8pPr marL="1371634" algn="ctr" rtl="0" fontAlgn="base" latinLnBrk="1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8pPr>
            <a:lvl9pPr marL="1828846" algn="ctr" rtl="0" fontAlgn="base" latinLnBrk="1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r>
              <a:rPr lang="en-US" altLang="ko-KR" sz="8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nBOS</a:t>
            </a:r>
            <a:endParaRPr lang="ko-KR" altLang="en-US" sz="800" kern="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01" name="직사각형 200">
            <a:extLst>
              <a:ext uri="{FF2B5EF4-FFF2-40B4-BE49-F238E27FC236}">
                <a16:creationId xmlns="" xmlns:a16="http://schemas.microsoft.com/office/drawing/2014/main" id="{09B54577-DFD2-4CD0-A7A1-F1C86267855F}"/>
              </a:ext>
            </a:extLst>
          </p:cNvPr>
          <p:cNvSpPr/>
          <p:nvPr/>
        </p:nvSpPr>
        <p:spPr>
          <a:xfrm>
            <a:off x="143906" y="709700"/>
            <a:ext cx="9360000" cy="5688022"/>
          </a:xfrm>
          <a:prstGeom prst="rect">
            <a:avLst/>
          </a:prstGeom>
          <a:solidFill>
            <a:schemeClr val="tx1">
              <a:lumMod val="75000"/>
              <a:lumOff val="25000"/>
              <a:alpha val="7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 b="1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81" name="제목 1"/>
          <p:cNvSpPr txBox="1">
            <a:spLocks/>
          </p:cNvSpPr>
          <p:nvPr/>
        </p:nvSpPr>
        <p:spPr>
          <a:xfrm>
            <a:off x="1223906" y="358660"/>
            <a:ext cx="1080000" cy="216000"/>
          </a:xfrm>
          <a:prstGeom prst="rect">
            <a:avLst/>
          </a:prstGeom>
        </p:spPr>
        <p:txBody>
          <a:bodyPr lIns="36000" tIns="36000" rIns="36000" bIns="36000" anchor="ctr"/>
          <a:lstStyle>
            <a:lvl1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2pPr>
            <a:lvl3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3pPr>
            <a:lvl4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4pPr>
            <a:lvl5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5pPr>
            <a:lvl6pPr marL="457212" algn="ctr" rtl="0" fontAlgn="base" latinLnBrk="1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6pPr>
            <a:lvl7pPr marL="914423" algn="ctr" rtl="0" fontAlgn="base" latinLnBrk="1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7pPr>
            <a:lvl8pPr marL="1371634" algn="ctr" rtl="0" fontAlgn="base" latinLnBrk="1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8pPr>
            <a:lvl9pPr marL="1828846" algn="ctr" rtl="0" fontAlgn="base" latinLnBrk="1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r>
              <a:rPr lang="en-US" altLang="ko-KR" sz="800" ker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-</a:t>
            </a:r>
            <a:endParaRPr lang="ko-KR" altLang="en-US" sz="800" kern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82" name="제목 1">
            <a:extLst>
              <a:ext uri="{FF2B5EF4-FFF2-40B4-BE49-F238E27FC236}">
                <a16:creationId xmlns="" xmlns:a16="http://schemas.microsoft.com/office/drawing/2014/main" id="{03F65532-A01C-4981-B987-5E15F64E3ABB}"/>
              </a:ext>
            </a:extLst>
          </p:cNvPr>
          <p:cNvSpPr txBox="1">
            <a:spLocks/>
          </p:cNvSpPr>
          <p:nvPr/>
        </p:nvSpPr>
        <p:spPr>
          <a:xfrm>
            <a:off x="3383718" y="142660"/>
            <a:ext cx="4320000" cy="216000"/>
          </a:xfrm>
          <a:prstGeom prst="rect">
            <a:avLst/>
          </a:prstGeom>
        </p:spPr>
        <p:txBody>
          <a:bodyPr lIns="180000" tIns="36000" rIns="180000" bIns="36000" anchor="ctr"/>
          <a:lstStyle>
            <a:lvl1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2pPr>
            <a:lvl3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3pPr>
            <a:lvl4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4pPr>
            <a:lvl5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5pPr>
            <a:lvl6pPr marL="457212" algn="ctr" rtl="0" fontAlgn="base" latinLnBrk="1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6pPr>
            <a:lvl7pPr marL="914423" algn="ctr" rtl="0" fontAlgn="base" latinLnBrk="1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7pPr>
            <a:lvl8pPr marL="1371634" algn="ctr" rtl="0" fontAlgn="base" latinLnBrk="1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8pPr>
            <a:lvl9pPr marL="1828846" algn="ctr" rtl="0" fontAlgn="base" latinLnBrk="1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l"/>
            <a:r>
              <a:rPr lang="ko-KR" altLang="en-US" sz="800" ker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상품 </a:t>
            </a:r>
            <a:r>
              <a:rPr lang="en-US" altLang="ko-KR" sz="800" ker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&gt; </a:t>
            </a:r>
            <a:r>
              <a:rPr lang="ko-KR" altLang="en-US" sz="800" ker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상품관리 </a:t>
            </a:r>
            <a:r>
              <a:rPr lang="en-US" altLang="ko-KR" sz="800" ker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&gt; </a:t>
            </a:r>
            <a:r>
              <a:rPr lang="ko-KR" altLang="en-US" sz="800" kern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상품관리 </a:t>
            </a:r>
            <a:r>
              <a:rPr lang="en-US" altLang="ko-KR" sz="800" kern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&gt; </a:t>
            </a:r>
            <a:r>
              <a:rPr lang="ko-KR" altLang="en-US" sz="800" kern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자사상품상세 </a:t>
            </a:r>
            <a:r>
              <a:rPr lang="en-US" altLang="ko-KR" sz="800" kern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&gt; </a:t>
            </a:r>
            <a:r>
              <a:rPr lang="ko-KR" altLang="en-US" sz="800" kern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재고정보</a:t>
            </a:r>
            <a:endParaRPr lang="ko-KR" altLang="en-US" sz="800" kern="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183" name="제목 1">
            <a:extLst>
              <a:ext uri="{FF2B5EF4-FFF2-40B4-BE49-F238E27FC236}">
                <a16:creationId xmlns="" xmlns:a16="http://schemas.microsoft.com/office/drawing/2014/main" id="{E2CFB5AD-2840-4821-B288-2284D6C0A05E}"/>
              </a:ext>
            </a:extLst>
          </p:cNvPr>
          <p:cNvSpPr txBox="1">
            <a:spLocks/>
          </p:cNvSpPr>
          <p:nvPr/>
        </p:nvSpPr>
        <p:spPr>
          <a:xfrm>
            <a:off x="3383718" y="358660"/>
            <a:ext cx="4320000" cy="216000"/>
          </a:xfrm>
          <a:prstGeom prst="rect">
            <a:avLst/>
          </a:prstGeom>
        </p:spPr>
        <p:txBody>
          <a:bodyPr lIns="180000" tIns="36000" rIns="180000" bIns="36000" anchor="ctr"/>
          <a:lstStyle>
            <a:lvl1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2pPr>
            <a:lvl3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3pPr>
            <a:lvl4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4pPr>
            <a:lvl5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5pPr>
            <a:lvl6pPr marL="457212" algn="ctr" rtl="0" fontAlgn="base" latinLnBrk="1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6pPr>
            <a:lvl7pPr marL="914423" algn="ctr" rtl="0" fontAlgn="base" latinLnBrk="1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7pPr>
            <a:lvl8pPr marL="1371634" algn="ctr" rtl="0" fontAlgn="base" latinLnBrk="1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8pPr>
            <a:lvl9pPr marL="1828846" algn="ctr" rtl="0" fontAlgn="base" latinLnBrk="1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l"/>
            <a:r>
              <a:rPr lang="en-US" altLang="ko-KR" sz="8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https://nbos.lfmall.co.kr/lfmadm/index.html</a:t>
            </a:r>
            <a:endParaRPr lang="ko-KR" altLang="en-US" sz="800" kern="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184" name="제목 1">
            <a:extLst>
              <a:ext uri="{FF2B5EF4-FFF2-40B4-BE49-F238E27FC236}">
                <a16:creationId xmlns="" xmlns:a16="http://schemas.microsoft.com/office/drawing/2014/main" id="{03F65532-A01C-4981-B987-5E15F64E3ABB}"/>
              </a:ext>
            </a:extLst>
          </p:cNvPr>
          <p:cNvSpPr txBox="1">
            <a:spLocks/>
          </p:cNvSpPr>
          <p:nvPr/>
        </p:nvSpPr>
        <p:spPr>
          <a:xfrm>
            <a:off x="8783530" y="142660"/>
            <a:ext cx="1079290" cy="432000"/>
          </a:xfrm>
          <a:prstGeom prst="rect">
            <a:avLst/>
          </a:prstGeom>
        </p:spPr>
        <p:txBody>
          <a:bodyPr lIns="180000" tIns="36000" rIns="180000" bIns="36000" anchor="ctr"/>
          <a:lstStyle>
            <a:lvl1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2pPr>
            <a:lvl3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3pPr>
            <a:lvl4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4pPr>
            <a:lvl5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5pPr>
            <a:lvl6pPr marL="457212" algn="ctr" rtl="0" fontAlgn="base" latinLnBrk="1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6pPr>
            <a:lvl7pPr marL="914423" algn="ctr" rtl="0" fontAlgn="base" latinLnBrk="1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7pPr>
            <a:lvl8pPr marL="1371634" algn="ctr" rtl="0" fontAlgn="base" latinLnBrk="1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8pPr>
            <a:lvl9pPr marL="1828846" algn="ctr" rtl="0" fontAlgn="base" latinLnBrk="1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r>
              <a:rPr lang="ko-KR" altLang="en-US" sz="800" kern="0"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</a:rPr>
              <a:t>최범열</a:t>
            </a:r>
          </a:p>
        </p:txBody>
      </p:sp>
      <p:grpSp>
        <p:nvGrpSpPr>
          <p:cNvPr id="4" name="그룹 3"/>
          <p:cNvGrpSpPr/>
          <p:nvPr/>
        </p:nvGrpSpPr>
        <p:grpSpPr>
          <a:xfrm>
            <a:off x="683906" y="1033711"/>
            <a:ext cx="8280000" cy="5040000"/>
            <a:chOff x="683906" y="1033711"/>
            <a:chExt cx="8280000" cy="5040000"/>
          </a:xfrm>
        </p:grpSpPr>
        <p:sp>
          <p:nvSpPr>
            <p:cNvPr id="202" name="사각형: 둥근 모서리 58">
              <a:extLst>
                <a:ext uri="{FF2B5EF4-FFF2-40B4-BE49-F238E27FC236}">
                  <a16:creationId xmlns="" xmlns:a16="http://schemas.microsoft.com/office/drawing/2014/main" id="{DD080841-1344-4C9C-ADD3-8387E4C1C248}"/>
                </a:ext>
              </a:extLst>
            </p:cNvPr>
            <p:cNvSpPr/>
            <p:nvPr/>
          </p:nvSpPr>
          <p:spPr bwMode="auto">
            <a:xfrm>
              <a:off x="683906" y="1033711"/>
              <a:ext cx="8280000" cy="5040000"/>
            </a:xfrm>
            <a:prstGeom prst="roundRect">
              <a:avLst>
                <a:gd name="adj" fmla="val 750"/>
              </a:avLst>
            </a:prstGeom>
            <a:solidFill>
              <a:srgbClr val="FFFFFF"/>
            </a:solidFill>
            <a:ln w="3175" cap="flat" cmpd="sng" algn="ctr">
              <a:solidFill>
                <a:srgbClr val="FFFFFF">
                  <a:lumMod val="75000"/>
                </a:srgbClr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25400" dist="12700" dir="2700000" algn="tl" rotWithShape="0">
                <a:prstClr val="black">
                  <a:alpha val="60000"/>
                </a:prstClr>
              </a:outerShdw>
            </a:effectLst>
          </p:spPr>
          <p:txBody>
            <a:bodyPr vert="horz" wrap="square" lIns="36000" tIns="36000" rIns="36000" bIns="36000" numCol="1" rtlCol="0" anchor="ctr" anchorCtr="0" compatLnSpc="1">
              <a:prstTxWarp prst="textNoShape">
                <a:avLst/>
              </a:prstTxWarp>
              <a:noAutofit/>
            </a:bodyPr>
            <a:lstStyle/>
            <a:p>
              <a:pPr marL="87313" indent="-87313" algn="ctr" defTabSz="914400" fontAlgn="base" latinLnBrk="0">
                <a:lnSpc>
                  <a:spcPct val="110000"/>
                </a:lnSpc>
                <a:spcBef>
                  <a:spcPct val="25000"/>
                </a:spcBef>
                <a:spcAft>
                  <a:spcPct val="0"/>
                </a:spcAft>
                <a:defRPr/>
              </a:pPr>
              <a:endParaRPr kumimoji="1" lang="ko-KR" altLang="en-US" sz="700" kern="0">
                <a:solidFill>
                  <a:srgbClr val="000000">
                    <a:lumMod val="75000"/>
                    <a:lumOff val="25000"/>
                  </a:srgbClr>
                </a:solidFill>
                <a:latin typeface="맑은 고딕" panose="020B0503020000020004" pitchFamily="50" charset="-127"/>
              </a:endParaRPr>
            </a:p>
          </p:txBody>
        </p:sp>
        <p:grpSp>
          <p:nvGrpSpPr>
            <p:cNvPr id="197" name="그룹 196"/>
            <p:cNvGrpSpPr/>
            <p:nvPr/>
          </p:nvGrpSpPr>
          <p:grpSpPr>
            <a:xfrm>
              <a:off x="4029429" y="5713872"/>
              <a:ext cx="1582545" cy="216000"/>
              <a:chOff x="4606976" y="5317589"/>
              <a:chExt cx="1582545" cy="216000"/>
            </a:xfrm>
          </p:grpSpPr>
          <p:sp>
            <p:nvSpPr>
              <p:cNvPr id="198" name="사각형: 둥근 모서리 370">
                <a:extLst>
                  <a:ext uri="{FF2B5EF4-FFF2-40B4-BE49-F238E27FC236}">
                    <a16:creationId xmlns="" xmlns:a16="http://schemas.microsoft.com/office/drawing/2014/main" id="{40426C93-54F4-4D06-9E1D-260D2A45518E}"/>
                  </a:ext>
                </a:extLst>
              </p:cNvPr>
              <p:cNvSpPr/>
              <p:nvPr/>
            </p:nvSpPr>
            <p:spPr bwMode="auto">
              <a:xfrm>
                <a:off x="5469521" y="5317589"/>
                <a:ext cx="720000" cy="216000"/>
              </a:xfrm>
              <a:prstGeom prst="roundRect">
                <a:avLst/>
              </a:prstGeom>
              <a:solidFill>
                <a:srgbClr val="C00000"/>
              </a:solidFill>
              <a:ln w="3175" cap="flat" cmpd="sng" algn="ctr">
                <a:solidFill>
                  <a:schemeClr val="bg1">
                    <a:lumMod val="7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>
                <a:outerShdw blurRad="12700" dist="12700" dir="2700000" algn="tl" rotWithShape="0">
                  <a:schemeClr val="tx1">
                    <a:lumMod val="75000"/>
                    <a:lumOff val="25000"/>
                    <a:alpha val="30000"/>
                  </a:schemeClr>
                </a:outerShdw>
              </a:effectLst>
            </p:spPr>
            <p:txBody>
              <a:bodyPr rot="0" spcFirstLastPara="0" vertOverflow="overflow" horzOverflow="overflow" vert="horz" wrap="none" lIns="36000" tIns="36000" rIns="36000" bIns="36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indent="0" algn="ctr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1" lang="ko-KR" altLang="en-US" sz="700" i="0" u="none" strike="noStrike" kern="0" cap="none" spc="0" normalizeH="0" baseline="0" noProof="0" smtClean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+mn-ea"/>
                  </a:rPr>
                  <a:t>수정</a:t>
                </a:r>
                <a:endParaRPr kumimoji="1" lang="ko-KR" altLang="en-US" sz="700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ea"/>
                </a:endParaRPr>
              </a:p>
            </p:txBody>
          </p:sp>
          <p:sp>
            <p:nvSpPr>
              <p:cNvPr id="199" name="사각형: 둥근 모서리 370">
                <a:extLst>
                  <a:ext uri="{FF2B5EF4-FFF2-40B4-BE49-F238E27FC236}">
                    <a16:creationId xmlns="" xmlns:a16="http://schemas.microsoft.com/office/drawing/2014/main" id="{40426C93-54F4-4D06-9E1D-260D2A45518E}"/>
                  </a:ext>
                </a:extLst>
              </p:cNvPr>
              <p:cNvSpPr/>
              <p:nvPr/>
            </p:nvSpPr>
            <p:spPr bwMode="auto">
              <a:xfrm>
                <a:off x="4606976" y="5317589"/>
                <a:ext cx="720000" cy="216000"/>
              </a:xfrm>
              <a:prstGeom prst="roundRect">
                <a:avLst/>
              </a:prstGeom>
              <a:solidFill>
                <a:schemeClr val="bg1"/>
              </a:solidFill>
              <a:ln w="3175" cap="flat" cmpd="sng" algn="ctr">
                <a:solidFill>
                  <a:schemeClr val="bg1">
                    <a:lumMod val="7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>
                <a:outerShdw blurRad="12700" dist="12700" dir="2700000" algn="tl" rotWithShape="0">
                  <a:schemeClr val="tx1">
                    <a:lumMod val="75000"/>
                    <a:lumOff val="25000"/>
                    <a:alpha val="30000"/>
                  </a:schemeClr>
                </a:outerShdw>
              </a:effectLst>
            </p:spPr>
            <p:txBody>
              <a:bodyPr rot="0" spcFirstLastPara="0" vertOverflow="overflow" horzOverflow="overflow" vert="horz" wrap="none" lIns="36000" tIns="36000" rIns="36000" bIns="36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indent="0" algn="ctr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1" lang="ko-KR" altLang="en-US" sz="700" i="0" u="none" strike="noStrike" kern="0" cap="none" spc="0" normalizeH="0" baseline="0" noProof="0" smtClean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uLnTx/>
                    <a:uFillTx/>
                    <a:latin typeface="+mn-ea"/>
                  </a:rPr>
                  <a:t>닫기</a:t>
                </a:r>
                <a:endParaRPr kumimoji="1" lang="ko-KR" altLang="en-US" sz="700" i="0" u="none" strike="noStrike" kern="0" cap="none" spc="0" normalizeH="0" baseline="0" noProof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latin typeface="+mn-ea"/>
                </a:endParaRPr>
              </a:p>
            </p:txBody>
          </p:sp>
        </p:grpSp>
        <p:grpSp>
          <p:nvGrpSpPr>
            <p:cNvPr id="5" name="그룹 4"/>
            <p:cNvGrpSpPr/>
            <p:nvPr/>
          </p:nvGrpSpPr>
          <p:grpSpPr>
            <a:xfrm>
              <a:off x="827906" y="4488603"/>
              <a:ext cx="7990634" cy="1080000"/>
              <a:chOff x="827906" y="3912193"/>
              <a:chExt cx="7990634" cy="1080000"/>
            </a:xfrm>
          </p:grpSpPr>
          <p:sp>
            <p:nvSpPr>
              <p:cNvPr id="207" name="직사각형 206">
                <a:extLst>
                  <a:ext uri="{FF2B5EF4-FFF2-40B4-BE49-F238E27FC236}">
                    <a16:creationId xmlns:a16="http://schemas.microsoft.com/office/drawing/2014/main" xmlns="" id="{2086226C-F3B2-4253-81E2-3DD09EF4018E}"/>
                  </a:ext>
                </a:extLst>
              </p:cNvPr>
              <p:cNvSpPr/>
              <p:nvPr/>
            </p:nvSpPr>
            <p:spPr>
              <a:xfrm>
                <a:off x="827906" y="3912193"/>
                <a:ext cx="1080000" cy="108000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08000" tIns="36000" rIns="36000" bIns="36000" rtlCol="0" anchor="ctr"/>
              <a:lstStyle/>
              <a:p>
                <a:r>
                  <a:rPr lang="ko-KR" altLang="en-US" sz="700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맑은 고딕" panose="020B0503020000020004" pitchFamily="50" charset="-127"/>
                  </a:rPr>
                  <a:t>코디상품등록</a:t>
                </a:r>
                <a:endParaRPr lang="ko-KR" altLang="en-US" sz="7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endParaRPr>
              </a:p>
            </p:txBody>
          </p:sp>
          <p:sp>
            <p:nvSpPr>
              <p:cNvPr id="208" name="직사각형 207">
                <a:extLst>
                  <a:ext uri="{FF2B5EF4-FFF2-40B4-BE49-F238E27FC236}">
                    <a16:creationId xmlns:a16="http://schemas.microsoft.com/office/drawing/2014/main" xmlns="" id="{E955F0F7-52A0-48E2-96C0-51A6B4AD6027}"/>
                  </a:ext>
                </a:extLst>
              </p:cNvPr>
              <p:cNvSpPr/>
              <p:nvPr/>
            </p:nvSpPr>
            <p:spPr>
              <a:xfrm>
                <a:off x="1907905" y="3912193"/>
                <a:ext cx="6910635" cy="1080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08000" tIns="36000" rIns="108000" bIns="36000" rtlCol="0" anchor="ctr"/>
              <a:lstStyle/>
              <a:p>
                <a:endParaRPr lang="ko-KR" altLang="en-US" sz="7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</p:grpSp>
        <p:sp>
          <p:nvSpPr>
            <p:cNvPr id="209" name="직사각형 208">
              <a:extLst>
                <a:ext uri="{FF2B5EF4-FFF2-40B4-BE49-F238E27FC236}">
                  <a16:creationId xmlns="" xmlns:a16="http://schemas.microsoft.com/office/drawing/2014/main" id="{E955F0F7-52A0-48E2-96C0-51A6B4AD6027}"/>
                </a:ext>
              </a:extLst>
            </p:cNvPr>
            <p:cNvSpPr/>
            <p:nvPr/>
          </p:nvSpPr>
          <p:spPr>
            <a:xfrm>
              <a:off x="1907904" y="4488603"/>
              <a:ext cx="6910636" cy="2880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36000" rIns="36000" bIns="36000" rtlCol="0" anchor="ctr"/>
            <a:lstStyle/>
            <a:p>
              <a:endParaRPr lang="ko-KR" altLang="en-US" sz="7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212" name="직사각형 211"/>
            <p:cNvSpPr/>
            <p:nvPr/>
          </p:nvSpPr>
          <p:spPr>
            <a:xfrm>
              <a:off x="1907904" y="4776603"/>
              <a:ext cx="1080000" cy="216000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700" smtClean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온라인상품코드</a:t>
              </a:r>
              <a:endParaRPr lang="ko-KR" altLang="en-US" sz="70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213" name="사각형: 둥근 모서리 244">
              <a:extLst>
                <a:ext uri="{FF2B5EF4-FFF2-40B4-BE49-F238E27FC236}">
                  <a16:creationId xmlns="" xmlns:a16="http://schemas.microsoft.com/office/drawing/2014/main" id="{6A3ABAA2-A5F4-4C8F-B9C8-C37B43E8884D}"/>
                </a:ext>
              </a:extLst>
            </p:cNvPr>
            <p:cNvSpPr/>
            <p:nvPr/>
          </p:nvSpPr>
          <p:spPr bwMode="auto">
            <a:xfrm>
              <a:off x="8242671" y="4542603"/>
              <a:ext cx="504000" cy="180000"/>
            </a:xfrm>
            <a:prstGeom prst="roundRect">
              <a:avLst/>
            </a:prstGeom>
            <a:solidFill>
              <a:schemeClr val="tx1">
                <a:lumMod val="50000"/>
                <a:lumOff val="50000"/>
              </a:schemeClr>
            </a:solidFill>
            <a:ln w="317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>
              <a:outerShdw blurRad="12700" dist="12700" dir="2700000" algn="tl" rotWithShape="0">
                <a:schemeClr val="tx1">
                  <a:lumMod val="75000"/>
                  <a:lumOff val="25000"/>
                  <a:alpha val="30000"/>
                </a:schemeClr>
              </a:outerShdw>
            </a:effectLst>
          </p:spPr>
          <p:txBody>
  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14400" fontAlgn="base" latinLnBrk="0">
                <a:spcBef>
                  <a:spcPct val="0"/>
                </a:spcBef>
                <a:spcAft>
                  <a:spcPct val="0"/>
                </a:spcAft>
              </a:pPr>
              <a:r>
                <a:rPr kumimoji="1" lang="ko-KR" altLang="en-US" sz="700" kern="0" smtClean="0">
                  <a:solidFill>
                    <a:schemeClr val="bg1"/>
                  </a:solidFill>
                  <a:latin typeface="+mn-ea"/>
                </a:rPr>
                <a:t>상품추가</a:t>
              </a:r>
              <a:endParaRPr kumimoji="1" lang="ko-KR" altLang="en-US" sz="700" kern="0" dirty="0">
                <a:solidFill>
                  <a:schemeClr val="bg1"/>
                </a:solidFill>
                <a:latin typeface="+mn-ea"/>
              </a:endParaRPr>
            </a:p>
          </p:txBody>
        </p:sp>
        <p:sp>
          <p:nvSpPr>
            <p:cNvPr id="214" name="직사각형 213"/>
            <p:cNvSpPr/>
            <p:nvPr/>
          </p:nvSpPr>
          <p:spPr>
            <a:xfrm>
              <a:off x="2987904" y="4776603"/>
              <a:ext cx="1080000" cy="216000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700" smtClean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품목코드</a:t>
              </a:r>
              <a:endParaRPr lang="ko-KR" altLang="en-US" sz="70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215" name="직사각형 214"/>
            <p:cNvSpPr/>
            <p:nvPr/>
          </p:nvSpPr>
          <p:spPr>
            <a:xfrm>
              <a:off x="4067901" y="4776603"/>
              <a:ext cx="2590637" cy="216000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700" smtClean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품목명</a:t>
              </a:r>
              <a:endParaRPr lang="ko-KR" altLang="en-US" sz="70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216" name="직사각형 215"/>
            <p:cNvSpPr/>
            <p:nvPr/>
          </p:nvSpPr>
          <p:spPr>
            <a:xfrm>
              <a:off x="6658540" y="4776603"/>
              <a:ext cx="1080000" cy="216000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700" smtClean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우선순위</a:t>
              </a:r>
              <a:endParaRPr lang="ko-KR" altLang="en-US" sz="70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217" name="직사각형 216"/>
            <p:cNvSpPr/>
            <p:nvPr/>
          </p:nvSpPr>
          <p:spPr>
            <a:xfrm>
              <a:off x="7738540" y="4776603"/>
              <a:ext cx="1080000" cy="216000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700" smtClean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사용유무</a:t>
              </a:r>
              <a:endParaRPr lang="ko-KR" altLang="en-US" sz="70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219" name="직사각형 218">
              <a:extLst>
                <a:ext uri="{FF2B5EF4-FFF2-40B4-BE49-F238E27FC236}">
                  <a16:creationId xmlns:a16="http://schemas.microsoft.com/office/drawing/2014/main" xmlns="" id="{E955F0F7-52A0-48E2-96C0-51A6B4AD6027}"/>
                </a:ext>
              </a:extLst>
            </p:cNvPr>
            <p:cNvSpPr/>
            <p:nvPr/>
          </p:nvSpPr>
          <p:spPr>
            <a:xfrm>
              <a:off x="827906" y="3048737"/>
              <a:ext cx="7990634" cy="1440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36000" rIns="108000" bIns="36000" rtlCol="0" anchor="ctr"/>
            <a:lstStyle/>
            <a:p>
              <a:endParaRPr lang="ko-KR" altLang="en-US" sz="7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220" name="직사각형 219"/>
            <p:cNvSpPr/>
            <p:nvPr/>
          </p:nvSpPr>
          <p:spPr>
            <a:xfrm>
              <a:off x="827906" y="3049756"/>
              <a:ext cx="792000" cy="216000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700" smtClean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사이즈</a:t>
              </a:r>
              <a:endParaRPr lang="ko-KR" altLang="en-US" sz="70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221" name="직사각형 220"/>
            <p:cNvSpPr/>
            <p:nvPr/>
          </p:nvSpPr>
          <p:spPr>
            <a:xfrm>
              <a:off x="827906" y="3265756"/>
              <a:ext cx="792000" cy="2160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0" rIns="36000" bIns="0" rtlCol="0" anchor="ctr"/>
            <a:lstStyle/>
            <a:p>
              <a:pPr algn="ctr"/>
              <a:r>
                <a:rPr lang="en-US" altLang="ko-KR" sz="70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085</a:t>
              </a:r>
              <a:endParaRPr lang="ko-KR" altLang="en-US" sz="7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222" name="직사각형 221"/>
            <p:cNvSpPr/>
            <p:nvPr/>
          </p:nvSpPr>
          <p:spPr>
            <a:xfrm>
              <a:off x="1619754" y="3049756"/>
              <a:ext cx="792000" cy="216000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700" smtClean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공통매핑사이즈</a:t>
              </a:r>
              <a:endParaRPr lang="ko-KR" altLang="en-US" sz="70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223" name="직사각형 222"/>
            <p:cNvSpPr/>
            <p:nvPr/>
          </p:nvSpPr>
          <p:spPr>
            <a:xfrm>
              <a:off x="1619754" y="3265756"/>
              <a:ext cx="792000" cy="2160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0" rIns="36000" bIns="0" rtlCol="0" anchor="ctr"/>
            <a:lstStyle/>
            <a:p>
              <a:pPr algn="ctr"/>
              <a:endParaRPr lang="ko-KR" altLang="en-US" sz="7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224" name="직사각형 223"/>
            <p:cNvSpPr/>
            <p:nvPr/>
          </p:nvSpPr>
          <p:spPr>
            <a:xfrm>
              <a:off x="827906" y="3481767"/>
              <a:ext cx="792000" cy="2160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0" rIns="36000" bIns="0" rtlCol="0" anchor="ctr"/>
            <a:lstStyle/>
            <a:p>
              <a:pPr algn="ctr"/>
              <a:r>
                <a:rPr lang="en-US" altLang="ko-KR" sz="70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090</a:t>
              </a:r>
              <a:endParaRPr lang="ko-KR" altLang="en-US" sz="7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225" name="직사각형 224"/>
            <p:cNvSpPr/>
            <p:nvPr/>
          </p:nvSpPr>
          <p:spPr>
            <a:xfrm>
              <a:off x="1619754" y="3481767"/>
              <a:ext cx="792000" cy="2160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0" rIns="36000" bIns="0" rtlCol="0" anchor="ctr"/>
            <a:lstStyle/>
            <a:p>
              <a:pPr algn="ctr"/>
              <a:endParaRPr lang="ko-KR" altLang="en-US" sz="7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226" name="직사각형 225"/>
            <p:cNvSpPr/>
            <p:nvPr/>
          </p:nvSpPr>
          <p:spPr>
            <a:xfrm>
              <a:off x="827906" y="3697611"/>
              <a:ext cx="792000" cy="2160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0" rIns="36000" bIns="0" rtlCol="0" anchor="ctr"/>
            <a:lstStyle/>
            <a:p>
              <a:pPr algn="ctr"/>
              <a:r>
                <a:rPr lang="en-US" altLang="ko-KR" sz="70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095</a:t>
              </a:r>
              <a:endParaRPr lang="ko-KR" altLang="en-US" sz="7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227" name="직사각형 226"/>
            <p:cNvSpPr/>
            <p:nvPr/>
          </p:nvSpPr>
          <p:spPr>
            <a:xfrm>
              <a:off x="1619754" y="3697611"/>
              <a:ext cx="792000" cy="2160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0" rIns="36000" bIns="0" rtlCol="0" anchor="ctr"/>
            <a:lstStyle/>
            <a:p>
              <a:pPr algn="ctr"/>
              <a:endParaRPr lang="ko-KR" altLang="en-US" sz="7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228" name="직사각형 227"/>
            <p:cNvSpPr/>
            <p:nvPr/>
          </p:nvSpPr>
          <p:spPr>
            <a:xfrm>
              <a:off x="827906" y="3913622"/>
              <a:ext cx="792000" cy="2160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0" rIns="36000" bIns="0" rtlCol="0" anchor="ctr"/>
            <a:lstStyle/>
            <a:p>
              <a:pPr algn="ctr"/>
              <a:r>
                <a:rPr lang="en-US" altLang="ko-KR" sz="70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100</a:t>
              </a:r>
              <a:endParaRPr lang="ko-KR" altLang="en-US" sz="7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231" name="직사각형 230"/>
            <p:cNvSpPr/>
            <p:nvPr/>
          </p:nvSpPr>
          <p:spPr>
            <a:xfrm>
              <a:off x="1619754" y="3913622"/>
              <a:ext cx="792000" cy="2160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0" rIns="36000" bIns="0" rtlCol="0" anchor="ctr"/>
            <a:lstStyle/>
            <a:p>
              <a:pPr algn="ctr"/>
              <a:endParaRPr lang="ko-KR" altLang="en-US" sz="7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234" name="직사각형 233"/>
            <p:cNvSpPr/>
            <p:nvPr/>
          </p:nvSpPr>
          <p:spPr>
            <a:xfrm>
              <a:off x="2411602" y="3049756"/>
              <a:ext cx="792000" cy="216000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700" smtClean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예외매핑사이즈</a:t>
              </a:r>
              <a:endParaRPr lang="ko-KR" altLang="en-US" sz="70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235" name="직사각형 234"/>
            <p:cNvSpPr/>
            <p:nvPr/>
          </p:nvSpPr>
          <p:spPr>
            <a:xfrm>
              <a:off x="2411602" y="3265756"/>
              <a:ext cx="792000" cy="216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0" rIns="36000" bIns="0" rtlCol="0" anchor="ctr"/>
            <a:lstStyle/>
            <a:p>
              <a:pPr algn="ctr"/>
              <a:endParaRPr lang="ko-KR" altLang="en-US" sz="7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236" name="직사각형 235"/>
            <p:cNvSpPr/>
            <p:nvPr/>
          </p:nvSpPr>
          <p:spPr>
            <a:xfrm>
              <a:off x="2411602" y="3481767"/>
              <a:ext cx="792000" cy="216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0" rIns="36000" bIns="0" rtlCol="0" anchor="ctr"/>
            <a:lstStyle/>
            <a:p>
              <a:pPr algn="ctr"/>
              <a:endParaRPr lang="ko-KR" altLang="en-US" sz="7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237" name="직사각형 236"/>
            <p:cNvSpPr/>
            <p:nvPr/>
          </p:nvSpPr>
          <p:spPr>
            <a:xfrm>
              <a:off x="2411602" y="3697611"/>
              <a:ext cx="792000" cy="216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0" rIns="36000" bIns="0" rtlCol="0" anchor="ctr"/>
            <a:lstStyle/>
            <a:p>
              <a:pPr algn="ctr"/>
              <a:endParaRPr lang="ko-KR" altLang="en-US" sz="7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238" name="직사각형 237"/>
            <p:cNvSpPr/>
            <p:nvPr/>
          </p:nvSpPr>
          <p:spPr>
            <a:xfrm>
              <a:off x="2411602" y="3913622"/>
              <a:ext cx="792000" cy="216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0" rIns="36000" bIns="0" rtlCol="0" anchor="ctr"/>
            <a:lstStyle/>
            <a:p>
              <a:pPr algn="ctr"/>
              <a:endParaRPr lang="ko-KR" altLang="en-US" sz="7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239" name="직사각형 238"/>
            <p:cNvSpPr/>
            <p:nvPr/>
          </p:nvSpPr>
          <p:spPr>
            <a:xfrm>
              <a:off x="3203450" y="3049756"/>
              <a:ext cx="792000" cy="216000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700" smtClean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우선순위</a:t>
              </a:r>
              <a:endParaRPr lang="ko-KR" altLang="en-US" sz="70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240" name="직사각형 239"/>
            <p:cNvSpPr/>
            <p:nvPr/>
          </p:nvSpPr>
          <p:spPr>
            <a:xfrm>
              <a:off x="3203450" y="3265756"/>
              <a:ext cx="792000" cy="216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0" rIns="36000" bIns="0" rtlCol="0" anchor="ctr"/>
            <a:lstStyle/>
            <a:p>
              <a:pPr algn="ctr"/>
              <a:endParaRPr lang="ko-KR" altLang="en-US" sz="7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241" name="직사각형 240"/>
            <p:cNvSpPr/>
            <p:nvPr/>
          </p:nvSpPr>
          <p:spPr>
            <a:xfrm>
              <a:off x="3203450" y="3481767"/>
              <a:ext cx="792000" cy="216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0" rIns="36000" bIns="0" rtlCol="0" anchor="ctr"/>
            <a:lstStyle/>
            <a:p>
              <a:pPr algn="ctr"/>
              <a:endParaRPr lang="ko-KR" altLang="en-US" sz="7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242" name="직사각형 241"/>
            <p:cNvSpPr/>
            <p:nvPr/>
          </p:nvSpPr>
          <p:spPr>
            <a:xfrm>
              <a:off x="3203450" y="3697611"/>
              <a:ext cx="792000" cy="216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0" rIns="36000" bIns="0" rtlCol="0" anchor="ctr"/>
            <a:lstStyle/>
            <a:p>
              <a:pPr algn="ctr"/>
              <a:endParaRPr lang="ko-KR" altLang="en-US" sz="7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243" name="직사각형 242"/>
            <p:cNvSpPr/>
            <p:nvPr/>
          </p:nvSpPr>
          <p:spPr>
            <a:xfrm>
              <a:off x="3203450" y="3913622"/>
              <a:ext cx="792000" cy="216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0" rIns="36000" bIns="0" rtlCol="0" anchor="ctr"/>
            <a:lstStyle/>
            <a:p>
              <a:pPr algn="ctr"/>
              <a:endParaRPr lang="ko-KR" altLang="en-US" sz="7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244" name="모서리가 둥근 직사각형 184">
              <a:extLst>
                <a:ext uri="{FF2B5EF4-FFF2-40B4-BE49-F238E27FC236}">
                  <a16:creationId xmlns="" xmlns:a16="http://schemas.microsoft.com/office/drawing/2014/main" id="{7C4181B1-00DE-4B1A-9AF4-36726F2433BA}"/>
                </a:ext>
              </a:extLst>
            </p:cNvPr>
            <p:cNvSpPr/>
            <p:nvPr/>
          </p:nvSpPr>
          <p:spPr bwMode="auto">
            <a:xfrm>
              <a:off x="3239450" y="3301756"/>
              <a:ext cx="720000" cy="144000"/>
            </a:xfrm>
            <a:prstGeom prst="roundRect">
              <a:avLst/>
            </a:prstGeom>
            <a:solidFill>
              <a:srgbClr val="FFFFEF"/>
            </a:solidFill>
            <a:ln w="3175" cap="flat" cmpd="sng" algn="ctr">
              <a:solidFill>
                <a:schemeClr val="bg1">
                  <a:lumMod val="7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none" lIns="108000" tIns="36000" rIns="108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r" defTabSz="914400" fontAlgn="base" latinLnBrk="0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ko-KR" sz="700" b="0" i="0" u="none" strike="noStrike" kern="0" cap="none" spc="0" normalizeH="0" baseline="0" noProof="0" smtClean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</a:rPr>
                <a:t>0</a:t>
              </a:r>
              <a:endParaRPr kumimoji="1" lang="ko-KR" altLang="en-US" sz="700" b="0" i="0" u="none" strike="noStrike" kern="0" cap="none" spc="0" normalizeH="0" baseline="0" noProof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245" name="모서리가 둥근 직사각형 184">
              <a:extLst>
                <a:ext uri="{FF2B5EF4-FFF2-40B4-BE49-F238E27FC236}">
                  <a16:creationId xmlns="" xmlns:a16="http://schemas.microsoft.com/office/drawing/2014/main" id="{7C4181B1-00DE-4B1A-9AF4-36726F2433BA}"/>
                </a:ext>
              </a:extLst>
            </p:cNvPr>
            <p:cNvSpPr/>
            <p:nvPr/>
          </p:nvSpPr>
          <p:spPr bwMode="auto">
            <a:xfrm>
              <a:off x="3239450" y="3517767"/>
              <a:ext cx="720000" cy="144000"/>
            </a:xfrm>
            <a:prstGeom prst="roundRect">
              <a:avLst/>
            </a:prstGeom>
            <a:solidFill>
              <a:srgbClr val="FFFFEF"/>
            </a:solidFill>
            <a:ln w="3175" cap="flat" cmpd="sng" algn="ctr">
              <a:solidFill>
                <a:schemeClr val="bg1">
                  <a:lumMod val="7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none" lIns="108000" tIns="36000" rIns="108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r" defTabSz="914400" fontAlgn="base" latinLnBrk="0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ko-KR" sz="700" b="0" i="0" u="none" strike="noStrike" kern="0" cap="none" spc="0" normalizeH="0" baseline="0" noProof="0" smtClean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</a:rPr>
                <a:t>0</a:t>
              </a:r>
              <a:endParaRPr kumimoji="1" lang="ko-KR" altLang="en-US" sz="700" b="0" i="0" u="none" strike="noStrike" kern="0" cap="none" spc="0" normalizeH="0" baseline="0" noProof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246" name="모서리가 둥근 직사각형 184">
              <a:extLst>
                <a:ext uri="{FF2B5EF4-FFF2-40B4-BE49-F238E27FC236}">
                  <a16:creationId xmlns="" xmlns:a16="http://schemas.microsoft.com/office/drawing/2014/main" id="{7C4181B1-00DE-4B1A-9AF4-36726F2433BA}"/>
                </a:ext>
              </a:extLst>
            </p:cNvPr>
            <p:cNvSpPr/>
            <p:nvPr/>
          </p:nvSpPr>
          <p:spPr bwMode="auto">
            <a:xfrm>
              <a:off x="3239450" y="3733611"/>
              <a:ext cx="720000" cy="144000"/>
            </a:xfrm>
            <a:prstGeom prst="roundRect">
              <a:avLst/>
            </a:prstGeom>
            <a:solidFill>
              <a:srgbClr val="FFFFEF"/>
            </a:solidFill>
            <a:ln w="3175" cap="flat" cmpd="sng" algn="ctr">
              <a:solidFill>
                <a:schemeClr val="bg1">
                  <a:lumMod val="7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none" lIns="108000" tIns="36000" rIns="108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r" defTabSz="914400" fontAlgn="base" latinLnBrk="0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ko-KR" sz="700" b="0" i="0" u="none" strike="noStrike" kern="0" cap="none" spc="0" normalizeH="0" baseline="0" noProof="0" smtClean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</a:rPr>
                <a:t>0</a:t>
              </a:r>
              <a:endParaRPr kumimoji="1" lang="ko-KR" altLang="en-US" sz="700" b="0" i="0" u="none" strike="noStrike" kern="0" cap="none" spc="0" normalizeH="0" baseline="0" noProof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247" name="모서리가 둥근 직사각형 184">
              <a:extLst>
                <a:ext uri="{FF2B5EF4-FFF2-40B4-BE49-F238E27FC236}">
                  <a16:creationId xmlns="" xmlns:a16="http://schemas.microsoft.com/office/drawing/2014/main" id="{7C4181B1-00DE-4B1A-9AF4-36726F2433BA}"/>
                </a:ext>
              </a:extLst>
            </p:cNvPr>
            <p:cNvSpPr/>
            <p:nvPr/>
          </p:nvSpPr>
          <p:spPr bwMode="auto">
            <a:xfrm>
              <a:off x="3239450" y="3949622"/>
              <a:ext cx="720000" cy="144000"/>
            </a:xfrm>
            <a:prstGeom prst="roundRect">
              <a:avLst/>
            </a:prstGeom>
            <a:solidFill>
              <a:srgbClr val="FFFFEF"/>
            </a:solidFill>
            <a:ln w="3175" cap="flat" cmpd="sng" algn="ctr">
              <a:solidFill>
                <a:schemeClr val="bg1">
                  <a:lumMod val="7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none" lIns="108000" tIns="36000" rIns="108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r" defTabSz="914400" fontAlgn="base" latinLnBrk="0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ko-KR" sz="700" b="0" i="0" u="none" strike="noStrike" kern="0" cap="none" spc="0" normalizeH="0" baseline="0" noProof="0" smtClean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</a:rPr>
                <a:t>0</a:t>
              </a:r>
              <a:endParaRPr kumimoji="1" lang="ko-KR" altLang="en-US" sz="700" b="0" i="0" u="none" strike="noStrike" kern="0" cap="none" spc="0" normalizeH="0" baseline="0" noProof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248" name="직사각형 247"/>
            <p:cNvSpPr/>
            <p:nvPr/>
          </p:nvSpPr>
          <p:spPr>
            <a:xfrm>
              <a:off x="3995298" y="3049756"/>
              <a:ext cx="792000" cy="216000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700" smtClean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전체재고</a:t>
              </a:r>
              <a:endParaRPr lang="ko-KR" altLang="en-US" sz="70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249" name="직사각형 248"/>
            <p:cNvSpPr/>
            <p:nvPr/>
          </p:nvSpPr>
          <p:spPr>
            <a:xfrm>
              <a:off x="3995298" y="3265756"/>
              <a:ext cx="792000" cy="2160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0" rIns="36000" bIns="0" rtlCol="0" anchor="ctr"/>
            <a:lstStyle/>
            <a:p>
              <a:pPr algn="ctr"/>
              <a:r>
                <a:rPr lang="en-US" altLang="ko-KR" sz="70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14</a:t>
              </a:r>
              <a:endParaRPr lang="ko-KR" altLang="en-US" sz="7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250" name="직사각형 249"/>
            <p:cNvSpPr/>
            <p:nvPr/>
          </p:nvSpPr>
          <p:spPr>
            <a:xfrm>
              <a:off x="3995298" y="3481767"/>
              <a:ext cx="792000" cy="2160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0" rIns="36000" bIns="0" rtlCol="0" anchor="ctr"/>
            <a:lstStyle/>
            <a:p>
              <a:pPr algn="ctr"/>
              <a:r>
                <a:rPr lang="en-US" altLang="ko-KR" sz="70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39</a:t>
              </a:r>
              <a:endParaRPr lang="ko-KR" altLang="en-US" sz="7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251" name="직사각형 250"/>
            <p:cNvSpPr/>
            <p:nvPr/>
          </p:nvSpPr>
          <p:spPr>
            <a:xfrm>
              <a:off x="3995298" y="3697611"/>
              <a:ext cx="792000" cy="2160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0" rIns="36000" bIns="0" rtlCol="0" anchor="ctr"/>
            <a:lstStyle/>
            <a:p>
              <a:pPr algn="ctr"/>
              <a:r>
                <a:rPr lang="en-US" altLang="ko-KR" sz="70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27</a:t>
              </a:r>
              <a:endParaRPr lang="ko-KR" altLang="en-US" sz="7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252" name="직사각형 251"/>
            <p:cNvSpPr/>
            <p:nvPr/>
          </p:nvSpPr>
          <p:spPr>
            <a:xfrm>
              <a:off x="3995298" y="3913622"/>
              <a:ext cx="792000" cy="2160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0" rIns="36000" bIns="0" rtlCol="0" anchor="ctr"/>
            <a:lstStyle/>
            <a:p>
              <a:pPr algn="ctr"/>
              <a:r>
                <a:rPr lang="en-US" altLang="ko-KR" sz="70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5</a:t>
              </a:r>
              <a:endParaRPr lang="ko-KR" altLang="en-US" sz="7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253" name="직사각형 252"/>
            <p:cNvSpPr/>
            <p:nvPr/>
          </p:nvSpPr>
          <p:spPr>
            <a:xfrm>
              <a:off x="4787146" y="3049756"/>
              <a:ext cx="792000" cy="216000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700" smtClean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안전재고</a:t>
              </a:r>
              <a:endParaRPr lang="ko-KR" altLang="en-US" sz="70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254" name="직사각형 253"/>
            <p:cNvSpPr/>
            <p:nvPr/>
          </p:nvSpPr>
          <p:spPr>
            <a:xfrm>
              <a:off x="4787146" y="3265756"/>
              <a:ext cx="792000" cy="216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0" rIns="36000" bIns="0" rtlCol="0" anchor="ctr"/>
            <a:lstStyle/>
            <a:p>
              <a:pPr algn="ctr"/>
              <a:endParaRPr lang="ko-KR" altLang="en-US" sz="7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260" name="직사각형 259"/>
            <p:cNvSpPr/>
            <p:nvPr/>
          </p:nvSpPr>
          <p:spPr>
            <a:xfrm>
              <a:off x="4787146" y="3481767"/>
              <a:ext cx="792000" cy="216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0" rIns="36000" bIns="0" rtlCol="0" anchor="ctr"/>
            <a:lstStyle/>
            <a:p>
              <a:pPr algn="ctr"/>
              <a:endParaRPr lang="ko-KR" altLang="en-US" sz="7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262" name="직사각형 261"/>
            <p:cNvSpPr/>
            <p:nvPr/>
          </p:nvSpPr>
          <p:spPr>
            <a:xfrm>
              <a:off x="4787146" y="3697611"/>
              <a:ext cx="792000" cy="216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0" rIns="36000" bIns="0" rtlCol="0" anchor="ctr"/>
            <a:lstStyle/>
            <a:p>
              <a:pPr algn="ctr"/>
              <a:endParaRPr lang="ko-KR" altLang="en-US" sz="7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263" name="직사각형 262"/>
            <p:cNvSpPr/>
            <p:nvPr/>
          </p:nvSpPr>
          <p:spPr>
            <a:xfrm>
              <a:off x="4787146" y="3913622"/>
              <a:ext cx="792000" cy="216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0" rIns="36000" bIns="0" rtlCol="0" anchor="ctr"/>
            <a:lstStyle/>
            <a:p>
              <a:pPr algn="ctr"/>
              <a:endParaRPr lang="ko-KR" altLang="en-US" sz="7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264" name="모서리가 둥근 직사각형 184">
              <a:extLst>
                <a:ext uri="{FF2B5EF4-FFF2-40B4-BE49-F238E27FC236}">
                  <a16:creationId xmlns="" xmlns:a16="http://schemas.microsoft.com/office/drawing/2014/main" id="{7C4181B1-00DE-4B1A-9AF4-36726F2433BA}"/>
                </a:ext>
              </a:extLst>
            </p:cNvPr>
            <p:cNvSpPr/>
            <p:nvPr/>
          </p:nvSpPr>
          <p:spPr bwMode="auto">
            <a:xfrm>
              <a:off x="4823146" y="3301756"/>
              <a:ext cx="720000" cy="144000"/>
            </a:xfrm>
            <a:prstGeom prst="roundRect">
              <a:avLst/>
            </a:prstGeom>
            <a:solidFill>
              <a:srgbClr val="FFFFEF"/>
            </a:solidFill>
            <a:ln w="3175" cap="flat" cmpd="sng" algn="ctr">
              <a:solidFill>
                <a:schemeClr val="bg1">
                  <a:lumMod val="7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none" lIns="108000" tIns="36000" rIns="108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r" defTabSz="914400" fontAlgn="base" latinLnBrk="0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ko-KR" sz="700" b="0" i="0" u="none" strike="noStrike" kern="0" cap="none" spc="0" normalizeH="0" baseline="0" noProof="0" smtClean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</a:rPr>
                <a:t>0</a:t>
              </a:r>
              <a:endParaRPr kumimoji="1" lang="ko-KR" altLang="en-US" sz="700" b="0" i="0" u="none" strike="noStrike" kern="0" cap="none" spc="0" normalizeH="0" baseline="0" noProof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265" name="모서리가 둥근 직사각형 184">
              <a:extLst>
                <a:ext uri="{FF2B5EF4-FFF2-40B4-BE49-F238E27FC236}">
                  <a16:creationId xmlns="" xmlns:a16="http://schemas.microsoft.com/office/drawing/2014/main" id="{7C4181B1-00DE-4B1A-9AF4-36726F2433BA}"/>
                </a:ext>
              </a:extLst>
            </p:cNvPr>
            <p:cNvSpPr/>
            <p:nvPr/>
          </p:nvSpPr>
          <p:spPr bwMode="auto">
            <a:xfrm>
              <a:off x="4823146" y="3517767"/>
              <a:ext cx="720000" cy="144000"/>
            </a:xfrm>
            <a:prstGeom prst="roundRect">
              <a:avLst/>
            </a:prstGeom>
            <a:solidFill>
              <a:srgbClr val="FFFFEF"/>
            </a:solidFill>
            <a:ln w="3175" cap="flat" cmpd="sng" algn="ctr">
              <a:solidFill>
                <a:schemeClr val="bg1">
                  <a:lumMod val="7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none" lIns="108000" tIns="36000" rIns="108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r" defTabSz="914400" fontAlgn="base" latinLnBrk="0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ko-KR" sz="700" b="0" i="0" u="none" strike="noStrike" kern="0" cap="none" spc="0" normalizeH="0" baseline="0" noProof="0" smtClean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</a:rPr>
                <a:t>1</a:t>
              </a:r>
              <a:endParaRPr kumimoji="1" lang="ko-KR" altLang="en-US" sz="700" b="0" i="0" u="none" strike="noStrike" kern="0" cap="none" spc="0" normalizeH="0" baseline="0" noProof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266" name="모서리가 둥근 직사각형 184">
              <a:extLst>
                <a:ext uri="{FF2B5EF4-FFF2-40B4-BE49-F238E27FC236}">
                  <a16:creationId xmlns="" xmlns:a16="http://schemas.microsoft.com/office/drawing/2014/main" id="{7C4181B1-00DE-4B1A-9AF4-36726F2433BA}"/>
                </a:ext>
              </a:extLst>
            </p:cNvPr>
            <p:cNvSpPr/>
            <p:nvPr/>
          </p:nvSpPr>
          <p:spPr bwMode="auto">
            <a:xfrm>
              <a:off x="4823146" y="3733611"/>
              <a:ext cx="720000" cy="144000"/>
            </a:xfrm>
            <a:prstGeom prst="roundRect">
              <a:avLst/>
            </a:prstGeom>
            <a:solidFill>
              <a:srgbClr val="FFFFEF"/>
            </a:solidFill>
            <a:ln w="3175" cap="flat" cmpd="sng" algn="ctr">
              <a:solidFill>
                <a:schemeClr val="bg1">
                  <a:lumMod val="7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none" lIns="108000" tIns="36000" rIns="108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r" defTabSz="914400" fontAlgn="base" latinLnBrk="0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ko-KR" sz="700" b="0" i="0" u="none" strike="noStrike" kern="0" cap="none" spc="0" normalizeH="0" baseline="0" noProof="0" smtClean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</a:rPr>
                <a:t>1</a:t>
              </a:r>
              <a:endParaRPr kumimoji="1" lang="ko-KR" altLang="en-US" sz="700" b="0" i="0" u="none" strike="noStrike" kern="0" cap="none" spc="0" normalizeH="0" baseline="0" noProof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267" name="모서리가 둥근 직사각형 184">
              <a:extLst>
                <a:ext uri="{FF2B5EF4-FFF2-40B4-BE49-F238E27FC236}">
                  <a16:creationId xmlns="" xmlns:a16="http://schemas.microsoft.com/office/drawing/2014/main" id="{7C4181B1-00DE-4B1A-9AF4-36726F2433BA}"/>
                </a:ext>
              </a:extLst>
            </p:cNvPr>
            <p:cNvSpPr/>
            <p:nvPr/>
          </p:nvSpPr>
          <p:spPr bwMode="auto">
            <a:xfrm>
              <a:off x="4823146" y="3949622"/>
              <a:ext cx="720000" cy="144000"/>
            </a:xfrm>
            <a:prstGeom prst="roundRect">
              <a:avLst/>
            </a:prstGeom>
            <a:solidFill>
              <a:srgbClr val="FFFFEF"/>
            </a:solidFill>
            <a:ln w="3175" cap="flat" cmpd="sng" algn="ctr">
              <a:solidFill>
                <a:schemeClr val="bg1">
                  <a:lumMod val="7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none" lIns="108000" tIns="36000" rIns="108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r" defTabSz="914400" fontAlgn="base" latinLnBrk="0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ko-KR" sz="700" b="0" i="0" u="none" strike="noStrike" kern="0" cap="none" spc="0" normalizeH="0" baseline="0" noProof="0" smtClean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</a:rPr>
                <a:t>0</a:t>
              </a:r>
              <a:endParaRPr kumimoji="1" lang="ko-KR" altLang="en-US" sz="700" b="0" i="0" u="none" strike="noStrike" kern="0" cap="none" spc="0" normalizeH="0" baseline="0" noProof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269" name="직사각형 268"/>
            <p:cNvSpPr/>
            <p:nvPr/>
          </p:nvSpPr>
          <p:spPr>
            <a:xfrm>
              <a:off x="5578994" y="3049756"/>
              <a:ext cx="792000" cy="216000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700" smtClean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유효재고</a:t>
              </a:r>
              <a:endParaRPr lang="ko-KR" altLang="en-US" sz="70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270" name="직사각형 269"/>
            <p:cNvSpPr/>
            <p:nvPr/>
          </p:nvSpPr>
          <p:spPr>
            <a:xfrm>
              <a:off x="5578994" y="3265756"/>
              <a:ext cx="792000" cy="2160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0" rIns="36000" bIns="0" rtlCol="0" anchor="ctr"/>
            <a:lstStyle/>
            <a:p>
              <a:pPr algn="ctr"/>
              <a:r>
                <a:rPr lang="en-US" altLang="ko-KR" sz="70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14</a:t>
              </a:r>
              <a:endParaRPr lang="ko-KR" altLang="en-US" sz="7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271" name="직사각형 270"/>
            <p:cNvSpPr/>
            <p:nvPr/>
          </p:nvSpPr>
          <p:spPr>
            <a:xfrm>
              <a:off x="5578994" y="3481767"/>
              <a:ext cx="792000" cy="2160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0" rIns="36000" bIns="0" rtlCol="0" anchor="ctr"/>
            <a:lstStyle/>
            <a:p>
              <a:pPr algn="ctr"/>
              <a:r>
                <a:rPr lang="en-US" altLang="ko-KR" sz="70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38</a:t>
              </a:r>
              <a:endParaRPr lang="ko-KR" altLang="en-US" sz="7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272" name="직사각형 271"/>
            <p:cNvSpPr/>
            <p:nvPr/>
          </p:nvSpPr>
          <p:spPr>
            <a:xfrm>
              <a:off x="5578994" y="3697611"/>
              <a:ext cx="792000" cy="2160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0" rIns="36000" bIns="0" rtlCol="0" anchor="ctr"/>
            <a:lstStyle/>
            <a:p>
              <a:pPr algn="ctr"/>
              <a:r>
                <a:rPr lang="en-US" altLang="ko-KR" sz="70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26</a:t>
              </a:r>
              <a:endParaRPr lang="ko-KR" altLang="en-US" sz="7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273" name="직사각형 272"/>
            <p:cNvSpPr/>
            <p:nvPr/>
          </p:nvSpPr>
          <p:spPr>
            <a:xfrm>
              <a:off x="5578994" y="3913622"/>
              <a:ext cx="792000" cy="2160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0" rIns="36000" bIns="0" rtlCol="0" anchor="ctr"/>
            <a:lstStyle/>
            <a:p>
              <a:pPr algn="ctr"/>
              <a:r>
                <a:rPr lang="en-US" altLang="ko-KR" sz="70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5</a:t>
              </a:r>
              <a:endParaRPr lang="ko-KR" altLang="en-US" sz="7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286" name="직사각형 285"/>
            <p:cNvSpPr/>
            <p:nvPr/>
          </p:nvSpPr>
          <p:spPr>
            <a:xfrm>
              <a:off x="6370842" y="3049756"/>
              <a:ext cx="792000" cy="216000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700" smtClean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품절여부</a:t>
              </a:r>
              <a:endParaRPr lang="ko-KR" altLang="en-US" sz="70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289" name="직사각형 288"/>
            <p:cNvSpPr/>
            <p:nvPr/>
          </p:nvSpPr>
          <p:spPr>
            <a:xfrm>
              <a:off x="6370842" y="3265756"/>
              <a:ext cx="792000" cy="216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0" rIns="36000" bIns="0" rtlCol="0" anchor="ctr"/>
            <a:lstStyle/>
            <a:p>
              <a:pPr algn="ctr"/>
              <a:endParaRPr lang="ko-KR" altLang="en-US" sz="7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290" name="직사각형 289"/>
            <p:cNvSpPr/>
            <p:nvPr/>
          </p:nvSpPr>
          <p:spPr>
            <a:xfrm>
              <a:off x="6370842" y="3481767"/>
              <a:ext cx="792000" cy="216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0" rIns="36000" bIns="0" rtlCol="0" anchor="ctr"/>
            <a:lstStyle/>
            <a:p>
              <a:pPr algn="ctr"/>
              <a:endParaRPr lang="ko-KR" altLang="en-US" sz="7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291" name="직사각형 290"/>
            <p:cNvSpPr/>
            <p:nvPr/>
          </p:nvSpPr>
          <p:spPr>
            <a:xfrm>
              <a:off x="6370842" y="3697611"/>
              <a:ext cx="792000" cy="216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0" rIns="36000" bIns="0" rtlCol="0" anchor="ctr"/>
            <a:lstStyle/>
            <a:p>
              <a:pPr algn="ctr"/>
              <a:endParaRPr lang="ko-KR" altLang="en-US" sz="7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292" name="직사각형 291"/>
            <p:cNvSpPr/>
            <p:nvPr/>
          </p:nvSpPr>
          <p:spPr>
            <a:xfrm>
              <a:off x="6370842" y="3913622"/>
              <a:ext cx="792000" cy="216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0" rIns="36000" bIns="0" rtlCol="0" anchor="ctr"/>
            <a:lstStyle/>
            <a:p>
              <a:pPr algn="ctr"/>
              <a:endParaRPr lang="ko-KR" altLang="en-US" sz="7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grpSp>
          <p:nvGrpSpPr>
            <p:cNvPr id="7" name="그룹 6"/>
            <p:cNvGrpSpPr/>
            <p:nvPr/>
          </p:nvGrpSpPr>
          <p:grpSpPr>
            <a:xfrm>
              <a:off x="6406842" y="3301756"/>
              <a:ext cx="720000" cy="144000"/>
              <a:chOff x="5903906" y="3517756"/>
              <a:chExt cx="720000" cy="144000"/>
            </a:xfrm>
          </p:grpSpPr>
          <p:sp>
            <p:nvSpPr>
              <p:cNvPr id="300" name="모서리가 둥근 직사각형 139">
                <a:extLst>
                  <a:ext uri="{FF2B5EF4-FFF2-40B4-BE49-F238E27FC236}">
                    <a16:creationId xmlns="" xmlns:a16="http://schemas.microsoft.com/office/drawing/2014/main" id="{D20B2316-7950-45D5-A329-DFCDAA416345}"/>
                  </a:ext>
                </a:extLst>
              </p:cNvPr>
              <p:cNvSpPr/>
              <p:nvPr/>
            </p:nvSpPr>
            <p:spPr bwMode="auto">
              <a:xfrm>
                <a:off x="5903906" y="3517756"/>
                <a:ext cx="720000" cy="144000"/>
              </a:xfrm>
              <a:prstGeom prst="roundRect">
                <a:avLst/>
              </a:prstGeom>
              <a:solidFill>
                <a:schemeClr val="bg1"/>
              </a:solidFill>
              <a:ln w="3175" cap="flat" cmpd="sng" algn="ctr">
                <a:solidFill>
                  <a:schemeClr val="bg1">
                    <a:lumMod val="7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rot="0" spcFirstLastPara="0" vertOverflow="overflow" horzOverflow="overflow" vert="horz" wrap="none" lIns="36000" tIns="36000" rIns="36000" bIns="36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fontAlgn="base" latinLnBrk="0">
                  <a:spcBef>
                    <a:spcPct val="0"/>
                  </a:spcBef>
                  <a:spcAft>
                    <a:spcPct val="0"/>
                  </a:spcAft>
                </a:pPr>
                <a:r>
                  <a:rPr kumimoji="1" lang="en-US" altLang="ko-KR" sz="700" kern="0" smtClean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+mn-ea"/>
                  </a:rPr>
                  <a:t>N</a:t>
                </a:r>
                <a:endParaRPr kumimoji="1" lang="ko-KR" altLang="en-US" sz="700" kern="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endParaRPr>
              </a:p>
            </p:txBody>
          </p:sp>
          <p:sp>
            <p:nvSpPr>
              <p:cNvPr id="301" name="모서리가 둥근 직사각형 141">
                <a:extLst>
                  <a:ext uri="{FF2B5EF4-FFF2-40B4-BE49-F238E27FC236}">
                    <a16:creationId xmlns="" xmlns:a16="http://schemas.microsoft.com/office/drawing/2014/main" id="{9D3BF834-DC28-4D1A-B5CB-ED60EA5C7751}"/>
                  </a:ext>
                </a:extLst>
              </p:cNvPr>
              <p:cNvSpPr/>
              <p:nvPr/>
            </p:nvSpPr>
            <p:spPr bwMode="auto">
              <a:xfrm>
                <a:off x="6479906" y="3517756"/>
                <a:ext cx="144000" cy="144000"/>
              </a:xfrm>
              <a:prstGeom prst="roundRect">
                <a:avLst/>
              </a:prstGeom>
              <a:solidFill>
                <a:schemeClr val="bg1"/>
              </a:solidFill>
              <a:ln w="3175" cap="flat" cmpd="sng" algn="ctr">
                <a:solidFill>
                  <a:schemeClr val="bg1">
                    <a:lumMod val="7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rot="0" spcFirstLastPara="0" vertOverflow="overflow" horzOverflow="overflow" vert="horz" wrap="none" lIns="36000" tIns="36000" rIns="36000" bIns="36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fontAlgn="base" latinLnBrk="0">
                  <a:spcBef>
                    <a:spcPct val="0"/>
                  </a:spcBef>
                  <a:spcAft>
                    <a:spcPct val="0"/>
                  </a:spcAft>
                </a:pPr>
                <a:r>
                  <a:rPr kumimoji="1" lang="ko-KR" altLang="en-US" sz="700" kern="0" dirty="0">
                    <a:solidFill>
                      <a:srgbClr val="000000"/>
                    </a:solidFill>
                    <a:latin typeface="+mn-ea"/>
                  </a:rPr>
                  <a:t>▼</a:t>
                </a:r>
              </a:p>
            </p:txBody>
          </p:sp>
        </p:grpSp>
        <p:grpSp>
          <p:nvGrpSpPr>
            <p:cNvPr id="8" name="그룹 7"/>
            <p:cNvGrpSpPr/>
            <p:nvPr/>
          </p:nvGrpSpPr>
          <p:grpSpPr>
            <a:xfrm>
              <a:off x="6406842" y="3516737"/>
              <a:ext cx="720000" cy="144000"/>
              <a:chOff x="5903906" y="3732737"/>
              <a:chExt cx="720000" cy="144000"/>
            </a:xfrm>
          </p:grpSpPr>
          <p:sp>
            <p:nvSpPr>
              <p:cNvPr id="303" name="모서리가 둥근 직사각형 139">
                <a:extLst>
                  <a:ext uri="{FF2B5EF4-FFF2-40B4-BE49-F238E27FC236}">
                    <a16:creationId xmlns="" xmlns:a16="http://schemas.microsoft.com/office/drawing/2014/main" id="{D20B2316-7950-45D5-A329-DFCDAA416345}"/>
                  </a:ext>
                </a:extLst>
              </p:cNvPr>
              <p:cNvSpPr/>
              <p:nvPr/>
            </p:nvSpPr>
            <p:spPr bwMode="auto">
              <a:xfrm>
                <a:off x="5903906" y="3732737"/>
                <a:ext cx="720000" cy="144000"/>
              </a:xfrm>
              <a:prstGeom prst="roundRect">
                <a:avLst/>
              </a:prstGeom>
              <a:solidFill>
                <a:schemeClr val="bg1"/>
              </a:solidFill>
              <a:ln w="3175" cap="flat" cmpd="sng" algn="ctr">
                <a:solidFill>
                  <a:schemeClr val="bg1">
                    <a:lumMod val="7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rot="0" spcFirstLastPara="0" vertOverflow="overflow" horzOverflow="overflow" vert="horz" wrap="none" lIns="36000" tIns="36000" rIns="36000" bIns="36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fontAlgn="base" latinLnBrk="0">
                  <a:spcBef>
                    <a:spcPct val="0"/>
                  </a:spcBef>
                  <a:spcAft>
                    <a:spcPct val="0"/>
                  </a:spcAft>
                </a:pPr>
                <a:r>
                  <a:rPr kumimoji="1" lang="en-US" altLang="ko-KR" sz="700" kern="0" smtClean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+mn-ea"/>
                  </a:rPr>
                  <a:t>N</a:t>
                </a:r>
                <a:endParaRPr kumimoji="1" lang="ko-KR" altLang="en-US" sz="700" kern="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endParaRPr>
              </a:p>
            </p:txBody>
          </p:sp>
          <p:sp>
            <p:nvSpPr>
              <p:cNvPr id="304" name="모서리가 둥근 직사각형 141">
                <a:extLst>
                  <a:ext uri="{FF2B5EF4-FFF2-40B4-BE49-F238E27FC236}">
                    <a16:creationId xmlns="" xmlns:a16="http://schemas.microsoft.com/office/drawing/2014/main" id="{9D3BF834-DC28-4D1A-B5CB-ED60EA5C7751}"/>
                  </a:ext>
                </a:extLst>
              </p:cNvPr>
              <p:cNvSpPr/>
              <p:nvPr/>
            </p:nvSpPr>
            <p:spPr bwMode="auto">
              <a:xfrm>
                <a:off x="6479906" y="3732737"/>
                <a:ext cx="144000" cy="144000"/>
              </a:xfrm>
              <a:prstGeom prst="roundRect">
                <a:avLst/>
              </a:prstGeom>
              <a:solidFill>
                <a:schemeClr val="bg1"/>
              </a:solidFill>
              <a:ln w="3175" cap="flat" cmpd="sng" algn="ctr">
                <a:solidFill>
                  <a:schemeClr val="bg1">
                    <a:lumMod val="7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rot="0" spcFirstLastPara="0" vertOverflow="overflow" horzOverflow="overflow" vert="horz" wrap="none" lIns="36000" tIns="36000" rIns="36000" bIns="36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fontAlgn="base" latinLnBrk="0">
                  <a:spcBef>
                    <a:spcPct val="0"/>
                  </a:spcBef>
                  <a:spcAft>
                    <a:spcPct val="0"/>
                  </a:spcAft>
                </a:pPr>
                <a:r>
                  <a:rPr kumimoji="1" lang="ko-KR" altLang="en-US" sz="700" kern="0" dirty="0">
                    <a:solidFill>
                      <a:srgbClr val="000000"/>
                    </a:solidFill>
                    <a:latin typeface="+mn-ea"/>
                  </a:rPr>
                  <a:t>▼</a:t>
                </a:r>
              </a:p>
            </p:txBody>
          </p:sp>
        </p:grpSp>
        <p:grpSp>
          <p:nvGrpSpPr>
            <p:cNvPr id="9" name="그룹 8"/>
            <p:cNvGrpSpPr/>
            <p:nvPr/>
          </p:nvGrpSpPr>
          <p:grpSpPr>
            <a:xfrm>
              <a:off x="6406842" y="3733611"/>
              <a:ext cx="720000" cy="144000"/>
              <a:chOff x="5903906" y="3949611"/>
              <a:chExt cx="720000" cy="144000"/>
            </a:xfrm>
          </p:grpSpPr>
          <p:sp>
            <p:nvSpPr>
              <p:cNvPr id="306" name="모서리가 둥근 직사각형 139">
                <a:extLst>
                  <a:ext uri="{FF2B5EF4-FFF2-40B4-BE49-F238E27FC236}">
                    <a16:creationId xmlns="" xmlns:a16="http://schemas.microsoft.com/office/drawing/2014/main" id="{D20B2316-7950-45D5-A329-DFCDAA416345}"/>
                  </a:ext>
                </a:extLst>
              </p:cNvPr>
              <p:cNvSpPr/>
              <p:nvPr/>
            </p:nvSpPr>
            <p:spPr bwMode="auto">
              <a:xfrm>
                <a:off x="5903906" y="3949611"/>
                <a:ext cx="720000" cy="144000"/>
              </a:xfrm>
              <a:prstGeom prst="roundRect">
                <a:avLst/>
              </a:prstGeom>
              <a:solidFill>
                <a:schemeClr val="bg1"/>
              </a:solidFill>
              <a:ln w="3175" cap="flat" cmpd="sng" algn="ctr">
                <a:solidFill>
                  <a:schemeClr val="bg1">
                    <a:lumMod val="7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rot="0" spcFirstLastPara="0" vertOverflow="overflow" horzOverflow="overflow" vert="horz" wrap="none" lIns="36000" tIns="36000" rIns="36000" bIns="36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fontAlgn="base" latinLnBrk="0">
                  <a:spcBef>
                    <a:spcPct val="0"/>
                  </a:spcBef>
                  <a:spcAft>
                    <a:spcPct val="0"/>
                  </a:spcAft>
                </a:pPr>
                <a:r>
                  <a:rPr kumimoji="1" lang="en-US" altLang="ko-KR" sz="700" kern="0" smtClean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+mn-ea"/>
                  </a:rPr>
                  <a:t>N</a:t>
                </a:r>
                <a:endParaRPr kumimoji="1" lang="ko-KR" altLang="en-US" sz="700" kern="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endParaRPr>
              </a:p>
            </p:txBody>
          </p:sp>
          <p:sp>
            <p:nvSpPr>
              <p:cNvPr id="307" name="모서리가 둥근 직사각형 141">
                <a:extLst>
                  <a:ext uri="{FF2B5EF4-FFF2-40B4-BE49-F238E27FC236}">
                    <a16:creationId xmlns="" xmlns:a16="http://schemas.microsoft.com/office/drawing/2014/main" id="{9D3BF834-DC28-4D1A-B5CB-ED60EA5C7751}"/>
                  </a:ext>
                </a:extLst>
              </p:cNvPr>
              <p:cNvSpPr/>
              <p:nvPr/>
            </p:nvSpPr>
            <p:spPr bwMode="auto">
              <a:xfrm>
                <a:off x="6479906" y="3949611"/>
                <a:ext cx="144000" cy="144000"/>
              </a:xfrm>
              <a:prstGeom prst="roundRect">
                <a:avLst/>
              </a:prstGeom>
              <a:solidFill>
                <a:schemeClr val="bg1"/>
              </a:solidFill>
              <a:ln w="3175" cap="flat" cmpd="sng" algn="ctr">
                <a:solidFill>
                  <a:schemeClr val="bg1">
                    <a:lumMod val="7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rot="0" spcFirstLastPara="0" vertOverflow="overflow" horzOverflow="overflow" vert="horz" wrap="none" lIns="36000" tIns="36000" rIns="36000" bIns="36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fontAlgn="base" latinLnBrk="0">
                  <a:spcBef>
                    <a:spcPct val="0"/>
                  </a:spcBef>
                  <a:spcAft>
                    <a:spcPct val="0"/>
                  </a:spcAft>
                </a:pPr>
                <a:r>
                  <a:rPr kumimoji="1" lang="ko-KR" altLang="en-US" sz="700" kern="0" dirty="0">
                    <a:solidFill>
                      <a:srgbClr val="000000"/>
                    </a:solidFill>
                    <a:latin typeface="+mn-ea"/>
                  </a:rPr>
                  <a:t>▼</a:t>
                </a:r>
              </a:p>
            </p:txBody>
          </p:sp>
        </p:grpSp>
        <p:grpSp>
          <p:nvGrpSpPr>
            <p:cNvPr id="10" name="그룹 9"/>
            <p:cNvGrpSpPr/>
            <p:nvPr/>
          </p:nvGrpSpPr>
          <p:grpSpPr>
            <a:xfrm>
              <a:off x="6406842" y="3949622"/>
              <a:ext cx="720000" cy="144000"/>
              <a:chOff x="5903906" y="4165622"/>
              <a:chExt cx="720000" cy="144000"/>
            </a:xfrm>
          </p:grpSpPr>
          <p:sp>
            <p:nvSpPr>
              <p:cNvPr id="312" name="모서리가 둥근 직사각형 139">
                <a:extLst>
                  <a:ext uri="{FF2B5EF4-FFF2-40B4-BE49-F238E27FC236}">
                    <a16:creationId xmlns="" xmlns:a16="http://schemas.microsoft.com/office/drawing/2014/main" id="{D20B2316-7950-45D5-A329-DFCDAA416345}"/>
                  </a:ext>
                </a:extLst>
              </p:cNvPr>
              <p:cNvSpPr/>
              <p:nvPr/>
            </p:nvSpPr>
            <p:spPr bwMode="auto">
              <a:xfrm>
                <a:off x="5903906" y="4165622"/>
                <a:ext cx="720000" cy="144000"/>
              </a:xfrm>
              <a:prstGeom prst="roundRect">
                <a:avLst/>
              </a:prstGeom>
              <a:solidFill>
                <a:schemeClr val="bg1"/>
              </a:solidFill>
              <a:ln w="3175" cap="flat" cmpd="sng" algn="ctr">
                <a:solidFill>
                  <a:schemeClr val="bg1">
                    <a:lumMod val="7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rot="0" spcFirstLastPara="0" vertOverflow="overflow" horzOverflow="overflow" vert="horz" wrap="none" lIns="36000" tIns="36000" rIns="36000" bIns="36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fontAlgn="base" latinLnBrk="0">
                  <a:spcBef>
                    <a:spcPct val="0"/>
                  </a:spcBef>
                  <a:spcAft>
                    <a:spcPct val="0"/>
                  </a:spcAft>
                </a:pPr>
                <a:r>
                  <a:rPr kumimoji="1" lang="en-US" altLang="ko-KR" sz="700" kern="0" smtClean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+mn-ea"/>
                  </a:rPr>
                  <a:t>N</a:t>
                </a:r>
                <a:endParaRPr kumimoji="1" lang="ko-KR" altLang="en-US" sz="700" kern="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endParaRPr>
              </a:p>
            </p:txBody>
          </p:sp>
          <p:sp>
            <p:nvSpPr>
              <p:cNvPr id="315" name="모서리가 둥근 직사각형 141">
                <a:extLst>
                  <a:ext uri="{FF2B5EF4-FFF2-40B4-BE49-F238E27FC236}">
                    <a16:creationId xmlns="" xmlns:a16="http://schemas.microsoft.com/office/drawing/2014/main" id="{9D3BF834-DC28-4D1A-B5CB-ED60EA5C7751}"/>
                  </a:ext>
                </a:extLst>
              </p:cNvPr>
              <p:cNvSpPr/>
              <p:nvPr/>
            </p:nvSpPr>
            <p:spPr bwMode="auto">
              <a:xfrm>
                <a:off x="6479906" y="4165622"/>
                <a:ext cx="144000" cy="144000"/>
              </a:xfrm>
              <a:prstGeom prst="roundRect">
                <a:avLst/>
              </a:prstGeom>
              <a:solidFill>
                <a:schemeClr val="bg1"/>
              </a:solidFill>
              <a:ln w="3175" cap="flat" cmpd="sng" algn="ctr">
                <a:solidFill>
                  <a:schemeClr val="bg1">
                    <a:lumMod val="7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rot="0" spcFirstLastPara="0" vertOverflow="overflow" horzOverflow="overflow" vert="horz" wrap="none" lIns="36000" tIns="36000" rIns="36000" bIns="36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fontAlgn="base" latinLnBrk="0">
                  <a:spcBef>
                    <a:spcPct val="0"/>
                  </a:spcBef>
                  <a:spcAft>
                    <a:spcPct val="0"/>
                  </a:spcAft>
                </a:pPr>
                <a:r>
                  <a:rPr kumimoji="1" lang="ko-KR" altLang="en-US" sz="700" kern="0" dirty="0">
                    <a:solidFill>
                      <a:srgbClr val="000000"/>
                    </a:solidFill>
                    <a:latin typeface="+mn-ea"/>
                  </a:rPr>
                  <a:t>▼</a:t>
                </a:r>
              </a:p>
            </p:txBody>
          </p:sp>
        </p:grpSp>
        <p:sp>
          <p:nvSpPr>
            <p:cNvPr id="115" name="직사각형 114"/>
            <p:cNvSpPr/>
            <p:nvPr/>
          </p:nvSpPr>
          <p:spPr>
            <a:xfrm>
              <a:off x="7162690" y="3049756"/>
              <a:ext cx="792000" cy="216000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700" smtClean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비직송매장 재고</a:t>
              </a:r>
              <a:endParaRPr lang="ko-KR" altLang="en-US" sz="70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16" name="직사각형 115"/>
            <p:cNvSpPr/>
            <p:nvPr/>
          </p:nvSpPr>
          <p:spPr>
            <a:xfrm>
              <a:off x="7162690" y="3265756"/>
              <a:ext cx="792000" cy="216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0" rIns="36000" bIns="0" rtlCol="0" anchor="ctr"/>
            <a:lstStyle/>
            <a:p>
              <a:pPr algn="ctr"/>
              <a:r>
                <a:rPr lang="en-US" altLang="ko-KR" sz="70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32</a:t>
              </a:r>
              <a:endParaRPr lang="ko-KR" altLang="en-US" sz="7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17" name="직사각형 116"/>
            <p:cNvSpPr/>
            <p:nvPr/>
          </p:nvSpPr>
          <p:spPr>
            <a:xfrm>
              <a:off x="7162690" y="3481767"/>
              <a:ext cx="792000" cy="216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0" rIns="36000" bIns="0" rtlCol="0" anchor="ctr"/>
            <a:lstStyle/>
            <a:p>
              <a:pPr algn="ctr"/>
              <a:r>
                <a:rPr lang="en-US" altLang="ko-KR" sz="70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65</a:t>
              </a:r>
              <a:endParaRPr lang="ko-KR" altLang="en-US" sz="7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18" name="직사각형 117"/>
            <p:cNvSpPr/>
            <p:nvPr/>
          </p:nvSpPr>
          <p:spPr>
            <a:xfrm>
              <a:off x="7162690" y="3697611"/>
              <a:ext cx="792000" cy="216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0" rIns="36000" bIns="0" rtlCol="0" anchor="ctr"/>
            <a:lstStyle/>
            <a:p>
              <a:pPr algn="ctr"/>
              <a:r>
                <a:rPr lang="en-US" altLang="ko-KR" sz="70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59</a:t>
              </a:r>
              <a:endParaRPr lang="ko-KR" altLang="en-US" sz="7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19" name="직사각형 118"/>
            <p:cNvSpPr/>
            <p:nvPr/>
          </p:nvSpPr>
          <p:spPr>
            <a:xfrm>
              <a:off x="7162690" y="3913622"/>
              <a:ext cx="792000" cy="216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0" rIns="36000" bIns="0" rtlCol="0" anchor="ctr"/>
            <a:lstStyle/>
            <a:p>
              <a:pPr algn="ctr"/>
              <a:r>
                <a:rPr lang="en-US" altLang="ko-KR" sz="70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17</a:t>
              </a:r>
              <a:endParaRPr lang="ko-KR" altLang="en-US" sz="7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28" name="직사각형 127"/>
            <p:cNvSpPr/>
            <p:nvPr/>
          </p:nvSpPr>
          <p:spPr>
            <a:xfrm>
              <a:off x="7954540" y="3049756"/>
              <a:ext cx="864000" cy="216000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700" smtClean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기간계재고</a:t>
              </a:r>
              <a:endParaRPr lang="ko-KR" altLang="en-US" sz="70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29" name="직사각형 128"/>
            <p:cNvSpPr/>
            <p:nvPr/>
          </p:nvSpPr>
          <p:spPr>
            <a:xfrm>
              <a:off x="7954540" y="3265756"/>
              <a:ext cx="864000" cy="216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0" rIns="36000" bIns="0" rtlCol="0" anchor="ctr"/>
            <a:lstStyle/>
            <a:p>
              <a:pPr algn="ctr"/>
              <a:endParaRPr lang="ko-KR" altLang="en-US" sz="7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30" name="직사각형 129"/>
            <p:cNvSpPr/>
            <p:nvPr/>
          </p:nvSpPr>
          <p:spPr>
            <a:xfrm>
              <a:off x="7954540" y="3481767"/>
              <a:ext cx="864000" cy="216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0" rIns="36000" bIns="0" rtlCol="0" anchor="ctr"/>
            <a:lstStyle/>
            <a:p>
              <a:pPr algn="ctr"/>
              <a:endParaRPr lang="ko-KR" altLang="en-US" sz="7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31" name="직사각형 130"/>
            <p:cNvSpPr/>
            <p:nvPr/>
          </p:nvSpPr>
          <p:spPr>
            <a:xfrm>
              <a:off x="7954540" y="3697611"/>
              <a:ext cx="864000" cy="216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0" rIns="36000" bIns="0" rtlCol="0" anchor="ctr"/>
            <a:lstStyle/>
            <a:p>
              <a:pPr algn="ctr"/>
              <a:endParaRPr lang="ko-KR" altLang="en-US" sz="7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32" name="직사각형 131"/>
            <p:cNvSpPr/>
            <p:nvPr/>
          </p:nvSpPr>
          <p:spPr>
            <a:xfrm>
              <a:off x="7954540" y="3913622"/>
              <a:ext cx="864000" cy="216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0" rIns="36000" bIns="0" rtlCol="0" anchor="ctr"/>
            <a:lstStyle/>
            <a:p>
              <a:pPr algn="ctr"/>
              <a:endParaRPr lang="ko-KR" altLang="en-US" sz="7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41" name="직사각형 140">
              <a:extLst>
                <a:ext uri="{FF2B5EF4-FFF2-40B4-BE49-F238E27FC236}">
                  <a16:creationId xmlns="" xmlns:a16="http://schemas.microsoft.com/office/drawing/2014/main" id="{2086226C-F3B2-4253-81E2-3DD09EF4018E}"/>
                </a:ext>
              </a:extLst>
            </p:cNvPr>
            <p:cNvSpPr/>
            <p:nvPr/>
          </p:nvSpPr>
          <p:spPr>
            <a:xfrm>
              <a:off x="827906" y="2759468"/>
              <a:ext cx="828000" cy="288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36000" rIns="36000" bIns="36000" rtlCol="0" anchor="ctr"/>
            <a:lstStyle/>
            <a:p>
              <a:r>
                <a:rPr lang="ko-KR" altLang="en-US" sz="70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동영상유튜브</a:t>
              </a:r>
              <a:endParaRPr lang="ko-KR" altLang="en-US" sz="7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142" name="직사각형 141">
              <a:extLst>
                <a:ext uri="{FF2B5EF4-FFF2-40B4-BE49-F238E27FC236}">
                  <a16:creationId xmlns="" xmlns:a16="http://schemas.microsoft.com/office/drawing/2014/main" id="{E955F0F7-52A0-48E2-96C0-51A6B4AD6027}"/>
                </a:ext>
              </a:extLst>
            </p:cNvPr>
            <p:cNvSpPr/>
            <p:nvPr/>
          </p:nvSpPr>
          <p:spPr>
            <a:xfrm>
              <a:off x="1655906" y="2759468"/>
              <a:ext cx="7162634" cy="288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36000" rIns="108000" bIns="36000" rtlCol="0" anchor="ctr"/>
            <a:lstStyle/>
            <a:p>
              <a:endParaRPr lang="ko-KR" altLang="en-US" sz="7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44" name="사각형: 둥근 모서리 244">
              <a:extLst>
                <a:ext uri="{FF2B5EF4-FFF2-40B4-BE49-F238E27FC236}">
                  <a16:creationId xmlns="" xmlns:a16="http://schemas.microsoft.com/office/drawing/2014/main" id="{6A3ABAA2-A5F4-4C8F-B9C8-C37B43E8884D}"/>
                </a:ext>
              </a:extLst>
            </p:cNvPr>
            <p:cNvSpPr/>
            <p:nvPr/>
          </p:nvSpPr>
          <p:spPr bwMode="auto">
            <a:xfrm>
              <a:off x="7990540" y="3301133"/>
              <a:ext cx="792000" cy="144000"/>
            </a:xfrm>
            <a:prstGeom prst="roundRect">
              <a:avLst/>
            </a:prstGeom>
            <a:solidFill>
              <a:schemeClr val="tx1">
                <a:lumMod val="50000"/>
                <a:lumOff val="50000"/>
              </a:schemeClr>
            </a:solidFill>
            <a:ln w="317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>
              <a:outerShdw blurRad="12700" dist="12700" dir="2700000" algn="tl" rotWithShape="0">
                <a:schemeClr val="tx1">
                  <a:lumMod val="75000"/>
                  <a:lumOff val="25000"/>
                  <a:alpha val="30000"/>
                </a:schemeClr>
              </a:outerShdw>
            </a:effectLst>
          </p:spPr>
          <p:txBody>
  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14400" fontAlgn="base" latinLnBrk="0">
                <a:spcBef>
                  <a:spcPct val="0"/>
                </a:spcBef>
                <a:spcAft>
                  <a:spcPct val="0"/>
                </a:spcAft>
              </a:pPr>
              <a:r>
                <a:rPr kumimoji="1" lang="ko-KR" altLang="en-US" sz="700" kern="0" smtClean="0">
                  <a:solidFill>
                    <a:schemeClr val="bg1"/>
                  </a:solidFill>
                  <a:latin typeface="+mn-ea"/>
                </a:rPr>
                <a:t>재고보기</a:t>
              </a:r>
              <a:endParaRPr kumimoji="1" lang="ko-KR" altLang="en-US" sz="700" kern="0" dirty="0">
                <a:solidFill>
                  <a:schemeClr val="bg1"/>
                </a:solidFill>
                <a:latin typeface="+mn-ea"/>
              </a:endParaRPr>
            </a:p>
          </p:txBody>
        </p:sp>
        <p:sp>
          <p:nvSpPr>
            <p:cNvPr id="145" name="사각형: 둥근 모서리 244">
              <a:extLst>
                <a:ext uri="{FF2B5EF4-FFF2-40B4-BE49-F238E27FC236}">
                  <a16:creationId xmlns="" xmlns:a16="http://schemas.microsoft.com/office/drawing/2014/main" id="{6A3ABAA2-A5F4-4C8F-B9C8-C37B43E8884D}"/>
                </a:ext>
              </a:extLst>
            </p:cNvPr>
            <p:cNvSpPr/>
            <p:nvPr/>
          </p:nvSpPr>
          <p:spPr bwMode="auto">
            <a:xfrm>
              <a:off x="7990540" y="3517767"/>
              <a:ext cx="792000" cy="144000"/>
            </a:xfrm>
            <a:prstGeom prst="roundRect">
              <a:avLst/>
            </a:prstGeom>
            <a:solidFill>
              <a:schemeClr val="tx1">
                <a:lumMod val="50000"/>
                <a:lumOff val="50000"/>
              </a:schemeClr>
            </a:solidFill>
            <a:ln w="317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>
              <a:outerShdw blurRad="12700" dist="12700" dir="2700000" algn="tl" rotWithShape="0">
                <a:schemeClr val="tx1">
                  <a:lumMod val="75000"/>
                  <a:lumOff val="25000"/>
                  <a:alpha val="30000"/>
                </a:schemeClr>
              </a:outerShdw>
            </a:effectLst>
          </p:spPr>
          <p:txBody>
  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14400" fontAlgn="base" latinLnBrk="0">
                <a:spcBef>
                  <a:spcPct val="0"/>
                </a:spcBef>
                <a:spcAft>
                  <a:spcPct val="0"/>
                </a:spcAft>
              </a:pPr>
              <a:r>
                <a:rPr kumimoji="1" lang="ko-KR" altLang="en-US" sz="700" kern="0" smtClean="0">
                  <a:solidFill>
                    <a:schemeClr val="bg1"/>
                  </a:solidFill>
                  <a:latin typeface="+mn-ea"/>
                </a:rPr>
                <a:t>재고보기</a:t>
              </a:r>
              <a:endParaRPr kumimoji="1" lang="ko-KR" altLang="en-US" sz="700" kern="0" dirty="0">
                <a:solidFill>
                  <a:schemeClr val="bg1"/>
                </a:solidFill>
                <a:latin typeface="+mn-ea"/>
              </a:endParaRPr>
            </a:p>
          </p:txBody>
        </p:sp>
        <p:sp>
          <p:nvSpPr>
            <p:cNvPr id="146" name="사각형: 둥근 모서리 244">
              <a:extLst>
                <a:ext uri="{FF2B5EF4-FFF2-40B4-BE49-F238E27FC236}">
                  <a16:creationId xmlns="" xmlns:a16="http://schemas.microsoft.com/office/drawing/2014/main" id="{6A3ABAA2-A5F4-4C8F-B9C8-C37B43E8884D}"/>
                </a:ext>
              </a:extLst>
            </p:cNvPr>
            <p:cNvSpPr/>
            <p:nvPr/>
          </p:nvSpPr>
          <p:spPr bwMode="auto">
            <a:xfrm>
              <a:off x="7990540" y="3733611"/>
              <a:ext cx="792000" cy="144000"/>
            </a:xfrm>
            <a:prstGeom prst="roundRect">
              <a:avLst/>
            </a:prstGeom>
            <a:solidFill>
              <a:schemeClr val="tx1">
                <a:lumMod val="50000"/>
                <a:lumOff val="50000"/>
              </a:schemeClr>
            </a:solidFill>
            <a:ln w="317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>
              <a:outerShdw blurRad="12700" dist="12700" dir="2700000" algn="tl" rotWithShape="0">
                <a:schemeClr val="tx1">
                  <a:lumMod val="75000"/>
                  <a:lumOff val="25000"/>
                  <a:alpha val="30000"/>
                </a:schemeClr>
              </a:outerShdw>
            </a:effectLst>
          </p:spPr>
          <p:txBody>
  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14400" fontAlgn="base" latinLnBrk="0">
                <a:spcBef>
                  <a:spcPct val="0"/>
                </a:spcBef>
                <a:spcAft>
                  <a:spcPct val="0"/>
                </a:spcAft>
              </a:pPr>
              <a:r>
                <a:rPr kumimoji="1" lang="ko-KR" altLang="en-US" sz="700" kern="0" smtClean="0">
                  <a:solidFill>
                    <a:schemeClr val="bg1"/>
                  </a:solidFill>
                  <a:latin typeface="+mn-ea"/>
                </a:rPr>
                <a:t>재고보기</a:t>
              </a:r>
              <a:endParaRPr kumimoji="1" lang="ko-KR" altLang="en-US" sz="700" kern="0" dirty="0">
                <a:solidFill>
                  <a:schemeClr val="bg1"/>
                </a:solidFill>
                <a:latin typeface="+mn-ea"/>
              </a:endParaRPr>
            </a:p>
          </p:txBody>
        </p:sp>
        <p:sp>
          <p:nvSpPr>
            <p:cNvPr id="147" name="사각형: 둥근 모서리 244">
              <a:extLst>
                <a:ext uri="{FF2B5EF4-FFF2-40B4-BE49-F238E27FC236}">
                  <a16:creationId xmlns="" xmlns:a16="http://schemas.microsoft.com/office/drawing/2014/main" id="{6A3ABAA2-A5F4-4C8F-B9C8-C37B43E8884D}"/>
                </a:ext>
              </a:extLst>
            </p:cNvPr>
            <p:cNvSpPr/>
            <p:nvPr/>
          </p:nvSpPr>
          <p:spPr bwMode="auto">
            <a:xfrm>
              <a:off x="7990540" y="3949622"/>
              <a:ext cx="792000" cy="144000"/>
            </a:xfrm>
            <a:prstGeom prst="roundRect">
              <a:avLst/>
            </a:prstGeom>
            <a:solidFill>
              <a:schemeClr val="tx1">
                <a:lumMod val="50000"/>
                <a:lumOff val="50000"/>
              </a:schemeClr>
            </a:solidFill>
            <a:ln w="317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>
              <a:outerShdw blurRad="12700" dist="12700" dir="2700000" algn="tl" rotWithShape="0">
                <a:schemeClr val="tx1">
                  <a:lumMod val="75000"/>
                  <a:lumOff val="25000"/>
                  <a:alpha val="30000"/>
                </a:schemeClr>
              </a:outerShdw>
            </a:effectLst>
          </p:spPr>
          <p:txBody>
  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14400" fontAlgn="base" latinLnBrk="0">
                <a:spcBef>
                  <a:spcPct val="0"/>
                </a:spcBef>
                <a:spcAft>
                  <a:spcPct val="0"/>
                </a:spcAft>
              </a:pPr>
              <a:r>
                <a:rPr kumimoji="1" lang="ko-KR" altLang="en-US" sz="700" kern="0" smtClean="0">
                  <a:solidFill>
                    <a:schemeClr val="bg1"/>
                  </a:solidFill>
                  <a:latin typeface="+mn-ea"/>
                </a:rPr>
                <a:t>재고보기</a:t>
              </a:r>
              <a:endParaRPr kumimoji="1" lang="ko-KR" altLang="en-US" sz="700" kern="0" dirty="0">
                <a:solidFill>
                  <a:schemeClr val="bg1"/>
                </a:solidFill>
                <a:latin typeface="+mn-ea"/>
              </a:endParaRPr>
            </a:p>
          </p:txBody>
        </p:sp>
        <p:sp>
          <p:nvSpPr>
            <p:cNvPr id="148" name="모서리가 둥근 직사각형 184">
              <a:extLst>
                <a:ext uri="{FF2B5EF4-FFF2-40B4-BE49-F238E27FC236}">
                  <a16:creationId xmlns="" xmlns:a16="http://schemas.microsoft.com/office/drawing/2014/main" id="{7C4181B1-00DE-4B1A-9AF4-36726F2433BA}"/>
                </a:ext>
              </a:extLst>
            </p:cNvPr>
            <p:cNvSpPr/>
            <p:nvPr/>
          </p:nvSpPr>
          <p:spPr bwMode="auto">
            <a:xfrm>
              <a:off x="1727223" y="2813468"/>
              <a:ext cx="7020000" cy="180000"/>
            </a:xfrm>
            <a:prstGeom prst="roundRect">
              <a:avLst/>
            </a:prstGeom>
            <a:solidFill>
              <a:srgbClr val="FFFFEF"/>
            </a:solidFill>
            <a:ln w="3175" cap="flat" cmpd="sng" algn="ctr">
              <a:solidFill>
                <a:schemeClr val="bg1">
                  <a:lumMod val="7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none" lIns="108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defTabSz="914400" fontAlgn="base" latinLnBrk="0">
                <a:spcBef>
                  <a:spcPct val="0"/>
                </a:spcBef>
                <a:spcAft>
                  <a:spcPct val="0"/>
                </a:spcAft>
              </a:pPr>
              <a:endParaRPr kumimoji="1" lang="ko-KR" altLang="en-US" sz="700" b="0" i="0" u="none" strike="noStrike" kern="0" cap="none" spc="0" normalizeH="0" baseline="0" noProof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50" name="직사각형 149">
              <a:extLst>
                <a:ext uri="{FF2B5EF4-FFF2-40B4-BE49-F238E27FC236}">
                  <a16:creationId xmlns="" xmlns:a16="http://schemas.microsoft.com/office/drawing/2014/main" id="{2086226C-F3B2-4253-81E2-3DD09EF4018E}"/>
                </a:ext>
              </a:extLst>
            </p:cNvPr>
            <p:cNvSpPr/>
            <p:nvPr/>
          </p:nvSpPr>
          <p:spPr>
            <a:xfrm>
              <a:off x="827906" y="2471602"/>
              <a:ext cx="828000" cy="288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36000" rIns="36000" bIns="36000" rtlCol="0" anchor="ctr"/>
            <a:lstStyle/>
            <a:p>
              <a:r>
                <a:rPr lang="ko-KR" altLang="en-US" sz="70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등록오류메세지</a:t>
              </a:r>
              <a:endParaRPr lang="ko-KR" altLang="en-US" sz="7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151" name="직사각형 150">
              <a:extLst>
                <a:ext uri="{FF2B5EF4-FFF2-40B4-BE49-F238E27FC236}">
                  <a16:creationId xmlns="" xmlns:a16="http://schemas.microsoft.com/office/drawing/2014/main" id="{E955F0F7-52A0-48E2-96C0-51A6B4AD6027}"/>
                </a:ext>
              </a:extLst>
            </p:cNvPr>
            <p:cNvSpPr/>
            <p:nvPr/>
          </p:nvSpPr>
          <p:spPr>
            <a:xfrm>
              <a:off x="1655906" y="2471602"/>
              <a:ext cx="7162634" cy="288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36000" rIns="108000" bIns="36000" rtlCol="0" anchor="ctr"/>
            <a:lstStyle/>
            <a:p>
              <a:endParaRPr lang="ko-KR" altLang="en-US" sz="7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52" name="모서리가 둥근 직사각형 184">
              <a:extLst>
                <a:ext uri="{FF2B5EF4-FFF2-40B4-BE49-F238E27FC236}">
                  <a16:creationId xmlns="" xmlns:a16="http://schemas.microsoft.com/office/drawing/2014/main" id="{7C4181B1-00DE-4B1A-9AF4-36726F2433BA}"/>
                </a:ext>
              </a:extLst>
            </p:cNvPr>
            <p:cNvSpPr/>
            <p:nvPr/>
          </p:nvSpPr>
          <p:spPr bwMode="auto">
            <a:xfrm>
              <a:off x="1727223" y="2525602"/>
              <a:ext cx="7020000" cy="180000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 w="3175" cap="flat" cmpd="sng" algn="ctr">
              <a:solidFill>
                <a:schemeClr val="bg1">
                  <a:lumMod val="7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none" lIns="108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defTabSz="914400" fontAlgn="base" latinLnBrk="0">
                <a:spcBef>
                  <a:spcPct val="0"/>
                </a:spcBef>
                <a:spcAft>
                  <a:spcPct val="0"/>
                </a:spcAft>
              </a:pPr>
              <a:endParaRPr kumimoji="1" lang="ko-KR" altLang="en-US" sz="700" b="0" i="0" u="none" strike="noStrike" kern="0" cap="none" spc="0" normalizeH="0" baseline="0" noProof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53" name="직사각형 152">
              <a:extLst>
                <a:ext uri="{FF2B5EF4-FFF2-40B4-BE49-F238E27FC236}">
                  <a16:creationId xmlns="" xmlns:a16="http://schemas.microsoft.com/office/drawing/2014/main" id="{2086226C-F3B2-4253-81E2-3DD09EF4018E}"/>
                </a:ext>
              </a:extLst>
            </p:cNvPr>
            <p:cNvSpPr/>
            <p:nvPr/>
          </p:nvSpPr>
          <p:spPr>
            <a:xfrm>
              <a:off x="827906" y="1319736"/>
              <a:ext cx="828000" cy="1152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36000" rIns="36000" bIns="36000" rtlCol="0" anchor="ctr"/>
            <a:lstStyle/>
            <a:p>
              <a:r>
                <a:rPr lang="ko-KR" altLang="en-US" sz="70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상품 노출 검색</a:t>
              </a:r>
              <a:endParaRPr lang="ko-KR" altLang="en-US" sz="7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154" name="직사각형 153">
              <a:extLst>
                <a:ext uri="{FF2B5EF4-FFF2-40B4-BE49-F238E27FC236}">
                  <a16:creationId xmlns="" xmlns:a16="http://schemas.microsoft.com/office/drawing/2014/main" id="{E955F0F7-52A0-48E2-96C0-51A6B4AD6027}"/>
                </a:ext>
              </a:extLst>
            </p:cNvPr>
            <p:cNvSpPr/>
            <p:nvPr/>
          </p:nvSpPr>
          <p:spPr>
            <a:xfrm>
              <a:off x="2483906" y="2039736"/>
              <a:ext cx="6334634" cy="432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36000" rIns="108000" bIns="36000" rtlCol="0" anchor="ctr"/>
            <a:lstStyle/>
            <a:p>
              <a:endParaRPr lang="ko-KR" altLang="en-US" sz="7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56" name="직사각형 155">
              <a:extLst>
                <a:ext uri="{FF2B5EF4-FFF2-40B4-BE49-F238E27FC236}">
                  <a16:creationId xmlns="" xmlns:a16="http://schemas.microsoft.com/office/drawing/2014/main" id="{2086226C-F3B2-4253-81E2-3DD09EF4018E}"/>
                </a:ext>
              </a:extLst>
            </p:cNvPr>
            <p:cNvSpPr/>
            <p:nvPr/>
          </p:nvSpPr>
          <p:spPr>
            <a:xfrm>
              <a:off x="1655906" y="1751736"/>
              <a:ext cx="828000" cy="720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36000" rIns="36000" bIns="36000" rtlCol="0" anchor="ctr"/>
            <a:lstStyle/>
            <a:p>
              <a:pPr algn="ctr"/>
              <a:r>
                <a:rPr lang="ko-KR" altLang="en-US" sz="70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선택형</a:t>
              </a:r>
              <a:endParaRPr lang="en-US" altLang="ko-KR" sz="7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endParaRPr>
            </a:p>
            <a:p>
              <a:pPr algn="ctr">
                <a:lnSpc>
                  <a:spcPct val="150000"/>
                </a:lnSpc>
              </a:pPr>
              <a:r>
                <a:rPr lang="en-US" altLang="ko-KR" sz="70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(</a:t>
              </a:r>
              <a:r>
                <a:rPr lang="ko-KR" altLang="en-US" sz="70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최대 </a:t>
              </a:r>
              <a:r>
                <a:rPr lang="en-US" altLang="ko-KR" sz="70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4</a:t>
              </a:r>
              <a:r>
                <a:rPr lang="ko-KR" altLang="en-US" sz="70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개 선택</a:t>
              </a:r>
              <a:r>
                <a:rPr lang="en-US" altLang="ko-KR" sz="70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)</a:t>
              </a:r>
              <a:endParaRPr lang="ko-KR" altLang="en-US" sz="7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157" name="직사각형 156">
              <a:extLst>
                <a:ext uri="{FF2B5EF4-FFF2-40B4-BE49-F238E27FC236}">
                  <a16:creationId xmlns="" xmlns:a16="http://schemas.microsoft.com/office/drawing/2014/main" id="{2086226C-F3B2-4253-81E2-3DD09EF4018E}"/>
                </a:ext>
              </a:extLst>
            </p:cNvPr>
            <p:cNvSpPr/>
            <p:nvPr/>
          </p:nvSpPr>
          <p:spPr>
            <a:xfrm>
              <a:off x="2483906" y="1751736"/>
              <a:ext cx="828000" cy="288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36000" rIns="36000" bIns="36000" rtlCol="0" anchor="ctr"/>
            <a:lstStyle/>
            <a:p>
              <a:pPr algn="ctr"/>
              <a:r>
                <a:rPr lang="ko-KR" altLang="en-US" sz="70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룩</a:t>
              </a:r>
              <a:r>
                <a:rPr lang="en-US" altLang="ko-KR" sz="70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/</a:t>
              </a:r>
              <a:r>
                <a:rPr lang="ko-KR" altLang="en-US" sz="70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스타일</a:t>
              </a:r>
              <a:endParaRPr lang="ko-KR" altLang="en-US" sz="7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158" name="직사각형 157">
              <a:extLst>
                <a:ext uri="{FF2B5EF4-FFF2-40B4-BE49-F238E27FC236}">
                  <a16:creationId xmlns="" xmlns:a16="http://schemas.microsoft.com/office/drawing/2014/main" id="{E955F0F7-52A0-48E2-96C0-51A6B4AD6027}"/>
                </a:ext>
              </a:extLst>
            </p:cNvPr>
            <p:cNvSpPr/>
            <p:nvPr/>
          </p:nvSpPr>
          <p:spPr>
            <a:xfrm>
              <a:off x="3311906" y="1751736"/>
              <a:ext cx="5506634" cy="288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36000" rIns="108000" bIns="36000" rtlCol="0" anchor="ctr"/>
            <a:lstStyle/>
            <a:p>
              <a:endParaRPr lang="ko-KR" altLang="en-US" sz="7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grpSp>
          <p:nvGrpSpPr>
            <p:cNvPr id="18" name="그룹 17"/>
            <p:cNvGrpSpPr/>
            <p:nvPr/>
          </p:nvGrpSpPr>
          <p:grpSpPr>
            <a:xfrm>
              <a:off x="3383718" y="1812286"/>
              <a:ext cx="860075" cy="180425"/>
              <a:chOff x="2341150" y="2347511"/>
              <a:chExt cx="860075" cy="180425"/>
            </a:xfrm>
          </p:grpSpPr>
          <p:sp>
            <p:nvSpPr>
              <p:cNvPr id="159" name="사각형: 둥근 모서리 393">
                <a:extLst>
                  <a:ext uri="{FF2B5EF4-FFF2-40B4-BE49-F238E27FC236}">
                    <a16:creationId xmlns="" xmlns:a16="http://schemas.microsoft.com/office/drawing/2014/main" id="{36E654BC-9DA7-40DE-810D-4DBC10DDAC9E}"/>
                  </a:ext>
                </a:extLst>
              </p:cNvPr>
              <p:cNvSpPr/>
              <p:nvPr/>
            </p:nvSpPr>
            <p:spPr bwMode="auto">
              <a:xfrm>
                <a:off x="2341150" y="2365724"/>
                <a:ext cx="144000" cy="144000"/>
              </a:xfrm>
              <a:prstGeom prst="roundRect">
                <a:avLst/>
              </a:prstGeom>
              <a:solidFill>
                <a:schemeClr val="bg1"/>
              </a:solidFill>
              <a:ln w="3175" cap="flat" cmpd="sng" algn="ctr">
                <a:solidFill>
                  <a:schemeClr val="bg1">
                    <a:lumMod val="7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>
                <a:innerShdw blurRad="12700" dist="12700" dir="13500000">
                  <a:schemeClr val="tx1">
                    <a:lumMod val="75000"/>
                    <a:lumOff val="25000"/>
                    <a:alpha val="30000"/>
                  </a:schemeClr>
                </a:innerShdw>
              </a:effectLst>
            </p:spPr>
            <p:txBody>
    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fontAlgn="base" latinLnBrk="0">
                  <a:spcBef>
                    <a:spcPct val="0"/>
                  </a:spcBef>
                  <a:spcAft>
                    <a:spcPct val="0"/>
                  </a:spcAft>
                </a:pPr>
                <a:endParaRPr kumimoji="1" lang="ko-KR" altLang="en-US" sz="700" b="1" ker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  <p:sp>
            <p:nvSpPr>
              <p:cNvPr id="160" name="TextBox 159">
                <a:extLst>
                  <a:ext uri="{FF2B5EF4-FFF2-40B4-BE49-F238E27FC236}">
                    <a16:creationId xmlns="" xmlns:a16="http://schemas.microsoft.com/office/drawing/2014/main" id="{5D1B3506-229B-45F0-9331-6EF4F4EF97DC}"/>
                  </a:ext>
                </a:extLst>
              </p:cNvPr>
              <p:cNvSpPr txBox="1"/>
              <p:nvPr/>
            </p:nvSpPr>
            <p:spPr>
              <a:xfrm>
                <a:off x="2485150" y="2347511"/>
                <a:ext cx="716075" cy="180425"/>
              </a:xfrm>
              <a:prstGeom prst="rect">
                <a:avLst/>
              </a:prstGeom>
              <a:noFill/>
              <a:ln w="3175" cap="flat" cmpd="sng" algn="ctr">
                <a:noFill/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txBody>
              <a:bodyPr vert="horz" wrap="none" lIns="108000" tIns="36000" rIns="36000" bIns="36000" numCol="1" rtlCol="0" anchor="ctr" anchorCtr="0" compatLnSpc="1">
                <a:prstTxWarp prst="textNoShape">
                  <a:avLst/>
                </a:prstTxWarp>
                <a:spAutoFit/>
              </a:bodyPr>
              <a:lstStyle/>
              <a:p>
                <a:pPr algn="l"/>
                <a:r>
                  <a:rPr lang="ko-KR" altLang="en-US" sz="700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</a:rPr>
                  <a:t>데일리룩 추천</a:t>
                </a:r>
                <a:endParaRPr lang="ko-KR" altLang="en-US" sz="700" dirty="0">
                  <a:solidFill>
                    <a:srgbClr val="C00000"/>
                  </a:solidFill>
                  <a:latin typeface="+mn-ea"/>
                </a:endParaRPr>
              </a:p>
            </p:txBody>
          </p:sp>
        </p:grpSp>
        <p:grpSp>
          <p:nvGrpSpPr>
            <p:cNvPr id="162" name="그룹 161"/>
            <p:cNvGrpSpPr/>
            <p:nvPr/>
          </p:nvGrpSpPr>
          <p:grpSpPr>
            <a:xfrm>
              <a:off x="4393108" y="1812286"/>
              <a:ext cx="860075" cy="180425"/>
              <a:chOff x="2341150" y="2347511"/>
              <a:chExt cx="860075" cy="180425"/>
            </a:xfrm>
          </p:grpSpPr>
          <p:sp>
            <p:nvSpPr>
              <p:cNvPr id="163" name="사각형: 둥근 모서리 393">
                <a:extLst>
                  <a:ext uri="{FF2B5EF4-FFF2-40B4-BE49-F238E27FC236}">
                    <a16:creationId xmlns="" xmlns:a16="http://schemas.microsoft.com/office/drawing/2014/main" id="{36E654BC-9DA7-40DE-810D-4DBC10DDAC9E}"/>
                  </a:ext>
                </a:extLst>
              </p:cNvPr>
              <p:cNvSpPr/>
              <p:nvPr/>
            </p:nvSpPr>
            <p:spPr bwMode="auto">
              <a:xfrm>
                <a:off x="2341150" y="2365724"/>
                <a:ext cx="144000" cy="144000"/>
              </a:xfrm>
              <a:prstGeom prst="roundRect">
                <a:avLst/>
              </a:prstGeom>
              <a:solidFill>
                <a:schemeClr val="bg1"/>
              </a:solidFill>
              <a:ln w="3175" cap="flat" cmpd="sng" algn="ctr">
                <a:solidFill>
                  <a:schemeClr val="bg1">
                    <a:lumMod val="7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>
                <a:innerShdw blurRad="12700" dist="12700" dir="13500000">
                  <a:schemeClr val="tx1">
                    <a:lumMod val="75000"/>
                    <a:lumOff val="25000"/>
                    <a:alpha val="30000"/>
                  </a:schemeClr>
                </a:innerShdw>
              </a:effectLst>
            </p:spPr>
            <p:txBody>
    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fontAlgn="base" latinLnBrk="0">
                  <a:spcBef>
                    <a:spcPct val="0"/>
                  </a:spcBef>
                  <a:spcAft>
                    <a:spcPct val="0"/>
                  </a:spcAft>
                </a:pPr>
                <a:endParaRPr kumimoji="1" lang="ko-KR" altLang="en-US" sz="700" b="1" ker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  <p:sp>
            <p:nvSpPr>
              <p:cNvPr id="164" name="TextBox 163">
                <a:extLst>
                  <a:ext uri="{FF2B5EF4-FFF2-40B4-BE49-F238E27FC236}">
                    <a16:creationId xmlns="" xmlns:a16="http://schemas.microsoft.com/office/drawing/2014/main" id="{5D1B3506-229B-45F0-9331-6EF4F4EF97DC}"/>
                  </a:ext>
                </a:extLst>
              </p:cNvPr>
              <p:cNvSpPr txBox="1"/>
              <p:nvPr/>
            </p:nvSpPr>
            <p:spPr>
              <a:xfrm>
                <a:off x="2485150" y="2347511"/>
                <a:ext cx="716075" cy="180425"/>
              </a:xfrm>
              <a:prstGeom prst="rect">
                <a:avLst/>
              </a:prstGeom>
              <a:noFill/>
              <a:ln w="3175" cap="flat" cmpd="sng" algn="ctr">
                <a:noFill/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txBody>
              <a:bodyPr vert="horz" wrap="none" lIns="108000" tIns="36000" rIns="36000" bIns="36000" numCol="1" rtlCol="0" anchor="ctr" anchorCtr="0" compatLnSpc="1">
                <a:prstTxWarp prst="textNoShape">
                  <a:avLst/>
                </a:prstTxWarp>
                <a:spAutoFit/>
              </a:bodyPr>
              <a:lstStyle/>
              <a:p>
                <a:pPr algn="l"/>
                <a:r>
                  <a:rPr lang="ko-KR" altLang="en-US" sz="700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</a:rPr>
                  <a:t>오피스룩 추천</a:t>
                </a:r>
                <a:endParaRPr lang="ko-KR" altLang="en-US" sz="700" dirty="0">
                  <a:solidFill>
                    <a:srgbClr val="C00000"/>
                  </a:solidFill>
                  <a:latin typeface="+mn-ea"/>
                </a:endParaRPr>
              </a:p>
            </p:txBody>
          </p:sp>
        </p:grpSp>
        <p:grpSp>
          <p:nvGrpSpPr>
            <p:cNvPr id="167" name="그룹 166"/>
            <p:cNvGrpSpPr/>
            <p:nvPr/>
          </p:nvGrpSpPr>
          <p:grpSpPr>
            <a:xfrm>
              <a:off x="5400112" y="1812286"/>
              <a:ext cx="770307" cy="180425"/>
              <a:chOff x="2341150" y="2347511"/>
              <a:chExt cx="770307" cy="180425"/>
            </a:xfrm>
          </p:grpSpPr>
          <p:sp>
            <p:nvSpPr>
              <p:cNvPr id="168" name="사각형: 둥근 모서리 393">
                <a:extLst>
                  <a:ext uri="{FF2B5EF4-FFF2-40B4-BE49-F238E27FC236}">
                    <a16:creationId xmlns="" xmlns:a16="http://schemas.microsoft.com/office/drawing/2014/main" id="{36E654BC-9DA7-40DE-810D-4DBC10DDAC9E}"/>
                  </a:ext>
                </a:extLst>
              </p:cNvPr>
              <p:cNvSpPr/>
              <p:nvPr/>
            </p:nvSpPr>
            <p:spPr bwMode="auto">
              <a:xfrm>
                <a:off x="2341150" y="2365724"/>
                <a:ext cx="144000" cy="144000"/>
              </a:xfrm>
              <a:prstGeom prst="roundRect">
                <a:avLst/>
              </a:prstGeom>
              <a:solidFill>
                <a:schemeClr val="bg1"/>
              </a:solidFill>
              <a:ln w="3175" cap="flat" cmpd="sng" algn="ctr">
                <a:solidFill>
                  <a:schemeClr val="bg1">
                    <a:lumMod val="7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>
                <a:innerShdw blurRad="12700" dist="12700" dir="13500000">
                  <a:schemeClr val="tx1">
                    <a:lumMod val="75000"/>
                    <a:lumOff val="25000"/>
                    <a:alpha val="30000"/>
                  </a:schemeClr>
                </a:innerShdw>
              </a:effectLst>
            </p:spPr>
            <p:txBody>
    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fontAlgn="base" latinLnBrk="0">
                  <a:spcBef>
                    <a:spcPct val="0"/>
                  </a:spcBef>
                  <a:spcAft>
                    <a:spcPct val="0"/>
                  </a:spcAft>
                </a:pPr>
                <a:endParaRPr kumimoji="1" lang="ko-KR" altLang="en-US" sz="700" b="1" ker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  <p:sp>
            <p:nvSpPr>
              <p:cNvPr id="169" name="TextBox 168">
                <a:extLst>
                  <a:ext uri="{FF2B5EF4-FFF2-40B4-BE49-F238E27FC236}">
                    <a16:creationId xmlns="" xmlns:a16="http://schemas.microsoft.com/office/drawing/2014/main" id="{5D1B3506-229B-45F0-9331-6EF4F4EF97DC}"/>
                  </a:ext>
                </a:extLst>
              </p:cNvPr>
              <p:cNvSpPr txBox="1"/>
              <p:nvPr/>
            </p:nvSpPr>
            <p:spPr>
              <a:xfrm>
                <a:off x="2485150" y="2347511"/>
                <a:ext cx="626307" cy="180425"/>
              </a:xfrm>
              <a:prstGeom prst="rect">
                <a:avLst/>
              </a:prstGeom>
              <a:noFill/>
              <a:ln w="3175" cap="flat" cmpd="sng" algn="ctr">
                <a:noFill/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txBody>
              <a:bodyPr vert="horz" wrap="none" lIns="108000" tIns="36000" rIns="36000" bIns="36000" numCol="1" rtlCol="0" anchor="ctr" anchorCtr="0" compatLnSpc="1">
                <a:prstTxWarp prst="textNoShape">
                  <a:avLst/>
                </a:prstTxWarp>
                <a:spAutoFit/>
              </a:bodyPr>
              <a:lstStyle/>
              <a:p>
                <a:pPr algn="l"/>
                <a:r>
                  <a:rPr lang="ko-KR" altLang="en-US" sz="700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</a:rPr>
                  <a:t>하객룩 추천</a:t>
                </a:r>
                <a:endParaRPr lang="ko-KR" altLang="en-US" sz="700" dirty="0">
                  <a:solidFill>
                    <a:srgbClr val="C00000"/>
                  </a:solidFill>
                  <a:latin typeface="+mn-ea"/>
                </a:endParaRPr>
              </a:p>
            </p:txBody>
          </p:sp>
        </p:grpSp>
        <p:grpSp>
          <p:nvGrpSpPr>
            <p:cNvPr id="171" name="그룹 170"/>
            <p:cNvGrpSpPr/>
            <p:nvPr/>
          </p:nvGrpSpPr>
          <p:grpSpPr>
            <a:xfrm>
              <a:off x="6314419" y="1812286"/>
              <a:ext cx="770307" cy="180425"/>
              <a:chOff x="2341150" y="2347511"/>
              <a:chExt cx="770307" cy="180425"/>
            </a:xfrm>
          </p:grpSpPr>
          <p:sp>
            <p:nvSpPr>
              <p:cNvPr id="172" name="사각형: 둥근 모서리 393">
                <a:extLst>
                  <a:ext uri="{FF2B5EF4-FFF2-40B4-BE49-F238E27FC236}">
                    <a16:creationId xmlns="" xmlns:a16="http://schemas.microsoft.com/office/drawing/2014/main" id="{36E654BC-9DA7-40DE-810D-4DBC10DDAC9E}"/>
                  </a:ext>
                </a:extLst>
              </p:cNvPr>
              <p:cNvSpPr/>
              <p:nvPr/>
            </p:nvSpPr>
            <p:spPr bwMode="auto">
              <a:xfrm>
                <a:off x="2341150" y="2365724"/>
                <a:ext cx="144000" cy="144000"/>
              </a:xfrm>
              <a:prstGeom prst="roundRect">
                <a:avLst/>
              </a:prstGeom>
              <a:solidFill>
                <a:schemeClr val="bg1"/>
              </a:solidFill>
              <a:ln w="3175" cap="flat" cmpd="sng" algn="ctr">
                <a:solidFill>
                  <a:schemeClr val="bg1">
                    <a:lumMod val="7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>
                <a:innerShdw blurRad="12700" dist="12700" dir="13500000">
                  <a:schemeClr val="tx1">
                    <a:lumMod val="75000"/>
                    <a:lumOff val="25000"/>
                    <a:alpha val="30000"/>
                  </a:schemeClr>
                </a:innerShdw>
              </a:effectLst>
            </p:spPr>
            <p:txBody>
    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fontAlgn="base" latinLnBrk="0">
                  <a:spcBef>
                    <a:spcPct val="0"/>
                  </a:spcBef>
                  <a:spcAft>
                    <a:spcPct val="0"/>
                  </a:spcAft>
                </a:pPr>
                <a:endParaRPr kumimoji="1" lang="ko-KR" altLang="en-US" sz="700" b="1" ker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  <p:sp>
            <p:nvSpPr>
              <p:cNvPr id="173" name="TextBox 172">
                <a:extLst>
                  <a:ext uri="{FF2B5EF4-FFF2-40B4-BE49-F238E27FC236}">
                    <a16:creationId xmlns="" xmlns:a16="http://schemas.microsoft.com/office/drawing/2014/main" id="{5D1B3506-229B-45F0-9331-6EF4F4EF97DC}"/>
                  </a:ext>
                </a:extLst>
              </p:cNvPr>
              <p:cNvSpPr txBox="1"/>
              <p:nvPr/>
            </p:nvSpPr>
            <p:spPr>
              <a:xfrm>
                <a:off x="2485150" y="2347511"/>
                <a:ext cx="626307" cy="180425"/>
              </a:xfrm>
              <a:prstGeom prst="rect">
                <a:avLst/>
              </a:prstGeom>
              <a:noFill/>
              <a:ln w="3175" cap="flat" cmpd="sng" algn="ctr">
                <a:noFill/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txBody>
              <a:bodyPr vert="horz" wrap="none" lIns="108000" tIns="36000" rIns="36000" bIns="36000" numCol="1" rtlCol="0" anchor="ctr" anchorCtr="0" compatLnSpc="1">
                <a:prstTxWarp prst="textNoShape">
                  <a:avLst/>
                </a:prstTxWarp>
                <a:spAutoFit/>
              </a:bodyPr>
              <a:lstStyle/>
              <a:p>
                <a:pPr algn="l"/>
                <a:r>
                  <a:rPr lang="ko-KR" altLang="en-US" sz="700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</a:rPr>
                  <a:t>모임룩 추천</a:t>
                </a:r>
                <a:endParaRPr lang="ko-KR" altLang="en-US" sz="700" dirty="0">
                  <a:solidFill>
                    <a:srgbClr val="C00000"/>
                  </a:solidFill>
                  <a:latin typeface="+mn-ea"/>
                </a:endParaRPr>
              </a:p>
            </p:txBody>
          </p:sp>
        </p:grpSp>
        <p:sp>
          <p:nvSpPr>
            <p:cNvPr id="176" name="직사각형 175">
              <a:extLst>
                <a:ext uri="{FF2B5EF4-FFF2-40B4-BE49-F238E27FC236}">
                  <a16:creationId xmlns="" xmlns:a16="http://schemas.microsoft.com/office/drawing/2014/main" id="{E955F0F7-52A0-48E2-96C0-51A6B4AD6027}"/>
                </a:ext>
              </a:extLst>
            </p:cNvPr>
            <p:cNvSpPr/>
            <p:nvPr/>
          </p:nvSpPr>
          <p:spPr>
            <a:xfrm>
              <a:off x="1655906" y="1319736"/>
              <a:ext cx="7162634" cy="432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36000" rIns="108000" bIns="36000" rtlCol="0" anchor="ctr"/>
            <a:lstStyle/>
            <a:p>
              <a:endParaRPr lang="ko-KR" altLang="en-US" sz="7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33" name="모서리가 둥근 직사각형 132">
              <a:extLst>
                <a:ext uri="{FF2B5EF4-FFF2-40B4-BE49-F238E27FC236}">
                  <a16:creationId xmlns="" xmlns:a16="http://schemas.microsoft.com/office/drawing/2014/main" id="{09B54577-DFD2-4CD0-A7A1-F1C86267855F}"/>
                </a:ext>
              </a:extLst>
            </p:cNvPr>
            <p:cNvSpPr/>
            <p:nvPr/>
          </p:nvSpPr>
          <p:spPr>
            <a:xfrm>
              <a:off x="683906" y="1033711"/>
              <a:ext cx="8280000" cy="5040000"/>
            </a:xfrm>
            <a:prstGeom prst="roundRect">
              <a:avLst>
                <a:gd name="adj" fmla="val 604"/>
              </a:avLst>
            </a:prstGeom>
            <a:solidFill>
              <a:schemeClr val="tx1">
                <a:lumMod val="75000"/>
                <a:lumOff val="25000"/>
                <a:alpha val="70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grpSp>
          <p:nvGrpSpPr>
            <p:cNvPr id="23" name="그룹 22"/>
            <p:cNvGrpSpPr/>
            <p:nvPr/>
          </p:nvGrpSpPr>
          <p:grpSpPr>
            <a:xfrm>
              <a:off x="683906" y="1033711"/>
              <a:ext cx="8280000" cy="287752"/>
              <a:chOff x="683906" y="1033711"/>
              <a:chExt cx="8280000" cy="287752"/>
            </a:xfrm>
          </p:grpSpPr>
          <p:sp>
            <p:nvSpPr>
              <p:cNvPr id="203" name="사각형: 둥근 모서리 59">
                <a:extLst>
                  <a:ext uri="{FF2B5EF4-FFF2-40B4-BE49-F238E27FC236}">
                    <a16:creationId xmlns="" xmlns:a16="http://schemas.microsoft.com/office/drawing/2014/main" id="{0292A016-C154-4D66-B0A3-EA847A752A31}"/>
                  </a:ext>
                </a:extLst>
              </p:cNvPr>
              <p:cNvSpPr/>
              <p:nvPr/>
            </p:nvSpPr>
            <p:spPr bwMode="auto">
              <a:xfrm>
                <a:off x="683906" y="1033711"/>
                <a:ext cx="8280000" cy="287752"/>
              </a:xfrm>
              <a:prstGeom prst="roundRect">
                <a:avLst>
                  <a:gd name="adj" fmla="val 12975"/>
                </a:avLst>
              </a:prstGeom>
              <a:solidFill>
                <a:srgbClr val="FFFFFF">
                  <a:lumMod val="85000"/>
                </a:srgbClr>
              </a:solidFill>
              <a:ln w="3175" cap="flat" cmpd="sng" algn="ctr">
                <a:solidFill>
                  <a:srgbClr val="FFFFFF">
                    <a:lumMod val="75000"/>
                  </a:srgb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108000" tIns="36000" rIns="36000" bIns="36000" numCol="1" rtlCol="0" anchor="ctr" anchorCtr="0" compatLnSpc="1">
                <a:prstTxWarp prst="textNoShape">
                  <a:avLst/>
                </a:prstTxWarp>
                <a:noAutofit/>
              </a:bodyPr>
              <a:lstStyle/>
              <a:p>
                <a:pPr marL="87313" indent="-87313" defTabSz="914400" fontAlgn="base" latinLnBrk="0">
                  <a:lnSpc>
                    <a:spcPct val="110000"/>
                  </a:lnSpc>
                  <a:spcBef>
                    <a:spcPct val="25000"/>
                  </a:spcBef>
                  <a:spcAft>
                    <a:spcPct val="0"/>
                  </a:spcAft>
                  <a:defRPr/>
                </a:pPr>
                <a:r>
                  <a:rPr kumimoji="1" lang="ko-KR" altLang="en-US" sz="800" b="1" kern="0" smtClean="0">
                    <a:solidFill>
                      <a:srgbClr val="000000">
                        <a:lumMod val="75000"/>
                        <a:lumOff val="25000"/>
                      </a:srgbClr>
                    </a:solidFill>
                    <a:latin typeface="맑은 고딕" panose="020B0503020000020004" pitchFamily="50" charset="-127"/>
                  </a:rPr>
                  <a:t>자사상품</a:t>
                </a:r>
                <a:r>
                  <a:rPr kumimoji="1" lang="en-US" altLang="ko-KR" sz="800" b="1" kern="0" smtClean="0">
                    <a:solidFill>
                      <a:srgbClr val="000000">
                        <a:lumMod val="75000"/>
                        <a:lumOff val="25000"/>
                      </a:srgbClr>
                    </a:solidFill>
                    <a:latin typeface="맑은 고딕" panose="020B0503020000020004" pitchFamily="50" charset="-127"/>
                  </a:rPr>
                  <a:t> </a:t>
                </a:r>
                <a:r>
                  <a:rPr kumimoji="1" lang="ko-KR" altLang="en-US" sz="800" b="1" kern="0" smtClean="0">
                    <a:solidFill>
                      <a:srgbClr val="000000">
                        <a:lumMod val="75000"/>
                        <a:lumOff val="25000"/>
                      </a:srgbClr>
                    </a:solidFill>
                    <a:latin typeface="맑은 고딕" panose="020B0503020000020004" pitchFamily="50" charset="-127"/>
                  </a:rPr>
                  <a:t>상세</a:t>
                </a:r>
                <a:endParaRPr kumimoji="1" lang="ko-KR" altLang="en-US" sz="800" b="1" kern="0">
                  <a:solidFill>
                    <a:srgbClr val="000000">
                      <a:lumMod val="75000"/>
                      <a:lumOff val="25000"/>
                    </a:srgbClr>
                  </a:solidFill>
                  <a:latin typeface="맑은 고딕" panose="020B0503020000020004" pitchFamily="50" charset="-127"/>
                </a:endParaRPr>
              </a:p>
            </p:txBody>
          </p:sp>
          <p:sp>
            <p:nvSpPr>
              <p:cNvPr id="204" name="곱하기 기호 199">
                <a:extLst>
                  <a:ext uri="{FF2B5EF4-FFF2-40B4-BE49-F238E27FC236}">
                    <a16:creationId xmlns="" xmlns:a16="http://schemas.microsoft.com/office/drawing/2014/main" id="{FC59F712-927B-4C6B-A7B9-6F7D03C2E8DC}"/>
                  </a:ext>
                </a:extLst>
              </p:cNvPr>
              <p:cNvSpPr/>
              <p:nvPr/>
            </p:nvSpPr>
            <p:spPr bwMode="auto">
              <a:xfrm>
                <a:off x="8712512" y="1105587"/>
                <a:ext cx="144000" cy="144000"/>
              </a:xfrm>
              <a:prstGeom prst="mathMultiply">
                <a:avLst>
                  <a:gd name="adj1" fmla="val 0"/>
                </a:avLst>
              </a:prstGeom>
              <a:noFill/>
              <a:ln w="6350" cap="flat" cmpd="sng" algn="ctr">
                <a:solidFill>
                  <a:srgbClr val="FFFFFF">
                    <a:lumMod val="50000"/>
                  </a:srgb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ctr" anchorCtr="0" compatLnSpc="1">
                <a:prstTxWarp prst="textNoShape">
                  <a:avLst/>
                </a:prstTxWarp>
                <a:noAutofit/>
              </a:bodyPr>
              <a:lstStyle/>
              <a:p>
                <a:pPr marL="87313" indent="-87313" algn="ctr" defTabSz="914400" fontAlgn="base" latinLnBrk="0">
                  <a:lnSpc>
                    <a:spcPct val="110000"/>
                  </a:lnSpc>
                  <a:spcBef>
                    <a:spcPct val="25000"/>
                  </a:spcBef>
                  <a:spcAft>
                    <a:spcPct val="0"/>
                  </a:spcAft>
                  <a:buFont typeface="Wingdings" pitchFamily="2" charset="2"/>
                  <a:buNone/>
                  <a:defRPr/>
                </a:pPr>
                <a:endParaRPr kumimoji="1" lang="ko-KR" altLang="en-US" sz="800" b="1" kern="0">
                  <a:solidFill>
                    <a:srgbClr val="000000">
                      <a:lumMod val="75000"/>
                      <a:lumOff val="25000"/>
                    </a:srgbClr>
                  </a:solidFill>
                  <a:latin typeface="맑은 고딕" panose="020B0503020000020004" pitchFamily="50" charset="-127"/>
                </a:endParaRPr>
              </a:p>
            </p:txBody>
          </p:sp>
        </p:grpSp>
      </p:grpSp>
      <p:sp>
        <p:nvSpPr>
          <p:cNvPr id="11" name="직사각형 10"/>
          <p:cNvSpPr/>
          <p:nvPr/>
        </p:nvSpPr>
        <p:spPr>
          <a:xfrm>
            <a:off x="1583906" y="1681711"/>
            <a:ext cx="6480000" cy="3744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34" name="직사각형 133"/>
          <p:cNvSpPr/>
          <p:nvPr/>
        </p:nvSpPr>
        <p:spPr>
          <a:xfrm>
            <a:off x="1583906" y="1681711"/>
            <a:ext cx="6480000" cy="288000"/>
          </a:xfrm>
          <a:prstGeom prst="rect">
            <a:avLst/>
          </a:prstGeom>
          <a:solidFill>
            <a:srgbClr val="C00000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0" rIns="108000" bIns="0" rtlCol="0" anchor="ctr"/>
          <a:lstStyle/>
          <a:p>
            <a:r>
              <a:rPr lang="ko-KR" altLang="en-US" sz="80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재고정보</a:t>
            </a:r>
            <a:endParaRPr lang="ko-KR" altLang="en-US" sz="80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36" name="곱하기 기호 199">
            <a:extLst>
              <a:ext uri="{FF2B5EF4-FFF2-40B4-BE49-F238E27FC236}">
                <a16:creationId xmlns="" xmlns:a16="http://schemas.microsoft.com/office/drawing/2014/main" id="{FC59F712-927B-4C6B-A7B9-6F7D03C2E8DC}"/>
              </a:ext>
            </a:extLst>
          </p:cNvPr>
          <p:cNvSpPr/>
          <p:nvPr/>
        </p:nvSpPr>
        <p:spPr bwMode="auto">
          <a:xfrm>
            <a:off x="7812512" y="1753711"/>
            <a:ext cx="144000" cy="144000"/>
          </a:xfrm>
          <a:prstGeom prst="mathMultiply">
            <a:avLst>
              <a:gd name="adj1" fmla="val 0"/>
            </a:avLst>
          </a:prstGeom>
          <a:solidFill>
            <a:schemeClr val="bg1"/>
          </a:solidFill>
          <a:ln w="635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87313" indent="-87313" algn="ctr" defTabSz="914400" fontAlgn="base" latinLnBrk="0">
              <a:lnSpc>
                <a:spcPct val="110000"/>
              </a:lnSpc>
              <a:spcBef>
                <a:spcPct val="25000"/>
              </a:spcBef>
              <a:spcAft>
                <a:spcPct val="0"/>
              </a:spcAft>
              <a:buFont typeface="Wingdings" pitchFamily="2" charset="2"/>
              <a:buNone/>
              <a:defRPr/>
            </a:pPr>
            <a:endParaRPr kumimoji="1" lang="ko-KR" altLang="en-US" sz="800" b="1" kern="0">
              <a:solidFill>
                <a:srgbClr val="000000">
                  <a:lumMod val="75000"/>
                  <a:lumOff val="25000"/>
                </a:srgb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137" name="직사각형 136"/>
          <p:cNvSpPr/>
          <p:nvPr/>
        </p:nvSpPr>
        <p:spPr>
          <a:xfrm>
            <a:off x="2448293" y="2473373"/>
            <a:ext cx="1728000" cy="2160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70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출고처명</a:t>
            </a:r>
            <a:endParaRPr lang="ko-KR" altLang="en-US" sz="70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38" name="직사각형 137"/>
          <p:cNvSpPr/>
          <p:nvPr/>
        </p:nvSpPr>
        <p:spPr>
          <a:xfrm>
            <a:off x="2448293" y="2689373"/>
            <a:ext cx="1728000" cy="216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r>
              <a:rPr lang="ko-KR" altLang="en-US" sz="700" b="1" u="sng" smtClean="0">
                <a:solidFill>
                  <a:schemeClr val="accent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쇼핑몰 가용</a:t>
            </a:r>
            <a:endParaRPr lang="ko-KR" altLang="en-US" sz="700" b="1" u="sng">
              <a:solidFill>
                <a:schemeClr val="accent5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39" name="직사각형 138"/>
          <p:cNvSpPr/>
          <p:nvPr/>
        </p:nvSpPr>
        <p:spPr>
          <a:xfrm>
            <a:off x="2448293" y="2905384"/>
            <a:ext cx="1728000" cy="216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r>
              <a:rPr lang="ko-KR" altLang="en-US" sz="700" b="1" u="sng" smtClean="0">
                <a:solidFill>
                  <a:schemeClr val="accent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안산 쇼핑몰 반품</a:t>
            </a:r>
            <a:endParaRPr lang="ko-KR" altLang="en-US" sz="700" b="1" u="sng">
              <a:solidFill>
                <a:schemeClr val="accent5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40" name="직사각형 139"/>
          <p:cNvSpPr/>
          <p:nvPr/>
        </p:nvSpPr>
        <p:spPr>
          <a:xfrm>
            <a:off x="2448293" y="3121228"/>
            <a:ext cx="1728000" cy="216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r>
              <a:rPr lang="ko-KR" altLang="en-US" sz="700" b="1" u="sng" smtClean="0">
                <a:solidFill>
                  <a:schemeClr val="accent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안산 쇼핑몰 가용</a:t>
            </a:r>
            <a:endParaRPr lang="ko-KR" altLang="en-US" sz="700" b="1" u="sng">
              <a:solidFill>
                <a:schemeClr val="accent5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43" name="직사각형 142"/>
          <p:cNvSpPr/>
          <p:nvPr/>
        </p:nvSpPr>
        <p:spPr>
          <a:xfrm>
            <a:off x="2448293" y="3337239"/>
            <a:ext cx="1728000" cy="216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r>
              <a:rPr lang="ko-KR" altLang="en-US" sz="700" b="1" u="sng" smtClean="0">
                <a:solidFill>
                  <a:schemeClr val="accent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안산</a:t>
            </a:r>
            <a:endParaRPr lang="ko-KR" altLang="en-US" sz="700" b="1" u="sng">
              <a:solidFill>
                <a:schemeClr val="accent5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1727906" y="2133100"/>
            <a:ext cx="2568579" cy="180425"/>
          </a:xfrm>
          <a:prstGeom prst="rect">
            <a:avLst/>
          </a:prstGeom>
          <a:noFill/>
        </p:spPr>
        <p:txBody>
          <a:bodyPr wrap="none" lIns="36000" tIns="36000" rIns="36000" bIns="36000" rtlCol="0" anchor="ctr">
            <a:spAutoFit/>
          </a:bodyPr>
          <a:lstStyle/>
          <a:p>
            <a:r>
              <a:rPr lang="en-US" altLang="ko-KR" sz="700" smtClean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※ </a:t>
            </a:r>
            <a:r>
              <a:rPr lang="ko-KR" altLang="en-US" sz="700" smtClean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출고거부리스트에 등록된 재고는 유효재고에서 차감됩니다</a:t>
            </a:r>
            <a:r>
              <a:rPr lang="en-US" altLang="ko-KR" sz="700" smtClean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 sz="700" dirty="0">
              <a:solidFill>
                <a:srgbClr val="C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78" name="직사각형 277"/>
          <p:cNvSpPr/>
          <p:nvPr/>
        </p:nvSpPr>
        <p:spPr>
          <a:xfrm>
            <a:off x="1727906" y="2473373"/>
            <a:ext cx="720000" cy="2160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70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출고처코드</a:t>
            </a:r>
            <a:endParaRPr lang="ko-KR" altLang="en-US" sz="70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79" name="직사각형 278"/>
          <p:cNvSpPr/>
          <p:nvPr/>
        </p:nvSpPr>
        <p:spPr>
          <a:xfrm>
            <a:off x="1727906" y="2689373"/>
            <a:ext cx="720000" cy="216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/>
          <a:lstStyle/>
          <a:p>
            <a:pPr algn="ctr"/>
            <a:r>
              <a:rPr lang="en-US" altLang="ko-KR" sz="7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1500</a:t>
            </a:r>
            <a:endParaRPr lang="ko-KR" altLang="en-US" sz="70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80" name="직사각형 279"/>
          <p:cNvSpPr/>
          <p:nvPr/>
        </p:nvSpPr>
        <p:spPr>
          <a:xfrm>
            <a:off x="1727906" y="2905384"/>
            <a:ext cx="720000" cy="216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/>
          <a:lstStyle/>
          <a:p>
            <a:pPr algn="ctr"/>
            <a:r>
              <a:rPr lang="en-US" altLang="ko-KR" sz="7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5051</a:t>
            </a:r>
            <a:endParaRPr lang="ko-KR" altLang="en-US" sz="70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81" name="직사각형 280"/>
          <p:cNvSpPr/>
          <p:nvPr/>
        </p:nvSpPr>
        <p:spPr>
          <a:xfrm>
            <a:off x="1727906" y="3121228"/>
            <a:ext cx="720000" cy="216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/>
          <a:lstStyle/>
          <a:p>
            <a:pPr algn="ctr"/>
            <a:r>
              <a:rPr lang="en-US" altLang="ko-KR" sz="7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5052</a:t>
            </a:r>
            <a:endParaRPr lang="ko-KR" altLang="en-US" sz="70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82" name="직사각형 281"/>
          <p:cNvSpPr/>
          <p:nvPr/>
        </p:nvSpPr>
        <p:spPr>
          <a:xfrm>
            <a:off x="1727906" y="3337239"/>
            <a:ext cx="720000" cy="216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/>
          <a:lstStyle/>
          <a:p>
            <a:pPr algn="ctr"/>
            <a:r>
              <a:rPr lang="en-US" altLang="ko-KR" sz="7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5002</a:t>
            </a:r>
            <a:endParaRPr lang="ko-KR" altLang="en-US" sz="70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88" name="직사각형 287"/>
          <p:cNvSpPr/>
          <p:nvPr/>
        </p:nvSpPr>
        <p:spPr>
          <a:xfrm>
            <a:off x="2448293" y="3552603"/>
            <a:ext cx="1728000" cy="216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r>
              <a:rPr lang="ko-KR" altLang="en-US" sz="700" b="1" u="sng" smtClean="0">
                <a:solidFill>
                  <a:schemeClr val="accent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안산</a:t>
            </a:r>
            <a:r>
              <a:rPr lang="en-US" altLang="ko-KR" sz="700" b="1" u="sng" smtClean="0">
                <a:solidFill>
                  <a:schemeClr val="accent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3</a:t>
            </a:r>
            <a:r>
              <a:rPr lang="ko-KR" altLang="en-US" sz="700" b="1" u="sng" smtClean="0">
                <a:solidFill>
                  <a:schemeClr val="accent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차</a:t>
            </a:r>
            <a:endParaRPr lang="ko-KR" altLang="en-US" sz="700" b="1" u="sng">
              <a:solidFill>
                <a:schemeClr val="accent5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93" name="직사각형 292"/>
          <p:cNvSpPr/>
          <p:nvPr/>
        </p:nvSpPr>
        <p:spPr>
          <a:xfrm>
            <a:off x="2448293" y="3768614"/>
            <a:ext cx="1728000" cy="216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r>
              <a:rPr lang="ko-KR" altLang="en-US" sz="700" b="1" u="sng" smtClean="0">
                <a:solidFill>
                  <a:schemeClr val="accent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안산글로벌전용</a:t>
            </a:r>
            <a:endParaRPr lang="ko-KR" altLang="en-US" sz="700" b="1" u="sng">
              <a:solidFill>
                <a:schemeClr val="accent5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94" name="직사각형 293"/>
          <p:cNvSpPr/>
          <p:nvPr/>
        </p:nvSpPr>
        <p:spPr>
          <a:xfrm>
            <a:off x="2448293" y="3984458"/>
            <a:ext cx="1728000" cy="216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r>
              <a:rPr lang="ko-KR" altLang="en-US" sz="700" b="1" u="sng" smtClean="0">
                <a:solidFill>
                  <a:schemeClr val="accent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이동중 재고</a:t>
            </a:r>
            <a:endParaRPr lang="ko-KR" altLang="en-US" sz="700" b="1" u="sng">
              <a:solidFill>
                <a:schemeClr val="accent5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95" name="직사각형 294"/>
          <p:cNvSpPr/>
          <p:nvPr/>
        </p:nvSpPr>
        <p:spPr>
          <a:xfrm>
            <a:off x="2448293" y="4200469"/>
            <a:ext cx="1728000" cy="216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r>
              <a:rPr lang="ko-KR" altLang="en-US" sz="700" b="1" u="sng" smtClean="0">
                <a:solidFill>
                  <a:schemeClr val="accent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인천 쇼핑몰 반품</a:t>
            </a:r>
            <a:endParaRPr lang="ko-KR" altLang="en-US" sz="700" b="1" u="sng">
              <a:solidFill>
                <a:schemeClr val="accent5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24" name="직사각형 323"/>
          <p:cNvSpPr/>
          <p:nvPr/>
        </p:nvSpPr>
        <p:spPr>
          <a:xfrm>
            <a:off x="1727906" y="3552603"/>
            <a:ext cx="720000" cy="216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/>
          <a:lstStyle/>
          <a:p>
            <a:pPr algn="ctr"/>
            <a:r>
              <a:rPr lang="en-US" altLang="ko-KR" sz="7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5302</a:t>
            </a:r>
            <a:endParaRPr lang="ko-KR" altLang="en-US" sz="70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25" name="직사각형 324"/>
          <p:cNvSpPr/>
          <p:nvPr/>
        </p:nvSpPr>
        <p:spPr>
          <a:xfrm>
            <a:off x="1727906" y="3768614"/>
            <a:ext cx="720000" cy="216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/>
          <a:lstStyle/>
          <a:p>
            <a:pPr algn="ctr"/>
            <a:r>
              <a:rPr lang="en-US" altLang="ko-KR" sz="7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5055</a:t>
            </a:r>
            <a:endParaRPr lang="ko-KR" altLang="en-US" sz="70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26" name="직사각형 325"/>
          <p:cNvSpPr/>
          <p:nvPr/>
        </p:nvSpPr>
        <p:spPr>
          <a:xfrm>
            <a:off x="1727906" y="3984458"/>
            <a:ext cx="720000" cy="216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/>
          <a:lstStyle/>
          <a:p>
            <a:pPr algn="ctr"/>
            <a:r>
              <a:rPr lang="en-US" altLang="ko-KR" sz="7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5061</a:t>
            </a:r>
            <a:endParaRPr lang="ko-KR" altLang="en-US" sz="70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27" name="직사각형 326"/>
          <p:cNvSpPr/>
          <p:nvPr/>
        </p:nvSpPr>
        <p:spPr>
          <a:xfrm>
            <a:off x="1727906" y="4200469"/>
            <a:ext cx="720000" cy="216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/>
          <a:lstStyle/>
          <a:p>
            <a:pPr algn="ctr"/>
            <a:r>
              <a:rPr lang="en-US" altLang="ko-KR" sz="7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4051</a:t>
            </a:r>
            <a:endParaRPr lang="ko-KR" altLang="en-US" sz="70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96" name="그룹 95"/>
          <p:cNvGrpSpPr/>
          <p:nvPr/>
        </p:nvGrpSpPr>
        <p:grpSpPr>
          <a:xfrm>
            <a:off x="7775906" y="2472402"/>
            <a:ext cx="144000" cy="2808000"/>
            <a:chOff x="9321476" y="3197868"/>
            <a:chExt cx="144000" cy="2808000"/>
          </a:xfrm>
        </p:grpSpPr>
        <p:sp>
          <p:nvSpPr>
            <p:cNvPr id="333" name="직사각형 332">
              <a:extLst>
                <a:ext uri="{FF2B5EF4-FFF2-40B4-BE49-F238E27FC236}">
                  <a16:creationId xmlns="" xmlns:a16="http://schemas.microsoft.com/office/drawing/2014/main" id="{46DB708C-F6C9-4BC3-8798-5AEC8BA752B6}"/>
                </a:ext>
              </a:extLst>
            </p:cNvPr>
            <p:cNvSpPr/>
            <p:nvPr/>
          </p:nvSpPr>
          <p:spPr bwMode="auto">
            <a:xfrm>
              <a:off x="9321476" y="3197868"/>
              <a:ext cx="144000" cy="2808000"/>
            </a:xfrm>
            <a:prstGeom prst="rect">
              <a:avLst/>
            </a:prstGeom>
            <a:solidFill>
              <a:schemeClr val="bg1"/>
            </a:solidFill>
            <a:ln w="3175" cap="flat" cmpd="sng" algn="ctr">
              <a:solidFill>
                <a:schemeClr val="bg1">
                  <a:lumMod val="7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none" lIns="108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fontAlgn="base" latinLnBrk="0">
                <a:spcBef>
                  <a:spcPct val="0"/>
                </a:spcBef>
                <a:spcAft>
                  <a:spcPct val="0"/>
                </a:spcAft>
              </a:pPr>
              <a:endParaRPr kumimoji="1" lang="ko-KR" altLang="en-US" sz="700" kern="0">
                <a:solidFill>
                  <a:srgbClr val="000000"/>
                </a:solidFill>
                <a:latin typeface="+mn-ea"/>
              </a:endParaRPr>
            </a:p>
          </p:txBody>
        </p:sp>
        <p:sp>
          <p:nvSpPr>
            <p:cNvPr id="334" name="직사각형 333">
              <a:extLst>
                <a:ext uri="{FF2B5EF4-FFF2-40B4-BE49-F238E27FC236}">
                  <a16:creationId xmlns="" xmlns:a16="http://schemas.microsoft.com/office/drawing/2014/main" id="{CFA4A5C4-50A2-45F3-A6F7-13A35965A534}"/>
                </a:ext>
              </a:extLst>
            </p:cNvPr>
            <p:cNvSpPr/>
            <p:nvPr/>
          </p:nvSpPr>
          <p:spPr bwMode="auto">
            <a:xfrm>
              <a:off x="9321476" y="3197868"/>
              <a:ext cx="144000" cy="144000"/>
            </a:xfrm>
            <a:prstGeom prst="rect">
              <a:avLst/>
            </a:prstGeom>
            <a:noFill/>
            <a:ln w="317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non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fontAlgn="base" latinLnBrk="0">
                <a:spcBef>
                  <a:spcPct val="0"/>
                </a:spcBef>
                <a:spcAft>
                  <a:spcPct val="0"/>
                </a:spcAft>
              </a:pPr>
              <a:r>
                <a:rPr kumimoji="1" lang="ko-KR" altLang="en-US" sz="700" kern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▲</a:t>
              </a:r>
              <a:endParaRPr kumimoji="1" lang="ko-KR" altLang="en-US" sz="700" ker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endParaRPr>
            </a:p>
          </p:txBody>
        </p:sp>
        <p:sp>
          <p:nvSpPr>
            <p:cNvPr id="335" name="직사각형 334">
              <a:extLst>
                <a:ext uri="{FF2B5EF4-FFF2-40B4-BE49-F238E27FC236}">
                  <a16:creationId xmlns="" xmlns:a16="http://schemas.microsoft.com/office/drawing/2014/main" id="{DE0FE1FF-26CD-4D0A-80D5-87996CA74226}"/>
                </a:ext>
              </a:extLst>
            </p:cNvPr>
            <p:cNvSpPr/>
            <p:nvPr/>
          </p:nvSpPr>
          <p:spPr bwMode="auto">
            <a:xfrm>
              <a:off x="9321476" y="5861868"/>
              <a:ext cx="144000" cy="144000"/>
            </a:xfrm>
            <a:prstGeom prst="rect">
              <a:avLst/>
            </a:prstGeom>
            <a:noFill/>
            <a:ln w="317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non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fontAlgn="base" latinLnBrk="0">
                <a:spcBef>
                  <a:spcPct val="0"/>
                </a:spcBef>
                <a:spcAft>
                  <a:spcPct val="0"/>
                </a:spcAft>
              </a:pPr>
              <a:r>
                <a:rPr kumimoji="1" lang="ko-KR" altLang="en-US" sz="700" kern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▼</a:t>
              </a:r>
              <a:endParaRPr kumimoji="1" lang="ko-KR" altLang="en-US" sz="700" ker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endParaRPr>
            </a:p>
          </p:txBody>
        </p:sp>
        <p:sp>
          <p:nvSpPr>
            <p:cNvPr id="336" name="모서리가 둥근 직사각형 303">
              <a:extLst>
                <a:ext uri="{FF2B5EF4-FFF2-40B4-BE49-F238E27FC236}">
                  <a16:creationId xmlns="" xmlns:a16="http://schemas.microsoft.com/office/drawing/2014/main" id="{6B4E175A-EAD1-47E4-BC64-84F4A065D731}"/>
                </a:ext>
              </a:extLst>
            </p:cNvPr>
            <p:cNvSpPr/>
            <p:nvPr/>
          </p:nvSpPr>
          <p:spPr bwMode="auto">
            <a:xfrm>
              <a:off x="9357476" y="3342943"/>
              <a:ext cx="72000" cy="1800000"/>
            </a:xfrm>
            <a:prstGeom prst="roundRect">
              <a:avLst/>
            </a:prstGeom>
            <a:solidFill>
              <a:schemeClr val="bg1">
                <a:lumMod val="75000"/>
              </a:schemeClr>
            </a:solidFill>
            <a:ln w="3175" cap="flat" cmpd="sng" algn="ctr">
              <a:solidFill>
                <a:schemeClr val="bg1">
                  <a:lumMod val="7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none" lIns="36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fontAlgn="base" latinLnBrk="0">
                <a:spcBef>
                  <a:spcPct val="0"/>
                </a:spcBef>
                <a:spcAft>
                  <a:spcPct val="0"/>
                </a:spcAft>
              </a:pPr>
              <a:endParaRPr kumimoji="1" lang="ko-KR" altLang="en-US" sz="700" kern="0">
                <a:solidFill>
                  <a:srgbClr val="000000"/>
                </a:solidFill>
                <a:latin typeface="+mn-ea"/>
              </a:endParaRPr>
            </a:p>
          </p:txBody>
        </p:sp>
      </p:grpSp>
      <p:sp>
        <p:nvSpPr>
          <p:cNvPr id="337" name="직사각형 336"/>
          <p:cNvSpPr/>
          <p:nvPr/>
        </p:nvSpPr>
        <p:spPr>
          <a:xfrm>
            <a:off x="2448293" y="4416536"/>
            <a:ext cx="1728000" cy="216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r>
              <a:rPr lang="ko-KR" altLang="en-US" sz="700" b="1" u="sng" smtClean="0">
                <a:solidFill>
                  <a:schemeClr val="accent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현대백화점 신사</a:t>
            </a:r>
            <a:endParaRPr lang="ko-KR" altLang="en-US" sz="700" b="1" u="sng">
              <a:solidFill>
                <a:schemeClr val="accent5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38" name="직사각형 337"/>
          <p:cNvSpPr/>
          <p:nvPr/>
        </p:nvSpPr>
        <p:spPr>
          <a:xfrm>
            <a:off x="2448293" y="4632547"/>
            <a:ext cx="1728000" cy="216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r>
              <a:rPr lang="ko-KR" altLang="en-US" sz="700" b="1" u="sng" smtClean="0">
                <a:solidFill>
                  <a:schemeClr val="accent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갤러리아백화점 압구정</a:t>
            </a:r>
            <a:endParaRPr lang="ko-KR" altLang="en-US" sz="700" b="1" u="sng">
              <a:solidFill>
                <a:schemeClr val="accent5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39" name="직사각형 338"/>
          <p:cNvSpPr/>
          <p:nvPr/>
        </p:nvSpPr>
        <p:spPr>
          <a:xfrm>
            <a:off x="2448293" y="4848391"/>
            <a:ext cx="1728000" cy="216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r>
              <a:rPr lang="ko-KR" altLang="en-US" sz="700" b="1" u="sng" smtClean="0">
                <a:solidFill>
                  <a:schemeClr val="accent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롯데백화점 본점</a:t>
            </a:r>
            <a:endParaRPr lang="ko-KR" altLang="en-US" sz="700" b="1" u="sng">
              <a:solidFill>
                <a:schemeClr val="accent5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40" name="직사각형 339"/>
          <p:cNvSpPr/>
          <p:nvPr/>
        </p:nvSpPr>
        <p:spPr>
          <a:xfrm>
            <a:off x="2448293" y="5064402"/>
            <a:ext cx="1728000" cy="216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r>
              <a:rPr lang="ko-KR" altLang="en-US" sz="700" b="1" u="sng" smtClean="0">
                <a:solidFill>
                  <a:schemeClr val="accent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신세계백화점 강남</a:t>
            </a:r>
            <a:endParaRPr lang="ko-KR" altLang="en-US" sz="700" b="1" u="sng">
              <a:solidFill>
                <a:schemeClr val="accent5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55" name="직사각형 154"/>
          <p:cNvSpPr/>
          <p:nvPr/>
        </p:nvSpPr>
        <p:spPr>
          <a:xfrm>
            <a:off x="4174909" y="2473373"/>
            <a:ext cx="720000" cy="2160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70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재고</a:t>
            </a:r>
            <a:endParaRPr lang="ko-KR" altLang="en-US" sz="70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61" name="직사각형 160"/>
          <p:cNvSpPr/>
          <p:nvPr/>
        </p:nvSpPr>
        <p:spPr>
          <a:xfrm>
            <a:off x="4174909" y="2689373"/>
            <a:ext cx="720000" cy="216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/>
          <a:lstStyle/>
          <a:p>
            <a:pPr algn="ctr"/>
            <a:r>
              <a:rPr lang="en-US" altLang="ko-KR" sz="7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</a:t>
            </a:r>
            <a:endParaRPr lang="ko-KR" altLang="en-US" sz="70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65" name="직사각형 164"/>
          <p:cNvSpPr/>
          <p:nvPr/>
        </p:nvSpPr>
        <p:spPr>
          <a:xfrm>
            <a:off x="4174909" y="2905384"/>
            <a:ext cx="720000" cy="216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/>
          <a:lstStyle/>
          <a:p>
            <a:pPr algn="ctr"/>
            <a:r>
              <a:rPr lang="en-US" altLang="ko-KR" sz="7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</a:t>
            </a:r>
            <a:endParaRPr lang="ko-KR" altLang="en-US" sz="70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66" name="직사각형 165"/>
          <p:cNvSpPr/>
          <p:nvPr/>
        </p:nvSpPr>
        <p:spPr>
          <a:xfrm>
            <a:off x="4174909" y="3121228"/>
            <a:ext cx="720000" cy="216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/>
          <a:lstStyle/>
          <a:p>
            <a:pPr algn="ctr"/>
            <a:r>
              <a:rPr lang="en-US" altLang="ko-KR" sz="7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35</a:t>
            </a:r>
            <a:endParaRPr lang="ko-KR" altLang="en-US" sz="70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70" name="직사각형 169"/>
          <p:cNvSpPr/>
          <p:nvPr/>
        </p:nvSpPr>
        <p:spPr>
          <a:xfrm>
            <a:off x="4174909" y="3337239"/>
            <a:ext cx="720000" cy="216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/>
          <a:lstStyle/>
          <a:p>
            <a:pPr algn="ctr"/>
            <a:r>
              <a:rPr lang="en-US" altLang="ko-KR" sz="7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4</a:t>
            </a:r>
            <a:endParaRPr lang="ko-KR" altLang="en-US" sz="70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75" name="직사각형 174"/>
          <p:cNvSpPr/>
          <p:nvPr/>
        </p:nvSpPr>
        <p:spPr>
          <a:xfrm>
            <a:off x="4894909" y="2473373"/>
            <a:ext cx="720000" cy="2160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70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실시간</a:t>
            </a:r>
            <a:endParaRPr lang="ko-KR" altLang="en-US" sz="70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77" name="직사각형 176"/>
          <p:cNvSpPr/>
          <p:nvPr/>
        </p:nvSpPr>
        <p:spPr>
          <a:xfrm>
            <a:off x="4894909" y="2689373"/>
            <a:ext cx="720000" cy="216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/>
          <a:lstStyle/>
          <a:p>
            <a:pPr algn="ctr"/>
            <a:r>
              <a:rPr lang="en-US" altLang="ko-KR" sz="7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Y</a:t>
            </a:r>
            <a:endParaRPr lang="ko-KR" altLang="en-US" sz="70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79" name="직사각형 178"/>
          <p:cNvSpPr/>
          <p:nvPr/>
        </p:nvSpPr>
        <p:spPr>
          <a:xfrm>
            <a:off x="4894909" y="2905384"/>
            <a:ext cx="720000" cy="216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/>
          <a:lstStyle/>
          <a:p>
            <a:pPr algn="ctr"/>
            <a:r>
              <a:rPr lang="en-US" altLang="ko-KR" sz="7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Y</a:t>
            </a:r>
            <a:endParaRPr lang="ko-KR" altLang="en-US" sz="70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180" name="직사각형 179"/>
          <p:cNvSpPr/>
          <p:nvPr/>
        </p:nvSpPr>
        <p:spPr>
          <a:xfrm>
            <a:off x="4894909" y="3121228"/>
            <a:ext cx="720000" cy="216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/>
          <a:lstStyle/>
          <a:p>
            <a:pPr algn="ctr"/>
            <a:r>
              <a:rPr lang="en-US" altLang="ko-KR" sz="7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Y</a:t>
            </a:r>
            <a:endParaRPr lang="ko-KR" altLang="en-US" sz="70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85" name="직사각형 184"/>
          <p:cNvSpPr/>
          <p:nvPr/>
        </p:nvSpPr>
        <p:spPr>
          <a:xfrm>
            <a:off x="4894909" y="3337239"/>
            <a:ext cx="720000" cy="216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/>
          <a:lstStyle/>
          <a:p>
            <a:pPr algn="ctr"/>
            <a:r>
              <a:rPr lang="en-US" altLang="ko-KR" sz="7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Y</a:t>
            </a:r>
            <a:endParaRPr lang="ko-KR" altLang="en-US" sz="70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87" name="직사각형 186"/>
          <p:cNvSpPr/>
          <p:nvPr/>
        </p:nvSpPr>
        <p:spPr>
          <a:xfrm>
            <a:off x="5614909" y="2473373"/>
            <a:ext cx="720000" cy="2160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70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배치</a:t>
            </a:r>
            <a:endParaRPr lang="ko-KR" altLang="en-US" sz="70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88" name="직사각형 187"/>
          <p:cNvSpPr/>
          <p:nvPr/>
        </p:nvSpPr>
        <p:spPr>
          <a:xfrm>
            <a:off x="5614909" y="2689373"/>
            <a:ext cx="720000" cy="216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/>
          <a:lstStyle/>
          <a:p>
            <a:pPr algn="ctr"/>
            <a:r>
              <a:rPr lang="en-US" altLang="ko-KR" sz="7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Y</a:t>
            </a:r>
            <a:endParaRPr lang="ko-KR" altLang="en-US" sz="70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89" name="직사각형 188"/>
          <p:cNvSpPr/>
          <p:nvPr/>
        </p:nvSpPr>
        <p:spPr>
          <a:xfrm>
            <a:off x="5614909" y="2905384"/>
            <a:ext cx="720000" cy="216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/>
          <a:lstStyle/>
          <a:p>
            <a:pPr algn="ctr"/>
            <a:r>
              <a:rPr lang="en-US" altLang="ko-KR" sz="7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Y</a:t>
            </a:r>
            <a:endParaRPr lang="ko-KR" altLang="en-US" sz="70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90" name="직사각형 189"/>
          <p:cNvSpPr/>
          <p:nvPr/>
        </p:nvSpPr>
        <p:spPr>
          <a:xfrm>
            <a:off x="5614909" y="3121228"/>
            <a:ext cx="720000" cy="216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/>
          <a:lstStyle/>
          <a:p>
            <a:pPr algn="ctr"/>
            <a:r>
              <a:rPr lang="en-US" altLang="ko-KR" sz="7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Y</a:t>
            </a:r>
            <a:endParaRPr lang="ko-KR" altLang="en-US" sz="70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91" name="직사각형 190"/>
          <p:cNvSpPr/>
          <p:nvPr/>
        </p:nvSpPr>
        <p:spPr>
          <a:xfrm>
            <a:off x="5614909" y="3337239"/>
            <a:ext cx="720000" cy="216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/>
          <a:lstStyle/>
          <a:p>
            <a:pPr algn="ctr"/>
            <a:r>
              <a:rPr lang="en-US" altLang="ko-KR" sz="7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Y</a:t>
            </a:r>
            <a:endParaRPr lang="ko-KR" altLang="en-US" sz="70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93" name="직사각형 192"/>
          <p:cNvSpPr/>
          <p:nvPr/>
        </p:nvSpPr>
        <p:spPr>
          <a:xfrm>
            <a:off x="6334909" y="2473373"/>
            <a:ext cx="720000" cy="2160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70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출고처</a:t>
            </a:r>
            <a:endParaRPr lang="ko-KR" altLang="en-US" sz="70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94" name="직사각형 193"/>
          <p:cNvSpPr/>
          <p:nvPr/>
        </p:nvSpPr>
        <p:spPr>
          <a:xfrm>
            <a:off x="6334909" y="2689373"/>
            <a:ext cx="720000" cy="216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/>
          <a:lstStyle/>
          <a:p>
            <a:pPr algn="ctr"/>
            <a:r>
              <a:rPr lang="en-US" altLang="ko-KR" sz="7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Y</a:t>
            </a:r>
            <a:endParaRPr lang="ko-KR" altLang="en-US" sz="70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95" name="직사각형 194"/>
          <p:cNvSpPr/>
          <p:nvPr/>
        </p:nvSpPr>
        <p:spPr>
          <a:xfrm>
            <a:off x="6334909" y="2905384"/>
            <a:ext cx="720000" cy="216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/>
          <a:lstStyle/>
          <a:p>
            <a:pPr algn="ctr"/>
            <a:r>
              <a:rPr lang="en-US" altLang="ko-KR" sz="7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Y</a:t>
            </a:r>
            <a:endParaRPr lang="ko-KR" altLang="en-US" sz="70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96" name="직사각형 195"/>
          <p:cNvSpPr/>
          <p:nvPr/>
        </p:nvSpPr>
        <p:spPr>
          <a:xfrm>
            <a:off x="6334909" y="3121228"/>
            <a:ext cx="720000" cy="216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/>
          <a:lstStyle/>
          <a:p>
            <a:pPr algn="ctr"/>
            <a:r>
              <a:rPr lang="en-US" altLang="ko-KR" sz="7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Y</a:t>
            </a:r>
            <a:endParaRPr lang="ko-KR" altLang="en-US" sz="70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00" name="직사각형 199"/>
          <p:cNvSpPr/>
          <p:nvPr/>
        </p:nvSpPr>
        <p:spPr>
          <a:xfrm>
            <a:off x="6334909" y="3337239"/>
            <a:ext cx="720000" cy="216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/>
          <a:lstStyle/>
          <a:p>
            <a:pPr algn="ctr"/>
            <a:r>
              <a:rPr lang="en-US" altLang="ko-KR" sz="7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Y</a:t>
            </a:r>
            <a:endParaRPr lang="ko-KR" altLang="en-US" sz="70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29" name="직사각형 228"/>
          <p:cNvSpPr/>
          <p:nvPr/>
        </p:nvSpPr>
        <p:spPr>
          <a:xfrm>
            <a:off x="7054909" y="2473373"/>
            <a:ext cx="720000" cy="2160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70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출고거부</a:t>
            </a:r>
            <a:endParaRPr lang="ko-KR" altLang="en-US" sz="70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30" name="직사각형 229"/>
          <p:cNvSpPr/>
          <p:nvPr/>
        </p:nvSpPr>
        <p:spPr>
          <a:xfrm>
            <a:off x="7054909" y="2689373"/>
            <a:ext cx="720000" cy="216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/>
          <a:lstStyle/>
          <a:p>
            <a:pPr algn="ctr"/>
            <a:r>
              <a:rPr lang="en-US" altLang="ko-KR" sz="7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N</a:t>
            </a:r>
            <a:endParaRPr lang="ko-KR" altLang="en-US" sz="70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32" name="직사각형 231"/>
          <p:cNvSpPr/>
          <p:nvPr/>
        </p:nvSpPr>
        <p:spPr>
          <a:xfrm>
            <a:off x="7054909" y="2905384"/>
            <a:ext cx="720000" cy="216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/>
          <a:lstStyle/>
          <a:p>
            <a:pPr algn="ctr"/>
            <a:r>
              <a:rPr lang="en-US" altLang="ko-KR" sz="7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N</a:t>
            </a:r>
            <a:endParaRPr lang="ko-KR" altLang="en-US" sz="70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33" name="직사각형 232"/>
          <p:cNvSpPr/>
          <p:nvPr/>
        </p:nvSpPr>
        <p:spPr>
          <a:xfrm>
            <a:off x="7054909" y="3121228"/>
            <a:ext cx="720000" cy="216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/>
          <a:lstStyle/>
          <a:p>
            <a:pPr algn="ctr"/>
            <a:r>
              <a:rPr lang="en-US" altLang="ko-KR" sz="7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N</a:t>
            </a:r>
            <a:endParaRPr lang="ko-KR" altLang="en-US" sz="70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55" name="직사각형 254"/>
          <p:cNvSpPr/>
          <p:nvPr/>
        </p:nvSpPr>
        <p:spPr>
          <a:xfrm>
            <a:off x="7054909" y="3337239"/>
            <a:ext cx="720000" cy="216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/>
          <a:lstStyle/>
          <a:p>
            <a:pPr algn="ctr"/>
            <a:r>
              <a:rPr lang="en-US" altLang="ko-KR" sz="7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N</a:t>
            </a:r>
            <a:endParaRPr lang="ko-KR" altLang="en-US" sz="70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96" name="직사각형 295"/>
          <p:cNvSpPr/>
          <p:nvPr/>
        </p:nvSpPr>
        <p:spPr>
          <a:xfrm>
            <a:off x="4174909" y="3552603"/>
            <a:ext cx="720000" cy="216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/>
          <a:lstStyle/>
          <a:p>
            <a:pPr algn="ctr"/>
            <a:r>
              <a:rPr lang="en-US" altLang="ko-KR" sz="7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</a:t>
            </a:r>
            <a:endParaRPr lang="ko-KR" altLang="en-US" sz="70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97" name="직사각형 296"/>
          <p:cNvSpPr/>
          <p:nvPr/>
        </p:nvSpPr>
        <p:spPr>
          <a:xfrm>
            <a:off x="4174909" y="3768614"/>
            <a:ext cx="720000" cy="216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/>
          <a:lstStyle/>
          <a:p>
            <a:pPr algn="ctr"/>
            <a:r>
              <a:rPr lang="en-US" altLang="ko-KR" sz="7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</a:t>
            </a:r>
            <a:endParaRPr lang="ko-KR" altLang="en-US" sz="70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98" name="직사각형 297"/>
          <p:cNvSpPr/>
          <p:nvPr/>
        </p:nvSpPr>
        <p:spPr>
          <a:xfrm>
            <a:off x="4174909" y="3984458"/>
            <a:ext cx="720000" cy="216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/>
          <a:lstStyle/>
          <a:p>
            <a:pPr algn="ctr"/>
            <a:r>
              <a:rPr lang="en-US" altLang="ko-KR" sz="7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</a:t>
            </a:r>
            <a:endParaRPr lang="ko-KR" altLang="en-US" sz="70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99" name="직사각형 298"/>
          <p:cNvSpPr/>
          <p:nvPr/>
        </p:nvSpPr>
        <p:spPr>
          <a:xfrm>
            <a:off x="4174909" y="4200469"/>
            <a:ext cx="720000" cy="216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/>
          <a:lstStyle/>
          <a:p>
            <a:pPr algn="ctr"/>
            <a:r>
              <a:rPr lang="en-US" altLang="ko-KR" sz="7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</a:t>
            </a:r>
            <a:endParaRPr lang="ko-KR" altLang="en-US" sz="70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02" name="직사각형 301"/>
          <p:cNvSpPr/>
          <p:nvPr/>
        </p:nvSpPr>
        <p:spPr>
          <a:xfrm>
            <a:off x="4894909" y="3552603"/>
            <a:ext cx="720000" cy="216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/>
          <a:lstStyle/>
          <a:p>
            <a:pPr algn="ctr"/>
            <a:r>
              <a:rPr lang="en-US" altLang="ko-KR" sz="7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Y</a:t>
            </a:r>
            <a:endParaRPr lang="ko-KR" altLang="en-US" sz="70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05" name="직사각형 304"/>
          <p:cNvSpPr/>
          <p:nvPr/>
        </p:nvSpPr>
        <p:spPr>
          <a:xfrm>
            <a:off x="4894909" y="3768614"/>
            <a:ext cx="720000" cy="216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/>
          <a:lstStyle/>
          <a:p>
            <a:pPr algn="ctr"/>
            <a:r>
              <a:rPr lang="en-US" altLang="ko-KR" sz="7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Y</a:t>
            </a:r>
            <a:endParaRPr lang="ko-KR" altLang="en-US" sz="70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08" name="직사각형 307"/>
          <p:cNvSpPr/>
          <p:nvPr/>
        </p:nvSpPr>
        <p:spPr>
          <a:xfrm>
            <a:off x="4894909" y="3984458"/>
            <a:ext cx="720000" cy="216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/>
          <a:lstStyle/>
          <a:p>
            <a:pPr algn="ctr"/>
            <a:r>
              <a:rPr lang="en-US" altLang="ko-KR" sz="7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Y</a:t>
            </a:r>
            <a:endParaRPr lang="ko-KR" altLang="en-US" sz="70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09" name="직사각형 308"/>
          <p:cNvSpPr/>
          <p:nvPr/>
        </p:nvSpPr>
        <p:spPr>
          <a:xfrm>
            <a:off x="4894909" y="4200469"/>
            <a:ext cx="720000" cy="216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/>
          <a:lstStyle/>
          <a:p>
            <a:pPr algn="ctr"/>
            <a:r>
              <a:rPr lang="en-US" altLang="ko-KR" sz="7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Y</a:t>
            </a:r>
            <a:endParaRPr lang="ko-KR" altLang="en-US" sz="70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10" name="직사각형 309"/>
          <p:cNvSpPr/>
          <p:nvPr/>
        </p:nvSpPr>
        <p:spPr>
          <a:xfrm>
            <a:off x="5614909" y="3552603"/>
            <a:ext cx="720000" cy="216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/>
          <a:lstStyle/>
          <a:p>
            <a:pPr algn="ctr"/>
            <a:r>
              <a:rPr lang="en-US" altLang="ko-KR" sz="7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Y</a:t>
            </a:r>
            <a:endParaRPr lang="ko-KR" altLang="en-US" sz="70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11" name="직사각형 310"/>
          <p:cNvSpPr/>
          <p:nvPr/>
        </p:nvSpPr>
        <p:spPr>
          <a:xfrm>
            <a:off x="5614909" y="3768614"/>
            <a:ext cx="720000" cy="216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/>
          <a:lstStyle/>
          <a:p>
            <a:pPr algn="ctr"/>
            <a:r>
              <a:rPr lang="en-US" altLang="ko-KR" sz="7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N</a:t>
            </a:r>
            <a:endParaRPr lang="ko-KR" altLang="en-US" sz="70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13" name="직사각형 312"/>
          <p:cNvSpPr/>
          <p:nvPr/>
        </p:nvSpPr>
        <p:spPr>
          <a:xfrm>
            <a:off x="5614909" y="3984458"/>
            <a:ext cx="720000" cy="216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/>
          <a:lstStyle/>
          <a:p>
            <a:pPr algn="ctr"/>
            <a:r>
              <a:rPr lang="en-US" altLang="ko-KR" sz="7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Y</a:t>
            </a:r>
            <a:endParaRPr lang="ko-KR" altLang="en-US" sz="70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14" name="직사각형 313"/>
          <p:cNvSpPr/>
          <p:nvPr/>
        </p:nvSpPr>
        <p:spPr>
          <a:xfrm>
            <a:off x="5614909" y="4200469"/>
            <a:ext cx="720000" cy="216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/>
          <a:lstStyle/>
          <a:p>
            <a:pPr algn="ctr"/>
            <a:r>
              <a:rPr lang="en-US" altLang="ko-KR" sz="7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Y</a:t>
            </a:r>
            <a:endParaRPr lang="ko-KR" altLang="en-US" sz="70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16" name="직사각형 315"/>
          <p:cNvSpPr/>
          <p:nvPr/>
        </p:nvSpPr>
        <p:spPr>
          <a:xfrm>
            <a:off x="6334909" y="3552603"/>
            <a:ext cx="720000" cy="216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/>
          <a:lstStyle/>
          <a:p>
            <a:pPr algn="ctr"/>
            <a:r>
              <a:rPr lang="en-US" altLang="ko-KR" sz="7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Y</a:t>
            </a:r>
            <a:endParaRPr lang="ko-KR" altLang="en-US" sz="70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17" name="직사각형 316"/>
          <p:cNvSpPr/>
          <p:nvPr/>
        </p:nvSpPr>
        <p:spPr>
          <a:xfrm>
            <a:off x="6334909" y="3768614"/>
            <a:ext cx="720000" cy="216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/>
          <a:lstStyle/>
          <a:p>
            <a:pPr algn="ctr"/>
            <a:r>
              <a:rPr lang="en-US" altLang="ko-KR" sz="7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Y</a:t>
            </a:r>
            <a:endParaRPr lang="ko-KR" altLang="en-US" sz="70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18" name="직사각형 317"/>
          <p:cNvSpPr/>
          <p:nvPr/>
        </p:nvSpPr>
        <p:spPr>
          <a:xfrm>
            <a:off x="6334909" y="3984458"/>
            <a:ext cx="720000" cy="216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/>
          <a:lstStyle/>
          <a:p>
            <a:pPr algn="ctr"/>
            <a:r>
              <a:rPr lang="en-US" altLang="ko-KR" sz="7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Y</a:t>
            </a:r>
            <a:endParaRPr lang="ko-KR" altLang="en-US" sz="70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19" name="직사각형 318"/>
          <p:cNvSpPr/>
          <p:nvPr/>
        </p:nvSpPr>
        <p:spPr>
          <a:xfrm>
            <a:off x="6334909" y="4200469"/>
            <a:ext cx="720000" cy="216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/>
          <a:lstStyle/>
          <a:p>
            <a:pPr algn="ctr"/>
            <a:r>
              <a:rPr lang="en-US" altLang="ko-KR" sz="7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Y</a:t>
            </a:r>
            <a:endParaRPr lang="ko-KR" altLang="en-US" sz="70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20" name="직사각형 319"/>
          <p:cNvSpPr/>
          <p:nvPr/>
        </p:nvSpPr>
        <p:spPr>
          <a:xfrm>
            <a:off x="7054909" y="3552603"/>
            <a:ext cx="720000" cy="216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/>
          <a:lstStyle/>
          <a:p>
            <a:pPr algn="ctr"/>
            <a:r>
              <a:rPr lang="en-US" altLang="ko-KR" sz="7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N</a:t>
            </a:r>
            <a:endParaRPr lang="ko-KR" altLang="en-US" sz="70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21" name="직사각형 320"/>
          <p:cNvSpPr/>
          <p:nvPr/>
        </p:nvSpPr>
        <p:spPr>
          <a:xfrm>
            <a:off x="7054909" y="3768614"/>
            <a:ext cx="720000" cy="216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/>
          <a:lstStyle/>
          <a:p>
            <a:pPr algn="ctr"/>
            <a:r>
              <a:rPr lang="en-US" altLang="ko-KR" sz="7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N</a:t>
            </a:r>
            <a:endParaRPr lang="ko-KR" altLang="en-US" sz="70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22" name="직사각형 321"/>
          <p:cNvSpPr/>
          <p:nvPr/>
        </p:nvSpPr>
        <p:spPr>
          <a:xfrm>
            <a:off x="7054909" y="3984458"/>
            <a:ext cx="720000" cy="216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/>
          <a:lstStyle/>
          <a:p>
            <a:pPr algn="ctr"/>
            <a:r>
              <a:rPr lang="en-US" altLang="ko-KR" sz="7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N</a:t>
            </a:r>
            <a:endParaRPr lang="ko-KR" altLang="en-US" sz="70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23" name="직사각형 322"/>
          <p:cNvSpPr/>
          <p:nvPr/>
        </p:nvSpPr>
        <p:spPr>
          <a:xfrm>
            <a:off x="7054909" y="4200469"/>
            <a:ext cx="720000" cy="216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/>
          <a:lstStyle/>
          <a:p>
            <a:pPr algn="ctr"/>
            <a:r>
              <a:rPr lang="en-US" altLang="ko-KR" sz="7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N</a:t>
            </a:r>
            <a:endParaRPr lang="ko-KR" altLang="en-US" sz="70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41" name="직사각형 340"/>
          <p:cNvSpPr/>
          <p:nvPr/>
        </p:nvSpPr>
        <p:spPr>
          <a:xfrm>
            <a:off x="4174909" y="4416536"/>
            <a:ext cx="720000" cy="216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/>
          <a:lstStyle/>
          <a:p>
            <a:pPr algn="ctr"/>
            <a:r>
              <a:rPr lang="en-US" altLang="ko-KR" sz="7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</a:t>
            </a:r>
            <a:endParaRPr lang="ko-KR" altLang="en-US" sz="70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42" name="직사각형 341"/>
          <p:cNvSpPr/>
          <p:nvPr/>
        </p:nvSpPr>
        <p:spPr>
          <a:xfrm>
            <a:off x="4174909" y="4632547"/>
            <a:ext cx="720000" cy="216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/>
          <a:lstStyle/>
          <a:p>
            <a:pPr algn="ctr"/>
            <a:r>
              <a:rPr lang="en-US" altLang="ko-KR" sz="7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</a:t>
            </a:r>
            <a:endParaRPr lang="ko-KR" altLang="en-US" sz="70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43" name="직사각형 342"/>
          <p:cNvSpPr/>
          <p:nvPr/>
        </p:nvSpPr>
        <p:spPr>
          <a:xfrm>
            <a:off x="4174909" y="4848391"/>
            <a:ext cx="720000" cy="216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/>
          <a:lstStyle/>
          <a:p>
            <a:pPr algn="ctr"/>
            <a:r>
              <a:rPr lang="en-US" altLang="ko-KR" sz="7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</a:t>
            </a:r>
            <a:endParaRPr lang="ko-KR" altLang="en-US" sz="70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44" name="직사각형 343"/>
          <p:cNvSpPr/>
          <p:nvPr/>
        </p:nvSpPr>
        <p:spPr>
          <a:xfrm>
            <a:off x="4174909" y="5064402"/>
            <a:ext cx="720000" cy="216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/>
          <a:lstStyle/>
          <a:p>
            <a:pPr algn="ctr"/>
            <a:r>
              <a:rPr lang="en-US" altLang="ko-KR" sz="7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</a:t>
            </a:r>
            <a:endParaRPr lang="ko-KR" altLang="en-US" sz="70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45" name="직사각형 344"/>
          <p:cNvSpPr/>
          <p:nvPr/>
        </p:nvSpPr>
        <p:spPr>
          <a:xfrm>
            <a:off x="4894909" y="4416536"/>
            <a:ext cx="720000" cy="216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/>
          <a:lstStyle/>
          <a:p>
            <a:pPr algn="ctr"/>
            <a:r>
              <a:rPr lang="en-US" altLang="ko-KR" sz="7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Y</a:t>
            </a:r>
            <a:endParaRPr lang="ko-KR" altLang="en-US" sz="70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46" name="직사각형 345"/>
          <p:cNvSpPr/>
          <p:nvPr/>
        </p:nvSpPr>
        <p:spPr>
          <a:xfrm>
            <a:off x="4894909" y="4632547"/>
            <a:ext cx="720000" cy="216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/>
          <a:lstStyle/>
          <a:p>
            <a:pPr algn="ctr"/>
            <a:r>
              <a:rPr lang="en-US" altLang="ko-KR" sz="7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Y</a:t>
            </a:r>
            <a:endParaRPr lang="ko-KR" altLang="en-US" sz="70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47" name="직사각형 346"/>
          <p:cNvSpPr/>
          <p:nvPr/>
        </p:nvSpPr>
        <p:spPr>
          <a:xfrm>
            <a:off x="4894909" y="4848391"/>
            <a:ext cx="720000" cy="216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/>
          <a:lstStyle/>
          <a:p>
            <a:pPr algn="ctr"/>
            <a:r>
              <a:rPr lang="en-US" altLang="ko-KR" sz="7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Y</a:t>
            </a:r>
            <a:endParaRPr lang="ko-KR" altLang="en-US" sz="70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48" name="직사각형 347"/>
          <p:cNvSpPr/>
          <p:nvPr/>
        </p:nvSpPr>
        <p:spPr>
          <a:xfrm>
            <a:off x="4894909" y="5064402"/>
            <a:ext cx="720000" cy="216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/>
          <a:lstStyle/>
          <a:p>
            <a:pPr algn="ctr"/>
            <a:r>
              <a:rPr lang="en-US" altLang="ko-KR" sz="7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Y</a:t>
            </a:r>
            <a:endParaRPr lang="ko-KR" altLang="en-US" sz="70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49" name="직사각형 348"/>
          <p:cNvSpPr/>
          <p:nvPr/>
        </p:nvSpPr>
        <p:spPr>
          <a:xfrm>
            <a:off x="5614909" y="4416536"/>
            <a:ext cx="720000" cy="216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/>
          <a:lstStyle/>
          <a:p>
            <a:pPr algn="ctr"/>
            <a:r>
              <a:rPr lang="en-US" altLang="ko-KR" sz="7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Y</a:t>
            </a:r>
            <a:endParaRPr lang="ko-KR" altLang="en-US" sz="70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50" name="직사각형 349"/>
          <p:cNvSpPr/>
          <p:nvPr/>
        </p:nvSpPr>
        <p:spPr>
          <a:xfrm>
            <a:off x="5614909" y="4632547"/>
            <a:ext cx="720000" cy="216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/>
          <a:lstStyle/>
          <a:p>
            <a:pPr algn="ctr"/>
            <a:r>
              <a:rPr lang="en-US" altLang="ko-KR" sz="7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Y</a:t>
            </a:r>
            <a:endParaRPr lang="ko-KR" altLang="en-US" sz="70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51" name="직사각형 350"/>
          <p:cNvSpPr/>
          <p:nvPr/>
        </p:nvSpPr>
        <p:spPr>
          <a:xfrm>
            <a:off x="5614909" y="4848391"/>
            <a:ext cx="720000" cy="216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/>
          <a:lstStyle/>
          <a:p>
            <a:pPr algn="ctr"/>
            <a:r>
              <a:rPr lang="en-US" altLang="ko-KR" sz="7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Y</a:t>
            </a:r>
            <a:endParaRPr lang="ko-KR" altLang="en-US" sz="70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52" name="직사각형 351"/>
          <p:cNvSpPr/>
          <p:nvPr/>
        </p:nvSpPr>
        <p:spPr>
          <a:xfrm>
            <a:off x="5614909" y="5064402"/>
            <a:ext cx="720000" cy="216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/>
          <a:lstStyle/>
          <a:p>
            <a:pPr algn="ctr"/>
            <a:r>
              <a:rPr lang="en-US" altLang="ko-KR" sz="7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Y</a:t>
            </a:r>
            <a:endParaRPr lang="ko-KR" altLang="en-US" sz="70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53" name="직사각형 352"/>
          <p:cNvSpPr/>
          <p:nvPr/>
        </p:nvSpPr>
        <p:spPr>
          <a:xfrm>
            <a:off x="6334909" y="4416536"/>
            <a:ext cx="720000" cy="216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/>
          <a:lstStyle/>
          <a:p>
            <a:pPr algn="ctr"/>
            <a:r>
              <a:rPr lang="en-US" altLang="ko-KR" sz="7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N</a:t>
            </a:r>
            <a:endParaRPr lang="ko-KR" altLang="en-US" sz="70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54" name="직사각형 353"/>
          <p:cNvSpPr/>
          <p:nvPr/>
        </p:nvSpPr>
        <p:spPr>
          <a:xfrm>
            <a:off x="6334909" y="4632547"/>
            <a:ext cx="720000" cy="216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/>
          <a:lstStyle/>
          <a:p>
            <a:pPr algn="ctr"/>
            <a:r>
              <a:rPr lang="en-US" altLang="ko-KR" sz="7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N</a:t>
            </a:r>
            <a:endParaRPr lang="ko-KR" altLang="en-US" sz="70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55" name="직사각형 354"/>
          <p:cNvSpPr/>
          <p:nvPr/>
        </p:nvSpPr>
        <p:spPr>
          <a:xfrm>
            <a:off x="6334909" y="4848391"/>
            <a:ext cx="720000" cy="216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/>
          <a:lstStyle/>
          <a:p>
            <a:pPr algn="ctr"/>
            <a:r>
              <a:rPr lang="en-US" altLang="ko-KR" sz="7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N</a:t>
            </a:r>
            <a:endParaRPr lang="ko-KR" altLang="en-US" sz="70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56" name="직사각형 355"/>
          <p:cNvSpPr/>
          <p:nvPr/>
        </p:nvSpPr>
        <p:spPr>
          <a:xfrm>
            <a:off x="6334909" y="5064402"/>
            <a:ext cx="720000" cy="216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/>
          <a:lstStyle/>
          <a:p>
            <a:pPr algn="ctr"/>
            <a:r>
              <a:rPr lang="en-US" altLang="ko-KR" sz="7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N</a:t>
            </a:r>
            <a:endParaRPr lang="ko-KR" altLang="en-US" sz="70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57" name="직사각형 356"/>
          <p:cNvSpPr/>
          <p:nvPr/>
        </p:nvSpPr>
        <p:spPr>
          <a:xfrm>
            <a:off x="7054909" y="4416536"/>
            <a:ext cx="720000" cy="216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/>
          <a:lstStyle/>
          <a:p>
            <a:pPr algn="ctr"/>
            <a:r>
              <a:rPr lang="en-US" altLang="ko-KR" sz="7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N</a:t>
            </a:r>
            <a:endParaRPr lang="ko-KR" altLang="en-US" sz="70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58" name="직사각형 357"/>
          <p:cNvSpPr/>
          <p:nvPr/>
        </p:nvSpPr>
        <p:spPr>
          <a:xfrm>
            <a:off x="7054909" y="4632547"/>
            <a:ext cx="720000" cy="216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/>
          <a:lstStyle/>
          <a:p>
            <a:pPr algn="ctr"/>
            <a:r>
              <a:rPr lang="en-US" altLang="ko-KR" sz="7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N</a:t>
            </a:r>
            <a:endParaRPr lang="ko-KR" altLang="en-US" sz="70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59" name="직사각형 358"/>
          <p:cNvSpPr/>
          <p:nvPr/>
        </p:nvSpPr>
        <p:spPr>
          <a:xfrm>
            <a:off x="7054909" y="4848391"/>
            <a:ext cx="720000" cy="216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/>
          <a:lstStyle/>
          <a:p>
            <a:pPr algn="ctr"/>
            <a:r>
              <a:rPr lang="en-US" altLang="ko-KR" sz="7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N</a:t>
            </a:r>
            <a:endParaRPr lang="ko-KR" altLang="en-US" sz="70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60" name="직사각형 359"/>
          <p:cNvSpPr/>
          <p:nvPr/>
        </p:nvSpPr>
        <p:spPr>
          <a:xfrm>
            <a:off x="7054909" y="5064402"/>
            <a:ext cx="720000" cy="216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/>
          <a:lstStyle/>
          <a:p>
            <a:pPr algn="ctr"/>
            <a:r>
              <a:rPr lang="en-US" altLang="ko-KR" sz="7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N</a:t>
            </a:r>
            <a:endParaRPr lang="ko-KR" altLang="en-US" sz="70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61" name="직사각형 360"/>
          <p:cNvSpPr/>
          <p:nvPr/>
        </p:nvSpPr>
        <p:spPr>
          <a:xfrm>
            <a:off x="1727906" y="4416536"/>
            <a:ext cx="720000" cy="216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/>
          <a:lstStyle/>
          <a:p>
            <a:pPr algn="ctr"/>
            <a:r>
              <a:rPr lang="en-US" altLang="ko-KR" sz="7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5302</a:t>
            </a:r>
            <a:endParaRPr lang="ko-KR" altLang="en-US" sz="70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62" name="직사각형 361"/>
          <p:cNvSpPr/>
          <p:nvPr/>
        </p:nvSpPr>
        <p:spPr>
          <a:xfrm>
            <a:off x="1727906" y="4632547"/>
            <a:ext cx="720000" cy="216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/>
          <a:lstStyle/>
          <a:p>
            <a:pPr algn="ctr"/>
            <a:r>
              <a:rPr lang="en-US" altLang="ko-KR" sz="7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5055</a:t>
            </a:r>
            <a:endParaRPr lang="ko-KR" altLang="en-US" sz="70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63" name="직사각형 362"/>
          <p:cNvSpPr/>
          <p:nvPr/>
        </p:nvSpPr>
        <p:spPr>
          <a:xfrm>
            <a:off x="1727906" y="4848391"/>
            <a:ext cx="720000" cy="216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/>
          <a:lstStyle/>
          <a:p>
            <a:pPr algn="ctr"/>
            <a:r>
              <a:rPr lang="en-US" altLang="ko-KR" sz="7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5061</a:t>
            </a:r>
            <a:endParaRPr lang="ko-KR" altLang="en-US" sz="70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64" name="직사각형 363"/>
          <p:cNvSpPr/>
          <p:nvPr/>
        </p:nvSpPr>
        <p:spPr>
          <a:xfrm>
            <a:off x="1727906" y="5064402"/>
            <a:ext cx="720000" cy="216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/>
          <a:lstStyle/>
          <a:p>
            <a:pPr algn="ctr"/>
            <a:r>
              <a:rPr lang="en-US" altLang="ko-KR" sz="7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4051</a:t>
            </a:r>
            <a:endParaRPr lang="ko-KR" altLang="en-US" sz="70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370" name="그룹 369"/>
          <p:cNvGrpSpPr/>
          <p:nvPr/>
        </p:nvGrpSpPr>
        <p:grpSpPr>
          <a:xfrm>
            <a:off x="1727223" y="4361145"/>
            <a:ext cx="6048000" cy="108000"/>
            <a:chOff x="1367906" y="5198893"/>
            <a:chExt cx="7992000" cy="108000"/>
          </a:xfrm>
        </p:grpSpPr>
        <p:sp>
          <p:nvSpPr>
            <p:cNvPr id="371" name="Fill">
              <a:extLst>
                <a:ext uri="{FF2B5EF4-FFF2-40B4-BE49-F238E27FC236}">
                  <a16:creationId xmlns="" xmlns:a16="http://schemas.microsoft.com/office/drawing/2014/main" id="{037FE56A-459C-4D17-A0B7-95ABD183D048}"/>
                </a:ext>
              </a:extLst>
            </p:cNvPr>
            <p:cNvSpPr>
              <a:spLocks/>
            </p:cNvSpPr>
            <p:nvPr/>
          </p:nvSpPr>
          <p:spPr bwMode="auto">
            <a:xfrm rot="16200000">
              <a:off x="5309906" y="1256893"/>
              <a:ext cx="108000" cy="7992000"/>
            </a:xfrm>
            <a:custGeom>
              <a:avLst/>
              <a:gdLst>
                <a:gd name="T0" fmla="*/ 74 w 151"/>
                <a:gd name="T1" fmla="*/ 588 h 588"/>
                <a:gd name="T2" fmla="*/ 151 w 151"/>
                <a:gd name="T3" fmla="*/ 518 h 588"/>
                <a:gd name="T4" fmla="*/ 74 w 151"/>
                <a:gd name="T5" fmla="*/ 441 h 588"/>
                <a:gd name="T6" fmla="*/ 151 w 151"/>
                <a:gd name="T7" fmla="*/ 375 h 588"/>
                <a:gd name="T8" fmla="*/ 74 w 151"/>
                <a:gd name="T9" fmla="*/ 294 h 588"/>
                <a:gd name="T10" fmla="*/ 151 w 151"/>
                <a:gd name="T11" fmla="*/ 231 h 588"/>
                <a:gd name="T12" fmla="*/ 74 w 151"/>
                <a:gd name="T13" fmla="*/ 147 h 588"/>
                <a:gd name="T14" fmla="*/ 151 w 151"/>
                <a:gd name="T15" fmla="*/ 88 h 588"/>
                <a:gd name="T16" fmla="*/ 74 w 151"/>
                <a:gd name="T17" fmla="*/ 0 h 588"/>
                <a:gd name="T18" fmla="*/ 0 w 151"/>
                <a:gd name="T19" fmla="*/ 0 h 588"/>
                <a:gd name="T20" fmla="*/ 78 w 151"/>
                <a:gd name="T21" fmla="*/ 88 h 588"/>
                <a:gd name="T22" fmla="*/ 0 w 151"/>
                <a:gd name="T23" fmla="*/ 147 h 588"/>
                <a:gd name="T24" fmla="*/ 78 w 151"/>
                <a:gd name="T25" fmla="*/ 231 h 588"/>
                <a:gd name="T26" fmla="*/ 0 w 151"/>
                <a:gd name="T27" fmla="*/ 294 h 588"/>
                <a:gd name="T28" fmla="*/ 78 w 151"/>
                <a:gd name="T29" fmla="*/ 375 h 588"/>
                <a:gd name="T30" fmla="*/ 0 w 151"/>
                <a:gd name="T31" fmla="*/ 441 h 588"/>
                <a:gd name="T32" fmla="*/ 78 w 151"/>
                <a:gd name="T33" fmla="*/ 518 h 588"/>
                <a:gd name="T34" fmla="*/ 0 w 151"/>
                <a:gd name="T35" fmla="*/ 588 h 588"/>
                <a:gd name="T36" fmla="*/ 74 w 151"/>
                <a:gd name="T37" fmla="*/ 588 h 5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51" h="588">
                  <a:moveTo>
                    <a:pt x="74" y="588"/>
                  </a:moveTo>
                  <a:lnTo>
                    <a:pt x="151" y="518"/>
                  </a:lnTo>
                  <a:lnTo>
                    <a:pt x="74" y="441"/>
                  </a:lnTo>
                  <a:lnTo>
                    <a:pt x="151" y="375"/>
                  </a:lnTo>
                  <a:lnTo>
                    <a:pt x="74" y="294"/>
                  </a:lnTo>
                  <a:lnTo>
                    <a:pt x="151" y="231"/>
                  </a:lnTo>
                  <a:lnTo>
                    <a:pt x="74" y="147"/>
                  </a:lnTo>
                  <a:lnTo>
                    <a:pt x="151" y="88"/>
                  </a:lnTo>
                  <a:lnTo>
                    <a:pt x="74" y="0"/>
                  </a:lnTo>
                  <a:lnTo>
                    <a:pt x="0" y="0"/>
                  </a:lnTo>
                  <a:lnTo>
                    <a:pt x="78" y="88"/>
                  </a:lnTo>
                  <a:lnTo>
                    <a:pt x="0" y="147"/>
                  </a:lnTo>
                  <a:lnTo>
                    <a:pt x="78" y="231"/>
                  </a:lnTo>
                  <a:lnTo>
                    <a:pt x="0" y="294"/>
                  </a:lnTo>
                  <a:lnTo>
                    <a:pt x="78" y="375"/>
                  </a:lnTo>
                  <a:lnTo>
                    <a:pt x="0" y="441"/>
                  </a:lnTo>
                  <a:lnTo>
                    <a:pt x="78" y="518"/>
                  </a:lnTo>
                  <a:lnTo>
                    <a:pt x="0" y="588"/>
                  </a:lnTo>
                  <a:lnTo>
                    <a:pt x="74" y="588"/>
                  </a:lnTo>
                  <a:close/>
                </a:path>
              </a:pathLst>
            </a:custGeom>
            <a:solidFill>
              <a:srgbClr val="F79646">
                <a:lumMod val="20000"/>
                <a:lumOff val="80000"/>
              </a:srgbClr>
            </a:solidFill>
            <a:ln w="6350" cap="flat" cmpd="sng" algn="ctr">
              <a:solidFill>
                <a:srgbClr val="F79646">
                  <a:lumMod val="60000"/>
                  <a:lumOff val="40000"/>
                </a:srgbClr>
              </a:solidFill>
              <a:prstDash val="solid"/>
            </a:ln>
            <a:effectLst/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Segoe UI" panose="020B0502040204020203" pitchFamily="34" charset="0"/>
                <a:ea typeface="맑은 고딕"/>
                <a:cs typeface="Segoe UI" panose="020B0502040204020203" pitchFamily="34" charset="0"/>
              </a:endParaRPr>
            </a:p>
          </p:txBody>
        </p:sp>
        <p:sp>
          <p:nvSpPr>
            <p:cNvPr id="372" name="Border">
              <a:extLst>
                <a:ext uri="{FF2B5EF4-FFF2-40B4-BE49-F238E27FC236}">
                  <a16:creationId xmlns="" xmlns:a16="http://schemas.microsoft.com/office/drawing/2014/main" id="{3C344D81-4CE5-4D66-9FA5-12D6AFF14483}"/>
                </a:ext>
              </a:extLst>
            </p:cNvPr>
            <p:cNvSpPr>
              <a:spLocks noEditPoints="1"/>
            </p:cNvSpPr>
            <p:nvPr/>
          </p:nvSpPr>
          <p:spPr bwMode="auto">
            <a:xfrm rot="16200000">
              <a:off x="5309906" y="1256893"/>
              <a:ext cx="108000" cy="7992000"/>
            </a:xfrm>
            <a:custGeom>
              <a:avLst/>
              <a:gdLst>
                <a:gd name="T0" fmla="*/ 0 w 909"/>
                <a:gd name="T1" fmla="*/ 0 h 3585"/>
                <a:gd name="T2" fmla="*/ 467 w 909"/>
                <a:gd name="T3" fmla="*/ 535 h 3585"/>
                <a:gd name="T4" fmla="*/ 0 w 909"/>
                <a:gd name="T5" fmla="*/ 896 h 3585"/>
                <a:gd name="T6" fmla="*/ 467 w 909"/>
                <a:gd name="T7" fmla="*/ 1409 h 3585"/>
                <a:gd name="T8" fmla="*/ 0 w 909"/>
                <a:gd name="T9" fmla="*/ 1793 h 3585"/>
                <a:gd name="T10" fmla="*/ 467 w 909"/>
                <a:gd name="T11" fmla="*/ 2284 h 3585"/>
                <a:gd name="T12" fmla="*/ 0 w 909"/>
                <a:gd name="T13" fmla="*/ 2689 h 3585"/>
                <a:gd name="T14" fmla="*/ 467 w 909"/>
                <a:gd name="T15" fmla="*/ 3158 h 3585"/>
                <a:gd name="T16" fmla="*/ 0 w 909"/>
                <a:gd name="T17" fmla="*/ 3585 h 3585"/>
                <a:gd name="T18" fmla="*/ 442 w 909"/>
                <a:gd name="T19" fmla="*/ 3585 h 3585"/>
                <a:gd name="T20" fmla="*/ 909 w 909"/>
                <a:gd name="T21" fmla="*/ 3158 h 3585"/>
                <a:gd name="T22" fmla="*/ 442 w 909"/>
                <a:gd name="T23" fmla="*/ 2689 h 3585"/>
                <a:gd name="T24" fmla="*/ 909 w 909"/>
                <a:gd name="T25" fmla="*/ 2284 h 3585"/>
                <a:gd name="T26" fmla="*/ 442 w 909"/>
                <a:gd name="T27" fmla="*/ 1793 h 3585"/>
                <a:gd name="T28" fmla="*/ 909 w 909"/>
                <a:gd name="T29" fmla="*/ 1409 h 3585"/>
                <a:gd name="T30" fmla="*/ 442 w 909"/>
                <a:gd name="T31" fmla="*/ 896 h 3585"/>
                <a:gd name="T32" fmla="*/ 909 w 909"/>
                <a:gd name="T33" fmla="*/ 535 h 3585"/>
                <a:gd name="T34" fmla="*/ 442 w 909"/>
                <a:gd name="T35" fmla="*/ 0 h 35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909" h="3585">
                  <a:moveTo>
                    <a:pt x="0" y="0"/>
                  </a:moveTo>
                  <a:lnTo>
                    <a:pt x="467" y="535"/>
                  </a:lnTo>
                  <a:lnTo>
                    <a:pt x="0" y="896"/>
                  </a:lnTo>
                  <a:lnTo>
                    <a:pt x="467" y="1409"/>
                  </a:lnTo>
                  <a:lnTo>
                    <a:pt x="0" y="1793"/>
                  </a:lnTo>
                  <a:lnTo>
                    <a:pt x="467" y="2284"/>
                  </a:lnTo>
                  <a:lnTo>
                    <a:pt x="0" y="2689"/>
                  </a:lnTo>
                  <a:lnTo>
                    <a:pt x="467" y="3158"/>
                  </a:lnTo>
                  <a:lnTo>
                    <a:pt x="0" y="3585"/>
                  </a:lnTo>
                  <a:moveTo>
                    <a:pt x="442" y="3585"/>
                  </a:moveTo>
                  <a:lnTo>
                    <a:pt x="909" y="3158"/>
                  </a:lnTo>
                  <a:lnTo>
                    <a:pt x="442" y="2689"/>
                  </a:lnTo>
                  <a:lnTo>
                    <a:pt x="909" y="2284"/>
                  </a:lnTo>
                  <a:lnTo>
                    <a:pt x="442" y="1793"/>
                  </a:lnTo>
                  <a:lnTo>
                    <a:pt x="909" y="1409"/>
                  </a:lnTo>
                  <a:lnTo>
                    <a:pt x="442" y="896"/>
                  </a:lnTo>
                  <a:lnTo>
                    <a:pt x="909" y="535"/>
                  </a:lnTo>
                  <a:lnTo>
                    <a:pt x="442" y="0"/>
                  </a:lnTo>
                </a:path>
              </a:pathLst>
            </a:custGeom>
            <a:noFill/>
            <a:ln w="6350" cap="flat" cmpd="sng" algn="ctr">
              <a:solidFill>
                <a:srgbClr val="F79646">
                  <a:lumMod val="60000"/>
                  <a:lumOff val="40000"/>
                </a:srgbClr>
              </a:solidFill>
              <a:prstDash val="solid"/>
            </a:ln>
            <a:effectLst/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Segoe UI" panose="020B0502040204020203" pitchFamily="34" charset="0"/>
                <a:ea typeface="맑은 고딕"/>
                <a:cs typeface="Segoe UI" panose="020B0502040204020203" pitchFamily="34" charset="0"/>
              </a:endParaRPr>
            </a:p>
          </p:txBody>
        </p:sp>
      </p:grpSp>
      <p:sp>
        <p:nvSpPr>
          <p:cNvPr id="374" name="타원 373">
            <a:extLst>
              <a:ext uri="{FF2B5EF4-FFF2-40B4-BE49-F238E27FC236}">
                <a16:creationId xmlns="" xmlns:a16="http://schemas.microsoft.com/office/drawing/2014/main" id="{05928B69-0142-4C14-A783-3D8762E5BBE2}"/>
              </a:ext>
            </a:extLst>
          </p:cNvPr>
          <p:cNvSpPr/>
          <p:nvPr/>
        </p:nvSpPr>
        <p:spPr>
          <a:xfrm>
            <a:off x="1582725" y="4415071"/>
            <a:ext cx="144000" cy="144000"/>
          </a:xfrm>
          <a:prstGeom prst="ellipse">
            <a:avLst/>
          </a:prstGeom>
          <a:solidFill>
            <a:srgbClr val="C00000"/>
          </a:solidFill>
          <a:ln w="3175">
            <a:noFill/>
          </a:ln>
          <a:effectLst>
            <a:outerShdw blurRad="25400" dist="25400" dir="2700000" algn="tl" rotWithShape="0">
              <a:schemeClr val="tx1">
                <a:lumMod val="75000"/>
                <a:lumOff val="2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70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3</a:t>
            </a:r>
            <a:endParaRPr lang="ko-KR" altLang="en-US" sz="70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75" name="타원 374">
            <a:extLst>
              <a:ext uri="{FF2B5EF4-FFF2-40B4-BE49-F238E27FC236}">
                <a16:creationId xmlns="" xmlns:a16="http://schemas.microsoft.com/office/drawing/2014/main" id="{05928B69-0142-4C14-A783-3D8762E5BBE2}"/>
              </a:ext>
            </a:extLst>
          </p:cNvPr>
          <p:cNvSpPr/>
          <p:nvPr/>
        </p:nvSpPr>
        <p:spPr>
          <a:xfrm>
            <a:off x="1510725" y="1608817"/>
            <a:ext cx="144000" cy="144000"/>
          </a:xfrm>
          <a:prstGeom prst="ellipse">
            <a:avLst/>
          </a:prstGeom>
          <a:solidFill>
            <a:srgbClr val="C00000"/>
          </a:solidFill>
          <a:ln w="3175">
            <a:noFill/>
          </a:ln>
          <a:effectLst>
            <a:outerShdw blurRad="25400" dist="25400" dir="2700000" algn="tl" rotWithShape="0">
              <a:schemeClr val="tx1">
                <a:lumMod val="75000"/>
                <a:lumOff val="2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70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endParaRPr lang="ko-KR" altLang="en-US" sz="70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76" name="타원 375">
            <a:extLst>
              <a:ext uri="{FF2B5EF4-FFF2-40B4-BE49-F238E27FC236}">
                <a16:creationId xmlns="" xmlns:a16="http://schemas.microsoft.com/office/drawing/2014/main" id="{05928B69-0142-4C14-A783-3D8762E5BBE2}"/>
              </a:ext>
            </a:extLst>
          </p:cNvPr>
          <p:cNvSpPr/>
          <p:nvPr/>
        </p:nvSpPr>
        <p:spPr>
          <a:xfrm>
            <a:off x="1655374" y="2401174"/>
            <a:ext cx="144000" cy="144000"/>
          </a:xfrm>
          <a:prstGeom prst="ellipse">
            <a:avLst/>
          </a:prstGeom>
          <a:solidFill>
            <a:srgbClr val="C00000"/>
          </a:solidFill>
          <a:ln w="3175">
            <a:noFill/>
          </a:ln>
          <a:effectLst>
            <a:outerShdw blurRad="25400" dist="25400" dir="2700000" algn="tl" rotWithShape="0">
              <a:schemeClr val="tx1">
                <a:lumMod val="75000"/>
                <a:lumOff val="2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70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endParaRPr lang="ko-KR" altLang="en-US" sz="70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0250912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직사각형 379">
            <a:extLst>
              <a:ext uri="{FF2B5EF4-FFF2-40B4-BE49-F238E27FC236}">
                <a16:creationId xmlns="" xmlns:a16="http://schemas.microsoft.com/office/drawing/2014/main" id="{D6E71F9F-6A05-4858-BCF1-F73872A38DCC}"/>
              </a:ext>
            </a:extLst>
          </p:cNvPr>
          <p:cNvSpPr/>
          <p:nvPr/>
        </p:nvSpPr>
        <p:spPr>
          <a:xfrm>
            <a:off x="5363078" y="1717723"/>
            <a:ext cx="900000" cy="576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36000" rIns="108000" bIns="36000" rtlCol="0" anchor="ctr"/>
          <a:lstStyle/>
          <a:p>
            <a:r>
              <a:rPr lang="ko-KR" altLang="en-US" sz="7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외부몰주문번호</a:t>
            </a:r>
            <a:endParaRPr lang="en-US" altLang="ko-KR" sz="70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7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(</a:t>
            </a:r>
            <a:r>
              <a:rPr lang="ko-KR" altLang="en-US" sz="7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총 </a:t>
            </a:r>
            <a:r>
              <a:rPr lang="en-US" altLang="ko-KR" sz="700">
                <a:solidFill>
                  <a:srgbClr val="FF0000"/>
                </a:solidFill>
                <a:latin typeface="맑은 고딕" panose="020B0503020000020004" pitchFamily="50" charset="-127"/>
              </a:rPr>
              <a:t>0</a:t>
            </a:r>
            <a:r>
              <a:rPr lang="ko-KR" altLang="en-US" sz="7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건</a:t>
            </a:r>
            <a:r>
              <a:rPr lang="en-US" altLang="ko-KR" sz="7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)</a:t>
            </a:r>
            <a:endParaRPr lang="ko-KR" altLang="en-US" sz="700" dirty="0">
              <a:solidFill>
                <a:srgbClr val="C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88" name="직사각형 387">
            <a:extLst>
              <a:ext uri="{FF2B5EF4-FFF2-40B4-BE49-F238E27FC236}">
                <a16:creationId xmlns="" xmlns:a16="http://schemas.microsoft.com/office/drawing/2014/main" id="{D6E71F9F-6A05-4858-BCF1-F73872A38DCC}"/>
              </a:ext>
            </a:extLst>
          </p:cNvPr>
          <p:cNvSpPr/>
          <p:nvPr/>
        </p:nvSpPr>
        <p:spPr>
          <a:xfrm>
            <a:off x="7343630" y="1717723"/>
            <a:ext cx="900000" cy="864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36000" rIns="108000" bIns="36000" rtlCol="0" anchor="ctr"/>
          <a:lstStyle/>
          <a:p>
            <a:r>
              <a:rPr lang="ko-KR" altLang="en-US" sz="7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온라인상품코드</a:t>
            </a:r>
            <a:endParaRPr lang="en-US" altLang="ko-KR" sz="70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7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(</a:t>
            </a:r>
            <a:r>
              <a:rPr lang="ko-KR" altLang="en-US" sz="7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총 </a:t>
            </a:r>
            <a:r>
              <a:rPr lang="en-US" altLang="ko-KR" sz="700">
                <a:solidFill>
                  <a:srgbClr val="FF0000"/>
                </a:solidFill>
                <a:latin typeface="맑은 고딕" panose="020B0503020000020004" pitchFamily="50" charset="-127"/>
              </a:rPr>
              <a:t>0</a:t>
            </a:r>
            <a:r>
              <a:rPr lang="ko-KR" altLang="en-US" sz="7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건</a:t>
            </a:r>
            <a:r>
              <a:rPr lang="en-US" altLang="ko-KR" sz="7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)</a:t>
            </a:r>
            <a:endParaRPr lang="ko-KR" altLang="en-US" sz="700" dirty="0">
              <a:solidFill>
                <a:srgbClr val="C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41" name="직사각형 340">
            <a:extLst>
              <a:ext uri="{FF2B5EF4-FFF2-40B4-BE49-F238E27FC236}">
                <a16:creationId xmlns="" xmlns:a16="http://schemas.microsoft.com/office/drawing/2014/main" id="{ED30316B-09AE-48E0-BF18-1A5E3F61829D}"/>
              </a:ext>
            </a:extLst>
          </p:cNvPr>
          <p:cNvSpPr/>
          <p:nvPr/>
        </p:nvSpPr>
        <p:spPr>
          <a:xfrm>
            <a:off x="143906" y="1213699"/>
            <a:ext cx="1080000" cy="5184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  <a:effectLst>
            <a:outerShdw blurRad="12700" dist="12700" algn="l" rotWithShape="0">
              <a:schemeClr val="tx1">
                <a:lumMod val="75000"/>
                <a:lumOff val="2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endParaRPr lang="ko-KR" altLang="en-US" sz="1000" b="1">
              <a:solidFill>
                <a:schemeClr val="bg1">
                  <a:lumMod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42" name="직사각형 341"/>
          <p:cNvSpPr/>
          <p:nvPr/>
        </p:nvSpPr>
        <p:spPr>
          <a:xfrm>
            <a:off x="143906" y="1213699"/>
            <a:ext cx="1080000" cy="288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endParaRPr lang="ko-KR" altLang="en-US" sz="700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43" name="사각형: 둥근 모서리 296">
            <a:extLst>
              <a:ext uri="{FF2B5EF4-FFF2-40B4-BE49-F238E27FC236}">
                <a16:creationId xmlns="" xmlns:a16="http://schemas.microsoft.com/office/drawing/2014/main" id="{B58175FB-DF3C-47BC-89DF-82BB433EE187}"/>
              </a:ext>
            </a:extLst>
          </p:cNvPr>
          <p:cNvSpPr/>
          <p:nvPr/>
        </p:nvSpPr>
        <p:spPr bwMode="auto">
          <a:xfrm>
            <a:off x="215906" y="1285699"/>
            <a:ext cx="936000" cy="144000"/>
          </a:xfrm>
          <a:prstGeom prst="roundRect">
            <a:avLst/>
          </a:prstGeom>
          <a:solidFill>
            <a:schemeClr val="bg1"/>
          </a:solidFill>
          <a:ln w="3175" cap="flat" cmpd="sng" algn="ctr">
            <a:solidFill>
              <a:schemeClr val="bg1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>
            <a:outerShdw blurRad="12700" dist="12700" dir="2700000" algn="tl" rotWithShape="0">
              <a:schemeClr val="tx1">
                <a:lumMod val="75000"/>
                <a:lumOff val="25000"/>
                <a:alpha val="30000"/>
              </a:schemeClr>
            </a:outerShdw>
          </a:effectLst>
        </p:spPr>
        <p:txBody>
          <a:bodyPr rot="0" spcFirstLastPara="0" vertOverflow="overflow" horzOverflow="overflow" vert="horz" wrap="non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400" fontAlgn="base" latinLnBrk="0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700" kern="0" dirty="0">
                <a:solidFill>
                  <a:srgbClr val="000000"/>
                </a:solidFill>
                <a:latin typeface="+mn-ea"/>
              </a:rPr>
              <a:t>LFmall </a:t>
            </a:r>
            <a:r>
              <a:rPr kumimoji="1" lang="ko-KR" altLang="en-US" sz="700" kern="0" dirty="0">
                <a:solidFill>
                  <a:srgbClr val="000000"/>
                </a:solidFill>
                <a:latin typeface="+mn-ea"/>
              </a:rPr>
              <a:t>바로가기</a:t>
            </a:r>
          </a:p>
        </p:txBody>
      </p:sp>
      <p:sp>
        <p:nvSpPr>
          <p:cNvPr id="344" name="직사각형 343"/>
          <p:cNvSpPr/>
          <p:nvPr/>
        </p:nvSpPr>
        <p:spPr>
          <a:xfrm>
            <a:off x="143906" y="1501699"/>
            <a:ext cx="540000" cy="21600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7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메뉴</a:t>
            </a:r>
            <a:endParaRPr lang="ko-KR" altLang="en-US" sz="700" b="1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45" name="직사각형 344"/>
          <p:cNvSpPr/>
          <p:nvPr/>
        </p:nvSpPr>
        <p:spPr>
          <a:xfrm>
            <a:off x="683906" y="1501699"/>
            <a:ext cx="540000" cy="216000"/>
          </a:xfrm>
          <a:prstGeom prst="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70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즐겨찾기</a:t>
            </a:r>
            <a:endParaRPr lang="ko-KR" altLang="en-US" sz="700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1" name="제목 1"/>
          <p:cNvSpPr txBox="1">
            <a:spLocks/>
          </p:cNvSpPr>
          <p:nvPr/>
        </p:nvSpPr>
        <p:spPr>
          <a:xfrm>
            <a:off x="1223906" y="358660"/>
            <a:ext cx="1080000" cy="216000"/>
          </a:xfrm>
          <a:prstGeom prst="rect">
            <a:avLst/>
          </a:prstGeom>
        </p:spPr>
        <p:txBody>
          <a:bodyPr lIns="36000" tIns="36000" rIns="36000" bIns="36000" anchor="ctr"/>
          <a:lstStyle>
            <a:lvl1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2pPr>
            <a:lvl3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3pPr>
            <a:lvl4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4pPr>
            <a:lvl5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5pPr>
            <a:lvl6pPr marL="457212" algn="ctr" rtl="0" fontAlgn="base" latinLnBrk="1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6pPr>
            <a:lvl7pPr marL="914423" algn="ctr" rtl="0" fontAlgn="base" latinLnBrk="1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7pPr>
            <a:lvl8pPr marL="1371634" algn="ctr" rtl="0" fontAlgn="base" latinLnBrk="1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8pPr>
            <a:lvl9pPr marL="1828846" algn="ctr" rtl="0" fontAlgn="base" latinLnBrk="1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r>
              <a:rPr lang="en-US" altLang="ko-KR" sz="800" ker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-</a:t>
            </a:r>
            <a:endParaRPr lang="ko-KR" altLang="en-US" sz="800" kern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00" name="제목 1">
            <a:extLst>
              <a:ext uri="{FF2B5EF4-FFF2-40B4-BE49-F238E27FC236}">
                <a16:creationId xmlns="" xmlns:a16="http://schemas.microsoft.com/office/drawing/2014/main" id="{03F65532-A01C-4981-B987-5E15F64E3ABB}"/>
              </a:ext>
            </a:extLst>
          </p:cNvPr>
          <p:cNvSpPr txBox="1">
            <a:spLocks/>
          </p:cNvSpPr>
          <p:nvPr/>
        </p:nvSpPr>
        <p:spPr>
          <a:xfrm>
            <a:off x="3383718" y="142660"/>
            <a:ext cx="4320000" cy="216000"/>
          </a:xfrm>
          <a:prstGeom prst="rect">
            <a:avLst/>
          </a:prstGeom>
        </p:spPr>
        <p:txBody>
          <a:bodyPr lIns="180000" tIns="36000" rIns="180000" bIns="36000" anchor="ctr"/>
          <a:lstStyle>
            <a:lvl1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2pPr>
            <a:lvl3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3pPr>
            <a:lvl4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4pPr>
            <a:lvl5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5pPr>
            <a:lvl6pPr marL="457212" algn="ctr" rtl="0" fontAlgn="base" latinLnBrk="1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6pPr>
            <a:lvl7pPr marL="914423" algn="ctr" rtl="0" fontAlgn="base" latinLnBrk="1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7pPr>
            <a:lvl8pPr marL="1371634" algn="ctr" rtl="0" fontAlgn="base" latinLnBrk="1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8pPr>
            <a:lvl9pPr marL="1828846" algn="ctr" rtl="0" fontAlgn="base" latinLnBrk="1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l"/>
            <a:r>
              <a:rPr lang="ko-KR" altLang="en-US" sz="8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주문</a:t>
            </a:r>
            <a:r>
              <a:rPr lang="en-US" altLang="ko-KR" sz="8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8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배송 </a:t>
            </a:r>
            <a:r>
              <a:rPr lang="en-US" altLang="ko-KR" sz="8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8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주문관리 </a:t>
            </a:r>
            <a:r>
              <a:rPr lang="en-US" altLang="ko-KR" sz="8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8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주문목록</a:t>
            </a:r>
            <a:endParaRPr lang="ko-KR" altLang="en-US" sz="800" kern="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201" name="제목 1">
            <a:extLst>
              <a:ext uri="{FF2B5EF4-FFF2-40B4-BE49-F238E27FC236}">
                <a16:creationId xmlns="" xmlns:a16="http://schemas.microsoft.com/office/drawing/2014/main" id="{E2CFB5AD-2840-4821-B288-2284D6C0A05E}"/>
              </a:ext>
            </a:extLst>
          </p:cNvPr>
          <p:cNvSpPr txBox="1">
            <a:spLocks/>
          </p:cNvSpPr>
          <p:nvPr/>
        </p:nvSpPr>
        <p:spPr>
          <a:xfrm>
            <a:off x="3383718" y="358660"/>
            <a:ext cx="4320000" cy="216000"/>
          </a:xfrm>
          <a:prstGeom prst="rect">
            <a:avLst/>
          </a:prstGeom>
        </p:spPr>
        <p:txBody>
          <a:bodyPr lIns="180000" tIns="36000" rIns="180000" bIns="36000" anchor="ctr"/>
          <a:lstStyle>
            <a:lvl1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2pPr>
            <a:lvl3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3pPr>
            <a:lvl4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4pPr>
            <a:lvl5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5pPr>
            <a:lvl6pPr marL="457212" algn="ctr" rtl="0" fontAlgn="base" latinLnBrk="1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6pPr>
            <a:lvl7pPr marL="914423" algn="ctr" rtl="0" fontAlgn="base" latinLnBrk="1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7pPr>
            <a:lvl8pPr marL="1371634" algn="ctr" rtl="0" fontAlgn="base" latinLnBrk="1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8pPr>
            <a:lvl9pPr marL="1828846" algn="ctr" rtl="0" fontAlgn="base" latinLnBrk="1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l"/>
            <a:r>
              <a:rPr lang="en-US" altLang="ko-KR" sz="8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https://nbos.lfmall.co.kr/lfmadm/index.html</a:t>
            </a:r>
            <a:endParaRPr lang="ko-KR" altLang="en-US" sz="800" kern="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</a:endParaRPr>
          </a:p>
        </p:txBody>
      </p:sp>
      <p:graphicFrame>
        <p:nvGraphicFramePr>
          <p:cNvPr id="150" name="Group 118">
            <a:extLst>
              <a:ext uri="{FF2B5EF4-FFF2-40B4-BE49-F238E27FC236}">
                <a16:creationId xmlns="" xmlns:a16="http://schemas.microsoft.com/office/drawing/2014/main" id="{41B5A014-BEDB-439E-A302-DBCECEC856B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21623805"/>
              </p:ext>
            </p:extLst>
          </p:nvPr>
        </p:nvGraphicFramePr>
        <p:xfrm>
          <a:off x="9647906" y="709700"/>
          <a:ext cx="2376000" cy="1117392"/>
        </p:xfrm>
        <a:graphic>
          <a:graphicData uri="http://schemas.openxmlformats.org/drawingml/2006/table">
            <a:tbl>
              <a:tblPr/>
              <a:tblGrid>
                <a:gridCol w="216000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2160000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</a:tblGrid>
              <a:tr h="2520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 Semilight" panose="020B0502040204020203" pitchFamily="50" charset="-127"/>
                        </a:rPr>
                        <a:t>No</a:t>
                      </a:r>
                    </a:p>
                  </a:txBody>
                  <a:tcPr marL="42203" marR="42203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en-US" altLang="ko-KR" sz="700" b="0" baseline="0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 Semilight" panose="020B0502040204020203" pitchFamily="50" charset="-127"/>
                        </a:rPr>
                        <a:t>Description</a:t>
                      </a:r>
                    </a:p>
                  </a:txBody>
                  <a:tcPr marL="108000" marR="108000" marT="36000" marB="3600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 Semilight" panose="020B0502040204020203" pitchFamily="50" charset="-127"/>
                        </a:rPr>
                        <a:t>※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42203" marR="42203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ko-KR" altLang="en-US" sz="700" b="0" baseline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 Semilight" panose="020B0502040204020203" pitchFamily="50" charset="-127"/>
                        </a:rPr>
                        <a:t>주문목록</a:t>
                      </a:r>
                      <a:r>
                        <a:rPr lang="en-US" altLang="ko-KR" sz="700" b="0" baseline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 Semilight" panose="020B0502040204020203" pitchFamily="50" charset="-127"/>
                        </a:rPr>
                        <a:t>(CS) [B1011] </a:t>
                      </a:r>
                      <a:r>
                        <a:rPr lang="ko-KR" altLang="en-US" sz="700" b="0" baseline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 Semilight" panose="020B0502040204020203" pitchFamily="50" charset="-127"/>
                        </a:rPr>
                        <a:t>화면 동일 적용</a:t>
                      </a:r>
                      <a:endParaRPr lang="en-US" altLang="ko-KR" sz="700" b="0" baseline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108000" marR="108000" marT="36000" marB="3600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 Semilight" panose="020B0502040204020203" pitchFamily="50" charset="-127"/>
                        </a:rPr>
                        <a:t>1</a:t>
                      </a:r>
                    </a:p>
                  </a:txBody>
                  <a:tcPr marL="42203" marR="42203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ko-KR" altLang="en-US" sz="700" b="0" baseline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 Semilight" panose="020B0502040204020203" pitchFamily="50" charset="-127"/>
                        </a:rPr>
                        <a:t>조회조건 </a:t>
                      </a:r>
                      <a:r>
                        <a:rPr lang="en-US" altLang="ko-KR" sz="700" b="0" baseline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 Semilight" panose="020B0502040204020203" pitchFamily="50" charset="-127"/>
                        </a:rPr>
                        <a:t>[</a:t>
                      </a:r>
                      <a:r>
                        <a:rPr lang="ko-KR" altLang="en-US" sz="700" b="0" baseline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 Semilight" panose="020B0502040204020203" pitchFamily="50" charset="-127"/>
                        </a:rPr>
                        <a:t>매장상품배송 재고주문여부</a:t>
                      </a:r>
                      <a:r>
                        <a:rPr lang="en-US" altLang="ko-KR" sz="700" b="0" baseline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 Semilight" panose="020B0502040204020203" pitchFamily="50" charset="-127"/>
                        </a:rPr>
                        <a:t>]</a:t>
                      </a:r>
                      <a:endParaRPr lang="en-US" altLang="ko-KR" sz="700" b="0" baseline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Malgun Gothic Semilight" panose="020B0502040204020203" pitchFamily="50" charset="-127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en-US" altLang="ko-KR" sz="700" b="0" baseline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 Semilight" panose="020B0502040204020203" pitchFamily="50" charset="-127"/>
                        </a:rPr>
                        <a:t> - </a:t>
                      </a:r>
                      <a:r>
                        <a:rPr lang="ko-KR" altLang="en-US" sz="700" b="0" baseline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 Semilight" panose="020B0502040204020203" pitchFamily="50" charset="-127"/>
                        </a:rPr>
                        <a:t>해당 컬럼 활용할지 개발팀과 의논 예정</a:t>
                      </a:r>
                      <a:endParaRPr lang="en-US" altLang="ko-KR" sz="700" b="0" baseline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108000" marR="108000" marT="36000" marB="3600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 Semilight" panose="020B0502040204020203" pitchFamily="50" charset="-127"/>
                        </a:rPr>
                        <a:t>2</a:t>
                      </a:r>
                    </a:p>
                  </a:txBody>
                  <a:tcPr marL="42203" marR="42203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ko-KR" altLang="en-US" sz="700" b="0" baseline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 Semilight" panose="020B0502040204020203" pitchFamily="50" charset="-127"/>
                        </a:rPr>
                        <a:t>조회결과 </a:t>
                      </a:r>
                      <a:r>
                        <a:rPr lang="en-US" altLang="ko-KR" sz="700" b="0" baseline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 Semilight" panose="020B0502040204020203" pitchFamily="50" charset="-127"/>
                        </a:rPr>
                        <a:t>[</a:t>
                      </a:r>
                      <a:r>
                        <a:rPr lang="ko-KR" altLang="en-US" sz="700" b="0" baseline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  <a:cs typeface="Malgun Gothic Semilight" panose="020B0502040204020203" pitchFamily="50" charset="-127"/>
                        </a:rPr>
                        <a:t>매장상품배송 재고주문여부</a:t>
                      </a:r>
                      <a:r>
                        <a:rPr lang="en-US" altLang="ko-KR" sz="700" b="0" baseline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  <a:cs typeface="Malgun Gothic Semilight" panose="020B0502040204020203" pitchFamily="50" charset="-127"/>
                        </a:rPr>
                        <a:t>]</a:t>
                      </a:r>
                      <a:endParaRPr lang="en-US" altLang="ko-KR" sz="700" b="0" baseline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Malgun Gothic Semilight" panose="020B0502040204020203" pitchFamily="50" charset="-127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en-US" altLang="ko-KR" sz="700" b="0" baseline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  <a:cs typeface="Malgun Gothic Semilight" panose="020B0502040204020203" pitchFamily="50" charset="-127"/>
                        </a:rPr>
                        <a:t> - </a:t>
                      </a:r>
                      <a:r>
                        <a:rPr lang="ko-KR" altLang="en-US" sz="700" b="0" baseline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  <a:cs typeface="Malgun Gothic Semilight" panose="020B0502040204020203" pitchFamily="50" charset="-127"/>
                        </a:rPr>
                        <a:t>해당 컬럼 활용할지 개발팀과 의논 예정</a:t>
                      </a:r>
                      <a:endParaRPr lang="en-US" altLang="ko-KR" sz="700" b="0" baseline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108000" marR="108000" marT="36000" marB="3600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29" name="제목 1"/>
          <p:cNvSpPr txBox="1">
            <a:spLocks/>
          </p:cNvSpPr>
          <p:nvPr/>
        </p:nvSpPr>
        <p:spPr>
          <a:xfrm>
            <a:off x="1223906" y="142660"/>
            <a:ext cx="1080000" cy="216000"/>
          </a:xfrm>
          <a:prstGeom prst="rect">
            <a:avLst/>
          </a:prstGeom>
        </p:spPr>
        <p:txBody>
          <a:bodyPr lIns="36000" tIns="36000" rIns="36000" bIns="36000" anchor="ctr"/>
          <a:lstStyle>
            <a:lvl1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2pPr>
            <a:lvl3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3pPr>
            <a:lvl4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4pPr>
            <a:lvl5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5pPr>
            <a:lvl6pPr marL="457212" algn="ctr" rtl="0" fontAlgn="base" latinLnBrk="1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6pPr>
            <a:lvl7pPr marL="914423" algn="ctr" rtl="0" fontAlgn="base" latinLnBrk="1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7pPr>
            <a:lvl8pPr marL="1371634" algn="ctr" rtl="0" fontAlgn="base" latinLnBrk="1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8pPr>
            <a:lvl9pPr marL="1828846" algn="ctr" rtl="0" fontAlgn="base" latinLnBrk="1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r>
              <a:rPr lang="en-US" altLang="ko-KR" sz="8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nBOS</a:t>
            </a:r>
            <a:endParaRPr lang="ko-KR" altLang="en-US" sz="800" kern="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28" name="TextBox 127">
            <a:extLst>
              <a:ext uri="{FF2B5EF4-FFF2-40B4-BE49-F238E27FC236}">
                <a16:creationId xmlns="" xmlns:a16="http://schemas.microsoft.com/office/drawing/2014/main" id="{821D320A-7043-4925-9E68-A31B417D2A2B}"/>
              </a:ext>
            </a:extLst>
          </p:cNvPr>
          <p:cNvSpPr txBox="1"/>
          <p:nvPr/>
        </p:nvSpPr>
        <p:spPr>
          <a:xfrm>
            <a:off x="1367906" y="1439816"/>
            <a:ext cx="628478" cy="195814"/>
          </a:xfrm>
          <a:prstGeom prst="rect">
            <a:avLst/>
          </a:prstGeom>
          <a:noFill/>
          <a:ln w="317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108000" tIns="36000" rIns="108000" bIns="36000" numCol="1" rtlCol="0" anchor="ctr" anchorCtr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ko-KR" altLang="en-US" sz="800" b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주문목록</a:t>
            </a:r>
            <a:endParaRPr lang="ko-KR" altLang="en-US" sz="800" b="1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</p:txBody>
      </p:sp>
      <p:sp>
        <p:nvSpPr>
          <p:cNvPr id="130" name="직사각형 129">
            <a:extLst>
              <a:ext uri="{FF2B5EF4-FFF2-40B4-BE49-F238E27FC236}">
                <a16:creationId xmlns="" xmlns:a16="http://schemas.microsoft.com/office/drawing/2014/main" id="{1824E750-4BB3-4D13-BABD-9501057BC22E}"/>
              </a:ext>
            </a:extLst>
          </p:cNvPr>
          <p:cNvSpPr/>
          <p:nvPr/>
        </p:nvSpPr>
        <p:spPr>
          <a:xfrm>
            <a:off x="143906" y="709700"/>
            <a:ext cx="9360000" cy="288000"/>
          </a:xfrm>
          <a:prstGeom prst="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0" rIns="180000" bIns="0" rtlCol="0" anchor="ctr"/>
          <a:lstStyle/>
          <a:p>
            <a:pPr algn="l">
              <a:lnSpc>
                <a:spcPct val="150000"/>
              </a:lnSpc>
            </a:pPr>
            <a:endParaRPr lang="en-US" altLang="ko-KR" sz="700" b="0" i="0">
              <a:solidFill>
                <a:srgbClr val="FFFFFF"/>
              </a:solidFill>
              <a:effectLst/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131" name="사각형: 둥근 모서리 296">
            <a:extLst>
              <a:ext uri="{FF2B5EF4-FFF2-40B4-BE49-F238E27FC236}">
                <a16:creationId xmlns="" xmlns:a16="http://schemas.microsoft.com/office/drawing/2014/main" id="{B58175FB-DF3C-47BC-89DF-82BB433EE187}"/>
              </a:ext>
            </a:extLst>
          </p:cNvPr>
          <p:cNvSpPr/>
          <p:nvPr/>
        </p:nvSpPr>
        <p:spPr bwMode="auto">
          <a:xfrm>
            <a:off x="2087960" y="781700"/>
            <a:ext cx="1080000" cy="144000"/>
          </a:xfrm>
          <a:prstGeom prst="roundRect">
            <a:avLst/>
          </a:prstGeom>
          <a:solidFill>
            <a:srgbClr val="F3F7FB"/>
          </a:solidFill>
          <a:ln w="3175" cap="flat" cmpd="sng" algn="ctr">
            <a:solidFill>
              <a:schemeClr val="bg1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>
            <a:outerShdw blurRad="12700" dist="12700" dir="2700000" algn="tl" rotWithShape="0">
              <a:schemeClr val="tx1">
                <a:lumMod val="75000"/>
                <a:lumOff val="25000"/>
                <a:alpha val="30000"/>
              </a:schemeClr>
            </a:outerShdw>
          </a:effectLst>
        </p:spPr>
        <p:txBody>
          <a:bodyPr rot="0" spcFirstLastPara="0" vertOverflow="overflow" horzOverflow="overflow" vert="horz" wrap="non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400" fontAlgn="base" latinLnBrk="0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700" kern="0" dirty="0">
                <a:solidFill>
                  <a:srgbClr val="000000"/>
                </a:solidFill>
                <a:latin typeface="+mn-ea"/>
              </a:rPr>
              <a:t>업무담당자 연락처보기</a:t>
            </a:r>
          </a:p>
        </p:txBody>
      </p:sp>
      <p:sp>
        <p:nvSpPr>
          <p:cNvPr id="132" name="직사각형 131">
            <a:extLst>
              <a:ext uri="{FF2B5EF4-FFF2-40B4-BE49-F238E27FC236}">
                <a16:creationId xmlns="" xmlns:a16="http://schemas.microsoft.com/office/drawing/2014/main" id="{4601BB9D-29E6-4387-A9BC-B614256B84E6}"/>
              </a:ext>
            </a:extLst>
          </p:cNvPr>
          <p:cNvSpPr/>
          <p:nvPr/>
        </p:nvSpPr>
        <p:spPr>
          <a:xfrm>
            <a:off x="7488393" y="781356"/>
            <a:ext cx="1296000" cy="144000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/>
          <a:lstStyle/>
          <a:p>
            <a:pPr algn="r"/>
            <a:r>
              <a:rPr lang="ko-KR" altLang="en-US" sz="7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홍길동</a:t>
            </a:r>
            <a:r>
              <a:rPr lang="ko-KR" altLang="en-US" sz="7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관리자 </a:t>
            </a:r>
            <a:r>
              <a:rPr lang="en-US" altLang="ko-KR" sz="7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en-US" altLang="ko-KR" sz="700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administrator</a:t>
            </a:r>
            <a:r>
              <a:rPr lang="en-US" altLang="ko-KR" sz="7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endParaRPr lang="ko-KR" altLang="en-US" sz="7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133" name="Picture 2">
            <a:extLst>
              <a:ext uri="{FF2B5EF4-FFF2-40B4-BE49-F238E27FC236}">
                <a16:creationId xmlns="" xmlns:a16="http://schemas.microsoft.com/office/drawing/2014/main" id="{4828E12B-7F18-4601-B086-C3E535638F2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" r="74445" b="87250"/>
          <a:stretch/>
        </p:blipFill>
        <p:spPr bwMode="auto">
          <a:xfrm>
            <a:off x="323168" y="763700"/>
            <a:ext cx="721569" cy="18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4" name="TextBox 133">
            <a:extLst>
              <a:ext uri="{FF2B5EF4-FFF2-40B4-BE49-F238E27FC236}">
                <a16:creationId xmlns="" xmlns:a16="http://schemas.microsoft.com/office/drawing/2014/main" id="{22906217-2D84-45DA-8206-D6A7EAFC70CF}"/>
              </a:ext>
            </a:extLst>
          </p:cNvPr>
          <p:cNvSpPr txBox="1"/>
          <p:nvPr/>
        </p:nvSpPr>
        <p:spPr>
          <a:xfrm>
            <a:off x="1044737" y="763488"/>
            <a:ext cx="1043656" cy="180425"/>
          </a:xfrm>
          <a:prstGeom prst="rect">
            <a:avLst/>
          </a:prstGeom>
          <a:noFill/>
          <a:ln w="317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108000" tIns="36000" rIns="108000" bIns="36000" numCol="1" rtlCol="0" anchor="ctr" anchorCtr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altLang="ko-KR" sz="7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Back Office System</a:t>
            </a:r>
          </a:p>
        </p:txBody>
      </p:sp>
      <p:grpSp>
        <p:nvGrpSpPr>
          <p:cNvPr id="135" name="그룹 134"/>
          <p:cNvGrpSpPr/>
          <p:nvPr/>
        </p:nvGrpSpPr>
        <p:grpSpPr>
          <a:xfrm>
            <a:off x="143906" y="997699"/>
            <a:ext cx="9360000" cy="216000"/>
            <a:chOff x="143906" y="997699"/>
            <a:chExt cx="9360000" cy="216000"/>
          </a:xfrm>
          <a:solidFill>
            <a:schemeClr val="tx1">
              <a:lumMod val="75000"/>
              <a:lumOff val="25000"/>
            </a:schemeClr>
          </a:solidFill>
        </p:grpSpPr>
        <p:sp>
          <p:nvSpPr>
            <p:cNvPr id="136" name="직사각형 135"/>
            <p:cNvSpPr/>
            <p:nvPr/>
          </p:nvSpPr>
          <p:spPr>
            <a:xfrm>
              <a:off x="143906" y="997699"/>
              <a:ext cx="720000" cy="216000"/>
            </a:xfrm>
            <a:prstGeom prst="rect">
              <a:avLst/>
            </a:prstGeom>
            <a:grp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/>
              <a:r>
                <a:rPr lang="ko-KR" altLang="en-US" sz="70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홈</a:t>
              </a:r>
              <a:endParaRPr lang="ko-KR" altLang="en-US" sz="70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37" name="직사각형 136"/>
            <p:cNvSpPr/>
            <p:nvPr/>
          </p:nvSpPr>
          <p:spPr>
            <a:xfrm>
              <a:off x="863906" y="997699"/>
              <a:ext cx="720000" cy="216000"/>
            </a:xfrm>
            <a:prstGeom prst="rect">
              <a:avLst/>
            </a:prstGeom>
            <a:grp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/>
              <a:r>
                <a:rPr lang="ko-KR" altLang="en-US" sz="70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상품</a:t>
              </a:r>
              <a:endParaRPr lang="ko-KR" altLang="en-US" sz="70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38" name="직사각형 137"/>
            <p:cNvSpPr/>
            <p:nvPr/>
          </p:nvSpPr>
          <p:spPr>
            <a:xfrm>
              <a:off x="1583906" y="997699"/>
              <a:ext cx="720000" cy="216000"/>
            </a:xfrm>
            <a:prstGeom prst="rect">
              <a:avLst/>
            </a:prstGeom>
            <a:solidFill>
              <a:srgbClr val="C00000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/>
              <a:r>
                <a:rPr lang="ko-KR" altLang="en-US" sz="700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주문</a:t>
              </a:r>
              <a:r>
                <a:rPr lang="en-US" altLang="ko-KR" sz="700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/</a:t>
              </a:r>
              <a:r>
                <a:rPr lang="ko-KR" altLang="en-US" sz="700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배송</a:t>
              </a:r>
            </a:p>
          </p:txBody>
        </p:sp>
        <p:sp>
          <p:nvSpPr>
            <p:cNvPr id="139" name="직사각형 138"/>
            <p:cNvSpPr/>
            <p:nvPr/>
          </p:nvSpPr>
          <p:spPr>
            <a:xfrm>
              <a:off x="2303906" y="997699"/>
              <a:ext cx="720000" cy="216000"/>
            </a:xfrm>
            <a:prstGeom prst="rect">
              <a:avLst/>
            </a:prstGeom>
            <a:grp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/>
              <a:r>
                <a:rPr lang="ko-KR" altLang="en-US" sz="700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회원</a:t>
              </a:r>
              <a:r>
                <a:rPr lang="en-US" altLang="ko-KR" sz="700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/</a:t>
              </a:r>
              <a:r>
                <a:rPr lang="ko-KR" altLang="en-US" sz="700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프로모션</a:t>
              </a:r>
            </a:p>
          </p:txBody>
        </p:sp>
        <p:sp>
          <p:nvSpPr>
            <p:cNvPr id="140" name="직사각형 139"/>
            <p:cNvSpPr/>
            <p:nvPr/>
          </p:nvSpPr>
          <p:spPr>
            <a:xfrm>
              <a:off x="3023906" y="997699"/>
              <a:ext cx="720000" cy="216000"/>
            </a:xfrm>
            <a:prstGeom prst="rect">
              <a:avLst/>
            </a:prstGeom>
            <a:grp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/>
              <a:r>
                <a:rPr lang="ko-KR" altLang="en-US" sz="700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영업</a:t>
              </a:r>
            </a:p>
          </p:txBody>
        </p:sp>
        <p:sp>
          <p:nvSpPr>
            <p:cNvPr id="141" name="직사각형 140"/>
            <p:cNvSpPr/>
            <p:nvPr/>
          </p:nvSpPr>
          <p:spPr>
            <a:xfrm>
              <a:off x="3743906" y="997699"/>
              <a:ext cx="720000" cy="216000"/>
            </a:xfrm>
            <a:prstGeom prst="rect">
              <a:avLst/>
            </a:prstGeom>
            <a:grp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/>
              <a:r>
                <a:rPr lang="ko-KR" altLang="en-US" sz="700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정산</a:t>
              </a:r>
            </a:p>
          </p:txBody>
        </p:sp>
        <p:sp>
          <p:nvSpPr>
            <p:cNvPr id="142" name="직사각형 141"/>
            <p:cNvSpPr/>
            <p:nvPr/>
          </p:nvSpPr>
          <p:spPr>
            <a:xfrm>
              <a:off x="4463906" y="997699"/>
              <a:ext cx="720000" cy="216000"/>
            </a:xfrm>
            <a:prstGeom prst="rect">
              <a:avLst/>
            </a:prstGeom>
            <a:grp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/>
              <a:r>
                <a:rPr lang="ko-KR" altLang="en-US" sz="70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통계</a:t>
              </a:r>
              <a:endParaRPr lang="ko-KR" altLang="en-US" sz="70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43" name="직사각형 142"/>
            <p:cNvSpPr/>
            <p:nvPr/>
          </p:nvSpPr>
          <p:spPr>
            <a:xfrm>
              <a:off x="5183906" y="997699"/>
              <a:ext cx="720000" cy="216000"/>
            </a:xfrm>
            <a:prstGeom prst="rect">
              <a:avLst/>
            </a:prstGeom>
            <a:grp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/>
              <a:r>
                <a:rPr lang="ko-KR" altLang="en-US" sz="70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게시판</a:t>
              </a:r>
              <a:endParaRPr lang="ko-KR" altLang="en-US" sz="70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44" name="직사각형 143"/>
            <p:cNvSpPr/>
            <p:nvPr/>
          </p:nvSpPr>
          <p:spPr>
            <a:xfrm>
              <a:off x="5903906" y="997699"/>
              <a:ext cx="720000" cy="216000"/>
            </a:xfrm>
            <a:prstGeom prst="rect">
              <a:avLst/>
            </a:prstGeom>
            <a:grp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/>
              <a:r>
                <a:rPr lang="ko-KR" altLang="en-US" sz="700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고객추천지수</a:t>
              </a:r>
            </a:p>
          </p:txBody>
        </p:sp>
        <p:sp>
          <p:nvSpPr>
            <p:cNvPr id="145" name="직사각형 144"/>
            <p:cNvSpPr/>
            <p:nvPr/>
          </p:nvSpPr>
          <p:spPr>
            <a:xfrm>
              <a:off x="6623906" y="997699"/>
              <a:ext cx="720000" cy="216000"/>
            </a:xfrm>
            <a:prstGeom prst="rect">
              <a:avLst/>
            </a:prstGeom>
            <a:grp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/>
              <a:r>
                <a:rPr lang="ko-KR" altLang="en-US" sz="70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시스템</a:t>
              </a:r>
              <a:endParaRPr lang="ko-KR" altLang="en-US" sz="70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46" name="직사각형 145"/>
            <p:cNvSpPr/>
            <p:nvPr/>
          </p:nvSpPr>
          <p:spPr>
            <a:xfrm>
              <a:off x="7343906" y="997699"/>
              <a:ext cx="2160000" cy="216000"/>
            </a:xfrm>
            <a:prstGeom prst="rect">
              <a:avLst/>
            </a:prstGeom>
            <a:grp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/>
              <a:endParaRPr lang="ko-KR" altLang="en-US" sz="70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grpSp>
        <p:nvGrpSpPr>
          <p:cNvPr id="148" name="그룹 147"/>
          <p:cNvGrpSpPr/>
          <p:nvPr/>
        </p:nvGrpSpPr>
        <p:grpSpPr>
          <a:xfrm>
            <a:off x="8856393" y="781700"/>
            <a:ext cx="144000" cy="144000"/>
            <a:chOff x="8856393" y="781700"/>
            <a:chExt cx="144000" cy="144000"/>
          </a:xfrm>
        </p:grpSpPr>
        <p:sp>
          <p:nvSpPr>
            <p:cNvPr id="149" name="사각형: 둥근 모서리 296">
              <a:extLst>
                <a:ext uri="{FF2B5EF4-FFF2-40B4-BE49-F238E27FC236}">
                  <a16:creationId xmlns="" xmlns:a16="http://schemas.microsoft.com/office/drawing/2014/main" id="{5E2C148E-29FC-42C6-B221-CA7B7DA48E4E}"/>
                </a:ext>
              </a:extLst>
            </p:cNvPr>
            <p:cNvSpPr/>
            <p:nvPr/>
          </p:nvSpPr>
          <p:spPr bwMode="auto">
            <a:xfrm>
              <a:off x="8856393" y="781700"/>
              <a:ext cx="144000" cy="144000"/>
            </a:xfrm>
            <a:prstGeom prst="roundRect">
              <a:avLst/>
            </a:prstGeom>
            <a:solidFill>
              <a:srgbClr val="F3F7FB"/>
            </a:solidFill>
            <a:ln w="3175" cap="flat" cmpd="sng" algn="ctr">
              <a:solidFill>
                <a:schemeClr val="bg1">
                  <a:lumMod val="7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12700" dist="12700" dir="2700000" algn="tl" rotWithShape="0">
                <a:schemeClr val="tx1">
                  <a:lumMod val="75000"/>
                  <a:lumOff val="25000"/>
                  <a:alpha val="30000"/>
                </a:schemeClr>
              </a:outerShdw>
            </a:effectLst>
          </p:spPr>
          <p:txBody>
            <a:bodyPr rot="0" spcFirstLastPara="0" vertOverflow="overflow" horzOverflow="overflow" vert="horz" wrap="none" lIns="108000" tIns="36000" rIns="180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14400" fontAlgn="base" latinLnBrk="0">
                <a:spcBef>
                  <a:spcPct val="0"/>
                </a:spcBef>
                <a:spcAft>
                  <a:spcPct val="0"/>
                </a:spcAft>
              </a:pPr>
              <a:endParaRPr kumimoji="1" lang="ko-KR" altLang="en-US" sz="700" kern="0">
                <a:solidFill>
                  <a:srgbClr val="000000"/>
                </a:solidFill>
                <a:latin typeface="+mn-ea"/>
              </a:endParaRPr>
            </a:p>
          </p:txBody>
        </p:sp>
        <p:sp>
          <p:nvSpPr>
            <p:cNvPr id="151" name="Lock"/>
            <p:cNvSpPr>
              <a:spLocks noChangeAspect="1" noEditPoints="1"/>
            </p:cNvSpPr>
            <p:nvPr/>
          </p:nvSpPr>
          <p:spPr bwMode="auto">
            <a:xfrm>
              <a:off x="8872831" y="799700"/>
              <a:ext cx="111125" cy="108000"/>
            </a:xfrm>
            <a:custGeom>
              <a:avLst/>
              <a:gdLst>
                <a:gd name="T0" fmla="*/ 226 w 453"/>
                <a:gd name="T1" fmla="*/ 0 h 600"/>
                <a:gd name="T2" fmla="*/ 80 w 453"/>
                <a:gd name="T3" fmla="*/ 146 h 600"/>
                <a:gd name="T4" fmla="*/ 80 w 453"/>
                <a:gd name="T5" fmla="*/ 226 h 600"/>
                <a:gd name="T6" fmla="*/ 40 w 453"/>
                <a:gd name="T7" fmla="*/ 226 h 600"/>
                <a:gd name="T8" fmla="*/ 0 w 453"/>
                <a:gd name="T9" fmla="*/ 266 h 600"/>
                <a:gd name="T10" fmla="*/ 0 w 453"/>
                <a:gd name="T11" fmla="*/ 560 h 600"/>
                <a:gd name="T12" fmla="*/ 40 w 453"/>
                <a:gd name="T13" fmla="*/ 600 h 600"/>
                <a:gd name="T14" fmla="*/ 413 w 453"/>
                <a:gd name="T15" fmla="*/ 600 h 600"/>
                <a:gd name="T16" fmla="*/ 453 w 453"/>
                <a:gd name="T17" fmla="*/ 560 h 600"/>
                <a:gd name="T18" fmla="*/ 453 w 453"/>
                <a:gd name="T19" fmla="*/ 266 h 600"/>
                <a:gd name="T20" fmla="*/ 413 w 453"/>
                <a:gd name="T21" fmla="*/ 226 h 600"/>
                <a:gd name="T22" fmla="*/ 373 w 453"/>
                <a:gd name="T23" fmla="*/ 226 h 600"/>
                <a:gd name="T24" fmla="*/ 373 w 453"/>
                <a:gd name="T25" fmla="*/ 146 h 600"/>
                <a:gd name="T26" fmla="*/ 226 w 453"/>
                <a:gd name="T27" fmla="*/ 0 h 600"/>
                <a:gd name="T28" fmla="*/ 226 w 453"/>
                <a:gd name="T29" fmla="*/ 26 h 600"/>
                <a:gd name="T30" fmla="*/ 346 w 453"/>
                <a:gd name="T31" fmla="*/ 146 h 600"/>
                <a:gd name="T32" fmla="*/ 346 w 453"/>
                <a:gd name="T33" fmla="*/ 226 h 600"/>
                <a:gd name="T34" fmla="*/ 106 w 453"/>
                <a:gd name="T35" fmla="*/ 226 h 600"/>
                <a:gd name="T36" fmla="*/ 106 w 453"/>
                <a:gd name="T37" fmla="*/ 146 h 600"/>
                <a:gd name="T38" fmla="*/ 226 w 453"/>
                <a:gd name="T39" fmla="*/ 26 h 600"/>
                <a:gd name="T40" fmla="*/ 40 w 453"/>
                <a:gd name="T41" fmla="*/ 253 h 600"/>
                <a:gd name="T42" fmla="*/ 413 w 453"/>
                <a:gd name="T43" fmla="*/ 253 h 600"/>
                <a:gd name="T44" fmla="*/ 426 w 453"/>
                <a:gd name="T45" fmla="*/ 266 h 600"/>
                <a:gd name="T46" fmla="*/ 426 w 453"/>
                <a:gd name="T47" fmla="*/ 560 h 600"/>
                <a:gd name="T48" fmla="*/ 413 w 453"/>
                <a:gd name="T49" fmla="*/ 573 h 600"/>
                <a:gd name="T50" fmla="*/ 40 w 453"/>
                <a:gd name="T51" fmla="*/ 573 h 600"/>
                <a:gd name="T52" fmla="*/ 26 w 453"/>
                <a:gd name="T53" fmla="*/ 560 h 600"/>
                <a:gd name="T54" fmla="*/ 26 w 453"/>
                <a:gd name="T55" fmla="*/ 266 h 600"/>
                <a:gd name="T56" fmla="*/ 40 w 453"/>
                <a:gd name="T57" fmla="*/ 253 h 600"/>
                <a:gd name="T58" fmla="*/ 226 w 453"/>
                <a:gd name="T59" fmla="*/ 346 h 600"/>
                <a:gd name="T60" fmla="*/ 186 w 453"/>
                <a:gd name="T61" fmla="*/ 386 h 600"/>
                <a:gd name="T62" fmla="*/ 200 w 453"/>
                <a:gd name="T63" fmla="*/ 416 h 600"/>
                <a:gd name="T64" fmla="*/ 200 w 453"/>
                <a:gd name="T65" fmla="*/ 453 h 600"/>
                <a:gd name="T66" fmla="*/ 226 w 453"/>
                <a:gd name="T67" fmla="*/ 480 h 600"/>
                <a:gd name="T68" fmla="*/ 253 w 453"/>
                <a:gd name="T69" fmla="*/ 453 h 600"/>
                <a:gd name="T70" fmla="*/ 253 w 453"/>
                <a:gd name="T71" fmla="*/ 416 h 600"/>
                <a:gd name="T72" fmla="*/ 266 w 453"/>
                <a:gd name="T73" fmla="*/ 386 h 600"/>
                <a:gd name="T74" fmla="*/ 226 w 453"/>
                <a:gd name="T75" fmla="*/ 346 h 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453" h="600">
                  <a:moveTo>
                    <a:pt x="226" y="0"/>
                  </a:moveTo>
                  <a:cubicBezTo>
                    <a:pt x="146" y="0"/>
                    <a:pt x="80" y="65"/>
                    <a:pt x="80" y="146"/>
                  </a:cubicBezTo>
                  <a:lnTo>
                    <a:pt x="80" y="226"/>
                  </a:lnTo>
                  <a:lnTo>
                    <a:pt x="40" y="226"/>
                  </a:lnTo>
                  <a:cubicBezTo>
                    <a:pt x="18" y="226"/>
                    <a:pt x="0" y="244"/>
                    <a:pt x="0" y="266"/>
                  </a:cubicBezTo>
                  <a:lnTo>
                    <a:pt x="0" y="560"/>
                  </a:lnTo>
                  <a:cubicBezTo>
                    <a:pt x="0" y="582"/>
                    <a:pt x="18" y="600"/>
                    <a:pt x="40" y="600"/>
                  </a:cubicBezTo>
                  <a:lnTo>
                    <a:pt x="413" y="600"/>
                  </a:lnTo>
                  <a:cubicBezTo>
                    <a:pt x="435" y="600"/>
                    <a:pt x="453" y="582"/>
                    <a:pt x="453" y="560"/>
                  </a:cubicBezTo>
                  <a:lnTo>
                    <a:pt x="453" y="266"/>
                  </a:lnTo>
                  <a:cubicBezTo>
                    <a:pt x="453" y="244"/>
                    <a:pt x="435" y="226"/>
                    <a:pt x="413" y="226"/>
                  </a:cubicBezTo>
                  <a:lnTo>
                    <a:pt x="373" y="226"/>
                  </a:lnTo>
                  <a:lnTo>
                    <a:pt x="373" y="146"/>
                  </a:lnTo>
                  <a:cubicBezTo>
                    <a:pt x="373" y="65"/>
                    <a:pt x="307" y="0"/>
                    <a:pt x="226" y="0"/>
                  </a:cubicBezTo>
                  <a:close/>
                  <a:moveTo>
                    <a:pt x="226" y="26"/>
                  </a:moveTo>
                  <a:cubicBezTo>
                    <a:pt x="293" y="26"/>
                    <a:pt x="346" y="80"/>
                    <a:pt x="346" y="146"/>
                  </a:cubicBezTo>
                  <a:lnTo>
                    <a:pt x="346" y="226"/>
                  </a:lnTo>
                  <a:lnTo>
                    <a:pt x="106" y="226"/>
                  </a:lnTo>
                  <a:lnTo>
                    <a:pt x="106" y="146"/>
                  </a:lnTo>
                  <a:cubicBezTo>
                    <a:pt x="106" y="80"/>
                    <a:pt x="160" y="26"/>
                    <a:pt x="226" y="26"/>
                  </a:cubicBezTo>
                  <a:close/>
                  <a:moveTo>
                    <a:pt x="40" y="253"/>
                  </a:moveTo>
                  <a:lnTo>
                    <a:pt x="413" y="253"/>
                  </a:lnTo>
                  <a:cubicBezTo>
                    <a:pt x="421" y="253"/>
                    <a:pt x="426" y="259"/>
                    <a:pt x="426" y="266"/>
                  </a:cubicBezTo>
                  <a:lnTo>
                    <a:pt x="426" y="560"/>
                  </a:lnTo>
                  <a:cubicBezTo>
                    <a:pt x="426" y="567"/>
                    <a:pt x="421" y="573"/>
                    <a:pt x="413" y="573"/>
                  </a:cubicBezTo>
                  <a:lnTo>
                    <a:pt x="40" y="573"/>
                  </a:lnTo>
                  <a:cubicBezTo>
                    <a:pt x="32" y="573"/>
                    <a:pt x="26" y="567"/>
                    <a:pt x="26" y="560"/>
                  </a:cubicBezTo>
                  <a:lnTo>
                    <a:pt x="26" y="266"/>
                  </a:lnTo>
                  <a:cubicBezTo>
                    <a:pt x="26" y="259"/>
                    <a:pt x="32" y="253"/>
                    <a:pt x="40" y="253"/>
                  </a:cubicBezTo>
                  <a:close/>
                  <a:moveTo>
                    <a:pt x="226" y="346"/>
                  </a:moveTo>
                  <a:cubicBezTo>
                    <a:pt x="204" y="346"/>
                    <a:pt x="186" y="364"/>
                    <a:pt x="186" y="386"/>
                  </a:cubicBezTo>
                  <a:cubicBezTo>
                    <a:pt x="186" y="398"/>
                    <a:pt x="192" y="409"/>
                    <a:pt x="200" y="416"/>
                  </a:cubicBezTo>
                  <a:lnTo>
                    <a:pt x="200" y="453"/>
                  </a:lnTo>
                  <a:cubicBezTo>
                    <a:pt x="200" y="468"/>
                    <a:pt x="212" y="480"/>
                    <a:pt x="226" y="480"/>
                  </a:cubicBezTo>
                  <a:cubicBezTo>
                    <a:pt x="241" y="480"/>
                    <a:pt x="253" y="468"/>
                    <a:pt x="253" y="453"/>
                  </a:cubicBezTo>
                  <a:lnTo>
                    <a:pt x="253" y="416"/>
                  </a:lnTo>
                  <a:cubicBezTo>
                    <a:pt x="261" y="409"/>
                    <a:pt x="266" y="398"/>
                    <a:pt x="266" y="386"/>
                  </a:cubicBezTo>
                  <a:cubicBezTo>
                    <a:pt x="266" y="364"/>
                    <a:pt x="249" y="346"/>
                    <a:pt x="226" y="346"/>
                  </a:cubicBezTo>
                  <a:close/>
                </a:path>
              </a:pathLst>
            </a:custGeom>
            <a:solidFill>
              <a:srgbClr val="5F5F5F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152" name="그룹 151"/>
          <p:cNvGrpSpPr/>
          <p:nvPr/>
        </p:nvGrpSpPr>
        <p:grpSpPr>
          <a:xfrm>
            <a:off x="9072393" y="781700"/>
            <a:ext cx="144000" cy="144000"/>
            <a:chOff x="9072393" y="781700"/>
            <a:chExt cx="144000" cy="144000"/>
          </a:xfrm>
        </p:grpSpPr>
        <p:sp>
          <p:nvSpPr>
            <p:cNvPr id="153" name="사각형: 둥근 모서리 296">
              <a:extLst>
                <a:ext uri="{FF2B5EF4-FFF2-40B4-BE49-F238E27FC236}">
                  <a16:creationId xmlns="" xmlns:a16="http://schemas.microsoft.com/office/drawing/2014/main" id="{5E2C148E-29FC-42C6-B221-CA7B7DA48E4E}"/>
                </a:ext>
              </a:extLst>
            </p:cNvPr>
            <p:cNvSpPr/>
            <p:nvPr/>
          </p:nvSpPr>
          <p:spPr bwMode="auto">
            <a:xfrm>
              <a:off x="9072393" y="781700"/>
              <a:ext cx="144000" cy="144000"/>
            </a:xfrm>
            <a:prstGeom prst="roundRect">
              <a:avLst/>
            </a:prstGeom>
            <a:solidFill>
              <a:srgbClr val="F3F7FB"/>
            </a:solidFill>
            <a:ln w="3175" cap="flat" cmpd="sng" algn="ctr">
              <a:solidFill>
                <a:schemeClr val="bg1">
                  <a:lumMod val="7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12700" dist="12700" dir="2700000" algn="tl" rotWithShape="0">
                <a:schemeClr val="tx1">
                  <a:lumMod val="75000"/>
                  <a:lumOff val="25000"/>
                  <a:alpha val="30000"/>
                </a:schemeClr>
              </a:outerShdw>
            </a:effectLst>
          </p:spPr>
          <p:txBody>
            <a:bodyPr rot="0" spcFirstLastPara="0" vertOverflow="overflow" horzOverflow="overflow" vert="horz" wrap="none" lIns="108000" tIns="36000" rIns="180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14400" fontAlgn="base" latinLnBrk="0">
                <a:spcBef>
                  <a:spcPct val="0"/>
                </a:spcBef>
                <a:spcAft>
                  <a:spcPct val="0"/>
                </a:spcAft>
              </a:pPr>
              <a:endParaRPr kumimoji="1" lang="ko-KR" altLang="en-US" sz="700" kern="0">
                <a:solidFill>
                  <a:srgbClr val="000000"/>
                </a:solidFill>
                <a:latin typeface="+mn-ea"/>
              </a:endParaRPr>
            </a:p>
          </p:txBody>
        </p:sp>
        <p:sp>
          <p:nvSpPr>
            <p:cNvPr id="154" name="Insert Table"/>
            <p:cNvSpPr>
              <a:spLocks noChangeAspect="1" noEditPoints="1"/>
            </p:cNvSpPr>
            <p:nvPr/>
          </p:nvSpPr>
          <p:spPr bwMode="auto">
            <a:xfrm>
              <a:off x="9090393" y="799700"/>
              <a:ext cx="108000" cy="108000"/>
            </a:xfrm>
            <a:custGeom>
              <a:avLst/>
              <a:gdLst>
                <a:gd name="T0" fmla="*/ 13 w 667"/>
                <a:gd name="T1" fmla="*/ 0 h 667"/>
                <a:gd name="T2" fmla="*/ 0 w 667"/>
                <a:gd name="T3" fmla="*/ 13 h 667"/>
                <a:gd name="T4" fmla="*/ 0 w 667"/>
                <a:gd name="T5" fmla="*/ 653 h 667"/>
                <a:gd name="T6" fmla="*/ 13 w 667"/>
                <a:gd name="T7" fmla="*/ 667 h 667"/>
                <a:gd name="T8" fmla="*/ 653 w 667"/>
                <a:gd name="T9" fmla="*/ 667 h 667"/>
                <a:gd name="T10" fmla="*/ 667 w 667"/>
                <a:gd name="T11" fmla="*/ 653 h 667"/>
                <a:gd name="T12" fmla="*/ 667 w 667"/>
                <a:gd name="T13" fmla="*/ 13 h 667"/>
                <a:gd name="T14" fmla="*/ 653 w 667"/>
                <a:gd name="T15" fmla="*/ 0 h 667"/>
                <a:gd name="T16" fmla="*/ 13 w 667"/>
                <a:gd name="T17" fmla="*/ 0 h 667"/>
                <a:gd name="T18" fmla="*/ 27 w 667"/>
                <a:gd name="T19" fmla="*/ 27 h 667"/>
                <a:gd name="T20" fmla="*/ 320 w 667"/>
                <a:gd name="T21" fmla="*/ 27 h 667"/>
                <a:gd name="T22" fmla="*/ 320 w 667"/>
                <a:gd name="T23" fmla="*/ 213 h 667"/>
                <a:gd name="T24" fmla="*/ 27 w 667"/>
                <a:gd name="T25" fmla="*/ 213 h 667"/>
                <a:gd name="T26" fmla="*/ 27 w 667"/>
                <a:gd name="T27" fmla="*/ 27 h 667"/>
                <a:gd name="T28" fmla="*/ 347 w 667"/>
                <a:gd name="T29" fmla="*/ 27 h 667"/>
                <a:gd name="T30" fmla="*/ 640 w 667"/>
                <a:gd name="T31" fmla="*/ 27 h 667"/>
                <a:gd name="T32" fmla="*/ 640 w 667"/>
                <a:gd name="T33" fmla="*/ 213 h 667"/>
                <a:gd name="T34" fmla="*/ 347 w 667"/>
                <a:gd name="T35" fmla="*/ 213 h 667"/>
                <a:gd name="T36" fmla="*/ 347 w 667"/>
                <a:gd name="T37" fmla="*/ 27 h 667"/>
                <a:gd name="T38" fmla="*/ 27 w 667"/>
                <a:gd name="T39" fmla="*/ 240 h 667"/>
                <a:gd name="T40" fmla="*/ 320 w 667"/>
                <a:gd name="T41" fmla="*/ 240 h 667"/>
                <a:gd name="T42" fmla="*/ 320 w 667"/>
                <a:gd name="T43" fmla="*/ 427 h 667"/>
                <a:gd name="T44" fmla="*/ 27 w 667"/>
                <a:gd name="T45" fmla="*/ 427 h 667"/>
                <a:gd name="T46" fmla="*/ 27 w 667"/>
                <a:gd name="T47" fmla="*/ 240 h 667"/>
                <a:gd name="T48" fmla="*/ 347 w 667"/>
                <a:gd name="T49" fmla="*/ 240 h 667"/>
                <a:gd name="T50" fmla="*/ 640 w 667"/>
                <a:gd name="T51" fmla="*/ 240 h 667"/>
                <a:gd name="T52" fmla="*/ 640 w 667"/>
                <a:gd name="T53" fmla="*/ 427 h 667"/>
                <a:gd name="T54" fmla="*/ 347 w 667"/>
                <a:gd name="T55" fmla="*/ 427 h 667"/>
                <a:gd name="T56" fmla="*/ 347 w 667"/>
                <a:gd name="T57" fmla="*/ 240 h 667"/>
                <a:gd name="T58" fmla="*/ 27 w 667"/>
                <a:gd name="T59" fmla="*/ 453 h 667"/>
                <a:gd name="T60" fmla="*/ 320 w 667"/>
                <a:gd name="T61" fmla="*/ 453 h 667"/>
                <a:gd name="T62" fmla="*/ 320 w 667"/>
                <a:gd name="T63" fmla="*/ 640 h 667"/>
                <a:gd name="T64" fmla="*/ 27 w 667"/>
                <a:gd name="T65" fmla="*/ 640 h 667"/>
                <a:gd name="T66" fmla="*/ 27 w 667"/>
                <a:gd name="T67" fmla="*/ 453 h 667"/>
                <a:gd name="T68" fmla="*/ 347 w 667"/>
                <a:gd name="T69" fmla="*/ 453 h 667"/>
                <a:gd name="T70" fmla="*/ 640 w 667"/>
                <a:gd name="T71" fmla="*/ 453 h 667"/>
                <a:gd name="T72" fmla="*/ 640 w 667"/>
                <a:gd name="T73" fmla="*/ 640 h 667"/>
                <a:gd name="T74" fmla="*/ 347 w 667"/>
                <a:gd name="T75" fmla="*/ 640 h 667"/>
                <a:gd name="T76" fmla="*/ 347 w 667"/>
                <a:gd name="T77" fmla="*/ 453 h 6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667" h="667">
                  <a:moveTo>
                    <a:pt x="13" y="0"/>
                  </a:moveTo>
                  <a:cubicBezTo>
                    <a:pt x="6" y="0"/>
                    <a:pt x="0" y="6"/>
                    <a:pt x="0" y="13"/>
                  </a:cubicBezTo>
                  <a:cubicBezTo>
                    <a:pt x="0" y="227"/>
                    <a:pt x="0" y="440"/>
                    <a:pt x="0" y="653"/>
                  </a:cubicBezTo>
                  <a:cubicBezTo>
                    <a:pt x="0" y="661"/>
                    <a:pt x="6" y="667"/>
                    <a:pt x="13" y="667"/>
                  </a:cubicBezTo>
                  <a:cubicBezTo>
                    <a:pt x="227" y="667"/>
                    <a:pt x="440" y="667"/>
                    <a:pt x="653" y="667"/>
                  </a:cubicBezTo>
                  <a:cubicBezTo>
                    <a:pt x="661" y="667"/>
                    <a:pt x="667" y="661"/>
                    <a:pt x="667" y="653"/>
                  </a:cubicBezTo>
                  <a:cubicBezTo>
                    <a:pt x="667" y="440"/>
                    <a:pt x="667" y="227"/>
                    <a:pt x="667" y="13"/>
                  </a:cubicBezTo>
                  <a:cubicBezTo>
                    <a:pt x="667" y="6"/>
                    <a:pt x="661" y="0"/>
                    <a:pt x="653" y="0"/>
                  </a:cubicBezTo>
                  <a:cubicBezTo>
                    <a:pt x="440" y="0"/>
                    <a:pt x="227" y="0"/>
                    <a:pt x="13" y="0"/>
                  </a:cubicBezTo>
                  <a:close/>
                  <a:moveTo>
                    <a:pt x="27" y="27"/>
                  </a:moveTo>
                  <a:lnTo>
                    <a:pt x="320" y="27"/>
                  </a:lnTo>
                  <a:lnTo>
                    <a:pt x="320" y="213"/>
                  </a:lnTo>
                  <a:lnTo>
                    <a:pt x="27" y="213"/>
                  </a:lnTo>
                  <a:lnTo>
                    <a:pt x="27" y="27"/>
                  </a:lnTo>
                  <a:close/>
                  <a:moveTo>
                    <a:pt x="347" y="27"/>
                  </a:moveTo>
                  <a:lnTo>
                    <a:pt x="640" y="27"/>
                  </a:lnTo>
                  <a:lnTo>
                    <a:pt x="640" y="213"/>
                  </a:lnTo>
                  <a:lnTo>
                    <a:pt x="347" y="213"/>
                  </a:lnTo>
                  <a:lnTo>
                    <a:pt x="347" y="27"/>
                  </a:lnTo>
                  <a:close/>
                  <a:moveTo>
                    <a:pt x="27" y="240"/>
                  </a:moveTo>
                  <a:lnTo>
                    <a:pt x="320" y="240"/>
                  </a:lnTo>
                  <a:lnTo>
                    <a:pt x="320" y="427"/>
                  </a:lnTo>
                  <a:lnTo>
                    <a:pt x="27" y="427"/>
                  </a:lnTo>
                  <a:lnTo>
                    <a:pt x="27" y="240"/>
                  </a:lnTo>
                  <a:close/>
                  <a:moveTo>
                    <a:pt x="347" y="240"/>
                  </a:moveTo>
                  <a:lnTo>
                    <a:pt x="640" y="240"/>
                  </a:lnTo>
                  <a:lnTo>
                    <a:pt x="640" y="427"/>
                  </a:lnTo>
                  <a:lnTo>
                    <a:pt x="347" y="427"/>
                  </a:lnTo>
                  <a:lnTo>
                    <a:pt x="347" y="240"/>
                  </a:lnTo>
                  <a:close/>
                  <a:moveTo>
                    <a:pt x="27" y="453"/>
                  </a:moveTo>
                  <a:lnTo>
                    <a:pt x="320" y="453"/>
                  </a:lnTo>
                  <a:lnTo>
                    <a:pt x="320" y="640"/>
                  </a:lnTo>
                  <a:lnTo>
                    <a:pt x="27" y="640"/>
                  </a:lnTo>
                  <a:lnTo>
                    <a:pt x="27" y="453"/>
                  </a:lnTo>
                  <a:close/>
                  <a:moveTo>
                    <a:pt x="347" y="453"/>
                  </a:moveTo>
                  <a:lnTo>
                    <a:pt x="640" y="453"/>
                  </a:lnTo>
                  <a:lnTo>
                    <a:pt x="640" y="640"/>
                  </a:lnTo>
                  <a:lnTo>
                    <a:pt x="347" y="640"/>
                  </a:lnTo>
                  <a:lnTo>
                    <a:pt x="347" y="453"/>
                  </a:lnTo>
                  <a:close/>
                </a:path>
              </a:pathLst>
            </a:custGeom>
            <a:solidFill>
              <a:srgbClr val="5F5F5F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155" name="그룹 154"/>
          <p:cNvGrpSpPr/>
          <p:nvPr/>
        </p:nvGrpSpPr>
        <p:grpSpPr>
          <a:xfrm>
            <a:off x="9287906" y="781700"/>
            <a:ext cx="144000" cy="144000"/>
            <a:chOff x="9287906" y="781700"/>
            <a:chExt cx="144000" cy="144000"/>
          </a:xfrm>
        </p:grpSpPr>
        <p:sp>
          <p:nvSpPr>
            <p:cNvPr id="156" name="사각형: 둥근 모서리 296">
              <a:extLst>
                <a:ext uri="{FF2B5EF4-FFF2-40B4-BE49-F238E27FC236}">
                  <a16:creationId xmlns="" xmlns:a16="http://schemas.microsoft.com/office/drawing/2014/main" id="{5E2C148E-29FC-42C6-B221-CA7B7DA48E4E}"/>
                </a:ext>
              </a:extLst>
            </p:cNvPr>
            <p:cNvSpPr/>
            <p:nvPr/>
          </p:nvSpPr>
          <p:spPr bwMode="auto">
            <a:xfrm>
              <a:off x="9287906" y="781700"/>
              <a:ext cx="144000" cy="144000"/>
            </a:xfrm>
            <a:prstGeom prst="roundRect">
              <a:avLst/>
            </a:prstGeom>
            <a:solidFill>
              <a:srgbClr val="F3F7FB"/>
            </a:solidFill>
            <a:ln w="3175" cap="flat" cmpd="sng" algn="ctr">
              <a:solidFill>
                <a:schemeClr val="bg1">
                  <a:lumMod val="7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12700" dist="12700" dir="2700000" algn="tl" rotWithShape="0">
                <a:schemeClr val="tx1">
                  <a:lumMod val="75000"/>
                  <a:lumOff val="25000"/>
                  <a:alpha val="30000"/>
                </a:schemeClr>
              </a:outerShdw>
            </a:effectLst>
          </p:spPr>
          <p:txBody>
            <a:bodyPr rot="0" spcFirstLastPara="0" vertOverflow="overflow" horzOverflow="overflow" vert="horz" wrap="none" lIns="108000" tIns="36000" rIns="180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14400" fontAlgn="base" latinLnBrk="0">
                <a:spcBef>
                  <a:spcPct val="0"/>
                </a:spcBef>
                <a:spcAft>
                  <a:spcPct val="0"/>
                </a:spcAft>
              </a:pPr>
              <a:endParaRPr kumimoji="1" lang="ko-KR" altLang="en-US" sz="700" kern="0">
                <a:solidFill>
                  <a:srgbClr val="000000"/>
                </a:solidFill>
                <a:latin typeface="+mn-ea"/>
              </a:endParaRPr>
            </a:p>
          </p:txBody>
        </p:sp>
        <p:sp>
          <p:nvSpPr>
            <p:cNvPr id="157" name="Export"/>
            <p:cNvSpPr>
              <a:spLocks noChangeAspect="1" noEditPoints="1"/>
            </p:cNvSpPr>
            <p:nvPr/>
          </p:nvSpPr>
          <p:spPr bwMode="auto">
            <a:xfrm>
              <a:off x="9306955" y="799700"/>
              <a:ext cx="105903" cy="108000"/>
            </a:xfrm>
            <a:custGeom>
              <a:avLst/>
              <a:gdLst>
                <a:gd name="T0" fmla="*/ 14 w 659"/>
                <a:gd name="T1" fmla="*/ 0 h 668"/>
                <a:gd name="T2" fmla="*/ 0 w 659"/>
                <a:gd name="T3" fmla="*/ 14 h 668"/>
                <a:gd name="T4" fmla="*/ 0 w 659"/>
                <a:gd name="T5" fmla="*/ 654 h 668"/>
                <a:gd name="T6" fmla="*/ 14 w 659"/>
                <a:gd name="T7" fmla="*/ 668 h 668"/>
                <a:gd name="T8" fmla="*/ 414 w 659"/>
                <a:gd name="T9" fmla="*/ 668 h 668"/>
                <a:gd name="T10" fmla="*/ 428 w 659"/>
                <a:gd name="T11" fmla="*/ 654 h 668"/>
                <a:gd name="T12" fmla="*/ 428 w 659"/>
                <a:gd name="T13" fmla="*/ 521 h 668"/>
                <a:gd name="T14" fmla="*/ 400 w 659"/>
                <a:gd name="T15" fmla="*/ 521 h 668"/>
                <a:gd name="T16" fmla="*/ 400 w 659"/>
                <a:gd name="T17" fmla="*/ 640 h 668"/>
                <a:gd name="T18" fmla="*/ 28 w 659"/>
                <a:gd name="T19" fmla="*/ 640 h 668"/>
                <a:gd name="T20" fmla="*/ 28 w 659"/>
                <a:gd name="T21" fmla="*/ 28 h 668"/>
                <a:gd name="T22" fmla="*/ 400 w 659"/>
                <a:gd name="T23" fmla="*/ 28 h 668"/>
                <a:gd name="T24" fmla="*/ 400 w 659"/>
                <a:gd name="T25" fmla="*/ 148 h 668"/>
                <a:gd name="T26" fmla="*/ 428 w 659"/>
                <a:gd name="T27" fmla="*/ 148 h 668"/>
                <a:gd name="T28" fmla="*/ 428 w 659"/>
                <a:gd name="T29" fmla="*/ 14 h 668"/>
                <a:gd name="T30" fmla="*/ 414 w 659"/>
                <a:gd name="T31" fmla="*/ 0 h 668"/>
                <a:gd name="T32" fmla="*/ 14 w 659"/>
                <a:gd name="T33" fmla="*/ 0 h 668"/>
                <a:gd name="T34" fmla="*/ 522 w 659"/>
                <a:gd name="T35" fmla="*/ 202 h 668"/>
                <a:gd name="T36" fmla="*/ 513 w 659"/>
                <a:gd name="T37" fmla="*/ 225 h 668"/>
                <a:gd name="T38" fmla="*/ 608 w 659"/>
                <a:gd name="T39" fmla="*/ 321 h 668"/>
                <a:gd name="T40" fmla="*/ 214 w 659"/>
                <a:gd name="T41" fmla="*/ 321 h 668"/>
                <a:gd name="T42" fmla="*/ 214 w 659"/>
                <a:gd name="T43" fmla="*/ 348 h 668"/>
                <a:gd name="T44" fmla="*/ 608 w 659"/>
                <a:gd name="T45" fmla="*/ 348 h 668"/>
                <a:gd name="T46" fmla="*/ 513 w 659"/>
                <a:gd name="T47" fmla="*/ 443 h 668"/>
                <a:gd name="T48" fmla="*/ 531 w 659"/>
                <a:gd name="T49" fmla="*/ 462 h 668"/>
                <a:gd name="T50" fmla="*/ 659 w 659"/>
                <a:gd name="T51" fmla="*/ 334 h 668"/>
                <a:gd name="T52" fmla="*/ 531 w 659"/>
                <a:gd name="T53" fmla="*/ 206 h 668"/>
                <a:gd name="T54" fmla="*/ 522 w 659"/>
                <a:gd name="T55" fmla="*/ 202 h 6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659" h="668">
                  <a:moveTo>
                    <a:pt x="14" y="0"/>
                  </a:moveTo>
                  <a:cubicBezTo>
                    <a:pt x="6" y="0"/>
                    <a:pt x="0" y="7"/>
                    <a:pt x="0" y="14"/>
                  </a:cubicBezTo>
                  <a:lnTo>
                    <a:pt x="0" y="654"/>
                  </a:lnTo>
                  <a:cubicBezTo>
                    <a:pt x="0" y="662"/>
                    <a:pt x="6" y="668"/>
                    <a:pt x="14" y="668"/>
                  </a:cubicBezTo>
                  <a:lnTo>
                    <a:pt x="414" y="668"/>
                  </a:lnTo>
                  <a:cubicBezTo>
                    <a:pt x="421" y="668"/>
                    <a:pt x="428" y="662"/>
                    <a:pt x="428" y="654"/>
                  </a:cubicBezTo>
                  <a:lnTo>
                    <a:pt x="428" y="521"/>
                  </a:lnTo>
                  <a:lnTo>
                    <a:pt x="400" y="521"/>
                  </a:lnTo>
                  <a:lnTo>
                    <a:pt x="400" y="640"/>
                  </a:lnTo>
                  <a:lnTo>
                    <a:pt x="28" y="640"/>
                  </a:lnTo>
                  <a:lnTo>
                    <a:pt x="28" y="28"/>
                  </a:lnTo>
                  <a:lnTo>
                    <a:pt x="400" y="28"/>
                  </a:lnTo>
                  <a:lnTo>
                    <a:pt x="400" y="148"/>
                  </a:lnTo>
                  <a:lnTo>
                    <a:pt x="428" y="148"/>
                  </a:lnTo>
                  <a:lnTo>
                    <a:pt x="428" y="14"/>
                  </a:lnTo>
                  <a:cubicBezTo>
                    <a:pt x="428" y="7"/>
                    <a:pt x="421" y="0"/>
                    <a:pt x="414" y="0"/>
                  </a:cubicBezTo>
                  <a:lnTo>
                    <a:pt x="14" y="0"/>
                  </a:lnTo>
                  <a:close/>
                  <a:moveTo>
                    <a:pt x="522" y="202"/>
                  </a:moveTo>
                  <a:cubicBezTo>
                    <a:pt x="510" y="202"/>
                    <a:pt x="504" y="217"/>
                    <a:pt x="513" y="225"/>
                  </a:cubicBezTo>
                  <a:lnTo>
                    <a:pt x="608" y="321"/>
                  </a:lnTo>
                  <a:lnTo>
                    <a:pt x="214" y="321"/>
                  </a:lnTo>
                  <a:cubicBezTo>
                    <a:pt x="196" y="321"/>
                    <a:pt x="196" y="348"/>
                    <a:pt x="214" y="348"/>
                  </a:cubicBezTo>
                  <a:lnTo>
                    <a:pt x="608" y="348"/>
                  </a:lnTo>
                  <a:lnTo>
                    <a:pt x="513" y="443"/>
                  </a:lnTo>
                  <a:cubicBezTo>
                    <a:pt x="499" y="456"/>
                    <a:pt x="519" y="475"/>
                    <a:pt x="531" y="462"/>
                  </a:cubicBezTo>
                  <a:lnTo>
                    <a:pt x="659" y="334"/>
                  </a:lnTo>
                  <a:lnTo>
                    <a:pt x="531" y="206"/>
                  </a:lnTo>
                  <a:cubicBezTo>
                    <a:pt x="529" y="204"/>
                    <a:pt x="525" y="202"/>
                    <a:pt x="522" y="202"/>
                  </a:cubicBezTo>
                  <a:close/>
                </a:path>
              </a:pathLst>
            </a:custGeom>
            <a:solidFill>
              <a:srgbClr val="5F5F5F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sp>
        <p:nvSpPr>
          <p:cNvPr id="361" name="직사각형 360"/>
          <p:cNvSpPr/>
          <p:nvPr/>
        </p:nvSpPr>
        <p:spPr>
          <a:xfrm>
            <a:off x="143906" y="1717699"/>
            <a:ext cx="1080000" cy="216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36000" rIns="108000" bIns="36000" rtlCol="0" anchor="ctr"/>
          <a:lstStyle/>
          <a:p>
            <a:r>
              <a:rPr lang="ko-KR" altLang="en-US" sz="7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─ 주문관리</a:t>
            </a:r>
          </a:p>
        </p:txBody>
      </p:sp>
      <p:sp>
        <p:nvSpPr>
          <p:cNvPr id="362" name="직사각형 361"/>
          <p:cNvSpPr/>
          <p:nvPr/>
        </p:nvSpPr>
        <p:spPr>
          <a:xfrm>
            <a:off x="143906" y="1933699"/>
            <a:ext cx="1080000" cy="216000"/>
          </a:xfrm>
          <a:prstGeom prst="rect">
            <a:avLst/>
          </a:prstGeom>
          <a:solidFill>
            <a:srgbClr val="C0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ko-KR" altLang="en-US" sz="6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주문목록</a:t>
            </a:r>
          </a:p>
        </p:txBody>
      </p:sp>
      <p:sp>
        <p:nvSpPr>
          <p:cNvPr id="363" name="직사각형 362"/>
          <p:cNvSpPr/>
          <p:nvPr/>
        </p:nvSpPr>
        <p:spPr>
          <a:xfrm>
            <a:off x="143906" y="2149867"/>
            <a:ext cx="1080000" cy="216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ko-KR" altLang="en-US" sz="6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주문목록</a:t>
            </a:r>
            <a:r>
              <a:rPr lang="en-US" altLang="ko-KR" sz="6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(CS)</a:t>
            </a:r>
            <a:endParaRPr lang="ko-KR" altLang="en-US" sz="6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64" name="직사각형 363"/>
          <p:cNvSpPr/>
          <p:nvPr/>
        </p:nvSpPr>
        <p:spPr>
          <a:xfrm>
            <a:off x="143906" y="2366035"/>
            <a:ext cx="1080000" cy="216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ko-KR" altLang="en-US" sz="6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외부몰주문등록</a:t>
            </a:r>
          </a:p>
        </p:txBody>
      </p:sp>
      <p:sp>
        <p:nvSpPr>
          <p:cNvPr id="365" name="직사각형 364"/>
          <p:cNvSpPr/>
          <p:nvPr/>
        </p:nvSpPr>
        <p:spPr>
          <a:xfrm>
            <a:off x="143906" y="2582158"/>
            <a:ext cx="1080000" cy="216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ko-KR" altLang="en-US" sz="6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품절사유목록</a:t>
            </a:r>
            <a:endParaRPr lang="ko-KR" altLang="en-US" sz="6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66" name="직사각형 365"/>
          <p:cNvSpPr/>
          <p:nvPr/>
        </p:nvSpPr>
        <p:spPr>
          <a:xfrm>
            <a:off x="143906" y="2798281"/>
            <a:ext cx="1080000" cy="216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r>
              <a:rPr lang="ko-KR" altLang="en-US" sz="6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품절목록</a:t>
            </a:r>
            <a:endParaRPr lang="ko-KR" altLang="en-US" sz="6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67" name="직사각형 366"/>
          <p:cNvSpPr/>
          <p:nvPr/>
        </p:nvSpPr>
        <p:spPr>
          <a:xfrm>
            <a:off x="143906" y="3014404"/>
            <a:ext cx="1080000" cy="216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ko-KR" altLang="en-US" sz="6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결품안내관리</a:t>
            </a:r>
          </a:p>
        </p:txBody>
      </p:sp>
      <p:sp>
        <p:nvSpPr>
          <p:cNvPr id="368" name="직사각형 367"/>
          <p:cNvSpPr/>
          <p:nvPr/>
        </p:nvSpPr>
        <p:spPr>
          <a:xfrm>
            <a:off x="143906" y="3228059"/>
            <a:ext cx="1080000" cy="216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ko-KR" altLang="en-US" sz="6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외부몰주문가격확인</a:t>
            </a:r>
            <a:endParaRPr lang="ko-KR" altLang="en-US" sz="6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69" name="직사각형 368"/>
          <p:cNvSpPr/>
          <p:nvPr/>
        </p:nvSpPr>
        <p:spPr>
          <a:xfrm>
            <a:off x="143906" y="3444227"/>
            <a:ext cx="1080000" cy="216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ko-KR" altLang="en-US" sz="6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반품요청현황</a:t>
            </a:r>
          </a:p>
        </p:txBody>
      </p:sp>
      <p:sp>
        <p:nvSpPr>
          <p:cNvPr id="370" name="직사각형 369"/>
          <p:cNvSpPr/>
          <p:nvPr/>
        </p:nvSpPr>
        <p:spPr>
          <a:xfrm>
            <a:off x="143906" y="3660395"/>
            <a:ext cx="1080000" cy="216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ko-KR" altLang="en-US" sz="6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입점사미발주목록</a:t>
            </a:r>
          </a:p>
        </p:txBody>
      </p:sp>
      <p:sp>
        <p:nvSpPr>
          <p:cNvPr id="371" name="직사각형 370"/>
          <p:cNvSpPr/>
          <p:nvPr/>
        </p:nvSpPr>
        <p:spPr>
          <a:xfrm>
            <a:off x="143906" y="3876518"/>
            <a:ext cx="1080000" cy="216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ko-KR" altLang="en-US" sz="6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재결제미결목록</a:t>
            </a:r>
            <a:endParaRPr lang="ko-KR" altLang="en-US" sz="6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72" name="직사각형 371"/>
          <p:cNvSpPr/>
          <p:nvPr/>
        </p:nvSpPr>
        <p:spPr>
          <a:xfrm>
            <a:off x="143906" y="4092641"/>
            <a:ext cx="1080000" cy="216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r>
              <a:rPr lang="ko-KR" altLang="en-US" sz="6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계좌입금내역</a:t>
            </a:r>
            <a:endParaRPr lang="ko-KR" altLang="en-US" sz="6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73" name="직사각형 372"/>
          <p:cNvSpPr/>
          <p:nvPr/>
        </p:nvSpPr>
        <p:spPr>
          <a:xfrm>
            <a:off x="143906" y="4308764"/>
            <a:ext cx="1080000" cy="216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ko-KR" altLang="en-US" sz="6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피팅예약관리</a:t>
            </a:r>
          </a:p>
        </p:txBody>
      </p:sp>
      <p:sp>
        <p:nvSpPr>
          <p:cNvPr id="112" name="직사각형 111">
            <a:extLst>
              <a:ext uri="{FF2B5EF4-FFF2-40B4-BE49-F238E27FC236}">
                <a16:creationId xmlns="" xmlns:a16="http://schemas.microsoft.com/office/drawing/2014/main" id="{D6E71F9F-6A05-4858-BCF1-F73872A38DCC}"/>
              </a:ext>
            </a:extLst>
          </p:cNvPr>
          <p:cNvSpPr/>
          <p:nvPr/>
        </p:nvSpPr>
        <p:spPr>
          <a:xfrm>
            <a:off x="1367906" y="1717723"/>
            <a:ext cx="900000" cy="288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36000" rIns="108000" bIns="36000" rtlCol="0" anchor="ctr"/>
          <a:lstStyle/>
          <a:p>
            <a:r>
              <a:rPr lang="ko-KR" altLang="en-US" sz="7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주문자명</a:t>
            </a:r>
            <a:endParaRPr lang="ko-KR" altLang="en-US" sz="700" dirty="0">
              <a:solidFill>
                <a:srgbClr val="C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14" name="직사각형 113">
            <a:extLst>
              <a:ext uri="{FF2B5EF4-FFF2-40B4-BE49-F238E27FC236}">
                <a16:creationId xmlns="" xmlns:a16="http://schemas.microsoft.com/office/drawing/2014/main" id="{869F0D91-4426-412C-8A0D-962A34E6A583}"/>
              </a:ext>
            </a:extLst>
          </p:cNvPr>
          <p:cNvSpPr/>
          <p:nvPr/>
        </p:nvSpPr>
        <p:spPr>
          <a:xfrm>
            <a:off x="2267699" y="1717723"/>
            <a:ext cx="1080000" cy="288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36000" rIns="108000" bIns="36000" rtlCol="0" anchor="ctr"/>
          <a:lstStyle/>
          <a:p>
            <a:endParaRPr lang="ko-KR" altLang="en-US" sz="80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75" name="모서리가 둥근 직사각형 184">
            <a:extLst>
              <a:ext uri="{FF2B5EF4-FFF2-40B4-BE49-F238E27FC236}">
                <a16:creationId xmlns="" xmlns:a16="http://schemas.microsoft.com/office/drawing/2014/main" id="{7C4181B1-00DE-4B1A-9AF4-36726F2433BA}"/>
              </a:ext>
            </a:extLst>
          </p:cNvPr>
          <p:cNvSpPr/>
          <p:nvPr/>
        </p:nvSpPr>
        <p:spPr bwMode="auto">
          <a:xfrm>
            <a:off x="2339906" y="1771723"/>
            <a:ext cx="936000" cy="180000"/>
          </a:xfrm>
          <a:prstGeom prst="roundRect">
            <a:avLst/>
          </a:prstGeom>
          <a:solidFill>
            <a:srgbClr val="FFFFEF"/>
          </a:solidFill>
          <a:ln w="3175" cap="flat" cmpd="sng" algn="ctr">
            <a:solidFill>
              <a:schemeClr val="bg1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none" lIns="108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defTabSz="914400" fontAlgn="base" latinLnBrk="0">
              <a:spcBef>
                <a:spcPct val="0"/>
              </a:spcBef>
              <a:spcAft>
                <a:spcPct val="0"/>
              </a:spcAft>
            </a:pPr>
            <a:endParaRPr kumimoji="1" lang="ko-KR" altLang="en-US" sz="700" b="0" i="0" u="none" strike="noStrike" kern="0" cap="none" spc="0" normalizeH="0" baseline="0" noProof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76" name="직사각형 375">
            <a:extLst>
              <a:ext uri="{FF2B5EF4-FFF2-40B4-BE49-F238E27FC236}">
                <a16:creationId xmlns="" xmlns:a16="http://schemas.microsoft.com/office/drawing/2014/main" id="{D6E71F9F-6A05-4858-BCF1-F73872A38DCC}"/>
              </a:ext>
            </a:extLst>
          </p:cNvPr>
          <p:cNvSpPr/>
          <p:nvPr/>
        </p:nvSpPr>
        <p:spPr>
          <a:xfrm>
            <a:off x="3347492" y="1717723"/>
            <a:ext cx="900000" cy="576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36000" rIns="108000" bIns="36000" rtlCol="0" anchor="ctr"/>
          <a:lstStyle/>
          <a:p>
            <a:r>
              <a:rPr lang="ko-KR" altLang="en-US" sz="7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주문번호</a:t>
            </a:r>
            <a:endParaRPr lang="en-US" altLang="ko-KR" sz="70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7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7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총 </a:t>
            </a:r>
            <a:r>
              <a:rPr lang="en-US" altLang="ko-KR" sz="70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</a:t>
            </a:r>
            <a:r>
              <a:rPr lang="ko-KR" altLang="en-US" sz="7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건</a:t>
            </a:r>
            <a:r>
              <a:rPr lang="en-US" altLang="ko-KR" sz="7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endParaRPr lang="ko-KR" altLang="en-US" sz="700" dirty="0">
              <a:solidFill>
                <a:srgbClr val="C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77" name="직사각형 376">
            <a:extLst>
              <a:ext uri="{FF2B5EF4-FFF2-40B4-BE49-F238E27FC236}">
                <a16:creationId xmlns="" xmlns:a16="http://schemas.microsoft.com/office/drawing/2014/main" id="{869F0D91-4426-412C-8A0D-962A34E6A583}"/>
              </a:ext>
            </a:extLst>
          </p:cNvPr>
          <p:cNvSpPr/>
          <p:nvPr/>
        </p:nvSpPr>
        <p:spPr>
          <a:xfrm>
            <a:off x="4247285" y="1717723"/>
            <a:ext cx="1116000" cy="576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36000" rIns="108000" bIns="36000" rtlCol="0" anchor="ctr"/>
          <a:lstStyle/>
          <a:p>
            <a:endParaRPr lang="ko-KR" altLang="en-US" sz="80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78" name="모서리가 둥근 직사각형 184">
            <a:extLst>
              <a:ext uri="{FF2B5EF4-FFF2-40B4-BE49-F238E27FC236}">
                <a16:creationId xmlns="" xmlns:a16="http://schemas.microsoft.com/office/drawing/2014/main" id="{7C4181B1-00DE-4B1A-9AF4-36726F2433BA}"/>
              </a:ext>
            </a:extLst>
          </p:cNvPr>
          <p:cNvSpPr/>
          <p:nvPr/>
        </p:nvSpPr>
        <p:spPr bwMode="auto">
          <a:xfrm>
            <a:off x="4319422" y="1771723"/>
            <a:ext cx="720000" cy="468000"/>
          </a:xfrm>
          <a:prstGeom prst="roundRect">
            <a:avLst/>
          </a:prstGeom>
          <a:solidFill>
            <a:srgbClr val="FFFFEF"/>
          </a:solidFill>
          <a:ln w="3175" cap="flat" cmpd="sng" algn="ctr">
            <a:solidFill>
              <a:schemeClr val="bg1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none" lIns="108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defTabSz="914400" fontAlgn="base" latinLnBrk="0">
              <a:spcBef>
                <a:spcPct val="0"/>
              </a:spcBef>
              <a:spcAft>
                <a:spcPct val="0"/>
              </a:spcAft>
            </a:pPr>
            <a:endParaRPr kumimoji="1" lang="ko-KR" altLang="en-US" sz="700" b="0" i="0" u="none" strike="noStrike" kern="0" cap="none" spc="0" normalizeH="0" baseline="0" noProof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31" name="그룹 30"/>
          <p:cNvGrpSpPr/>
          <p:nvPr/>
        </p:nvGrpSpPr>
        <p:grpSpPr>
          <a:xfrm>
            <a:off x="1367906" y="2005723"/>
            <a:ext cx="1979793" cy="288000"/>
            <a:chOff x="1367906" y="2005532"/>
            <a:chExt cx="1979793" cy="288000"/>
          </a:xfrm>
        </p:grpSpPr>
        <p:sp>
          <p:nvSpPr>
            <p:cNvPr id="325" name="직사각형 324">
              <a:extLst>
                <a:ext uri="{FF2B5EF4-FFF2-40B4-BE49-F238E27FC236}">
                  <a16:creationId xmlns="" xmlns:a16="http://schemas.microsoft.com/office/drawing/2014/main" id="{D6E71F9F-6A05-4858-BCF1-F73872A38DCC}"/>
                </a:ext>
              </a:extLst>
            </p:cNvPr>
            <p:cNvSpPr/>
            <p:nvPr/>
          </p:nvSpPr>
          <p:spPr>
            <a:xfrm>
              <a:off x="1367906" y="2005532"/>
              <a:ext cx="900000" cy="288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36000" rIns="108000" bIns="36000" rtlCol="0" anchor="ctr"/>
            <a:lstStyle/>
            <a:p>
              <a:r>
                <a:rPr lang="ko-KR" altLang="en-US" sz="7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주문자</a:t>
              </a:r>
              <a:r>
                <a:rPr lang="en-US" altLang="ko-KR" sz="7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ID</a:t>
              </a:r>
              <a:endParaRPr lang="ko-KR" altLang="en-US" sz="70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393" name="직사각형 392">
              <a:extLst>
                <a:ext uri="{FF2B5EF4-FFF2-40B4-BE49-F238E27FC236}">
                  <a16:creationId xmlns="" xmlns:a16="http://schemas.microsoft.com/office/drawing/2014/main" id="{869F0D91-4426-412C-8A0D-962A34E6A583}"/>
                </a:ext>
              </a:extLst>
            </p:cNvPr>
            <p:cNvSpPr/>
            <p:nvPr/>
          </p:nvSpPr>
          <p:spPr>
            <a:xfrm>
              <a:off x="2267699" y="2005532"/>
              <a:ext cx="1080000" cy="288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36000" rIns="108000" bIns="36000" rtlCol="0" anchor="ctr"/>
            <a:lstStyle/>
            <a:p>
              <a:endParaRPr lang="ko-KR" altLang="en-US" sz="8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394" name="모서리가 둥근 직사각형 184">
              <a:extLst>
                <a:ext uri="{FF2B5EF4-FFF2-40B4-BE49-F238E27FC236}">
                  <a16:creationId xmlns="" xmlns:a16="http://schemas.microsoft.com/office/drawing/2014/main" id="{7C4181B1-00DE-4B1A-9AF4-36726F2433BA}"/>
                </a:ext>
              </a:extLst>
            </p:cNvPr>
            <p:cNvSpPr/>
            <p:nvPr/>
          </p:nvSpPr>
          <p:spPr bwMode="auto">
            <a:xfrm>
              <a:off x="2339906" y="2059532"/>
              <a:ext cx="936000" cy="180000"/>
            </a:xfrm>
            <a:prstGeom prst="roundRect">
              <a:avLst/>
            </a:prstGeom>
            <a:solidFill>
              <a:srgbClr val="FFFFEF"/>
            </a:solidFill>
            <a:ln w="3175" cap="flat" cmpd="sng" algn="ctr">
              <a:solidFill>
                <a:schemeClr val="bg1">
                  <a:lumMod val="7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none" lIns="108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defTabSz="914400" fontAlgn="base" latinLnBrk="0">
                <a:spcBef>
                  <a:spcPct val="0"/>
                </a:spcBef>
                <a:spcAft>
                  <a:spcPct val="0"/>
                </a:spcAft>
              </a:pPr>
              <a:endParaRPr kumimoji="1" lang="ko-KR" altLang="en-US" sz="700" b="0" i="0" u="none" strike="noStrike" kern="0" cap="none" spc="0" normalizeH="0" baseline="0" noProof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grpSp>
        <p:nvGrpSpPr>
          <p:cNvPr id="17" name="그룹 16"/>
          <p:cNvGrpSpPr/>
          <p:nvPr/>
        </p:nvGrpSpPr>
        <p:grpSpPr>
          <a:xfrm>
            <a:off x="1367906" y="2293723"/>
            <a:ext cx="3995379" cy="288000"/>
            <a:chOff x="1367906" y="2293723"/>
            <a:chExt cx="3995379" cy="288000"/>
          </a:xfrm>
        </p:grpSpPr>
        <p:sp>
          <p:nvSpPr>
            <p:cNvPr id="159" name="직사각형 158">
              <a:extLst>
                <a:ext uri="{FF2B5EF4-FFF2-40B4-BE49-F238E27FC236}">
                  <a16:creationId xmlns="" xmlns:a16="http://schemas.microsoft.com/office/drawing/2014/main" id="{C3CBC899-E192-4597-B3EF-23483E494D33}"/>
                </a:ext>
              </a:extLst>
            </p:cNvPr>
            <p:cNvSpPr/>
            <p:nvPr/>
          </p:nvSpPr>
          <p:spPr>
            <a:xfrm>
              <a:off x="1367906" y="2293723"/>
              <a:ext cx="900000" cy="288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36000" rIns="108000" bIns="36000" rtlCol="0" anchor="ctr"/>
            <a:lstStyle/>
            <a:p>
              <a:r>
                <a:rPr lang="ko-KR" altLang="en-US" sz="7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요청구분</a:t>
              </a:r>
            </a:p>
          </p:txBody>
        </p:sp>
        <p:sp>
          <p:nvSpPr>
            <p:cNvPr id="160" name="직사각형 159">
              <a:extLst>
                <a:ext uri="{FF2B5EF4-FFF2-40B4-BE49-F238E27FC236}">
                  <a16:creationId xmlns="" xmlns:a16="http://schemas.microsoft.com/office/drawing/2014/main" id="{C8E8B8B5-F2A9-4F2D-8F41-E83BE71E8F5A}"/>
                </a:ext>
              </a:extLst>
            </p:cNvPr>
            <p:cNvSpPr/>
            <p:nvPr/>
          </p:nvSpPr>
          <p:spPr>
            <a:xfrm>
              <a:off x="2266455" y="2293723"/>
              <a:ext cx="1080000" cy="288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36000" rIns="108000" bIns="36000" rtlCol="0" anchor="ctr"/>
            <a:lstStyle/>
            <a:p>
              <a:endParaRPr lang="ko-KR" altLang="en-US" sz="8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grpSp>
          <p:nvGrpSpPr>
            <p:cNvPr id="401" name="그룹 400">
              <a:extLst>
                <a:ext uri="{FF2B5EF4-FFF2-40B4-BE49-F238E27FC236}">
                  <a16:creationId xmlns="" xmlns:a16="http://schemas.microsoft.com/office/drawing/2014/main" id="{CE03C03E-4F04-4133-AEEC-AC03458859A7}"/>
                </a:ext>
              </a:extLst>
            </p:cNvPr>
            <p:cNvGrpSpPr/>
            <p:nvPr/>
          </p:nvGrpSpPr>
          <p:grpSpPr>
            <a:xfrm>
              <a:off x="2339906" y="2347723"/>
              <a:ext cx="936000" cy="180000"/>
              <a:chOff x="2554666" y="3787347"/>
              <a:chExt cx="936000" cy="180000"/>
            </a:xfrm>
          </p:grpSpPr>
          <p:sp>
            <p:nvSpPr>
              <p:cNvPr id="402" name="모서리가 둥근 직사각형 139">
                <a:extLst>
                  <a:ext uri="{FF2B5EF4-FFF2-40B4-BE49-F238E27FC236}">
                    <a16:creationId xmlns="" xmlns:a16="http://schemas.microsoft.com/office/drawing/2014/main" id="{D20B2316-7950-45D5-A329-DFCDAA416345}"/>
                  </a:ext>
                </a:extLst>
              </p:cNvPr>
              <p:cNvSpPr/>
              <p:nvPr/>
            </p:nvSpPr>
            <p:spPr bwMode="auto">
              <a:xfrm>
                <a:off x="2554666" y="3787347"/>
                <a:ext cx="936000" cy="180000"/>
              </a:xfrm>
              <a:prstGeom prst="roundRect">
                <a:avLst/>
              </a:prstGeom>
              <a:solidFill>
                <a:schemeClr val="bg1"/>
              </a:solidFill>
              <a:ln w="3175" cap="flat" cmpd="sng" algn="ctr">
                <a:solidFill>
                  <a:schemeClr val="bg1">
                    <a:lumMod val="7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rot="0" spcFirstLastPara="0" vertOverflow="overflow" horzOverflow="overflow" vert="horz" wrap="none" lIns="108000" tIns="36000" rIns="36000" bIns="36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fontAlgn="base" latinLnBrk="0">
                  <a:spcBef>
                    <a:spcPct val="0"/>
                  </a:spcBef>
                  <a:spcAft>
                    <a:spcPct val="0"/>
                  </a:spcAft>
                </a:pPr>
                <a:r>
                  <a:rPr kumimoji="1" lang="en-US" altLang="ko-KR" sz="700" kern="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+mn-ea"/>
                  </a:rPr>
                  <a:t>[</a:t>
                </a:r>
                <a:r>
                  <a:rPr kumimoji="1" lang="ko-KR" altLang="en-US" sz="700" kern="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+mn-ea"/>
                  </a:rPr>
                  <a:t>전체</a:t>
                </a:r>
                <a:r>
                  <a:rPr kumimoji="1" lang="en-US" altLang="ko-KR" sz="700" kern="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+mn-ea"/>
                  </a:rPr>
                  <a:t>]</a:t>
                </a:r>
                <a:endParaRPr kumimoji="1" lang="ko-KR" altLang="en-US" sz="700" kern="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endParaRPr>
              </a:p>
            </p:txBody>
          </p:sp>
          <p:sp>
            <p:nvSpPr>
              <p:cNvPr id="404" name="모서리가 둥근 직사각형 141">
                <a:extLst>
                  <a:ext uri="{FF2B5EF4-FFF2-40B4-BE49-F238E27FC236}">
                    <a16:creationId xmlns="" xmlns:a16="http://schemas.microsoft.com/office/drawing/2014/main" id="{9D3BF834-DC28-4D1A-B5CB-ED60EA5C7751}"/>
                  </a:ext>
                </a:extLst>
              </p:cNvPr>
              <p:cNvSpPr/>
              <p:nvPr/>
            </p:nvSpPr>
            <p:spPr bwMode="auto">
              <a:xfrm>
                <a:off x="3310666" y="3787347"/>
                <a:ext cx="180000" cy="180000"/>
              </a:xfrm>
              <a:prstGeom prst="roundRect">
                <a:avLst/>
              </a:prstGeom>
              <a:solidFill>
                <a:schemeClr val="bg1"/>
              </a:solidFill>
              <a:ln w="3175" cap="flat" cmpd="sng" algn="ctr">
                <a:solidFill>
                  <a:schemeClr val="bg1">
                    <a:lumMod val="7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rot="0" spcFirstLastPara="0" vertOverflow="overflow" horzOverflow="overflow" vert="horz" wrap="none" lIns="36000" tIns="36000" rIns="36000" bIns="36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fontAlgn="base" latinLnBrk="0">
                  <a:spcBef>
                    <a:spcPct val="0"/>
                  </a:spcBef>
                  <a:spcAft>
                    <a:spcPct val="0"/>
                  </a:spcAft>
                </a:pPr>
                <a:r>
                  <a:rPr kumimoji="1" lang="ko-KR" altLang="en-US" sz="700" kern="0" dirty="0">
                    <a:solidFill>
                      <a:srgbClr val="000000"/>
                    </a:solidFill>
                    <a:latin typeface="+mn-ea"/>
                  </a:rPr>
                  <a:t>▼</a:t>
                </a:r>
              </a:p>
            </p:txBody>
          </p:sp>
        </p:grpSp>
        <p:sp>
          <p:nvSpPr>
            <p:cNvPr id="405" name="직사각형 404">
              <a:extLst>
                <a:ext uri="{FF2B5EF4-FFF2-40B4-BE49-F238E27FC236}">
                  <a16:creationId xmlns="" xmlns:a16="http://schemas.microsoft.com/office/drawing/2014/main" id="{C3CBC899-E192-4597-B3EF-23483E494D33}"/>
                </a:ext>
              </a:extLst>
            </p:cNvPr>
            <p:cNvSpPr/>
            <p:nvPr/>
          </p:nvSpPr>
          <p:spPr>
            <a:xfrm>
              <a:off x="3347422" y="2293723"/>
              <a:ext cx="900000" cy="288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36000" rIns="108000" bIns="36000" rtlCol="0" anchor="ctr"/>
            <a:lstStyle/>
            <a:p>
              <a:r>
                <a:rPr lang="ko-KR" altLang="en-US" sz="7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주문상태</a:t>
              </a:r>
            </a:p>
          </p:txBody>
        </p:sp>
        <p:sp>
          <p:nvSpPr>
            <p:cNvPr id="406" name="직사각형 405">
              <a:extLst>
                <a:ext uri="{FF2B5EF4-FFF2-40B4-BE49-F238E27FC236}">
                  <a16:creationId xmlns="" xmlns:a16="http://schemas.microsoft.com/office/drawing/2014/main" id="{C8E8B8B5-F2A9-4F2D-8F41-E83BE71E8F5A}"/>
                </a:ext>
              </a:extLst>
            </p:cNvPr>
            <p:cNvSpPr/>
            <p:nvPr/>
          </p:nvSpPr>
          <p:spPr>
            <a:xfrm>
              <a:off x="4247285" y="2293723"/>
              <a:ext cx="1116000" cy="288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36000" rIns="108000" bIns="36000" rtlCol="0" anchor="ctr"/>
            <a:lstStyle/>
            <a:p>
              <a:endParaRPr lang="ko-KR" altLang="en-US" sz="8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grpSp>
          <p:nvGrpSpPr>
            <p:cNvPr id="407" name="그룹 406">
              <a:extLst>
                <a:ext uri="{FF2B5EF4-FFF2-40B4-BE49-F238E27FC236}">
                  <a16:creationId xmlns="" xmlns:a16="http://schemas.microsoft.com/office/drawing/2014/main" id="{CE03C03E-4F04-4133-AEEC-AC03458859A7}"/>
                </a:ext>
              </a:extLst>
            </p:cNvPr>
            <p:cNvGrpSpPr/>
            <p:nvPr/>
          </p:nvGrpSpPr>
          <p:grpSpPr>
            <a:xfrm>
              <a:off x="4319422" y="2347723"/>
              <a:ext cx="936000" cy="180000"/>
              <a:chOff x="2554666" y="3787347"/>
              <a:chExt cx="936000" cy="180000"/>
            </a:xfrm>
          </p:grpSpPr>
          <p:sp>
            <p:nvSpPr>
              <p:cNvPr id="408" name="모서리가 둥근 직사각형 139">
                <a:extLst>
                  <a:ext uri="{FF2B5EF4-FFF2-40B4-BE49-F238E27FC236}">
                    <a16:creationId xmlns="" xmlns:a16="http://schemas.microsoft.com/office/drawing/2014/main" id="{D20B2316-7950-45D5-A329-DFCDAA416345}"/>
                  </a:ext>
                </a:extLst>
              </p:cNvPr>
              <p:cNvSpPr/>
              <p:nvPr/>
            </p:nvSpPr>
            <p:spPr bwMode="auto">
              <a:xfrm>
                <a:off x="2554666" y="3787347"/>
                <a:ext cx="936000" cy="180000"/>
              </a:xfrm>
              <a:prstGeom prst="roundRect">
                <a:avLst/>
              </a:prstGeom>
              <a:solidFill>
                <a:schemeClr val="bg1"/>
              </a:solidFill>
              <a:ln w="3175" cap="flat" cmpd="sng" algn="ctr">
                <a:solidFill>
                  <a:schemeClr val="bg1">
                    <a:lumMod val="7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rot="0" spcFirstLastPara="0" vertOverflow="overflow" horzOverflow="overflow" vert="horz" wrap="none" lIns="108000" tIns="36000" rIns="36000" bIns="36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fontAlgn="base" latinLnBrk="0">
                  <a:spcBef>
                    <a:spcPct val="0"/>
                  </a:spcBef>
                  <a:spcAft>
                    <a:spcPct val="0"/>
                  </a:spcAft>
                </a:pPr>
                <a:r>
                  <a:rPr kumimoji="1" lang="en-US" altLang="ko-KR" sz="700" kern="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+mn-ea"/>
                  </a:rPr>
                  <a:t>[</a:t>
                </a:r>
                <a:r>
                  <a:rPr kumimoji="1" lang="ko-KR" altLang="en-US" sz="700" kern="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+mn-ea"/>
                  </a:rPr>
                  <a:t>전체</a:t>
                </a:r>
                <a:r>
                  <a:rPr kumimoji="1" lang="en-US" altLang="ko-KR" sz="700" kern="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+mn-ea"/>
                  </a:rPr>
                  <a:t>]</a:t>
                </a:r>
                <a:endParaRPr kumimoji="1" lang="ko-KR" altLang="en-US" sz="700" kern="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endParaRPr>
              </a:p>
            </p:txBody>
          </p:sp>
          <p:sp>
            <p:nvSpPr>
              <p:cNvPr id="410" name="모서리가 둥근 직사각형 141">
                <a:extLst>
                  <a:ext uri="{FF2B5EF4-FFF2-40B4-BE49-F238E27FC236}">
                    <a16:creationId xmlns="" xmlns:a16="http://schemas.microsoft.com/office/drawing/2014/main" id="{9D3BF834-DC28-4D1A-B5CB-ED60EA5C7751}"/>
                  </a:ext>
                </a:extLst>
              </p:cNvPr>
              <p:cNvSpPr/>
              <p:nvPr/>
            </p:nvSpPr>
            <p:spPr bwMode="auto">
              <a:xfrm>
                <a:off x="3310666" y="3787347"/>
                <a:ext cx="180000" cy="180000"/>
              </a:xfrm>
              <a:prstGeom prst="roundRect">
                <a:avLst/>
              </a:prstGeom>
              <a:solidFill>
                <a:schemeClr val="bg1"/>
              </a:solidFill>
              <a:ln w="3175" cap="flat" cmpd="sng" algn="ctr">
                <a:solidFill>
                  <a:schemeClr val="bg1">
                    <a:lumMod val="7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rot="0" spcFirstLastPara="0" vertOverflow="overflow" horzOverflow="overflow" vert="horz" wrap="none" lIns="36000" tIns="36000" rIns="36000" bIns="36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fontAlgn="base" latinLnBrk="0">
                  <a:spcBef>
                    <a:spcPct val="0"/>
                  </a:spcBef>
                  <a:spcAft>
                    <a:spcPct val="0"/>
                  </a:spcAft>
                </a:pPr>
                <a:r>
                  <a:rPr kumimoji="1" lang="ko-KR" altLang="en-US" sz="700" kern="0" dirty="0">
                    <a:solidFill>
                      <a:srgbClr val="000000"/>
                    </a:solidFill>
                    <a:latin typeface="+mn-ea"/>
                  </a:rPr>
                  <a:t>▼</a:t>
                </a:r>
              </a:p>
            </p:txBody>
          </p:sp>
        </p:grpSp>
      </p:grpSp>
      <p:sp>
        <p:nvSpPr>
          <p:cNvPr id="412" name="직사각형 411">
            <a:extLst>
              <a:ext uri="{FF2B5EF4-FFF2-40B4-BE49-F238E27FC236}">
                <a16:creationId xmlns="" xmlns:a16="http://schemas.microsoft.com/office/drawing/2014/main" id="{D6E71F9F-6A05-4858-BCF1-F73872A38DCC}"/>
              </a:ext>
            </a:extLst>
          </p:cNvPr>
          <p:cNvSpPr/>
          <p:nvPr/>
        </p:nvSpPr>
        <p:spPr>
          <a:xfrm>
            <a:off x="5363078" y="2293723"/>
            <a:ext cx="900000" cy="288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36000" rIns="108000" bIns="36000" rtlCol="0" anchor="ctr"/>
          <a:lstStyle/>
          <a:p>
            <a:r>
              <a:rPr lang="ko-KR" altLang="en-US" sz="7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수령인</a:t>
            </a:r>
            <a:endParaRPr lang="ko-KR" altLang="en-US" sz="700" dirty="0">
              <a:solidFill>
                <a:srgbClr val="C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15" name="직사각형 414">
            <a:extLst>
              <a:ext uri="{FF2B5EF4-FFF2-40B4-BE49-F238E27FC236}">
                <a16:creationId xmlns="" xmlns:a16="http://schemas.microsoft.com/office/drawing/2014/main" id="{869F0D91-4426-412C-8A0D-962A34E6A583}"/>
              </a:ext>
            </a:extLst>
          </p:cNvPr>
          <p:cNvSpPr/>
          <p:nvPr/>
        </p:nvSpPr>
        <p:spPr>
          <a:xfrm>
            <a:off x="6263354" y="2293723"/>
            <a:ext cx="1080000" cy="288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36000" rIns="108000" bIns="36000" rtlCol="0" anchor="ctr"/>
          <a:lstStyle/>
          <a:p>
            <a:endParaRPr lang="ko-KR" altLang="en-US" sz="80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17" name="모서리가 둥근 직사각형 184">
            <a:extLst>
              <a:ext uri="{FF2B5EF4-FFF2-40B4-BE49-F238E27FC236}">
                <a16:creationId xmlns="" xmlns:a16="http://schemas.microsoft.com/office/drawing/2014/main" id="{7C4181B1-00DE-4B1A-9AF4-36726F2433BA}"/>
              </a:ext>
            </a:extLst>
          </p:cNvPr>
          <p:cNvSpPr/>
          <p:nvPr/>
        </p:nvSpPr>
        <p:spPr bwMode="auto">
          <a:xfrm>
            <a:off x="6336805" y="2347723"/>
            <a:ext cx="936000" cy="180000"/>
          </a:xfrm>
          <a:prstGeom prst="roundRect">
            <a:avLst/>
          </a:prstGeom>
          <a:solidFill>
            <a:srgbClr val="FFFFEF"/>
          </a:solidFill>
          <a:ln w="3175" cap="flat" cmpd="sng" algn="ctr">
            <a:solidFill>
              <a:schemeClr val="bg1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none" lIns="108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defTabSz="914400" fontAlgn="base" latinLnBrk="0">
              <a:spcBef>
                <a:spcPct val="0"/>
              </a:spcBef>
              <a:spcAft>
                <a:spcPct val="0"/>
              </a:spcAft>
            </a:pPr>
            <a:endParaRPr kumimoji="1" lang="ko-KR" altLang="en-US" sz="700" b="0" i="0" u="none" strike="noStrike" kern="0" cap="none" spc="0" normalizeH="0" baseline="0" noProof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420" name="그룹 419"/>
          <p:cNvGrpSpPr/>
          <p:nvPr/>
        </p:nvGrpSpPr>
        <p:grpSpPr>
          <a:xfrm>
            <a:off x="1367906" y="2581627"/>
            <a:ext cx="3995379" cy="288000"/>
            <a:chOff x="1367906" y="2293723"/>
            <a:chExt cx="3995379" cy="288000"/>
          </a:xfrm>
        </p:grpSpPr>
        <p:sp>
          <p:nvSpPr>
            <p:cNvPr id="423" name="직사각형 422">
              <a:extLst>
                <a:ext uri="{FF2B5EF4-FFF2-40B4-BE49-F238E27FC236}">
                  <a16:creationId xmlns="" xmlns:a16="http://schemas.microsoft.com/office/drawing/2014/main" id="{C3CBC899-E192-4597-B3EF-23483E494D33}"/>
                </a:ext>
              </a:extLst>
            </p:cNvPr>
            <p:cNvSpPr/>
            <p:nvPr/>
          </p:nvSpPr>
          <p:spPr>
            <a:xfrm>
              <a:off x="1367906" y="2293723"/>
              <a:ext cx="900000" cy="288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36000" rIns="108000" bIns="36000" rtlCol="0" anchor="ctr"/>
            <a:lstStyle/>
            <a:p>
              <a:r>
                <a:rPr lang="ko-KR" altLang="en-US" sz="7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회원구분</a:t>
              </a:r>
            </a:p>
          </p:txBody>
        </p:sp>
        <p:sp>
          <p:nvSpPr>
            <p:cNvPr id="424" name="직사각형 423">
              <a:extLst>
                <a:ext uri="{FF2B5EF4-FFF2-40B4-BE49-F238E27FC236}">
                  <a16:creationId xmlns="" xmlns:a16="http://schemas.microsoft.com/office/drawing/2014/main" id="{C8E8B8B5-F2A9-4F2D-8F41-E83BE71E8F5A}"/>
                </a:ext>
              </a:extLst>
            </p:cNvPr>
            <p:cNvSpPr/>
            <p:nvPr/>
          </p:nvSpPr>
          <p:spPr>
            <a:xfrm>
              <a:off x="2266455" y="2293723"/>
              <a:ext cx="1080000" cy="288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36000" rIns="108000" bIns="36000" rtlCol="0" anchor="ctr"/>
            <a:lstStyle/>
            <a:p>
              <a:endParaRPr lang="ko-KR" altLang="en-US" sz="8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grpSp>
          <p:nvGrpSpPr>
            <p:cNvPr id="425" name="그룹 424">
              <a:extLst>
                <a:ext uri="{FF2B5EF4-FFF2-40B4-BE49-F238E27FC236}">
                  <a16:creationId xmlns="" xmlns:a16="http://schemas.microsoft.com/office/drawing/2014/main" id="{CE03C03E-4F04-4133-AEEC-AC03458859A7}"/>
                </a:ext>
              </a:extLst>
            </p:cNvPr>
            <p:cNvGrpSpPr/>
            <p:nvPr/>
          </p:nvGrpSpPr>
          <p:grpSpPr>
            <a:xfrm>
              <a:off x="2339906" y="2347723"/>
              <a:ext cx="936000" cy="180000"/>
              <a:chOff x="2554666" y="3787347"/>
              <a:chExt cx="936000" cy="180000"/>
            </a:xfrm>
          </p:grpSpPr>
          <p:sp>
            <p:nvSpPr>
              <p:cNvPr id="431" name="모서리가 둥근 직사각형 139">
                <a:extLst>
                  <a:ext uri="{FF2B5EF4-FFF2-40B4-BE49-F238E27FC236}">
                    <a16:creationId xmlns="" xmlns:a16="http://schemas.microsoft.com/office/drawing/2014/main" id="{D20B2316-7950-45D5-A329-DFCDAA416345}"/>
                  </a:ext>
                </a:extLst>
              </p:cNvPr>
              <p:cNvSpPr/>
              <p:nvPr/>
            </p:nvSpPr>
            <p:spPr bwMode="auto">
              <a:xfrm>
                <a:off x="2554666" y="3787347"/>
                <a:ext cx="936000" cy="180000"/>
              </a:xfrm>
              <a:prstGeom prst="roundRect">
                <a:avLst/>
              </a:prstGeom>
              <a:solidFill>
                <a:schemeClr val="bg1"/>
              </a:solidFill>
              <a:ln w="3175" cap="flat" cmpd="sng" algn="ctr">
                <a:solidFill>
                  <a:schemeClr val="bg1">
                    <a:lumMod val="7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rot="0" spcFirstLastPara="0" vertOverflow="overflow" horzOverflow="overflow" vert="horz" wrap="none" lIns="108000" tIns="36000" rIns="36000" bIns="36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fontAlgn="base" latinLnBrk="0">
                  <a:spcBef>
                    <a:spcPct val="0"/>
                  </a:spcBef>
                  <a:spcAft>
                    <a:spcPct val="0"/>
                  </a:spcAft>
                </a:pPr>
                <a:r>
                  <a:rPr kumimoji="1" lang="en-US" altLang="ko-KR" sz="700" kern="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+mn-ea"/>
                  </a:rPr>
                  <a:t>[</a:t>
                </a:r>
                <a:r>
                  <a:rPr kumimoji="1" lang="ko-KR" altLang="en-US" sz="700" kern="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+mn-ea"/>
                  </a:rPr>
                  <a:t>전체</a:t>
                </a:r>
                <a:r>
                  <a:rPr kumimoji="1" lang="en-US" altLang="ko-KR" sz="700" kern="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+mn-ea"/>
                  </a:rPr>
                  <a:t>]</a:t>
                </a:r>
                <a:endParaRPr kumimoji="1" lang="ko-KR" altLang="en-US" sz="700" kern="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endParaRPr>
              </a:p>
            </p:txBody>
          </p:sp>
          <p:sp>
            <p:nvSpPr>
              <p:cNvPr id="432" name="모서리가 둥근 직사각형 141">
                <a:extLst>
                  <a:ext uri="{FF2B5EF4-FFF2-40B4-BE49-F238E27FC236}">
                    <a16:creationId xmlns="" xmlns:a16="http://schemas.microsoft.com/office/drawing/2014/main" id="{9D3BF834-DC28-4D1A-B5CB-ED60EA5C7751}"/>
                  </a:ext>
                </a:extLst>
              </p:cNvPr>
              <p:cNvSpPr/>
              <p:nvPr/>
            </p:nvSpPr>
            <p:spPr bwMode="auto">
              <a:xfrm>
                <a:off x="3310666" y="3787347"/>
                <a:ext cx="180000" cy="180000"/>
              </a:xfrm>
              <a:prstGeom prst="roundRect">
                <a:avLst/>
              </a:prstGeom>
              <a:solidFill>
                <a:schemeClr val="bg1"/>
              </a:solidFill>
              <a:ln w="3175" cap="flat" cmpd="sng" algn="ctr">
                <a:solidFill>
                  <a:schemeClr val="bg1">
                    <a:lumMod val="7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rot="0" spcFirstLastPara="0" vertOverflow="overflow" horzOverflow="overflow" vert="horz" wrap="none" lIns="36000" tIns="36000" rIns="36000" bIns="36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fontAlgn="base" latinLnBrk="0">
                  <a:spcBef>
                    <a:spcPct val="0"/>
                  </a:spcBef>
                  <a:spcAft>
                    <a:spcPct val="0"/>
                  </a:spcAft>
                </a:pPr>
                <a:r>
                  <a:rPr kumimoji="1" lang="ko-KR" altLang="en-US" sz="700" kern="0" dirty="0">
                    <a:solidFill>
                      <a:srgbClr val="000000"/>
                    </a:solidFill>
                    <a:latin typeface="+mn-ea"/>
                  </a:rPr>
                  <a:t>▼</a:t>
                </a:r>
              </a:p>
            </p:txBody>
          </p:sp>
        </p:grpSp>
        <p:sp>
          <p:nvSpPr>
            <p:cNvPr id="426" name="직사각형 425">
              <a:extLst>
                <a:ext uri="{FF2B5EF4-FFF2-40B4-BE49-F238E27FC236}">
                  <a16:creationId xmlns="" xmlns:a16="http://schemas.microsoft.com/office/drawing/2014/main" id="{C3CBC899-E192-4597-B3EF-23483E494D33}"/>
                </a:ext>
              </a:extLst>
            </p:cNvPr>
            <p:cNvSpPr/>
            <p:nvPr/>
          </p:nvSpPr>
          <p:spPr>
            <a:xfrm>
              <a:off x="3347422" y="2293723"/>
              <a:ext cx="900000" cy="288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36000" rIns="72000" bIns="36000" rtlCol="0" anchor="ctr"/>
            <a:lstStyle/>
            <a:p>
              <a:r>
                <a:rPr lang="ko-KR" altLang="en-US" sz="7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주문상품상세상태</a:t>
              </a:r>
            </a:p>
          </p:txBody>
        </p:sp>
        <p:sp>
          <p:nvSpPr>
            <p:cNvPr id="427" name="직사각형 426">
              <a:extLst>
                <a:ext uri="{FF2B5EF4-FFF2-40B4-BE49-F238E27FC236}">
                  <a16:creationId xmlns="" xmlns:a16="http://schemas.microsoft.com/office/drawing/2014/main" id="{C8E8B8B5-F2A9-4F2D-8F41-E83BE71E8F5A}"/>
                </a:ext>
              </a:extLst>
            </p:cNvPr>
            <p:cNvSpPr/>
            <p:nvPr/>
          </p:nvSpPr>
          <p:spPr>
            <a:xfrm>
              <a:off x="4247285" y="2293723"/>
              <a:ext cx="1116000" cy="288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36000" rIns="108000" bIns="36000" rtlCol="0" anchor="ctr"/>
            <a:lstStyle/>
            <a:p>
              <a:endParaRPr lang="ko-KR" altLang="en-US" sz="8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grpSp>
          <p:nvGrpSpPr>
            <p:cNvPr id="428" name="그룹 427">
              <a:extLst>
                <a:ext uri="{FF2B5EF4-FFF2-40B4-BE49-F238E27FC236}">
                  <a16:creationId xmlns="" xmlns:a16="http://schemas.microsoft.com/office/drawing/2014/main" id="{CE03C03E-4F04-4133-AEEC-AC03458859A7}"/>
                </a:ext>
              </a:extLst>
            </p:cNvPr>
            <p:cNvGrpSpPr/>
            <p:nvPr/>
          </p:nvGrpSpPr>
          <p:grpSpPr>
            <a:xfrm>
              <a:off x="4319422" y="2347723"/>
              <a:ext cx="936000" cy="180000"/>
              <a:chOff x="2554666" y="3787347"/>
              <a:chExt cx="936000" cy="180000"/>
            </a:xfrm>
          </p:grpSpPr>
          <p:sp>
            <p:nvSpPr>
              <p:cNvPr id="429" name="모서리가 둥근 직사각형 139">
                <a:extLst>
                  <a:ext uri="{FF2B5EF4-FFF2-40B4-BE49-F238E27FC236}">
                    <a16:creationId xmlns="" xmlns:a16="http://schemas.microsoft.com/office/drawing/2014/main" id="{D20B2316-7950-45D5-A329-DFCDAA416345}"/>
                  </a:ext>
                </a:extLst>
              </p:cNvPr>
              <p:cNvSpPr/>
              <p:nvPr/>
            </p:nvSpPr>
            <p:spPr bwMode="auto">
              <a:xfrm>
                <a:off x="2554666" y="3787347"/>
                <a:ext cx="936000" cy="180000"/>
              </a:xfrm>
              <a:prstGeom prst="roundRect">
                <a:avLst/>
              </a:prstGeom>
              <a:solidFill>
                <a:schemeClr val="bg1"/>
              </a:solidFill>
              <a:ln w="3175" cap="flat" cmpd="sng" algn="ctr">
                <a:solidFill>
                  <a:schemeClr val="bg1">
                    <a:lumMod val="7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rot="0" spcFirstLastPara="0" vertOverflow="overflow" horzOverflow="overflow" vert="horz" wrap="none" lIns="108000" tIns="36000" rIns="36000" bIns="36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fontAlgn="base" latinLnBrk="0">
                  <a:spcBef>
                    <a:spcPct val="0"/>
                  </a:spcBef>
                  <a:spcAft>
                    <a:spcPct val="0"/>
                  </a:spcAft>
                </a:pPr>
                <a:r>
                  <a:rPr kumimoji="1" lang="en-US" altLang="ko-KR" sz="700" kern="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+mn-ea"/>
                  </a:rPr>
                  <a:t>[</a:t>
                </a:r>
                <a:r>
                  <a:rPr kumimoji="1" lang="ko-KR" altLang="en-US" sz="700" kern="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+mn-ea"/>
                  </a:rPr>
                  <a:t>전체</a:t>
                </a:r>
                <a:r>
                  <a:rPr kumimoji="1" lang="en-US" altLang="ko-KR" sz="700" kern="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+mn-ea"/>
                  </a:rPr>
                  <a:t>]</a:t>
                </a:r>
                <a:endParaRPr kumimoji="1" lang="ko-KR" altLang="en-US" sz="700" kern="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endParaRPr>
              </a:p>
            </p:txBody>
          </p:sp>
          <p:sp>
            <p:nvSpPr>
              <p:cNvPr id="430" name="모서리가 둥근 직사각형 141">
                <a:extLst>
                  <a:ext uri="{FF2B5EF4-FFF2-40B4-BE49-F238E27FC236}">
                    <a16:creationId xmlns="" xmlns:a16="http://schemas.microsoft.com/office/drawing/2014/main" id="{9D3BF834-DC28-4D1A-B5CB-ED60EA5C7751}"/>
                  </a:ext>
                </a:extLst>
              </p:cNvPr>
              <p:cNvSpPr/>
              <p:nvPr/>
            </p:nvSpPr>
            <p:spPr bwMode="auto">
              <a:xfrm>
                <a:off x="3310666" y="3787347"/>
                <a:ext cx="180000" cy="180000"/>
              </a:xfrm>
              <a:prstGeom prst="roundRect">
                <a:avLst/>
              </a:prstGeom>
              <a:solidFill>
                <a:schemeClr val="bg1"/>
              </a:solidFill>
              <a:ln w="3175" cap="flat" cmpd="sng" algn="ctr">
                <a:solidFill>
                  <a:schemeClr val="bg1">
                    <a:lumMod val="7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rot="0" spcFirstLastPara="0" vertOverflow="overflow" horzOverflow="overflow" vert="horz" wrap="none" lIns="36000" tIns="36000" rIns="36000" bIns="36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fontAlgn="base" latinLnBrk="0">
                  <a:spcBef>
                    <a:spcPct val="0"/>
                  </a:spcBef>
                  <a:spcAft>
                    <a:spcPct val="0"/>
                  </a:spcAft>
                </a:pPr>
                <a:r>
                  <a:rPr kumimoji="1" lang="ko-KR" altLang="en-US" sz="700" kern="0" dirty="0">
                    <a:solidFill>
                      <a:srgbClr val="000000"/>
                    </a:solidFill>
                    <a:latin typeface="+mn-ea"/>
                  </a:rPr>
                  <a:t>▼</a:t>
                </a:r>
              </a:p>
            </p:txBody>
          </p:sp>
        </p:grpSp>
      </p:grpSp>
      <p:sp>
        <p:nvSpPr>
          <p:cNvPr id="434" name="직사각형 433">
            <a:extLst>
              <a:ext uri="{FF2B5EF4-FFF2-40B4-BE49-F238E27FC236}">
                <a16:creationId xmlns="" xmlns:a16="http://schemas.microsoft.com/office/drawing/2014/main" id="{C3CBC899-E192-4597-B3EF-23483E494D33}"/>
              </a:ext>
            </a:extLst>
          </p:cNvPr>
          <p:cNvSpPr/>
          <p:nvPr/>
        </p:nvSpPr>
        <p:spPr>
          <a:xfrm>
            <a:off x="5363078" y="2581627"/>
            <a:ext cx="900000" cy="288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36000" rIns="108000" bIns="36000" rtlCol="0" anchor="ctr"/>
          <a:lstStyle/>
          <a:p>
            <a:r>
              <a:rPr lang="ko-KR" altLang="en-US" sz="7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세트여부</a:t>
            </a:r>
          </a:p>
        </p:txBody>
      </p:sp>
      <p:grpSp>
        <p:nvGrpSpPr>
          <p:cNvPr id="11" name="그룹 10"/>
          <p:cNvGrpSpPr/>
          <p:nvPr/>
        </p:nvGrpSpPr>
        <p:grpSpPr>
          <a:xfrm>
            <a:off x="6263354" y="2581627"/>
            <a:ext cx="1080000" cy="288000"/>
            <a:chOff x="6261627" y="2581627"/>
            <a:chExt cx="1080000" cy="288000"/>
          </a:xfrm>
        </p:grpSpPr>
        <p:sp>
          <p:nvSpPr>
            <p:cNvPr id="435" name="직사각형 434">
              <a:extLst>
                <a:ext uri="{FF2B5EF4-FFF2-40B4-BE49-F238E27FC236}">
                  <a16:creationId xmlns="" xmlns:a16="http://schemas.microsoft.com/office/drawing/2014/main" id="{C8E8B8B5-F2A9-4F2D-8F41-E83BE71E8F5A}"/>
                </a:ext>
              </a:extLst>
            </p:cNvPr>
            <p:cNvSpPr/>
            <p:nvPr/>
          </p:nvSpPr>
          <p:spPr>
            <a:xfrm>
              <a:off x="6261627" y="2581627"/>
              <a:ext cx="1080000" cy="288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36000" rIns="108000" bIns="36000" rtlCol="0" anchor="ctr"/>
            <a:lstStyle/>
            <a:p>
              <a:endParaRPr lang="ko-KR" altLang="en-US" sz="8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grpSp>
          <p:nvGrpSpPr>
            <p:cNvPr id="436" name="그룹 435">
              <a:extLst>
                <a:ext uri="{FF2B5EF4-FFF2-40B4-BE49-F238E27FC236}">
                  <a16:creationId xmlns="" xmlns:a16="http://schemas.microsoft.com/office/drawing/2014/main" id="{CE03C03E-4F04-4133-AEEC-AC03458859A7}"/>
                </a:ext>
              </a:extLst>
            </p:cNvPr>
            <p:cNvGrpSpPr/>
            <p:nvPr/>
          </p:nvGrpSpPr>
          <p:grpSpPr>
            <a:xfrm>
              <a:off x="6335078" y="2635627"/>
              <a:ext cx="936000" cy="180000"/>
              <a:chOff x="2554666" y="3787347"/>
              <a:chExt cx="936000" cy="180000"/>
            </a:xfrm>
          </p:grpSpPr>
          <p:sp>
            <p:nvSpPr>
              <p:cNvPr id="443" name="모서리가 둥근 직사각형 139">
                <a:extLst>
                  <a:ext uri="{FF2B5EF4-FFF2-40B4-BE49-F238E27FC236}">
                    <a16:creationId xmlns="" xmlns:a16="http://schemas.microsoft.com/office/drawing/2014/main" id="{D20B2316-7950-45D5-A329-DFCDAA416345}"/>
                  </a:ext>
                </a:extLst>
              </p:cNvPr>
              <p:cNvSpPr/>
              <p:nvPr/>
            </p:nvSpPr>
            <p:spPr bwMode="auto">
              <a:xfrm>
                <a:off x="2554666" y="3787347"/>
                <a:ext cx="936000" cy="180000"/>
              </a:xfrm>
              <a:prstGeom prst="roundRect">
                <a:avLst/>
              </a:prstGeom>
              <a:solidFill>
                <a:schemeClr val="bg1"/>
              </a:solidFill>
              <a:ln w="3175" cap="flat" cmpd="sng" algn="ctr">
                <a:solidFill>
                  <a:schemeClr val="bg1">
                    <a:lumMod val="7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rot="0" spcFirstLastPara="0" vertOverflow="overflow" horzOverflow="overflow" vert="horz" wrap="none" lIns="108000" tIns="36000" rIns="36000" bIns="36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fontAlgn="base" latinLnBrk="0">
                  <a:spcBef>
                    <a:spcPct val="0"/>
                  </a:spcBef>
                  <a:spcAft>
                    <a:spcPct val="0"/>
                  </a:spcAft>
                </a:pPr>
                <a:r>
                  <a:rPr kumimoji="1" lang="en-US" altLang="ko-KR" sz="700" kern="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+mn-ea"/>
                  </a:rPr>
                  <a:t>[</a:t>
                </a:r>
                <a:r>
                  <a:rPr kumimoji="1" lang="ko-KR" altLang="en-US" sz="700" kern="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+mn-ea"/>
                  </a:rPr>
                  <a:t>전체</a:t>
                </a:r>
                <a:r>
                  <a:rPr kumimoji="1" lang="en-US" altLang="ko-KR" sz="700" kern="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+mn-ea"/>
                  </a:rPr>
                  <a:t>]</a:t>
                </a:r>
                <a:endParaRPr kumimoji="1" lang="ko-KR" altLang="en-US" sz="700" kern="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endParaRPr>
              </a:p>
            </p:txBody>
          </p:sp>
          <p:sp>
            <p:nvSpPr>
              <p:cNvPr id="444" name="모서리가 둥근 직사각형 141">
                <a:extLst>
                  <a:ext uri="{FF2B5EF4-FFF2-40B4-BE49-F238E27FC236}">
                    <a16:creationId xmlns="" xmlns:a16="http://schemas.microsoft.com/office/drawing/2014/main" id="{9D3BF834-DC28-4D1A-B5CB-ED60EA5C7751}"/>
                  </a:ext>
                </a:extLst>
              </p:cNvPr>
              <p:cNvSpPr/>
              <p:nvPr/>
            </p:nvSpPr>
            <p:spPr bwMode="auto">
              <a:xfrm>
                <a:off x="3310666" y="3787347"/>
                <a:ext cx="180000" cy="180000"/>
              </a:xfrm>
              <a:prstGeom prst="roundRect">
                <a:avLst/>
              </a:prstGeom>
              <a:solidFill>
                <a:schemeClr val="bg1"/>
              </a:solidFill>
              <a:ln w="3175" cap="flat" cmpd="sng" algn="ctr">
                <a:solidFill>
                  <a:schemeClr val="bg1">
                    <a:lumMod val="7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rot="0" spcFirstLastPara="0" vertOverflow="overflow" horzOverflow="overflow" vert="horz" wrap="none" lIns="36000" tIns="36000" rIns="36000" bIns="36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fontAlgn="base" latinLnBrk="0">
                  <a:spcBef>
                    <a:spcPct val="0"/>
                  </a:spcBef>
                  <a:spcAft>
                    <a:spcPct val="0"/>
                  </a:spcAft>
                </a:pPr>
                <a:r>
                  <a:rPr kumimoji="1" lang="ko-KR" altLang="en-US" sz="700" kern="0" dirty="0">
                    <a:solidFill>
                      <a:srgbClr val="000000"/>
                    </a:solidFill>
                    <a:latin typeface="+mn-ea"/>
                  </a:rPr>
                  <a:t>▼</a:t>
                </a:r>
              </a:p>
            </p:txBody>
          </p:sp>
        </p:grpSp>
      </p:grpSp>
      <p:sp>
        <p:nvSpPr>
          <p:cNvPr id="446" name="직사각형 445">
            <a:extLst>
              <a:ext uri="{FF2B5EF4-FFF2-40B4-BE49-F238E27FC236}">
                <a16:creationId xmlns="" xmlns:a16="http://schemas.microsoft.com/office/drawing/2014/main" id="{C3CBC899-E192-4597-B3EF-23483E494D33}"/>
              </a:ext>
            </a:extLst>
          </p:cNvPr>
          <p:cNvSpPr/>
          <p:nvPr/>
        </p:nvSpPr>
        <p:spPr>
          <a:xfrm>
            <a:off x="1367906" y="2869531"/>
            <a:ext cx="900000" cy="288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36000" rIns="108000" bIns="36000" rtlCol="0" anchor="ctr"/>
          <a:lstStyle/>
          <a:p>
            <a:r>
              <a:rPr lang="ko-KR" altLang="en-US" sz="7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주문구분</a:t>
            </a:r>
          </a:p>
        </p:txBody>
      </p:sp>
      <p:sp>
        <p:nvSpPr>
          <p:cNvPr id="447" name="직사각형 446">
            <a:extLst>
              <a:ext uri="{FF2B5EF4-FFF2-40B4-BE49-F238E27FC236}">
                <a16:creationId xmlns="" xmlns:a16="http://schemas.microsoft.com/office/drawing/2014/main" id="{C8E8B8B5-F2A9-4F2D-8F41-E83BE71E8F5A}"/>
              </a:ext>
            </a:extLst>
          </p:cNvPr>
          <p:cNvSpPr/>
          <p:nvPr/>
        </p:nvSpPr>
        <p:spPr>
          <a:xfrm>
            <a:off x="2266453" y="2869531"/>
            <a:ext cx="3096000" cy="288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36000" rIns="108000" bIns="36000" rtlCol="0" anchor="ctr"/>
          <a:lstStyle/>
          <a:p>
            <a:endParaRPr lang="ko-KR" altLang="en-US" sz="80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57" name="직사각형 456">
            <a:extLst>
              <a:ext uri="{FF2B5EF4-FFF2-40B4-BE49-F238E27FC236}">
                <a16:creationId xmlns="" xmlns:a16="http://schemas.microsoft.com/office/drawing/2014/main" id="{C3CBC899-E192-4597-B3EF-23483E494D33}"/>
              </a:ext>
            </a:extLst>
          </p:cNvPr>
          <p:cNvSpPr/>
          <p:nvPr/>
        </p:nvSpPr>
        <p:spPr>
          <a:xfrm>
            <a:off x="5363078" y="2869531"/>
            <a:ext cx="900000" cy="288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36000" rIns="108000" bIns="36000" rtlCol="0" anchor="ctr"/>
          <a:lstStyle/>
          <a:p>
            <a:r>
              <a:rPr lang="ko-KR" altLang="en-US" sz="7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결제수단</a:t>
            </a:r>
          </a:p>
        </p:txBody>
      </p:sp>
      <p:sp>
        <p:nvSpPr>
          <p:cNvPr id="458" name="직사각형 457">
            <a:extLst>
              <a:ext uri="{FF2B5EF4-FFF2-40B4-BE49-F238E27FC236}">
                <a16:creationId xmlns="" xmlns:a16="http://schemas.microsoft.com/office/drawing/2014/main" id="{C8E8B8B5-F2A9-4F2D-8F41-E83BE71E8F5A}"/>
              </a:ext>
            </a:extLst>
          </p:cNvPr>
          <p:cNvSpPr/>
          <p:nvPr/>
        </p:nvSpPr>
        <p:spPr>
          <a:xfrm>
            <a:off x="6265401" y="2869531"/>
            <a:ext cx="1080000" cy="288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36000" rIns="108000" bIns="36000" rtlCol="0" anchor="ctr"/>
          <a:lstStyle/>
          <a:p>
            <a:endParaRPr lang="ko-KR" altLang="en-US" sz="80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326" name="그룹 325">
            <a:extLst>
              <a:ext uri="{FF2B5EF4-FFF2-40B4-BE49-F238E27FC236}">
                <a16:creationId xmlns="" xmlns:a16="http://schemas.microsoft.com/office/drawing/2014/main" id="{CE03C03E-4F04-4133-AEEC-AC03458859A7}"/>
              </a:ext>
            </a:extLst>
          </p:cNvPr>
          <p:cNvGrpSpPr/>
          <p:nvPr/>
        </p:nvGrpSpPr>
        <p:grpSpPr>
          <a:xfrm>
            <a:off x="6336322" y="2923531"/>
            <a:ext cx="936000" cy="180000"/>
            <a:chOff x="2554666" y="3787347"/>
            <a:chExt cx="936000" cy="180000"/>
          </a:xfrm>
        </p:grpSpPr>
        <p:sp>
          <p:nvSpPr>
            <p:cNvPr id="327" name="모서리가 둥근 직사각형 139">
              <a:extLst>
                <a:ext uri="{FF2B5EF4-FFF2-40B4-BE49-F238E27FC236}">
                  <a16:creationId xmlns="" xmlns:a16="http://schemas.microsoft.com/office/drawing/2014/main" id="{D20B2316-7950-45D5-A329-DFCDAA416345}"/>
                </a:ext>
              </a:extLst>
            </p:cNvPr>
            <p:cNvSpPr/>
            <p:nvPr/>
          </p:nvSpPr>
          <p:spPr bwMode="auto">
            <a:xfrm>
              <a:off x="2554666" y="3787347"/>
              <a:ext cx="936000" cy="180000"/>
            </a:xfrm>
            <a:prstGeom prst="roundRect">
              <a:avLst/>
            </a:prstGeom>
            <a:solidFill>
              <a:schemeClr val="bg1"/>
            </a:solidFill>
            <a:ln w="3175" cap="flat" cmpd="sng" algn="ctr">
              <a:solidFill>
                <a:schemeClr val="bg1">
                  <a:lumMod val="7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none" lIns="108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fontAlgn="base" latinLnBrk="0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ko-KR" sz="700" kern="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[</a:t>
              </a:r>
              <a:r>
                <a:rPr kumimoji="1" lang="ko-KR" altLang="en-US" sz="700" kern="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전체</a:t>
              </a:r>
              <a:r>
                <a:rPr kumimoji="1" lang="en-US" altLang="ko-KR" sz="700" kern="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]</a:t>
              </a:r>
              <a:endParaRPr kumimoji="1" lang="ko-KR" altLang="en-US" sz="700" kern="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endParaRPr>
            </a:p>
          </p:txBody>
        </p:sp>
        <p:sp>
          <p:nvSpPr>
            <p:cNvPr id="328" name="모서리가 둥근 직사각형 141">
              <a:extLst>
                <a:ext uri="{FF2B5EF4-FFF2-40B4-BE49-F238E27FC236}">
                  <a16:creationId xmlns="" xmlns:a16="http://schemas.microsoft.com/office/drawing/2014/main" id="{9D3BF834-DC28-4D1A-B5CB-ED60EA5C7751}"/>
                </a:ext>
              </a:extLst>
            </p:cNvPr>
            <p:cNvSpPr/>
            <p:nvPr/>
          </p:nvSpPr>
          <p:spPr bwMode="auto">
            <a:xfrm>
              <a:off x="3310666" y="3787347"/>
              <a:ext cx="180000" cy="180000"/>
            </a:xfrm>
            <a:prstGeom prst="roundRect">
              <a:avLst/>
            </a:prstGeom>
            <a:solidFill>
              <a:schemeClr val="bg1"/>
            </a:solidFill>
            <a:ln w="3175" cap="flat" cmpd="sng" algn="ctr">
              <a:solidFill>
                <a:schemeClr val="bg1">
                  <a:lumMod val="7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none" lIns="36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fontAlgn="base" latinLnBrk="0">
                <a:spcBef>
                  <a:spcPct val="0"/>
                </a:spcBef>
                <a:spcAft>
                  <a:spcPct val="0"/>
                </a:spcAft>
              </a:pPr>
              <a:r>
                <a:rPr kumimoji="1" lang="ko-KR" altLang="en-US" sz="700" kern="0" dirty="0">
                  <a:solidFill>
                    <a:srgbClr val="000000"/>
                  </a:solidFill>
                  <a:latin typeface="+mn-ea"/>
                </a:rPr>
                <a:t>▼</a:t>
              </a:r>
            </a:p>
          </p:txBody>
        </p:sp>
      </p:grpSp>
      <p:grpSp>
        <p:nvGrpSpPr>
          <p:cNvPr id="348" name="그룹 347"/>
          <p:cNvGrpSpPr/>
          <p:nvPr/>
        </p:nvGrpSpPr>
        <p:grpSpPr>
          <a:xfrm>
            <a:off x="2339906" y="2923106"/>
            <a:ext cx="2110933" cy="180425"/>
            <a:chOff x="6335078" y="2635415"/>
            <a:chExt cx="2110933" cy="180425"/>
          </a:xfrm>
        </p:grpSpPr>
        <p:grpSp>
          <p:nvGrpSpPr>
            <p:cNvPr id="349" name="그룹 348">
              <a:extLst>
                <a:ext uri="{FF2B5EF4-FFF2-40B4-BE49-F238E27FC236}">
                  <a16:creationId xmlns="" xmlns:a16="http://schemas.microsoft.com/office/drawing/2014/main" id="{CE03C03E-4F04-4133-AEEC-AC03458859A7}"/>
                </a:ext>
              </a:extLst>
            </p:cNvPr>
            <p:cNvGrpSpPr/>
            <p:nvPr/>
          </p:nvGrpSpPr>
          <p:grpSpPr>
            <a:xfrm>
              <a:off x="6335078" y="2635627"/>
              <a:ext cx="936000" cy="180000"/>
              <a:chOff x="2554666" y="3787347"/>
              <a:chExt cx="936000" cy="180000"/>
            </a:xfrm>
          </p:grpSpPr>
          <p:sp>
            <p:nvSpPr>
              <p:cNvPr id="354" name="모서리가 둥근 직사각형 139">
                <a:extLst>
                  <a:ext uri="{FF2B5EF4-FFF2-40B4-BE49-F238E27FC236}">
                    <a16:creationId xmlns="" xmlns:a16="http://schemas.microsoft.com/office/drawing/2014/main" id="{D20B2316-7950-45D5-A329-DFCDAA416345}"/>
                  </a:ext>
                </a:extLst>
              </p:cNvPr>
              <p:cNvSpPr/>
              <p:nvPr/>
            </p:nvSpPr>
            <p:spPr bwMode="auto">
              <a:xfrm>
                <a:off x="2554666" y="3787347"/>
                <a:ext cx="936000" cy="180000"/>
              </a:xfrm>
              <a:prstGeom prst="roundRect">
                <a:avLst/>
              </a:prstGeom>
              <a:solidFill>
                <a:schemeClr val="bg1"/>
              </a:solidFill>
              <a:ln w="3175" cap="flat" cmpd="sng" algn="ctr">
                <a:solidFill>
                  <a:schemeClr val="bg1">
                    <a:lumMod val="7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rot="0" spcFirstLastPara="0" vertOverflow="overflow" horzOverflow="overflow" vert="horz" wrap="none" lIns="108000" tIns="36000" rIns="36000" bIns="36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fontAlgn="base" latinLnBrk="0">
                  <a:spcBef>
                    <a:spcPct val="0"/>
                  </a:spcBef>
                  <a:spcAft>
                    <a:spcPct val="0"/>
                  </a:spcAft>
                </a:pPr>
                <a:r>
                  <a:rPr kumimoji="1" lang="en-US" altLang="ko-KR" sz="700" kern="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+mn-ea"/>
                  </a:rPr>
                  <a:t>[</a:t>
                </a:r>
                <a:r>
                  <a:rPr kumimoji="1" lang="ko-KR" altLang="en-US" sz="700" kern="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+mn-ea"/>
                  </a:rPr>
                  <a:t>전체</a:t>
                </a:r>
                <a:r>
                  <a:rPr kumimoji="1" lang="en-US" altLang="ko-KR" sz="700" kern="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+mn-ea"/>
                  </a:rPr>
                  <a:t>]</a:t>
                </a:r>
                <a:endParaRPr kumimoji="1" lang="ko-KR" altLang="en-US" sz="700" kern="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endParaRPr>
              </a:p>
            </p:txBody>
          </p:sp>
          <p:sp>
            <p:nvSpPr>
              <p:cNvPr id="360" name="모서리가 둥근 직사각형 141">
                <a:extLst>
                  <a:ext uri="{FF2B5EF4-FFF2-40B4-BE49-F238E27FC236}">
                    <a16:creationId xmlns="" xmlns:a16="http://schemas.microsoft.com/office/drawing/2014/main" id="{9D3BF834-DC28-4D1A-B5CB-ED60EA5C7751}"/>
                  </a:ext>
                </a:extLst>
              </p:cNvPr>
              <p:cNvSpPr/>
              <p:nvPr/>
            </p:nvSpPr>
            <p:spPr bwMode="auto">
              <a:xfrm>
                <a:off x="3310666" y="3787347"/>
                <a:ext cx="180000" cy="180000"/>
              </a:xfrm>
              <a:prstGeom prst="roundRect">
                <a:avLst/>
              </a:prstGeom>
              <a:solidFill>
                <a:schemeClr val="bg1"/>
              </a:solidFill>
              <a:ln w="3175" cap="flat" cmpd="sng" algn="ctr">
                <a:solidFill>
                  <a:schemeClr val="bg1">
                    <a:lumMod val="7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rot="0" spcFirstLastPara="0" vertOverflow="overflow" horzOverflow="overflow" vert="horz" wrap="none" lIns="36000" tIns="36000" rIns="36000" bIns="36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fontAlgn="base" latinLnBrk="0">
                  <a:spcBef>
                    <a:spcPct val="0"/>
                  </a:spcBef>
                  <a:spcAft>
                    <a:spcPct val="0"/>
                  </a:spcAft>
                </a:pPr>
                <a:r>
                  <a:rPr kumimoji="1" lang="ko-KR" altLang="en-US" sz="700" kern="0" dirty="0">
                    <a:solidFill>
                      <a:srgbClr val="000000"/>
                    </a:solidFill>
                    <a:latin typeface="+mn-ea"/>
                  </a:rPr>
                  <a:t>▼</a:t>
                </a:r>
              </a:p>
            </p:txBody>
          </p:sp>
        </p:grpSp>
        <p:grpSp>
          <p:nvGrpSpPr>
            <p:cNvPr id="350" name="그룹 349"/>
            <p:cNvGrpSpPr/>
            <p:nvPr/>
          </p:nvGrpSpPr>
          <p:grpSpPr>
            <a:xfrm>
              <a:off x="7342279" y="2635415"/>
              <a:ext cx="1103732" cy="180425"/>
              <a:chOff x="2951906" y="5311184"/>
              <a:chExt cx="1103732" cy="180425"/>
            </a:xfrm>
          </p:grpSpPr>
          <p:sp>
            <p:nvSpPr>
              <p:cNvPr id="351" name="사각형: 둥근 모서리 393">
                <a:extLst>
                  <a:ext uri="{FF2B5EF4-FFF2-40B4-BE49-F238E27FC236}">
                    <a16:creationId xmlns="" xmlns:a16="http://schemas.microsoft.com/office/drawing/2014/main" id="{36E654BC-9DA7-40DE-810D-4DBC10DDAC9E}"/>
                  </a:ext>
                </a:extLst>
              </p:cNvPr>
              <p:cNvSpPr/>
              <p:nvPr/>
            </p:nvSpPr>
            <p:spPr bwMode="auto">
              <a:xfrm>
                <a:off x="2951906" y="5329397"/>
                <a:ext cx="144000" cy="144000"/>
              </a:xfrm>
              <a:prstGeom prst="roundRect">
                <a:avLst/>
              </a:prstGeom>
              <a:solidFill>
                <a:schemeClr val="bg1"/>
              </a:solidFill>
              <a:ln w="3175" cap="flat" cmpd="sng" algn="ctr">
                <a:solidFill>
                  <a:schemeClr val="bg1">
                    <a:lumMod val="7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>
                <a:innerShdw blurRad="12700" dist="12700" dir="13500000">
                  <a:schemeClr val="tx1">
                    <a:lumMod val="75000"/>
                    <a:lumOff val="25000"/>
                    <a:alpha val="30000"/>
                  </a:schemeClr>
                </a:innerShdw>
              </a:effectLst>
            </p:spPr>
            <p:txBody>
    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fontAlgn="base" latinLnBrk="0">
                  <a:spcBef>
                    <a:spcPct val="0"/>
                  </a:spcBef>
                  <a:spcAft>
                    <a:spcPct val="0"/>
                  </a:spcAft>
                </a:pPr>
                <a:endParaRPr kumimoji="1" lang="ko-KR" altLang="en-US" sz="700" b="1" ker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  <p:sp>
            <p:nvSpPr>
              <p:cNvPr id="353" name="TextBox 352">
                <a:extLst>
                  <a:ext uri="{FF2B5EF4-FFF2-40B4-BE49-F238E27FC236}">
                    <a16:creationId xmlns="" xmlns:a16="http://schemas.microsoft.com/office/drawing/2014/main" id="{5D1B3506-229B-45F0-9331-6EF4F4EF97DC}"/>
                  </a:ext>
                </a:extLst>
              </p:cNvPr>
              <p:cNvSpPr txBox="1"/>
              <p:nvPr/>
            </p:nvSpPr>
            <p:spPr>
              <a:xfrm>
                <a:off x="3095906" y="5311184"/>
                <a:ext cx="959732" cy="180425"/>
              </a:xfrm>
              <a:prstGeom prst="rect">
                <a:avLst/>
              </a:prstGeom>
              <a:noFill/>
              <a:ln w="3175" cap="flat" cmpd="sng" algn="ctr">
                <a:noFill/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txBody>
              <a:bodyPr vert="horz" wrap="none" lIns="108000" tIns="36000" rIns="36000" bIns="36000" numCol="1" rtlCol="0" anchor="ctr" anchorCtr="0" compatLnSpc="1">
                <a:prstTxWarp prst="textNoShape">
                  <a:avLst/>
                </a:prstTxWarp>
                <a:spAutoFit/>
              </a:bodyPr>
              <a:lstStyle/>
              <a:p>
                <a:pPr algn="l"/>
                <a:r>
                  <a:rPr lang="ko-KR" altLang="en-US" sz="7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</a:rPr>
                  <a:t>타</a:t>
                </a:r>
                <a:r>
                  <a:rPr lang="en-US" altLang="ko-KR" sz="7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</a:rPr>
                  <a:t> </a:t>
                </a:r>
                <a:r>
                  <a:rPr lang="ko-KR" altLang="en-US" sz="7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</a:rPr>
                  <a:t>브랜드 주문 제외</a:t>
                </a:r>
                <a:endParaRPr lang="ko-KR" altLang="en-US" sz="700" dirty="0">
                  <a:solidFill>
                    <a:srgbClr val="C00000"/>
                  </a:solidFill>
                  <a:latin typeface="+mn-ea"/>
                </a:endParaRPr>
              </a:p>
            </p:txBody>
          </p:sp>
        </p:grpSp>
      </p:grpSp>
      <p:grpSp>
        <p:nvGrpSpPr>
          <p:cNvPr id="2" name="그룹 1"/>
          <p:cNvGrpSpPr/>
          <p:nvPr/>
        </p:nvGrpSpPr>
        <p:grpSpPr>
          <a:xfrm>
            <a:off x="143906" y="4524640"/>
            <a:ext cx="1080000" cy="432123"/>
            <a:chOff x="143906" y="4757486"/>
            <a:chExt cx="1080000" cy="432123"/>
          </a:xfrm>
        </p:grpSpPr>
        <p:sp>
          <p:nvSpPr>
            <p:cNvPr id="288" name="직사각형 287"/>
            <p:cNvSpPr/>
            <p:nvPr/>
          </p:nvSpPr>
          <p:spPr>
            <a:xfrm>
              <a:off x="143906" y="4757486"/>
              <a:ext cx="1080000" cy="216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r>
                <a:rPr lang="ko-KR" altLang="en-US" sz="60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여행 주문목록</a:t>
              </a:r>
              <a:endParaRPr lang="ko-KR" altLang="en-US" sz="6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289" name="직사각형 288"/>
            <p:cNvSpPr/>
            <p:nvPr/>
          </p:nvSpPr>
          <p:spPr>
            <a:xfrm>
              <a:off x="143906" y="4973609"/>
              <a:ext cx="1080000" cy="216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r>
                <a:rPr lang="ko-KR" altLang="en-US" sz="60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견적 문의목록</a:t>
              </a:r>
              <a:endParaRPr lang="ko-KR" altLang="en-US" sz="6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sp>
        <p:nvSpPr>
          <p:cNvPr id="3" name="TextBox 2"/>
          <p:cNvSpPr txBox="1"/>
          <p:nvPr/>
        </p:nvSpPr>
        <p:spPr>
          <a:xfrm>
            <a:off x="5064715" y="1771723"/>
            <a:ext cx="226591" cy="257369"/>
          </a:xfrm>
          <a:prstGeom prst="rect">
            <a:avLst/>
          </a:prstGeom>
          <a:noFill/>
        </p:spPr>
        <p:txBody>
          <a:bodyPr wrap="none" lIns="36000" tIns="36000" rIns="36000" bIns="36000" rtlCol="0" anchor="t">
            <a:spAutoFit/>
          </a:bodyPr>
          <a:lstStyle/>
          <a:p>
            <a:pPr algn="r"/>
            <a:r>
              <a:rPr lang="ko-KR" altLang="en-US" sz="600" u="sng">
                <a:solidFill>
                  <a:schemeClr val="tx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모두</a:t>
            </a:r>
            <a:endParaRPr lang="en-US" altLang="ko-KR" sz="600" u="sng">
              <a:solidFill>
                <a:schemeClr val="tx1">
                  <a:lumMod val="50000"/>
                  <a:lumOff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r"/>
            <a:r>
              <a:rPr lang="ko-KR" altLang="en-US" sz="600" u="sng">
                <a:solidFill>
                  <a:schemeClr val="tx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삭제</a:t>
            </a:r>
            <a:endParaRPr lang="ko-KR" altLang="en-US" sz="600" u="sng" dirty="0">
              <a:solidFill>
                <a:schemeClr val="tx1">
                  <a:lumMod val="50000"/>
                  <a:lumOff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81" name="직사각형 380">
            <a:extLst>
              <a:ext uri="{FF2B5EF4-FFF2-40B4-BE49-F238E27FC236}">
                <a16:creationId xmlns="" xmlns:a16="http://schemas.microsoft.com/office/drawing/2014/main" id="{869F0D91-4426-412C-8A0D-962A34E6A583}"/>
              </a:ext>
            </a:extLst>
          </p:cNvPr>
          <p:cNvSpPr/>
          <p:nvPr/>
        </p:nvSpPr>
        <p:spPr>
          <a:xfrm>
            <a:off x="6263354" y="1717723"/>
            <a:ext cx="1080000" cy="576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36000" rIns="108000" bIns="36000" rtlCol="0" anchor="ctr"/>
          <a:lstStyle/>
          <a:p>
            <a:endParaRPr lang="ko-KR" altLang="en-US" sz="80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00" name="모서리가 둥근 직사각형 184">
            <a:extLst>
              <a:ext uri="{FF2B5EF4-FFF2-40B4-BE49-F238E27FC236}">
                <a16:creationId xmlns="" xmlns:a16="http://schemas.microsoft.com/office/drawing/2014/main" id="{7C4181B1-00DE-4B1A-9AF4-36726F2433BA}"/>
              </a:ext>
            </a:extLst>
          </p:cNvPr>
          <p:cNvSpPr/>
          <p:nvPr/>
        </p:nvSpPr>
        <p:spPr bwMode="auto">
          <a:xfrm>
            <a:off x="6336873" y="1771723"/>
            <a:ext cx="720000" cy="468000"/>
          </a:xfrm>
          <a:prstGeom prst="roundRect">
            <a:avLst/>
          </a:prstGeom>
          <a:solidFill>
            <a:srgbClr val="FFFFEF"/>
          </a:solidFill>
          <a:ln w="3175" cap="flat" cmpd="sng" algn="ctr">
            <a:solidFill>
              <a:schemeClr val="bg1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none" lIns="108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defTabSz="914400" fontAlgn="base" latinLnBrk="0">
              <a:spcBef>
                <a:spcPct val="0"/>
              </a:spcBef>
              <a:spcAft>
                <a:spcPct val="0"/>
              </a:spcAft>
            </a:pPr>
            <a:endParaRPr kumimoji="1" lang="ko-KR" altLang="en-US" sz="700" b="0" i="0" u="none" strike="noStrike" kern="0" cap="none" spc="0" normalizeH="0" baseline="0" noProof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01" name="TextBox 300"/>
          <p:cNvSpPr txBox="1"/>
          <p:nvPr/>
        </p:nvSpPr>
        <p:spPr>
          <a:xfrm>
            <a:off x="7082166" y="1771723"/>
            <a:ext cx="226591" cy="257369"/>
          </a:xfrm>
          <a:prstGeom prst="rect">
            <a:avLst/>
          </a:prstGeom>
          <a:noFill/>
        </p:spPr>
        <p:txBody>
          <a:bodyPr wrap="none" lIns="36000" tIns="36000" rIns="36000" bIns="36000" rtlCol="0" anchor="t">
            <a:spAutoFit/>
          </a:bodyPr>
          <a:lstStyle/>
          <a:p>
            <a:pPr algn="r"/>
            <a:r>
              <a:rPr lang="ko-KR" altLang="en-US" sz="600" u="sng">
                <a:solidFill>
                  <a:schemeClr val="tx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모두</a:t>
            </a:r>
            <a:endParaRPr lang="en-US" altLang="ko-KR" sz="600" u="sng">
              <a:solidFill>
                <a:schemeClr val="tx1">
                  <a:lumMod val="50000"/>
                  <a:lumOff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r"/>
            <a:r>
              <a:rPr lang="ko-KR" altLang="en-US" sz="600" u="sng">
                <a:solidFill>
                  <a:schemeClr val="tx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삭제</a:t>
            </a:r>
            <a:endParaRPr lang="ko-KR" altLang="en-US" sz="600" u="sng" dirty="0">
              <a:solidFill>
                <a:schemeClr val="tx1">
                  <a:lumMod val="50000"/>
                  <a:lumOff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6" name="그룹 5"/>
          <p:cNvGrpSpPr/>
          <p:nvPr/>
        </p:nvGrpSpPr>
        <p:grpSpPr>
          <a:xfrm>
            <a:off x="8243906" y="1717723"/>
            <a:ext cx="1116000" cy="864000"/>
            <a:chOff x="8242455" y="1717723"/>
            <a:chExt cx="1116000" cy="864000"/>
          </a:xfrm>
        </p:grpSpPr>
        <p:sp>
          <p:nvSpPr>
            <p:cNvPr id="389" name="직사각형 388">
              <a:extLst>
                <a:ext uri="{FF2B5EF4-FFF2-40B4-BE49-F238E27FC236}">
                  <a16:creationId xmlns="" xmlns:a16="http://schemas.microsoft.com/office/drawing/2014/main" id="{869F0D91-4426-412C-8A0D-962A34E6A583}"/>
                </a:ext>
              </a:extLst>
            </p:cNvPr>
            <p:cNvSpPr/>
            <p:nvPr/>
          </p:nvSpPr>
          <p:spPr>
            <a:xfrm>
              <a:off x="8242455" y="1717723"/>
              <a:ext cx="1116000" cy="864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36000" rIns="108000" bIns="36000" rtlCol="0" anchor="ctr"/>
            <a:lstStyle/>
            <a:p>
              <a:endParaRPr lang="ko-KR" altLang="en-US" sz="8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303" name="모서리가 둥근 직사각형 184">
              <a:extLst>
                <a:ext uri="{FF2B5EF4-FFF2-40B4-BE49-F238E27FC236}">
                  <a16:creationId xmlns="" xmlns:a16="http://schemas.microsoft.com/office/drawing/2014/main" id="{7C4181B1-00DE-4B1A-9AF4-36726F2433BA}"/>
                </a:ext>
              </a:extLst>
            </p:cNvPr>
            <p:cNvSpPr/>
            <p:nvPr/>
          </p:nvSpPr>
          <p:spPr bwMode="auto">
            <a:xfrm>
              <a:off x="8315906" y="1771723"/>
              <a:ext cx="720000" cy="468000"/>
            </a:xfrm>
            <a:prstGeom prst="roundRect">
              <a:avLst/>
            </a:prstGeom>
            <a:solidFill>
              <a:srgbClr val="FFFFEF"/>
            </a:solidFill>
            <a:ln w="3175" cap="flat" cmpd="sng" algn="ctr">
              <a:solidFill>
                <a:schemeClr val="bg1">
                  <a:lumMod val="7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none" lIns="108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defTabSz="914400" fontAlgn="base" latinLnBrk="0">
                <a:spcBef>
                  <a:spcPct val="0"/>
                </a:spcBef>
                <a:spcAft>
                  <a:spcPct val="0"/>
                </a:spcAft>
              </a:pPr>
              <a:endParaRPr kumimoji="1" lang="ko-KR" altLang="en-US" sz="700" b="0" i="0" u="none" strike="noStrike" kern="0" cap="none" spc="0" normalizeH="0" baseline="0" noProof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304" name="TextBox 303"/>
            <p:cNvSpPr txBox="1"/>
            <p:nvPr/>
          </p:nvSpPr>
          <p:spPr>
            <a:xfrm>
              <a:off x="9061199" y="1771723"/>
              <a:ext cx="226591" cy="257369"/>
            </a:xfrm>
            <a:prstGeom prst="rect">
              <a:avLst/>
            </a:prstGeom>
            <a:noFill/>
          </p:spPr>
          <p:txBody>
            <a:bodyPr wrap="none" lIns="36000" tIns="36000" rIns="36000" bIns="36000" rtlCol="0" anchor="t">
              <a:spAutoFit/>
            </a:bodyPr>
            <a:lstStyle/>
            <a:p>
              <a:pPr algn="r"/>
              <a:r>
                <a:rPr lang="ko-KR" altLang="en-US" sz="600" u="sng">
                  <a:solidFill>
                    <a:schemeClr val="tx1">
                      <a:lumMod val="50000"/>
                      <a:lumOff val="50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모두</a:t>
              </a:r>
              <a:endParaRPr lang="en-US" altLang="ko-KR" sz="600" u="sng">
                <a:solidFill>
                  <a:schemeClr val="tx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algn="r"/>
              <a:r>
                <a:rPr lang="ko-KR" altLang="en-US" sz="600" u="sng">
                  <a:solidFill>
                    <a:schemeClr val="tx1">
                      <a:lumMod val="50000"/>
                      <a:lumOff val="50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삭제</a:t>
              </a:r>
              <a:endParaRPr lang="ko-KR" altLang="en-US" sz="600" u="sng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grpSp>
          <p:nvGrpSpPr>
            <p:cNvPr id="5" name="그룹 4"/>
            <p:cNvGrpSpPr/>
            <p:nvPr/>
          </p:nvGrpSpPr>
          <p:grpSpPr>
            <a:xfrm>
              <a:off x="8315906" y="2347511"/>
              <a:ext cx="981904" cy="180425"/>
              <a:chOff x="9488265" y="2923106"/>
              <a:chExt cx="981904" cy="180425"/>
            </a:xfrm>
          </p:grpSpPr>
          <p:sp>
            <p:nvSpPr>
              <p:cNvPr id="334" name="사각형: 둥근 모서리 393">
                <a:extLst>
                  <a:ext uri="{FF2B5EF4-FFF2-40B4-BE49-F238E27FC236}">
                    <a16:creationId xmlns="" xmlns:a16="http://schemas.microsoft.com/office/drawing/2014/main" id="{36E654BC-9DA7-40DE-810D-4DBC10DDAC9E}"/>
                  </a:ext>
                </a:extLst>
              </p:cNvPr>
              <p:cNvSpPr/>
              <p:nvPr/>
            </p:nvSpPr>
            <p:spPr bwMode="auto">
              <a:xfrm>
                <a:off x="9488265" y="2941319"/>
                <a:ext cx="144000" cy="144000"/>
              </a:xfrm>
              <a:prstGeom prst="roundRect">
                <a:avLst/>
              </a:prstGeom>
              <a:solidFill>
                <a:schemeClr val="bg1"/>
              </a:solidFill>
              <a:ln w="3175" cap="flat" cmpd="sng" algn="ctr">
                <a:solidFill>
                  <a:schemeClr val="bg1">
                    <a:lumMod val="7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>
                <a:innerShdw blurRad="12700" dist="12700" dir="13500000">
                  <a:schemeClr val="tx1">
                    <a:lumMod val="75000"/>
                    <a:lumOff val="25000"/>
                    <a:alpha val="30000"/>
                  </a:schemeClr>
                </a:innerShdw>
              </a:effectLst>
            </p:spPr>
            <p:txBody>
    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fontAlgn="base" latinLnBrk="0">
                  <a:spcBef>
                    <a:spcPct val="0"/>
                  </a:spcBef>
                  <a:spcAft>
                    <a:spcPct val="0"/>
                  </a:spcAft>
                </a:pPr>
                <a:endParaRPr kumimoji="1" lang="ko-KR" altLang="en-US" sz="700" b="1" ker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  <p:sp>
            <p:nvSpPr>
              <p:cNvPr id="335" name="TextBox 334">
                <a:extLst>
                  <a:ext uri="{FF2B5EF4-FFF2-40B4-BE49-F238E27FC236}">
                    <a16:creationId xmlns="" xmlns:a16="http://schemas.microsoft.com/office/drawing/2014/main" id="{5D1B3506-229B-45F0-9331-6EF4F4EF97DC}"/>
                  </a:ext>
                </a:extLst>
              </p:cNvPr>
              <p:cNvSpPr txBox="1"/>
              <p:nvPr/>
            </p:nvSpPr>
            <p:spPr>
              <a:xfrm>
                <a:off x="9632265" y="2923106"/>
                <a:ext cx="837904" cy="180425"/>
              </a:xfrm>
              <a:prstGeom prst="rect">
                <a:avLst/>
              </a:prstGeom>
              <a:noFill/>
              <a:ln w="3175" cap="flat" cmpd="sng" algn="ctr">
                <a:noFill/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txBody>
              <a:bodyPr vert="horz" wrap="none" lIns="108000" tIns="36000" rIns="36000" bIns="36000" numCol="1" rtlCol="0" anchor="ctr" anchorCtr="0" compatLnSpc="1">
                <a:prstTxWarp prst="textNoShape">
                  <a:avLst/>
                </a:prstTxWarp>
                <a:spAutoFit/>
              </a:bodyPr>
              <a:lstStyle/>
              <a:p>
                <a:pPr algn="l"/>
                <a:r>
                  <a:rPr lang="ko-KR" altLang="en-US" sz="7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</a:rPr>
                  <a:t>해당 상품만 조회</a:t>
                </a:r>
                <a:endParaRPr lang="ko-KR" altLang="en-US" sz="700" dirty="0">
                  <a:solidFill>
                    <a:srgbClr val="C00000"/>
                  </a:solidFill>
                  <a:latin typeface="+mn-ea"/>
                </a:endParaRPr>
              </a:p>
            </p:txBody>
          </p:sp>
        </p:grpSp>
      </p:grpSp>
      <p:cxnSp>
        <p:nvCxnSpPr>
          <p:cNvPr id="147" name="직선 연결선 146">
            <a:extLst>
              <a:ext uri="{FF2B5EF4-FFF2-40B4-BE49-F238E27FC236}">
                <a16:creationId xmlns="" xmlns:a16="http://schemas.microsoft.com/office/drawing/2014/main" id="{8B6CCFB5-6583-4FED-8393-9CCCF89D0E7A}"/>
              </a:ext>
            </a:extLst>
          </p:cNvPr>
          <p:cNvCxnSpPr>
            <a:cxnSpLocks/>
          </p:cNvCxnSpPr>
          <p:nvPr/>
        </p:nvCxnSpPr>
        <p:spPr>
          <a:xfrm>
            <a:off x="1367906" y="1717723"/>
            <a:ext cx="7992000" cy="0"/>
          </a:xfrm>
          <a:prstGeom prst="line">
            <a:avLst/>
          </a:prstGeom>
          <a:ln w="63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79" name="그룹 378"/>
          <p:cNvGrpSpPr/>
          <p:nvPr/>
        </p:nvGrpSpPr>
        <p:grpSpPr>
          <a:xfrm>
            <a:off x="7343630" y="2581627"/>
            <a:ext cx="2016276" cy="864000"/>
            <a:chOff x="7343630" y="4223179"/>
            <a:chExt cx="2016276" cy="864000"/>
          </a:xfrm>
        </p:grpSpPr>
        <p:sp>
          <p:nvSpPr>
            <p:cNvPr id="383" name="직사각형 382">
              <a:extLst>
                <a:ext uri="{FF2B5EF4-FFF2-40B4-BE49-F238E27FC236}">
                  <a16:creationId xmlns="" xmlns:a16="http://schemas.microsoft.com/office/drawing/2014/main" id="{D6E71F9F-6A05-4858-BCF1-F73872A38DCC}"/>
                </a:ext>
              </a:extLst>
            </p:cNvPr>
            <p:cNvSpPr/>
            <p:nvPr/>
          </p:nvSpPr>
          <p:spPr>
            <a:xfrm>
              <a:off x="7343630" y="4223179"/>
              <a:ext cx="900000" cy="864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36000" rIns="108000" bIns="36000" rtlCol="0" anchor="ctr"/>
            <a:lstStyle/>
            <a:p>
              <a:r>
                <a:rPr lang="ko-KR" altLang="en-US" sz="70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상품코드</a:t>
              </a:r>
              <a:endParaRPr lang="en-US" altLang="ko-KR" sz="7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>
                <a:lnSpc>
                  <a:spcPct val="150000"/>
                </a:lnSpc>
              </a:pPr>
              <a:r>
                <a:rPr lang="en-US" altLang="ko-KR" sz="70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(</a:t>
              </a:r>
              <a:r>
                <a:rPr lang="ko-KR" altLang="en-US" sz="70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총 </a:t>
              </a:r>
              <a:r>
                <a:rPr lang="en-US" altLang="ko-KR" sz="700">
                  <a:solidFill>
                    <a:srgbClr val="FF0000"/>
                  </a:solidFill>
                  <a:latin typeface="맑은 고딕" panose="020B0503020000020004" pitchFamily="50" charset="-127"/>
                </a:rPr>
                <a:t>0</a:t>
              </a:r>
              <a:r>
                <a:rPr lang="ko-KR" altLang="en-US" sz="70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건</a:t>
              </a:r>
              <a:r>
                <a:rPr lang="en-US" altLang="ko-KR" sz="70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)</a:t>
              </a:r>
              <a:endParaRPr lang="ko-KR" altLang="en-US" sz="70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grpSp>
          <p:nvGrpSpPr>
            <p:cNvPr id="384" name="그룹 383"/>
            <p:cNvGrpSpPr/>
            <p:nvPr/>
          </p:nvGrpSpPr>
          <p:grpSpPr>
            <a:xfrm>
              <a:off x="8243906" y="4223179"/>
              <a:ext cx="1116000" cy="864000"/>
              <a:chOff x="8242455" y="1717723"/>
              <a:chExt cx="1116000" cy="864000"/>
            </a:xfrm>
          </p:grpSpPr>
          <p:sp>
            <p:nvSpPr>
              <p:cNvPr id="385" name="직사각형 384">
                <a:extLst>
                  <a:ext uri="{FF2B5EF4-FFF2-40B4-BE49-F238E27FC236}">
                    <a16:creationId xmlns="" xmlns:a16="http://schemas.microsoft.com/office/drawing/2014/main" id="{869F0D91-4426-412C-8A0D-962A34E6A583}"/>
                  </a:ext>
                </a:extLst>
              </p:cNvPr>
              <p:cNvSpPr/>
              <p:nvPr/>
            </p:nvSpPr>
            <p:spPr>
              <a:xfrm>
                <a:off x="8242455" y="1717723"/>
                <a:ext cx="1116000" cy="864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08000" tIns="36000" rIns="108000" bIns="36000" rtlCol="0" anchor="ctr"/>
              <a:lstStyle/>
              <a:p>
                <a:endParaRPr lang="ko-KR" altLang="en-US" sz="80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  <p:sp>
            <p:nvSpPr>
              <p:cNvPr id="386" name="모서리가 둥근 직사각형 184">
                <a:extLst>
                  <a:ext uri="{FF2B5EF4-FFF2-40B4-BE49-F238E27FC236}">
                    <a16:creationId xmlns="" xmlns:a16="http://schemas.microsoft.com/office/drawing/2014/main" id="{7C4181B1-00DE-4B1A-9AF4-36726F2433BA}"/>
                  </a:ext>
                </a:extLst>
              </p:cNvPr>
              <p:cNvSpPr/>
              <p:nvPr/>
            </p:nvSpPr>
            <p:spPr bwMode="auto">
              <a:xfrm>
                <a:off x="8315906" y="1771723"/>
                <a:ext cx="720000" cy="468000"/>
              </a:xfrm>
              <a:prstGeom prst="roundRect">
                <a:avLst/>
              </a:prstGeom>
              <a:solidFill>
                <a:srgbClr val="FFFFEF"/>
              </a:solidFill>
              <a:ln w="3175" cap="flat" cmpd="sng" algn="ctr">
                <a:solidFill>
                  <a:schemeClr val="bg1">
                    <a:lumMod val="7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rot="0" spcFirstLastPara="0" vertOverflow="overflow" horzOverflow="overflow" vert="horz" wrap="none" lIns="108000" tIns="36000" rIns="36000" bIns="36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defTabSz="914400" fontAlgn="base" latinLnBrk="0">
                  <a:spcBef>
                    <a:spcPct val="0"/>
                  </a:spcBef>
                  <a:spcAft>
                    <a:spcPct val="0"/>
                  </a:spcAft>
                </a:pPr>
                <a:endParaRPr kumimoji="1" lang="ko-KR" altLang="en-US" sz="700" b="0" i="0" u="none" strike="noStrike" kern="0" cap="none" spc="0" normalizeH="0" baseline="0" noProof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  <p:sp>
            <p:nvSpPr>
              <p:cNvPr id="387" name="TextBox 386"/>
              <p:cNvSpPr txBox="1"/>
              <p:nvPr/>
            </p:nvSpPr>
            <p:spPr>
              <a:xfrm>
                <a:off x="9061199" y="1771723"/>
                <a:ext cx="226591" cy="257369"/>
              </a:xfrm>
              <a:prstGeom prst="rect">
                <a:avLst/>
              </a:prstGeom>
              <a:noFill/>
            </p:spPr>
            <p:txBody>
              <a:bodyPr wrap="none" lIns="36000" tIns="36000" rIns="36000" bIns="36000" rtlCol="0" anchor="t">
                <a:spAutoFit/>
              </a:bodyPr>
              <a:lstStyle/>
              <a:p>
                <a:pPr algn="r"/>
                <a:r>
                  <a:rPr lang="ko-KR" altLang="en-US" sz="600" u="sng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모두</a:t>
                </a:r>
                <a:endParaRPr lang="en-US" altLang="ko-KR" sz="600" u="sng">
                  <a:solidFill>
                    <a:schemeClr val="tx1">
                      <a:lumMod val="50000"/>
                      <a:lumOff val="50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  <a:p>
                <a:pPr algn="r"/>
                <a:r>
                  <a:rPr lang="ko-KR" altLang="en-US" sz="600" u="sng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삭제</a:t>
                </a:r>
                <a:endParaRPr lang="ko-KR" altLang="en-US" sz="600" u="sng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  <p:grpSp>
            <p:nvGrpSpPr>
              <p:cNvPr id="391" name="그룹 390"/>
              <p:cNvGrpSpPr/>
              <p:nvPr/>
            </p:nvGrpSpPr>
            <p:grpSpPr>
              <a:xfrm>
                <a:off x="8315906" y="2347511"/>
                <a:ext cx="981904" cy="180425"/>
                <a:chOff x="9488265" y="2923106"/>
                <a:chExt cx="981904" cy="180425"/>
              </a:xfrm>
            </p:grpSpPr>
            <p:sp>
              <p:nvSpPr>
                <p:cNvPr id="392" name="사각형: 둥근 모서리 393">
                  <a:extLst>
                    <a:ext uri="{FF2B5EF4-FFF2-40B4-BE49-F238E27FC236}">
                      <a16:creationId xmlns="" xmlns:a16="http://schemas.microsoft.com/office/drawing/2014/main" id="{36E654BC-9DA7-40DE-810D-4DBC10DDAC9E}"/>
                    </a:ext>
                  </a:extLst>
                </p:cNvPr>
                <p:cNvSpPr/>
                <p:nvPr/>
              </p:nvSpPr>
              <p:spPr bwMode="auto">
                <a:xfrm>
                  <a:off x="9488265" y="2941319"/>
                  <a:ext cx="144000" cy="144000"/>
                </a:xfrm>
                <a:prstGeom prst="roundRect">
                  <a:avLst/>
                </a:prstGeom>
                <a:solidFill>
                  <a:schemeClr val="bg1"/>
                </a:solidFill>
                <a:ln w="3175" cap="flat" cmpd="sng" algn="ctr">
                  <a:solidFill>
                    <a:schemeClr val="bg1">
                      <a:lumMod val="75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>
                  <a:innerShdw blurRad="12700" dist="12700" dir="13500000">
                    <a:schemeClr val="tx1">
                      <a:lumMod val="75000"/>
                      <a:lumOff val="25000"/>
                      <a:alpha val="30000"/>
                    </a:schemeClr>
                  </a:innerShdw>
                </a:effectLst>
              </p:spPr>
              <p:txBody>
      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 fontAlgn="base" latinLnBrk="0">
                    <a:spcBef>
                      <a:spcPct val="0"/>
                    </a:spcBef>
                    <a:spcAft>
                      <a:spcPct val="0"/>
                    </a:spcAft>
                  </a:pPr>
                  <a:endParaRPr kumimoji="1" lang="ko-KR" altLang="en-US" sz="700" b="1" kern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endParaRPr>
                </a:p>
              </p:txBody>
            </p:sp>
            <p:sp>
              <p:nvSpPr>
                <p:cNvPr id="395" name="TextBox 394">
                  <a:extLst>
                    <a:ext uri="{FF2B5EF4-FFF2-40B4-BE49-F238E27FC236}">
                      <a16:creationId xmlns="" xmlns:a16="http://schemas.microsoft.com/office/drawing/2014/main" id="{5D1B3506-229B-45F0-9331-6EF4F4EF97DC}"/>
                    </a:ext>
                  </a:extLst>
                </p:cNvPr>
                <p:cNvSpPr txBox="1"/>
                <p:nvPr/>
              </p:nvSpPr>
              <p:spPr>
                <a:xfrm>
                  <a:off x="9632265" y="2923106"/>
                  <a:ext cx="837904" cy="180425"/>
                </a:xfrm>
                <a:prstGeom prst="rect">
                  <a:avLst/>
                </a:prstGeom>
                <a:noFill/>
                <a:ln w="3175" cap="flat" cmpd="sng" algn="ctr">
                  <a:noFill/>
                  <a:prstDash val="solid"/>
                  <a:miter lim="800000"/>
                  <a:headEnd type="none" w="med" len="med"/>
                  <a:tailEnd type="none" w="med" len="med"/>
                </a:ln>
                <a:effectLst/>
              </p:spPr>
              <p:txBody>
                <a:bodyPr vert="horz" wrap="none" lIns="108000" tIns="36000" rIns="36000" bIns="36000" numCol="1" rtlCol="0" anchor="ctr" anchorCtr="0" compatLnSpc="1">
                  <a:prstTxWarp prst="textNoShape">
                    <a:avLst/>
                  </a:prstTxWarp>
                  <a:spAutoFit/>
                </a:bodyPr>
                <a:lstStyle/>
                <a:p>
                  <a:pPr algn="l"/>
                  <a:r>
                    <a:rPr lang="ko-KR" altLang="en-US" sz="70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+mn-ea"/>
                    </a:rPr>
                    <a:t>해당 상품만 조회</a:t>
                  </a:r>
                  <a:endParaRPr lang="ko-KR" altLang="en-US" sz="700" dirty="0">
                    <a:solidFill>
                      <a:srgbClr val="C00000"/>
                    </a:solidFill>
                    <a:latin typeface="+mn-ea"/>
                  </a:endParaRPr>
                </a:p>
              </p:txBody>
            </p:sp>
          </p:grpSp>
        </p:grpSp>
      </p:grpSp>
      <p:sp>
        <p:nvSpPr>
          <p:cNvPr id="397" name="직사각형 396">
            <a:extLst>
              <a:ext uri="{FF2B5EF4-FFF2-40B4-BE49-F238E27FC236}">
                <a16:creationId xmlns="" xmlns:a16="http://schemas.microsoft.com/office/drawing/2014/main" id="{C3CBC899-E192-4597-B3EF-23483E494D33}"/>
              </a:ext>
            </a:extLst>
          </p:cNvPr>
          <p:cNvSpPr/>
          <p:nvPr/>
        </p:nvSpPr>
        <p:spPr>
          <a:xfrm>
            <a:off x="1367906" y="3157627"/>
            <a:ext cx="900000" cy="288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36000" rIns="108000" bIns="36000" rtlCol="0" anchor="ctr"/>
          <a:lstStyle/>
          <a:p>
            <a:r>
              <a:rPr lang="ko-KR" altLang="en-US" sz="7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주문일자</a:t>
            </a:r>
          </a:p>
        </p:txBody>
      </p:sp>
      <p:sp>
        <p:nvSpPr>
          <p:cNvPr id="398" name="직사각형 397">
            <a:extLst>
              <a:ext uri="{FF2B5EF4-FFF2-40B4-BE49-F238E27FC236}">
                <a16:creationId xmlns="" xmlns:a16="http://schemas.microsoft.com/office/drawing/2014/main" id="{C8E8B8B5-F2A9-4F2D-8F41-E83BE71E8F5A}"/>
              </a:ext>
            </a:extLst>
          </p:cNvPr>
          <p:cNvSpPr/>
          <p:nvPr/>
        </p:nvSpPr>
        <p:spPr>
          <a:xfrm>
            <a:off x="2266455" y="3157627"/>
            <a:ext cx="5076899" cy="288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36000" rIns="108000" bIns="36000" rtlCol="0" anchor="ctr"/>
          <a:lstStyle/>
          <a:p>
            <a:endParaRPr lang="ko-KR" altLang="en-US" sz="80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63" name="직사각형 462">
            <a:extLst>
              <a:ext uri="{FF2B5EF4-FFF2-40B4-BE49-F238E27FC236}">
                <a16:creationId xmlns="" xmlns:a16="http://schemas.microsoft.com/office/drawing/2014/main" id="{C3CBC899-E192-4597-B3EF-23483E494D33}"/>
              </a:ext>
            </a:extLst>
          </p:cNvPr>
          <p:cNvSpPr/>
          <p:nvPr/>
        </p:nvSpPr>
        <p:spPr>
          <a:xfrm>
            <a:off x="1367906" y="3445724"/>
            <a:ext cx="900000" cy="288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36000" rIns="108000" bIns="36000" rtlCol="0" anchor="ctr"/>
          <a:lstStyle/>
          <a:p>
            <a:r>
              <a:rPr lang="ko-KR" altLang="en-US" sz="7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교환구분</a:t>
            </a:r>
          </a:p>
        </p:txBody>
      </p:sp>
      <p:sp>
        <p:nvSpPr>
          <p:cNvPr id="464" name="직사각형 463">
            <a:extLst>
              <a:ext uri="{FF2B5EF4-FFF2-40B4-BE49-F238E27FC236}">
                <a16:creationId xmlns="" xmlns:a16="http://schemas.microsoft.com/office/drawing/2014/main" id="{C8E8B8B5-F2A9-4F2D-8F41-E83BE71E8F5A}"/>
              </a:ext>
            </a:extLst>
          </p:cNvPr>
          <p:cNvSpPr/>
          <p:nvPr/>
        </p:nvSpPr>
        <p:spPr>
          <a:xfrm>
            <a:off x="2266455" y="3445724"/>
            <a:ext cx="1080000" cy="288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36000" rIns="108000" bIns="36000" rtlCol="0" anchor="ctr"/>
          <a:lstStyle/>
          <a:p>
            <a:endParaRPr lang="ko-KR" altLang="en-US" sz="80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465" name="그룹 464">
            <a:extLst>
              <a:ext uri="{FF2B5EF4-FFF2-40B4-BE49-F238E27FC236}">
                <a16:creationId xmlns="" xmlns:a16="http://schemas.microsoft.com/office/drawing/2014/main" id="{CE03C03E-4F04-4133-AEEC-AC03458859A7}"/>
              </a:ext>
            </a:extLst>
          </p:cNvPr>
          <p:cNvGrpSpPr/>
          <p:nvPr/>
        </p:nvGrpSpPr>
        <p:grpSpPr>
          <a:xfrm>
            <a:off x="2339906" y="3499724"/>
            <a:ext cx="936000" cy="180000"/>
            <a:chOff x="2554666" y="3787347"/>
            <a:chExt cx="936000" cy="180000"/>
          </a:xfrm>
        </p:grpSpPr>
        <p:sp>
          <p:nvSpPr>
            <p:cNvPr id="471" name="모서리가 둥근 직사각형 139">
              <a:extLst>
                <a:ext uri="{FF2B5EF4-FFF2-40B4-BE49-F238E27FC236}">
                  <a16:creationId xmlns="" xmlns:a16="http://schemas.microsoft.com/office/drawing/2014/main" id="{D20B2316-7950-45D5-A329-DFCDAA416345}"/>
                </a:ext>
              </a:extLst>
            </p:cNvPr>
            <p:cNvSpPr/>
            <p:nvPr/>
          </p:nvSpPr>
          <p:spPr bwMode="auto">
            <a:xfrm>
              <a:off x="2554666" y="3787347"/>
              <a:ext cx="936000" cy="180000"/>
            </a:xfrm>
            <a:prstGeom prst="roundRect">
              <a:avLst/>
            </a:prstGeom>
            <a:solidFill>
              <a:schemeClr val="bg1"/>
            </a:solidFill>
            <a:ln w="3175" cap="flat" cmpd="sng" algn="ctr">
              <a:solidFill>
                <a:schemeClr val="bg1">
                  <a:lumMod val="7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none" lIns="108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fontAlgn="base" latinLnBrk="0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ko-KR" sz="700" kern="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[</a:t>
              </a:r>
              <a:r>
                <a:rPr kumimoji="1" lang="ko-KR" altLang="en-US" sz="700" kern="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전체</a:t>
              </a:r>
              <a:r>
                <a:rPr kumimoji="1" lang="en-US" altLang="ko-KR" sz="700" kern="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]</a:t>
              </a:r>
              <a:endParaRPr kumimoji="1" lang="ko-KR" altLang="en-US" sz="700" kern="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endParaRPr>
            </a:p>
          </p:txBody>
        </p:sp>
        <p:sp>
          <p:nvSpPr>
            <p:cNvPr id="474" name="모서리가 둥근 직사각형 141">
              <a:extLst>
                <a:ext uri="{FF2B5EF4-FFF2-40B4-BE49-F238E27FC236}">
                  <a16:creationId xmlns="" xmlns:a16="http://schemas.microsoft.com/office/drawing/2014/main" id="{9D3BF834-DC28-4D1A-B5CB-ED60EA5C7751}"/>
                </a:ext>
              </a:extLst>
            </p:cNvPr>
            <p:cNvSpPr/>
            <p:nvPr/>
          </p:nvSpPr>
          <p:spPr bwMode="auto">
            <a:xfrm>
              <a:off x="3310666" y="3787347"/>
              <a:ext cx="180000" cy="180000"/>
            </a:xfrm>
            <a:prstGeom prst="roundRect">
              <a:avLst/>
            </a:prstGeom>
            <a:solidFill>
              <a:schemeClr val="bg1"/>
            </a:solidFill>
            <a:ln w="3175" cap="flat" cmpd="sng" algn="ctr">
              <a:solidFill>
                <a:schemeClr val="bg1">
                  <a:lumMod val="7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none" lIns="36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fontAlgn="base" latinLnBrk="0">
                <a:spcBef>
                  <a:spcPct val="0"/>
                </a:spcBef>
                <a:spcAft>
                  <a:spcPct val="0"/>
                </a:spcAft>
              </a:pPr>
              <a:r>
                <a:rPr kumimoji="1" lang="ko-KR" altLang="en-US" sz="700" kern="0" dirty="0">
                  <a:solidFill>
                    <a:srgbClr val="000000"/>
                  </a:solidFill>
                  <a:latin typeface="+mn-ea"/>
                </a:rPr>
                <a:t>▼</a:t>
              </a:r>
            </a:p>
          </p:txBody>
        </p:sp>
      </p:grpSp>
      <p:sp>
        <p:nvSpPr>
          <p:cNvPr id="466" name="직사각형 465">
            <a:extLst>
              <a:ext uri="{FF2B5EF4-FFF2-40B4-BE49-F238E27FC236}">
                <a16:creationId xmlns="" xmlns:a16="http://schemas.microsoft.com/office/drawing/2014/main" id="{C3CBC899-E192-4597-B3EF-23483E494D33}"/>
              </a:ext>
            </a:extLst>
          </p:cNvPr>
          <p:cNvSpPr/>
          <p:nvPr/>
        </p:nvSpPr>
        <p:spPr>
          <a:xfrm>
            <a:off x="3347422" y="3445724"/>
            <a:ext cx="900000" cy="288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36000" rIns="108000" bIns="36000" rtlCol="0" anchor="ctr"/>
          <a:lstStyle/>
          <a:p>
            <a:r>
              <a:rPr lang="ko-KR" altLang="en-US" sz="7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자동결품 여부</a:t>
            </a:r>
            <a:endParaRPr lang="ko-KR" altLang="en-US" sz="7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67" name="직사각형 466">
            <a:extLst>
              <a:ext uri="{FF2B5EF4-FFF2-40B4-BE49-F238E27FC236}">
                <a16:creationId xmlns="" xmlns:a16="http://schemas.microsoft.com/office/drawing/2014/main" id="{C8E8B8B5-F2A9-4F2D-8F41-E83BE71E8F5A}"/>
              </a:ext>
            </a:extLst>
          </p:cNvPr>
          <p:cNvSpPr/>
          <p:nvPr/>
        </p:nvSpPr>
        <p:spPr>
          <a:xfrm>
            <a:off x="4247285" y="3445724"/>
            <a:ext cx="1116000" cy="288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36000" rIns="108000" bIns="36000" rtlCol="0" anchor="ctr"/>
          <a:lstStyle/>
          <a:p>
            <a:endParaRPr lang="ko-KR" altLang="en-US" sz="80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468" name="그룹 467">
            <a:extLst>
              <a:ext uri="{FF2B5EF4-FFF2-40B4-BE49-F238E27FC236}">
                <a16:creationId xmlns="" xmlns:a16="http://schemas.microsoft.com/office/drawing/2014/main" id="{CE03C03E-4F04-4133-AEEC-AC03458859A7}"/>
              </a:ext>
            </a:extLst>
          </p:cNvPr>
          <p:cNvGrpSpPr/>
          <p:nvPr/>
        </p:nvGrpSpPr>
        <p:grpSpPr>
          <a:xfrm>
            <a:off x="4319422" y="3499724"/>
            <a:ext cx="936000" cy="180000"/>
            <a:chOff x="2554666" y="3787347"/>
            <a:chExt cx="936000" cy="180000"/>
          </a:xfrm>
        </p:grpSpPr>
        <p:sp>
          <p:nvSpPr>
            <p:cNvPr id="469" name="모서리가 둥근 직사각형 139">
              <a:extLst>
                <a:ext uri="{FF2B5EF4-FFF2-40B4-BE49-F238E27FC236}">
                  <a16:creationId xmlns="" xmlns:a16="http://schemas.microsoft.com/office/drawing/2014/main" id="{D20B2316-7950-45D5-A329-DFCDAA416345}"/>
                </a:ext>
              </a:extLst>
            </p:cNvPr>
            <p:cNvSpPr/>
            <p:nvPr/>
          </p:nvSpPr>
          <p:spPr bwMode="auto">
            <a:xfrm>
              <a:off x="2554666" y="3787347"/>
              <a:ext cx="936000" cy="180000"/>
            </a:xfrm>
            <a:prstGeom prst="roundRect">
              <a:avLst/>
            </a:prstGeom>
            <a:solidFill>
              <a:schemeClr val="bg1"/>
            </a:solidFill>
            <a:ln w="3175" cap="flat" cmpd="sng" algn="ctr">
              <a:solidFill>
                <a:schemeClr val="bg1">
                  <a:lumMod val="7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none" lIns="108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fontAlgn="base" latinLnBrk="0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ko-KR" sz="700" kern="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[</a:t>
              </a:r>
              <a:r>
                <a:rPr kumimoji="1" lang="ko-KR" altLang="en-US" sz="700" kern="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전체</a:t>
              </a:r>
              <a:r>
                <a:rPr kumimoji="1" lang="en-US" altLang="ko-KR" sz="700" kern="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]</a:t>
              </a:r>
              <a:endParaRPr kumimoji="1" lang="ko-KR" altLang="en-US" sz="700" kern="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endParaRPr>
            </a:p>
          </p:txBody>
        </p:sp>
        <p:sp>
          <p:nvSpPr>
            <p:cNvPr id="470" name="모서리가 둥근 직사각형 141">
              <a:extLst>
                <a:ext uri="{FF2B5EF4-FFF2-40B4-BE49-F238E27FC236}">
                  <a16:creationId xmlns="" xmlns:a16="http://schemas.microsoft.com/office/drawing/2014/main" id="{9D3BF834-DC28-4D1A-B5CB-ED60EA5C7751}"/>
                </a:ext>
              </a:extLst>
            </p:cNvPr>
            <p:cNvSpPr/>
            <p:nvPr/>
          </p:nvSpPr>
          <p:spPr bwMode="auto">
            <a:xfrm>
              <a:off x="3310666" y="3787347"/>
              <a:ext cx="180000" cy="180000"/>
            </a:xfrm>
            <a:prstGeom prst="roundRect">
              <a:avLst/>
            </a:prstGeom>
            <a:solidFill>
              <a:schemeClr val="bg1"/>
            </a:solidFill>
            <a:ln w="3175" cap="flat" cmpd="sng" algn="ctr">
              <a:solidFill>
                <a:schemeClr val="bg1">
                  <a:lumMod val="7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none" lIns="36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fontAlgn="base" latinLnBrk="0">
                <a:spcBef>
                  <a:spcPct val="0"/>
                </a:spcBef>
                <a:spcAft>
                  <a:spcPct val="0"/>
                </a:spcAft>
              </a:pPr>
              <a:r>
                <a:rPr kumimoji="1" lang="ko-KR" altLang="en-US" sz="700" kern="0" dirty="0">
                  <a:solidFill>
                    <a:srgbClr val="000000"/>
                  </a:solidFill>
                  <a:latin typeface="+mn-ea"/>
                </a:rPr>
                <a:t>▼</a:t>
              </a:r>
            </a:p>
          </p:txBody>
        </p:sp>
      </p:grpSp>
      <p:sp>
        <p:nvSpPr>
          <p:cNvPr id="451" name="직사각형 450">
            <a:extLst>
              <a:ext uri="{FF2B5EF4-FFF2-40B4-BE49-F238E27FC236}">
                <a16:creationId xmlns="" xmlns:a16="http://schemas.microsoft.com/office/drawing/2014/main" id="{C3CBC899-E192-4597-B3EF-23483E494D33}"/>
              </a:ext>
            </a:extLst>
          </p:cNvPr>
          <p:cNvSpPr/>
          <p:nvPr/>
        </p:nvSpPr>
        <p:spPr>
          <a:xfrm>
            <a:off x="5363078" y="3445724"/>
            <a:ext cx="900000" cy="288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36000" rIns="108000" bIns="36000" rtlCol="0" anchor="ctr"/>
          <a:lstStyle/>
          <a:p>
            <a:r>
              <a:rPr lang="ko-KR" altLang="en-US" sz="7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웹</a:t>
            </a:r>
            <a:r>
              <a:rPr lang="en-US" altLang="ko-KR" sz="7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/</a:t>
            </a:r>
            <a:r>
              <a:rPr lang="ko-KR" altLang="en-US" sz="7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모바일 구분</a:t>
            </a:r>
            <a:endParaRPr lang="ko-KR" altLang="en-US" sz="7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452" name="직사각형 451">
            <a:extLst>
              <a:ext uri="{FF2B5EF4-FFF2-40B4-BE49-F238E27FC236}">
                <a16:creationId xmlns="" xmlns:a16="http://schemas.microsoft.com/office/drawing/2014/main" id="{C8E8B8B5-F2A9-4F2D-8F41-E83BE71E8F5A}"/>
              </a:ext>
            </a:extLst>
          </p:cNvPr>
          <p:cNvSpPr/>
          <p:nvPr/>
        </p:nvSpPr>
        <p:spPr>
          <a:xfrm>
            <a:off x="6261627" y="3445724"/>
            <a:ext cx="1080000" cy="288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36000" rIns="108000" bIns="36000" rtlCol="0" anchor="ctr"/>
          <a:lstStyle/>
          <a:p>
            <a:endParaRPr lang="ko-KR" altLang="en-US" sz="80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453" name="그룹 452">
            <a:extLst>
              <a:ext uri="{FF2B5EF4-FFF2-40B4-BE49-F238E27FC236}">
                <a16:creationId xmlns="" xmlns:a16="http://schemas.microsoft.com/office/drawing/2014/main" id="{CE03C03E-4F04-4133-AEEC-AC03458859A7}"/>
              </a:ext>
            </a:extLst>
          </p:cNvPr>
          <p:cNvGrpSpPr/>
          <p:nvPr/>
        </p:nvGrpSpPr>
        <p:grpSpPr>
          <a:xfrm>
            <a:off x="6335078" y="3499724"/>
            <a:ext cx="936000" cy="180000"/>
            <a:chOff x="2554666" y="3787347"/>
            <a:chExt cx="936000" cy="180000"/>
          </a:xfrm>
        </p:grpSpPr>
        <p:sp>
          <p:nvSpPr>
            <p:cNvPr id="461" name="모서리가 둥근 직사각형 139">
              <a:extLst>
                <a:ext uri="{FF2B5EF4-FFF2-40B4-BE49-F238E27FC236}">
                  <a16:creationId xmlns="" xmlns:a16="http://schemas.microsoft.com/office/drawing/2014/main" id="{D20B2316-7950-45D5-A329-DFCDAA416345}"/>
                </a:ext>
              </a:extLst>
            </p:cNvPr>
            <p:cNvSpPr/>
            <p:nvPr/>
          </p:nvSpPr>
          <p:spPr bwMode="auto">
            <a:xfrm>
              <a:off x="2554666" y="3787347"/>
              <a:ext cx="936000" cy="180000"/>
            </a:xfrm>
            <a:prstGeom prst="roundRect">
              <a:avLst/>
            </a:prstGeom>
            <a:solidFill>
              <a:schemeClr val="bg1"/>
            </a:solidFill>
            <a:ln w="3175" cap="flat" cmpd="sng" algn="ctr">
              <a:solidFill>
                <a:schemeClr val="bg1">
                  <a:lumMod val="7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none" lIns="108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fontAlgn="base" latinLnBrk="0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ko-KR" sz="700" kern="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[</a:t>
              </a:r>
              <a:r>
                <a:rPr kumimoji="1" lang="ko-KR" altLang="en-US" sz="700" kern="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전체</a:t>
              </a:r>
              <a:r>
                <a:rPr kumimoji="1" lang="en-US" altLang="ko-KR" sz="700" kern="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]</a:t>
              </a:r>
              <a:endParaRPr kumimoji="1" lang="ko-KR" altLang="en-US" sz="700" kern="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endParaRPr>
            </a:p>
          </p:txBody>
        </p:sp>
        <p:sp>
          <p:nvSpPr>
            <p:cNvPr id="462" name="모서리가 둥근 직사각형 141">
              <a:extLst>
                <a:ext uri="{FF2B5EF4-FFF2-40B4-BE49-F238E27FC236}">
                  <a16:creationId xmlns="" xmlns:a16="http://schemas.microsoft.com/office/drawing/2014/main" id="{9D3BF834-DC28-4D1A-B5CB-ED60EA5C7751}"/>
                </a:ext>
              </a:extLst>
            </p:cNvPr>
            <p:cNvSpPr/>
            <p:nvPr/>
          </p:nvSpPr>
          <p:spPr bwMode="auto">
            <a:xfrm>
              <a:off x="3310666" y="3787347"/>
              <a:ext cx="180000" cy="180000"/>
            </a:xfrm>
            <a:prstGeom prst="roundRect">
              <a:avLst/>
            </a:prstGeom>
            <a:solidFill>
              <a:schemeClr val="bg1"/>
            </a:solidFill>
            <a:ln w="3175" cap="flat" cmpd="sng" algn="ctr">
              <a:solidFill>
                <a:schemeClr val="bg1">
                  <a:lumMod val="7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none" lIns="36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fontAlgn="base" latinLnBrk="0">
                <a:spcBef>
                  <a:spcPct val="0"/>
                </a:spcBef>
                <a:spcAft>
                  <a:spcPct val="0"/>
                </a:spcAft>
              </a:pPr>
              <a:r>
                <a:rPr kumimoji="1" lang="ko-KR" altLang="en-US" sz="700" kern="0" dirty="0">
                  <a:solidFill>
                    <a:srgbClr val="000000"/>
                  </a:solidFill>
                  <a:latin typeface="+mn-ea"/>
                </a:rPr>
                <a:t>▼</a:t>
              </a:r>
            </a:p>
          </p:txBody>
        </p:sp>
      </p:grpSp>
      <p:sp>
        <p:nvSpPr>
          <p:cNvPr id="454" name="직사각형 453">
            <a:extLst>
              <a:ext uri="{FF2B5EF4-FFF2-40B4-BE49-F238E27FC236}">
                <a16:creationId xmlns="" xmlns:a16="http://schemas.microsoft.com/office/drawing/2014/main" id="{C3CBC899-E192-4597-B3EF-23483E494D33}"/>
              </a:ext>
            </a:extLst>
          </p:cNvPr>
          <p:cNvSpPr/>
          <p:nvPr/>
        </p:nvSpPr>
        <p:spPr>
          <a:xfrm>
            <a:off x="7342594" y="3445724"/>
            <a:ext cx="900000" cy="576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36000" rIns="72000" bIns="36000" rtlCol="0" anchor="ctr"/>
          <a:lstStyle/>
          <a:p>
            <a:r>
              <a:rPr lang="ko-KR" altLang="en-US" sz="7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결품대상제외</a:t>
            </a:r>
            <a:endParaRPr lang="en-US" altLang="ko-KR" sz="70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7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고객요청여부</a:t>
            </a:r>
            <a:endParaRPr lang="ko-KR" altLang="en-US" sz="7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55" name="직사각형 454">
            <a:extLst>
              <a:ext uri="{FF2B5EF4-FFF2-40B4-BE49-F238E27FC236}">
                <a16:creationId xmlns="" xmlns:a16="http://schemas.microsoft.com/office/drawing/2014/main" id="{C8E8B8B5-F2A9-4F2D-8F41-E83BE71E8F5A}"/>
              </a:ext>
            </a:extLst>
          </p:cNvPr>
          <p:cNvSpPr/>
          <p:nvPr/>
        </p:nvSpPr>
        <p:spPr>
          <a:xfrm>
            <a:off x="8242457" y="3445724"/>
            <a:ext cx="1116000" cy="576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36000" rIns="108000" bIns="36000" rtlCol="0" anchor="ctr"/>
          <a:lstStyle/>
          <a:p>
            <a:endParaRPr lang="ko-KR" altLang="en-US" sz="80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456" name="그룹 455">
            <a:extLst>
              <a:ext uri="{FF2B5EF4-FFF2-40B4-BE49-F238E27FC236}">
                <a16:creationId xmlns="" xmlns:a16="http://schemas.microsoft.com/office/drawing/2014/main" id="{CE03C03E-4F04-4133-AEEC-AC03458859A7}"/>
              </a:ext>
            </a:extLst>
          </p:cNvPr>
          <p:cNvGrpSpPr/>
          <p:nvPr/>
        </p:nvGrpSpPr>
        <p:grpSpPr>
          <a:xfrm>
            <a:off x="8314594" y="3499724"/>
            <a:ext cx="936000" cy="180000"/>
            <a:chOff x="2554666" y="3787347"/>
            <a:chExt cx="936000" cy="180000"/>
          </a:xfrm>
        </p:grpSpPr>
        <p:sp>
          <p:nvSpPr>
            <p:cNvPr id="459" name="모서리가 둥근 직사각형 139">
              <a:extLst>
                <a:ext uri="{FF2B5EF4-FFF2-40B4-BE49-F238E27FC236}">
                  <a16:creationId xmlns="" xmlns:a16="http://schemas.microsoft.com/office/drawing/2014/main" id="{D20B2316-7950-45D5-A329-DFCDAA416345}"/>
                </a:ext>
              </a:extLst>
            </p:cNvPr>
            <p:cNvSpPr/>
            <p:nvPr/>
          </p:nvSpPr>
          <p:spPr bwMode="auto">
            <a:xfrm>
              <a:off x="2554666" y="3787347"/>
              <a:ext cx="936000" cy="180000"/>
            </a:xfrm>
            <a:prstGeom prst="roundRect">
              <a:avLst/>
            </a:prstGeom>
            <a:solidFill>
              <a:schemeClr val="bg1"/>
            </a:solidFill>
            <a:ln w="3175" cap="flat" cmpd="sng" algn="ctr">
              <a:solidFill>
                <a:schemeClr val="bg1">
                  <a:lumMod val="7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none" lIns="108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fontAlgn="base" latinLnBrk="0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ko-KR" sz="700" kern="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[</a:t>
              </a:r>
              <a:r>
                <a:rPr kumimoji="1" lang="ko-KR" altLang="en-US" sz="700" kern="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전체</a:t>
              </a:r>
              <a:r>
                <a:rPr kumimoji="1" lang="en-US" altLang="ko-KR" sz="700" kern="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]</a:t>
              </a:r>
              <a:endParaRPr kumimoji="1" lang="ko-KR" altLang="en-US" sz="700" kern="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endParaRPr>
            </a:p>
          </p:txBody>
        </p:sp>
        <p:sp>
          <p:nvSpPr>
            <p:cNvPr id="460" name="모서리가 둥근 직사각형 141">
              <a:extLst>
                <a:ext uri="{FF2B5EF4-FFF2-40B4-BE49-F238E27FC236}">
                  <a16:creationId xmlns="" xmlns:a16="http://schemas.microsoft.com/office/drawing/2014/main" id="{9D3BF834-DC28-4D1A-B5CB-ED60EA5C7751}"/>
                </a:ext>
              </a:extLst>
            </p:cNvPr>
            <p:cNvSpPr/>
            <p:nvPr/>
          </p:nvSpPr>
          <p:spPr bwMode="auto">
            <a:xfrm>
              <a:off x="3310666" y="3787347"/>
              <a:ext cx="180000" cy="180000"/>
            </a:xfrm>
            <a:prstGeom prst="roundRect">
              <a:avLst/>
            </a:prstGeom>
            <a:solidFill>
              <a:schemeClr val="bg1"/>
            </a:solidFill>
            <a:ln w="3175" cap="flat" cmpd="sng" algn="ctr">
              <a:solidFill>
                <a:schemeClr val="bg1">
                  <a:lumMod val="7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none" lIns="36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fontAlgn="base" latinLnBrk="0">
                <a:spcBef>
                  <a:spcPct val="0"/>
                </a:spcBef>
                <a:spcAft>
                  <a:spcPct val="0"/>
                </a:spcAft>
              </a:pPr>
              <a:r>
                <a:rPr kumimoji="1" lang="ko-KR" altLang="en-US" sz="700" kern="0" dirty="0">
                  <a:solidFill>
                    <a:srgbClr val="000000"/>
                  </a:solidFill>
                  <a:latin typeface="+mn-ea"/>
                </a:rPr>
                <a:t>▼</a:t>
              </a:r>
            </a:p>
          </p:txBody>
        </p:sp>
      </p:grpSp>
      <p:sp>
        <p:nvSpPr>
          <p:cNvPr id="537" name="직사각형 536">
            <a:extLst>
              <a:ext uri="{FF2B5EF4-FFF2-40B4-BE49-F238E27FC236}">
                <a16:creationId xmlns="" xmlns:a16="http://schemas.microsoft.com/office/drawing/2014/main" id="{C3CBC899-E192-4597-B3EF-23483E494D33}"/>
              </a:ext>
            </a:extLst>
          </p:cNvPr>
          <p:cNvSpPr/>
          <p:nvPr/>
        </p:nvSpPr>
        <p:spPr>
          <a:xfrm>
            <a:off x="1367906" y="4022126"/>
            <a:ext cx="900000" cy="288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36000" rIns="36000" bIns="36000" rtlCol="0" anchor="ctr"/>
          <a:lstStyle/>
          <a:p>
            <a:r>
              <a:rPr lang="en-US" altLang="ko-KR" sz="7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LFmall </a:t>
            </a:r>
            <a:r>
              <a:rPr lang="ko-KR" altLang="en-US" sz="7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스토어</a:t>
            </a:r>
            <a:endParaRPr lang="en-US" altLang="ko-KR" sz="700" smtClean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en-US" altLang="ko-KR" sz="7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7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매장명</a:t>
            </a:r>
            <a:r>
              <a:rPr lang="en-US" altLang="ko-KR" sz="7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7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매장코드</a:t>
            </a:r>
            <a:r>
              <a:rPr lang="en-US" altLang="ko-KR" sz="7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</a:p>
        </p:txBody>
      </p:sp>
      <p:sp>
        <p:nvSpPr>
          <p:cNvPr id="538" name="직사각형 537">
            <a:extLst>
              <a:ext uri="{FF2B5EF4-FFF2-40B4-BE49-F238E27FC236}">
                <a16:creationId xmlns="" xmlns:a16="http://schemas.microsoft.com/office/drawing/2014/main" id="{C8E8B8B5-F2A9-4F2D-8F41-E83BE71E8F5A}"/>
              </a:ext>
            </a:extLst>
          </p:cNvPr>
          <p:cNvSpPr/>
          <p:nvPr/>
        </p:nvSpPr>
        <p:spPr>
          <a:xfrm>
            <a:off x="2266455" y="4022126"/>
            <a:ext cx="3095656" cy="288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36000" rIns="108000" bIns="36000" rtlCol="0" anchor="ctr"/>
          <a:lstStyle/>
          <a:p>
            <a:endParaRPr lang="ko-KR" altLang="en-US" sz="80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539" name="그룹 538">
            <a:extLst>
              <a:ext uri="{FF2B5EF4-FFF2-40B4-BE49-F238E27FC236}">
                <a16:creationId xmlns="" xmlns:a16="http://schemas.microsoft.com/office/drawing/2014/main" id="{CE03C03E-4F04-4133-AEEC-AC03458859A7}"/>
              </a:ext>
            </a:extLst>
          </p:cNvPr>
          <p:cNvGrpSpPr/>
          <p:nvPr/>
        </p:nvGrpSpPr>
        <p:grpSpPr>
          <a:xfrm>
            <a:off x="2339906" y="4076126"/>
            <a:ext cx="1800000" cy="180000"/>
            <a:chOff x="2554666" y="3787347"/>
            <a:chExt cx="1800000" cy="180000"/>
          </a:xfrm>
        </p:grpSpPr>
        <p:sp>
          <p:nvSpPr>
            <p:cNvPr id="540" name="모서리가 둥근 직사각형 139">
              <a:extLst>
                <a:ext uri="{FF2B5EF4-FFF2-40B4-BE49-F238E27FC236}">
                  <a16:creationId xmlns="" xmlns:a16="http://schemas.microsoft.com/office/drawing/2014/main" id="{D20B2316-7950-45D5-A329-DFCDAA416345}"/>
                </a:ext>
              </a:extLst>
            </p:cNvPr>
            <p:cNvSpPr/>
            <p:nvPr/>
          </p:nvSpPr>
          <p:spPr bwMode="auto">
            <a:xfrm>
              <a:off x="2554666" y="3787347"/>
              <a:ext cx="1800000" cy="180000"/>
            </a:xfrm>
            <a:prstGeom prst="roundRect">
              <a:avLst/>
            </a:prstGeom>
            <a:solidFill>
              <a:schemeClr val="bg1"/>
            </a:solidFill>
            <a:ln w="3175" cap="flat" cmpd="sng" algn="ctr">
              <a:solidFill>
                <a:schemeClr val="bg1">
                  <a:lumMod val="7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none" lIns="108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fontAlgn="base" latinLnBrk="0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ko-KR" sz="700" kern="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[</a:t>
              </a:r>
              <a:r>
                <a:rPr kumimoji="1" lang="ko-KR" altLang="en-US" sz="700" kern="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전체</a:t>
              </a:r>
              <a:r>
                <a:rPr kumimoji="1" lang="en-US" altLang="ko-KR" sz="700" kern="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]</a:t>
              </a:r>
              <a:endParaRPr kumimoji="1" lang="ko-KR" altLang="en-US" sz="700" kern="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endParaRPr>
            </a:p>
          </p:txBody>
        </p:sp>
        <p:sp>
          <p:nvSpPr>
            <p:cNvPr id="541" name="모서리가 둥근 직사각형 141">
              <a:extLst>
                <a:ext uri="{FF2B5EF4-FFF2-40B4-BE49-F238E27FC236}">
                  <a16:creationId xmlns="" xmlns:a16="http://schemas.microsoft.com/office/drawing/2014/main" id="{9D3BF834-DC28-4D1A-B5CB-ED60EA5C7751}"/>
                </a:ext>
              </a:extLst>
            </p:cNvPr>
            <p:cNvSpPr/>
            <p:nvPr/>
          </p:nvSpPr>
          <p:spPr bwMode="auto">
            <a:xfrm>
              <a:off x="4174666" y="3787347"/>
              <a:ext cx="180000" cy="180000"/>
            </a:xfrm>
            <a:prstGeom prst="roundRect">
              <a:avLst/>
            </a:prstGeom>
            <a:solidFill>
              <a:schemeClr val="bg1"/>
            </a:solidFill>
            <a:ln w="3175" cap="flat" cmpd="sng" algn="ctr">
              <a:solidFill>
                <a:schemeClr val="bg1">
                  <a:lumMod val="7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none" lIns="36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fontAlgn="base" latinLnBrk="0">
                <a:spcBef>
                  <a:spcPct val="0"/>
                </a:spcBef>
                <a:spcAft>
                  <a:spcPct val="0"/>
                </a:spcAft>
              </a:pPr>
              <a:r>
                <a:rPr kumimoji="1" lang="ko-KR" altLang="en-US" sz="700" kern="0" dirty="0">
                  <a:solidFill>
                    <a:srgbClr val="000000"/>
                  </a:solidFill>
                  <a:latin typeface="+mn-ea"/>
                </a:rPr>
                <a:t>▼</a:t>
              </a:r>
            </a:p>
          </p:txBody>
        </p:sp>
      </p:grpSp>
      <p:sp>
        <p:nvSpPr>
          <p:cNvPr id="513" name="직사각형 512">
            <a:extLst>
              <a:ext uri="{FF2B5EF4-FFF2-40B4-BE49-F238E27FC236}">
                <a16:creationId xmlns="" xmlns:a16="http://schemas.microsoft.com/office/drawing/2014/main" id="{C3CBC899-E192-4597-B3EF-23483E494D33}"/>
              </a:ext>
            </a:extLst>
          </p:cNvPr>
          <p:cNvSpPr/>
          <p:nvPr/>
        </p:nvSpPr>
        <p:spPr>
          <a:xfrm>
            <a:off x="5363078" y="4022126"/>
            <a:ext cx="900000" cy="288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36000" rIns="0" bIns="36000" rtlCol="0" anchor="ctr"/>
          <a:lstStyle/>
          <a:p>
            <a:r>
              <a:rPr lang="en-US" altLang="ko-KR" sz="7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LFmall </a:t>
            </a:r>
            <a:r>
              <a:rPr lang="ko-KR" altLang="en-US" sz="7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스토어 </a:t>
            </a:r>
            <a:r>
              <a:rPr lang="ko-KR" altLang="en-US" sz="7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정보</a:t>
            </a:r>
            <a:endParaRPr lang="en-US" altLang="ko-KR" sz="700" smtClean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en-US" altLang="ko-KR" sz="7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7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픽업서비스</a:t>
            </a:r>
            <a:r>
              <a:rPr lang="en-US" altLang="ko-KR" sz="7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endParaRPr lang="en-US" altLang="ko-KR" sz="7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28" name="직사각형 527">
            <a:extLst>
              <a:ext uri="{FF2B5EF4-FFF2-40B4-BE49-F238E27FC236}">
                <a16:creationId xmlns="" xmlns:a16="http://schemas.microsoft.com/office/drawing/2014/main" id="{C8E8B8B5-F2A9-4F2D-8F41-E83BE71E8F5A}"/>
              </a:ext>
            </a:extLst>
          </p:cNvPr>
          <p:cNvSpPr/>
          <p:nvPr/>
        </p:nvSpPr>
        <p:spPr>
          <a:xfrm>
            <a:off x="6261627" y="4022126"/>
            <a:ext cx="1080000" cy="288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36000" rIns="108000" bIns="36000" rtlCol="0" anchor="ctr"/>
          <a:lstStyle/>
          <a:p>
            <a:endParaRPr lang="ko-KR" altLang="en-US" sz="80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529" name="그룹 528">
            <a:extLst>
              <a:ext uri="{FF2B5EF4-FFF2-40B4-BE49-F238E27FC236}">
                <a16:creationId xmlns="" xmlns:a16="http://schemas.microsoft.com/office/drawing/2014/main" id="{CE03C03E-4F04-4133-AEEC-AC03458859A7}"/>
              </a:ext>
            </a:extLst>
          </p:cNvPr>
          <p:cNvGrpSpPr/>
          <p:nvPr/>
        </p:nvGrpSpPr>
        <p:grpSpPr>
          <a:xfrm>
            <a:off x="6335078" y="4076126"/>
            <a:ext cx="936000" cy="180000"/>
            <a:chOff x="2554666" y="3787347"/>
            <a:chExt cx="936000" cy="180000"/>
          </a:xfrm>
        </p:grpSpPr>
        <p:sp>
          <p:nvSpPr>
            <p:cNvPr id="535" name="모서리가 둥근 직사각형 139">
              <a:extLst>
                <a:ext uri="{FF2B5EF4-FFF2-40B4-BE49-F238E27FC236}">
                  <a16:creationId xmlns="" xmlns:a16="http://schemas.microsoft.com/office/drawing/2014/main" id="{D20B2316-7950-45D5-A329-DFCDAA416345}"/>
                </a:ext>
              </a:extLst>
            </p:cNvPr>
            <p:cNvSpPr/>
            <p:nvPr/>
          </p:nvSpPr>
          <p:spPr bwMode="auto">
            <a:xfrm>
              <a:off x="2554666" y="3787347"/>
              <a:ext cx="936000" cy="180000"/>
            </a:xfrm>
            <a:prstGeom prst="roundRect">
              <a:avLst/>
            </a:prstGeom>
            <a:solidFill>
              <a:schemeClr val="bg1"/>
            </a:solidFill>
            <a:ln w="3175" cap="flat" cmpd="sng" algn="ctr">
              <a:solidFill>
                <a:schemeClr val="bg1">
                  <a:lumMod val="7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none" lIns="108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fontAlgn="base" latinLnBrk="0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ko-KR" sz="700" kern="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[</a:t>
              </a:r>
              <a:r>
                <a:rPr kumimoji="1" lang="ko-KR" altLang="en-US" sz="700" kern="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전체</a:t>
              </a:r>
              <a:r>
                <a:rPr kumimoji="1" lang="en-US" altLang="ko-KR" sz="700" kern="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]</a:t>
              </a:r>
              <a:endParaRPr kumimoji="1" lang="ko-KR" altLang="en-US" sz="700" kern="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endParaRPr>
            </a:p>
          </p:txBody>
        </p:sp>
        <p:sp>
          <p:nvSpPr>
            <p:cNvPr id="536" name="모서리가 둥근 직사각형 141">
              <a:extLst>
                <a:ext uri="{FF2B5EF4-FFF2-40B4-BE49-F238E27FC236}">
                  <a16:creationId xmlns="" xmlns:a16="http://schemas.microsoft.com/office/drawing/2014/main" id="{9D3BF834-DC28-4D1A-B5CB-ED60EA5C7751}"/>
                </a:ext>
              </a:extLst>
            </p:cNvPr>
            <p:cNvSpPr/>
            <p:nvPr/>
          </p:nvSpPr>
          <p:spPr bwMode="auto">
            <a:xfrm>
              <a:off x="3310666" y="3787347"/>
              <a:ext cx="180000" cy="180000"/>
            </a:xfrm>
            <a:prstGeom prst="roundRect">
              <a:avLst/>
            </a:prstGeom>
            <a:solidFill>
              <a:schemeClr val="bg1"/>
            </a:solidFill>
            <a:ln w="3175" cap="flat" cmpd="sng" algn="ctr">
              <a:solidFill>
                <a:schemeClr val="bg1">
                  <a:lumMod val="7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none" lIns="36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fontAlgn="base" latinLnBrk="0">
                <a:spcBef>
                  <a:spcPct val="0"/>
                </a:spcBef>
                <a:spcAft>
                  <a:spcPct val="0"/>
                </a:spcAft>
              </a:pPr>
              <a:r>
                <a:rPr kumimoji="1" lang="ko-KR" altLang="en-US" sz="700" kern="0" dirty="0">
                  <a:solidFill>
                    <a:srgbClr val="000000"/>
                  </a:solidFill>
                  <a:latin typeface="+mn-ea"/>
                </a:rPr>
                <a:t>▼</a:t>
              </a:r>
            </a:p>
          </p:txBody>
        </p:sp>
      </p:grpSp>
      <p:sp>
        <p:nvSpPr>
          <p:cNvPr id="530" name="직사각형 529">
            <a:extLst>
              <a:ext uri="{FF2B5EF4-FFF2-40B4-BE49-F238E27FC236}">
                <a16:creationId xmlns="" xmlns:a16="http://schemas.microsoft.com/office/drawing/2014/main" id="{C3CBC899-E192-4597-B3EF-23483E494D33}"/>
              </a:ext>
            </a:extLst>
          </p:cNvPr>
          <p:cNvSpPr/>
          <p:nvPr/>
        </p:nvSpPr>
        <p:spPr>
          <a:xfrm>
            <a:off x="7342594" y="4022126"/>
            <a:ext cx="900000" cy="288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36000" rIns="108000" bIns="36000" rtlCol="0" anchor="ctr"/>
          <a:lstStyle/>
          <a:p>
            <a:r>
              <a:rPr lang="ko-KR" altLang="en-US" sz="7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매장상품배송</a:t>
            </a:r>
            <a:endParaRPr lang="en-US" altLang="ko-KR" sz="700" smtClean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ko-KR" altLang="en-US" sz="7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재고주문여부</a:t>
            </a:r>
            <a:endParaRPr lang="ko-KR" altLang="en-US" sz="7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31" name="직사각형 530">
            <a:extLst>
              <a:ext uri="{FF2B5EF4-FFF2-40B4-BE49-F238E27FC236}">
                <a16:creationId xmlns="" xmlns:a16="http://schemas.microsoft.com/office/drawing/2014/main" id="{C8E8B8B5-F2A9-4F2D-8F41-E83BE71E8F5A}"/>
              </a:ext>
            </a:extLst>
          </p:cNvPr>
          <p:cNvSpPr/>
          <p:nvPr/>
        </p:nvSpPr>
        <p:spPr>
          <a:xfrm>
            <a:off x="8242457" y="4022126"/>
            <a:ext cx="1116000" cy="288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36000" rIns="108000" bIns="36000" rtlCol="0" anchor="ctr"/>
          <a:lstStyle/>
          <a:p>
            <a:endParaRPr lang="ko-KR" altLang="en-US" sz="80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532" name="그룹 531">
            <a:extLst>
              <a:ext uri="{FF2B5EF4-FFF2-40B4-BE49-F238E27FC236}">
                <a16:creationId xmlns="" xmlns:a16="http://schemas.microsoft.com/office/drawing/2014/main" id="{CE03C03E-4F04-4133-AEEC-AC03458859A7}"/>
              </a:ext>
            </a:extLst>
          </p:cNvPr>
          <p:cNvGrpSpPr/>
          <p:nvPr/>
        </p:nvGrpSpPr>
        <p:grpSpPr>
          <a:xfrm>
            <a:off x="8314594" y="4076126"/>
            <a:ext cx="936000" cy="180000"/>
            <a:chOff x="2554666" y="3787347"/>
            <a:chExt cx="936000" cy="180000"/>
          </a:xfrm>
        </p:grpSpPr>
        <p:sp>
          <p:nvSpPr>
            <p:cNvPr id="533" name="모서리가 둥근 직사각형 139">
              <a:extLst>
                <a:ext uri="{FF2B5EF4-FFF2-40B4-BE49-F238E27FC236}">
                  <a16:creationId xmlns="" xmlns:a16="http://schemas.microsoft.com/office/drawing/2014/main" id="{D20B2316-7950-45D5-A329-DFCDAA416345}"/>
                </a:ext>
              </a:extLst>
            </p:cNvPr>
            <p:cNvSpPr/>
            <p:nvPr/>
          </p:nvSpPr>
          <p:spPr bwMode="auto">
            <a:xfrm>
              <a:off x="2554666" y="3787347"/>
              <a:ext cx="936000" cy="180000"/>
            </a:xfrm>
            <a:prstGeom prst="roundRect">
              <a:avLst/>
            </a:prstGeom>
            <a:solidFill>
              <a:schemeClr val="bg1"/>
            </a:solidFill>
            <a:ln w="3175" cap="flat" cmpd="sng" algn="ctr">
              <a:solidFill>
                <a:schemeClr val="bg1">
                  <a:lumMod val="7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none" lIns="108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fontAlgn="base" latinLnBrk="0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ko-KR" sz="700" kern="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[</a:t>
              </a:r>
              <a:r>
                <a:rPr kumimoji="1" lang="ko-KR" altLang="en-US" sz="700" kern="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전체</a:t>
              </a:r>
              <a:r>
                <a:rPr kumimoji="1" lang="en-US" altLang="ko-KR" sz="700" kern="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]</a:t>
              </a:r>
              <a:endParaRPr kumimoji="1" lang="ko-KR" altLang="en-US" sz="700" kern="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endParaRPr>
            </a:p>
          </p:txBody>
        </p:sp>
        <p:sp>
          <p:nvSpPr>
            <p:cNvPr id="534" name="모서리가 둥근 직사각형 141">
              <a:extLst>
                <a:ext uri="{FF2B5EF4-FFF2-40B4-BE49-F238E27FC236}">
                  <a16:creationId xmlns="" xmlns:a16="http://schemas.microsoft.com/office/drawing/2014/main" id="{9D3BF834-DC28-4D1A-B5CB-ED60EA5C7751}"/>
                </a:ext>
              </a:extLst>
            </p:cNvPr>
            <p:cNvSpPr/>
            <p:nvPr/>
          </p:nvSpPr>
          <p:spPr bwMode="auto">
            <a:xfrm>
              <a:off x="3310666" y="3787347"/>
              <a:ext cx="180000" cy="180000"/>
            </a:xfrm>
            <a:prstGeom prst="roundRect">
              <a:avLst/>
            </a:prstGeom>
            <a:solidFill>
              <a:schemeClr val="bg1"/>
            </a:solidFill>
            <a:ln w="3175" cap="flat" cmpd="sng" algn="ctr">
              <a:solidFill>
                <a:schemeClr val="bg1">
                  <a:lumMod val="7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none" lIns="36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fontAlgn="base" latinLnBrk="0">
                <a:spcBef>
                  <a:spcPct val="0"/>
                </a:spcBef>
                <a:spcAft>
                  <a:spcPct val="0"/>
                </a:spcAft>
              </a:pPr>
              <a:r>
                <a:rPr kumimoji="1" lang="ko-KR" altLang="en-US" sz="700" kern="0" dirty="0">
                  <a:solidFill>
                    <a:srgbClr val="000000"/>
                  </a:solidFill>
                  <a:latin typeface="+mn-ea"/>
                </a:rPr>
                <a:t>▼</a:t>
              </a:r>
            </a:p>
          </p:txBody>
        </p:sp>
      </p:grpSp>
      <p:sp>
        <p:nvSpPr>
          <p:cNvPr id="613" name="직사각형 612">
            <a:extLst>
              <a:ext uri="{FF2B5EF4-FFF2-40B4-BE49-F238E27FC236}">
                <a16:creationId xmlns="" xmlns:a16="http://schemas.microsoft.com/office/drawing/2014/main" id="{C3CBC899-E192-4597-B3EF-23483E494D33}"/>
              </a:ext>
            </a:extLst>
          </p:cNvPr>
          <p:cNvSpPr/>
          <p:nvPr/>
        </p:nvSpPr>
        <p:spPr>
          <a:xfrm>
            <a:off x="1367906" y="3733424"/>
            <a:ext cx="900000" cy="288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36000" rIns="108000" bIns="36000" rtlCol="0" anchor="ctr"/>
          <a:lstStyle/>
          <a:p>
            <a:r>
              <a:rPr lang="ko-KR" altLang="en-US" sz="7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구매대행</a:t>
            </a:r>
            <a:endParaRPr lang="ko-KR" altLang="en-US" sz="7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14" name="직사각형 613">
            <a:extLst>
              <a:ext uri="{FF2B5EF4-FFF2-40B4-BE49-F238E27FC236}">
                <a16:creationId xmlns="" xmlns:a16="http://schemas.microsoft.com/office/drawing/2014/main" id="{C8E8B8B5-F2A9-4F2D-8F41-E83BE71E8F5A}"/>
              </a:ext>
            </a:extLst>
          </p:cNvPr>
          <p:cNvSpPr/>
          <p:nvPr/>
        </p:nvSpPr>
        <p:spPr>
          <a:xfrm>
            <a:off x="2266455" y="3733424"/>
            <a:ext cx="1080000" cy="288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36000" rIns="108000" bIns="36000" rtlCol="0" anchor="ctr"/>
          <a:lstStyle/>
          <a:p>
            <a:endParaRPr lang="ko-KR" altLang="en-US" sz="80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615" name="그룹 614">
            <a:extLst>
              <a:ext uri="{FF2B5EF4-FFF2-40B4-BE49-F238E27FC236}">
                <a16:creationId xmlns="" xmlns:a16="http://schemas.microsoft.com/office/drawing/2014/main" id="{CE03C03E-4F04-4133-AEEC-AC03458859A7}"/>
              </a:ext>
            </a:extLst>
          </p:cNvPr>
          <p:cNvGrpSpPr/>
          <p:nvPr/>
        </p:nvGrpSpPr>
        <p:grpSpPr>
          <a:xfrm>
            <a:off x="2339906" y="3787424"/>
            <a:ext cx="936000" cy="180000"/>
            <a:chOff x="2554666" y="3787347"/>
            <a:chExt cx="936000" cy="180000"/>
          </a:xfrm>
        </p:grpSpPr>
        <p:sp>
          <p:nvSpPr>
            <p:cNvPr id="621" name="모서리가 둥근 직사각형 139">
              <a:extLst>
                <a:ext uri="{FF2B5EF4-FFF2-40B4-BE49-F238E27FC236}">
                  <a16:creationId xmlns="" xmlns:a16="http://schemas.microsoft.com/office/drawing/2014/main" id="{D20B2316-7950-45D5-A329-DFCDAA416345}"/>
                </a:ext>
              </a:extLst>
            </p:cNvPr>
            <p:cNvSpPr/>
            <p:nvPr/>
          </p:nvSpPr>
          <p:spPr bwMode="auto">
            <a:xfrm>
              <a:off x="2554666" y="3787347"/>
              <a:ext cx="936000" cy="180000"/>
            </a:xfrm>
            <a:prstGeom prst="roundRect">
              <a:avLst/>
            </a:prstGeom>
            <a:solidFill>
              <a:schemeClr val="bg1"/>
            </a:solidFill>
            <a:ln w="3175" cap="flat" cmpd="sng" algn="ctr">
              <a:solidFill>
                <a:schemeClr val="bg1">
                  <a:lumMod val="7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none" lIns="108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fontAlgn="base" latinLnBrk="0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ko-KR" sz="700" kern="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[</a:t>
              </a:r>
              <a:r>
                <a:rPr kumimoji="1" lang="ko-KR" altLang="en-US" sz="700" kern="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전체</a:t>
              </a:r>
              <a:r>
                <a:rPr kumimoji="1" lang="en-US" altLang="ko-KR" sz="700" kern="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]</a:t>
              </a:r>
              <a:endParaRPr kumimoji="1" lang="ko-KR" altLang="en-US" sz="700" kern="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endParaRPr>
            </a:p>
          </p:txBody>
        </p:sp>
        <p:sp>
          <p:nvSpPr>
            <p:cNvPr id="622" name="모서리가 둥근 직사각형 141">
              <a:extLst>
                <a:ext uri="{FF2B5EF4-FFF2-40B4-BE49-F238E27FC236}">
                  <a16:creationId xmlns="" xmlns:a16="http://schemas.microsoft.com/office/drawing/2014/main" id="{9D3BF834-DC28-4D1A-B5CB-ED60EA5C7751}"/>
                </a:ext>
              </a:extLst>
            </p:cNvPr>
            <p:cNvSpPr/>
            <p:nvPr/>
          </p:nvSpPr>
          <p:spPr bwMode="auto">
            <a:xfrm>
              <a:off x="3310666" y="3787347"/>
              <a:ext cx="180000" cy="180000"/>
            </a:xfrm>
            <a:prstGeom prst="roundRect">
              <a:avLst/>
            </a:prstGeom>
            <a:solidFill>
              <a:schemeClr val="bg1"/>
            </a:solidFill>
            <a:ln w="3175" cap="flat" cmpd="sng" algn="ctr">
              <a:solidFill>
                <a:schemeClr val="bg1">
                  <a:lumMod val="7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none" lIns="36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fontAlgn="base" latinLnBrk="0">
                <a:spcBef>
                  <a:spcPct val="0"/>
                </a:spcBef>
                <a:spcAft>
                  <a:spcPct val="0"/>
                </a:spcAft>
              </a:pPr>
              <a:r>
                <a:rPr kumimoji="1" lang="ko-KR" altLang="en-US" sz="700" kern="0" dirty="0">
                  <a:solidFill>
                    <a:srgbClr val="000000"/>
                  </a:solidFill>
                  <a:latin typeface="+mn-ea"/>
                </a:rPr>
                <a:t>▼</a:t>
              </a:r>
            </a:p>
          </p:txBody>
        </p:sp>
      </p:grpSp>
      <p:sp>
        <p:nvSpPr>
          <p:cNvPr id="616" name="직사각형 615">
            <a:extLst>
              <a:ext uri="{FF2B5EF4-FFF2-40B4-BE49-F238E27FC236}">
                <a16:creationId xmlns="" xmlns:a16="http://schemas.microsoft.com/office/drawing/2014/main" id="{C3CBC899-E192-4597-B3EF-23483E494D33}"/>
              </a:ext>
            </a:extLst>
          </p:cNvPr>
          <p:cNvSpPr/>
          <p:nvPr/>
        </p:nvSpPr>
        <p:spPr>
          <a:xfrm>
            <a:off x="3347422" y="3733424"/>
            <a:ext cx="900000" cy="288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36000" rIns="108000" bIns="36000" rtlCol="0" anchor="ctr"/>
          <a:lstStyle/>
          <a:p>
            <a:r>
              <a:rPr lang="ko-KR" altLang="en-US" sz="7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개런티 발행상태</a:t>
            </a:r>
            <a:endParaRPr lang="ko-KR" altLang="en-US" sz="7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17" name="직사각형 616">
            <a:extLst>
              <a:ext uri="{FF2B5EF4-FFF2-40B4-BE49-F238E27FC236}">
                <a16:creationId xmlns="" xmlns:a16="http://schemas.microsoft.com/office/drawing/2014/main" id="{C8E8B8B5-F2A9-4F2D-8F41-E83BE71E8F5A}"/>
              </a:ext>
            </a:extLst>
          </p:cNvPr>
          <p:cNvSpPr/>
          <p:nvPr/>
        </p:nvSpPr>
        <p:spPr>
          <a:xfrm>
            <a:off x="4247285" y="3733424"/>
            <a:ext cx="1116000" cy="288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36000" rIns="108000" bIns="36000" rtlCol="0" anchor="ctr"/>
          <a:lstStyle/>
          <a:p>
            <a:endParaRPr lang="ko-KR" altLang="en-US" sz="80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618" name="그룹 617">
            <a:extLst>
              <a:ext uri="{FF2B5EF4-FFF2-40B4-BE49-F238E27FC236}">
                <a16:creationId xmlns="" xmlns:a16="http://schemas.microsoft.com/office/drawing/2014/main" id="{CE03C03E-4F04-4133-AEEC-AC03458859A7}"/>
              </a:ext>
            </a:extLst>
          </p:cNvPr>
          <p:cNvGrpSpPr/>
          <p:nvPr/>
        </p:nvGrpSpPr>
        <p:grpSpPr>
          <a:xfrm>
            <a:off x="4319422" y="3787424"/>
            <a:ext cx="936000" cy="180000"/>
            <a:chOff x="2554666" y="3787347"/>
            <a:chExt cx="936000" cy="180000"/>
          </a:xfrm>
        </p:grpSpPr>
        <p:sp>
          <p:nvSpPr>
            <p:cNvPr id="619" name="모서리가 둥근 직사각형 139">
              <a:extLst>
                <a:ext uri="{FF2B5EF4-FFF2-40B4-BE49-F238E27FC236}">
                  <a16:creationId xmlns="" xmlns:a16="http://schemas.microsoft.com/office/drawing/2014/main" id="{D20B2316-7950-45D5-A329-DFCDAA416345}"/>
                </a:ext>
              </a:extLst>
            </p:cNvPr>
            <p:cNvSpPr/>
            <p:nvPr/>
          </p:nvSpPr>
          <p:spPr bwMode="auto">
            <a:xfrm>
              <a:off x="2554666" y="3787347"/>
              <a:ext cx="936000" cy="180000"/>
            </a:xfrm>
            <a:prstGeom prst="roundRect">
              <a:avLst/>
            </a:prstGeom>
            <a:solidFill>
              <a:schemeClr val="bg1"/>
            </a:solidFill>
            <a:ln w="3175" cap="flat" cmpd="sng" algn="ctr">
              <a:solidFill>
                <a:schemeClr val="bg1">
                  <a:lumMod val="7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none" lIns="108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fontAlgn="base" latinLnBrk="0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ko-KR" sz="700" kern="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[</a:t>
              </a:r>
              <a:r>
                <a:rPr kumimoji="1" lang="ko-KR" altLang="en-US" sz="700" kern="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전체</a:t>
              </a:r>
              <a:r>
                <a:rPr kumimoji="1" lang="en-US" altLang="ko-KR" sz="700" kern="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]</a:t>
              </a:r>
              <a:endParaRPr kumimoji="1" lang="ko-KR" altLang="en-US" sz="700" kern="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endParaRPr>
            </a:p>
          </p:txBody>
        </p:sp>
        <p:sp>
          <p:nvSpPr>
            <p:cNvPr id="620" name="모서리가 둥근 직사각형 141">
              <a:extLst>
                <a:ext uri="{FF2B5EF4-FFF2-40B4-BE49-F238E27FC236}">
                  <a16:creationId xmlns="" xmlns:a16="http://schemas.microsoft.com/office/drawing/2014/main" id="{9D3BF834-DC28-4D1A-B5CB-ED60EA5C7751}"/>
                </a:ext>
              </a:extLst>
            </p:cNvPr>
            <p:cNvSpPr/>
            <p:nvPr/>
          </p:nvSpPr>
          <p:spPr bwMode="auto">
            <a:xfrm>
              <a:off x="3310666" y="3787347"/>
              <a:ext cx="180000" cy="180000"/>
            </a:xfrm>
            <a:prstGeom prst="roundRect">
              <a:avLst/>
            </a:prstGeom>
            <a:solidFill>
              <a:schemeClr val="bg1"/>
            </a:solidFill>
            <a:ln w="3175" cap="flat" cmpd="sng" algn="ctr">
              <a:solidFill>
                <a:schemeClr val="bg1">
                  <a:lumMod val="7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none" lIns="36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fontAlgn="base" latinLnBrk="0">
                <a:spcBef>
                  <a:spcPct val="0"/>
                </a:spcBef>
                <a:spcAft>
                  <a:spcPct val="0"/>
                </a:spcAft>
              </a:pPr>
              <a:r>
                <a:rPr kumimoji="1" lang="ko-KR" altLang="en-US" sz="700" kern="0" dirty="0">
                  <a:solidFill>
                    <a:srgbClr val="000000"/>
                  </a:solidFill>
                  <a:latin typeface="+mn-ea"/>
                </a:rPr>
                <a:t>▼</a:t>
              </a:r>
            </a:p>
          </p:txBody>
        </p:sp>
      </p:grpSp>
      <p:sp>
        <p:nvSpPr>
          <p:cNvPr id="603" name="직사각형 602">
            <a:extLst>
              <a:ext uri="{FF2B5EF4-FFF2-40B4-BE49-F238E27FC236}">
                <a16:creationId xmlns="" xmlns:a16="http://schemas.microsoft.com/office/drawing/2014/main" id="{C3CBC899-E192-4597-B3EF-23483E494D33}"/>
              </a:ext>
            </a:extLst>
          </p:cNvPr>
          <p:cNvSpPr/>
          <p:nvPr/>
        </p:nvSpPr>
        <p:spPr>
          <a:xfrm>
            <a:off x="5363078" y="3733424"/>
            <a:ext cx="900000" cy="288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36000" rIns="108000" bIns="36000" rtlCol="0" anchor="ctr"/>
          <a:lstStyle/>
          <a:p>
            <a:r>
              <a:rPr lang="ko-KR" altLang="en-US" sz="7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온</a:t>
            </a:r>
            <a:r>
              <a:rPr lang="en-US" altLang="ko-KR" sz="7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,</a:t>
            </a:r>
            <a:r>
              <a:rPr lang="ko-KR" altLang="en-US" sz="7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오프결제 구분</a:t>
            </a:r>
            <a:endParaRPr lang="ko-KR" altLang="en-US" sz="7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604" name="직사각형 603">
            <a:extLst>
              <a:ext uri="{FF2B5EF4-FFF2-40B4-BE49-F238E27FC236}">
                <a16:creationId xmlns="" xmlns:a16="http://schemas.microsoft.com/office/drawing/2014/main" id="{C8E8B8B5-F2A9-4F2D-8F41-E83BE71E8F5A}"/>
              </a:ext>
            </a:extLst>
          </p:cNvPr>
          <p:cNvSpPr/>
          <p:nvPr/>
        </p:nvSpPr>
        <p:spPr>
          <a:xfrm>
            <a:off x="6261627" y="3733424"/>
            <a:ext cx="1080000" cy="288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36000" rIns="108000" bIns="36000" rtlCol="0" anchor="ctr"/>
          <a:lstStyle/>
          <a:p>
            <a:endParaRPr lang="ko-KR" altLang="en-US" sz="80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605" name="그룹 604">
            <a:extLst>
              <a:ext uri="{FF2B5EF4-FFF2-40B4-BE49-F238E27FC236}">
                <a16:creationId xmlns="" xmlns:a16="http://schemas.microsoft.com/office/drawing/2014/main" id="{CE03C03E-4F04-4133-AEEC-AC03458859A7}"/>
              </a:ext>
            </a:extLst>
          </p:cNvPr>
          <p:cNvGrpSpPr/>
          <p:nvPr/>
        </p:nvGrpSpPr>
        <p:grpSpPr>
          <a:xfrm>
            <a:off x="6335078" y="3787424"/>
            <a:ext cx="936000" cy="180000"/>
            <a:chOff x="2554666" y="3787347"/>
            <a:chExt cx="936000" cy="180000"/>
          </a:xfrm>
        </p:grpSpPr>
        <p:sp>
          <p:nvSpPr>
            <p:cNvPr id="611" name="모서리가 둥근 직사각형 139">
              <a:extLst>
                <a:ext uri="{FF2B5EF4-FFF2-40B4-BE49-F238E27FC236}">
                  <a16:creationId xmlns="" xmlns:a16="http://schemas.microsoft.com/office/drawing/2014/main" id="{D20B2316-7950-45D5-A329-DFCDAA416345}"/>
                </a:ext>
              </a:extLst>
            </p:cNvPr>
            <p:cNvSpPr/>
            <p:nvPr/>
          </p:nvSpPr>
          <p:spPr bwMode="auto">
            <a:xfrm>
              <a:off x="2554666" y="3787347"/>
              <a:ext cx="936000" cy="180000"/>
            </a:xfrm>
            <a:prstGeom prst="roundRect">
              <a:avLst/>
            </a:prstGeom>
            <a:solidFill>
              <a:schemeClr val="bg1"/>
            </a:solidFill>
            <a:ln w="3175" cap="flat" cmpd="sng" algn="ctr">
              <a:solidFill>
                <a:schemeClr val="bg1">
                  <a:lumMod val="7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none" lIns="108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fontAlgn="base" latinLnBrk="0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ko-KR" sz="700" kern="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[</a:t>
              </a:r>
              <a:r>
                <a:rPr kumimoji="1" lang="ko-KR" altLang="en-US" sz="700" kern="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전체</a:t>
              </a:r>
              <a:r>
                <a:rPr kumimoji="1" lang="en-US" altLang="ko-KR" sz="700" kern="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]</a:t>
              </a:r>
              <a:endParaRPr kumimoji="1" lang="ko-KR" altLang="en-US" sz="700" kern="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endParaRPr>
            </a:p>
          </p:txBody>
        </p:sp>
        <p:sp>
          <p:nvSpPr>
            <p:cNvPr id="612" name="모서리가 둥근 직사각형 141">
              <a:extLst>
                <a:ext uri="{FF2B5EF4-FFF2-40B4-BE49-F238E27FC236}">
                  <a16:creationId xmlns="" xmlns:a16="http://schemas.microsoft.com/office/drawing/2014/main" id="{9D3BF834-DC28-4D1A-B5CB-ED60EA5C7751}"/>
                </a:ext>
              </a:extLst>
            </p:cNvPr>
            <p:cNvSpPr/>
            <p:nvPr/>
          </p:nvSpPr>
          <p:spPr bwMode="auto">
            <a:xfrm>
              <a:off x="3310666" y="3787347"/>
              <a:ext cx="180000" cy="180000"/>
            </a:xfrm>
            <a:prstGeom prst="roundRect">
              <a:avLst/>
            </a:prstGeom>
            <a:solidFill>
              <a:schemeClr val="bg1"/>
            </a:solidFill>
            <a:ln w="3175" cap="flat" cmpd="sng" algn="ctr">
              <a:solidFill>
                <a:schemeClr val="bg1">
                  <a:lumMod val="7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none" lIns="36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fontAlgn="base" latinLnBrk="0">
                <a:spcBef>
                  <a:spcPct val="0"/>
                </a:spcBef>
                <a:spcAft>
                  <a:spcPct val="0"/>
                </a:spcAft>
              </a:pPr>
              <a:r>
                <a:rPr kumimoji="1" lang="ko-KR" altLang="en-US" sz="700" kern="0" dirty="0">
                  <a:solidFill>
                    <a:srgbClr val="000000"/>
                  </a:solidFill>
                  <a:latin typeface="+mn-ea"/>
                </a:rPr>
                <a:t>▼</a:t>
              </a:r>
            </a:p>
          </p:txBody>
        </p:sp>
      </p:grpSp>
      <p:sp>
        <p:nvSpPr>
          <p:cNvPr id="484" name="제목 1">
            <a:extLst>
              <a:ext uri="{FF2B5EF4-FFF2-40B4-BE49-F238E27FC236}">
                <a16:creationId xmlns="" xmlns:a16="http://schemas.microsoft.com/office/drawing/2014/main" id="{03F65532-A01C-4981-B987-5E15F64E3ABB}"/>
              </a:ext>
            </a:extLst>
          </p:cNvPr>
          <p:cNvSpPr txBox="1">
            <a:spLocks/>
          </p:cNvSpPr>
          <p:nvPr/>
        </p:nvSpPr>
        <p:spPr>
          <a:xfrm>
            <a:off x="8783530" y="142660"/>
            <a:ext cx="1079290" cy="432000"/>
          </a:xfrm>
          <a:prstGeom prst="rect">
            <a:avLst/>
          </a:prstGeom>
        </p:spPr>
        <p:txBody>
          <a:bodyPr lIns="180000" tIns="36000" rIns="180000" bIns="36000" anchor="ctr"/>
          <a:lstStyle>
            <a:lvl1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2pPr>
            <a:lvl3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3pPr>
            <a:lvl4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4pPr>
            <a:lvl5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5pPr>
            <a:lvl6pPr marL="457212" algn="ctr" rtl="0" fontAlgn="base" latinLnBrk="1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6pPr>
            <a:lvl7pPr marL="914423" algn="ctr" rtl="0" fontAlgn="base" latinLnBrk="1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7pPr>
            <a:lvl8pPr marL="1371634" algn="ctr" rtl="0" fontAlgn="base" latinLnBrk="1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8pPr>
            <a:lvl9pPr marL="1828846" algn="ctr" rtl="0" fontAlgn="base" latinLnBrk="1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r>
              <a:rPr lang="ko-KR" altLang="en-US" sz="800" kern="0"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</a:rPr>
              <a:t>최범열</a:t>
            </a:r>
          </a:p>
        </p:txBody>
      </p:sp>
      <p:grpSp>
        <p:nvGrpSpPr>
          <p:cNvPr id="310" name="그룹 309"/>
          <p:cNvGrpSpPr/>
          <p:nvPr/>
        </p:nvGrpSpPr>
        <p:grpSpPr>
          <a:xfrm>
            <a:off x="143906" y="4957650"/>
            <a:ext cx="1080000" cy="1078747"/>
            <a:chOff x="143906" y="3964158"/>
            <a:chExt cx="1080000" cy="1078747"/>
          </a:xfrm>
        </p:grpSpPr>
        <p:sp>
          <p:nvSpPr>
            <p:cNvPr id="311" name="직사각형 310"/>
            <p:cNvSpPr/>
            <p:nvPr/>
          </p:nvSpPr>
          <p:spPr>
            <a:xfrm>
              <a:off x="143906" y="3964158"/>
              <a:ext cx="1080000" cy="216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36000" rIns="108000" bIns="36000" rtlCol="0" anchor="ctr"/>
            <a:lstStyle/>
            <a:p>
              <a:r>
                <a:rPr lang="ko-KR" altLang="en-US" sz="7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┼ 배송관리</a:t>
              </a:r>
            </a:p>
          </p:txBody>
        </p:sp>
        <p:sp>
          <p:nvSpPr>
            <p:cNvPr id="312" name="직사각형 311"/>
            <p:cNvSpPr/>
            <p:nvPr/>
          </p:nvSpPr>
          <p:spPr>
            <a:xfrm>
              <a:off x="143906" y="4180158"/>
              <a:ext cx="1080000" cy="216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36000" rIns="108000" bIns="36000" rtlCol="0" anchor="ctr"/>
            <a:lstStyle/>
            <a:p>
              <a:r>
                <a:rPr lang="ko-KR" altLang="en-US" sz="7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┼ 외부몰 주문관리</a:t>
              </a:r>
            </a:p>
          </p:txBody>
        </p:sp>
        <p:sp>
          <p:nvSpPr>
            <p:cNvPr id="313" name="직사각형 312"/>
            <p:cNvSpPr/>
            <p:nvPr/>
          </p:nvSpPr>
          <p:spPr>
            <a:xfrm>
              <a:off x="143906" y="4396158"/>
              <a:ext cx="1080000" cy="216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36000" rIns="108000" bIns="36000" rtlCol="0" anchor="ctr"/>
            <a:lstStyle/>
            <a:p>
              <a:r>
                <a:rPr lang="ko-KR" altLang="en-US" sz="70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┼ </a:t>
              </a:r>
              <a:r>
                <a:rPr lang="ko-KR" altLang="en-US" sz="70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반품관리</a:t>
              </a:r>
              <a:endParaRPr lang="ko-KR" altLang="en-US" sz="7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314" name="직사각형 313"/>
            <p:cNvSpPr/>
            <p:nvPr/>
          </p:nvSpPr>
          <p:spPr>
            <a:xfrm>
              <a:off x="143906" y="4612002"/>
              <a:ext cx="1080000" cy="216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36000" rIns="108000" bIns="36000" rtlCol="0" anchor="ctr"/>
            <a:lstStyle/>
            <a:p>
              <a:r>
                <a:rPr lang="ko-KR" altLang="en-US" sz="70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┼ 옴니채널</a:t>
              </a:r>
              <a:endParaRPr lang="ko-KR" altLang="en-US" sz="7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315" name="직사각형 314"/>
            <p:cNvSpPr/>
            <p:nvPr/>
          </p:nvSpPr>
          <p:spPr>
            <a:xfrm>
              <a:off x="143906" y="4826905"/>
              <a:ext cx="1080000" cy="216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36000" rIns="108000" bIns="36000" rtlCol="0" anchor="ctr"/>
            <a:lstStyle/>
            <a:p>
              <a:r>
                <a:rPr lang="ko-KR" altLang="en-US" sz="7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┼ 커스텀예약관리</a:t>
              </a:r>
            </a:p>
          </p:txBody>
        </p:sp>
      </p:grpSp>
      <p:grpSp>
        <p:nvGrpSpPr>
          <p:cNvPr id="352" name="그룹 351"/>
          <p:cNvGrpSpPr/>
          <p:nvPr/>
        </p:nvGrpSpPr>
        <p:grpSpPr>
          <a:xfrm>
            <a:off x="2339906" y="3211627"/>
            <a:ext cx="3489003" cy="180425"/>
            <a:chOff x="3348188" y="3787212"/>
            <a:chExt cx="3489003" cy="180425"/>
          </a:xfrm>
        </p:grpSpPr>
        <p:sp>
          <p:nvSpPr>
            <p:cNvPr id="355" name="사각형: 둥근 모서리 244">
              <a:extLst>
                <a:ext uri="{FF2B5EF4-FFF2-40B4-BE49-F238E27FC236}">
                  <a16:creationId xmlns="" xmlns:a16="http://schemas.microsoft.com/office/drawing/2014/main" id="{F619FFE3-660F-4049-833F-429116654593}"/>
                </a:ext>
              </a:extLst>
            </p:cNvPr>
            <p:cNvSpPr/>
            <p:nvPr/>
          </p:nvSpPr>
          <p:spPr bwMode="auto">
            <a:xfrm>
              <a:off x="5362939" y="3787424"/>
              <a:ext cx="216000" cy="180000"/>
            </a:xfrm>
            <a:prstGeom prst="roundRect">
              <a:avLst/>
            </a:prstGeom>
            <a:solidFill>
              <a:schemeClr val="tx1">
                <a:lumMod val="50000"/>
                <a:lumOff val="50000"/>
              </a:schemeClr>
            </a:solidFill>
            <a:ln w="3175" cap="flat" cmpd="sng" algn="ctr">
              <a:solidFill>
                <a:schemeClr val="bg1">
                  <a:lumMod val="7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12700" dist="12700" dir="2700000" algn="tl" rotWithShape="0">
                <a:schemeClr val="tx1">
                  <a:lumMod val="75000"/>
                  <a:lumOff val="25000"/>
                  <a:alpha val="30000"/>
                </a:schemeClr>
              </a:outerShdw>
            </a:effectLst>
          </p:spPr>
          <p:txBody>
  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14400" fontAlgn="base" latinLnBrk="0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ko-KR" sz="700" kern="0">
                  <a:solidFill>
                    <a:schemeClr val="bg1"/>
                  </a:solidFill>
                  <a:latin typeface="+mn-ea"/>
                </a:rPr>
                <a:t>-1D</a:t>
              </a:r>
              <a:endParaRPr kumimoji="1" lang="ko-KR" altLang="en-US" sz="700" kern="0">
                <a:solidFill>
                  <a:schemeClr val="bg1"/>
                </a:solidFill>
                <a:latin typeface="+mn-ea"/>
              </a:endParaRPr>
            </a:p>
          </p:txBody>
        </p:sp>
        <p:sp>
          <p:nvSpPr>
            <p:cNvPr id="356" name="사각형: 둥근 모서리 245">
              <a:extLst>
                <a:ext uri="{FF2B5EF4-FFF2-40B4-BE49-F238E27FC236}">
                  <a16:creationId xmlns="" xmlns:a16="http://schemas.microsoft.com/office/drawing/2014/main" id="{11508A1B-6873-43BE-B180-6726CCE07D46}"/>
                </a:ext>
              </a:extLst>
            </p:cNvPr>
            <p:cNvSpPr/>
            <p:nvPr/>
          </p:nvSpPr>
          <p:spPr bwMode="auto">
            <a:xfrm>
              <a:off x="5614589" y="3787424"/>
              <a:ext cx="216000" cy="180000"/>
            </a:xfrm>
            <a:prstGeom prst="roundRect">
              <a:avLst/>
            </a:prstGeom>
            <a:solidFill>
              <a:schemeClr val="tx1">
                <a:lumMod val="50000"/>
                <a:lumOff val="50000"/>
              </a:schemeClr>
            </a:solidFill>
            <a:ln w="3175" cap="flat" cmpd="sng" algn="ctr">
              <a:solidFill>
                <a:schemeClr val="bg1">
                  <a:lumMod val="7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12700" dist="12700" dir="2700000" algn="tl" rotWithShape="0">
                <a:schemeClr val="tx1">
                  <a:lumMod val="75000"/>
                  <a:lumOff val="25000"/>
                  <a:alpha val="30000"/>
                </a:schemeClr>
              </a:outerShdw>
            </a:effectLst>
          </p:spPr>
          <p:txBody>
  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14400" fontAlgn="base" latinLnBrk="0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ko-KR" sz="700" kern="0">
                  <a:solidFill>
                    <a:schemeClr val="bg1"/>
                  </a:solidFill>
                  <a:latin typeface="+mn-ea"/>
                </a:rPr>
                <a:t>-1W</a:t>
              </a:r>
              <a:endParaRPr kumimoji="1" lang="ko-KR" altLang="en-US" sz="700" kern="0" dirty="0">
                <a:solidFill>
                  <a:schemeClr val="bg1"/>
                </a:solidFill>
                <a:latin typeface="+mn-ea"/>
              </a:endParaRPr>
            </a:p>
          </p:txBody>
        </p:sp>
        <p:sp>
          <p:nvSpPr>
            <p:cNvPr id="357" name="사각형: 둥근 모서리 283">
              <a:extLst>
                <a:ext uri="{FF2B5EF4-FFF2-40B4-BE49-F238E27FC236}">
                  <a16:creationId xmlns="" xmlns:a16="http://schemas.microsoft.com/office/drawing/2014/main" id="{75A43A2E-BCFB-4021-BA9E-A7B5042F9232}"/>
                </a:ext>
              </a:extLst>
            </p:cNvPr>
            <p:cNvSpPr/>
            <p:nvPr/>
          </p:nvSpPr>
          <p:spPr bwMode="auto">
            <a:xfrm>
              <a:off x="5866239" y="3787424"/>
              <a:ext cx="216000" cy="180000"/>
            </a:xfrm>
            <a:prstGeom prst="roundRect">
              <a:avLst/>
            </a:prstGeom>
            <a:solidFill>
              <a:schemeClr val="tx1">
                <a:lumMod val="50000"/>
                <a:lumOff val="50000"/>
              </a:schemeClr>
            </a:solidFill>
            <a:ln w="3175" cap="flat" cmpd="sng" algn="ctr">
              <a:solidFill>
                <a:schemeClr val="bg1">
                  <a:lumMod val="7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12700" dist="12700" dir="2700000" algn="tl" rotWithShape="0">
                <a:schemeClr val="tx1">
                  <a:lumMod val="75000"/>
                  <a:lumOff val="25000"/>
                  <a:alpha val="30000"/>
                </a:schemeClr>
              </a:outerShdw>
            </a:effectLst>
          </p:spPr>
          <p:txBody>
  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14400" fontAlgn="base" latinLnBrk="0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ko-KR" sz="700" kern="0">
                  <a:solidFill>
                    <a:schemeClr val="bg1"/>
                  </a:solidFill>
                  <a:latin typeface="+mn-ea"/>
                </a:rPr>
                <a:t>-2W</a:t>
              </a:r>
              <a:endParaRPr kumimoji="1" lang="ko-KR" altLang="en-US" sz="700" kern="0" dirty="0">
                <a:solidFill>
                  <a:schemeClr val="bg1"/>
                </a:solidFill>
                <a:latin typeface="+mn-ea"/>
              </a:endParaRPr>
            </a:p>
          </p:txBody>
        </p:sp>
        <p:sp>
          <p:nvSpPr>
            <p:cNvPr id="358" name="사각형: 둥근 모서리 296">
              <a:extLst>
                <a:ext uri="{FF2B5EF4-FFF2-40B4-BE49-F238E27FC236}">
                  <a16:creationId xmlns="" xmlns:a16="http://schemas.microsoft.com/office/drawing/2014/main" id="{AF3A2839-D952-4BD4-BE52-1953FF219D20}"/>
                </a:ext>
              </a:extLst>
            </p:cNvPr>
            <p:cNvSpPr/>
            <p:nvPr/>
          </p:nvSpPr>
          <p:spPr bwMode="auto">
            <a:xfrm>
              <a:off x="6117889" y="3787424"/>
              <a:ext cx="216000" cy="180000"/>
            </a:xfrm>
            <a:prstGeom prst="roundRect">
              <a:avLst/>
            </a:prstGeom>
            <a:solidFill>
              <a:schemeClr val="tx1">
                <a:lumMod val="50000"/>
                <a:lumOff val="50000"/>
              </a:schemeClr>
            </a:solidFill>
            <a:ln w="3175" cap="flat" cmpd="sng" algn="ctr">
              <a:solidFill>
                <a:schemeClr val="bg1">
                  <a:lumMod val="7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12700" dist="12700" dir="2700000" algn="tl" rotWithShape="0">
                <a:schemeClr val="tx1">
                  <a:lumMod val="75000"/>
                  <a:lumOff val="25000"/>
                  <a:alpha val="30000"/>
                </a:schemeClr>
              </a:outerShdw>
            </a:effectLst>
          </p:spPr>
          <p:txBody>
  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14400" fontAlgn="base" latinLnBrk="0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ko-KR" sz="700" kern="0">
                  <a:solidFill>
                    <a:schemeClr val="bg1"/>
                  </a:solidFill>
                  <a:latin typeface="+mn-ea"/>
                </a:rPr>
                <a:t>-1M</a:t>
              </a:r>
              <a:endParaRPr kumimoji="1" lang="ko-KR" altLang="en-US" sz="700" kern="0" dirty="0">
                <a:solidFill>
                  <a:schemeClr val="bg1"/>
                </a:solidFill>
                <a:latin typeface="+mn-ea"/>
              </a:endParaRPr>
            </a:p>
          </p:txBody>
        </p:sp>
        <p:grpSp>
          <p:nvGrpSpPr>
            <p:cNvPr id="481" name="그룹 480">
              <a:extLst>
                <a:ext uri="{FF2B5EF4-FFF2-40B4-BE49-F238E27FC236}">
                  <a16:creationId xmlns="" xmlns:a16="http://schemas.microsoft.com/office/drawing/2014/main" id="{D8FEFE47-A296-42FB-AFBE-4C16947CEE22}"/>
                </a:ext>
              </a:extLst>
            </p:cNvPr>
            <p:cNvGrpSpPr/>
            <p:nvPr/>
          </p:nvGrpSpPr>
          <p:grpSpPr>
            <a:xfrm>
              <a:off x="3348188" y="3787424"/>
              <a:ext cx="900000" cy="180000"/>
              <a:chOff x="2339906" y="1618462"/>
              <a:chExt cx="900000" cy="180000"/>
            </a:xfrm>
          </p:grpSpPr>
          <p:sp>
            <p:nvSpPr>
              <p:cNvPr id="491" name="직사각형 490">
                <a:extLst>
                  <a:ext uri="{FF2B5EF4-FFF2-40B4-BE49-F238E27FC236}">
                    <a16:creationId xmlns="" xmlns:a16="http://schemas.microsoft.com/office/drawing/2014/main" id="{4D7A0961-8C09-4E31-85D7-7E8CB7FE27E9}"/>
                  </a:ext>
                </a:extLst>
              </p:cNvPr>
              <p:cNvSpPr/>
              <p:nvPr/>
            </p:nvSpPr>
            <p:spPr bwMode="auto">
              <a:xfrm>
                <a:off x="2339906" y="1618462"/>
                <a:ext cx="900000" cy="180000"/>
              </a:xfrm>
              <a:prstGeom prst="rect">
                <a:avLst/>
              </a:prstGeom>
              <a:solidFill>
                <a:schemeClr val="bg1"/>
              </a:solidFill>
              <a:ln w="3175" cap="flat" cmpd="sng" algn="ctr">
                <a:solidFill>
                  <a:schemeClr val="bg1">
                    <a:lumMod val="7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rot="0" spcFirstLastPara="0" vertOverflow="overflow" horzOverflow="overflow" vert="horz" wrap="none" lIns="108000" tIns="36000" rIns="36000" bIns="36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1" lang="en-US" altLang="ko-KR" sz="700" b="0" i="0" u="none" strike="noStrike" kern="0" cap="none" spc="0" normalizeH="0" baseline="0" noProof="0" smtClean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uLnTx/>
                    <a:uFillTx/>
                    <a:latin typeface="+mn-ea"/>
                  </a:rPr>
                  <a:t>2026-01-09</a:t>
                </a:r>
                <a:endParaRPr kumimoji="1" lang="ko-KR" altLang="en-US" sz="700" b="0" i="0" u="none" strike="noStrike" kern="0" cap="none" spc="0" normalizeH="0" baseline="0" noProof="0" dirty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latin typeface="+mn-ea"/>
                </a:endParaRPr>
              </a:p>
            </p:txBody>
          </p:sp>
          <p:sp>
            <p:nvSpPr>
              <p:cNvPr id="492" name="Calendar">
                <a:extLst>
                  <a:ext uri="{FF2B5EF4-FFF2-40B4-BE49-F238E27FC236}">
                    <a16:creationId xmlns="" xmlns:a16="http://schemas.microsoft.com/office/drawing/2014/main" id="{3D15E5BE-BCD5-4038-936C-3757ECB3E11B}"/>
                  </a:ext>
                </a:extLst>
              </p:cNvPr>
              <p:cNvSpPr>
                <a:spLocks noChangeAspect="1" noEditPoints="1"/>
              </p:cNvSpPr>
              <p:nvPr/>
            </p:nvSpPr>
            <p:spPr bwMode="auto">
              <a:xfrm>
                <a:off x="3095906" y="1654462"/>
                <a:ext cx="108000" cy="108000"/>
              </a:xfrm>
              <a:custGeom>
                <a:avLst/>
                <a:gdLst>
                  <a:gd name="T0" fmla="*/ 120 w 667"/>
                  <a:gd name="T1" fmla="*/ 27 h 667"/>
                  <a:gd name="T2" fmla="*/ 8 w 667"/>
                  <a:gd name="T3" fmla="*/ 61 h 667"/>
                  <a:gd name="T4" fmla="*/ 8 w 667"/>
                  <a:gd name="T5" fmla="*/ 659 h 667"/>
                  <a:gd name="T6" fmla="*/ 659 w 667"/>
                  <a:gd name="T7" fmla="*/ 659 h 667"/>
                  <a:gd name="T8" fmla="*/ 659 w 667"/>
                  <a:gd name="T9" fmla="*/ 61 h 667"/>
                  <a:gd name="T10" fmla="*/ 547 w 667"/>
                  <a:gd name="T11" fmla="*/ 27 h 667"/>
                  <a:gd name="T12" fmla="*/ 493 w 667"/>
                  <a:gd name="T13" fmla="*/ 0 h 667"/>
                  <a:gd name="T14" fmla="*/ 467 w 667"/>
                  <a:gd name="T15" fmla="*/ 54 h 667"/>
                  <a:gd name="T16" fmla="*/ 192 w 667"/>
                  <a:gd name="T17" fmla="*/ 8 h 667"/>
                  <a:gd name="T18" fmla="*/ 147 w 667"/>
                  <a:gd name="T19" fmla="*/ 27 h 667"/>
                  <a:gd name="T20" fmla="*/ 147 w 667"/>
                  <a:gd name="T21" fmla="*/ 107 h 667"/>
                  <a:gd name="T22" fmla="*/ 520 w 667"/>
                  <a:gd name="T23" fmla="*/ 27 h 667"/>
                  <a:gd name="T24" fmla="*/ 493 w 667"/>
                  <a:gd name="T25" fmla="*/ 27 h 667"/>
                  <a:gd name="T26" fmla="*/ 120 w 667"/>
                  <a:gd name="T27" fmla="*/ 107 h 667"/>
                  <a:gd name="T28" fmla="*/ 173 w 667"/>
                  <a:gd name="T29" fmla="*/ 134 h 667"/>
                  <a:gd name="T30" fmla="*/ 200 w 667"/>
                  <a:gd name="T31" fmla="*/ 80 h 667"/>
                  <a:gd name="T32" fmla="*/ 474 w 667"/>
                  <a:gd name="T33" fmla="*/ 126 h 667"/>
                  <a:gd name="T34" fmla="*/ 539 w 667"/>
                  <a:gd name="T35" fmla="*/ 126 h 667"/>
                  <a:gd name="T36" fmla="*/ 640 w 667"/>
                  <a:gd name="T37" fmla="*/ 80 h 667"/>
                  <a:gd name="T38" fmla="*/ 27 w 667"/>
                  <a:gd name="T39" fmla="*/ 80 h 667"/>
                  <a:gd name="T40" fmla="*/ 640 w 667"/>
                  <a:gd name="T41" fmla="*/ 640 h 667"/>
                  <a:gd name="T42" fmla="*/ 93 w 667"/>
                  <a:gd name="T43" fmla="*/ 280 h 667"/>
                  <a:gd name="T44" fmla="*/ 93 w 667"/>
                  <a:gd name="T45" fmla="*/ 587 h 667"/>
                  <a:gd name="T46" fmla="*/ 587 w 667"/>
                  <a:gd name="T47" fmla="*/ 574 h 667"/>
                  <a:gd name="T48" fmla="*/ 93 w 667"/>
                  <a:gd name="T49" fmla="*/ 280 h 667"/>
                  <a:gd name="T50" fmla="*/ 200 w 667"/>
                  <a:gd name="T51" fmla="*/ 374 h 667"/>
                  <a:gd name="T52" fmla="*/ 227 w 667"/>
                  <a:gd name="T53" fmla="*/ 307 h 667"/>
                  <a:gd name="T54" fmla="*/ 227 w 667"/>
                  <a:gd name="T55" fmla="*/ 374 h 667"/>
                  <a:gd name="T56" fmla="*/ 440 w 667"/>
                  <a:gd name="T57" fmla="*/ 307 h 667"/>
                  <a:gd name="T58" fmla="*/ 347 w 667"/>
                  <a:gd name="T59" fmla="*/ 307 h 667"/>
                  <a:gd name="T60" fmla="*/ 560 w 667"/>
                  <a:gd name="T61" fmla="*/ 374 h 667"/>
                  <a:gd name="T62" fmla="*/ 107 w 667"/>
                  <a:gd name="T63" fmla="*/ 400 h 667"/>
                  <a:gd name="T64" fmla="*/ 107 w 667"/>
                  <a:gd name="T65" fmla="*/ 467 h 667"/>
                  <a:gd name="T66" fmla="*/ 320 w 667"/>
                  <a:gd name="T67" fmla="*/ 400 h 667"/>
                  <a:gd name="T68" fmla="*/ 227 w 667"/>
                  <a:gd name="T69" fmla="*/ 400 h 667"/>
                  <a:gd name="T70" fmla="*/ 440 w 667"/>
                  <a:gd name="T71" fmla="*/ 467 h 667"/>
                  <a:gd name="T72" fmla="*/ 467 w 667"/>
                  <a:gd name="T73" fmla="*/ 400 h 667"/>
                  <a:gd name="T74" fmla="*/ 467 w 667"/>
                  <a:gd name="T75" fmla="*/ 467 h 667"/>
                  <a:gd name="T76" fmla="*/ 200 w 667"/>
                  <a:gd name="T77" fmla="*/ 494 h 667"/>
                  <a:gd name="T78" fmla="*/ 107 w 667"/>
                  <a:gd name="T79" fmla="*/ 494 h 667"/>
                  <a:gd name="T80" fmla="*/ 320 w 667"/>
                  <a:gd name="T81" fmla="*/ 560 h 667"/>
                  <a:gd name="T82" fmla="*/ 347 w 667"/>
                  <a:gd name="T83" fmla="*/ 494 h 667"/>
                  <a:gd name="T84" fmla="*/ 400 w 667"/>
                  <a:gd name="T85" fmla="*/ 560 h 667"/>
                  <a:gd name="T86" fmla="*/ 467 w 667"/>
                  <a:gd name="T87" fmla="*/ 494 h 667"/>
                  <a:gd name="T88" fmla="*/ 467 w 667"/>
                  <a:gd name="T89" fmla="*/ 560 h 6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667" h="667">
                    <a:moveTo>
                      <a:pt x="147" y="0"/>
                    </a:moveTo>
                    <a:cubicBezTo>
                      <a:pt x="140" y="0"/>
                      <a:pt x="133" y="3"/>
                      <a:pt x="128" y="8"/>
                    </a:cubicBezTo>
                    <a:cubicBezTo>
                      <a:pt x="123" y="13"/>
                      <a:pt x="120" y="20"/>
                      <a:pt x="120" y="27"/>
                    </a:cubicBezTo>
                    <a:lnTo>
                      <a:pt x="120" y="54"/>
                    </a:lnTo>
                    <a:lnTo>
                      <a:pt x="27" y="54"/>
                    </a:lnTo>
                    <a:cubicBezTo>
                      <a:pt x="20" y="54"/>
                      <a:pt x="13" y="56"/>
                      <a:pt x="8" y="61"/>
                    </a:cubicBezTo>
                    <a:cubicBezTo>
                      <a:pt x="3" y="66"/>
                      <a:pt x="0" y="73"/>
                      <a:pt x="0" y="80"/>
                    </a:cubicBezTo>
                    <a:lnTo>
                      <a:pt x="0" y="640"/>
                    </a:lnTo>
                    <a:cubicBezTo>
                      <a:pt x="0" y="647"/>
                      <a:pt x="3" y="654"/>
                      <a:pt x="8" y="659"/>
                    </a:cubicBezTo>
                    <a:cubicBezTo>
                      <a:pt x="13" y="664"/>
                      <a:pt x="20" y="667"/>
                      <a:pt x="27" y="667"/>
                    </a:cubicBezTo>
                    <a:lnTo>
                      <a:pt x="640" y="667"/>
                    </a:lnTo>
                    <a:cubicBezTo>
                      <a:pt x="647" y="667"/>
                      <a:pt x="654" y="664"/>
                      <a:pt x="659" y="659"/>
                    </a:cubicBezTo>
                    <a:cubicBezTo>
                      <a:pt x="664" y="654"/>
                      <a:pt x="667" y="647"/>
                      <a:pt x="667" y="640"/>
                    </a:cubicBezTo>
                    <a:lnTo>
                      <a:pt x="667" y="80"/>
                    </a:lnTo>
                    <a:cubicBezTo>
                      <a:pt x="667" y="73"/>
                      <a:pt x="664" y="66"/>
                      <a:pt x="659" y="61"/>
                    </a:cubicBezTo>
                    <a:cubicBezTo>
                      <a:pt x="654" y="56"/>
                      <a:pt x="647" y="54"/>
                      <a:pt x="640" y="54"/>
                    </a:cubicBezTo>
                    <a:lnTo>
                      <a:pt x="547" y="54"/>
                    </a:lnTo>
                    <a:lnTo>
                      <a:pt x="547" y="27"/>
                    </a:lnTo>
                    <a:cubicBezTo>
                      <a:pt x="547" y="20"/>
                      <a:pt x="544" y="13"/>
                      <a:pt x="539" y="8"/>
                    </a:cubicBezTo>
                    <a:cubicBezTo>
                      <a:pt x="534" y="3"/>
                      <a:pt x="527" y="0"/>
                      <a:pt x="520" y="0"/>
                    </a:cubicBezTo>
                    <a:lnTo>
                      <a:pt x="493" y="0"/>
                    </a:lnTo>
                    <a:cubicBezTo>
                      <a:pt x="486" y="0"/>
                      <a:pt x="479" y="3"/>
                      <a:pt x="474" y="8"/>
                    </a:cubicBezTo>
                    <a:cubicBezTo>
                      <a:pt x="469" y="13"/>
                      <a:pt x="467" y="20"/>
                      <a:pt x="467" y="27"/>
                    </a:cubicBezTo>
                    <a:lnTo>
                      <a:pt x="467" y="54"/>
                    </a:lnTo>
                    <a:lnTo>
                      <a:pt x="200" y="54"/>
                    </a:lnTo>
                    <a:lnTo>
                      <a:pt x="200" y="27"/>
                    </a:lnTo>
                    <a:cubicBezTo>
                      <a:pt x="200" y="20"/>
                      <a:pt x="197" y="13"/>
                      <a:pt x="192" y="8"/>
                    </a:cubicBezTo>
                    <a:cubicBezTo>
                      <a:pt x="187" y="3"/>
                      <a:pt x="180" y="0"/>
                      <a:pt x="173" y="0"/>
                    </a:cubicBezTo>
                    <a:lnTo>
                      <a:pt x="147" y="0"/>
                    </a:lnTo>
                    <a:close/>
                    <a:moveTo>
                      <a:pt x="147" y="27"/>
                    </a:moveTo>
                    <a:lnTo>
                      <a:pt x="173" y="27"/>
                    </a:lnTo>
                    <a:lnTo>
                      <a:pt x="173" y="107"/>
                    </a:lnTo>
                    <a:lnTo>
                      <a:pt x="147" y="107"/>
                    </a:lnTo>
                    <a:lnTo>
                      <a:pt x="147" y="27"/>
                    </a:lnTo>
                    <a:close/>
                    <a:moveTo>
                      <a:pt x="493" y="27"/>
                    </a:moveTo>
                    <a:lnTo>
                      <a:pt x="520" y="27"/>
                    </a:lnTo>
                    <a:lnTo>
                      <a:pt x="520" y="107"/>
                    </a:lnTo>
                    <a:lnTo>
                      <a:pt x="493" y="107"/>
                    </a:lnTo>
                    <a:lnTo>
                      <a:pt x="493" y="27"/>
                    </a:lnTo>
                    <a:close/>
                    <a:moveTo>
                      <a:pt x="27" y="80"/>
                    </a:moveTo>
                    <a:lnTo>
                      <a:pt x="120" y="80"/>
                    </a:lnTo>
                    <a:lnTo>
                      <a:pt x="120" y="107"/>
                    </a:lnTo>
                    <a:cubicBezTo>
                      <a:pt x="120" y="114"/>
                      <a:pt x="123" y="121"/>
                      <a:pt x="128" y="126"/>
                    </a:cubicBezTo>
                    <a:cubicBezTo>
                      <a:pt x="133" y="131"/>
                      <a:pt x="140" y="134"/>
                      <a:pt x="147" y="134"/>
                    </a:cubicBezTo>
                    <a:lnTo>
                      <a:pt x="173" y="134"/>
                    </a:lnTo>
                    <a:cubicBezTo>
                      <a:pt x="180" y="134"/>
                      <a:pt x="187" y="131"/>
                      <a:pt x="192" y="126"/>
                    </a:cubicBezTo>
                    <a:cubicBezTo>
                      <a:pt x="197" y="121"/>
                      <a:pt x="200" y="114"/>
                      <a:pt x="200" y="107"/>
                    </a:cubicBezTo>
                    <a:lnTo>
                      <a:pt x="200" y="80"/>
                    </a:lnTo>
                    <a:lnTo>
                      <a:pt x="467" y="80"/>
                    </a:lnTo>
                    <a:lnTo>
                      <a:pt x="467" y="107"/>
                    </a:lnTo>
                    <a:cubicBezTo>
                      <a:pt x="467" y="114"/>
                      <a:pt x="469" y="121"/>
                      <a:pt x="474" y="126"/>
                    </a:cubicBezTo>
                    <a:cubicBezTo>
                      <a:pt x="479" y="131"/>
                      <a:pt x="486" y="134"/>
                      <a:pt x="493" y="134"/>
                    </a:cubicBezTo>
                    <a:lnTo>
                      <a:pt x="520" y="134"/>
                    </a:lnTo>
                    <a:cubicBezTo>
                      <a:pt x="527" y="134"/>
                      <a:pt x="534" y="131"/>
                      <a:pt x="539" y="126"/>
                    </a:cubicBezTo>
                    <a:cubicBezTo>
                      <a:pt x="544" y="121"/>
                      <a:pt x="547" y="114"/>
                      <a:pt x="547" y="107"/>
                    </a:cubicBezTo>
                    <a:lnTo>
                      <a:pt x="547" y="80"/>
                    </a:lnTo>
                    <a:lnTo>
                      <a:pt x="640" y="80"/>
                    </a:lnTo>
                    <a:lnTo>
                      <a:pt x="640" y="187"/>
                    </a:lnTo>
                    <a:lnTo>
                      <a:pt x="27" y="187"/>
                    </a:lnTo>
                    <a:lnTo>
                      <a:pt x="27" y="80"/>
                    </a:lnTo>
                    <a:close/>
                    <a:moveTo>
                      <a:pt x="27" y="214"/>
                    </a:moveTo>
                    <a:lnTo>
                      <a:pt x="640" y="214"/>
                    </a:lnTo>
                    <a:lnTo>
                      <a:pt x="640" y="640"/>
                    </a:lnTo>
                    <a:lnTo>
                      <a:pt x="27" y="640"/>
                    </a:lnTo>
                    <a:lnTo>
                      <a:pt x="27" y="214"/>
                    </a:lnTo>
                    <a:close/>
                    <a:moveTo>
                      <a:pt x="93" y="280"/>
                    </a:moveTo>
                    <a:cubicBezTo>
                      <a:pt x="86" y="280"/>
                      <a:pt x="80" y="286"/>
                      <a:pt x="80" y="294"/>
                    </a:cubicBezTo>
                    <a:lnTo>
                      <a:pt x="80" y="574"/>
                    </a:lnTo>
                    <a:cubicBezTo>
                      <a:pt x="80" y="581"/>
                      <a:pt x="86" y="587"/>
                      <a:pt x="93" y="587"/>
                    </a:cubicBezTo>
                    <a:lnTo>
                      <a:pt x="400" y="587"/>
                    </a:lnTo>
                    <a:lnTo>
                      <a:pt x="573" y="587"/>
                    </a:lnTo>
                    <a:cubicBezTo>
                      <a:pt x="581" y="587"/>
                      <a:pt x="587" y="581"/>
                      <a:pt x="587" y="574"/>
                    </a:cubicBezTo>
                    <a:lnTo>
                      <a:pt x="587" y="294"/>
                    </a:lnTo>
                    <a:cubicBezTo>
                      <a:pt x="587" y="286"/>
                      <a:pt x="581" y="280"/>
                      <a:pt x="573" y="280"/>
                    </a:cubicBezTo>
                    <a:lnTo>
                      <a:pt x="93" y="280"/>
                    </a:lnTo>
                    <a:close/>
                    <a:moveTo>
                      <a:pt x="107" y="307"/>
                    </a:moveTo>
                    <a:lnTo>
                      <a:pt x="200" y="307"/>
                    </a:lnTo>
                    <a:lnTo>
                      <a:pt x="200" y="374"/>
                    </a:lnTo>
                    <a:lnTo>
                      <a:pt x="107" y="374"/>
                    </a:lnTo>
                    <a:lnTo>
                      <a:pt x="107" y="307"/>
                    </a:lnTo>
                    <a:close/>
                    <a:moveTo>
                      <a:pt x="227" y="307"/>
                    </a:moveTo>
                    <a:lnTo>
                      <a:pt x="320" y="307"/>
                    </a:lnTo>
                    <a:lnTo>
                      <a:pt x="320" y="374"/>
                    </a:lnTo>
                    <a:lnTo>
                      <a:pt x="227" y="374"/>
                    </a:lnTo>
                    <a:lnTo>
                      <a:pt x="227" y="307"/>
                    </a:lnTo>
                    <a:close/>
                    <a:moveTo>
                      <a:pt x="347" y="307"/>
                    </a:moveTo>
                    <a:lnTo>
                      <a:pt x="440" y="307"/>
                    </a:lnTo>
                    <a:lnTo>
                      <a:pt x="440" y="374"/>
                    </a:lnTo>
                    <a:lnTo>
                      <a:pt x="347" y="374"/>
                    </a:lnTo>
                    <a:lnTo>
                      <a:pt x="347" y="307"/>
                    </a:lnTo>
                    <a:close/>
                    <a:moveTo>
                      <a:pt x="467" y="307"/>
                    </a:moveTo>
                    <a:lnTo>
                      <a:pt x="560" y="307"/>
                    </a:lnTo>
                    <a:lnTo>
                      <a:pt x="560" y="374"/>
                    </a:lnTo>
                    <a:lnTo>
                      <a:pt x="467" y="374"/>
                    </a:lnTo>
                    <a:lnTo>
                      <a:pt x="467" y="307"/>
                    </a:lnTo>
                    <a:close/>
                    <a:moveTo>
                      <a:pt x="107" y="400"/>
                    </a:moveTo>
                    <a:lnTo>
                      <a:pt x="200" y="400"/>
                    </a:lnTo>
                    <a:lnTo>
                      <a:pt x="200" y="467"/>
                    </a:lnTo>
                    <a:lnTo>
                      <a:pt x="107" y="467"/>
                    </a:lnTo>
                    <a:lnTo>
                      <a:pt x="107" y="400"/>
                    </a:lnTo>
                    <a:close/>
                    <a:moveTo>
                      <a:pt x="227" y="400"/>
                    </a:moveTo>
                    <a:lnTo>
                      <a:pt x="320" y="400"/>
                    </a:lnTo>
                    <a:lnTo>
                      <a:pt x="320" y="467"/>
                    </a:lnTo>
                    <a:lnTo>
                      <a:pt x="227" y="467"/>
                    </a:lnTo>
                    <a:lnTo>
                      <a:pt x="227" y="400"/>
                    </a:lnTo>
                    <a:close/>
                    <a:moveTo>
                      <a:pt x="347" y="400"/>
                    </a:moveTo>
                    <a:lnTo>
                      <a:pt x="440" y="400"/>
                    </a:lnTo>
                    <a:lnTo>
                      <a:pt x="440" y="467"/>
                    </a:lnTo>
                    <a:lnTo>
                      <a:pt x="347" y="467"/>
                    </a:lnTo>
                    <a:lnTo>
                      <a:pt x="347" y="400"/>
                    </a:lnTo>
                    <a:close/>
                    <a:moveTo>
                      <a:pt x="467" y="400"/>
                    </a:moveTo>
                    <a:lnTo>
                      <a:pt x="560" y="400"/>
                    </a:lnTo>
                    <a:lnTo>
                      <a:pt x="560" y="467"/>
                    </a:lnTo>
                    <a:lnTo>
                      <a:pt x="467" y="467"/>
                    </a:lnTo>
                    <a:lnTo>
                      <a:pt x="467" y="400"/>
                    </a:lnTo>
                    <a:close/>
                    <a:moveTo>
                      <a:pt x="107" y="494"/>
                    </a:moveTo>
                    <a:lnTo>
                      <a:pt x="200" y="494"/>
                    </a:lnTo>
                    <a:lnTo>
                      <a:pt x="200" y="560"/>
                    </a:lnTo>
                    <a:lnTo>
                      <a:pt x="107" y="560"/>
                    </a:lnTo>
                    <a:lnTo>
                      <a:pt x="107" y="494"/>
                    </a:lnTo>
                    <a:close/>
                    <a:moveTo>
                      <a:pt x="227" y="494"/>
                    </a:moveTo>
                    <a:lnTo>
                      <a:pt x="320" y="494"/>
                    </a:lnTo>
                    <a:lnTo>
                      <a:pt x="320" y="560"/>
                    </a:lnTo>
                    <a:lnTo>
                      <a:pt x="227" y="560"/>
                    </a:lnTo>
                    <a:lnTo>
                      <a:pt x="227" y="494"/>
                    </a:lnTo>
                    <a:close/>
                    <a:moveTo>
                      <a:pt x="347" y="494"/>
                    </a:moveTo>
                    <a:lnTo>
                      <a:pt x="440" y="494"/>
                    </a:lnTo>
                    <a:lnTo>
                      <a:pt x="440" y="560"/>
                    </a:lnTo>
                    <a:lnTo>
                      <a:pt x="400" y="560"/>
                    </a:lnTo>
                    <a:lnTo>
                      <a:pt x="347" y="560"/>
                    </a:lnTo>
                    <a:lnTo>
                      <a:pt x="347" y="494"/>
                    </a:lnTo>
                    <a:close/>
                    <a:moveTo>
                      <a:pt x="467" y="494"/>
                    </a:moveTo>
                    <a:lnTo>
                      <a:pt x="560" y="494"/>
                    </a:lnTo>
                    <a:lnTo>
                      <a:pt x="560" y="560"/>
                    </a:lnTo>
                    <a:lnTo>
                      <a:pt x="467" y="560"/>
                    </a:lnTo>
                    <a:lnTo>
                      <a:pt x="467" y="494"/>
                    </a:lnTo>
                    <a:close/>
                  </a:path>
                </a:pathLst>
              </a:custGeom>
              <a:solidFill>
                <a:srgbClr val="5F5F5F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sz="900"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p:grpSp>
        <p:sp>
          <p:nvSpPr>
            <p:cNvPr id="485" name="TextBox 484">
              <a:extLst>
                <a:ext uri="{FF2B5EF4-FFF2-40B4-BE49-F238E27FC236}">
                  <a16:creationId xmlns="" xmlns:a16="http://schemas.microsoft.com/office/drawing/2014/main" id="{BEF44E57-E280-4345-9063-E951A919EA82}"/>
                </a:ext>
              </a:extLst>
            </p:cNvPr>
            <p:cNvSpPr txBox="1"/>
            <p:nvPr/>
          </p:nvSpPr>
          <p:spPr>
            <a:xfrm>
              <a:off x="4252112" y="3787212"/>
              <a:ext cx="135221" cy="180425"/>
            </a:xfrm>
            <a:prstGeom prst="rect">
              <a:avLst/>
            </a:prstGeom>
            <a:solidFill>
              <a:schemeClr val="bg1">
                <a:alpha val="10000"/>
              </a:schemeClr>
            </a:solidFill>
            <a:ln w="3175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none" lIns="36000" tIns="36000" rIns="36000" bIns="36000" numCol="1" rtlCol="0" anchor="ctr" anchorCtr="0" compatLnSpc="1">
              <a:prstTxWarp prst="textNoShape">
                <a:avLst/>
              </a:prstTxWarp>
              <a:spAutoFit/>
            </a:bodyPr>
            <a:lstStyle/>
            <a:p>
              <a:pPr algn="l"/>
              <a:r>
                <a:rPr lang="en-US" altLang="ko-KR" sz="7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~</a:t>
              </a:r>
              <a:endParaRPr lang="ko-KR" altLang="en-US" sz="70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endParaRPr>
            </a:p>
          </p:txBody>
        </p:sp>
        <p:sp>
          <p:nvSpPr>
            <p:cNvPr id="486" name="사각형: 둥근 모서리 296">
              <a:extLst>
                <a:ext uri="{FF2B5EF4-FFF2-40B4-BE49-F238E27FC236}">
                  <a16:creationId xmlns="" xmlns:a16="http://schemas.microsoft.com/office/drawing/2014/main" id="{B65D9BD6-5D77-4758-AC89-9EDBDB7AE548}"/>
                </a:ext>
              </a:extLst>
            </p:cNvPr>
            <p:cNvSpPr/>
            <p:nvPr/>
          </p:nvSpPr>
          <p:spPr bwMode="auto">
            <a:xfrm>
              <a:off x="6369539" y="3787424"/>
              <a:ext cx="216000" cy="180000"/>
            </a:xfrm>
            <a:prstGeom prst="roundRect">
              <a:avLst/>
            </a:prstGeom>
            <a:solidFill>
              <a:schemeClr val="tx1">
                <a:lumMod val="50000"/>
                <a:lumOff val="50000"/>
              </a:schemeClr>
            </a:solidFill>
            <a:ln w="3175" cap="flat" cmpd="sng" algn="ctr">
              <a:solidFill>
                <a:schemeClr val="bg1">
                  <a:lumMod val="7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12700" dist="12700" dir="2700000" algn="tl" rotWithShape="0">
                <a:schemeClr val="tx1">
                  <a:lumMod val="75000"/>
                  <a:lumOff val="25000"/>
                  <a:alpha val="30000"/>
                </a:schemeClr>
              </a:outerShdw>
            </a:effectLst>
          </p:spPr>
          <p:txBody>
  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14400" fontAlgn="base" latinLnBrk="0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ko-KR" sz="700" kern="0">
                  <a:solidFill>
                    <a:schemeClr val="bg1"/>
                  </a:solidFill>
                  <a:latin typeface="+mn-ea"/>
                </a:rPr>
                <a:t>-6M</a:t>
              </a:r>
              <a:endParaRPr kumimoji="1" lang="ko-KR" altLang="en-US" sz="700" kern="0" dirty="0">
                <a:solidFill>
                  <a:schemeClr val="bg1"/>
                </a:solidFill>
                <a:latin typeface="+mn-ea"/>
              </a:endParaRPr>
            </a:p>
          </p:txBody>
        </p:sp>
        <p:grpSp>
          <p:nvGrpSpPr>
            <p:cNvPr id="487" name="그룹 486">
              <a:extLst>
                <a:ext uri="{FF2B5EF4-FFF2-40B4-BE49-F238E27FC236}">
                  <a16:creationId xmlns="" xmlns:a16="http://schemas.microsoft.com/office/drawing/2014/main" id="{7508C5D5-8DD6-44D9-A381-74F97813FCBB}"/>
                </a:ext>
              </a:extLst>
            </p:cNvPr>
            <p:cNvGrpSpPr/>
            <p:nvPr/>
          </p:nvGrpSpPr>
          <p:grpSpPr>
            <a:xfrm>
              <a:off x="4391258" y="3787424"/>
              <a:ext cx="900000" cy="180000"/>
              <a:chOff x="3419399" y="1618462"/>
              <a:chExt cx="900000" cy="180000"/>
            </a:xfrm>
          </p:grpSpPr>
          <p:sp>
            <p:nvSpPr>
              <p:cNvPr id="489" name="직사각형 488">
                <a:extLst>
                  <a:ext uri="{FF2B5EF4-FFF2-40B4-BE49-F238E27FC236}">
                    <a16:creationId xmlns="" xmlns:a16="http://schemas.microsoft.com/office/drawing/2014/main" id="{8EBFEB4C-0106-4B1F-89F5-3AAE8C1DFEDC}"/>
                  </a:ext>
                </a:extLst>
              </p:cNvPr>
              <p:cNvSpPr/>
              <p:nvPr/>
            </p:nvSpPr>
            <p:spPr bwMode="auto">
              <a:xfrm>
                <a:off x="3419399" y="1618462"/>
                <a:ext cx="900000" cy="180000"/>
              </a:xfrm>
              <a:prstGeom prst="rect">
                <a:avLst/>
              </a:prstGeom>
              <a:solidFill>
                <a:schemeClr val="bg1"/>
              </a:solidFill>
              <a:ln w="3175" cap="flat" cmpd="sng" algn="ctr">
                <a:solidFill>
                  <a:schemeClr val="bg1">
                    <a:lumMod val="7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rot="0" spcFirstLastPara="0" vertOverflow="overflow" horzOverflow="overflow" vert="horz" wrap="none" lIns="108000" tIns="36000" rIns="36000" bIns="36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defTabSz="914400" fontAlgn="base" latinLnBrk="0">
                  <a:spcBef>
                    <a:spcPct val="0"/>
                  </a:spcBef>
                  <a:spcAft>
                    <a:spcPct val="0"/>
                  </a:spcAft>
                </a:pPr>
                <a:r>
                  <a:rPr kumimoji="1" lang="en-US" altLang="ko-KR" sz="700" kern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</a:rPr>
                  <a:t>2026-01-09</a:t>
                </a:r>
                <a:endParaRPr kumimoji="1" lang="ko-KR" altLang="en-US" sz="700" kern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endParaRPr>
              </a:p>
            </p:txBody>
          </p:sp>
          <p:sp>
            <p:nvSpPr>
              <p:cNvPr id="490" name="Calendar">
                <a:extLst>
                  <a:ext uri="{FF2B5EF4-FFF2-40B4-BE49-F238E27FC236}">
                    <a16:creationId xmlns="" xmlns:a16="http://schemas.microsoft.com/office/drawing/2014/main" id="{676728E2-A861-4D69-92C1-E9A16363CFB4}"/>
                  </a:ext>
                </a:extLst>
              </p:cNvPr>
              <p:cNvSpPr>
                <a:spLocks noChangeAspect="1" noEditPoints="1"/>
              </p:cNvSpPr>
              <p:nvPr/>
            </p:nvSpPr>
            <p:spPr bwMode="auto">
              <a:xfrm>
                <a:off x="4174976" y="1654462"/>
                <a:ext cx="108000" cy="108000"/>
              </a:xfrm>
              <a:custGeom>
                <a:avLst/>
                <a:gdLst>
                  <a:gd name="T0" fmla="*/ 120 w 667"/>
                  <a:gd name="T1" fmla="*/ 27 h 667"/>
                  <a:gd name="T2" fmla="*/ 8 w 667"/>
                  <a:gd name="T3" fmla="*/ 61 h 667"/>
                  <a:gd name="T4" fmla="*/ 8 w 667"/>
                  <a:gd name="T5" fmla="*/ 659 h 667"/>
                  <a:gd name="T6" fmla="*/ 659 w 667"/>
                  <a:gd name="T7" fmla="*/ 659 h 667"/>
                  <a:gd name="T8" fmla="*/ 659 w 667"/>
                  <a:gd name="T9" fmla="*/ 61 h 667"/>
                  <a:gd name="T10" fmla="*/ 547 w 667"/>
                  <a:gd name="T11" fmla="*/ 27 h 667"/>
                  <a:gd name="T12" fmla="*/ 493 w 667"/>
                  <a:gd name="T13" fmla="*/ 0 h 667"/>
                  <a:gd name="T14" fmla="*/ 467 w 667"/>
                  <a:gd name="T15" fmla="*/ 54 h 667"/>
                  <a:gd name="T16" fmla="*/ 192 w 667"/>
                  <a:gd name="T17" fmla="*/ 8 h 667"/>
                  <a:gd name="T18" fmla="*/ 147 w 667"/>
                  <a:gd name="T19" fmla="*/ 27 h 667"/>
                  <a:gd name="T20" fmla="*/ 147 w 667"/>
                  <a:gd name="T21" fmla="*/ 107 h 667"/>
                  <a:gd name="T22" fmla="*/ 520 w 667"/>
                  <a:gd name="T23" fmla="*/ 27 h 667"/>
                  <a:gd name="T24" fmla="*/ 493 w 667"/>
                  <a:gd name="T25" fmla="*/ 27 h 667"/>
                  <a:gd name="T26" fmla="*/ 120 w 667"/>
                  <a:gd name="T27" fmla="*/ 107 h 667"/>
                  <a:gd name="T28" fmla="*/ 173 w 667"/>
                  <a:gd name="T29" fmla="*/ 134 h 667"/>
                  <a:gd name="T30" fmla="*/ 200 w 667"/>
                  <a:gd name="T31" fmla="*/ 80 h 667"/>
                  <a:gd name="T32" fmla="*/ 474 w 667"/>
                  <a:gd name="T33" fmla="*/ 126 h 667"/>
                  <a:gd name="T34" fmla="*/ 539 w 667"/>
                  <a:gd name="T35" fmla="*/ 126 h 667"/>
                  <a:gd name="T36" fmla="*/ 640 w 667"/>
                  <a:gd name="T37" fmla="*/ 80 h 667"/>
                  <a:gd name="T38" fmla="*/ 27 w 667"/>
                  <a:gd name="T39" fmla="*/ 80 h 667"/>
                  <a:gd name="T40" fmla="*/ 640 w 667"/>
                  <a:gd name="T41" fmla="*/ 640 h 667"/>
                  <a:gd name="T42" fmla="*/ 93 w 667"/>
                  <a:gd name="T43" fmla="*/ 280 h 667"/>
                  <a:gd name="T44" fmla="*/ 93 w 667"/>
                  <a:gd name="T45" fmla="*/ 587 h 667"/>
                  <a:gd name="T46" fmla="*/ 587 w 667"/>
                  <a:gd name="T47" fmla="*/ 574 h 667"/>
                  <a:gd name="T48" fmla="*/ 93 w 667"/>
                  <a:gd name="T49" fmla="*/ 280 h 667"/>
                  <a:gd name="T50" fmla="*/ 200 w 667"/>
                  <a:gd name="T51" fmla="*/ 374 h 667"/>
                  <a:gd name="T52" fmla="*/ 227 w 667"/>
                  <a:gd name="T53" fmla="*/ 307 h 667"/>
                  <a:gd name="T54" fmla="*/ 227 w 667"/>
                  <a:gd name="T55" fmla="*/ 374 h 667"/>
                  <a:gd name="T56" fmla="*/ 440 w 667"/>
                  <a:gd name="T57" fmla="*/ 307 h 667"/>
                  <a:gd name="T58" fmla="*/ 347 w 667"/>
                  <a:gd name="T59" fmla="*/ 307 h 667"/>
                  <a:gd name="T60" fmla="*/ 560 w 667"/>
                  <a:gd name="T61" fmla="*/ 374 h 667"/>
                  <a:gd name="T62" fmla="*/ 107 w 667"/>
                  <a:gd name="T63" fmla="*/ 400 h 667"/>
                  <a:gd name="T64" fmla="*/ 107 w 667"/>
                  <a:gd name="T65" fmla="*/ 467 h 667"/>
                  <a:gd name="T66" fmla="*/ 320 w 667"/>
                  <a:gd name="T67" fmla="*/ 400 h 667"/>
                  <a:gd name="T68" fmla="*/ 227 w 667"/>
                  <a:gd name="T69" fmla="*/ 400 h 667"/>
                  <a:gd name="T70" fmla="*/ 440 w 667"/>
                  <a:gd name="T71" fmla="*/ 467 h 667"/>
                  <a:gd name="T72" fmla="*/ 467 w 667"/>
                  <a:gd name="T73" fmla="*/ 400 h 667"/>
                  <a:gd name="T74" fmla="*/ 467 w 667"/>
                  <a:gd name="T75" fmla="*/ 467 h 667"/>
                  <a:gd name="T76" fmla="*/ 200 w 667"/>
                  <a:gd name="T77" fmla="*/ 494 h 667"/>
                  <a:gd name="T78" fmla="*/ 107 w 667"/>
                  <a:gd name="T79" fmla="*/ 494 h 667"/>
                  <a:gd name="T80" fmla="*/ 320 w 667"/>
                  <a:gd name="T81" fmla="*/ 560 h 667"/>
                  <a:gd name="T82" fmla="*/ 347 w 667"/>
                  <a:gd name="T83" fmla="*/ 494 h 667"/>
                  <a:gd name="T84" fmla="*/ 400 w 667"/>
                  <a:gd name="T85" fmla="*/ 560 h 667"/>
                  <a:gd name="T86" fmla="*/ 467 w 667"/>
                  <a:gd name="T87" fmla="*/ 494 h 667"/>
                  <a:gd name="T88" fmla="*/ 467 w 667"/>
                  <a:gd name="T89" fmla="*/ 560 h 6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667" h="667">
                    <a:moveTo>
                      <a:pt x="147" y="0"/>
                    </a:moveTo>
                    <a:cubicBezTo>
                      <a:pt x="140" y="0"/>
                      <a:pt x="133" y="3"/>
                      <a:pt x="128" y="8"/>
                    </a:cubicBezTo>
                    <a:cubicBezTo>
                      <a:pt x="123" y="13"/>
                      <a:pt x="120" y="20"/>
                      <a:pt x="120" y="27"/>
                    </a:cubicBezTo>
                    <a:lnTo>
                      <a:pt x="120" y="54"/>
                    </a:lnTo>
                    <a:lnTo>
                      <a:pt x="27" y="54"/>
                    </a:lnTo>
                    <a:cubicBezTo>
                      <a:pt x="20" y="54"/>
                      <a:pt x="13" y="56"/>
                      <a:pt x="8" y="61"/>
                    </a:cubicBezTo>
                    <a:cubicBezTo>
                      <a:pt x="3" y="66"/>
                      <a:pt x="0" y="73"/>
                      <a:pt x="0" y="80"/>
                    </a:cubicBezTo>
                    <a:lnTo>
                      <a:pt x="0" y="640"/>
                    </a:lnTo>
                    <a:cubicBezTo>
                      <a:pt x="0" y="647"/>
                      <a:pt x="3" y="654"/>
                      <a:pt x="8" y="659"/>
                    </a:cubicBezTo>
                    <a:cubicBezTo>
                      <a:pt x="13" y="664"/>
                      <a:pt x="20" y="667"/>
                      <a:pt x="27" y="667"/>
                    </a:cubicBezTo>
                    <a:lnTo>
                      <a:pt x="640" y="667"/>
                    </a:lnTo>
                    <a:cubicBezTo>
                      <a:pt x="647" y="667"/>
                      <a:pt x="654" y="664"/>
                      <a:pt x="659" y="659"/>
                    </a:cubicBezTo>
                    <a:cubicBezTo>
                      <a:pt x="664" y="654"/>
                      <a:pt x="667" y="647"/>
                      <a:pt x="667" y="640"/>
                    </a:cubicBezTo>
                    <a:lnTo>
                      <a:pt x="667" y="80"/>
                    </a:lnTo>
                    <a:cubicBezTo>
                      <a:pt x="667" y="73"/>
                      <a:pt x="664" y="66"/>
                      <a:pt x="659" y="61"/>
                    </a:cubicBezTo>
                    <a:cubicBezTo>
                      <a:pt x="654" y="56"/>
                      <a:pt x="647" y="54"/>
                      <a:pt x="640" y="54"/>
                    </a:cubicBezTo>
                    <a:lnTo>
                      <a:pt x="547" y="54"/>
                    </a:lnTo>
                    <a:lnTo>
                      <a:pt x="547" y="27"/>
                    </a:lnTo>
                    <a:cubicBezTo>
                      <a:pt x="547" y="20"/>
                      <a:pt x="544" y="13"/>
                      <a:pt x="539" y="8"/>
                    </a:cubicBezTo>
                    <a:cubicBezTo>
                      <a:pt x="534" y="3"/>
                      <a:pt x="527" y="0"/>
                      <a:pt x="520" y="0"/>
                    </a:cubicBezTo>
                    <a:lnTo>
                      <a:pt x="493" y="0"/>
                    </a:lnTo>
                    <a:cubicBezTo>
                      <a:pt x="486" y="0"/>
                      <a:pt x="479" y="3"/>
                      <a:pt x="474" y="8"/>
                    </a:cubicBezTo>
                    <a:cubicBezTo>
                      <a:pt x="469" y="13"/>
                      <a:pt x="467" y="20"/>
                      <a:pt x="467" y="27"/>
                    </a:cubicBezTo>
                    <a:lnTo>
                      <a:pt x="467" y="54"/>
                    </a:lnTo>
                    <a:lnTo>
                      <a:pt x="200" y="54"/>
                    </a:lnTo>
                    <a:lnTo>
                      <a:pt x="200" y="27"/>
                    </a:lnTo>
                    <a:cubicBezTo>
                      <a:pt x="200" y="20"/>
                      <a:pt x="197" y="13"/>
                      <a:pt x="192" y="8"/>
                    </a:cubicBezTo>
                    <a:cubicBezTo>
                      <a:pt x="187" y="3"/>
                      <a:pt x="180" y="0"/>
                      <a:pt x="173" y="0"/>
                    </a:cubicBezTo>
                    <a:lnTo>
                      <a:pt x="147" y="0"/>
                    </a:lnTo>
                    <a:close/>
                    <a:moveTo>
                      <a:pt x="147" y="27"/>
                    </a:moveTo>
                    <a:lnTo>
                      <a:pt x="173" y="27"/>
                    </a:lnTo>
                    <a:lnTo>
                      <a:pt x="173" y="107"/>
                    </a:lnTo>
                    <a:lnTo>
                      <a:pt x="147" y="107"/>
                    </a:lnTo>
                    <a:lnTo>
                      <a:pt x="147" y="27"/>
                    </a:lnTo>
                    <a:close/>
                    <a:moveTo>
                      <a:pt x="493" y="27"/>
                    </a:moveTo>
                    <a:lnTo>
                      <a:pt x="520" y="27"/>
                    </a:lnTo>
                    <a:lnTo>
                      <a:pt x="520" y="107"/>
                    </a:lnTo>
                    <a:lnTo>
                      <a:pt x="493" y="107"/>
                    </a:lnTo>
                    <a:lnTo>
                      <a:pt x="493" y="27"/>
                    </a:lnTo>
                    <a:close/>
                    <a:moveTo>
                      <a:pt x="27" y="80"/>
                    </a:moveTo>
                    <a:lnTo>
                      <a:pt x="120" y="80"/>
                    </a:lnTo>
                    <a:lnTo>
                      <a:pt x="120" y="107"/>
                    </a:lnTo>
                    <a:cubicBezTo>
                      <a:pt x="120" y="114"/>
                      <a:pt x="123" y="121"/>
                      <a:pt x="128" y="126"/>
                    </a:cubicBezTo>
                    <a:cubicBezTo>
                      <a:pt x="133" y="131"/>
                      <a:pt x="140" y="134"/>
                      <a:pt x="147" y="134"/>
                    </a:cubicBezTo>
                    <a:lnTo>
                      <a:pt x="173" y="134"/>
                    </a:lnTo>
                    <a:cubicBezTo>
                      <a:pt x="180" y="134"/>
                      <a:pt x="187" y="131"/>
                      <a:pt x="192" y="126"/>
                    </a:cubicBezTo>
                    <a:cubicBezTo>
                      <a:pt x="197" y="121"/>
                      <a:pt x="200" y="114"/>
                      <a:pt x="200" y="107"/>
                    </a:cubicBezTo>
                    <a:lnTo>
                      <a:pt x="200" y="80"/>
                    </a:lnTo>
                    <a:lnTo>
                      <a:pt x="467" y="80"/>
                    </a:lnTo>
                    <a:lnTo>
                      <a:pt x="467" y="107"/>
                    </a:lnTo>
                    <a:cubicBezTo>
                      <a:pt x="467" y="114"/>
                      <a:pt x="469" y="121"/>
                      <a:pt x="474" y="126"/>
                    </a:cubicBezTo>
                    <a:cubicBezTo>
                      <a:pt x="479" y="131"/>
                      <a:pt x="486" y="134"/>
                      <a:pt x="493" y="134"/>
                    </a:cubicBezTo>
                    <a:lnTo>
                      <a:pt x="520" y="134"/>
                    </a:lnTo>
                    <a:cubicBezTo>
                      <a:pt x="527" y="134"/>
                      <a:pt x="534" y="131"/>
                      <a:pt x="539" y="126"/>
                    </a:cubicBezTo>
                    <a:cubicBezTo>
                      <a:pt x="544" y="121"/>
                      <a:pt x="547" y="114"/>
                      <a:pt x="547" y="107"/>
                    </a:cubicBezTo>
                    <a:lnTo>
                      <a:pt x="547" y="80"/>
                    </a:lnTo>
                    <a:lnTo>
                      <a:pt x="640" y="80"/>
                    </a:lnTo>
                    <a:lnTo>
                      <a:pt x="640" y="187"/>
                    </a:lnTo>
                    <a:lnTo>
                      <a:pt x="27" y="187"/>
                    </a:lnTo>
                    <a:lnTo>
                      <a:pt x="27" y="80"/>
                    </a:lnTo>
                    <a:close/>
                    <a:moveTo>
                      <a:pt x="27" y="214"/>
                    </a:moveTo>
                    <a:lnTo>
                      <a:pt x="640" y="214"/>
                    </a:lnTo>
                    <a:lnTo>
                      <a:pt x="640" y="640"/>
                    </a:lnTo>
                    <a:lnTo>
                      <a:pt x="27" y="640"/>
                    </a:lnTo>
                    <a:lnTo>
                      <a:pt x="27" y="214"/>
                    </a:lnTo>
                    <a:close/>
                    <a:moveTo>
                      <a:pt x="93" y="280"/>
                    </a:moveTo>
                    <a:cubicBezTo>
                      <a:pt x="86" y="280"/>
                      <a:pt x="80" y="286"/>
                      <a:pt x="80" y="294"/>
                    </a:cubicBezTo>
                    <a:lnTo>
                      <a:pt x="80" y="574"/>
                    </a:lnTo>
                    <a:cubicBezTo>
                      <a:pt x="80" y="581"/>
                      <a:pt x="86" y="587"/>
                      <a:pt x="93" y="587"/>
                    </a:cubicBezTo>
                    <a:lnTo>
                      <a:pt x="400" y="587"/>
                    </a:lnTo>
                    <a:lnTo>
                      <a:pt x="573" y="587"/>
                    </a:lnTo>
                    <a:cubicBezTo>
                      <a:pt x="581" y="587"/>
                      <a:pt x="587" y="581"/>
                      <a:pt x="587" y="574"/>
                    </a:cubicBezTo>
                    <a:lnTo>
                      <a:pt x="587" y="294"/>
                    </a:lnTo>
                    <a:cubicBezTo>
                      <a:pt x="587" y="286"/>
                      <a:pt x="581" y="280"/>
                      <a:pt x="573" y="280"/>
                    </a:cubicBezTo>
                    <a:lnTo>
                      <a:pt x="93" y="280"/>
                    </a:lnTo>
                    <a:close/>
                    <a:moveTo>
                      <a:pt x="107" y="307"/>
                    </a:moveTo>
                    <a:lnTo>
                      <a:pt x="200" y="307"/>
                    </a:lnTo>
                    <a:lnTo>
                      <a:pt x="200" y="374"/>
                    </a:lnTo>
                    <a:lnTo>
                      <a:pt x="107" y="374"/>
                    </a:lnTo>
                    <a:lnTo>
                      <a:pt x="107" y="307"/>
                    </a:lnTo>
                    <a:close/>
                    <a:moveTo>
                      <a:pt x="227" y="307"/>
                    </a:moveTo>
                    <a:lnTo>
                      <a:pt x="320" y="307"/>
                    </a:lnTo>
                    <a:lnTo>
                      <a:pt x="320" y="374"/>
                    </a:lnTo>
                    <a:lnTo>
                      <a:pt x="227" y="374"/>
                    </a:lnTo>
                    <a:lnTo>
                      <a:pt x="227" y="307"/>
                    </a:lnTo>
                    <a:close/>
                    <a:moveTo>
                      <a:pt x="347" y="307"/>
                    </a:moveTo>
                    <a:lnTo>
                      <a:pt x="440" y="307"/>
                    </a:lnTo>
                    <a:lnTo>
                      <a:pt x="440" y="374"/>
                    </a:lnTo>
                    <a:lnTo>
                      <a:pt x="347" y="374"/>
                    </a:lnTo>
                    <a:lnTo>
                      <a:pt x="347" y="307"/>
                    </a:lnTo>
                    <a:close/>
                    <a:moveTo>
                      <a:pt x="467" y="307"/>
                    </a:moveTo>
                    <a:lnTo>
                      <a:pt x="560" y="307"/>
                    </a:lnTo>
                    <a:lnTo>
                      <a:pt x="560" y="374"/>
                    </a:lnTo>
                    <a:lnTo>
                      <a:pt x="467" y="374"/>
                    </a:lnTo>
                    <a:lnTo>
                      <a:pt x="467" y="307"/>
                    </a:lnTo>
                    <a:close/>
                    <a:moveTo>
                      <a:pt x="107" y="400"/>
                    </a:moveTo>
                    <a:lnTo>
                      <a:pt x="200" y="400"/>
                    </a:lnTo>
                    <a:lnTo>
                      <a:pt x="200" y="467"/>
                    </a:lnTo>
                    <a:lnTo>
                      <a:pt x="107" y="467"/>
                    </a:lnTo>
                    <a:lnTo>
                      <a:pt x="107" y="400"/>
                    </a:lnTo>
                    <a:close/>
                    <a:moveTo>
                      <a:pt x="227" y="400"/>
                    </a:moveTo>
                    <a:lnTo>
                      <a:pt x="320" y="400"/>
                    </a:lnTo>
                    <a:lnTo>
                      <a:pt x="320" y="467"/>
                    </a:lnTo>
                    <a:lnTo>
                      <a:pt x="227" y="467"/>
                    </a:lnTo>
                    <a:lnTo>
                      <a:pt x="227" y="400"/>
                    </a:lnTo>
                    <a:close/>
                    <a:moveTo>
                      <a:pt x="347" y="400"/>
                    </a:moveTo>
                    <a:lnTo>
                      <a:pt x="440" y="400"/>
                    </a:lnTo>
                    <a:lnTo>
                      <a:pt x="440" y="467"/>
                    </a:lnTo>
                    <a:lnTo>
                      <a:pt x="347" y="467"/>
                    </a:lnTo>
                    <a:lnTo>
                      <a:pt x="347" y="400"/>
                    </a:lnTo>
                    <a:close/>
                    <a:moveTo>
                      <a:pt x="467" y="400"/>
                    </a:moveTo>
                    <a:lnTo>
                      <a:pt x="560" y="400"/>
                    </a:lnTo>
                    <a:lnTo>
                      <a:pt x="560" y="467"/>
                    </a:lnTo>
                    <a:lnTo>
                      <a:pt x="467" y="467"/>
                    </a:lnTo>
                    <a:lnTo>
                      <a:pt x="467" y="400"/>
                    </a:lnTo>
                    <a:close/>
                    <a:moveTo>
                      <a:pt x="107" y="494"/>
                    </a:moveTo>
                    <a:lnTo>
                      <a:pt x="200" y="494"/>
                    </a:lnTo>
                    <a:lnTo>
                      <a:pt x="200" y="560"/>
                    </a:lnTo>
                    <a:lnTo>
                      <a:pt x="107" y="560"/>
                    </a:lnTo>
                    <a:lnTo>
                      <a:pt x="107" y="494"/>
                    </a:lnTo>
                    <a:close/>
                    <a:moveTo>
                      <a:pt x="227" y="494"/>
                    </a:moveTo>
                    <a:lnTo>
                      <a:pt x="320" y="494"/>
                    </a:lnTo>
                    <a:lnTo>
                      <a:pt x="320" y="560"/>
                    </a:lnTo>
                    <a:lnTo>
                      <a:pt x="227" y="560"/>
                    </a:lnTo>
                    <a:lnTo>
                      <a:pt x="227" y="494"/>
                    </a:lnTo>
                    <a:close/>
                    <a:moveTo>
                      <a:pt x="347" y="494"/>
                    </a:moveTo>
                    <a:lnTo>
                      <a:pt x="440" y="494"/>
                    </a:lnTo>
                    <a:lnTo>
                      <a:pt x="440" y="560"/>
                    </a:lnTo>
                    <a:lnTo>
                      <a:pt x="400" y="560"/>
                    </a:lnTo>
                    <a:lnTo>
                      <a:pt x="347" y="560"/>
                    </a:lnTo>
                    <a:lnTo>
                      <a:pt x="347" y="494"/>
                    </a:lnTo>
                    <a:close/>
                    <a:moveTo>
                      <a:pt x="467" y="494"/>
                    </a:moveTo>
                    <a:lnTo>
                      <a:pt x="560" y="494"/>
                    </a:lnTo>
                    <a:lnTo>
                      <a:pt x="560" y="560"/>
                    </a:lnTo>
                    <a:lnTo>
                      <a:pt x="467" y="560"/>
                    </a:lnTo>
                    <a:lnTo>
                      <a:pt x="467" y="494"/>
                    </a:lnTo>
                    <a:close/>
                  </a:path>
                </a:pathLst>
              </a:custGeom>
              <a:solidFill>
                <a:srgbClr val="5F5F5F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sz="900"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p:grpSp>
        <p:sp>
          <p:nvSpPr>
            <p:cNvPr id="488" name="사각형: 둥근 모서리 296">
              <a:extLst>
                <a:ext uri="{FF2B5EF4-FFF2-40B4-BE49-F238E27FC236}">
                  <a16:creationId xmlns="" xmlns:a16="http://schemas.microsoft.com/office/drawing/2014/main" id="{AF3A2839-D952-4BD4-BE52-1953FF219D20}"/>
                </a:ext>
              </a:extLst>
            </p:cNvPr>
            <p:cNvSpPr/>
            <p:nvPr/>
          </p:nvSpPr>
          <p:spPr bwMode="auto">
            <a:xfrm>
              <a:off x="6621191" y="3787424"/>
              <a:ext cx="216000" cy="180000"/>
            </a:xfrm>
            <a:prstGeom prst="roundRect">
              <a:avLst/>
            </a:prstGeom>
            <a:solidFill>
              <a:schemeClr val="tx1">
                <a:lumMod val="50000"/>
                <a:lumOff val="50000"/>
              </a:schemeClr>
            </a:solidFill>
            <a:ln w="3175" cap="flat" cmpd="sng" algn="ctr">
              <a:solidFill>
                <a:schemeClr val="bg1">
                  <a:lumMod val="7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12700" dist="12700" dir="2700000" algn="tl" rotWithShape="0">
                <a:schemeClr val="tx1">
                  <a:lumMod val="75000"/>
                  <a:lumOff val="25000"/>
                  <a:alpha val="30000"/>
                </a:schemeClr>
              </a:outerShdw>
            </a:effectLst>
          </p:spPr>
          <p:txBody>
  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14400" fontAlgn="base" latinLnBrk="0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ko-KR" sz="700" kern="0">
                  <a:solidFill>
                    <a:schemeClr val="bg1"/>
                  </a:solidFill>
                  <a:latin typeface="+mn-ea"/>
                </a:rPr>
                <a:t>Ⅹ</a:t>
              </a:r>
              <a:endParaRPr kumimoji="1" lang="ko-KR" altLang="en-US" sz="700" kern="0" dirty="0">
                <a:solidFill>
                  <a:schemeClr val="bg1"/>
                </a:solidFill>
                <a:latin typeface="+mn-ea"/>
              </a:endParaRPr>
            </a:p>
          </p:txBody>
        </p:sp>
      </p:grpSp>
      <p:sp>
        <p:nvSpPr>
          <p:cNvPr id="594" name="직사각형 593">
            <a:extLst>
              <a:ext uri="{FF2B5EF4-FFF2-40B4-BE49-F238E27FC236}">
                <a16:creationId xmlns="" xmlns:a16="http://schemas.microsoft.com/office/drawing/2014/main" id="{C3CBC899-E192-4597-B3EF-23483E494D33}"/>
              </a:ext>
            </a:extLst>
          </p:cNvPr>
          <p:cNvSpPr/>
          <p:nvPr/>
        </p:nvSpPr>
        <p:spPr>
          <a:xfrm>
            <a:off x="1367906" y="4311870"/>
            <a:ext cx="900000" cy="288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36000" rIns="108000" bIns="36000" rtlCol="0" anchor="ctr"/>
          <a:lstStyle/>
          <a:p>
            <a:r>
              <a:rPr lang="ko-KR" altLang="en-US" sz="7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관리대상</a:t>
            </a:r>
          </a:p>
        </p:txBody>
      </p:sp>
      <p:sp>
        <p:nvSpPr>
          <p:cNvPr id="547" name="직사각형 546">
            <a:extLst>
              <a:ext uri="{FF2B5EF4-FFF2-40B4-BE49-F238E27FC236}">
                <a16:creationId xmlns="" xmlns:a16="http://schemas.microsoft.com/office/drawing/2014/main" id="{C3CBC899-E192-4597-B3EF-23483E494D33}"/>
              </a:ext>
            </a:extLst>
          </p:cNvPr>
          <p:cNvSpPr/>
          <p:nvPr/>
        </p:nvSpPr>
        <p:spPr>
          <a:xfrm>
            <a:off x="5363078" y="4311870"/>
            <a:ext cx="900000" cy="288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36000" rIns="108000" bIns="36000" rtlCol="0" anchor="ctr"/>
          <a:lstStyle/>
          <a:p>
            <a:r>
              <a:rPr lang="ko-KR" altLang="en-US" sz="7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브랜드몰구분</a:t>
            </a:r>
            <a:endParaRPr lang="ko-KR" altLang="en-US" sz="7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48" name="직사각형 547">
            <a:extLst>
              <a:ext uri="{FF2B5EF4-FFF2-40B4-BE49-F238E27FC236}">
                <a16:creationId xmlns="" xmlns:a16="http://schemas.microsoft.com/office/drawing/2014/main" id="{C8E8B8B5-F2A9-4F2D-8F41-E83BE71E8F5A}"/>
              </a:ext>
            </a:extLst>
          </p:cNvPr>
          <p:cNvSpPr/>
          <p:nvPr/>
        </p:nvSpPr>
        <p:spPr>
          <a:xfrm>
            <a:off x="6261627" y="4311870"/>
            <a:ext cx="1080000" cy="288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36000" rIns="108000" bIns="36000" rtlCol="0" anchor="ctr"/>
          <a:lstStyle/>
          <a:p>
            <a:endParaRPr lang="ko-KR" altLang="en-US" sz="80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549" name="그룹 548">
            <a:extLst>
              <a:ext uri="{FF2B5EF4-FFF2-40B4-BE49-F238E27FC236}">
                <a16:creationId xmlns="" xmlns:a16="http://schemas.microsoft.com/office/drawing/2014/main" id="{CE03C03E-4F04-4133-AEEC-AC03458859A7}"/>
              </a:ext>
            </a:extLst>
          </p:cNvPr>
          <p:cNvGrpSpPr/>
          <p:nvPr/>
        </p:nvGrpSpPr>
        <p:grpSpPr>
          <a:xfrm>
            <a:off x="6335078" y="4365870"/>
            <a:ext cx="936000" cy="180000"/>
            <a:chOff x="2554666" y="3787347"/>
            <a:chExt cx="936000" cy="180000"/>
          </a:xfrm>
        </p:grpSpPr>
        <p:sp>
          <p:nvSpPr>
            <p:cNvPr id="582" name="모서리가 둥근 직사각형 139">
              <a:extLst>
                <a:ext uri="{FF2B5EF4-FFF2-40B4-BE49-F238E27FC236}">
                  <a16:creationId xmlns="" xmlns:a16="http://schemas.microsoft.com/office/drawing/2014/main" id="{D20B2316-7950-45D5-A329-DFCDAA416345}"/>
                </a:ext>
              </a:extLst>
            </p:cNvPr>
            <p:cNvSpPr/>
            <p:nvPr/>
          </p:nvSpPr>
          <p:spPr bwMode="auto">
            <a:xfrm>
              <a:off x="2554666" y="3787347"/>
              <a:ext cx="936000" cy="180000"/>
            </a:xfrm>
            <a:prstGeom prst="roundRect">
              <a:avLst/>
            </a:prstGeom>
            <a:solidFill>
              <a:schemeClr val="bg1"/>
            </a:solidFill>
            <a:ln w="3175" cap="flat" cmpd="sng" algn="ctr">
              <a:solidFill>
                <a:schemeClr val="bg1">
                  <a:lumMod val="7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none" lIns="108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fontAlgn="base" latinLnBrk="0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ko-KR" sz="700" kern="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[</a:t>
              </a:r>
              <a:r>
                <a:rPr kumimoji="1" lang="ko-KR" altLang="en-US" sz="700" kern="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전체</a:t>
              </a:r>
              <a:r>
                <a:rPr kumimoji="1" lang="en-US" altLang="ko-KR" sz="700" kern="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]</a:t>
              </a:r>
              <a:endParaRPr kumimoji="1" lang="ko-KR" altLang="en-US" sz="700" kern="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endParaRPr>
            </a:p>
          </p:txBody>
        </p:sp>
        <p:sp>
          <p:nvSpPr>
            <p:cNvPr id="593" name="모서리가 둥근 직사각형 141">
              <a:extLst>
                <a:ext uri="{FF2B5EF4-FFF2-40B4-BE49-F238E27FC236}">
                  <a16:creationId xmlns="" xmlns:a16="http://schemas.microsoft.com/office/drawing/2014/main" id="{9D3BF834-DC28-4D1A-B5CB-ED60EA5C7751}"/>
                </a:ext>
              </a:extLst>
            </p:cNvPr>
            <p:cNvSpPr/>
            <p:nvPr/>
          </p:nvSpPr>
          <p:spPr bwMode="auto">
            <a:xfrm>
              <a:off x="3310666" y="3787347"/>
              <a:ext cx="180000" cy="180000"/>
            </a:xfrm>
            <a:prstGeom prst="roundRect">
              <a:avLst/>
            </a:prstGeom>
            <a:solidFill>
              <a:schemeClr val="bg1"/>
            </a:solidFill>
            <a:ln w="3175" cap="flat" cmpd="sng" algn="ctr">
              <a:solidFill>
                <a:schemeClr val="bg1">
                  <a:lumMod val="7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none" lIns="36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fontAlgn="base" latinLnBrk="0">
                <a:spcBef>
                  <a:spcPct val="0"/>
                </a:spcBef>
                <a:spcAft>
                  <a:spcPct val="0"/>
                </a:spcAft>
              </a:pPr>
              <a:r>
                <a:rPr kumimoji="1" lang="ko-KR" altLang="en-US" sz="700" kern="0" dirty="0">
                  <a:solidFill>
                    <a:srgbClr val="000000"/>
                  </a:solidFill>
                  <a:latin typeface="+mn-ea"/>
                </a:rPr>
                <a:t>▼</a:t>
              </a:r>
            </a:p>
          </p:txBody>
        </p:sp>
      </p:grpSp>
      <p:sp>
        <p:nvSpPr>
          <p:cNvPr id="550" name="직사각형 549">
            <a:extLst>
              <a:ext uri="{FF2B5EF4-FFF2-40B4-BE49-F238E27FC236}">
                <a16:creationId xmlns="" xmlns:a16="http://schemas.microsoft.com/office/drawing/2014/main" id="{C3CBC899-E192-4597-B3EF-23483E494D33}"/>
              </a:ext>
            </a:extLst>
          </p:cNvPr>
          <p:cNvSpPr/>
          <p:nvPr/>
        </p:nvSpPr>
        <p:spPr>
          <a:xfrm>
            <a:off x="7342594" y="4311870"/>
            <a:ext cx="900000" cy="288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36000" rIns="36000" bIns="36000" rtlCol="0" anchor="ctr"/>
          <a:lstStyle/>
          <a:p>
            <a:r>
              <a:rPr lang="ko-KR" altLang="en-US" sz="7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선물포장 신청여부</a:t>
            </a:r>
            <a:endParaRPr lang="ko-KR" altLang="en-US" sz="7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51" name="직사각형 550">
            <a:extLst>
              <a:ext uri="{FF2B5EF4-FFF2-40B4-BE49-F238E27FC236}">
                <a16:creationId xmlns="" xmlns:a16="http://schemas.microsoft.com/office/drawing/2014/main" id="{C8E8B8B5-F2A9-4F2D-8F41-E83BE71E8F5A}"/>
              </a:ext>
            </a:extLst>
          </p:cNvPr>
          <p:cNvSpPr/>
          <p:nvPr/>
        </p:nvSpPr>
        <p:spPr>
          <a:xfrm>
            <a:off x="8242457" y="4311870"/>
            <a:ext cx="1116000" cy="288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36000" rIns="108000" bIns="36000" rtlCol="0" anchor="ctr"/>
          <a:lstStyle/>
          <a:p>
            <a:endParaRPr lang="ko-KR" altLang="en-US" sz="80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552" name="그룹 551">
            <a:extLst>
              <a:ext uri="{FF2B5EF4-FFF2-40B4-BE49-F238E27FC236}">
                <a16:creationId xmlns="" xmlns:a16="http://schemas.microsoft.com/office/drawing/2014/main" id="{CE03C03E-4F04-4133-AEEC-AC03458859A7}"/>
              </a:ext>
            </a:extLst>
          </p:cNvPr>
          <p:cNvGrpSpPr/>
          <p:nvPr/>
        </p:nvGrpSpPr>
        <p:grpSpPr>
          <a:xfrm>
            <a:off x="8314594" y="4365870"/>
            <a:ext cx="936000" cy="180000"/>
            <a:chOff x="2554666" y="3787347"/>
            <a:chExt cx="936000" cy="180000"/>
          </a:xfrm>
        </p:grpSpPr>
        <p:sp>
          <p:nvSpPr>
            <p:cNvPr id="580" name="모서리가 둥근 직사각형 139">
              <a:extLst>
                <a:ext uri="{FF2B5EF4-FFF2-40B4-BE49-F238E27FC236}">
                  <a16:creationId xmlns="" xmlns:a16="http://schemas.microsoft.com/office/drawing/2014/main" id="{D20B2316-7950-45D5-A329-DFCDAA416345}"/>
                </a:ext>
              </a:extLst>
            </p:cNvPr>
            <p:cNvSpPr/>
            <p:nvPr/>
          </p:nvSpPr>
          <p:spPr bwMode="auto">
            <a:xfrm>
              <a:off x="2554666" y="3787347"/>
              <a:ext cx="936000" cy="180000"/>
            </a:xfrm>
            <a:prstGeom prst="roundRect">
              <a:avLst/>
            </a:prstGeom>
            <a:solidFill>
              <a:schemeClr val="bg1"/>
            </a:solidFill>
            <a:ln w="3175" cap="flat" cmpd="sng" algn="ctr">
              <a:solidFill>
                <a:schemeClr val="bg1">
                  <a:lumMod val="7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none" lIns="108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fontAlgn="base" latinLnBrk="0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ko-KR" sz="700" kern="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[</a:t>
              </a:r>
              <a:r>
                <a:rPr kumimoji="1" lang="ko-KR" altLang="en-US" sz="700" kern="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전체</a:t>
              </a:r>
              <a:r>
                <a:rPr kumimoji="1" lang="en-US" altLang="ko-KR" sz="700" kern="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]</a:t>
              </a:r>
              <a:endParaRPr kumimoji="1" lang="ko-KR" altLang="en-US" sz="700" kern="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endParaRPr>
            </a:p>
          </p:txBody>
        </p:sp>
        <p:sp>
          <p:nvSpPr>
            <p:cNvPr id="581" name="모서리가 둥근 직사각형 141">
              <a:extLst>
                <a:ext uri="{FF2B5EF4-FFF2-40B4-BE49-F238E27FC236}">
                  <a16:creationId xmlns="" xmlns:a16="http://schemas.microsoft.com/office/drawing/2014/main" id="{9D3BF834-DC28-4D1A-B5CB-ED60EA5C7751}"/>
                </a:ext>
              </a:extLst>
            </p:cNvPr>
            <p:cNvSpPr/>
            <p:nvPr/>
          </p:nvSpPr>
          <p:spPr bwMode="auto">
            <a:xfrm>
              <a:off x="3310666" y="3787347"/>
              <a:ext cx="180000" cy="180000"/>
            </a:xfrm>
            <a:prstGeom prst="roundRect">
              <a:avLst/>
            </a:prstGeom>
            <a:solidFill>
              <a:schemeClr val="bg1"/>
            </a:solidFill>
            <a:ln w="3175" cap="flat" cmpd="sng" algn="ctr">
              <a:solidFill>
                <a:schemeClr val="bg1">
                  <a:lumMod val="7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none" lIns="36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fontAlgn="base" latinLnBrk="0">
                <a:spcBef>
                  <a:spcPct val="0"/>
                </a:spcBef>
                <a:spcAft>
                  <a:spcPct val="0"/>
                </a:spcAft>
              </a:pPr>
              <a:r>
                <a:rPr kumimoji="1" lang="ko-KR" altLang="en-US" sz="700" kern="0" dirty="0">
                  <a:solidFill>
                    <a:srgbClr val="000000"/>
                  </a:solidFill>
                  <a:latin typeface="+mn-ea"/>
                </a:rPr>
                <a:t>▼</a:t>
              </a:r>
            </a:p>
          </p:txBody>
        </p:sp>
      </p:grpSp>
      <p:sp>
        <p:nvSpPr>
          <p:cNvPr id="245" name="직사각형 244">
            <a:extLst>
              <a:ext uri="{FF2B5EF4-FFF2-40B4-BE49-F238E27FC236}">
                <a16:creationId xmlns="" xmlns:a16="http://schemas.microsoft.com/office/drawing/2014/main" id="{C8E8B8B5-F2A9-4F2D-8F41-E83BE71E8F5A}"/>
              </a:ext>
            </a:extLst>
          </p:cNvPr>
          <p:cNvSpPr/>
          <p:nvPr/>
        </p:nvSpPr>
        <p:spPr>
          <a:xfrm>
            <a:off x="2266455" y="4311870"/>
            <a:ext cx="1080000" cy="288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36000" rIns="108000" bIns="36000" rtlCol="0" anchor="ctr"/>
          <a:lstStyle/>
          <a:p>
            <a:endParaRPr lang="ko-KR" altLang="en-US" sz="80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246" name="그룹 245">
            <a:extLst>
              <a:ext uri="{FF2B5EF4-FFF2-40B4-BE49-F238E27FC236}">
                <a16:creationId xmlns="" xmlns:a16="http://schemas.microsoft.com/office/drawing/2014/main" id="{CE03C03E-4F04-4133-AEEC-AC03458859A7}"/>
              </a:ext>
            </a:extLst>
          </p:cNvPr>
          <p:cNvGrpSpPr/>
          <p:nvPr/>
        </p:nvGrpSpPr>
        <p:grpSpPr>
          <a:xfrm>
            <a:off x="2339906" y="4365870"/>
            <a:ext cx="936000" cy="180000"/>
            <a:chOff x="2554666" y="3787347"/>
            <a:chExt cx="936000" cy="180000"/>
          </a:xfrm>
        </p:grpSpPr>
        <p:sp>
          <p:nvSpPr>
            <p:cNvPr id="252" name="모서리가 둥근 직사각형 139">
              <a:extLst>
                <a:ext uri="{FF2B5EF4-FFF2-40B4-BE49-F238E27FC236}">
                  <a16:creationId xmlns="" xmlns:a16="http://schemas.microsoft.com/office/drawing/2014/main" id="{D20B2316-7950-45D5-A329-DFCDAA416345}"/>
                </a:ext>
              </a:extLst>
            </p:cNvPr>
            <p:cNvSpPr/>
            <p:nvPr/>
          </p:nvSpPr>
          <p:spPr bwMode="auto">
            <a:xfrm>
              <a:off x="2554666" y="3787347"/>
              <a:ext cx="936000" cy="180000"/>
            </a:xfrm>
            <a:prstGeom prst="roundRect">
              <a:avLst/>
            </a:prstGeom>
            <a:solidFill>
              <a:schemeClr val="bg1"/>
            </a:solidFill>
            <a:ln w="3175" cap="flat" cmpd="sng" algn="ctr">
              <a:solidFill>
                <a:schemeClr val="bg1">
                  <a:lumMod val="7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none" lIns="108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fontAlgn="base" latinLnBrk="0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ko-KR" sz="700" kern="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[</a:t>
              </a:r>
              <a:r>
                <a:rPr kumimoji="1" lang="ko-KR" altLang="en-US" sz="700" kern="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전체</a:t>
              </a:r>
              <a:r>
                <a:rPr kumimoji="1" lang="en-US" altLang="ko-KR" sz="700" kern="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]</a:t>
              </a:r>
              <a:endParaRPr kumimoji="1" lang="ko-KR" altLang="en-US" sz="700" kern="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endParaRPr>
            </a:p>
          </p:txBody>
        </p:sp>
        <p:sp>
          <p:nvSpPr>
            <p:cNvPr id="253" name="모서리가 둥근 직사각형 141">
              <a:extLst>
                <a:ext uri="{FF2B5EF4-FFF2-40B4-BE49-F238E27FC236}">
                  <a16:creationId xmlns="" xmlns:a16="http://schemas.microsoft.com/office/drawing/2014/main" id="{9D3BF834-DC28-4D1A-B5CB-ED60EA5C7751}"/>
                </a:ext>
              </a:extLst>
            </p:cNvPr>
            <p:cNvSpPr/>
            <p:nvPr/>
          </p:nvSpPr>
          <p:spPr bwMode="auto">
            <a:xfrm>
              <a:off x="3310666" y="3787347"/>
              <a:ext cx="180000" cy="180000"/>
            </a:xfrm>
            <a:prstGeom prst="roundRect">
              <a:avLst/>
            </a:prstGeom>
            <a:solidFill>
              <a:schemeClr val="bg1"/>
            </a:solidFill>
            <a:ln w="3175" cap="flat" cmpd="sng" algn="ctr">
              <a:solidFill>
                <a:schemeClr val="bg1">
                  <a:lumMod val="7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none" lIns="36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fontAlgn="base" latinLnBrk="0">
                <a:spcBef>
                  <a:spcPct val="0"/>
                </a:spcBef>
                <a:spcAft>
                  <a:spcPct val="0"/>
                </a:spcAft>
              </a:pPr>
              <a:r>
                <a:rPr kumimoji="1" lang="ko-KR" altLang="en-US" sz="700" kern="0" dirty="0">
                  <a:solidFill>
                    <a:srgbClr val="000000"/>
                  </a:solidFill>
                  <a:latin typeface="+mn-ea"/>
                </a:rPr>
                <a:t>▼</a:t>
              </a:r>
            </a:p>
          </p:txBody>
        </p:sp>
      </p:grpSp>
      <p:sp>
        <p:nvSpPr>
          <p:cNvPr id="247" name="직사각형 246">
            <a:extLst>
              <a:ext uri="{FF2B5EF4-FFF2-40B4-BE49-F238E27FC236}">
                <a16:creationId xmlns="" xmlns:a16="http://schemas.microsoft.com/office/drawing/2014/main" id="{C3CBC899-E192-4597-B3EF-23483E494D33}"/>
              </a:ext>
            </a:extLst>
          </p:cNvPr>
          <p:cNvSpPr/>
          <p:nvPr/>
        </p:nvSpPr>
        <p:spPr>
          <a:xfrm>
            <a:off x="3347422" y="4311870"/>
            <a:ext cx="900000" cy="288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36000" rIns="108000" bIns="36000" rtlCol="0" anchor="ctr"/>
          <a:lstStyle/>
          <a:p>
            <a:r>
              <a:rPr lang="en-US" altLang="ko-KR" sz="7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LFpay</a:t>
            </a:r>
            <a:r>
              <a:rPr lang="ko-KR" altLang="en-US" sz="7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여부</a:t>
            </a:r>
            <a:endParaRPr lang="ko-KR" altLang="en-US" sz="7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48" name="직사각형 247">
            <a:extLst>
              <a:ext uri="{FF2B5EF4-FFF2-40B4-BE49-F238E27FC236}">
                <a16:creationId xmlns="" xmlns:a16="http://schemas.microsoft.com/office/drawing/2014/main" id="{C8E8B8B5-F2A9-4F2D-8F41-E83BE71E8F5A}"/>
              </a:ext>
            </a:extLst>
          </p:cNvPr>
          <p:cNvSpPr/>
          <p:nvPr/>
        </p:nvSpPr>
        <p:spPr>
          <a:xfrm>
            <a:off x="4247285" y="4311870"/>
            <a:ext cx="1116000" cy="288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36000" rIns="108000" bIns="36000" rtlCol="0" anchor="ctr"/>
          <a:lstStyle/>
          <a:p>
            <a:endParaRPr lang="ko-KR" altLang="en-US" sz="80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249" name="그룹 248">
            <a:extLst>
              <a:ext uri="{FF2B5EF4-FFF2-40B4-BE49-F238E27FC236}">
                <a16:creationId xmlns="" xmlns:a16="http://schemas.microsoft.com/office/drawing/2014/main" id="{CE03C03E-4F04-4133-AEEC-AC03458859A7}"/>
              </a:ext>
            </a:extLst>
          </p:cNvPr>
          <p:cNvGrpSpPr/>
          <p:nvPr/>
        </p:nvGrpSpPr>
        <p:grpSpPr>
          <a:xfrm>
            <a:off x="4319422" y="4365870"/>
            <a:ext cx="936000" cy="180000"/>
            <a:chOff x="2554666" y="3787347"/>
            <a:chExt cx="936000" cy="180000"/>
          </a:xfrm>
        </p:grpSpPr>
        <p:sp>
          <p:nvSpPr>
            <p:cNvPr id="250" name="모서리가 둥근 직사각형 139">
              <a:extLst>
                <a:ext uri="{FF2B5EF4-FFF2-40B4-BE49-F238E27FC236}">
                  <a16:creationId xmlns="" xmlns:a16="http://schemas.microsoft.com/office/drawing/2014/main" id="{D20B2316-7950-45D5-A329-DFCDAA416345}"/>
                </a:ext>
              </a:extLst>
            </p:cNvPr>
            <p:cNvSpPr/>
            <p:nvPr/>
          </p:nvSpPr>
          <p:spPr bwMode="auto">
            <a:xfrm>
              <a:off x="2554666" y="3787347"/>
              <a:ext cx="936000" cy="180000"/>
            </a:xfrm>
            <a:prstGeom prst="roundRect">
              <a:avLst/>
            </a:prstGeom>
            <a:solidFill>
              <a:schemeClr val="bg1"/>
            </a:solidFill>
            <a:ln w="3175" cap="flat" cmpd="sng" algn="ctr">
              <a:solidFill>
                <a:schemeClr val="bg1">
                  <a:lumMod val="7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none" lIns="108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fontAlgn="base" latinLnBrk="0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ko-KR" sz="700" kern="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[</a:t>
              </a:r>
              <a:r>
                <a:rPr kumimoji="1" lang="ko-KR" altLang="en-US" sz="700" kern="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전체</a:t>
              </a:r>
              <a:r>
                <a:rPr kumimoji="1" lang="en-US" altLang="ko-KR" sz="700" kern="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]</a:t>
              </a:r>
              <a:endParaRPr kumimoji="1" lang="ko-KR" altLang="en-US" sz="700" kern="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endParaRPr>
            </a:p>
          </p:txBody>
        </p:sp>
        <p:sp>
          <p:nvSpPr>
            <p:cNvPr id="251" name="모서리가 둥근 직사각형 141">
              <a:extLst>
                <a:ext uri="{FF2B5EF4-FFF2-40B4-BE49-F238E27FC236}">
                  <a16:creationId xmlns="" xmlns:a16="http://schemas.microsoft.com/office/drawing/2014/main" id="{9D3BF834-DC28-4D1A-B5CB-ED60EA5C7751}"/>
                </a:ext>
              </a:extLst>
            </p:cNvPr>
            <p:cNvSpPr/>
            <p:nvPr/>
          </p:nvSpPr>
          <p:spPr bwMode="auto">
            <a:xfrm>
              <a:off x="3310666" y="3787347"/>
              <a:ext cx="180000" cy="180000"/>
            </a:xfrm>
            <a:prstGeom prst="roundRect">
              <a:avLst/>
            </a:prstGeom>
            <a:solidFill>
              <a:schemeClr val="bg1"/>
            </a:solidFill>
            <a:ln w="3175" cap="flat" cmpd="sng" algn="ctr">
              <a:solidFill>
                <a:schemeClr val="bg1">
                  <a:lumMod val="7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none" lIns="36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fontAlgn="base" latinLnBrk="0">
                <a:spcBef>
                  <a:spcPct val="0"/>
                </a:spcBef>
                <a:spcAft>
                  <a:spcPct val="0"/>
                </a:spcAft>
              </a:pPr>
              <a:r>
                <a:rPr kumimoji="1" lang="ko-KR" altLang="en-US" sz="700" kern="0" dirty="0">
                  <a:solidFill>
                    <a:srgbClr val="000000"/>
                  </a:solidFill>
                  <a:latin typeface="+mn-ea"/>
                </a:rPr>
                <a:t>▼</a:t>
              </a:r>
            </a:p>
          </p:txBody>
        </p:sp>
      </p:grpSp>
      <p:sp>
        <p:nvSpPr>
          <p:cNvPr id="254" name="직사각형 253">
            <a:extLst>
              <a:ext uri="{FF2B5EF4-FFF2-40B4-BE49-F238E27FC236}">
                <a16:creationId xmlns="" xmlns:a16="http://schemas.microsoft.com/office/drawing/2014/main" id="{C3CBC899-E192-4597-B3EF-23483E494D33}"/>
              </a:ext>
            </a:extLst>
          </p:cNvPr>
          <p:cNvSpPr/>
          <p:nvPr/>
        </p:nvSpPr>
        <p:spPr>
          <a:xfrm>
            <a:off x="1367906" y="4599509"/>
            <a:ext cx="900000" cy="288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36000" rIns="108000" bIns="36000" rtlCol="0" anchor="ctr"/>
          <a:lstStyle/>
          <a:p>
            <a:r>
              <a:rPr lang="ko-KR" altLang="en-US" sz="7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배송실적자동화</a:t>
            </a:r>
            <a:endParaRPr lang="ko-KR" altLang="en-US" sz="7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55" name="직사각형 254">
            <a:extLst>
              <a:ext uri="{FF2B5EF4-FFF2-40B4-BE49-F238E27FC236}">
                <a16:creationId xmlns="" xmlns:a16="http://schemas.microsoft.com/office/drawing/2014/main" id="{C3CBC899-E192-4597-B3EF-23483E494D33}"/>
              </a:ext>
            </a:extLst>
          </p:cNvPr>
          <p:cNvSpPr/>
          <p:nvPr/>
        </p:nvSpPr>
        <p:spPr>
          <a:xfrm>
            <a:off x="5363078" y="4599509"/>
            <a:ext cx="900000" cy="288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36000" rIns="108000" bIns="36000" rtlCol="0" anchor="ctr"/>
          <a:lstStyle/>
          <a:p>
            <a:r>
              <a:rPr lang="ko-KR" altLang="en-US" sz="7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도착리드타임</a:t>
            </a:r>
            <a:endParaRPr lang="ko-KR" altLang="en-US" sz="7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56" name="직사각형 255">
            <a:extLst>
              <a:ext uri="{FF2B5EF4-FFF2-40B4-BE49-F238E27FC236}">
                <a16:creationId xmlns="" xmlns:a16="http://schemas.microsoft.com/office/drawing/2014/main" id="{C8E8B8B5-F2A9-4F2D-8F41-E83BE71E8F5A}"/>
              </a:ext>
            </a:extLst>
          </p:cNvPr>
          <p:cNvSpPr/>
          <p:nvPr/>
        </p:nvSpPr>
        <p:spPr>
          <a:xfrm>
            <a:off x="6261834" y="4599509"/>
            <a:ext cx="3096623" cy="288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36000" rIns="108000" bIns="36000" rtlCol="0" anchor="ctr"/>
          <a:lstStyle/>
          <a:p>
            <a:endParaRPr lang="ko-KR" altLang="en-US" sz="80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57" name="직사각형 256">
            <a:extLst>
              <a:ext uri="{FF2B5EF4-FFF2-40B4-BE49-F238E27FC236}">
                <a16:creationId xmlns="" xmlns:a16="http://schemas.microsoft.com/office/drawing/2014/main" id="{C8E8B8B5-F2A9-4F2D-8F41-E83BE71E8F5A}"/>
              </a:ext>
            </a:extLst>
          </p:cNvPr>
          <p:cNvSpPr/>
          <p:nvPr/>
        </p:nvSpPr>
        <p:spPr>
          <a:xfrm>
            <a:off x="2267769" y="4599509"/>
            <a:ext cx="3094342" cy="288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36000" rIns="108000" bIns="36000" rtlCol="0" anchor="ctr"/>
          <a:lstStyle/>
          <a:p>
            <a:endParaRPr lang="ko-KR" altLang="en-US" sz="80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599" name="직선 연결선 598">
            <a:extLst>
              <a:ext uri="{FF2B5EF4-FFF2-40B4-BE49-F238E27FC236}">
                <a16:creationId xmlns="" xmlns:a16="http://schemas.microsoft.com/office/drawing/2014/main" id="{B5201B55-6C75-4C21-B4D8-E575C02D8E94}"/>
              </a:ext>
            </a:extLst>
          </p:cNvPr>
          <p:cNvCxnSpPr>
            <a:cxnSpLocks/>
          </p:cNvCxnSpPr>
          <p:nvPr/>
        </p:nvCxnSpPr>
        <p:spPr>
          <a:xfrm>
            <a:off x="1366455" y="4887509"/>
            <a:ext cx="7992000" cy="0"/>
          </a:xfrm>
          <a:prstGeom prst="line">
            <a:avLst/>
          </a:prstGeom>
          <a:ln w="63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1" name="모서리가 둥근 직사각형 184">
            <a:extLst>
              <a:ext uri="{FF2B5EF4-FFF2-40B4-BE49-F238E27FC236}">
                <a16:creationId xmlns="" xmlns:a16="http://schemas.microsoft.com/office/drawing/2014/main" id="{7C4181B1-00DE-4B1A-9AF4-36726F2433BA}"/>
              </a:ext>
            </a:extLst>
          </p:cNvPr>
          <p:cNvSpPr/>
          <p:nvPr/>
        </p:nvSpPr>
        <p:spPr bwMode="auto">
          <a:xfrm>
            <a:off x="6336805" y="4653509"/>
            <a:ext cx="720000" cy="180000"/>
          </a:xfrm>
          <a:prstGeom prst="roundRect">
            <a:avLst/>
          </a:prstGeom>
          <a:solidFill>
            <a:srgbClr val="FFFFEF"/>
          </a:solidFill>
          <a:ln w="3175" cap="flat" cmpd="sng" algn="ctr">
            <a:solidFill>
              <a:schemeClr val="bg1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none" lIns="108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defTabSz="914400" fontAlgn="base" latinLnBrk="0">
              <a:spcBef>
                <a:spcPct val="0"/>
              </a:spcBef>
              <a:spcAft>
                <a:spcPct val="0"/>
              </a:spcAft>
            </a:pPr>
            <a:endParaRPr kumimoji="1" lang="ko-KR" altLang="en-US" sz="700" b="0" i="0" u="none" strike="noStrike" kern="0" cap="none" spc="0" normalizeH="0" baseline="0" noProof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73" name="TextBox 272">
            <a:extLst>
              <a:ext uri="{FF2B5EF4-FFF2-40B4-BE49-F238E27FC236}">
                <a16:creationId xmlns="" xmlns:a16="http://schemas.microsoft.com/office/drawing/2014/main" id="{371DEE5A-1B36-43FA-89E6-F3BCF143BE9F}"/>
              </a:ext>
            </a:extLst>
          </p:cNvPr>
          <p:cNvSpPr txBox="1"/>
          <p:nvPr/>
        </p:nvSpPr>
        <p:spPr>
          <a:xfrm>
            <a:off x="7056805" y="4653297"/>
            <a:ext cx="235174" cy="180425"/>
          </a:xfrm>
          <a:prstGeom prst="rect">
            <a:avLst/>
          </a:prstGeom>
          <a:noFill/>
          <a:ln w="317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108000" tIns="36000" rIns="36000" bIns="36000" numCol="1" rtlCol="0" anchor="ctr" anchorCtr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ko-KR" altLang="en-US" sz="70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일</a:t>
            </a:r>
          </a:p>
        </p:txBody>
      </p:sp>
      <p:sp>
        <p:nvSpPr>
          <p:cNvPr id="274" name="TextBox 273">
            <a:extLst>
              <a:ext uri="{FF2B5EF4-FFF2-40B4-BE49-F238E27FC236}">
                <a16:creationId xmlns="" xmlns:a16="http://schemas.microsoft.com/office/drawing/2014/main" id="{BEF44E57-E280-4345-9063-E951A919EA82}"/>
              </a:ext>
            </a:extLst>
          </p:cNvPr>
          <p:cNvSpPr txBox="1"/>
          <p:nvPr/>
        </p:nvSpPr>
        <p:spPr>
          <a:xfrm>
            <a:off x="7293884" y="4653297"/>
            <a:ext cx="135221" cy="180425"/>
          </a:xfrm>
          <a:prstGeom prst="rect">
            <a:avLst/>
          </a:prstGeom>
          <a:solidFill>
            <a:schemeClr val="bg1">
              <a:alpha val="10000"/>
            </a:schemeClr>
          </a:solidFill>
          <a:ln w="317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36000" tIns="36000" rIns="36000" bIns="36000" numCol="1" rtlCol="0" anchor="ctr" anchorCtr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altLang="ko-KR" sz="70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~</a:t>
            </a:r>
            <a:endParaRPr lang="ko-KR" altLang="en-US" sz="70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</p:txBody>
      </p:sp>
      <p:sp>
        <p:nvSpPr>
          <p:cNvPr id="276" name="모서리가 둥근 직사각형 184">
            <a:extLst>
              <a:ext uri="{FF2B5EF4-FFF2-40B4-BE49-F238E27FC236}">
                <a16:creationId xmlns="" xmlns:a16="http://schemas.microsoft.com/office/drawing/2014/main" id="{7C4181B1-00DE-4B1A-9AF4-36726F2433BA}"/>
              </a:ext>
            </a:extLst>
          </p:cNvPr>
          <p:cNvSpPr/>
          <p:nvPr/>
        </p:nvSpPr>
        <p:spPr bwMode="auto">
          <a:xfrm>
            <a:off x="7429105" y="4653509"/>
            <a:ext cx="720000" cy="180000"/>
          </a:xfrm>
          <a:prstGeom prst="roundRect">
            <a:avLst/>
          </a:prstGeom>
          <a:solidFill>
            <a:srgbClr val="FFFFEF"/>
          </a:solidFill>
          <a:ln w="3175" cap="flat" cmpd="sng" algn="ctr">
            <a:solidFill>
              <a:schemeClr val="bg1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none" lIns="108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defTabSz="914400" fontAlgn="base" latinLnBrk="0">
              <a:spcBef>
                <a:spcPct val="0"/>
              </a:spcBef>
              <a:spcAft>
                <a:spcPct val="0"/>
              </a:spcAft>
            </a:pPr>
            <a:endParaRPr kumimoji="1" lang="ko-KR" altLang="en-US" sz="700" b="0" i="0" u="none" strike="noStrike" kern="0" cap="none" spc="0" normalizeH="0" baseline="0" noProof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77" name="TextBox 276">
            <a:extLst>
              <a:ext uri="{FF2B5EF4-FFF2-40B4-BE49-F238E27FC236}">
                <a16:creationId xmlns="" xmlns:a16="http://schemas.microsoft.com/office/drawing/2014/main" id="{371DEE5A-1B36-43FA-89E6-F3BCF143BE9F}"/>
              </a:ext>
            </a:extLst>
          </p:cNvPr>
          <p:cNvSpPr txBox="1"/>
          <p:nvPr/>
        </p:nvSpPr>
        <p:spPr>
          <a:xfrm>
            <a:off x="8149105" y="4653297"/>
            <a:ext cx="235174" cy="180425"/>
          </a:xfrm>
          <a:prstGeom prst="rect">
            <a:avLst/>
          </a:prstGeom>
          <a:noFill/>
          <a:ln w="317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108000" tIns="36000" rIns="36000" bIns="36000" numCol="1" rtlCol="0" anchor="ctr" anchorCtr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ko-KR" altLang="en-US" sz="70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일</a:t>
            </a:r>
          </a:p>
        </p:txBody>
      </p:sp>
      <p:sp>
        <p:nvSpPr>
          <p:cNvPr id="278" name="TextBox 277">
            <a:extLst>
              <a:ext uri="{FF2B5EF4-FFF2-40B4-BE49-F238E27FC236}">
                <a16:creationId xmlns="" xmlns:a16="http://schemas.microsoft.com/office/drawing/2014/main" id="{116334FC-EA39-45F8-9823-C272781057F2}"/>
              </a:ext>
            </a:extLst>
          </p:cNvPr>
          <p:cNvSpPr txBox="1"/>
          <p:nvPr/>
        </p:nvSpPr>
        <p:spPr>
          <a:xfrm>
            <a:off x="1367906" y="5442822"/>
            <a:ext cx="1125409" cy="180425"/>
          </a:xfrm>
          <a:prstGeom prst="rect">
            <a:avLst/>
          </a:prstGeom>
          <a:noFill/>
          <a:ln w="317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108000" tIns="36000" rIns="108000" bIns="36000" numCol="1" rtlCol="0" anchor="ctr" anchorCtr="0" compatLnSpc="1">
            <a:prstTxWarp prst="textNoShape">
              <a:avLst/>
            </a:prstTxWarp>
            <a:spAutoFit/>
          </a:bodyPr>
          <a:lstStyle/>
          <a:p>
            <a:r>
              <a:rPr lang="ko-KR" altLang="en-US" sz="70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주문 목록 </a:t>
            </a:r>
            <a:r>
              <a:rPr lang="en-US" altLang="ko-KR" sz="70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(</a:t>
            </a:r>
            <a:r>
              <a:rPr lang="ko-KR" altLang="en-US" sz="70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총 </a:t>
            </a:r>
            <a:r>
              <a:rPr lang="en-US" altLang="ko-KR" sz="700">
                <a:solidFill>
                  <a:schemeClr val="accent2"/>
                </a:solidFill>
                <a:latin typeface="+mn-ea"/>
              </a:rPr>
              <a:t>1,234</a:t>
            </a:r>
            <a:r>
              <a:rPr lang="ko-KR" altLang="en-US" sz="70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건</a:t>
            </a:r>
            <a:r>
              <a:rPr lang="en-US" altLang="ko-KR" sz="70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)</a:t>
            </a:r>
            <a:endParaRPr lang="ko-KR" altLang="en-US" sz="70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</p:txBody>
      </p:sp>
      <p:grpSp>
        <p:nvGrpSpPr>
          <p:cNvPr id="280" name="그룹 279"/>
          <p:cNvGrpSpPr/>
          <p:nvPr/>
        </p:nvGrpSpPr>
        <p:grpSpPr>
          <a:xfrm>
            <a:off x="8855906" y="5030226"/>
            <a:ext cx="504000" cy="216000"/>
            <a:chOff x="1367906" y="3586031"/>
            <a:chExt cx="504000" cy="216000"/>
          </a:xfrm>
        </p:grpSpPr>
        <p:grpSp>
          <p:nvGrpSpPr>
            <p:cNvPr id="281" name="그룹 280"/>
            <p:cNvGrpSpPr/>
            <p:nvPr/>
          </p:nvGrpSpPr>
          <p:grpSpPr>
            <a:xfrm>
              <a:off x="1655906" y="3586031"/>
              <a:ext cx="216000" cy="216000"/>
              <a:chOff x="2096446" y="3586031"/>
              <a:chExt cx="216000" cy="216000"/>
            </a:xfrm>
          </p:grpSpPr>
          <p:sp>
            <p:nvSpPr>
              <p:cNvPr id="285" name="사각형: 둥근 모서리 368">
                <a:extLst>
                  <a:ext uri="{FF2B5EF4-FFF2-40B4-BE49-F238E27FC236}">
                    <a16:creationId xmlns="" xmlns:a16="http://schemas.microsoft.com/office/drawing/2014/main" id="{69DF4169-9711-4CBB-BBC0-35A1DA411BF3}"/>
                  </a:ext>
                </a:extLst>
              </p:cNvPr>
              <p:cNvSpPr/>
              <p:nvPr/>
            </p:nvSpPr>
            <p:spPr bwMode="auto">
              <a:xfrm>
                <a:off x="2096446" y="3586031"/>
                <a:ext cx="216000" cy="216000"/>
              </a:xfrm>
              <a:prstGeom prst="roundRect">
                <a:avLst/>
              </a:prstGeom>
              <a:solidFill>
                <a:schemeClr val="bg1">
                  <a:lumMod val="95000"/>
                </a:schemeClr>
              </a:solidFill>
              <a:ln w="3175" cap="flat" cmpd="sng" algn="ctr">
                <a:solidFill>
                  <a:schemeClr val="bg1">
                    <a:lumMod val="7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>
                <a:outerShdw blurRad="12700" dist="12700" dir="2700000" algn="tl" rotWithShape="0">
                  <a:schemeClr val="tx1">
                    <a:lumMod val="75000"/>
                    <a:lumOff val="25000"/>
                    <a:alpha val="30000"/>
                  </a:schemeClr>
                </a:outerShdw>
              </a:effectLst>
            </p:spPr>
            <p:txBody>
              <a:bodyPr rot="0" spcFirstLastPara="0" vertOverflow="overflow" horzOverflow="overflow" vert="horz" wrap="none" lIns="180000" tIns="45720" rIns="3600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indent="0" algn="ctr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1" lang="ko-KR" altLang="en-US" sz="700" i="0" u="none" strike="noStrike" kern="0" cap="none" spc="0" normalizeH="0" baseline="0" noProof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latin typeface="+mn-ea"/>
                </a:endParaRPr>
              </a:p>
            </p:txBody>
          </p:sp>
          <p:sp>
            <p:nvSpPr>
              <p:cNvPr id="286" name="Reload">
                <a:extLst>
                  <a:ext uri="{FF2B5EF4-FFF2-40B4-BE49-F238E27FC236}">
                    <a16:creationId xmlns="" xmlns:a16="http://schemas.microsoft.com/office/drawing/2014/main" id="{639C9F0C-EF86-4670-8665-513669F8444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2151166" y="3640031"/>
                <a:ext cx="106560" cy="108000"/>
              </a:xfrm>
              <a:custGeom>
                <a:avLst/>
                <a:gdLst>
                  <a:gd name="T0" fmla="*/ 440 w 480"/>
                  <a:gd name="T1" fmla="*/ 0 h 494"/>
                  <a:gd name="T2" fmla="*/ 427 w 480"/>
                  <a:gd name="T3" fmla="*/ 14 h 494"/>
                  <a:gd name="T4" fmla="*/ 427 w 480"/>
                  <a:gd name="T5" fmla="*/ 103 h 494"/>
                  <a:gd name="T6" fmla="*/ 418 w 480"/>
                  <a:gd name="T7" fmla="*/ 93 h 494"/>
                  <a:gd name="T8" fmla="*/ 418 w 480"/>
                  <a:gd name="T9" fmla="*/ 93 h 494"/>
                  <a:gd name="T10" fmla="*/ 240 w 480"/>
                  <a:gd name="T11" fmla="*/ 14 h 494"/>
                  <a:gd name="T12" fmla="*/ 0 w 480"/>
                  <a:gd name="T13" fmla="*/ 254 h 494"/>
                  <a:gd name="T14" fmla="*/ 240 w 480"/>
                  <a:gd name="T15" fmla="*/ 494 h 494"/>
                  <a:gd name="T16" fmla="*/ 480 w 480"/>
                  <a:gd name="T17" fmla="*/ 254 h 494"/>
                  <a:gd name="T18" fmla="*/ 453 w 480"/>
                  <a:gd name="T19" fmla="*/ 254 h 494"/>
                  <a:gd name="T20" fmla="*/ 240 w 480"/>
                  <a:gd name="T21" fmla="*/ 467 h 494"/>
                  <a:gd name="T22" fmla="*/ 27 w 480"/>
                  <a:gd name="T23" fmla="*/ 254 h 494"/>
                  <a:gd name="T24" fmla="*/ 240 w 480"/>
                  <a:gd name="T25" fmla="*/ 41 h 494"/>
                  <a:gd name="T26" fmla="*/ 398 w 480"/>
                  <a:gd name="T27" fmla="*/ 111 h 494"/>
                  <a:gd name="T28" fmla="*/ 406 w 480"/>
                  <a:gd name="T29" fmla="*/ 121 h 494"/>
                  <a:gd name="T30" fmla="*/ 320 w 480"/>
                  <a:gd name="T31" fmla="*/ 121 h 494"/>
                  <a:gd name="T32" fmla="*/ 320 w 480"/>
                  <a:gd name="T33" fmla="*/ 147 h 494"/>
                  <a:gd name="T34" fmla="*/ 453 w 480"/>
                  <a:gd name="T35" fmla="*/ 147 h 494"/>
                  <a:gd name="T36" fmla="*/ 453 w 480"/>
                  <a:gd name="T37" fmla="*/ 14 h 494"/>
                  <a:gd name="T38" fmla="*/ 440 w 480"/>
                  <a:gd name="T39" fmla="*/ 0 h 4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480" h="494">
                    <a:moveTo>
                      <a:pt x="440" y="0"/>
                    </a:moveTo>
                    <a:cubicBezTo>
                      <a:pt x="432" y="0"/>
                      <a:pt x="427" y="7"/>
                      <a:pt x="427" y="14"/>
                    </a:cubicBezTo>
                    <a:lnTo>
                      <a:pt x="427" y="103"/>
                    </a:lnTo>
                    <a:cubicBezTo>
                      <a:pt x="424" y="100"/>
                      <a:pt x="421" y="96"/>
                      <a:pt x="418" y="93"/>
                    </a:cubicBezTo>
                    <a:lnTo>
                      <a:pt x="418" y="93"/>
                    </a:lnTo>
                    <a:cubicBezTo>
                      <a:pt x="374" y="45"/>
                      <a:pt x="311" y="14"/>
                      <a:pt x="240" y="14"/>
                    </a:cubicBezTo>
                    <a:cubicBezTo>
                      <a:pt x="108" y="14"/>
                      <a:pt x="0" y="122"/>
                      <a:pt x="0" y="254"/>
                    </a:cubicBezTo>
                    <a:cubicBezTo>
                      <a:pt x="0" y="386"/>
                      <a:pt x="108" y="494"/>
                      <a:pt x="240" y="494"/>
                    </a:cubicBezTo>
                    <a:cubicBezTo>
                      <a:pt x="372" y="494"/>
                      <a:pt x="480" y="386"/>
                      <a:pt x="480" y="254"/>
                    </a:cubicBezTo>
                    <a:cubicBezTo>
                      <a:pt x="480" y="236"/>
                      <a:pt x="453" y="236"/>
                      <a:pt x="453" y="254"/>
                    </a:cubicBezTo>
                    <a:cubicBezTo>
                      <a:pt x="453" y="372"/>
                      <a:pt x="358" y="467"/>
                      <a:pt x="240" y="467"/>
                    </a:cubicBezTo>
                    <a:cubicBezTo>
                      <a:pt x="122" y="467"/>
                      <a:pt x="27" y="372"/>
                      <a:pt x="27" y="254"/>
                    </a:cubicBezTo>
                    <a:cubicBezTo>
                      <a:pt x="27" y="136"/>
                      <a:pt x="122" y="41"/>
                      <a:pt x="240" y="41"/>
                    </a:cubicBezTo>
                    <a:cubicBezTo>
                      <a:pt x="303" y="41"/>
                      <a:pt x="359" y="68"/>
                      <a:pt x="398" y="111"/>
                    </a:cubicBezTo>
                    <a:cubicBezTo>
                      <a:pt x="401" y="114"/>
                      <a:pt x="404" y="117"/>
                      <a:pt x="406" y="121"/>
                    </a:cubicBezTo>
                    <a:lnTo>
                      <a:pt x="320" y="121"/>
                    </a:lnTo>
                    <a:cubicBezTo>
                      <a:pt x="302" y="120"/>
                      <a:pt x="302" y="148"/>
                      <a:pt x="320" y="147"/>
                    </a:cubicBezTo>
                    <a:lnTo>
                      <a:pt x="453" y="147"/>
                    </a:lnTo>
                    <a:lnTo>
                      <a:pt x="453" y="14"/>
                    </a:lnTo>
                    <a:cubicBezTo>
                      <a:pt x="453" y="6"/>
                      <a:pt x="447" y="0"/>
                      <a:pt x="440" y="0"/>
                    </a:cubicBezTo>
                    <a:close/>
                  </a:path>
                </a:pathLst>
              </a:custGeom>
              <a:solidFill>
                <a:srgbClr val="5F5F5F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sz="900"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p:grpSp>
        <p:grpSp>
          <p:nvGrpSpPr>
            <p:cNvPr id="282" name="그룹 281"/>
            <p:cNvGrpSpPr/>
            <p:nvPr/>
          </p:nvGrpSpPr>
          <p:grpSpPr>
            <a:xfrm>
              <a:off x="1367906" y="3586031"/>
              <a:ext cx="216000" cy="216000"/>
              <a:chOff x="1367906" y="3586031"/>
              <a:chExt cx="216000" cy="216000"/>
            </a:xfrm>
          </p:grpSpPr>
          <p:sp>
            <p:nvSpPr>
              <p:cNvPr id="283" name="사각형: 둥근 모서리 368">
                <a:extLst>
                  <a:ext uri="{FF2B5EF4-FFF2-40B4-BE49-F238E27FC236}">
                    <a16:creationId xmlns="" xmlns:a16="http://schemas.microsoft.com/office/drawing/2014/main" id="{69DF4169-9711-4CBB-BBC0-35A1DA411BF3}"/>
                  </a:ext>
                </a:extLst>
              </p:cNvPr>
              <p:cNvSpPr/>
              <p:nvPr/>
            </p:nvSpPr>
            <p:spPr bwMode="auto">
              <a:xfrm>
                <a:off x="1367906" y="3586031"/>
                <a:ext cx="216000" cy="216000"/>
              </a:xfrm>
              <a:prstGeom prst="roundRect">
                <a:avLst/>
              </a:prstGeom>
              <a:solidFill>
                <a:schemeClr val="bg1">
                  <a:lumMod val="95000"/>
                </a:schemeClr>
              </a:solidFill>
              <a:ln w="3175" cap="flat" cmpd="sng" algn="ctr">
                <a:solidFill>
                  <a:schemeClr val="bg1">
                    <a:lumMod val="7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>
                <a:outerShdw blurRad="12700" dist="12700" dir="2700000" algn="tl" rotWithShape="0">
                  <a:schemeClr val="tx1">
                    <a:lumMod val="75000"/>
                    <a:lumOff val="25000"/>
                    <a:alpha val="30000"/>
                  </a:schemeClr>
                </a:outerShdw>
              </a:effectLst>
            </p:spPr>
            <p:txBody>
              <a:bodyPr rot="0" spcFirstLastPara="0" vertOverflow="overflow" horzOverflow="overflow" vert="horz" wrap="none" lIns="180000" tIns="45720" rIns="3600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indent="0" algn="ctr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1" lang="ko-KR" altLang="en-US" sz="700" i="0" u="none" strike="noStrike" kern="0" cap="none" spc="0" normalizeH="0" baseline="0" noProof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latin typeface="+mn-ea"/>
                </a:endParaRPr>
              </a:p>
            </p:txBody>
          </p:sp>
          <p:sp>
            <p:nvSpPr>
              <p:cNvPr id="284" name="Download"/>
              <p:cNvSpPr>
                <a:spLocks noChangeAspect="1" noEditPoints="1"/>
              </p:cNvSpPr>
              <p:nvPr/>
            </p:nvSpPr>
            <p:spPr bwMode="auto">
              <a:xfrm>
                <a:off x="1436342" y="3640031"/>
                <a:ext cx="79128" cy="108000"/>
              </a:xfrm>
              <a:custGeom>
                <a:avLst/>
                <a:gdLst>
                  <a:gd name="T0" fmla="*/ 239 w 480"/>
                  <a:gd name="T1" fmla="*/ 1 h 655"/>
                  <a:gd name="T2" fmla="*/ 227 w 480"/>
                  <a:gd name="T3" fmla="*/ 15 h 655"/>
                  <a:gd name="T4" fmla="*/ 227 w 480"/>
                  <a:gd name="T5" fmla="*/ 422 h 655"/>
                  <a:gd name="T6" fmla="*/ 143 w 480"/>
                  <a:gd name="T7" fmla="*/ 339 h 655"/>
                  <a:gd name="T8" fmla="*/ 131 w 480"/>
                  <a:gd name="T9" fmla="*/ 335 h 655"/>
                  <a:gd name="T10" fmla="*/ 124 w 480"/>
                  <a:gd name="T11" fmla="*/ 358 h 655"/>
                  <a:gd name="T12" fmla="*/ 240 w 480"/>
                  <a:gd name="T13" fmla="*/ 474 h 655"/>
                  <a:gd name="T14" fmla="*/ 356 w 480"/>
                  <a:gd name="T15" fmla="*/ 358 h 655"/>
                  <a:gd name="T16" fmla="*/ 356 w 480"/>
                  <a:gd name="T17" fmla="*/ 339 h 655"/>
                  <a:gd name="T18" fmla="*/ 337 w 480"/>
                  <a:gd name="T19" fmla="*/ 339 h 655"/>
                  <a:gd name="T20" fmla="*/ 254 w 480"/>
                  <a:gd name="T21" fmla="*/ 422 h 655"/>
                  <a:gd name="T22" fmla="*/ 254 w 480"/>
                  <a:gd name="T23" fmla="*/ 15 h 655"/>
                  <a:gd name="T24" fmla="*/ 239 w 480"/>
                  <a:gd name="T25" fmla="*/ 1 h 655"/>
                  <a:gd name="T26" fmla="*/ 0 w 480"/>
                  <a:gd name="T27" fmla="*/ 201 h 655"/>
                  <a:gd name="T28" fmla="*/ 0 w 480"/>
                  <a:gd name="T29" fmla="*/ 655 h 655"/>
                  <a:gd name="T30" fmla="*/ 480 w 480"/>
                  <a:gd name="T31" fmla="*/ 655 h 655"/>
                  <a:gd name="T32" fmla="*/ 480 w 480"/>
                  <a:gd name="T33" fmla="*/ 201 h 655"/>
                  <a:gd name="T34" fmla="*/ 347 w 480"/>
                  <a:gd name="T35" fmla="*/ 201 h 655"/>
                  <a:gd name="T36" fmla="*/ 333 w 480"/>
                  <a:gd name="T37" fmla="*/ 215 h 655"/>
                  <a:gd name="T38" fmla="*/ 347 w 480"/>
                  <a:gd name="T39" fmla="*/ 228 h 655"/>
                  <a:gd name="T40" fmla="*/ 454 w 480"/>
                  <a:gd name="T41" fmla="*/ 228 h 655"/>
                  <a:gd name="T42" fmla="*/ 454 w 480"/>
                  <a:gd name="T43" fmla="*/ 628 h 655"/>
                  <a:gd name="T44" fmla="*/ 27 w 480"/>
                  <a:gd name="T45" fmla="*/ 628 h 655"/>
                  <a:gd name="T46" fmla="*/ 27 w 480"/>
                  <a:gd name="T47" fmla="*/ 228 h 655"/>
                  <a:gd name="T48" fmla="*/ 134 w 480"/>
                  <a:gd name="T49" fmla="*/ 228 h 655"/>
                  <a:gd name="T50" fmla="*/ 147 w 480"/>
                  <a:gd name="T51" fmla="*/ 215 h 655"/>
                  <a:gd name="T52" fmla="*/ 134 w 480"/>
                  <a:gd name="T53" fmla="*/ 201 h 655"/>
                  <a:gd name="T54" fmla="*/ 0 w 480"/>
                  <a:gd name="T55" fmla="*/ 201 h 6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</a:cxnLst>
                <a:rect l="0" t="0" r="r" b="b"/>
                <a:pathLst>
                  <a:path w="480" h="655">
                    <a:moveTo>
                      <a:pt x="239" y="1"/>
                    </a:moveTo>
                    <a:cubicBezTo>
                      <a:pt x="231" y="2"/>
                      <a:pt x="227" y="5"/>
                      <a:pt x="227" y="15"/>
                    </a:cubicBezTo>
                    <a:lnTo>
                      <a:pt x="227" y="422"/>
                    </a:lnTo>
                    <a:lnTo>
                      <a:pt x="143" y="339"/>
                    </a:lnTo>
                    <a:cubicBezTo>
                      <a:pt x="140" y="335"/>
                      <a:pt x="135" y="334"/>
                      <a:pt x="131" y="335"/>
                    </a:cubicBezTo>
                    <a:cubicBezTo>
                      <a:pt x="121" y="337"/>
                      <a:pt x="117" y="351"/>
                      <a:pt x="124" y="358"/>
                    </a:cubicBezTo>
                    <a:cubicBezTo>
                      <a:pt x="163" y="396"/>
                      <a:pt x="201" y="436"/>
                      <a:pt x="240" y="474"/>
                    </a:cubicBezTo>
                    <a:cubicBezTo>
                      <a:pt x="279" y="435"/>
                      <a:pt x="318" y="396"/>
                      <a:pt x="356" y="358"/>
                    </a:cubicBezTo>
                    <a:cubicBezTo>
                      <a:pt x="361" y="353"/>
                      <a:pt x="361" y="344"/>
                      <a:pt x="356" y="339"/>
                    </a:cubicBezTo>
                    <a:cubicBezTo>
                      <a:pt x="351" y="334"/>
                      <a:pt x="342" y="334"/>
                      <a:pt x="337" y="339"/>
                    </a:cubicBezTo>
                    <a:lnTo>
                      <a:pt x="254" y="422"/>
                    </a:lnTo>
                    <a:lnTo>
                      <a:pt x="254" y="15"/>
                    </a:lnTo>
                    <a:cubicBezTo>
                      <a:pt x="254" y="7"/>
                      <a:pt x="246" y="0"/>
                      <a:pt x="239" y="1"/>
                    </a:cubicBezTo>
                    <a:close/>
                    <a:moveTo>
                      <a:pt x="0" y="201"/>
                    </a:moveTo>
                    <a:lnTo>
                      <a:pt x="0" y="655"/>
                    </a:lnTo>
                    <a:lnTo>
                      <a:pt x="480" y="655"/>
                    </a:lnTo>
                    <a:lnTo>
                      <a:pt x="480" y="201"/>
                    </a:lnTo>
                    <a:lnTo>
                      <a:pt x="347" y="201"/>
                    </a:lnTo>
                    <a:cubicBezTo>
                      <a:pt x="340" y="201"/>
                      <a:pt x="333" y="208"/>
                      <a:pt x="333" y="215"/>
                    </a:cubicBezTo>
                    <a:cubicBezTo>
                      <a:pt x="333" y="222"/>
                      <a:pt x="340" y="228"/>
                      <a:pt x="347" y="228"/>
                    </a:cubicBezTo>
                    <a:lnTo>
                      <a:pt x="454" y="228"/>
                    </a:lnTo>
                    <a:lnTo>
                      <a:pt x="454" y="628"/>
                    </a:lnTo>
                    <a:lnTo>
                      <a:pt x="27" y="628"/>
                    </a:lnTo>
                    <a:lnTo>
                      <a:pt x="27" y="228"/>
                    </a:lnTo>
                    <a:lnTo>
                      <a:pt x="134" y="228"/>
                    </a:lnTo>
                    <a:cubicBezTo>
                      <a:pt x="141" y="228"/>
                      <a:pt x="147" y="222"/>
                      <a:pt x="147" y="215"/>
                    </a:cubicBezTo>
                    <a:cubicBezTo>
                      <a:pt x="147" y="208"/>
                      <a:pt x="141" y="201"/>
                      <a:pt x="134" y="201"/>
                    </a:cubicBezTo>
                    <a:lnTo>
                      <a:pt x="0" y="201"/>
                    </a:lnTo>
                    <a:close/>
                  </a:path>
                </a:pathLst>
              </a:custGeom>
              <a:solidFill>
                <a:srgbClr val="5F5F5F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sz="900"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p:grpSp>
      </p:grpSp>
      <p:grpSp>
        <p:nvGrpSpPr>
          <p:cNvPr id="14" name="그룹 13"/>
          <p:cNvGrpSpPr/>
          <p:nvPr/>
        </p:nvGrpSpPr>
        <p:grpSpPr>
          <a:xfrm>
            <a:off x="4571183" y="5030226"/>
            <a:ext cx="1582545" cy="216000"/>
            <a:chOff x="4606976" y="5317589"/>
            <a:chExt cx="1582545" cy="216000"/>
          </a:xfrm>
        </p:grpSpPr>
        <p:sp>
          <p:nvSpPr>
            <p:cNvPr id="290" name="사각형: 둥근 모서리 370">
              <a:extLst>
                <a:ext uri="{FF2B5EF4-FFF2-40B4-BE49-F238E27FC236}">
                  <a16:creationId xmlns="" xmlns:a16="http://schemas.microsoft.com/office/drawing/2014/main" id="{40426C93-54F4-4D06-9E1D-260D2A45518E}"/>
                </a:ext>
              </a:extLst>
            </p:cNvPr>
            <p:cNvSpPr/>
            <p:nvPr/>
          </p:nvSpPr>
          <p:spPr bwMode="auto">
            <a:xfrm>
              <a:off x="5469521" y="5317589"/>
              <a:ext cx="720000" cy="216000"/>
            </a:xfrm>
            <a:prstGeom prst="roundRect">
              <a:avLst/>
            </a:prstGeom>
            <a:solidFill>
              <a:srgbClr val="C00000"/>
            </a:solidFill>
            <a:ln w="3175" cap="flat" cmpd="sng" algn="ctr">
              <a:solidFill>
                <a:schemeClr val="bg1">
                  <a:lumMod val="7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12700" dist="12700" dir="2700000" algn="tl" rotWithShape="0">
                <a:schemeClr val="tx1">
                  <a:lumMod val="75000"/>
                  <a:lumOff val="25000"/>
                  <a:alpha val="30000"/>
                </a:schemeClr>
              </a:outerShdw>
            </a:effectLst>
          </p:spPr>
          <p:txBody>
            <a:bodyPr rot="0" spcFirstLastPara="0" vertOverflow="overflow" horzOverflow="overflow" vert="horz" wrap="none" lIns="36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1" lang="ko-KR" altLang="en-US" sz="700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ea"/>
                </a:rPr>
                <a:t>조회</a:t>
              </a:r>
            </a:p>
          </p:txBody>
        </p:sp>
        <p:sp>
          <p:nvSpPr>
            <p:cNvPr id="293" name="사각형: 둥근 모서리 370">
              <a:extLst>
                <a:ext uri="{FF2B5EF4-FFF2-40B4-BE49-F238E27FC236}">
                  <a16:creationId xmlns="" xmlns:a16="http://schemas.microsoft.com/office/drawing/2014/main" id="{40426C93-54F4-4D06-9E1D-260D2A45518E}"/>
                </a:ext>
              </a:extLst>
            </p:cNvPr>
            <p:cNvSpPr/>
            <p:nvPr/>
          </p:nvSpPr>
          <p:spPr bwMode="auto">
            <a:xfrm>
              <a:off x="4606976" y="5317589"/>
              <a:ext cx="720000" cy="216000"/>
            </a:xfrm>
            <a:prstGeom prst="roundRect">
              <a:avLst/>
            </a:prstGeom>
            <a:solidFill>
              <a:schemeClr val="bg1"/>
            </a:solidFill>
            <a:ln w="3175" cap="flat" cmpd="sng" algn="ctr">
              <a:solidFill>
                <a:schemeClr val="bg1">
                  <a:lumMod val="7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12700" dist="12700" dir="2700000" algn="tl" rotWithShape="0">
                <a:schemeClr val="tx1">
                  <a:lumMod val="75000"/>
                  <a:lumOff val="25000"/>
                  <a:alpha val="30000"/>
                </a:schemeClr>
              </a:outerShdw>
            </a:effectLst>
          </p:spPr>
          <p:txBody>
            <a:bodyPr rot="0" spcFirstLastPara="0" vertOverflow="overflow" horzOverflow="overflow" vert="horz" wrap="none" lIns="36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1" lang="ko-KR" altLang="en-US" sz="700" i="0" u="none" strike="noStrike" kern="0" cap="none" spc="0" normalizeH="0" baseline="0" noProof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latin typeface="+mn-ea"/>
                </a:rPr>
                <a:t>엑셀조회</a:t>
              </a:r>
            </a:p>
          </p:txBody>
        </p:sp>
      </p:grpSp>
      <p:sp>
        <p:nvSpPr>
          <p:cNvPr id="279" name="직사각형 278">
            <a:extLst>
              <a:ext uri="{FF2B5EF4-FFF2-40B4-BE49-F238E27FC236}">
                <a16:creationId xmlns="" xmlns:a16="http://schemas.microsoft.com/office/drawing/2014/main" id="{4778C4A6-E116-4A27-97F3-5AB5EB72E738}"/>
              </a:ext>
            </a:extLst>
          </p:cNvPr>
          <p:cNvSpPr/>
          <p:nvPr/>
        </p:nvSpPr>
        <p:spPr>
          <a:xfrm>
            <a:off x="1367906" y="5676168"/>
            <a:ext cx="7992000" cy="28800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0000" tIns="36000" rIns="180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kumimoji="1" lang="ko-KR" altLang="en-US" sz="700" kern="0">
              <a:solidFill>
                <a:schemeClr val="bg1">
                  <a:lumMod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295" name="그룹 294">
            <a:extLst>
              <a:ext uri="{FF2B5EF4-FFF2-40B4-BE49-F238E27FC236}">
                <a16:creationId xmlns="" xmlns:a16="http://schemas.microsoft.com/office/drawing/2014/main" id="{A977A86B-CF46-4884-B332-B067BCAE0870}"/>
              </a:ext>
            </a:extLst>
          </p:cNvPr>
          <p:cNvGrpSpPr/>
          <p:nvPr/>
        </p:nvGrpSpPr>
        <p:grpSpPr>
          <a:xfrm>
            <a:off x="8785572" y="5730168"/>
            <a:ext cx="504000" cy="180000"/>
            <a:chOff x="2749822" y="4322696"/>
            <a:chExt cx="504000" cy="180000"/>
          </a:xfrm>
        </p:grpSpPr>
        <p:sp>
          <p:nvSpPr>
            <p:cNvPr id="296" name="모서리가 둥근 직사각형 240">
              <a:extLst>
                <a:ext uri="{FF2B5EF4-FFF2-40B4-BE49-F238E27FC236}">
                  <a16:creationId xmlns="" xmlns:a16="http://schemas.microsoft.com/office/drawing/2014/main" id="{1FEE6B18-FA7D-4DF7-9C80-FD39C9AD8EDC}"/>
                </a:ext>
              </a:extLst>
            </p:cNvPr>
            <p:cNvSpPr/>
            <p:nvPr/>
          </p:nvSpPr>
          <p:spPr bwMode="auto">
            <a:xfrm>
              <a:off x="2749822" y="4322696"/>
              <a:ext cx="504000" cy="180000"/>
            </a:xfrm>
            <a:prstGeom prst="roundRect">
              <a:avLst/>
            </a:prstGeom>
            <a:solidFill>
              <a:schemeClr val="bg1"/>
            </a:solidFill>
            <a:ln w="3175" cap="flat" cmpd="sng" algn="ctr">
              <a:solidFill>
                <a:schemeClr val="bg1">
                  <a:lumMod val="7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none" lIns="72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fontAlgn="base" latinLnBrk="0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ko-KR" sz="700" kern="0">
                  <a:solidFill>
                    <a:srgbClr val="000000"/>
                  </a:solidFill>
                  <a:latin typeface="+mn-ea"/>
                </a:rPr>
                <a:t>1/1</a:t>
              </a:r>
              <a:endParaRPr kumimoji="1" lang="ko-KR" altLang="en-US" sz="700" kern="0" dirty="0">
                <a:solidFill>
                  <a:srgbClr val="000000"/>
                </a:solidFill>
                <a:latin typeface="+mn-ea"/>
              </a:endParaRPr>
            </a:p>
          </p:txBody>
        </p:sp>
        <p:sp>
          <p:nvSpPr>
            <p:cNvPr id="297" name="모서리가 둥근 직사각형 241">
              <a:extLst>
                <a:ext uri="{FF2B5EF4-FFF2-40B4-BE49-F238E27FC236}">
                  <a16:creationId xmlns="" xmlns:a16="http://schemas.microsoft.com/office/drawing/2014/main" id="{E7A68BD9-AFD0-4F2A-8223-6CB9CD833C50}"/>
                </a:ext>
              </a:extLst>
            </p:cNvPr>
            <p:cNvSpPr/>
            <p:nvPr/>
          </p:nvSpPr>
          <p:spPr bwMode="auto">
            <a:xfrm>
              <a:off x="3073822" y="4322696"/>
              <a:ext cx="180000" cy="180000"/>
            </a:xfrm>
            <a:prstGeom prst="roundRect">
              <a:avLst/>
            </a:prstGeom>
            <a:solidFill>
              <a:schemeClr val="bg1"/>
            </a:solidFill>
            <a:ln w="3175" cap="flat" cmpd="sng" algn="ctr">
              <a:solidFill>
                <a:schemeClr val="bg1">
                  <a:lumMod val="7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none" lIns="36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fontAlgn="base" latinLnBrk="0">
                <a:spcBef>
                  <a:spcPct val="0"/>
                </a:spcBef>
                <a:spcAft>
                  <a:spcPct val="0"/>
                </a:spcAft>
              </a:pPr>
              <a:r>
                <a:rPr kumimoji="1" lang="ko-KR" altLang="en-US" sz="700" kern="0" dirty="0">
                  <a:solidFill>
                    <a:srgbClr val="000000"/>
                  </a:solidFill>
                  <a:latin typeface="+mn-ea"/>
                </a:rPr>
                <a:t>▼</a:t>
              </a:r>
            </a:p>
          </p:txBody>
        </p:sp>
      </p:grpSp>
      <p:sp>
        <p:nvSpPr>
          <p:cNvPr id="298" name="모서리가 둥근 직사각형 240">
            <a:extLst>
              <a:ext uri="{FF2B5EF4-FFF2-40B4-BE49-F238E27FC236}">
                <a16:creationId xmlns="" xmlns:a16="http://schemas.microsoft.com/office/drawing/2014/main" id="{1FEE6B18-FA7D-4DF7-9C80-FD39C9AD8EDC}"/>
              </a:ext>
            </a:extLst>
          </p:cNvPr>
          <p:cNvSpPr/>
          <p:nvPr/>
        </p:nvSpPr>
        <p:spPr bwMode="auto">
          <a:xfrm>
            <a:off x="8065572" y="5730168"/>
            <a:ext cx="648000" cy="180000"/>
          </a:xfrm>
          <a:prstGeom prst="roundRect">
            <a:avLst/>
          </a:prstGeom>
          <a:solidFill>
            <a:schemeClr val="tx1">
              <a:lumMod val="75000"/>
              <a:lumOff val="25000"/>
            </a:schemeClr>
          </a:solidFill>
          <a:ln w="317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non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fontAlgn="base" latinLnBrk="0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700" kern="0">
                <a:solidFill>
                  <a:schemeClr val="bg1"/>
                </a:solidFill>
                <a:latin typeface="+mn-ea"/>
              </a:rPr>
              <a:t>엑셀다운로드</a:t>
            </a:r>
            <a:endParaRPr kumimoji="1" lang="ko-KR" altLang="en-US" sz="700" kern="0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270" name="직사각형 269">
            <a:extLst>
              <a:ext uri="{FF2B5EF4-FFF2-40B4-BE49-F238E27FC236}">
                <a16:creationId xmlns="" xmlns:a16="http://schemas.microsoft.com/office/drawing/2014/main" id="{6C46722B-A1C8-40C5-9355-BEF50DEEB2FE}"/>
              </a:ext>
            </a:extLst>
          </p:cNvPr>
          <p:cNvSpPr/>
          <p:nvPr/>
        </p:nvSpPr>
        <p:spPr>
          <a:xfrm>
            <a:off x="1367906" y="5965689"/>
            <a:ext cx="540000" cy="2160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70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주문번호</a:t>
            </a:r>
          </a:p>
        </p:txBody>
      </p:sp>
      <p:sp>
        <p:nvSpPr>
          <p:cNvPr id="272" name="직사각형 271">
            <a:extLst>
              <a:ext uri="{FF2B5EF4-FFF2-40B4-BE49-F238E27FC236}">
                <a16:creationId xmlns="" xmlns:a16="http://schemas.microsoft.com/office/drawing/2014/main" id="{A9090594-210F-4E03-B821-432BBB0030E9}"/>
              </a:ext>
            </a:extLst>
          </p:cNvPr>
          <p:cNvSpPr/>
          <p:nvPr/>
        </p:nvSpPr>
        <p:spPr>
          <a:xfrm>
            <a:off x="1907906" y="5965689"/>
            <a:ext cx="540000" cy="2160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70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브랜드몰</a:t>
            </a:r>
          </a:p>
        </p:txBody>
      </p:sp>
      <p:sp>
        <p:nvSpPr>
          <p:cNvPr id="316" name="직사각형 315">
            <a:extLst>
              <a:ext uri="{FF2B5EF4-FFF2-40B4-BE49-F238E27FC236}">
                <a16:creationId xmlns="" xmlns:a16="http://schemas.microsoft.com/office/drawing/2014/main" id="{125A9445-0B2B-4F55-8AE2-07E57374FAAD}"/>
              </a:ext>
            </a:extLst>
          </p:cNvPr>
          <p:cNvSpPr/>
          <p:nvPr/>
        </p:nvSpPr>
        <p:spPr>
          <a:xfrm>
            <a:off x="1367906" y="6181699"/>
            <a:ext cx="540000" cy="216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700" b="1" u="sng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12345678</a:t>
            </a:r>
            <a:endParaRPr lang="ko-KR" altLang="en-US" sz="700" b="1" u="sng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17" name="직사각형 316">
            <a:extLst>
              <a:ext uri="{FF2B5EF4-FFF2-40B4-BE49-F238E27FC236}">
                <a16:creationId xmlns="" xmlns:a16="http://schemas.microsoft.com/office/drawing/2014/main" id="{C2B96CB1-836B-48A8-AFA2-417DDACEDE0E}"/>
              </a:ext>
            </a:extLst>
          </p:cNvPr>
          <p:cNvSpPr/>
          <p:nvPr/>
        </p:nvSpPr>
        <p:spPr>
          <a:xfrm>
            <a:off x="1907906" y="6181699"/>
            <a:ext cx="540000" cy="216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7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LF</a:t>
            </a:r>
            <a:endParaRPr lang="ko-KR" altLang="en-US" sz="70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37" name="직사각형 336">
            <a:extLst>
              <a:ext uri="{FF2B5EF4-FFF2-40B4-BE49-F238E27FC236}">
                <a16:creationId xmlns="" xmlns:a16="http://schemas.microsoft.com/office/drawing/2014/main" id="{A9090594-210F-4E03-B821-432BBB0030E9}"/>
              </a:ext>
            </a:extLst>
          </p:cNvPr>
          <p:cNvSpPr/>
          <p:nvPr/>
        </p:nvSpPr>
        <p:spPr>
          <a:xfrm>
            <a:off x="2447906" y="5965689"/>
            <a:ext cx="540000" cy="2160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70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주문자</a:t>
            </a:r>
          </a:p>
        </p:txBody>
      </p:sp>
      <p:sp>
        <p:nvSpPr>
          <p:cNvPr id="338" name="직사각형 337">
            <a:extLst>
              <a:ext uri="{FF2B5EF4-FFF2-40B4-BE49-F238E27FC236}">
                <a16:creationId xmlns="" xmlns:a16="http://schemas.microsoft.com/office/drawing/2014/main" id="{C2B96CB1-836B-48A8-AFA2-417DDACEDE0E}"/>
              </a:ext>
            </a:extLst>
          </p:cNvPr>
          <p:cNvSpPr/>
          <p:nvPr/>
        </p:nvSpPr>
        <p:spPr>
          <a:xfrm>
            <a:off x="2447906" y="6181699"/>
            <a:ext cx="540000" cy="216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7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*</a:t>
            </a:r>
            <a:r>
              <a:rPr lang="ko-KR" altLang="en-US" sz="7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길</a:t>
            </a:r>
            <a:r>
              <a:rPr lang="en-US" altLang="ko-KR" sz="7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*</a:t>
            </a:r>
            <a:endParaRPr lang="ko-KR" altLang="en-US" sz="70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39" name="직사각형 338">
            <a:extLst>
              <a:ext uri="{FF2B5EF4-FFF2-40B4-BE49-F238E27FC236}">
                <a16:creationId xmlns="" xmlns:a16="http://schemas.microsoft.com/office/drawing/2014/main" id="{6C46722B-A1C8-40C5-9355-BEF50DEEB2FE}"/>
              </a:ext>
            </a:extLst>
          </p:cNvPr>
          <p:cNvSpPr/>
          <p:nvPr/>
        </p:nvSpPr>
        <p:spPr>
          <a:xfrm>
            <a:off x="2987906" y="5965689"/>
            <a:ext cx="540000" cy="2160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70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아이디</a:t>
            </a:r>
          </a:p>
        </p:txBody>
      </p:sp>
      <p:sp>
        <p:nvSpPr>
          <p:cNvPr id="340" name="직사각형 339">
            <a:extLst>
              <a:ext uri="{FF2B5EF4-FFF2-40B4-BE49-F238E27FC236}">
                <a16:creationId xmlns="" xmlns:a16="http://schemas.microsoft.com/office/drawing/2014/main" id="{125A9445-0B2B-4F55-8AE2-07E57374FAAD}"/>
              </a:ext>
            </a:extLst>
          </p:cNvPr>
          <p:cNvSpPr/>
          <p:nvPr/>
        </p:nvSpPr>
        <p:spPr>
          <a:xfrm>
            <a:off x="2987906" y="6181699"/>
            <a:ext cx="540000" cy="216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700" b="1" u="sng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ab***234</a:t>
            </a:r>
            <a:endParaRPr lang="ko-KR" altLang="en-US" sz="700" b="1" u="sng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46" name="직사각형 345">
            <a:extLst>
              <a:ext uri="{FF2B5EF4-FFF2-40B4-BE49-F238E27FC236}">
                <a16:creationId xmlns="" xmlns:a16="http://schemas.microsoft.com/office/drawing/2014/main" id="{A9090594-210F-4E03-B821-432BBB0030E9}"/>
              </a:ext>
            </a:extLst>
          </p:cNvPr>
          <p:cNvSpPr/>
          <p:nvPr/>
        </p:nvSpPr>
        <p:spPr>
          <a:xfrm>
            <a:off x="3527906" y="5965689"/>
            <a:ext cx="540000" cy="2160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70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고객번호</a:t>
            </a:r>
          </a:p>
        </p:txBody>
      </p:sp>
      <p:sp>
        <p:nvSpPr>
          <p:cNvPr id="347" name="직사각형 346">
            <a:extLst>
              <a:ext uri="{FF2B5EF4-FFF2-40B4-BE49-F238E27FC236}">
                <a16:creationId xmlns="" xmlns:a16="http://schemas.microsoft.com/office/drawing/2014/main" id="{C2B96CB1-836B-48A8-AFA2-417DDACEDE0E}"/>
              </a:ext>
            </a:extLst>
          </p:cNvPr>
          <p:cNvSpPr/>
          <p:nvPr/>
        </p:nvSpPr>
        <p:spPr>
          <a:xfrm>
            <a:off x="3527906" y="6181699"/>
            <a:ext cx="540000" cy="216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ko-KR" altLang="en-US" sz="70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59" name="직사각형 358">
            <a:extLst>
              <a:ext uri="{FF2B5EF4-FFF2-40B4-BE49-F238E27FC236}">
                <a16:creationId xmlns="" xmlns:a16="http://schemas.microsoft.com/office/drawing/2014/main" id="{A9090594-210F-4E03-B821-432BBB0030E9}"/>
              </a:ext>
            </a:extLst>
          </p:cNvPr>
          <p:cNvSpPr/>
          <p:nvPr/>
        </p:nvSpPr>
        <p:spPr>
          <a:xfrm>
            <a:off x="4067906" y="5965689"/>
            <a:ext cx="540000" cy="2160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70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주문일자</a:t>
            </a:r>
          </a:p>
        </p:txBody>
      </p:sp>
      <p:sp>
        <p:nvSpPr>
          <p:cNvPr id="374" name="직사각형 373">
            <a:extLst>
              <a:ext uri="{FF2B5EF4-FFF2-40B4-BE49-F238E27FC236}">
                <a16:creationId xmlns="" xmlns:a16="http://schemas.microsoft.com/office/drawing/2014/main" id="{C2B96CB1-836B-48A8-AFA2-417DDACEDE0E}"/>
              </a:ext>
            </a:extLst>
          </p:cNvPr>
          <p:cNvSpPr/>
          <p:nvPr/>
        </p:nvSpPr>
        <p:spPr>
          <a:xfrm>
            <a:off x="4067906" y="6181699"/>
            <a:ext cx="540000" cy="216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7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2023-12-0…</a:t>
            </a:r>
            <a:endParaRPr lang="ko-KR" altLang="en-US" sz="70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82" name="직사각형 381">
            <a:extLst>
              <a:ext uri="{FF2B5EF4-FFF2-40B4-BE49-F238E27FC236}">
                <a16:creationId xmlns="" xmlns:a16="http://schemas.microsoft.com/office/drawing/2014/main" id="{A9090594-210F-4E03-B821-432BBB0030E9}"/>
              </a:ext>
            </a:extLst>
          </p:cNvPr>
          <p:cNvSpPr/>
          <p:nvPr/>
        </p:nvSpPr>
        <p:spPr>
          <a:xfrm>
            <a:off x="4607906" y="5965689"/>
            <a:ext cx="540000" cy="2160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70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주문구분</a:t>
            </a:r>
          </a:p>
        </p:txBody>
      </p:sp>
      <p:sp>
        <p:nvSpPr>
          <p:cNvPr id="390" name="직사각형 389">
            <a:extLst>
              <a:ext uri="{FF2B5EF4-FFF2-40B4-BE49-F238E27FC236}">
                <a16:creationId xmlns="" xmlns:a16="http://schemas.microsoft.com/office/drawing/2014/main" id="{C2B96CB1-836B-48A8-AFA2-417DDACEDE0E}"/>
              </a:ext>
            </a:extLst>
          </p:cNvPr>
          <p:cNvSpPr/>
          <p:nvPr/>
        </p:nvSpPr>
        <p:spPr>
          <a:xfrm>
            <a:off x="4607906" y="6181699"/>
            <a:ext cx="540000" cy="216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7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통합주문</a:t>
            </a:r>
          </a:p>
        </p:txBody>
      </p:sp>
      <p:sp>
        <p:nvSpPr>
          <p:cNvPr id="396" name="직사각형 395">
            <a:extLst>
              <a:ext uri="{FF2B5EF4-FFF2-40B4-BE49-F238E27FC236}">
                <a16:creationId xmlns="" xmlns:a16="http://schemas.microsoft.com/office/drawing/2014/main" id="{6C46722B-A1C8-40C5-9355-BEF50DEEB2FE}"/>
              </a:ext>
            </a:extLst>
          </p:cNvPr>
          <p:cNvSpPr/>
          <p:nvPr/>
        </p:nvSpPr>
        <p:spPr>
          <a:xfrm>
            <a:off x="5147906" y="5965689"/>
            <a:ext cx="540000" cy="2160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70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사이즈 구</a:t>
            </a:r>
            <a:r>
              <a:rPr lang="en-US" altLang="ko-KR" sz="70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…</a:t>
            </a:r>
            <a:endParaRPr lang="ko-KR" altLang="en-US" sz="70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13" name="직사각형 412">
            <a:extLst>
              <a:ext uri="{FF2B5EF4-FFF2-40B4-BE49-F238E27FC236}">
                <a16:creationId xmlns="" xmlns:a16="http://schemas.microsoft.com/office/drawing/2014/main" id="{125A9445-0B2B-4F55-8AE2-07E57374FAAD}"/>
              </a:ext>
            </a:extLst>
          </p:cNvPr>
          <p:cNvSpPr/>
          <p:nvPr/>
        </p:nvSpPr>
        <p:spPr>
          <a:xfrm>
            <a:off x="5147906" y="6181699"/>
            <a:ext cx="540000" cy="216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700" b="1" u="sng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일반재고</a:t>
            </a:r>
            <a:r>
              <a:rPr lang="en-US" altLang="ko-KR" sz="700" b="1" u="sng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…</a:t>
            </a:r>
            <a:endParaRPr lang="ko-KR" altLang="en-US" sz="700" b="1" u="sng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33" name="직사각형 432">
            <a:extLst>
              <a:ext uri="{FF2B5EF4-FFF2-40B4-BE49-F238E27FC236}">
                <a16:creationId xmlns="" xmlns:a16="http://schemas.microsoft.com/office/drawing/2014/main" id="{A9090594-210F-4E03-B821-432BBB0030E9}"/>
              </a:ext>
            </a:extLst>
          </p:cNvPr>
          <p:cNvSpPr/>
          <p:nvPr/>
        </p:nvSpPr>
        <p:spPr>
          <a:xfrm>
            <a:off x="5687906" y="5965689"/>
            <a:ext cx="540000" cy="2160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70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선물포장</a:t>
            </a:r>
            <a:r>
              <a:rPr lang="en-US" altLang="ko-KR" sz="70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…</a:t>
            </a:r>
            <a:endParaRPr lang="ko-KR" altLang="en-US" sz="70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37" name="직사각형 436">
            <a:extLst>
              <a:ext uri="{FF2B5EF4-FFF2-40B4-BE49-F238E27FC236}">
                <a16:creationId xmlns="" xmlns:a16="http://schemas.microsoft.com/office/drawing/2014/main" id="{C2B96CB1-836B-48A8-AFA2-417DDACEDE0E}"/>
              </a:ext>
            </a:extLst>
          </p:cNvPr>
          <p:cNvSpPr/>
          <p:nvPr/>
        </p:nvSpPr>
        <p:spPr>
          <a:xfrm>
            <a:off x="5687906" y="6181699"/>
            <a:ext cx="540000" cy="216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7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N</a:t>
            </a:r>
            <a:endParaRPr lang="ko-KR" altLang="en-US" sz="70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38" name="직사각형 437">
            <a:extLst>
              <a:ext uri="{FF2B5EF4-FFF2-40B4-BE49-F238E27FC236}">
                <a16:creationId xmlns="" xmlns:a16="http://schemas.microsoft.com/office/drawing/2014/main" id="{A9090594-210F-4E03-B821-432BBB0030E9}"/>
              </a:ext>
            </a:extLst>
          </p:cNvPr>
          <p:cNvSpPr/>
          <p:nvPr/>
        </p:nvSpPr>
        <p:spPr>
          <a:xfrm>
            <a:off x="6227906" y="5965689"/>
            <a:ext cx="540000" cy="2160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70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배송실적</a:t>
            </a:r>
            <a:r>
              <a:rPr lang="en-US" altLang="ko-KR" sz="70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…</a:t>
            </a:r>
            <a:endParaRPr lang="ko-KR" altLang="en-US" sz="70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39" name="직사각형 438">
            <a:extLst>
              <a:ext uri="{FF2B5EF4-FFF2-40B4-BE49-F238E27FC236}">
                <a16:creationId xmlns="" xmlns:a16="http://schemas.microsoft.com/office/drawing/2014/main" id="{C2B96CB1-836B-48A8-AFA2-417DDACEDE0E}"/>
              </a:ext>
            </a:extLst>
          </p:cNvPr>
          <p:cNvSpPr/>
          <p:nvPr/>
        </p:nvSpPr>
        <p:spPr>
          <a:xfrm>
            <a:off x="6227906" y="6181699"/>
            <a:ext cx="540000" cy="216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7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N</a:t>
            </a:r>
            <a:endParaRPr lang="ko-KR" altLang="en-US" sz="70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40" name="직사각형 439">
            <a:extLst>
              <a:ext uri="{FF2B5EF4-FFF2-40B4-BE49-F238E27FC236}">
                <a16:creationId xmlns="" xmlns:a16="http://schemas.microsoft.com/office/drawing/2014/main" id="{A9090594-210F-4E03-B821-432BBB0030E9}"/>
              </a:ext>
            </a:extLst>
          </p:cNvPr>
          <p:cNvSpPr/>
          <p:nvPr/>
        </p:nvSpPr>
        <p:spPr>
          <a:xfrm>
            <a:off x="6767906" y="5965689"/>
            <a:ext cx="540000" cy="2160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70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도착리드</a:t>
            </a:r>
            <a:r>
              <a:rPr lang="en-US" altLang="ko-KR" sz="70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…</a:t>
            </a:r>
            <a:endParaRPr lang="ko-KR" altLang="en-US" sz="70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41" name="직사각형 440">
            <a:extLst>
              <a:ext uri="{FF2B5EF4-FFF2-40B4-BE49-F238E27FC236}">
                <a16:creationId xmlns="" xmlns:a16="http://schemas.microsoft.com/office/drawing/2014/main" id="{C2B96CB1-836B-48A8-AFA2-417DDACEDE0E}"/>
              </a:ext>
            </a:extLst>
          </p:cNvPr>
          <p:cNvSpPr/>
          <p:nvPr/>
        </p:nvSpPr>
        <p:spPr>
          <a:xfrm>
            <a:off x="6767906" y="6181699"/>
            <a:ext cx="540000" cy="216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7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endParaRPr lang="ko-KR" altLang="en-US" sz="70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48" name="직사각형 447">
            <a:extLst>
              <a:ext uri="{FF2B5EF4-FFF2-40B4-BE49-F238E27FC236}">
                <a16:creationId xmlns="" xmlns:a16="http://schemas.microsoft.com/office/drawing/2014/main" id="{A9090594-210F-4E03-B821-432BBB0030E9}"/>
              </a:ext>
            </a:extLst>
          </p:cNvPr>
          <p:cNvSpPr/>
          <p:nvPr/>
        </p:nvSpPr>
        <p:spPr>
          <a:xfrm>
            <a:off x="7307906" y="5965689"/>
            <a:ext cx="540000" cy="2160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70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배송구분</a:t>
            </a:r>
          </a:p>
        </p:txBody>
      </p:sp>
      <p:sp>
        <p:nvSpPr>
          <p:cNvPr id="449" name="직사각형 448">
            <a:extLst>
              <a:ext uri="{FF2B5EF4-FFF2-40B4-BE49-F238E27FC236}">
                <a16:creationId xmlns="" xmlns:a16="http://schemas.microsoft.com/office/drawing/2014/main" id="{C2B96CB1-836B-48A8-AFA2-417DDACEDE0E}"/>
              </a:ext>
            </a:extLst>
          </p:cNvPr>
          <p:cNvSpPr/>
          <p:nvPr/>
        </p:nvSpPr>
        <p:spPr>
          <a:xfrm>
            <a:off x="7307906" y="6181699"/>
            <a:ext cx="540000" cy="216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7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01/10(</a:t>
            </a:r>
            <a:r>
              <a:rPr lang="ko-KR" altLang="en-US" sz="7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토</a:t>
            </a:r>
            <a:r>
              <a:rPr lang="en-US" altLang="ko-KR" sz="7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endParaRPr lang="ko-KR" altLang="en-US" sz="70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50" name="직사각형 449">
            <a:extLst>
              <a:ext uri="{FF2B5EF4-FFF2-40B4-BE49-F238E27FC236}">
                <a16:creationId xmlns="" xmlns:a16="http://schemas.microsoft.com/office/drawing/2014/main" id="{A9090594-210F-4E03-B821-432BBB0030E9}"/>
              </a:ext>
            </a:extLst>
          </p:cNvPr>
          <p:cNvSpPr/>
          <p:nvPr/>
        </p:nvSpPr>
        <p:spPr>
          <a:xfrm>
            <a:off x="7847906" y="5965689"/>
            <a:ext cx="540000" cy="2160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70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구매대행</a:t>
            </a:r>
          </a:p>
        </p:txBody>
      </p:sp>
      <p:sp>
        <p:nvSpPr>
          <p:cNvPr id="472" name="직사각형 471">
            <a:extLst>
              <a:ext uri="{FF2B5EF4-FFF2-40B4-BE49-F238E27FC236}">
                <a16:creationId xmlns="" xmlns:a16="http://schemas.microsoft.com/office/drawing/2014/main" id="{C2B96CB1-836B-48A8-AFA2-417DDACEDE0E}"/>
              </a:ext>
            </a:extLst>
          </p:cNvPr>
          <p:cNvSpPr/>
          <p:nvPr/>
        </p:nvSpPr>
        <p:spPr>
          <a:xfrm>
            <a:off x="7847906" y="6181699"/>
            <a:ext cx="540000" cy="216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ko-KR" altLang="en-US" sz="70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73" name="직사각형 472">
            <a:extLst>
              <a:ext uri="{FF2B5EF4-FFF2-40B4-BE49-F238E27FC236}">
                <a16:creationId xmlns="" xmlns:a16="http://schemas.microsoft.com/office/drawing/2014/main" id="{A9090594-210F-4E03-B821-432BBB0030E9}"/>
              </a:ext>
            </a:extLst>
          </p:cNvPr>
          <p:cNvSpPr/>
          <p:nvPr/>
        </p:nvSpPr>
        <p:spPr>
          <a:xfrm>
            <a:off x="8387906" y="5965689"/>
            <a:ext cx="540000" cy="2160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70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개런티</a:t>
            </a:r>
            <a:r>
              <a:rPr lang="en-US" altLang="ko-KR" sz="70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…</a:t>
            </a:r>
            <a:endParaRPr lang="ko-KR" altLang="en-US" sz="70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75" name="직사각형 474">
            <a:extLst>
              <a:ext uri="{FF2B5EF4-FFF2-40B4-BE49-F238E27FC236}">
                <a16:creationId xmlns="" xmlns:a16="http://schemas.microsoft.com/office/drawing/2014/main" id="{C2B96CB1-836B-48A8-AFA2-417DDACEDE0E}"/>
              </a:ext>
            </a:extLst>
          </p:cNvPr>
          <p:cNvSpPr/>
          <p:nvPr/>
        </p:nvSpPr>
        <p:spPr>
          <a:xfrm>
            <a:off x="8387906" y="6181699"/>
            <a:ext cx="540000" cy="216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7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-</a:t>
            </a:r>
            <a:endParaRPr lang="ko-KR" altLang="en-US" sz="70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76" name="직사각형 475">
            <a:extLst>
              <a:ext uri="{FF2B5EF4-FFF2-40B4-BE49-F238E27FC236}">
                <a16:creationId xmlns="" xmlns:a16="http://schemas.microsoft.com/office/drawing/2014/main" id="{A9090594-210F-4E03-B821-432BBB0030E9}"/>
              </a:ext>
            </a:extLst>
          </p:cNvPr>
          <p:cNvSpPr/>
          <p:nvPr/>
        </p:nvSpPr>
        <p:spPr>
          <a:xfrm>
            <a:off x="8927906" y="5965689"/>
            <a:ext cx="432000" cy="2160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70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…</a:t>
            </a:r>
            <a:endParaRPr lang="ko-KR" altLang="en-US" sz="70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77" name="직사각형 476">
            <a:extLst>
              <a:ext uri="{FF2B5EF4-FFF2-40B4-BE49-F238E27FC236}">
                <a16:creationId xmlns="" xmlns:a16="http://schemas.microsoft.com/office/drawing/2014/main" id="{C2B96CB1-836B-48A8-AFA2-417DDACEDE0E}"/>
              </a:ext>
            </a:extLst>
          </p:cNvPr>
          <p:cNvSpPr/>
          <p:nvPr/>
        </p:nvSpPr>
        <p:spPr>
          <a:xfrm>
            <a:off x="8927906" y="6181699"/>
            <a:ext cx="432000" cy="216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7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…</a:t>
            </a:r>
            <a:endParaRPr lang="ko-KR" altLang="en-US" sz="70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493" name="그룹 492"/>
          <p:cNvGrpSpPr/>
          <p:nvPr/>
        </p:nvGrpSpPr>
        <p:grpSpPr>
          <a:xfrm>
            <a:off x="2339906" y="4653297"/>
            <a:ext cx="1096608" cy="180425"/>
            <a:chOff x="6335078" y="5082630"/>
            <a:chExt cx="1096608" cy="180425"/>
          </a:xfrm>
        </p:grpSpPr>
        <p:sp>
          <p:nvSpPr>
            <p:cNvPr id="494" name="사각형: 둥근 모서리 393">
              <a:extLst>
                <a:ext uri="{FF2B5EF4-FFF2-40B4-BE49-F238E27FC236}">
                  <a16:creationId xmlns="" xmlns:a16="http://schemas.microsoft.com/office/drawing/2014/main" id="{290E9852-4338-4EEA-B9C3-64E5DDED0B7A}"/>
                </a:ext>
              </a:extLst>
            </p:cNvPr>
            <p:cNvSpPr/>
            <p:nvPr/>
          </p:nvSpPr>
          <p:spPr bwMode="auto">
            <a:xfrm>
              <a:off x="6335078" y="5100843"/>
              <a:ext cx="144000" cy="144000"/>
            </a:xfrm>
            <a:prstGeom prst="ellipse">
              <a:avLst/>
            </a:prstGeom>
            <a:solidFill>
              <a:schemeClr val="bg1"/>
            </a:solidFill>
            <a:ln w="3175" cap="flat" cmpd="sng" algn="ctr">
              <a:solidFill>
                <a:schemeClr val="bg1">
                  <a:lumMod val="7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>
              <a:innerShdw blurRad="12700" dist="12700" dir="13500000">
                <a:schemeClr val="tx1">
                  <a:lumMod val="75000"/>
                  <a:lumOff val="25000"/>
                  <a:alpha val="30000"/>
                </a:schemeClr>
              </a:innerShdw>
            </a:effectLst>
          </p:spPr>
          <p:txBody>
  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fontAlgn="base" latinLnBrk="0">
                <a:spcBef>
                  <a:spcPct val="0"/>
                </a:spcBef>
                <a:spcAft>
                  <a:spcPct val="0"/>
                </a:spcAft>
              </a:pPr>
              <a:r>
                <a:rPr kumimoji="1" lang="ko-KR" altLang="en-US" sz="600" kern="0">
                  <a:solidFill>
                    <a:srgbClr val="C00000"/>
                  </a:solidFill>
                  <a:latin typeface="맑은 고딕" panose="020B0503020000020004" pitchFamily="50" charset="-127"/>
                </a:rPr>
                <a:t>●</a:t>
              </a:r>
            </a:p>
          </p:txBody>
        </p:sp>
        <p:sp>
          <p:nvSpPr>
            <p:cNvPr id="495" name="TextBox 494">
              <a:extLst>
                <a:ext uri="{FF2B5EF4-FFF2-40B4-BE49-F238E27FC236}">
                  <a16:creationId xmlns="" xmlns:a16="http://schemas.microsoft.com/office/drawing/2014/main" id="{371DEE5A-1B36-43FA-89E6-F3BCF143BE9F}"/>
                </a:ext>
              </a:extLst>
            </p:cNvPr>
            <p:cNvSpPr txBox="1"/>
            <p:nvPr/>
          </p:nvSpPr>
          <p:spPr>
            <a:xfrm>
              <a:off x="6479078" y="5082630"/>
              <a:ext cx="252239" cy="180425"/>
            </a:xfrm>
            <a:prstGeom prst="rect">
              <a:avLst/>
            </a:prstGeom>
            <a:noFill/>
            <a:ln w="3175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none" lIns="36000" tIns="36000" rIns="36000" bIns="36000" numCol="1" rtlCol="0" anchor="ctr" anchorCtr="0" compatLnSpc="1">
              <a:prstTxWarp prst="textNoShape">
                <a:avLst/>
              </a:prstTxWarp>
              <a:spAutoFit/>
            </a:bodyPr>
            <a:lstStyle/>
            <a:p>
              <a:pPr algn="l"/>
              <a:r>
                <a:rPr lang="ko-KR" altLang="en-US" sz="7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전체</a:t>
              </a:r>
            </a:p>
          </p:txBody>
        </p:sp>
        <p:sp>
          <p:nvSpPr>
            <p:cNvPr id="496" name="사각형: 둥근 모서리 393">
              <a:extLst>
                <a:ext uri="{FF2B5EF4-FFF2-40B4-BE49-F238E27FC236}">
                  <a16:creationId xmlns="" xmlns:a16="http://schemas.microsoft.com/office/drawing/2014/main" id="{290E9852-4338-4EEA-B9C3-64E5DDED0B7A}"/>
                </a:ext>
              </a:extLst>
            </p:cNvPr>
            <p:cNvSpPr/>
            <p:nvPr/>
          </p:nvSpPr>
          <p:spPr bwMode="auto">
            <a:xfrm>
              <a:off x="6803357" y="5100843"/>
              <a:ext cx="144000" cy="144000"/>
            </a:xfrm>
            <a:prstGeom prst="ellipse">
              <a:avLst/>
            </a:prstGeom>
            <a:solidFill>
              <a:schemeClr val="bg1"/>
            </a:solidFill>
            <a:ln w="3175" cap="flat" cmpd="sng" algn="ctr">
              <a:solidFill>
                <a:schemeClr val="bg1">
                  <a:lumMod val="7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>
              <a:innerShdw blurRad="12700" dist="12700" dir="13500000">
                <a:schemeClr val="tx1">
                  <a:lumMod val="75000"/>
                  <a:lumOff val="25000"/>
                  <a:alpha val="30000"/>
                </a:schemeClr>
              </a:innerShdw>
            </a:effectLst>
          </p:spPr>
          <p:txBody>
  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fontAlgn="base" latinLnBrk="0">
                <a:spcBef>
                  <a:spcPct val="0"/>
                </a:spcBef>
                <a:spcAft>
                  <a:spcPct val="0"/>
                </a:spcAft>
              </a:pPr>
              <a:endParaRPr kumimoji="1" lang="ko-KR" altLang="en-US" sz="800" b="1" ker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497" name="TextBox 496">
              <a:extLst>
                <a:ext uri="{FF2B5EF4-FFF2-40B4-BE49-F238E27FC236}">
                  <a16:creationId xmlns="" xmlns:a16="http://schemas.microsoft.com/office/drawing/2014/main" id="{371DEE5A-1B36-43FA-89E6-F3BCF143BE9F}"/>
                </a:ext>
              </a:extLst>
            </p:cNvPr>
            <p:cNvSpPr txBox="1"/>
            <p:nvPr/>
          </p:nvSpPr>
          <p:spPr>
            <a:xfrm>
              <a:off x="6947357" y="5082630"/>
              <a:ext cx="123999" cy="180425"/>
            </a:xfrm>
            <a:prstGeom prst="rect">
              <a:avLst/>
            </a:prstGeom>
            <a:noFill/>
            <a:ln w="3175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none" lIns="36000" tIns="36000" rIns="36000" bIns="36000" numCol="1" rtlCol="0" anchor="ctr" anchorCtr="0" compatLnSpc="1">
              <a:prstTxWarp prst="textNoShape">
                <a:avLst/>
              </a:prstTxWarp>
              <a:spAutoFit/>
            </a:bodyPr>
            <a:lstStyle/>
            <a:p>
              <a:pPr algn="l"/>
              <a:r>
                <a:rPr lang="en-US" altLang="ko-KR" sz="7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Y</a:t>
              </a:r>
              <a:endParaRPr lang="ko-KR" altLang="en-US" sz="70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endParaRPr>
            </a:p>
          </p:txBody>
        </p:sp>
        <p:sp>
          <p:nvSpPr>
            <p:cNvPr id="498" name="사각형: 둥근 모서리 393">
              <a:extLst>
                <a:ext uri="{FF2B5EF4-FFF2-40B4-BE49-F238E27FC236}">
                  <a16:creationId xmlns="" xmlns:a16="http://schemas.microsoft.com/office/drawing/2014/main" id="{290E9852-4338-4EEA-B9C3-64E5DDED0B7A}"/>
                </a:ext>
              </a:extLst>
            </p:cNvPr>
            <p:cNvSpPr/>
            <p:nvPr/>
          </p:nvSpPr>
          <p:spPr bwMode="auto">
            <a:xfrm>
              <a:off x="7146053" y="5100843"/>
              <a:ext cx="144000" cy="144000"/>
            </a:xfrm>
            <a:prstGeom prst="ellipse">
              <a:avLst/>
            </a:prstGeom>
            <a:solidFill>
              <a:schemeClr val="bg1"/>
            </a:solidFill>
            <a:ln w="3175" cap="flat" cmpd="sng" algn="ctr">
              <a:solidFill>
                <a:schemeClr val="bg1">
                  <a:lumMod val="7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>
              <a:innerShdw blurRad="12700" dist="12700" dir="13500000">
                <a:schemeClr val="tx1">
                  <a:lumMod val="75000"/>
                  <a:lumOff val="25000"/>
                  <a:alpha val="30000"/>
                </a:schemeClr>
              </a:innerShdw>
            </a:effectLst>
          </p:spPr>
          <p:txBody>
  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fontAlgn="base" latinLnBrk="0">
                <a:spcBef>
                  <a:spcPct val="0"/>
                </a:spcBef>
                <a:spcAft>
                  <a:spcPct val="0"/>
                </a:spcAft>
              </a:pPr>
              <a:endParaRPr kumimoji="1" lang="ko-KR" altLang="en-US" sz="800" b="1" ker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499" name="TextBox 498">
              <a:extLst>
                <a:ext uri="{FF2B5EF4-FFF2-40B4-BE49-F238E27FC236}">
                  <a16:creationId xmlns="" xmlns:a16="http://schemas.microsoft.com/office/drawing/2014/main" id="{371DEE5A-1B36-43FA-89E6-F3BCF143BE9F}"/>
                </a:ext>
              </a:extLst>
            </p:cNvPr>
            <p:cNvSpPr txBox="1"/>
            <p:nvPr/>
          </p:nvSpPr>
          <p:spPr>
            <a:xfrm>
              <a:off x="7290053" y="5082630"/>
              <a:ext cx="141633" cy="180425"/>
            </a:xfrm>
            <a:prstGeom prst="rect">
              <a:avLst/>
            </a:prstGeom>
            <a:noFill/>
            <a:ln w="3175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none" lIns="36000" tIns="36000" rIns="36000" bIns="36000" numCol="1" rtlCol="0" anchor="ctr" anchorCtr="0" compatLnSpc="1">
              <a:prstTxWarp prst="textNoShape">
                <a:avLst/>
              </a:prstTxWarp>
              <a:spAutoFit/>
            </a:bodyPr>
            <a:lstStyle/>
            <a:p>
              <a:pPr algn="l"/>
              <a:r>
                <a:rPr lang="en-US" altLang="ko-KR" sz="70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N</a:t>
              </a:r>
              <a:endParaRPr lang="ko-KR" altLang="en-US" sz="70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endParaRPr>
            </a:p>
          </p:txBody>
        </p:sp>
      </p:grpSp>
      <p:sp>
        <p:nvSpPr>
          <p:cNvPr id="318" name="모서리가 둥근 직사각형 317"/>
          <p:cNvSpPr/>
          <p:nvPr/>
        </p:nvSpPr>
        <p:spPr>
          <a:xfrm>
            <a:off x="5147906" y="5965688"/>
            <a:ext cx="540000" cy="432000"/>
          </a:xfrm>
          <a:prstGeom prst="roundRect">
            <a:avLst/>
          </a:prstGeom>
          <a:solidFill>
            <a:schemeClr val="accent2">
              <a:alpha val="20000"/>
            </a:schemeClr>
          </a:solidFill>
          <a:ln w="317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19" name="모서리가 둥근 직사각형 318"/>
          <p:cNvSpPr/>
          <p:nvPr/>
        </p:nvSpPr>
        <p:spPr>
          <a:xfrm>
            <a:off x="7342594" y="4022126"/>
            <a:ext cx="2016000" cy="286515"/>
          </a:xfrm>
          <a:prstGeom prst="roundRect">
            <a:avLst/>
          </a:prstGeom>
          <a:solidFill>
            <a:schemeClr val="accent2">
              <a:alpha val="20000"/>
            </a:schemeClr>
          </a:solidFill>
          <a:ln w="317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5617881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Group 118">
            <a:extLst>
              <a:ext uri="{FF2B5EF4-FFF2-40B4-BE49-F238E27FC236}">
                <a16:creationId xmlns="" xmlns:a16="http://schemas.microsoft.com/office/drawing/2014/main" id="{41B5A014-BEDB-439E-A302-DBCECEC856B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42448955"/>
              </p:ext>
            </p:extLst>
          </p:nvPr>
        </p:nvGraphicFramePr>
        <p:xfrm>
          <a:off x="9647906" y="709700"/>
          <a:ext cx="2376000" cy="1172088"/>
        </p:xfrm>
        <a:graphic>
          <a:graphicData uri="http://schemas.openxmlformats.org/drawingml/2006/table">
            <a:tbl>
              <a:tblPr/>
              <a:tblGrid>
                <a:gridCol w="216000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2160000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</a:tblGrid>
              <a:tr h="2520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 Semilight" panose="020B0502040204020203" pitchFamily="50" charset="-127"/>
                        </a:rPr>
                        <a:t>No</a:t>
                      </a:r>
                    </a:p>
                  </a:txBody>
                  <a:tcPr marL="42203" marR="42203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en-US" altLang="ko-KR" sz="700" b="0" baseline="0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 Semilight" panose="020B0502040204020203" pitchFamily="50" charset="-127"/>
                        </a:rPr>
                        <a:t>Description</a:t>
                      </a:r>
                    </a:p>
                  </a:txBody>
                  <a:tcPr marL="108000" marR="108000" marT="36000" marB="3600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 Semilight" panose="020B0502040204020203" pitchFamily="50" charset="-127"/>
                        </a:rPr>
                        <a:t>1</a:t>
                      </a:r>
                    </a:p>
                  </a:txBody>
                  <a:tcPr marL="42203" marR="42203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ko-KR" altLang="en-US" sz="700" b="0" baseline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  <a:cs typeface="Malgun Gothic Semilight" panose="020B0502040204020203" pitchFamily="50" charset="-127"/>
                        </a:rPr>
                        <a:t>주문자정보 영역</a:t>
                      </a:r>
                      <a:endParaRPr lang="en-US" altLang="ko-KR" sz="700" b="0" baseline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  <a:cs typeface="Malgun Gothic Semilight" panose="020B0502040204020203" pitchFamily="50" charset="-127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en-US" altLang="ko-KR" sz="700" b="0" baseline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  <a:cs typeface="Malgun Gothic Semilight" panose="020B0502040204020203" pitchFamily="50" charset="-127"/>
                        </a:rPr>
                        <a:t> - </a:t>
                      </a:r>
                      <a:r>
                        <a:rPr lang="ko-KR" altLang="en-US" sz="700" b="0" baseline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  <a:cs typeface="Malgun Gothic Semilight" panose="020B0502040204020203" pitchFamily="50" charset="-127"/>
                        </a:rPr>
                        <a:t>기존 기능 유지</a:t>
                      </a:r>
                      <a:endParaRPr lang="en-US" altLang="ko-KR" sz="700" b="0" baseline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  <a:cs typeface="Malgun Gothic Semilight" panose="020B0502040204020203" pitchFamily="50" charset="-127"/>
                      </a:endParaRPr>
                    </a:p>
                  </a:txBody>
                  <a:tcPr marL="108000" marR="108000" marT="36000" marB="3600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 Semilight" panose="020B0502040204020203" pitchFamily="50" charset="-127"/>
                        </a:rPr>
                        <a:t>2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42203" marR="42203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ko-KR" altLang="en-US" sz="700" b="0" baseline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  <a:cs typeface="Malgun Gothic Semilight" panose="020B0502040204020203" pitchFamily="50" charset="-127"/>
                        </a:rPr>
                        <a:t>상세 내역 </a:t>
                      </a:r>
                      <a:r>
                        <a:rPr lang="en-US" altLang="ko-KR" sz="700" b="0" baseline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  <a:cs typeface="Malgun Gothic Semilight" panose="020B0502040204020203" pitchFamily="50" charset="-127"/>
                        </a:rPr>
                        <a:t>TAB </a:t>
                      </a:r>
                      <a:r>
                        <a:rPr lang="ko-KR" altLang="en-US" sz="700" b="0" baseline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  <a:cs typeface="Malgun Gothic Semilight" panose="020B0502040204020203" pitchFamily="50" charset="-127"/>
                        </a:rPr>
                        <a:t>영역</a:t>
                      </a:r>
                      <a:endParaRPr lang="en-US" altLang="ko-KR" sz="700" b="0" baseline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  <a:cs typeface="Malgun Gothic Semilight" panose="020B0502040204020203" pitchFamily="50" charset="-127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en-US" altLang="ko-KR" sz="700" b="0" baseline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  <a:cs typeface="Malgun Gothic Semilight" panose="020B0502040204020203" pitchFamily="50" charset="-127"/>
                        </a:rPr>
                        <a:t> - </a:t>
                      </a:r>
                      <a:r>
                        <a:rPr lang="ko-KR" altLang="en-US" sz="700" b="0" baseline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  <a:cs typeface="Malgun Gothic Semilight" panose="020B0502040204020203" pitchFamily="50" charset="-127"/>
                        </a:rPr>
                        <a:t>기존 기능 유지</a:t>
                      </a:r>
                      <a:endParaRPr lang="en-US" altLang="ko-KR" sz="700" b="0" baseline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  <a:cs typeface="Malgun Gothic Semilight" panose="020B0502040204020203" pitchFamily="50" charset="-127"/>
                      </a:endParaRPr>
                    </a:p>
                  </a:txBody>
                  <a:tcPr marL="108000" marR="108000" marT="36000" marB="3600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 Semilight" panose="020B0502040204020203" pitchFamily="50" charset="-127"/>
                        </a:rPr>
                        <a:t>3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42203" marR="42203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ko-KR" altLang="en-US" sz="700" b="0" baseline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  <a:cs typeface="Malgun Gothic Semilight" panose="020B0502040204020203" pitchFamily="50" charset="-127"/>
                        </a:rPr>
                        <a:t>주문 상품 리스트</a:t>
                      </a:r>
                      <a:endParaRPr lang="en-US" altLang="ko-KR" sz="700" b="0" baseline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  <a:cs typeface="Malgun Gothic Semilight" panose="020B0502040204020203" pitchFamily="50" charset="-127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en-US" altLang="ko-KR" sz="700" b="0" baseline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  <a:cs typeface="Malgun Gothic Semilight" panose="020B0502040204020203" pitchFamily="50" charset="-127"/>
                        </a:rPr>
                        <a:t> - </a:t>
                      </a:r>
                      <a:r>
                        <a:rPr lang="ko-KR" altLang="en-US" sz="700" b="0" baseline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  <a:cs typeface="Malgun Gothic Semilight" panose="020B0502040204020203" pitchFamily="50" charset="-127"/>
                        </a:rPr>
                        <a:t>컬럼 생성 여부 개발팀 의논 예정</a:t>
                      </a:r>
                      <a:endParaRPr lang="en-US" altLang="ko-KR" sz="700" b="0" baseline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  <a:cs typeface="Malgun Gothic Semilight" panose="020B0502040204020203" pitchFamily="50" charset="-127"/>
                      </a:endParaRPr>
                    </a:p>
                  </a:txBody>
                  <a:tcPr marL="108000" marR="108000" marT="36000" marB="3600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제목 1"/>
          <p:cNvSpPr txBox="1">
            <a:spLocks/>
          </p:cNvSpPr>
          <p:nvPr/>
        </p:nvSpPr>
        <p:spPr>
          <a:xfrm>
            <a:off x="1223906" y="142660"/>
            <a:ext cx="1080000" cy="216000"/>
          </a:xfrm>
          <a:prstGeom prst="rect">
            <a:avLst/>
          </a:prstGeom>
        </p:spPr>
        <p:txBody>
          <a:bodyPr lIns="36000" tIns="36000" rIns="36000" bIns="36000" anchor="ctr"/>
          <a:lstStyle>
            <a:lvl1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2pPr>
            <a:lvl3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3pPr>
            <a:lvl4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4pPr>
            <a:lvl5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5pPr>
            <a:lvl6pPr marL="457212" algn="ctr" rtl="0" fontAlgn="base" latinLnBrk="1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6pPr>
            <a:lvl7pPr marL="914423" algn="ctr" rtl="0" fontAlgn="base" latinLnBrk="1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7pPr>
            <a:lvl8pPr marL="1371634" algn="ctr" rtl="0" fontAlgn="base" latinLnBrk="1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8pPr>
            <a:lvl9pPr marL="1828846" algn="ctr" rtl="0" fontAlgn="base" latinLnBrk="1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r>
              <a:rPr lang="en-US" altLang="ko-KR" sz="8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nBOS</a:t>
            </a:r>
            <a:endParaRPr lang="ko-KR" altLang="en-US" sz="800" kern="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01" name="직사각형 200">
            <a:extLst>
              <a:ext uri="{FF2B5EF4-FFF2-40B4-BE49-F238E27FC236}">
                <a16:creationId xmlns="" xmlns:a16="http://schemas.microsoft.com/office/drawing/2014/main" id="{09B54577-DFD2-4CD0-A7A1-F1C86267855F}"/>
              </a:ext>
            </a:extLst>
          </p:cNvPr>
          <p:cNvSpPr/>
          <p:nvPr/>
        </p:nvSpPr>
        <p:spPr>
          <a:xfrm>
            <a:off x="143906" y="709700"/>
            <a:ext cx="9360000" cy="5688022"/>
          </a:xfrm>
          <a:prstGeom prst="rect">
            <a:avLst/>
          </a:prstGeom>
          <a:solidFill>
            <a:schemeClr val="tx1">
              <a:lumMod val="75000"/>
              <a:lumOff val="25000"/>
              <a:alpha val="7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 b="1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81" name="제목 1"/>
          <p:cNvSpPr txBox="1">
            <a:spLocks/>
          </p:cNvSpPr>
          <p:nvPr/>
        </p:nvSpPr>
        <p:spPr>
          <a:xfrm>
            <a:off x="1223906" y="358660"/>
            <a:ext cx="1080000" cy="216000"/>
          </a:xfrm>
          <a:prstGeom prst="rect">
            <a:avLst/>
          </a:prstGeom>
        </p:spPr>
        <p:txBody>
          <a:bodyPr lIns="36000" tIns="36000" rIns="36000" bIns="36000" anchor="ctr"/>
          <a:lstStyle>
            <a:lvl1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2pPr>
            <a:lvl3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3pPr>
            <a:lvl4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4pPr>
            <a:lvl5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5pPr>
            <a:lvl6pPr marL="457212" algn="ctr" rtl="0" fontAlgn="base" latinLnBrk="1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6pPr>
            <a:lvl7pPr marL="914423" algn="ctr" rtl="0" fontAlgn="base" latinLnBrk="1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7pPr>
            <a:lvl8pPr marL="1371634" algn="ctr" rtl="0" fontAlgn="base" latinLnBrk="1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8pPr>
            <a:lvl9pPr marL="1828846" algn="ctr" rtl="0" fontAlgn="base" latinLnBrk="1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r>
              <a:rPr lang="en-US" altLang="ko-KR" sz="800" ker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-</a:t>
            </a:r>
            <a:endParaRPr lang="ko-KR" altLang="en-US" sz="800" kern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82" name="제목 1">
            <a:extLst>
              <a:ext uri="{FF2B5EF4-FFF2-40B4-BE49-F238E27FC236}">
                <a16:creationId xmlns="" xmlns:a16="http://schemas.microsoft.com/office/drawing/2014/main" id="{03F65532-A01C-4981-B987-5E15F64E3ABB}"/>
              </a:ext>
            </a:extLst>
          </p:cNvPr>
          <p:cNvSpPr txBox="1">
            <a:spLocks/>
          </p:cNvSpPr>
          <p:nvPr/>
        </p:nvSpPr>
        <p:spPr>
          <a:xfrm>
            <a:off x="3383718" y="142660"/>
            <a:ext cx="4320000" cy="216000"/>
          </a:xfrm>
          <a:prstGeom prst="rect">
            <a:avLst/>
          </a:prstGeom>
        </p:spPr>
        <p:txBody>
          <a:bodyPr lIns="180000" tIns="36000" rIns="180000" bIns="36000" anchor="ctr"/>
          <a:lstStyle>
            <a:lvl1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2pPr>
            <a:lvl3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3pPr>
            <a:lvl4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4pPr>
            <a:lvl5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5pPr>
            <a:lvl6pPr marL="457212" algn="ctr" rtl="0" fontAlgn="base" latinLnBrk="1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6pPr>
            <a:lvl7pPr marL="914423" algn="ctr" rtl="0" fontAlgn="base" latinLnBrk="1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7pPr>
            <a:lvl8pPr marL="1371634" algn="ctr" rtl="0" fontAlgn="base" latinLnBrk="1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8pPr>
            <a:lvl9pPr marL="1828846" algn="ctr" rtl="0" fontAlgn="base" latinLnBrk="1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l"/>
            <a:r>
              <a:rPr lang="ko-KR" altLang="en-US" sz="800" ker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주문</a:t>
            </a:r>
            <a:r>
              <a:rPr lang="en-US" altLang="ko-KR" sz="800" ker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800" ker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배송 </a:t>
            </a:r>
            <a:r>
              <a:rPr lang="en-US" altLang="ko-KR" sz="800" ker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800" ker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주문관리 </a:t>
            </a:r>
            <a:r>
              <a:rPr lang="en-US" altLang="ko-KR" sz="800" ker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800" ker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주문목록 </a:t>
            </a:r>
            <a:r>
              <a:rPr lang="en-US" altLang="ko-KR" sz="800" ker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800" ker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주문정보상세</a:t>
            </a:r>
            <a:endParaRPr lang="ko-KR" altLang="en-US" sz="800" kern="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83" name="제목 1">
            <a:extLst>
              <a:ext uri="{FF2B5EF4-FFF2-40B4-BE49-F238E27FC236}">
                <a16:creationId xmlns="" xmlns:a16="http://schemas.microsoft.com/office/drawing/2014/main" id="{E2CFB5AD-2840-4821-B288-2284D6C0A05E}"/>
              </a:ext>
            </a:extLst>
          </p:cNvPr>
          <p:cNvSpPr txBox="1">
            <a:spLocks/>
          </p:cNvSpPr>
          <p:nvPr/>
        </p:nvSpPr>
        <p:spPr>
          <a:xfrm>
            <a:off x="3383718" y="358660"/>
            <a:ext cx="4320000" cy="216000"/>
          </a:xfrm>
          <a:prstGeom prst="rect">
            <a:avLst/>
          </a:prstGeom>
        </p:spPr>
        <p:txBody>
          <a:bodyPr lIns="180000" tIns="36000" rIns="180000" bIns="36000" anchor="ctr"/>
          <a:lstStyle>
            <a:lvl1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2pPr>
            <a:lvl3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3pPr>
            <a:lvl4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4pPr>
            <a:lvl5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5pPr>
            <a:lvl6pPr marL="457212" algn="ctr" rtl="0" fontAlgn="base" latinLnBrk="1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6pPr>
            <a:lvl7pPr marL="914423" algn="ctr" rtl="0" fontAlgn="base" latinLnBrk="1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7pPr>
            <a:lvl8pPr marL="1371634" algn="ctr" rtl="0" fontAlgn="base" latinLnBrk="1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8pPr>
            <a:lvl9pPr marL="1828846" algn="ctr" rtl="0" fontAlgn="base" latinLnBrk="1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l"/>
            <a:r>
              <a:rPr lang="en-US" altLang="ko-KR" sz="8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https://nbos.lfmall.co.kr/lfmadm/index.html</a:t>
            </a:r>
            <a:endParaRPr lang="ko-KR" altLang="en-US" sz="800" kern="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184" name="제목 1">
            <a:extLst>
              <a:ext uri="{FF2B5EF4-FFF2-40B4-BE49-F238E27FC236}">
                <a16:creationId xmlns="" xmlns:a16="http://schemas.microsoft.com/office/drawing/2014/main" id="{03F65532-A01C-4981-B987-5E15F64E3ABB}"/>
              </a:ext>
            </a:extLst>
          </p:cNvPr>
          <p:cNvSpPr txBox="1">
            <a:spLocks/>
          </p:cNvSpPr>
          <p:nvPr/>
        </p:nvSpPr>
        <p:spPr>
          <a:xfrm>
            <a:off x="8783530" y="142660"/>
            <a:ext cx="1079290" cy="432000"/>
          </a:xfrm>
          <a:prstGeom prst="rect">
            <a:avLst/>
          </a:prstGeom>
        </p:spPr>
        <p:txBody>
          <a:bodyPr lIns="180000" tIns="36000" rIns="180000" bIns="36000" anchor="ctr"/>
          <a:lstStyle>
            <a:lvl1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2pPr>
            <a:lvl3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3pPr>
            <a:lvl4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4pPr>
            <a:lvl5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5pPr>
            <a:lvl6pPr marL="457212" algn="ctr" rtl="0" fontAlgn="base" latinLnBrk="1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6pPr>
            <a:lvl7pPr marL="914423" algn="ctr" rtl="0" fontAlgn="base" latinLnBrk="1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7pPr>
            <a:lvl8pPr marL="1371634" algn="ctr" rtl="0" fontAlgn="base" latinLnBrk="1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8pPr>
            <a:lvl9pPr marL="1828846" algn="ctr" rtl="0" fontAlgn="base" latinLnBrk="1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r>
              <a:rPr lang="ko-KR" altLang="en-US" sz="800" kern="0"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</a:rPr>
              <a:t>최범열</a:t>
            </a:r>
          </a:p>
        </p:txBody>
      </p:sp>
      <p:sp>
        <p:nvSpPr>
          <p:cNvPr id="202" name="사각형: 둥근 모서리 58">
            <a:extLst>
              <a:ext uri="{FF2B5EF4-FFF2-40B4-BE49-F238E27FC236}">
                <a16:creationId xmlns="" xmlns:a16="http://schemas.microsoft.com/office/drawing/2014/main" id="{DD080841-1344-4C9C-ADD3-8387E4C1C248}"/>
              </a:ext>
            </a:extLst>
          </p:cNvPr>
          <p:cNvSpPr/>
          <p:nvPr/>
        </p:nvSpPr>
        <p:spPr bwMode="auto">
          <a:xfrm>
            <a:off x="683906" y="1033711"/>
            <a:ext cx="8280000" cy="5040000"/>
          </a:xfrm>
          <a:prstGeom prst="roundRect">
            <a:avLst>
              <a:gd name="adj" fmla="val 750"/>
            </a:avLst>
          </a:prstGeom>
          <a:solidFill>
            <a:srgbClr val="FFFFFF"/>
          </a:solidFill>
          <a:ln w="3175" cap="flat" cmpd="sng" algn="ctr">
            <a:solidFill>
              <a:srgbClr val="FFFFFF">
                <a:lumMod val="75000"/>
              </a:srgbClr>
            </a:solidFill>
            <a:prstDash val="solid"/>
            <a:round/>
            <a:headEnd type="none" w="med" len="med"/>
            <a:tailEnd type="none" w="med" len="med"/>
          </a:ln>
          <a:effectLst>
            <a:outerShdw blurRad="25400" dist="12700" dir="2700000" algn="tl" rotWithShape="0">
              <a:prstClr val="black">
                <a:alpha val="60000"/>
              </a:prstClr>
            </a:outerShdw>
          </a:effectLst>
        </p:spPr>
        <p:txBody>
          <a:bodyPr vert="horz" wrap="square" lIns="36000" tIns="36000" rIns="36000" bIns="3600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87313" indent="-87313" algn="ctr" defTabSz="914400" fontAlgn="base" latinLnBrk="0">
              <a:lnSpc>
                <a:spcPct val="110000"/>
              </a:lnSpc>
              <a:spcBef>
                <a:spcPct val="25000"/>
              </a:spcBef>
              <a:spcAft>
                <a:spcPct val="0"/>
              </a:spcAft>
              <a:defRPr/>
            </a:pPr>
            <a:endParaRPr kumimoji="1" lang="ko-KR" altLang="en-US" sz="700" kern="0">
              <a:solidFill>
                <a:srgbClr val="000000">
                  <a:lumMod val="75000"/>
                  <a:lumOff val="25000"/>
                </a:srgb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203" name="사각형: 둥근 모서리 59">
            <a:extLst>
              <a:ext uri="{FF2B5EF4-FFF2-40B4-BE49-F238E27FC236}">
                <a16:creationId xmlns="" xmlns:a16="http://schemas.microsoft.com/office/drawing/2014/main" id="{0292A016-C154-4D66-B0A3-EA847A752A31}"/>
              </a:ext>
            </a:extLst>
          </p:cNvPr>
          <p:cNvSpPr/>
          <p:nvPr/>
        </p:nvSpPr>
        <p:spPr bwMode="auto">
          <a:xfrm>
            <a:off x="683906" y="1033711"/>
            <a:ext cx="8280000" cy="287752"/>
          </a:xfrm>
          <a:prstGeom prst="roundRect">
            <a:avLst>
              <a:gd name="adj" fmla="val 12975"/>
            </a:avLst>
          </a:prstGeom>
          <a:solidFill>
            <a:srgbClr val="FFFFFF">
              <a:lumMod val="85000"/>
            </a:srgbClr>
          </a:solidFill>
          <a:ln w="3175" cap="flat" cmpd="sng" algn="ctr">
            <a:solidFill>
              <a:srgbClr val="FFFFFF">
                <a:lumMod val="75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36000" rIns="36000" bIns="3600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87313" indent="-87313" defTabSz="914400" fontAlgn="base" latinLnBrk="0">
              <a:lnSpc>
                <a:spcPct val="110000"/>
              </a:lnSpc>
              <a:spcBef>
                <a:spcPct val="25000"/>
              </a:spcBef>
              <a:spcAft>
                <a:spcPct val="0"/>
              </a:spcAft>
              <a:defRPr/>
            </a:pPr>
            <a:r>
              <a:rPr kumimoji="1" lang="ko-KR" altLang="en-US" sz="800" b="1" kern="0">
                <a:solidFill>
                  <a:srgbClr val="000000">
                    <a:lumMod val="75000"/>
                    <a:lumOff val="25000"/>
                  </a:srgbClr>
                </a:solidFill>
                <a:latin typeface="맑은 고딕" panose="020B0503020000020004" pitchFamily="50" charset="-127"/>
              </a:rPr>
              <a:t>주문정보상세</a:t>
            </a:r>
          </a:p>
        </p:txBody>
      </p:sp>
      <p:sp>
        <p:nvSpPr>
          <p:cNvPr id="204" name="곱하기 기호 199">
            <a:extLst>
              <a:ext uri="{FF2B5EF4-FFF2-40B4-BE49-F238E27FC236}">
                <a16:creationId xmlns="" xmlns:a16="http://schemas.microsoft.com/office/drawing/2014/main" id="{FC59F712-927B-4C6B-A7B9-6F7D03C2E8DC}"/>
              </a:ext>
            </a:extLst>
          </p:cNvPr>
          <p:cNvSpPr/>
          <p:nvPr/>
        </p:nvSpPr>
        <p:spPr bwMode="auto">
          <a:xfrm>
            <a:off x="8712512" y="1105587"/>
            <a:ext cx="144000" cy="144000"/>
          </a:xfrm>
          <a:prstGeom prst="mathMultiply">
            <a:avLst>
              <a:gd name="adj1" fmla="val 0"/>
            </a:avLst>
          </a:prstGeom>
          <a:noFill/>
          <a:ln w="6350" cap="flat" cmpd="sng" algn="ctr">
            <a:solidFill>
              <a:srgbClr val="FFFFFF">
                <a:lumMod val="50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87313" indent="-87313" algn="ctr" defTabSz="914400" fontAlgn="base" latinLnBrk="0">
              <a:lnSpc>
                <a:spcPct val="110000"/>
              </a:lnSpc>
              <a:spcBef>
                <a:spcPct val="25000"/>
              </a:spcBef>
              <a:spcAft>
                <a:spcPct val="0"/>
              </a:spcAft>
              <a:buFont typeface="Wingdings" pitchFamily="2" charset="2"/>
              <a:buNone/>
              <a:defRPr/>
            </a:pPr>
            <a:endParaRPr kumimoji="1" lang="ko-KR" altLang="en-US" sz="800" b="1" kern="0">
              <a:solidFill>
                <a:srgbClr val="000000">
                  <a:lumMod val="75000"/>
                  <a:lumOff val="25000"/>
                </a:srgb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311" name="직사각형 310">
            <a:extLst>
              <a:ext uri="{FF2B5EF4-FFF2-40B4-BE49-F238E27FC236}">
                <a16:creationId xmlns="" xmlns:a16="http://schemas.microsoft.com/office/drawing/2014/main" id="{E955F0F7-52A0-48E2-96C0-51A6B4AD6027}"/>
              </a:ext>
            </a:extLst>
          </p:cNvPr>
          <p:cNvSpPr/>
          <p:nvPr/>
        </p:nvSpPr>
        <p:spPr>
          <a:xfrm>
            <a:off x="827906" y="1753205"/>
            <a:ext cx="7992000" cy="288000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36000" rIns="36000" bIns="36000" rtlCol="0" anchor="ctr"/>
          <a:lstStyle/>
          <a:p>
            <a:endParaRPr lang="ko-KR" altLang="en-US" sz="700" b="1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316" name="그룹 315"/>
          <p:cNvGrpSpPr/>
          <p:nvPr/>
        </p:nvGrpSpPr>
        <p:grpSpPr>
          <a:xfrm>
            <a:off x="827906" y="2041119"/>
            <a:ext cx="1980000" cy="288000"/>
            <a:chOff x="2807906" y="1285538"/>
            <a:chExt cx="1980000" cy="288000"/>
          </a:xfrm>
        </p:grpSpPr>
        <p:sp>
          <p:nvSpPr>
            <p:cNvPr id="317" name="직사각형 316">
              <a:extLst>
                <a:ext uri="{FF2B5EF4-FFF2-40B4-BE49-F238E27FC236}">
                  <a16:creationId xmlns="" xmlns:a16="http://schemas.microsoft.com/office/drawing/2014/main" id="{2086226C-F3B2-4253-81E2-3DD09EF4018E}"/>
                </a:ext>
              </a:extLst>
            </p:cNvPr>
            <p:cNvSpPr/>
            <p:nvPr/>
          </p:nvSpPr>
          <p:spPr>
            <a:xfrm>
              <a:off x="2807906" y="1285538"/>
              <a:ext cx="828000" cy="288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36000" rIns="36000" bIns="36000" rtlCol="0" anchor="ctr"/>
            <a:lstStyle/>
            <a:p>
              <a:r>
                <a:rPr lang="ko-KR" altLang="en-US" sz="70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주문자</a:t>
              </a:r>
              <a:endParaRPr lang="ko-KR" altLang="en-US" sz="7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318" name="직사각형 317">
              <a:extLst>
                <a:ext uri="{FF2B5EF4-FFF2-40B4-BE49-F238E27FC236}">
                  <a16:creationId xmlns="" xmlns:a16="http://schemas.microsoft.com/office/drawing/2014/main" id="{E955F0F7-52A0-48E2-96C0-51A6B4AD6027}"/>
                </a:ext>
              </a:extLst>
            </p:cNvPr>
            <p:cNvSpPr/>
            <p:nvPr/>
          </p:nvSpPr>
          <p:spPr>
            <a:xfrm>
              <a:off x="3635906" y="1285538"/>
              <a:ext cx="1152000" cy="288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36000" rIns="108000" bIns="36000" rtlCol="0" anchor="ctr"/>
            <a:lstStyle/>
            <a:p>
              <a:r>
                <a:rPr lang="en-US" altLang="ko-KR" sz="70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*</a:t>
              </a:r>
              <a:r>
                <a:rPr lang="ko-KR" altLang="en-US" sz="70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길</a:t>
              </a:r>
              <a:r>
                <a:rPr lang="en-US" altLang="ko-KR" sz="70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*</a:t>
              </a:r>
              <a:endParaRPr lang="ko-KR" altLang="en-US" sz="7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grpSp>
        <p:nvGrpSpPr>
          <p:cNvPr id="14" name="그룹 13"/>
          <p:cNvGrpSpPr/>
          <p:nvPr/>
        </p:nvGrpSpPr>
        <p:grpSpPr>
          <a:xfrm>
            <a:off x="2807906" y="2041119"/>
            <a:ext cx="2016000" cy="288000"/>
            <a:chOff x="2807906" y="2383119"/>
            <a:chExt cx="2016000" cy="288000"/>
          </a:xfrm>
        </p:grpSpPr>
        <p:sp>
          <p:nvSpPr>
            <p:cNvPr id="321" name="직사각형 320">
              <a:extLst>
                <a:ext uri="{FF2B5EF4-FFF2-40B4-BE49-F238E27FC236}">
                  <a16:creationId xmlns="" xmlns:a16="http://schemas.microsoft.com/office/drawing/2014/main" id="{2086226C-F3B2-4253-81E2-3DD09EF4018E}"/>
                </a:ext>
              </a:extLst>
            </p:cNvPr>
            <p:cNvSpPr/>
            <p:nvPr/>
          </p:nvSpPr>
          <p:spPr>
            <a:xfrm>
              <a:off x="2807906" y="2383119"/>
              <a:ext cx="828000" cy="288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36000" rIns="36000" bIns="36000" rtlCol="0" anchor="ctr"/>
            <a:lstStyle/>
            <a:p>
              <a:r>
                <a:rPr lang="ko-KR" altLang="en-US" sz="70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아이디</a:t>
              </a:r>
              <a:endParaRPr lang="ko-KR" altLang="en-US" sz="7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322" name="직사각형 321">
              <a:extLst>
                <a:ext uri="{FF2B5EF4-FFF2-40B4-BE49-F238E27FC236}">
                  <a16:creationId xmlns="" xmlns:a16="http://schemas.microsoft.com/office/drawing/2014/main" id="{E955F0F7-52A0-48E2-96C0-51A6B4AD6027}"/>
                </a:ext>
              </a:extLst>
            </p:cNvPr>
            <p:cNvSpPr/>
            <p:nvPr/>
          </p:nvSpPr>
          <p:spPr>
            <a:xfrm>
              <a:off x="3635906" y="2383119"/>
              <a:ext cx="1188000" cy="288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36000" rIns="108000" bIns="36000" rtlCol="0" anchor="ctr"/>
            <a:lstStyle/>
            <a:p>
              <a:r>
                <a:rPr lang="en-US" altLang="ko-KR" sz="70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ab***234</a:t>
              </a:r>
              <a:endParaRPr lang="ko-KR" altLang="en-US" sz="7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sp>
        <p:nvSpPr>
          <p:cNvPr id="200" name="TextBox 199">
            <a:extLst>
              <a:ext uri="{FF2B5EF4-FFF2-40B4-BE49-F238E27FC236}">
                <a16:creationId xmlns="" xmlns:a16="http://schemas.microsoft.com/office/drawing/2014/main" id="{87DCF5B8-61F6-4E97-889B-24A0F3E5B471}"/>
              </a:ext>
            </a:extLst>
          </p:cNvPr>
          <p:cNvSpPr txBox="1"/>
          <p:nvPr/>
        </p:nvSpPr>
        <p:spPr>
          <a:xfrm>
            <a:off x="827906" y="1511630"/>
            <a:ext cx="767940" cy="195814"/>
          </a:xfrm>
          <a:prstGeom prst="rect">
            <a:avLst/>
          </a:prstGeom>
          <a:noFill/>
          <a:ln w="317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108000" tIns="36000" rIns="108000" bIns="36000" numCol="1" rtlCol="0" anchor="ctr" anchorCtr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ko-KR" altLang="en-US" sz="800" b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주문자 정보</a:t>
            </a:r>
            <a:endParaRPr lang="ko-KR" altLang="en-US" sz="800" b="1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</p:txBody>
      </p:sp>
      <p:sp>
        <p:nvSpPr>
          <p:cNvPr id="205" name="사각형: 둥근 모서리 244">
            <a:extLst>
              <a:ext uri="{FF2B5EF4-FFF2-40B4-BE49-F238E27FC236}">
                <a16:creationId xmlns="" xmlns:a16="http://schemas.microsoft.com/office/drawing/2014/main" id="{6A3ABAA2-A5F4-4C8F-B9C8-C37B43E8884D}"/>
              </a:ext>
            </a:extLst>
          </p:cNvPr>
          <p:cNvSpPr/>
          <p:nvPr/>
        </p:nvSpPr>
        <p:spPr bwMode="auto">
          <a:xfrm>
            <a:off x="8208037" y="1807205"/>
            <a:ext cx="540000" cy="18000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317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12700" dist="12700" dir="2700000" algn="tl" rotWithShape="0">
              <a:schemeClr val="tx1">
                <a:lumMod val="75000"/>
                <a:lumOff val="25000"/>
                <a:alpha val="30000"/>
              </a:schemeClr>
            </a:outerShdw>
          </a:effectLst>
        </p:spPr>
        <p:txBody>
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400" fontAlgn="base" latinLnBrk="0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700" kern="0">
                <a:solidFill>
                  <a:schemeClr val="bg1"/>
                </a:solidFill>
                <a:latin typeface="+mn-ea"/>
              </a:rPr>
              <a:t>LMS </a:t>
            </a:r>
            <a:r>
              <a:rPr kumimoji="1" lang="ko-KR" altLang="en-US" sz="700" kern="0">
                <a:solidFill>
                  <a:schemeClr val="bg1"/>
                </a:solidFill>
                <a:latin typeface="+mn-ea"/>
              </a:rPr>
              <a:t>발송</a:t>
            </a:r>
            <a:endParaRPr kumimoji="1" lang="ko-KR" altLang="en-US" sz="700" kern="0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232" name="직사각형 231">
            <a:extLst>
              <a:ext uri="{FF2B5EF4-FFF2-40B4-BE49-F238E27FC236}">
                <a16:creationId xmlns="" xmlns:a16="http://schemas.microsoft.com/office/drawing/2014/main" id="{2086226C-F3B2-4253-81E2-3DD09EF4018E}"/>
              </a:ext>
            </a:extLst>
          </p:cNvPr>
          <p:cNvSpPr/>
          <p:nvPr/>
        </p:nvSpPr>
        <p:spPr>
          <a:xfrm>
            <a:off x="4823906" y="2041119"/>
            <a:ext cx="828000" cy="288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36000" rIns="36000" bIns="36000" rtlCol="0" anchor="ctr"/>
          <a:lstStyle/>
          <a:p>
            <a:r>
              <a:rPr lang="ko-KR" altLang="en-US" sz="7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주문번호</a:t>
            </a:r>
            <a:endParaRPr lang="ko-KR" altLang="en-US" sz="7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233" name="직사각형 232">
            <a:extLst>
              <a:ext uri="{FF2B5EF4-FFF2-40B4-BE49-F238E27FC236}">
                <a16:creationId xmlns="" xmlns:a16="http://schemas.microsoft.com/office/drawing/2014/main" id="{E955F0F7-52A0-48E2-96C0-51A6B4AD6027}"/>
              </a:ext>
            </a:extLst>
          </p:cNvPr>
          <p:cNvSpPr/>
          <p:nvPr/>
        </p:nvSpPr>
        <p:spPr>
          <a:xfrm>
            <a:off x="5651906" y="2041119"/>
            <a:ext cx="1152000" cy="288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36000" rIns="108000" bIns="36000" rtlCol="0" anchor="ctr"/>
          <a:lstStyle/>
          <a:p>
            <a:r>
              <a:rPr lang="en-US" altLang="ko-KR" sz="7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12345678</a:t>
            </a:r>
            <a:endParaRPr lang="ko-KR" altLang="en-US" sz="7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29" name="직사각형 228">
            <a:extLst>
              <a:ext uri="{FF2B5EF4-FFF2-40B4-BE49-F238E27FC236}">
                <a16:creationId xmlns="" xmlns:a16="http://schemas.microsoft.com/office/drawing/2014/main" id="{2086226C-F3B2-4253-81E2-3DD09EF4018E}"/>
              </a:ext>
            </a:extLst>
          </p:cNvPr>
          <p:cNvSpPr/>
          <p:nvPr/>
        </p:nvSpPr>
        <p:spPr>
          <a:xfrm>
            <a:off x="6803906" y="2041119"/>
            <a:ext cx="828000" cy="288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36000" rIns="36000" bIns="36000" rtlCol="0" anchor="ctr"/>
          <a:lstStyle/>
          <a:p>
            <a:r>
              <a:rPr lang="ko-KR" altLang="en-US" sz="7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전화번호</a:t>
            </a:r>
            <a:endParaRPr lang="ko-KR" altLang="en-US" sz="7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230" name="직사각형 229">
            <a:extLst>
              <a:ext uri="{FF2B5EF4-FFF2-40B4-BE49-F238E27FC236}">
                <a16:creationId xmlns="" xmlns:a16="http://schemas.microsoft.com/office/drawing/2014/main" id="{E955F0F7-52A0-48E2-96C0-51A6B4AD6027}"/>
              </a:ext>
            </a:extLst>
          </p:cNvPr>
          <p:cNvSpPr/>
          <p:nvPr/>
        </p:nvSpPr>
        <p:spPr>
          <a:xfrm>
            <a:off x="7631906" y="2041119"/>
            <a:ext cx="1188000" cy="288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36000" rIns="108000" bIns="36000" rtlCol="0" anchor="ctr"/>
          <a:lstStyle/>
          <a:p>
            <a:endParaRPr lang="ko-KR" altLang="en-US" sz="7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255" name="그룹 254"/>
          <p:cNvGrpSpPr/>
          <p:nvPr/>
        </p:nvGrpSpPr>
        <p:grpSpPr>
          <a:xfrm>
            <a:off x="827906" y="2329033"/>
            <a:ext cx="1980000" cy="288000"/>
            <a:chOff x="2807906" y="1285538"/>
            <a:chExt cx="1980000" cy="288000"/>
          </a:xfrm>
        </p:grpSpPr>
        <p:sp>
          <p:nvSpPr>
            <p:cNvPr id="257" name="직사각형 256">
              <a:extLst>
                <a:ext uri="{FF2B5EF4-FFF2-40B4-BE49-F238E27FC236}">
                  <a16:creationId xmlns="" xmlns:a16="http://schemas.microsoft.com/office/drawing/2014/main" id="{2086226C-F3B2-4253-81E2-3DD09EF4018E}"/>
                </a:ext>
              </a:extLst>
            </p:cNvPr>
            <p:cNvSpPr/>
            <p:nvPr/>
          </p:nvSpPr>
          <p:spPr>
            <a:xfrm>
              <a:off x="2807906" y="1285538"/>
              <a:ext cx="828000" cy="288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36000" rIns="36000" bIns="36000" rtlCol="0" anchor="ctr"/>
            <a:lstStyle/>
            <a:p>
              <a:r>
                <a:rPr lang="ko-KR" altLang="en-US" sz="70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휴대폰번호</a:t>
              </a:r>
              <a:endParaRPr lang="ko-KR" altLang="en-US" sz="7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258" name="직사각형 257">
              <a:extLst>
                <a:ext uri="{FF2B5EF4-FFF2-40B4-BE49-F238E27FC236}">
                  <a16:creationId xmlns="" xmlns:a16="http://schemas.microsoft.com/office/drawing/2014/main" id="{E955F0F7-52A0-48E2-96C0-51A6B4AD6027}"/>
                </a:ext>
              </a:extLst>
            </p:cNvPr>
            <p:cNvSpPr/>
            <p:nvPr/>
          </p:nvSpPr>
          <p:spPr>
            <a:xfrm>
              <a:off x="3635906" y="1285538"/>
              <a:ext cx="1152000" cy="288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36000" rIns="108000" bIns="36000" rtlCol="0" anchor="ctr"/>
            <a:lstStyle/>
            <a:p>
              <a:r>
                <a:rPr lang="en-US" altLang="ko-KR" sz="70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010-****-5678</a:t>
              </a:r>
              <a:endParaRPr lang="ko-KR" altLang="en-US" sz="7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grpSp>
        <p:nvGrpSpPr>
          <p:cNvPr id="259" name="그룹 258"/>
          <p:cNvGrpSpPr/>
          <p:nvPr/>
        </p:nvGrpSpPr>
        <p:grpSpPr>
          <a:xfrm>
            <a:off x="2807906" y="2329033"/>
            <a:ext cx="2016000" cy="288000"/>
            <a:chOff x="2807906" y="2383119"/>
            <a:chExt cx="2016000" cy="288000"/>
          </a:xfrm>
        </p:grpSpPr>
        <p:sp>
          <p:nvSpPr>
            <p:cNvPr id="261" name="직사각형 260">
              <a:extLst>
                <a:ext uri="{FF2B5EF4-FFF2-40B4-BE49-F238E27FC236}">
                  <a16:creationId xmlns="" xmlns:a16="http://schemas.microsoft.com/office/drawing/2014/main" id="{2086226C-F3B2-4253-81E2-3DD09EF4018E}"/>
                </a:ext>
              </a:extLst>
            </p:cNvPr>
            <p:cNvSpPr/>
            <p:nvPr/>
          </p:nvSpPr>
          <p:spPr>
            <a:xfrm>
              <a:off x="2807906" y="2383119"/>
              <a:ext cx="828000" cy="288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36000" rIns="36000" bIns="36000" rtlCol="0" anchor="ctr"/>
            <a:lstStyle/>
            <a:p>
              <a:r>
                <a:rPr lang="ko-KR" altLang="en-US" sz="70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회원구분</a:t>
              </a:r>
              <a:endParaRPr lang="ko-KR" altLang="en-US" sz="7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274" name="직사각형 273">
              <a:extLst>
                <a:ext uri="{FF2B5EF4-FFF2-40B4-BE49-F238E27FC236}">
                  <a16:creationId xmlns="" xmlns:a16="http://schemas.microsoft.com/office/drawing/2014/main" id="{E955F0F7-52A0-48E2-96C0-51A6B4AD6027}"/>
                </a:ext>
              </a:extLst>
            </p:cNvPr>
            <p:cNvSpPr/>
            <p:nvPr/>
          </p:nvSpPr>
          <p:spPr>
            <a:xfrm>
              <a:off x="3635906" y="2383119"/>
              <a:ext cx="1188000" cy="288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36000" rIns="108000" bIns="36000" rtlCol="0" anchor="ctr"/>
            <a:lstStyle/>
            <a:p>
              <a:r>
                <a:rPr lang="ko-KR" altLang="en-US" sz="70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패션패밀리</a:t>
              </a:r>
              <a:r>
                <a:rPr lang="en-US" altLang="ko-KR" sz="70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(LGFF)</a:t>
              </a:r>
              <a:endParaRPr lang="ko-KR" altLang="en-US" sz="7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sp>
        <p:nvSpPr>
          <p:cNvPr id="276" name="직사각형 275">
            <a:extLst>
              <a:ext uri="{FF2B5EF4-FFF2-40B4-BE49-F238E27FC236}">
                <a16:creationId xmlns="" xmlns:a16="http://schemas.microsoft.com/office/drawing/2014/main" id="{2086226C-F3B2-4253-81E2-3DD09EF4018E}"/>
              </a:ext>
            </a:extLst>
          </p:cNvPr>
          <p:cNvSpPr/>
          <p:nvPr/>
        </p:nvSpPr>
        <p:spPr>
          <a:xfrm>
            <a:off x="4823906" y="2329033"/>
            <a:ext cx="828000" cy="288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36000" rIns="36000" bIns="36000" rtlCol="0" anchor="ctr"/>
          <a:lstStyle/>
          <a:p>
            <a:r>
              <a:rPr lang="ko-KR" altLang="en-US" sz="7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등급</a:t>
            </a:r>
            <a:endParaRPr lang="ko-KR" altLang="en-US" sz="7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277" name="직사각형 276">
            <a:extLst>
              <a:ext uri="{FF2B5EF4-FFF2-40B4-BE49-F238E27FC236}">
                <a16:creationId xmlns="" xmlns:a16="http://schemas.microsoft.com/office/drawing/2014/main" id="{E955F0F7-52A0-48E2-96C0-51A6B4AD6027}"/>
              </a:ext>
            </a:extLst>
          </p:cNvPr>
          <p:cNvSpPr/>
          <p:nvPr/>
        </p:nvSpPr>
        <p:spPr>
          <a:xfrm>
            <a:off x="5651906" y="2329033"/>
            <a:ext cx="1152000" cy="288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36000" rIns="108000" bIns="36000" rtlCol="0" anchor="ctr"/>
          <a:lstStyle/>
          <a:p>
            <a:r>
              <a:rPr lang="en-US" altLang="ko-KR" sz="7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Gold</a:t>
            </a:r>
            <a:endParaRPr lang="ko-KR" altLang="en-US" sz="7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78" name="직사각형 277">
            <a:extLst>
              <a:ext uri="{FF2B5EF4-FFF2-40B4-BE49-F238E27FC236}">
                <a16:creationId xmlns="" xmlns:a16="http://schemas.microsoft.com/office/drawing/2014/main" id="{2086226C-F3B2-4253-81E2-3DD09EF4018E}"/>
              </a:ext>
            </a:extLst>
          </p:cNvPr>
          <p:cNvSpPr/>
          <p:nvPr/>
        </p:nvSpPr>
        <p:spPr>
          <a:xfrm>
            <a:off x="6803906" y="2329033"/>
            <a:ext cx="828000" cy="288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36000" rIns="36000" bIns="36000" rtlCol="0" anchor="ctr"/>
          <a:lstStyle/>
          <a:p>
            <a:r>
              <a:rPr lang="ko-KR" altLang="en-US" sz="7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관리대상</a:t>
            </a:r>
            <a:endParaRPr lang="ko-KR" altLang="en-US" sz="7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279" name="직사각형 278">
            <a:extLst>
              <a:ext uri="{FF2B5EF4-FFF2-40B4-BE49-F238E27FC236}">
                <a16:creationId xmlns="" xmlns:a16="http://schemas.microsoft.com/office/drawing/2014/main" id="{E955F0F7-52A0-48E2-96C0-51A6B4AD6027}"/>
              </a:ext>
            </a:extLst>
          </p:cNvPr>
          <p:cNvSpPr/>
          <p:nvPr/>
        </p:nvSpPr>
        <p:spPr>
          <a:xfrm>
            <a:off x="7631906" y="2329033"/>
            <a:ext cx="1188000" cy="288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36000" rIns="108000" bIns="36000" rtlCol="0" anchor="ctr"/>
          <a:lstStyle/>
          <a:p>
            <a:endParaRPr lang="ko-KR" altLang="en-US" sz="7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280" name="그룹 279"/>
          <p:cNvGrpSpPr/>
          <p:nvPr/>
        </p:nvGrpSpPr>
        <p:grpSpPr>
          <a:xfrm>
            <a:off x="827906" y="2617044"/>
            <a:ext cx="1980000" cy="288000"/>
            <a:chOff x="2807906" y="1285538"/>
            <a:chExt cx="1980000" cy="288000"/>
          </a:xfrm>
        </p:grpSpPr>
        <p:sp>
          <p:nvSpPr>
            <p:cNvPr id="281" name="직사각형 280">
              <a:extLst>
                <a:ext uri="{FF2B5EF4-FFF2-40B4-BE49-F238E27FC236}">
                  <a16:creationId xmlns="" xmlns:a16="http://schemas.microsoft.com/office/drawing/2014/main" id="{2086226C-F3B2-4253-81E2-3DD09EF4018E}"/>
                </a:ext>
              </a:extLst>
            </p:cNvPr>
            <p:cNvSpPr/>
            <p:nvPr/>
          </p:nvSpPr>
          <p:spPr>
            <a:xfrm>
              <a:off x="2807906" y="1285538"/>
              <a:ext cx="828000" cy="288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36000" rIns="36000" bIns="36000" rtlCol="0" anchor="ctr"/>
            <a:lstStyle/>
            <a:p>
              <a:r>
                <a:rPr lang="ko-KR" altLang="en-US" sz="70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성별</a:t>
              </a:r>
              <a:endParaRPr lang="ko-KR" altLang="en-US" sz="7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282" name="직사각형 281">
              <a:extLst>
                <a:ext uri="{FF2B5EF4-FFF2-40B4-BE49-F238E27FC236}">
                  <a16:creationId xmlns="" xmlns:a16="http://schemas.microsoft.com/office/drawing/2014/main" id="{E955F0F7-52A0-48E2-96C0-51A6B4AD6027}"/>
                </a:ext>
              </a:extLst>
            </p:cNvPr>
            <p:cNvSpPr/>
            <p:nvPr/>
          </p:nvSpPr>
          <p:spPr>
            <a:xfrm>
              <a:off x="3635906" y="1285538"/>
              <a:ext cx="1152000" cy="288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36000" rIns="108000" bIns="36000" rtlCol="0" anchor="ctr"/>
            <a:lstStyle/>
            <a:p>
              <a:r>
                <a:rPr lang="ko-KR" altLang="en-US" sz="70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남자</a:t>
              </a:r>
              <a:endParaRPr lang="ko-KR" altLang="en-US" sz="7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grpSp>
        <p:nvGrpSpPr>
          <p:cNvPr id="283" name="그룹 282"/>
          <p:cNvGrpSpPr/>
          <p:nvPr/>
        </p:nvGrpSpPr>
        <p:grpSpPr>
          <a:xfrm>
            <a:off x="2807906" y="2617044"/>
            <a:ext cx="2016000" cy="288000"/>
            <a:chOff x="2807906" y="2383119"/>
            <a:chExt cx="2016000" cy="288000"/>
          </a:xfrm>
        </p:grpSpPr>
        <p:sp>
          <p:nvSpPr>
            <p:cNvPr id="284" name="직사각형 283">
              <a:extLst>
                <a:ext uri="{FF2B5EF4-FFF2-40B4-BE49-F238E27FC236}">
                  <a16:creationId xmlns="" xmlns:a16="http://schemas.microsoft.com/office/drawing/2014/main" id="{2086226C-F3B2-4253-81E2-3DD09EF4018E}"/>
                </a:ext>
              </a:extLst>
            </p:cNvPr>
            <p:cNvSpPr/>
            <p:nvPr/>
          </p:nvSpPr>
          <p:spPr>
            <a:xfrm>
              <a:off x="2807906" y="2383119"/>
              <a:ext cx="828000" cy="288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36000" rIns="36000" bIns="36000" rtlCol="0" anchor="ctr"/>
            <a:lstStyle/>
            <a:p>
              <a:r>
                <a:rPr lang="ko-KR" altLang="en-US" sz="70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나이</a:t>
              </a:r>
              <a:endParaRPr lang="ko-KR" altLang="en-US" sz="7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285" name="직사각형 284">
              <a:extLst>
                <a:ext uri="{FF2B5EF4-FFF2-40B4-BE49-F238E27FC236}">
                  <a16:creationId xmlns="" xmlns:a16="http://schemas.microsoft.com/office/drawing/2014/main" id="{E955F0F7-52A0-48E2-96C0-51A6B4AD6027}"/>
                </a:ext>
              </a:extLst>
            </p:cNvPr>
            <p:cNvSpPr/>
            <p:nvPr/>
          </p:nvSpPr>
          <p:spPr>
            <a:xfrm>
              <a:off x="3635906" y="2383119"/>
              <a:ext cx="1188000" cy="288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36000" rIns="108000" bIns="36000" rtlCol="0" anchor="ctr"/>
            <a:lstStyle/>
            <a:p>
              <a:r>
                <a:rPr lang="en-US" altLang="ko-KR" sz="70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40</a:t>
              </a:r>
              <a:endParaRPr lang="ko-KR" altLang="en-US" sz="7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sp>
        <p:nvSpPr>
          <p:cNvPr id="287" name="직사각형 286">
            <a:extLst>
              <a:ext uri="{FF2B5EF4-FFF2-40B4-BE49-F238E27FC236}">
                <a16:creationId xmlns="" xmlns:a16="http://schemas.microsoft.com/office/drawing/2014/main" id="{2086226C-F3B2-4253-81E2-3DD09EF4018E}"/>
              </a:ext>
            </a:extLst>
          </p:cNvPr>
          <p:cNvSpPr/>
          <p:nvPr/>
        </p:nvSpPr>
        <p:spPr>
          <a:xfrm>
            <a:off x="4823906" y="2617044"/>
            <a:ext cx="828000" cy="288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36000" rIns="36000" bIns="36000" rtlCol="0" anchor="ctr"/>
          <a:lstStyle/>
          <a:p>
            <a:r>
              <a:rPr lang="ko-KR" altLang="en-US" sz="7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환불계좌</a:t>
            </a:r>
            <a:endParaRPr lang="ko-KR" altLang="en-US" sz="7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288" name="직사각형 287">
            <a:extLst>
              <a:ext uri="{FF2B5EF4-FFF2-40B4-BE49-F238E27FC236}">
                <a16:creationId xmlns="" xmlns:a16="http://schemas.microsoft.com/office/drawing/2014/main" id="{E955F0F7-52A0-48E2-96C0-51A6B4AD6027}"/>
              </a:ext>
            </a:extLst>
          </p:cNvPr>
          <p:cNvSpPr/>
          <p:nvPr/>
        </p:nvSpPr>
        <p:spPr>
          <a:xfrm>
            <a:off x="5651906" y="2617044"/>
            <a:ext cx="3168000" cy="288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36000" rIns="108000" bIns="36000" rtlCol="0" anchor="ctr"/>
          <a:lstStyle/>
          <a:p>
            <a:r>
              <a:rPr lang="ko-KR" altLang="en-US" sz="7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등록된 기본 인증 환불계좌가 없습니다</a:t>
            </a:r>
            <a:r>
              <a:rPr lang="en-US" altLang="ko-KR" sz="7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 sz="7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09" name="TextBox 308">
            <a:extLst>
              <a:ext uri="{FF2B5EF4-FFF2-40B4-BE49-F238E27FC236}">
                <a16:creationId xmlns="" xmlns:a16="http://schemas.microsoft.com/office/drawing/2014/main" id="{87DCF5B8-61F6-4E97-889B-24A0F3E5B471}"/>
              </a:ext>
            </a:extLst>
          </p:cNvPr>
          <p:cNvSpPr txBox="1"/>
          <p:nvPr/>
        </p:nvSpPr>
        <p:spPr>
          <a:xfrm>
            <a:off x="827906" y="3104799"/>
            <a:ext cx="577182" cy="180425"/>
          </a:xfrm>
          <a:prstGeom prst="rect">
            <a:avLst/>
          </a:prstGeom>
          <a:noFill/>
          <a:ln w="317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108000" tIns="36000" rIns="108000" bIns="36000" numCol="1" rtlCol="0" anchor="ctr" anchorCtr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ko-KR" altLang="en-US" sz="700" b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주문내역</a:t>
            </a:r>
            <a:endParaRPr lang="ko-KR" altLang="en-US" sz="700" b="1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</p:txBody>
      </p:sp>
      <p:cxnSp>
        <p:nvCxnSpPr>
          <p:cNvPr id="310" name="직선 연결선 309">
            <a:extLst>
              <a:ext uri="{FF2B5EF4-FFF2-40B4-BE49-F238E27FC236}">
                <a16:creationId xmlns="" xmlns:a16="http://schemas.microsoft.com/office/drawing/2014/main" id="{7FADAC9D-C11E-4DE1-A6EC-F8B632560614}"/>
              </a:ext>
            </a:extLst>
          </p:cNvPr>
          <p:cNvCxnSpPr>
            <a:cxnSpLocks/>
          </p:cNvCxnSpPr>
          <p:nvPr/>
        </p:nvCxnSpPr>
        <p:spPr>
          <a:xfrm>
            <a:off x="1405088" y="3123011"/>
            <a:ext cx="0" cy="144000"/>
          </a:xfrm>
          <a:prstGeom prst="line">
            <a:avLst/>
          </a:prstGeom>
          <a:ln w="31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3" name="TextBox 312">
            <a:extLst>
              <a:ext uri="{FF2B5EF4-FFF2-40B4-BE49-F238E27FC236}">
                <a16:creationId xmlns="" xmlns:a16="http://schemas.microsoft.com/office/drawing/2014/main" id="{87DCF5B8-61F6-4E97-889B-24A0F3E5B471}"/>
              </a:ext>
            </a:extLst>
          </p:cNvPr>
          <p:cNvSpPr txBox="1"/>
          <p:nvPr/>
        </p:nvSpPr>
        <p:spPr>
          <a:xfrm>
            <a:off x="1405088" y="3104799"/>
            <a:ext cx="577182" cy="180425"/>
          </a:xfrm>
          <a:prstGeom prst="rect">
            <a:avLst/>
          </a:prstGeom>
          <a:noFill/>
          <a:ln w="317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108000" tIns="36000" rIns="108000" bIns="36000" numCol="1" rtlCol="0" anchor="ctr" anchorCtr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ko-KR" altLang="en-US" sz="70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변경내역</a:t>
            </a:r>
            <a:endParaRPr lang="ko-KR" altLang="en-US" sz="7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</p:txBody>
      </p:sp>
      <p:cxnSp>
        <p:nvCxnSpPr>
          <p:cNvPr id="314" name="직선 연결선 313">
            <a:extLst>
              <a:ext uri="{FF2B5EF4-FFF2-40B4-BE49-F238E27FC236}">
                <a16:creationId xmlns="" xmlns:a16="http://schemas.microsoft.com/office/drawing/2014/main" id="{7FADAC9D-C11E-4DE1-A6EC-F8B632560614}"/>
              </a:ext>
            </a:extLst>
          </p:cNvPr>
          <p:cNvCxnSpPr>
            <a:cxnSpLocks/>
          </p:cNvCxnSpPr>
          <p:nvPr/>
        </p:nvCxnSpPr>
        <p:spPr>
          <a:xfrm>
            <a:off x="1982270" y="3123011"/>
            <a:ext cx="0" cy="144000"/>
          </a:xfrm>
          <a:prstGeom prst="line">
            <a:avLst/>
          </a:prstGeom>
          <a:ln w="31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9" name="TextBox 328">
            <a:extLst>
              <a:ext uri="{FF2B5EF4-FFF2-40B4-BE49-F238E27FC236}">
                <a16:creationId xmlns="" xmlns:a16="http://schemas.microsoft.com/office/drawing/2014/main" id="{87DCF5B8-61F6-4E97-889B-24A0F3E5B471}"/>
              </a:ext>
            </a:extLst>
          </p:cNvPr>
          <p:cNvSpPr txBox="1"/>
          <p:nvPr/>
        </p:nvSpPr>
        <p:spPr>
          <a:xfrm>
            <a:off x="1982270" y="3104799"/>
            <a:ext cx="577182" cy="180425"/>
          </a:xfrm>
          <a:prstGeom prst="rect">
            <a:avLst/>
          </a:prstGeom>
          <a:noFill/>
          <a:ln w="317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108000" tIns="36000" rIns="108000" bIns="36000" numCol="1" rtlCol="0" anchor="ctr" anchorCtr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ko-KR" altLang="en-US" sz="70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결제내역</a:t>
            </a:r>
            <a:endParaRPr lang="ko-KR" altLang="en-US" sz="7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</p:txBody>
      </p:sp>
      <p:cxnSp>
        <p:nvCxnSpPr>
          <p:cNvPr id="340" name="직선 연결선 339">
            <a:extLst>
              <a:ext uri="{FF2B5EF4-FFF2-40B4-BE49-F238E27FC236}">
                <a16:creationId xmlns="" xmlns:a16="http://schemas.microsoft.com/office/drawing/2014/main" id="{7FADAC9D-C11E-4DE1-A6EC-F8B632560614}"/>
              </a:ext>
            </a:extLst>
          </p:cNvPr>
          <p:cNvCxnSpPr>
            <a:cxnSpLocks/>
          </p:cNvCxnSpPr>
          <p:nvPr/>
        </p:nvCxnSpPr>
        <p:spPr>
          <a:xfrm>
            <a:off x="2559452" y="3123011"/>
            <a:ext cx="0" cy="144000"/>
          </a:xfrm>
          <a:prstGeom prst="line">
            <a:avLst/>
          </a:prstGeom>
          <a:ln w="31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4" name="TextBox 343">
            <a:extLst>
              <a:ext uri="{FF2B5EF4-FFF2-40B4-BE49-F238E27FC236}">
                <a16:creationId xmlns="" xmlns:a16="http://schemas.microsoft.com/office/drawing/2014/main" id="{87DCF5B8-61F6-4E97-889B-24A0F3E5B471}"/>
              </a:ext>
            </a:extLst>
          </p:cNvPr>
          <p:cNvSpPr txBox="1"/>
          <p:nvPr/>
        </p:nvSpPr>
        <p:spPr>
          <a:xfrm>
            <a:off x="2559452" y="3104799"/>
            <a:ext cx="397646" cy="180425"/>
          </a:xfrm>
          <a:prstGeom prst="rect">
            <a:avLst/>
          </a:prstGeom>
          <a:noFill/>
          <a:ln w="317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108000" tIns="36000" rIns="108000" bIns="36000" numCol="1" rtlCol="0" anchor="ctr" anchorCtr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ko-KR" altLang="en-US" sz="70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배송</a:t>
            </a:r>
            <a:endParaRPr lang="ko-KR" altLang="en-US" sz="7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</p:txBody>
      </p:sp>
      <p:grpSp>
        <p:nvGrpSpPr>
          <p:cNvPr id="380" name="그룹 379"/>
          <p:cNvGrpSpPr/>
          <p:nvPr/>
        </p:nvGrpSpPr>
        <p:grpSpPr>
          <a:xfrm>
            <a:off x="827906" y="3338680"/>
            <a:ext cx="1980000" cy="288000"/>
            <a:chOff x="2807906" y="1285538"/>
            <a:chExt cx="1980000" cy="288000"/>
          </a:xfrm>
        </p:grpSpPr>
        <p:sp>
          <p:nvSpPr>
            <p:cNvPr id="381" name="직사각형 380">
              <a:extLst>
                <a:ext uri="{FF2B5EF4-FFF2-40B4-BE49-F238E27FC236}">
                  <a16:creationId xmlns="" xmlns:a16="http://schemas.microsoft.com/office/drawing/2014/main" id="{2086226C-F3B2-4253-81E2-3DD09EF4018E}"/>
                </a:ext>
              </a:extLst>
            </p:cNvPr>
            <p:cNvSpPr/>
            <p:nvPr/>
          </p:nvSpPr>
          <p:spPr>
            <a:xfrm>
              <a:off x="2807906" y="1285538"/>
              <a:ext cx="828000" cy="288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36000" rIns="36000" bIns="36000" rtlCol="0" anchor="ctr"/>
            <a:lstStyle/>
            <a:p>
              <a:r>
                <a:rPr lang="ko-KR" altLang="en-US" sz="70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주문번호</a:t>
              </a:r>
              <a:endParaRPr lang="ko-KR" altLang="en-US" sz="7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382" name="직사각형 381">
              <a:extLst>
                <a:ext uri="{FF2B5EF4-FFF2-40B4-BE49-F238E27FC236}">
                  <a16:creationId xmlns="" xmlns:a16="http://schemas.microsoft.com/office/drawing/2014/main" id="{E955F0F7-52A0-48E2-96C0-51A6B4AD6027}"/>
                </a:ext>
              </a:extLst>
            </p:cNvPr>
            <p:cNvSpPr/>
            <p:nvPr/>
          </p:nvSpPr>
          <p:spPr>
            <a:xfrm>
              <a:off x="3635906" y="1285538"/>
              <a:ext cx="1152000" cy="288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36000" rIns="108000" bIns="36000" rtlCol="0" anchor="ctr"/>
            <a:lstStyle/>
            <a:p>
              <a:r>
                <a:rPr lang="en-US" altLang="ko-KR" sz="70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12345678</a:t>
              </a:r>
              <a:endParaRPr lang="ko-KR" altLang="en-US" sz="7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grpSp>
        <p:nvGrpSpPr>
          <p:cNvPr id="383" name="그룹 382"/>
          <p:cNvGrpSpPr/>
          <p:nvPr/>
        </p:nvGrpSpPr>
        <p:grpSpPr>
          <a:xfrm>
            <a:off x="2807906" y="3338680"/>
            <a:ext cx="2016000" cy="288000"/>
            <a:chOff x="2807906" y="2383119"/>
            <a:chExt cx="2016000" cy="288000"/>
          </a:xfrm>
        </p:grpSpPr>
        <p:sp>
          <p:nvSpPr>
            <p:cNvPr id="384" name="직사각형 383">
              <a:extLst>
                <a:ext uri="{FF2B5EF4-FFF2-40B4-BE49-F238E27FC236}">
                  <a16:creationId xmlns="" xmlns:a16="http://schemas.microsoft.com/office/drawing/2014/main" id="{2086226C-F3B2-4253-81E2-3DD09EF4018E}"/>
                </a:ext>
              </a:extLst>
            </p:cNvPr>
            <p:cNvSpPr/>
            <p:nvPr/>
          </p:nvSpPr>
          <p:spPr>
            <a:xfrm>
              <a:off x="2807906" y="2383119"/>
              <a:ext cx="828000" cy="288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36000" rIns="36000" bIns="36000" rtlCol="0" anchor="ctr"/>
            <a:lstStyle/>
            <a:p>
              <a:r>
                <a:rPr lang="ko-KR" altLang="en-US" sz="70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웹구분</a:t>
              </a:r>
              <a:endParaRPr lang="ko-KR" altLang="en-US" sz="7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385" name="직사각형 384">
              <a:extLst>
                <a:ext uri="{FF2B5EF4-FFF2-40B4-BE49-F238E27FC236}">
                  <a16:creationId xmlns="" xmlns:a16="http://schemas.microsoft.com/office/drawing/2014/main" id="{E955F0F7-52A0-48E2-96C0-51A6B4AD6027}"/>
                </a:ext>
              </a:extLst>
            </p:cNvPr>
            <p:cNvSpPr/>
            <p:nvPr/>
          </p:nvSpPr>
          <p:spPr>
            <a:xfrm>
              <a:off x="3635906" y="2383119"/>
              <a:ext cx="1188000" cy="288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36000" rIns="108000" bIns="36000" rtlCol="0" anchor="ctr"/>
            <a:lstStyle/>
            <a:p>
              <a:r>
                <a:rPr lang="en-US" altLang="ko-KR" sz="70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web</a:t>
              </a:r>
              <a:endParaRPr lang="ko-KR" altLang="en-US" sz="7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sp>
        <p:nvSpPr>
          <p:cNvPr id="386" name="직사각형 385">
            <a:extLst>
              <a:ext uri="{FF2B5EF4-FFF2-40B4-BE49-F238E27FC236}">
                <a16:creationId xmlns="" xmlns:a16="http://schemas.microsoft.com/office/drawing/2014/main" id="{2086226C-F3B2-4253-81E2-3DD09EF4018E}"/>
              </a:ext>
            </a:extLst>
          </p:cNvPr>
          <p:cNvSpPr/>
          <p:nvPr/>
        </p:nvSpPr>
        <p:spPr>
          <a:xfrm>
            <a:off x="4823906" y="3338680"/>
            <a:ext cx="828000" cy="288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36000" rIns="36000" bIns="36000" rtlCol="0" anchor="ctr"/>
          <a:lstStyle/>
          <a:p>
            <a:r>
              <a:rPr lang="ko-KR" altLang="en-US" sz="7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주문구분</a:t>
            </a:r>
            <a:endParaRPr lang="ko-KR" altLang="en-US" sz="7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387" name="직사각형 386">
            <a:extLst>
              <a:ext uri="{FF2B5EF4-FFF2-40B4-BE49-F238E27FC236}">
                <a16:creationId xmlns="" xmlns:a16="http://schemas.microsoft.com/office/drawing/2014/main" id="{E955F0F7-52A0-48E2-96C0-51A6B4AD6027}"/>
              </a:ext>
            </a:extLst>
          </p:cNvPr>
          <p:cNvSpPr/>
          <p:nvPr/>
        </p:nvSpPr>
        <p:spPr>
          <a:xfrm>
            <a:off x="5651906" y="3338680"/>
            <a:ext cx="1152000" cy="288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36000" rIns="108000" bIns="36000" rtlCol="0" anchor="ctr"/>
          <a:lstStyle/>
          <a:p>
            <a:r>
              <a:rPr lang="ko-KR" altLang="en-US" sz="7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일반주문</a:t>
            </a:r>
            <a:endParaRPr lang="ko-KR" altLang="en-US" sz="7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88" name="직사각형 387">
            <a:extLst>
              <a:ext uri="{FF2B5EF4-FFF2-40B4-BE49-F238E27FC236}">
                <a16:creationId xmlns="" xmlns:a16="http://schemas.microsoft.com/office/drawing/2014/main" id="{2086226C-F3B2-4253-81E2-3DD09EF4018E}"/>
              </a:ext>
            </a:extLst>
          </p:cNvPr>
          <p:cNvSpPr/>
          <p:nvPr/>
        </p:nvSpPr>
        <p:spPr>
          <a:xfrm>
            <a:off x="6803906" y="3338680"/>
            <a:ext cx="828000" cy="288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36000" rIns="36000" bIns="36000" rtlCol="0" anchor="ctr"/>
          <a:lstStyle/>
          <a:p>
            <a:r>
              <a:rPr lang="ko-KR" altLang="en-US" sz="7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몰코드</a:t>
            </a:r>
            <a:endParaRPr lang="ko-KR" altLang="en-US" sz="7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389" name="직사각형 388">
            <a:extLst>
              <a:ext uri="{FF2B5EF4-FFF2-40B4-BE49-F238E27FC236}">
                <a16:creationId xmlns="" xmlns:a16="http://schemas.microsoft.com/office/drawing/2014/main" id="{E955F0F7-52A0-48E2-96C0-51A6B4AD6027}"/>
              </a:ext>
            </a:extLst>
          </p:cNvPr>
          <p:cNvSpPr/>
          <p:nvPr/>
        </p:nvSpPr>
        <p:spPr>
          <a:xfrm>
            <a:off x="7631906" y="3338680"/>
            <a:ext cx="1188000" cy="288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36000" rIns="108000" bIns="36000" rtlCol="0" anchor="ctr"/>
          <a:lstStyle/>
          <a:p>
            <a:r>
              <a:rPr lang="en-US" altLang="ko-KR" sz="7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E502</a:t>
            </a:r>
            <a:endParaRPr lang="ko-KR" altLang="en-US" sz="7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390" name="그룹 389"/>
          <p:cNvGrpSpPr/>
          <p:nvPr/>
        </p:nvGrpSpPr>
        <p:grpSpPr>
          <a:xfrm>
            <a:off x="827906" y="3626594"/>
            <a:ext cx="1980000" cy="288000"/>
            <a:chOff x="2807906" y="1285538"/>
            <a:chExt cx="1980000" cy="288000"/>
          </a:xfrm>
        </p:grpSpPr>
        <p:sp>
          <p:nvSpPr>
            <p:cNvPr id="391" name="직사각형 390">
              <a:extLst>
                <a:ext uri="{FF2B5EF4-FFF2-40B4-BE49-F238E27FC236}">
                  <a16:creationId xmlns="" xmlns:a16="http://schemas.microsoft.com/office/drawing/2014/main" id="{2086226C-F3B2-4253-81E2-3DD09EF4018E}"/>
                </a:ext>
              </a:extLst>
            </p:cNvPr>
            <p:cNvSpPr/>
            <p:nvPr/>
          </p:nvSpPr>
          <p:spPr>
            <a:xfrm>
              <a:off x="2807906" y="1285538"/>
              <a:ext cx="828000" cy="288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36000" rIns="36000" bIns="36000" rtlCol="0" anchor="ctr"/>
            <a:lstStyle/>
            <a:p>
              <a:r>
                <a:rPr lang="ko-KR" altLang="en-US" sz="70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몰이름</a:t>
              </a:r>
              <a:endParaRPr lang="ko-KR" altLang="en-US" sz="7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392" name="직사각형 391">
              <a:extLst>
                <a:ext uri="{FF2B5EF4-FFF2-40B4-BE49-F238E27FC236}">
                  <a16:creationId xmlns="" xmlns:a16="http://schemas.microsoft.com/office/drawing/2014/main" id="{E955F0F7-52A0-48E2-96C0-51A6B4AD6027}"/>
                </a:ext>
              </a:extLst>
            </p:cNvPr>
            <p:cNvSpPr/>
            <p:nvPr/>
          </p:nvSpPr>
          <p:spPr>
            <a:xfrm>
              <a:off x="3635906" y="1285538"/>
              <a:ext cx="1152000" cy="288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36000" rIns="108000" bIns="36000" rtlCol="0" anchor="ctr"/>
            <a:lstStyle/>
            <a:p>
              <a:r>
                <a:rPr lang="en-US" altLang="ko-KR" sz="70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LFMALL</a:t>
              </a:r>
              <a:endParaRPr lang="ko-KR" altLang="en-US" sz="7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grpSp>
        <p:nvGrpSpPr>
          <p:cNvPr id="393" name="그룹 392"/>
          <p:cNvGrpSpPr/>
          <p:nvPr/>
        </p:nvGrpSpPr>
        <p:grpSpPr>
          <a:xfrm>
            <a:off x="2807906" y="3626594"/>
            <a:ext cx="2016000" cy="288000"/>
            <a:chOff x="2807906" y="2383119"/>
            <a:chExt cx="2016000" cy="288000"/>
          </a:xfrm>
        </p:grpSpPr>
        <p:sp>
          <p:nvSpPr>
            <p:cNvPr id="394" name="직사각형 393">
              <a:extLst>
                <a:ext uri="{FF2B5EF4-FFF2-40B4-BE49-F238E27FC236}">
                  <a16:creationId xmlns="" xmlns:a16="http://schemas.microsoft.com/office/drawing/2014/main" id="{2086226C-F3B2-4253-81E2-3DD09EF4018E}"/>
                </a:ext>
              </a:extLst>
            </p:cNvPr>
            <p:cNvSpPr/>
            <p:nvPr/>
          </p:nvSpPr>
          <p:spPr>
            <a:xfrm>
              <a:off x="2807906" y="2383119"/>
              <a:ext cx="828000" cy="288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36000" rIns="36000" bIns="36000" rtlCol="0" anchor="ctr"/>
            <a:lstStyle/>
            <a:p>
              <a:r>
                <a:rPr lang="ko-KR" altLang="en-US" sz="70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주문일시</a:t>
              </a:r>
              <a:endParaRPr lang="ko-KR" altLang="en-US" sz="7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395" name="직사각형 394">
              <a:extLst>
                <a:ext uri="{FF2B5EF4-FFF2-40B4-BE49-F238E27FC236}">
                  <a16:creationId xmlns="" xmlns:a16="http://schemas.microsoft.com/office/drawing/2014/main" id="{E955F0F7-52A0-48E2-96C0-51A6B4AD6027}"/>
                </a:ext>
              </a:extLst>
            </p:cNvPr>
            <p:cNvSpPr/>
            <p:nvPr/>
          </p:nvSpPr>
          <p:spPr>
            <a:xfrm>
              <a:off x="3635906" y="2383119"/>
              <a:ext cx="1188000" cy="288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36000" rIns="108000" bIns="36000" rtlCol="0" anchor="ctr"/>
            <a:lstStyle/>
            <a:p>
              <a:r>
                <a:rPr lang="en-US" altLang="ko-KR" sz="70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2026-01-12- 11:10:462</a:t>
              </a:r>
              <a:endParaRPr lang="ko-KR" altLang="en-US" sz="7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sp>
        <p:nvSpPr>
          <p:cNvPr id="396" name="직사각형 395">
            <a:extLst>
              <a:ext uri="{FF2B5EF4-FFF2-40B4-BE49-F238E27FC236}">
                <a16:creationId xmlns="" xmlns:a16="http://schemas.microsoft.com/office/drawing/2014/main" id="{2086226C-F3B2-4253-81E2-3DD09EF4018E}"/>
              </a:ext>
            </a:extLst>
          </p:cNvPr>
          <p:cNvSpPr/>
          <p:nvPr/>
        </p:nvSpPr>
        <p:spPr>
          <a:xfrm>
            <a:off x="4823906" y="3626594"/>
            <a:ext cx="828000" cy="288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36000" rIns="36000" bIns="36000" rtlCol="0" anchor="ctr"/>
          <a:lstStyle/>
          <a:p>
            <a:r>
              <a:rPr lang="ko-KR" altLang="en-US" sz="7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주문상태</a:t>
            </a:r>
            <a:endParaRPr lang="ko-KR" altLang="en-US" sz="7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397" name="직사각형 396">
            <a:extLst>
              <a:ext uri="{FF2B5EF4-FFF2-40B4-BE49-F238E27FC236}">
                <a16:creationId xmlns="" xmlns:a16="http://schemas.microsoft.com/office/drawing/2014/main" id="{E955F0F7-52A0-48E2-96C0-51A6B4AD6027}"/>
              </a:ext>
            </a:extLst>
          </p:cNvPr>
          <p:cNvSpPr/>
          <p:nvPr/>
        </p:nvSpPr>
        <p:spPr>
          <a:xfrm>
            <a:off x="5651906" y="3626594"/>
            <a:ext cx="1152000" cy="288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36000" rIns="108000" bIns="36000" rtlCol="0" anchor="ctr"/>
          <a:lstStyle/>
          <a:p>
            <a:r>
              <a:rPr lang="ko-KR" altLang="en-US" sz="7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교환신청</a:t>
            </a:r>
            <a:endParaRPr lang="ko-KR" altLang="en-US" sz="7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98" name="직사각형 397">
            <a:extLst>
              <a:ext uri="{FF2B5EF4-FFF2-40B4-BE49-F238E27FC236}">
                <a16:creationId xmlns="" xmlns:a16="http://schemas.microsoft.com/office/drawing/2014/main" id="{2086226C-F3B2-4253-81E2-3DD09EF4018E}"/>
              </a:ext>
            </a:extLst>
          </p:cNvPr>
          <p:cNvSpPr/>
          <p:nvPr/>
        </p:nvSpPr>
        <p:spPr>
          <a:xfrm>
            <a:off x="6803906" y="3626594"/>
            <a:ext cx="828000" cy="288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36000" rIns="36000" bIns="36000" rtlCol="0" anchor="ctr"/>
          <a:lstStyle/>
          <a:p>
            <a:r>
              <a:rPr lang="ko-KR" altLang="en-US" sz="7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개런티 발행상태</a:t>
            </a:r>
            <a:endParaRPr lang="ko-KR" altLang="en-US" sz="7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399" name="직사각형 398">
            <a:extLst>
              <a:ext uri="{FF2B5EF4-FFF2-40B4-BE49-F238E27FC236}">
                <a16:creationId xmlns="" xmlns:a16="http://schemas.microsoft.com/office/drawing/2014/main" id="{E955F0F7-52A0-48E2-96C0-51A6B4AD6027}"/>
              </a:ext>
            </a:extLst>
          </p:cNvPr>
          <p:cNvSpPr/>
          <p:nvPr/>
        </p:nvSpPr>
        <p:spPr>
          <a:xfrm>
            <a:off x="7631906" y="3626594"/>
            <a:ext cx="1188000" cy="288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36000" rIns="108000" bIns="36000" rtlCol="0" anchor="ctr"/>
          <a:lstStyle/>
          <a:p>
            <a:r>
              <a:rPr lang="en-US" altLang="ko-KR" sz="7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-</a:t>
            </a:r>
            <a:endParaRPr lang="ko-KR" altLang="en-US" sz="7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400" name="그룹 399"/>
          <p:cNvGrpSpPr/>
          <p:nvPr/>
        </p:nvGrpSpPr>
        <p:grpSpPr>
          <a:xfrm>
            <a:off x="827906" y="3914594"/>
            <a:ext cx="1980000" cy="288000"/>
            <a:chOff x="2807906" y="1285538"/>
            <a:chExt cx="1980000" cy="288000"/>
          </a:xfrm>
        </p:grpSpPr>
        <p:sp>
          <p:nvSpPr>
            <p:cNvPr id="401" name="직사각형 400">
              <a:extLst>
                <a:ext uri="{FF2B5EF4-FFF2-40B4-BE49-F238E27FC236}">
                  <a16:creationId xmlns="" xmlns:a16="http://schemas.microsoft.com/office/drawing/2014/main" id="{2086226C-F3B2-4253-81E2-3DD09EF4018E}"/>
                </a:ext>
              </a:extLst>
            </p:cNvPr>
            <p:cNvSpPr/>
            <p:nvPr/>
          </p:nvSpPr>
          <p:spPr>
            <a:xfrm>
              <a:off x="2807906" y="1285538"/>
              <a:ext cx="828000" cy="288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36000" rIns="36000" bIns="36000" rtlCol="0" anchor="ctr"/>
            <a:lstStyle/>
            <a:p>
              <a:r>
                <a:rPr lang="ko-KR" altLang="en-US" sz="70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결제형태</a:t>
              </a:r>
              <a:endParaRPr lang="ko-KR" altLang="en-US" sz="7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402" name="직사각형 401">
              <a:extLst>
                <a:ext uri="{FF2B5EF4-FFF2-40B4-BE49-F238E27FC236}">
                  <a16:creationId xmlns="" xmlns:a16="http://schemas.microsoft.com/office/drawing/2014/main" id="{E955F0F7-52A0-48E2-96C0-51A6B4AD6027}"/>
                </a:ext>
              </a:extLst>
            </p:cNvPr>
            <p:cNvSpPr/>
            <p:nvPr/>
          </p:nvSpPr>
          <p:spPr>
            <a:xfrm>
              <a:off x="3635906" y="1285538"/>
              <a:ext cx="1152000" cy="288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36000" rIns="108000" bIns="36000" rtlCol="0" anchor="ctr"/>
            <a:lstStyle/>
            <a:p>
              <a:r>
                <a:rPr lang="ko-KR" altLang="en-US" sz="70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일반결제</a:t>
              </a:r>
              <a:endParaRPr lang="ko-KR" altLang="en-US" sz="7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grpSp>
        <p:nvGrpSpPr>
          <p:cNvPr id="403" name="그룹 402"/>
          <p:cNvGrpSpPr/>
          <p:nvPr/>
        </p:nvGrpSpPr>
        <p:grpSpPr>
          <a:xfrm>
            <a:off x="2807906" y="3914594"/>
            <a:ext cx="2016000" cy="288000"/>
            <a:chOff x="2807906" y="2383119"/>
            <a:chExt cx="2016000" cy="288000"/>
          </a:xfrm>
        </p:grpSpPr>
        <p:sp>
          <p:nvSpPr>
            <p:cNvPr id="404" name="직사각형 403">
              <a:extLst>
                <a:ext uri="{FF2B5EF4-FFF2-40B4-BE49-F238E27FC236}">
                  <a16:creationId xmlns="" xmlns:a16="http://schemas.microsoft.com/office/drawing/2014/main" id="{2086226C-F3B2-4253-81E2-3DD09EF4018E}"/>
                </a:ext>
              </a:extLst>
            </p:cNvPr>
            <p:cNvSpPr/>
            <p:nvPr/>
          </p:nvSpPr>
          <p:spPr>
            <a:xfrm>
              <a:off x="2807906" y="2383119"/>
              <a:ext cx="828000" cy="288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36000" rIns="36000" bIns="36000" rtlCol="0" anchor="ctr"/>
            <a:lstStyle/>
            <a:p>
              <a:r>
                <a:rPr lang="ko-KR" altLang="en-US" sz="70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실결제금액</a:t>
              </a:r>
              <a:endParaRPr lang="ko-KR" altLang="en-US" sz="7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405" name="직사각형 404">
              <a:extLst>
                <a:ext uri="{FF2B5EF4-FFF2-40B4-BE49-F238E27FC236}">
                  <a16:creationId xmlns="" xmlns:a16="http://schemas.microsoft.com/office/drawing/2014/main" id="{E955F0F7-52A0-48E2-96C0-51A6B4AD6027}"/>
                </a:ext>
              </a:extLst>
            </p:cNvPr>
            <p:cNvSpPr/>
            <p:nvPr/>
          </p:nvSpPr>
          <p:spPr>
            <a:xfrm>
              <a:off x="3635906" y="2383119"/>
              <a:ext cx="1188000" cy="288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36000" rIns="108000" bIns="36000" rtlCol="0" anchor="ctr"/>
            <a:lstStyle/>
            <a:p>
              <a:r>
                <a:rPr lang="en-US" altLang="ko-KR" sz="70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1,234,000</a:t>
              </a:r>
              <a:endParaRPr lang="ko-KR" altLang="en-US" sz="7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sp>
        <p:nvSpPr>
          <p:cNvPr id="406" name="직사각형 405">
            <a:extLst>
              <a:ext uri="{FF2B5EF4-FFF2-40B4-BE49-F238E27FC236}">
                <a16:creationId xmlns="" xmlns:a16="http://schemas.microsoft.com/office/drawing/2014/main" id="{2086226C-F3B2-4253-81E2-3DD09EF4018E}"/>
              </a:ext>
            </a:extLst>
          </p:cNvPr>
          <p:cNvSpPr/>
          <p:nvPr/>
        </p:nvSpPr>
        <p:spPr>
          <a:xfrm>
            <a:off x="4823906" y="3914594"/>
            <a:ext cx="828000" cy="288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36000" rIns="36000" bIns="36000" rtlCol="0" anchor="ctr"/>
          <a:lstStyle/>
          <a:p>
            <a:r>
              <a:rPr lang="ko-KR" altLang="en-US" sz="7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제휴몰</a:t>
            </a:r>
            <a:endParaRPr lang="ko-KR" altLang="en-US" sz="7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407" name="직사각형 406">
            <a:extLst>
              <a:ext uri="{FF2B5EF4-FFF2-40B4-BE49-F238E27FC236}">
                <a16:creationId xmlns="" xmlns:a16="http://schemas.microsoft.com/office/drawing/2014/main" id="{E955F0F7-52A0-48E2-96C0-51A6B4AD6027}"/>
              </a:ext>
            </a:extLst>
          </p:cNvPr>
          <p:cNvSpPr/>
          <p:nvPr/>
        </p:nvSpPr>
        <p:spPr>
          <a:xfrm>
            <a:off x="5651906" y="3914594"/>
            <a:ext cx="1152000" cy="288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36000" rIns="108000" bIns="36000" rtlCol="0" anchor="ctr"/>
          <a:lstStyle/>
          <a:p>
            <a:r>
              <a:rPr lang="en-US" altLang="ko-KR" sz="7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LF</a:t>
            </a:r>
            <a:r>
              <a:rPr lang="ko-KR" altLang="en-US" sz="7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몰</a:t>
            </a:r>
            <a:endParaRPr lang="ko-KR" altLang="en-US" sz="7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08" name="직사각형 407">
            <a:extLst>
              <a:ext uri="{FF2B5EF4-FFF2-40B4-BE49-F238E27FC236}">
                <a16:creationId xmlns="" xmlns:a16="http://schemas.microsoft.com/office/drawing/2014/main" id="{2086226C-F3B2-4253-81E2-3DD09EF4018E}"/>
              </a:ext>
            </a:extLst>
          </p:cNvPr>
          <p:cNvSpPr/>
          <p:nvPr/>
        </p:nvSpPr>
        <p:spPr>
          <a:xfrm>
            <a:off x="6803906" y="3914594"/>
            <a:ext cx="828000" cy="288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36000" rIns="36000" bIns="36000" rtlCol="0" anchor="ctr"/>
          <a:lstStyle/>
          <a:p>
            <a:r>
              <a:rPr lang="ko-KR" altLang="en-US" sz="7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결제수단</a:t>
            </a:r>
            <a:endParaRPr lang="ko-KR" altLang="en-US" sz="7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409" name="직사각형 408">
            <a:extLst>
              <a:ext uri="{FF2B5EF4-FFF2-40B4-BE49-F238E27FC236}">
                <a16:creationId xmlns="" xmlns:a16="http://schemas.microsoft.com/office/drawing/2014/main" id="{E955F0F7-52A0-48E2-96C0-51A6B4AD6027}"/>
              </a:ext>
            </a:extLst>
          </p:cNvPr>
          <p:cNvSpPr/>
          <p:nvPr/>
        </p:nvSpPr>
        <p:spPr>
          <a:xfrm>
            <a:off x="7631906" y="3914594"/>
            <a:ext cx="1188000" cy="288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36000" rIns="108000" bIns="36000" rtlCol="0" anchor="ctr"/>
          <a:lstStyle/>
          <a:p>
            <a:r>
              <a:rPr lang="ko-KR" altLang="en-US" sz="7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신용카드</a:t>
            </a:r>
            <a:endParaRPr lang="ko-KR" altLang="en-US" sz="7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77" name="직사각형 476">
            <a:extLst>
              <a:ext uri="{FF2B5EF4-FFF2-40B4-BE49-F238E27FC236}">
                <a16:creationId xmlns="" xmlns:a16="http://schemas.microsoft.com/office/drawing/2014/main" id="{E955F0F7-52A0-48E2-96C0-51A6B4AD6027}"/>
              </a:ext>
            </a:extLst>
          </p:cNvPr>
          <p:cNvSpPr/>
          <p:nvPr/>
        </p:nvSpPr>
        <p:spPr>
          <a:xfrm>
            <a:off x="827906" y="4346679"/>
            <a:ext cx="7992000" cy="1440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36000" rIns="36000" bIns="36000" rtlCol="0" anchor="ctr"/>
          <a:lstStyle/>
          <a:p>
            <a:endParaRPr lang="ko-KR" altLang="en-US" sz="700" b="1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12" name="직사각형 411">
            <a:extLst>
              <a:ext uri="{FF2B5EF4-FFF2-40B4-BE49-F238E27FC236}">
                <a16:creationId xmlns="" xmlns:a16="http://schemas.microsoft.com/office/drawing/2014/main" id="{E955F0F7-52A0-48E2-96C0-51A6B4AD6027}"/>
              </a:ext>
            </a:extLst>
          </p:cNvPr>
          <p:cNvSpPr/>
          <p:nvPr/>
        </p:nvSpPr>
        <p:spPr>
          <a:xfrm>
            <a:off x="827906" y="4346679"/>
            <a:ext cx="7992000" cy="288000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36000" rIns="36000" bIns="36000" rtlCol="0" anchor="ctr"/>
          <a:lstStyle/>
          <a:p>
            <a:endParaRPr lang="ko-KR" altLang="en-US" sz="700" b="1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18" name="직사각형 417"/>
          <p:cNvSpPr/>
          <p:nvPr/>
        </p:nvSpPr>
        <p:spPr>
          <a:xfrm>
            <a:off x="1115907" y="4634679"/>
            <a:ext cx="540000" cy="2160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70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상세번호</a:t>
            </a:r>
          </a:p>
        </p:txBody>
      </p:sp>
      <p:sp>
        <p:nvSpPr>
          <p:cNvPr id="419" name="직사각형 418"/>
          <p:cNvSpPr/>
          <p:nvPr/>
        </p:nvSpPr>
        <p:spPr>
          <a:xfrm>
            <a:off x="1655907" y="4634679"/>
            <a:ext cx="720000" cy="2160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70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온라인상품코드</a:t>
            </a:r>
          </a:p>
        </p:txBody>
      </p:sp>
      <p:sp>
        <p:nvSpPr>
          <p:cNvPr id="430" name="직사각형 429"/>
          <p:cNvSpPr/>
          <p:nvPr/>
        </p:nvSpPr>
        <p:spPr>
          <a:xfrm>
            <a:off x="1115907" y="4850678"/>
            <a:ext cx="540000" cy="216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7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12345678</a:t>
            </a:r>
            <a:endParaRPr lang="ko-KR" altLang="en-US" sz="70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31" name="직사각형 430"/>
          <p:cNvSpPr/>
          <p:nvPr/>
        </p:nvSpPr>
        <p:spPr>
          <a:xfrm>
            <a:off x="1655907" y="4850678"/>
            <a:ext cx="720000" cy="216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/>
          <a:lstStyle/>
          <a:p>
            <a:pPr algn="ctr"/>
            <a:r>
              <a:rPr lang="en-US" altLang="ko-KR" sz="700" b="1" u="sng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LF000967343</a:t>
            </a:r>
          </a:p>
        </p:txBody>
      </p:sp>
      <p:sp>
        <p:nvSpPr>
          <p:cNvPr id="442" name="직사각형 441"/>
          <p:cNvSpPr/>
          <p:nvPr/>
        </p:nvSpPr>
        <p:spPr>
          <a:xfrm>
            <a:off x="1115907" y="5066442"/>
            <a:ext cx="540000" cy="216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7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12345679</a:t>
            </a:r>
            <a:endParaRPr lang="ko-KR" altLang="en-US" sz="70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443" name="직사각형 442"/>
          <p:cNvSpPr/>
          <p:nvPr/>
        </p:nvSpPr>
        <p:spPr>
          <a:xfrm>
            <a:off x="1655907" y="5066442"/>
            <a:ext cx="720000" cy="216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/>
          <a:lstStyle/>
          <a:p>
            <a:pPr algn="ctr"/>
            <a:r>
              <a:rPr lang="en-US" altLang="ko-KR" sz="700" b="1" u="sng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LF000967343</a:t>
            </a:r>
          </a:p>
        </p:txBody>
      </p:sp>
      <p:sp>
        <p:nvSpPr>
          <p:cNvPr id="420" name="직사각형 419"/>
          <p:cNvSpPr/>
          <p:nvPr/>
        </p:nvSpPr>
        <p:spPr>
          <a:xfrm>
            <a:off x="2375907" y="4634679"/>
            <a:ext cx="720000" cy="2160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70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상품코드</a:t>
            </a:r>
          </a:p>
        </p:txBody>
      </p:sp>
      <p:sp>
        <p:nvSpPr>
          <p:cNvPr id="432" name="직사각형 431"/>
          <p:cNvSpPr/>
          <p:nvPr/>
        </p:nvSpPr>
        <p:spPr>
          <a:xfrm>
            <a:off x="2375907" y="4850678"/>
            <a:ext cx="720000" cy="216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/>
          <a:lstStyle/>
          <a:p>
            <a:pPr algn="ctr"/>
            <a:r>
              <a:rPr lang="en-US" altLang="ko-KR" sz="700" b="1" u="sng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IEJU3F304W2</a:t>
            </a:r>
            <a:endParaRPr lang="ko-KR" altLang="en-US" sz="700" b="1" u="sng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444" name="직사각형 443"/>
          <p:cNvSpPr/>
          <p:nvPr/>
        </p:nvSpPr>
        <p:spPr>
          <a:xfrm>
            <a:off x="2375907" y="5066442"/>
            <a:ext cx="720000" cy="216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/>
          <a:lstStyle/>
          <a:p>
            <a:pPr algn="ctr"/>
            <a:r>
              <a:rPr lang="en-US" altLang="ko-KR" sz="700" b="1" u="sng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IEJU3F304W2</a:t>
            </a:r>
            <a:endParaRPr lang="ko-KR" altLang="en-US" sz="700" b="1" u="sng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421" name="직사각형 420"/>
          <p:cNvSpPr/>
          <p:nvPr/>
        </p:nvSpPr>
        <p:spPr>
          <a:xfrm>
            <a:off x="3095907" y="4634679"/>
            <a:ext cx="720000" cy="2160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70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사이즈</a:t>
            </a:r>
          </a:p>
        </p:txBody>
      </p:sp>
      <p:sp>
        <p:nvSpPr>
          <p:cNvPr id="422" name="직사각형 421"/>
          <p:cNvSpPr/>
          <p:nvPr/>
        </p:nvSpPr>
        <p:spPr>
          <a:xfrm>
            <a:off x="3815907" y="4634679"/>
            <a:ext cx="720000" cy="2160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70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칼라</a:t>
            </a:r>
          </a:p>
        </p:txBody>
      </p:sp>
      <p:sp>
        <p:nvSpPr>
          <p:cNvPr id="423" name="직사각형 422"/>
          <p:cNvSpPr/>
          <p:nvPr/>
        </p:nvSpPr>
        <p:spPr>
          <a:xfrm>
            <a:off x="4535907" y="4634679"/>
            <a:ext cx="540000" cy="2160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70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오픈마켓</a:t>
            </a:r>
          </a:p>
        </p:txBody>
      </p:sp>
      <p:sp>
        <p:nvSpPr>
          <p:cNvPr id="433" name="직사각형 432"/>
          <p:cNvSpPr/>
          <p:nvPr/>
        </p:nvSpPr>
        <p:spPr>
          <a:xfrm>
            <a:off x="3095907" y="4850678"/>
            <a:ext cx="720000" cy="216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/>
          <a:lstStyle/>
          <a:p>
            <a:pPr algn="ctr"/>
            <a:r>
              <a:rPr lang="en-US" altLang="ko-KR" sz="7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00L</a:t>
            </a:r>
            <a:endParaRPr lang="ko-KR" altLang="en-US" sz="70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434" name="직사각형 433"/>
          <p:cNvSpPr/>
          <p:nvPr/>
        </p:nvSpPr>
        <p:spPr>
          <a:xfrm>
            <a:off x="3815907" y="4850678"/>
            <a:ext cx="720000" cy="216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/>
          <a:lstStyle/>
          <a:p>
            <a:pPr algn="ctr"/>
            <a:r>
              <a:rPr lang="ko-KR" altLang="en-US" sz="7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브라운</a:t>
            </a:r>
            <a:endParaRPr lang="en-US" altLang="ko-KR" sz="70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435" name="직사각형 434"/>
          <p:cNvSpPr/>
          <p:nvPr/>
        </p:nvSpPr>
        <p:spPr>
          <a:xfrm>
            <a:off x="4535907" y="4850678"/>
            <a:ext cx="540000" cy="216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/>
          <a:lstStyle/>
          <a:p>
            <a:pPr algn="ctr"/>
            <a:r>
              <a:rPr lang="en-US" altLang="ko-KR" sz="7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N</a:t>
            </a:r>
            <a:endParaRPr lang="ko-KR" altLang="en-US" sz="70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445" name="직사각형 444"/>
          <p:cNvSpPr/>
          <p:nvPr/>
        </p:nvSpPr>
        <p:spPr>
          <a:xfrm>
            <a:off x="3095907" y="5066442"/>
            <a:ext cx="720000" cy="216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/>
          <a:lstStyle/>
          <a:p>
            <a:pPr algn="ctr"/>
            <a:r>
              <a:rPr lang="en-US" altLang="ko-KR" sz="7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00L</a:t>
            </a:r>
            <a:endParaRPr lang="ko-KR" altLang="en-US" sz="70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446" name="직사각형 445"/>
          <p:cNvSpPr/>
          <p:nvPr/>
        </p:nvSpPr>
        <p:spPr>
          <a:xfrm>
            <a:off x="3815907" y="5066442"/>
            <a:ext cx="720000" cy="216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/>
          <a:lstStyle/>
          <a:p>
            <a:pPr algn="ctr"/>
            <a:r>
              <a:rPr lang="ko-KR" altLang="en-US" sz="7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브라운</a:t>
            </a:r>
            <a:endParaRPr lang="en-US" altLang="ko-KR" sz="70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447" name="직사각형 446"/>
          <p:cNvSpPr/>
          <p:nvPr/>
        </p:nvSpPr>
        <p:spPr>
          <a:xfrm>
            <a:off x="4535907" y="5066442"/>
            <a:ext cx="540000" cy="216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/>
          <a:lstStyle/>
          <a:p>
            <a:pPr algn="ctr"/>
            <a:r>
              <a:rPr lang="en-US" altLang="ko-KR" sz="7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N</a:t>
            </a:r>
            <a:endParaRPr lang="ko-KR" altLang="en-US" sz="70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424" name="직사각형 423"/>
          <p:cNvSpPr/>
          <p:nvPr/>
        </p:nvSpPr>
        <p:spPr>
          <a:xfrm>
            <a:off x="5075907" y="4634679"/>
            <a:ext cx="720000" cy="2160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70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주문변경차수</a:t>
            </a:r>
          </a:p>
        </p:txBody>
      </p:sp>
      <p:sp>
        <p:nvSpPr>
          <p:cNvPr id="436" name="직사각형 435"/>
          <p:cNvSpPr/>
          <p:nvPr/>
        </p:nvSpPr>
        <p:spPr>
          <a:xfrm>
            <a:off x="5075907" y="4850678"/>
            <a:ext cx="720000" cy="216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/>
          <a:lstStyle/>
          <a:p>
            <a:pPr algn="ctr" defTabSz="914400" fontAlgn="base" latinLnBrk="0">
              <a:spcBef>
                <a:spcPct val="0"/>
              </a:spcBef>
              <a:spcAft>
                <a:spcPct val="0"/>
              </a:spcAft>
            </a:pPr>
            <a:endParaRPr kumimoji="1" lang="en-US" altLang="ko-KR" sz="700" kern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448" name="직사각형 447"/>
          <p:cNvSpPr/>
          <p:nvPr/>
        </p:nvSpPr>
        <p:spPr>
          <a:xfrm>
            <a:off x="5075907" y="5066442"/>
            <a:ext cx="720000" cy="216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/>
          <a:lstStyle/>
          <a:p>
            <a:pPr algn="ctr" defTabSz="914400" fontAlgn="base" latinLnBrk="0">
              <a:spcBef>
                <a:spcPct val="0"/>
              </a:spcBef>
              <a:spcAft>
                <a:spcPct val="0"/>
              </a:spcAft>
            </a:pPr>
            <a:endParaRPr kumimoji="1" lang="en-US" altLang="ko-KR" sz="700" kern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425" name="직사각형 424"/>
          <p:cNvSpPr/>
          <p:nvPr/>
        </p:nvSpPr>
        <p:spPr>
          <a:xfrm>
            <a:off x="5795224" y="4634679"/>
            <a:ext cx="540000" cy="2160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70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주문수량</a:t>
            </a:r>
          </a:p>
        </p:txBody>
      </p:sp>
      <p:sp>
        <p:nvSpPr>
          <p:cNvPr id="437" name="직사각형 436"/>
          <p:cNvSpPr/>
          <p:nvPr/>
        </p:nvSpPr>
        <p:spPr>
          <a:xfrm>
            <a:off x="5795224" y="4850678"/>
            <a:ext cx="540000" cy="216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/>
          <a:lstStyle/>
          <a:p>
            <a:pPr algn="ctr"/>
            <a:r>
              <a:rPr lang="en-US" altLang="ko-KR" sz="7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endParaRPr lang="ko-KR" altLang="en-US" sz="70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49" name="직사각형 448"/>
          <p:cNvSpPr/>
          <p:nvPr/>
        </p:nvSpPr>
        <p:spPr>
          <a:xfrm>
            <a:off x="5795224" y="5066442"/>
            <a:ext cx="540000" cy="216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/>
          <a:lstStyle/>
          <a:p>
            <a:pPr algn="ctr"/>
            <a:r>
              <a:rPr lang="en-US" altLang="ko-KR" sz="7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endParaRPr lang="ko-KR" altLang="en-US" sz="70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26" name="직사각형 425"/>
          <p:cNvSpPr/>
          <p:nvPr/>
        </p:nvSpPr>
        <p:spPr>
          <a:xfrm>
            <a:off x="6334541" y="4634679"/>
            <a:ext cx="540000" cy="2160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70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취소수량</a:t>
            </a:r>
          </a:p>
        </p:txBody>
      </p:sp>
      <p:sp>
        <p:nvSpPr>
          <p:cNvPr id="438" name="직사각형 437"/>
          <p:cNvSpPr/>
          <p:nvPr/>
        </p:nvSpPr>
        <p:spPr>
          <a:xfrm>
            <a:off x="6334541" y="4850678"/>
            <a:ext cx="540000" cy="216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/>
          <a:lstStyle/>
          <a:p>
            <a:endParaRPr lang="ko-KR" altLang="en-US" sz="70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450" name="직사각형 449"/>
          <p:cNvSpPr/>
          <p:nvPr/>
        </p:nvSpPr>
        <p:spPr>
          <a:xfrm>
            <a:off x="6334541" y="5066442"/>
            <a:ext cx="540000" cy="216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/>
          <a:lstStyle/>
          <a:p>
            <a:pPr algn="ctr"/>
            <a:r>
              <a:rPr lang="en-US" altLang="ko-KR" sz="7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1</a:t>
            </a:r>
            <a:endParaRPr lang="ko-KR" altLang="en-US" sz="70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427" name="직사각형 426"/>
          <p:cNvSpPr/>
          <p:nvPr/>
        </p:nvSpPr>
        <p:spPr>
          <a:xfrm>
            <a:off x="6875907" y="4634679"/>
            <a:ext cx="900000" cy="2160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70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상품명</a:t>
            </a:r>
          </a:p>
        </p:txBody>
      </p:sp>
      <p:sp>
        <p:nvSpPr>
          <p:cNvPr id="439" name="직사각형 438"/>
          <p:cNvSpPr/>
          <p:nvPr/>
        </p:nvSpPr>
        <p:spPr>
          <a:xfrm>
            <a:off x="6875907" y="4850678"/>
            <a:ext cx="900000" cy="216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/>
          <a:lstStyle/>
          <a:p>
            <a:pPr algn="ctr"/>
            <a:r>
              <a:rPr lang="ko-KR" altLang="en-US" sz="7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퀼티드 카라 패딩</a:t>
            </a:r>
            <a:r>
              <a:rPr lang="en-US" altLang="ko-KR" sz="7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…</a:t>
            </a:r>
          </a:p>
        </p:txBody>
      </p:sp>
      <p:sp>
        <p:nvSpPr>
          <p:cNvPr id="451" name="직사각형 450"/>
          <p:cNvSpPr/>
          <p:nvPr/>
        </p:nvSpPr>
        <p:spPr>
          <a:xfrm>
            <a:off x="6875907" y="5066442"/>
            <a:ext cx="900000" cy="216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/>
          <a:lstStyle/>
          <a:p>
            <a:pPr algn="ctr"/>
            <a:r>
              <a:rPr lang="ko-KR" altLang="en-US" sz="7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퀼티드 카라 패딩</a:t>
            </a:r>
            <a:r>
              <a:rPr lang="en-US" altLang="ko-KR" sz="7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…</a:t>
            </a:r>
          </a:p>
        </p:txBody>
      </p:sp>
      <p:sp>
        <p:nvSpPr>
          <p:cNvPr id="428" name="직사각형 427"/>
          <p:cNvSpPr/>
          <p:nvPr/>
        </p:nvSpPr>
        <p:spPr>
          <a:xfrm>
            <a:off x="7775786" y="4634679"/>
            <a:ext cx="540000" cy="2160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70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브랜드코드</a:t>
            </a:r>
          </a:p>
        </p:txBody>
      </p:sp>
      <p:sp>
        <p:nvSpPr>
          <p:cNvPr id="440" name="직사각형 439"/>
          <p:cNvSpPr/>
          <p:nvPr/>
        </p:nvSpPr>
        <p:spPr>
          <a:xfrm>
            <a:off x="7775786" y="4850678"/>
            <a:ext cx="540000" cy="216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/>
          <a:lstStyle/>
          <a:p>
            <a:pPr algn="ctr"/>
            <a:r>
              <a:rPr lang="en-US" altLang="ko-KR" sz="7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IE</a:t>
            </a:r>
            <a:endParaRPr lang="ko-KR" altLang="en-US" sz="70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52" name="직사각형 451"/>
          <p:cNvSpPr/>
          <p:nvPr/>
        </p:nvSpPr>
        <p:spPr>
          <a:xfrm>
            <a:off x="7775786" y="5066442"/>
            <a:ext cx="540000" cy="216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/>
          <a:lstStyle/>
          <a:p>
            <a:pPr algn="ctr"/>
            <a:r>
              <a:rPr lang="en-US" altLang="ko-KR" sz="7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IE</a:t>
            </a:r>
            <a:endParaRPr lang="ko-KR" altLang="en-US" sz="70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429" name="직사각형 428"/>
          <p:cNvSpPr/>
          <p:nvPr/>
        </p:nvSpPr>
        <p:spPr>
          <a:xfrm>
            <a:off x="8315785" y="4634679"/>
            <a:ext cx="720000" cy="2160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70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배송방법</a:t>
            </a:r>
          </a:p>
        </p:txBody>
      </p:sp>
      <p:sp>
        <p:nvSpPr>
          <p:cNvPr id="441" name="직사각형 440"/>
          <p:cNvSpPr/>
          <p:nvPr/>
        </p:nvSpPr>
        <p:spPr>
          <a:xfrm>
            <a:off x="8315785" y="4850678"/>
            <a:ext cx="720000" cy="216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/>
          <a:lstStyle/>
          <a:p>
            <a:pPr algn="ctr"/>
            <a:r>
              <a:rPr lang="ko-KR" altLang="en-US" sz="7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택배</a:t>
            </a:r>
            <a:r>
              <a:rPr lang="en-US" altLang="ko-KR" sz="7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7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소포</a:t>
            </a:r>
            <a:r>
              <a:rPr lang="en-US" altLang="ko-KR" sz="7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7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등기</a:t>
            </a:r>
          </a:p>
        </p:txBody>
      </p:sp>
      <p:sp>
        <p:nvSpPr>
          <p:cNvPr id="453" name="직사각형 452"/>
          <p:cNvSpPr/>
          <p:nvPr/>
        </p:nvSpPr>
        <p:spPr>
          <a:xfrm>
            <a:off x="8315785" y="5066442"/>
            <a:ext cx="720000" cy="216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/>
          <a:lstStyle/>
          <a:p>
            <a:pPr algn="ctr"/>
            <a:r>
              <a:rPr lang="ko-KR" altLang="en-US" sz="7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택배</a:t>
            </a:r>
            <a:r>
              <a:rPr lang="en-US" altLang="ko-KR" sz="7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/</a:t>
            </a:r>
            <a:r>
              <a:rPr lang="ko-KR" altLang="en-US" sz="7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소포</a:t>
            </a:r>
            <a:r>
              <a:rPr lang="en-US" altLang="ko-KR" sz="7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/</a:t>
            </a:r>
            <a:r>
              <a:rPr lang="ko-KR" altLang="en-US" sz="7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등기</a:t>
            </a:r>
          </a:p>
        </p:txBody>
      </p:sp>
      <p:grpSp>
        <p:nvGrpSpPr>
          <p:cNvPr id="479" name="그룹 478">
            <a:extLst>
              <a:ext uri="{FF2B5EF4-FFF2-40B4-BE49-F238E27FC236}">
                <a16:creationId xmlns="" xmlns:a16="http://schemas.microsoft.com/office/drawing/2014/main" id="{57ECD31F-788D-4171-BC56-21203531164F}"/>
              </a:ext>
            </a:extLst>
          </p:cNvPr>
          <p:cNvGrpSpPr/>
          <p:nvPr/>
        </p:nvGrpSpPr>
        <p:grpSpPr>
          <a:xfrm>
            <a:off x="827906" y="5642679"/>
            <a:ext cx="7992000" cy="144000"/>
            <a:chOff x="8787536" y="5061829"/>
            <a:chExt cx="7992000" cy="144000"/>
          </a:xfrm>
        </p:grpSpPr>
        <p:sp>
          <p:nvSpPr>
            <p:cNvPr id="481" name="직사각형 480">
              <a:extLst>
                <a:ext uri="{FF2B5EF4-FFF2-40B4-BE49-F238E27FC236}">
                  <a16:creationId xmlns="" xmlns:a16="http://schemas.microsoft.com/office/drawing/2014/main" id="{46DB708C-F6C9-4BC3-8798-5AEC8BA752B6}"/>
                </a:ext>
              </a:extLst>
            </p:cNvPr>
            <p:cNvSpPr/>
            <p:nvPr/>
          </p:nvSpPr>
          <p:spPr bwMode="auto">
            <a:xfrm>
              <a:off x="8787536" y="5061829"/>
              <a:ext cx="7992000" cy="144000"/>
            </a:xfrm>
            <a:prstGeom prst="rect">
              <a:avLst/>
            </a:prstGeom>
            <a:solidFill>
              <a:schemeClr val="bg1"/>
            </a:solidFill>
            <a:ln w="3175" cap="flat" cmpd="sng" algn="ctr">
              <a:solidFill>
                <a:schemeClr val="bg1">
                  <a:lumMod val="7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none" lIns="108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fontAlgn="base" latinLnBrk="0">
                <a:spcBef>
                  <a:spcPct val="0"/>
                </a:spcBef>
                <a:spcAft>
                  <a:spcPct val="0"/>
                </a:spcAft>
              </a:pPr>
              <a:endParaRPr kumimoji="1" lang="ko-KR" altLang="en-US" sz="700" kern="0">
                <a:solidFill>
                  <a:srgbClr val="000000"/>
                </a:solidFill>
                <a:latin typeface="+mn-ea"/>
              </a:endParaRPr>
            </a:p>
          </p:txBody>
        </p:sp>
        <p:sp>
          <p:nvSpPr>
            <p:cNvPr id="482" name="직사각형 481">
              <a:extLst>
                <a:ext uri="{FF2B5EF4-FFF2-40B4-BE49-F238E27FC236}">
                  <a16:creationId xmlns="" xmlns:a16="http://schemas.microsoft.com/office/drawing/2014/main" id="{CFA4A5C4-50A2-45F3-A6F7-13A35965A534}"/>
                </a:ext>
              </a:extLst>
            </p:cNvPr>
            <p:cNvSpPr/>
            <p:nvPr/>
          </p:nvSpPr>
          <p:spPr bwMode="auto">
            <a:xfrm>
              <a:off x="8787536" y="5061829"/>
              <a:ext cx="144000" cy="144000"/>
            </a:xfrm>
            <a:prstGeom prst="rect">
              <a:avLst/>
            </a:prstGeom>
            <a:noFill/>
            <a:ln w="317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non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fontAlgn="base" latinLnBrk="0">
                <a:spcBef>
                  <a:spcPct val="0"/>
                </a:spcBef>
                <a:spcAft>
                  <a:spcPct val="0"/>
                </a:spcAft>
              </a:pPr>
              <a:r>
                <a:rPr kumimoji="1" lang="ko-KR" altLang="en-US" sz="700" ker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◀</a:t>
              </a:r>
            </a:p>
          </p:txBody>
        </p:sp>
        <p:sp>
          <p:nvSpPr>
            <p:cNvPr id="483" name="직사각형 482">
              <a:extLst>
                <a:ext uri="{FF2B5EF4-FFF2-40B4-BE49-F238E27FC236}">
                  <a16:creationId xmlns="" xmlns:a16="http://schemas.microsoft.com/office/drawing/2014/main" id="{DE0FE1FF-26CD-4D0A-80D5-87996CA74226}"/>
                </a:ext>
              </a:extLst>
            </p:cNvPr>
            <p:cNvSpPr/>
            <p:nvPr/>
          </p:nvSpPr>
          <p:spPr bwMode="auto">
            <a:xfrm>
              <a:off x="16635536" y="5061829"/>
              <a:ext cx="144000" cy="144000"/>
            </a:xfrm>
            <a:prstGeom prst="rect">
              <a:avLst/>
            </a:prstGeom>
            <a:noFill/>
            <a:ln w="317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non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fontAlgn="base" latinLnBrk="0">
                <a:spcBef>
                  <a:spcPct val="0"/>
                </a:spcBef>
                <a:spcAft>
                  <a:spcPct val="0"/>
                </a:spcAft>
              </a:pPr>
              <a:r>
                <a:rPr kumimoji="1" lang="ko-KR" altLang="en-US" sz="700" ker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▶</a:t>
              </a:r>
            </a:p>
          </p:txBody>
        </p:sp>
        <p:sp>
          <p:nvSpPr>
            <p:cNvPr id="484" name="모서리가 둥근 직사각형 303">
              <a:extLst>
                <a:ext uri="{FF2B5EF4-FFF2-40B4-BE49-F238E27FC236}">
                  <a16:creationId xmlns="" xmlns:a16="http://schemas.microsoft.com/office/drawing/2014/main" id="{6B4E175A-EAD1-47E4-BC64-84F4A065D731}"/>
                </a:ext>
              </a:extLst>
            </p:cNvPr>
            <p:cNvSpPr/>
            <p:nvPr/>
          </p:nvSpPr>
          <p:spPr bwMode="auto">
            <a:xfrm>
              <a:off x="9031173" y="5097829"/>
              <a:ext cx="6480000" cy="72000"/>
            </a:xfrm>
            <a:prstGeom prst="roundRect">
              <a:avLst/>
            </a:prstGeom>
            <a:solidFill>
              <a:schemeClr val="bg1">
                <a:lumMod val="75000"/>
              </a:schemeClr>
            </a:solidFill>
            <a:ln w="3175" cap="flat" cmpd="sng" algn="ctr">
              <a:solidFill>
                <a:schemeClr val="bg1">
                  <a:lumMod val="7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none" lIns="36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fontAlgn="base" latinLnBrk="0">
                <a:spcBef>
                  <a:spcPct val="0"/>
                </a:spcBef>
                <a:spcAft>
                  <a:spcPct val="0"/>
                </a:spcAft>
              </a:pPr>
              <a:endParaRPr kumimoji="1" lang="ko-KR" altLang="en-US" sz="700" kern="0">
                <a:solidFill>
                  <a:srgbClr val="000000"/>
                </a:solidFill>
                <a:latin typeface="+mn-ea"/>
              </a:endParaRPr>
            </a:p>
          </p:txBody>
        </p:sp>
      </p:grpSp>
      <p:sp>
        <p:nvSpPr>
          <p:cNvPr id="256" name="타원 255">
            <a:extLst>
              <a:ext uri="{FF2B5EF4-FFF2-40B4-BE49-F238E27FC236}">
                <a16:creationId xmlns="" xmlns:a16="http://schemas.microsoft.com/office/drawing/2014/main" id="{05928B69-0142-4C14-A783-3D8762E5BBE2}"/>
              </a:ext>
            </a:extLst>
          </p:cNvPr>
          <p:cNvSpPr/>
          <p:nvPr/>
        </p:nvSpPr>
        <p:spPr>
          <a:xfrm>
            <a:off x="539906" y="1753205"/>
            <a:ext cx="144000" cy="144000"/>
          </a:xfrm>
          <a:prstGeom prst="ellipse">
            <a:avLst/>
          </a:prstGeom>
          <a:solidFill>
            <a:srgbClr val="C00000"/>
          </a:solidFill>
          <a:ln w="3175">
            <a:noFill/>
          </a:ln>
          <a:effectLst>
            <a:outerShdw blurRad="25400" dist="25400" dir="2700000" algn="tl" rotWithShape="0">
              <a:schemeClr val="tx1">
                <a:lumMod val="75000"/>
                <a:lumOff val="2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70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endParaRPr lang="ko-KR" altLang="en-US" sz="70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86" name="타원 485">
            <a:extLst>
              <a:ext uri="{FF2B5EF4-FFF2-40B4-BE49-F238E27FC236}">
                <a16:creationId xmlns="" xmlns:a16="http://schemas.microsoft.com/office/drawing/2014/main" id="{05928B69-0142-4C14-A783-3D8762E5BBE2}"/>
              </a:ext>
            </a:extLst>
          </p:cNvPr>
          <p:cNvSpPr/>
          <p:nvPr/>
        </p:nvSpPr>
        <p:spPr>
          <a:xfrm>
            <a:off x="539906" y="3104799"/>
            <a:ext cx="144000" cy="144000"/>
          </a:xfrm>
          <a:prstGeom prst="ellipse">
            <a:avLst/>
          </a:prstGeom>
          <a:solidFill>
            <a:srgbClr val="C00000"/>
          </a:solidFill>
          <a:ln w="3175">
            <a:noFill/>
          </a:ln>
          <a:effectLst>
            <a:outerShdw blurRad="25400" dist="25400" dir="2700000" algn="tl" rotWithShape="0">
              <a:schemeClr val="tx1">
                <a:lumMod val="75000"/>
                <a:lumOff val="2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70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endParaRPr lang="ko-KR" altLang="en-US" sz="70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345" name="직선 연결선 344">
            <a:extLst>
              <a:ext uri="{FF2B5EF4-FFF2-40B4-BE49-F238E27FC236}">
                <a16:creationId xmlns="" xmlns:a16="http://schemas.microsoft.com/office/drawing/2014/main" id="{7FADAC9D-C11E-4DE1-A6EC-F8B632560614}"/>
              </a:ext>
            </a:extLst>
          </p:cNvPr>
          <p:cNvCxnSpPr>
            <a:cxnSpLocks/>
          </p:cNvCxnSpPr>
          <p:nvPr/>
        </p:nvCxnSpPr>
        <p:spPr>
          <a:xfrm>
            <a:off x="2957098" y="3123011"/>
            <a:ext cx="0" cy="144000"/>
          </a:xfrm>
          <a:prstGeom prst="line">
            <a:avLst/>
          </a:prstGeom>
          <a:ln w="31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7" name="TextBox 346">
            <a:extLst>
              <a:ext uri="{FF2B5EF4-FFF2-40B4-BE49-F238E27FC236}">
                <a16:creationId xmlns="" xmlns:a16="http://schemas.microsoft.com/office/drawing/2014/main" id="{87DCF5B8-61F6-4E97-889B-24A0F3E5B471}"/>
              </a:ext>
            </a:extLst>
          </p:cNvPr>
          <p:cNvSpPr txBox="1"/>
          <p:nvPr/>
        </p:nvSpPr>
        <p:spPr>
          <a:xfrm>
            <a:off x="2957098" y="3104799"/>
            <a:ext cx="612448" cy="180425"/>
          </a:xfrm>
          <a:prstGeom prst="rect">
            <a:avLst/>
          </a:prstGeom>
          <a:noFill/>
          <a:ln w="317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108000" tIns="36000" rIns="108000" bIns="36000" numCol="1" rtlCol="0" anchor="ctr" anchorCtr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ko-KR" altLang="en-US" sz="70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할인</a:t>
            </a:r>
            <a:r>
              <a:rPr lang="en-US" altLang="ko-KR" sz="70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/</a:t>
            </a:r>
            <a:r>
              <a:rPr lang="ko-KR" altLang="en-US" sz="70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적립</a:t>
            </a:r>
            <a:endParaRPr lang="ko-KR" altLang="en-US" sz="7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</p:txBody>
      </p:sp>
      <p:cxnSp>
        <p:nvCxnSpPr>
          <p:cNvPr id="149" name="직선 연결선 148">
            <a:extLst>
              <a:ext uri="{FF2B5EF4-FFF2-40B4-BE49-F238E27FC236}">
                <a16:creationId xmlns="" xmlns:a16="http://schemas.microsoft.com/office/drawing/2014/main" id="{7FADAC9D-C11E-4DE1-A6EC-F8B632560614}"/>
              </a:ext>
            </a:extLst>
          </p:cNvPr>
          <p:cNvCxnSpPr>
            <a:cxnSpLocks/>
          </p:cNvCxnSpPr>
          <p:nvPr/>
        </p:nvCxnSpPr>
        <p:spPr>
          <a:xfrm>
            <a:off x="3569546" y="3123011"/>
            <a:ext cx="0" cy="144000"/>
          </a:xfrm>
          <a:prstGeom prst="line">
            <a:avLst/>
          </a:prstGeom>
          <a:ln w="31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0" name="TextBox 149">
            <a:extLst>
              <a:ext uri="{FF2B5EF4-FFF2-40B4-BE49-F238E27FC236}">
                <a16:creationId xmlns="" xmlns:a16="http://schemas.microsoft.com/office/drawing/2014/main" id="{87DCF5B8-61F6-4E97-889B-24A0F3E5B471}"/>
              </a:ext>
            </a:extLst>
          </p:cNvPr>
          <p:cNvSpPr txBox="1"/>
          <p:nvPr/>
        </p:nvSpPr>
        <p:spPr>
          <a:xfrm>
            <a:off x="3569546" y="3104799"/>
            <a:ext cx="612448" cy="180425"/>
          </a:xfrm>
          <a:prstGeom prst="rect">
            <a:avLst/>
          </a:prstGeom>
          <a:noFill/>
          <a:ln w="317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108000" tIns="36000" rIns="108000" bIns="36000" numCol="1" rtlCol="0" anchor="ctr" anchorCtr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ko-KR" altLang="en-US" sz="70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반품</a:t>
            </a:r>
            <a:r>
              <a:rPr lang="en-US" altLang="ko-KR" sz="70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/</a:t>
            </a:r>
            <a:r>
              <a:rPr lang="ko-KR" altLang="en-US" sz="70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교환</a:t>
            </a:r>
            <a:endParaRPr lang="ko-KR" altLang="en-US" sz="7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</p:txBody>
      </p:sp>
      <p:cxnSp>
        <p:nvCxnSpPr>
          <p:cNvPr id="151" name="직선 연결선 150">
            <a:extLst>
              <a:ext uri="{FF2B5EF4-FFF2-40B4-BE49-F238E27FC236}">
                <a16:creationId xmlns="" xmlns:a16="http://schemas.microsoft.com/office/drawing/2014/main" id="{7FADAC9D-C11E-4DE1-A6EC-F8B632560614}"/>
              </a:ext>
            </a:extLst>
          </p:cNvPr>
          <p:cNvCxnSpPr>
            <a:cxnSpLocks/>
          </p:cNvCxnSpPr>
          <p:nvPr/>
        </p:nvCxnSpPr>
        <p:spPr>
          <a:xfrm>
            <a:off x="4146728" y="3123011"/>
            <a:ext cx="0" cy="144000"/>
          </a:xfrm>
          <a:prstGeom prst="line">
            <a:avLst/>
          </a:prstGeom>
          <a:ln w="31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2" name="TextBox 151">
            <a:extLst>
              <a:ext uri="{FF2B5EF4-FFF2-40B4-BE49-F238E27FC236}">
                <a16:creationId xmlns="" xmlns:a16="http://schemas.microsoft.com/office/drawing/2014/main" id="{87DCF5B8-61F6-4E97-889B-24A0F3E5B471}"/>
              </a:ext>
            </a:extLst>
          </p:cNvPr>
          <p:cNvSpPr txBox="1"/>
          <p:nvPr/>
        </p:nvSpPr>
        <p:spPr>
          <a:xfrm>
            <a:off x="4146728" y="3104799"/>
            <a:ext cx="577182" cy="180425"/>
          </a:xfrm>
          <a:prstGeom prst="rect">
            <a:avLst/>
          </a:prstGeom>
          <a:noFill/>
          <a:ln w="317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108000" tIns="36000" rIns="108000" bIns="36000" numCol="1" rtlCol="0" anchor="ctr" anchorCtr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ko-KR" altLang="en-US" sz="70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상담내역</a:t>
            </a:r>
            <a:endParaRPr lang="ko-KR" altLang="en-US" sz="7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</p:txBody>
      </p:sp>
      <p:cxnSp>
        <p:nvCxnSpPr>
          <p:cNvPr id="153" name="직선 연결선 152">
            <a:extLst>
              <a:ext uri="{FF2B5EF4-FFF2-40B4-BE49-F238E27FC236}">
                <a16:creationId xmlns="" xmlns:a16="http://schemas.microsoft.com/office/drawing/2014/main" id="{7FADAC9D-C11E-4DE1-A6EC-F8B632560614}"/>
              </a:ext>
            </a:extLst>
          </p:cNvPr>
          <p:cNvCxnSpPr>
            <a:cxnSpLocks/>
          </p:cNvCxnSpPr>
          <p:nvPr/>
        </p:nvCxnSpPr>
        <p:spPr>
          <a:xfrm>
            <a:off x="4721994" y="3123011"/>
            <a:ext cx="0" cy="144000"/>
          </a:xfrm>
          <a:prstGeom prst="line">
            <a:avLst/>
          </a:prstGeom>
          <a:ln w="31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4" name="TextBox 153">
            <a:extLst>
              <a:ext uri="{FF2B5EF4-FFF2-40B4-BE49-F238E27FC236}">
                <a16:creationId xmlns="" xmlns:a16="http://schemas.microsoft.com/office/drawing/2014/main" id="{87DCF5B8-61F6-4E97-889B-24A0F3E5B471}"/>
              </a:ext>
            </a:extLst>
          </p:cNvPr>
          <p:cNvSpPr txBox="1"/>
          <p:nvPr/>
        </p:nvSpPr>
        <p:spPr>
          <a:xfrm>
            <a:off x="4721994" y="3104799"/>
            <a:ext cx="804808" cy="180425"/>
          </a:xfrm>
          <a:prstGeom prst="rect">
            <a:avLst/>
          </a:prstGeom>
          <a:noFill/>
          <a:ln w="317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108000" tIns="36000" rIns="108000" bIns="36000" numCol="1" rtlCol="0" anchor="ctr" anchorCtr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ko-KR" altLang="en-US" sz="70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입점사 </a:t>
            </a:r>
            <a:r>
              <a:rPr lang="en-US" altLang="ko-KR" sz="70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CS</a:t>
            </a:r>
            <a:r>
              <a:rPr lang="ko-KR" altLang="en-US" sz="70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문의</a:t>
            </a:r>
            <a:endParaRPr lang="ko-KR" altLang="en-US" sz="7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</p:txBody>
      </p:sp>
      <p:cxnSp>
        <p:nvCxnSpPr>
          <p:cNvPr id="155" name="직선 연결선 154">
            <a:extLst>
              <a:ext uri="{FF2B5EF4-FFF2-40B4-BE49-F238E27FC236}">
                <a16:creationId xmlns="" xmlns:a16="http://schemas.microsoft.com/office/drawing/2014/main" id="{7FADAC9D-C11E-4DE1-A6EC-F8B632560614}"/>
              </a:ext>
            </a:extLst>
          </p:cNvPr>
          <p:cNvCxnSpPr>
            <a:cxnSpLocks/>
          </p:cNvCxnSpPr>
          <p:nvPr/>
        </p:nvCxnSpPr>
        <p:spPr>
          <a:xfrm>
            <a:off x="5526802" y="3123011"/>
            <a:ext cx="0" cy="144000"/>
          </a:xfrm>
          <a:prstGeom prst="line">
            <a:avLst/>
          </a:prstGeom>
          <a:ln w="31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0" name="사각형: 둥근 모서리 244">
            <a:extLst>
              <a:ext uri="{FF2B5EF4-FFF2-40B4-BE49-F238E27FC236}">
                <a16:creationId xmlns="" xmlns:a16="http://schemas.microsoft.com/office/drawing/2014/main" id="{6A3ABAA2-A5F4-4C8F-B9C8-C37B43E8884D}"/>
              </a:ext>
            </a:extLst>
          </p:cNvPr>
          <p:cNvSpPr/>
          <p:nvPr/>
        </p:nvSpPr>
        <p:spPr bwMode="auto">
          <a:xfrm>
            <a:off x="8388037" y="4400679"/>
            <a:ext cx="360000" cy="18000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317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12700" dist="12700" dir="2700000" algn="tl" rotWithShape="0">
              <a:schemeClr val="tx1">
                <a:lumMod val="75000"/>
                <a:lumOff val="25000"/>
                <a:alpha val="30000"/>
              </a:schemeClr>
            </a:outerShdw>
          </a:effectLst>
        </p:spPr>
        <p:txBody>
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400" fontAlgn="base" latinLnBrk="0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700" kern="0">
                <a:solidFill>
                  <a:schemeClr val="bg1"/>
                </a:solidFill>
                <a:latin typeface="+mn-ea"/>
              </a:rPr>
              <a:t>저장</a:t>
            </a:r>
            <a:endParaRPr kumimoji="1" lang="ko-KR" altLang="en-US" sz="700" kern="0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161" name="사각형: 둥근 모서리 244">
            <a:extLst>
              <a:ext uri="{FF2B5EF4-FFF2-40B4-BE49-F238E27FC236}">
                <a16:creationId xmlns="" xmlns:a16="http://schemas.microsoft.com/office/drawing/2014/main" id="{6A3ABAA2-A5F4-4C8F-B9C8-C37B43E8884D}"/>
              </a:ext>
            </a:extLst>
          </p:cNvPr>
          <p:cNvSpPr/>
          <p:nvPr/>
        </p:nvSpPr>
        <p:spPr bwMode="auto">
          <a:xfrm>
            <a:off x="7596168" y="4400679"/>
            <a:ext cx="720000" cy="18000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317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12700" dist="12700" dir="2700000" algn="tl" rotWithShape="0">
              <a:schemeClr val="tx1">
                <a:lumMod val="75000"/>
                <a:lumOff val="25000"/>
                <a:alpha val="30000"/>
              </a:schemeClr>
            </a:outerShdw>
          </a:effectLst>
        </p:spPr>
        <p:txBody>
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400" fontAlgn="base" latinLnBrk="0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700" kern="0">
                <a:solidFill>
                  <a:schemeClr val="bg1"/>
                </a:solidFill>
                <a:latin typeface="+mn-ea"/>
              </a:rPr>
              <a:t>입점사 </a:t>
            </a:r>
            <a:r>
              <a:rPr kumimoji="1" lang="en-US" altLang="ko-KR" sz="700" kern="0">
                <a:solidFill>
                  <a:schemeClr val="bg1"/>
                </a:solidFill>
                <a:latin typeface="+mn-ea"/>
              </a:rPr>
              <a:t>CS</a:t>
            </a:r>
            <a:r>
              <a:rPr kumimoji="1" lang="ko-KR" altLang="en-US" sz="700" kern="0">
                <a:solidFill>
                  <a:schemeClr val="bg1"/>
                </a:solidFill>
                <a:latin typeface="+mn-ea"/>
              </a:rPr>
              <a:t>문의</a:t>
            </a:r>
            <a:endParaRPr kumimoji="1" lang="ko-KR" altLang="en-US" sz="700" kern="0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163" name="직사각형 162"/>
          <p:cNvSpPr/>
          <p:nvPr/>
        </p:nvSpPr>
        <p:spPr>
          <a:xfrm>
            <a:off x="827906" y="4634679"/>
            <a:ext cx="288000" cy="2160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70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선택</a:t>
            </a:r>
          </a:p>
        </p:txBody>
      </p:sp>
      <p:sp>
        <p:nvSpPr>
          <p:cNvPr id="164" name="직사각형 163"/>
          <p:cNvSpPr/>
          <p:nvPr/>
        </p:nvSpPr>
        <p:spPr>
          <a:xfrm>
            <a:off x="827906" y="4850678"/>
            <a:ext cx="288000" cy="216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ko-KR" altLang="en-US" sz="70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65" name="직사각형 164"/>
          <p:cNvSpPr/>
          <p:nvPr/>
        </p:nvSpPr>
        <p:spPr>
          <a:xfrm>
            <a:off x="827906" y="5066442"/>
            <a:ext cx="288000" cy="216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ko-KR" altLang="en-US" sz="70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169" name="사각형: 둥근 모서리 393">
            <a:extLst>
              <a:ext uri="{FF2B5EF4-FFF2-40B4-BE49-F238E27FC236}">
                <a16:creationId xmlns="" xmlns:a16="http://schemas.microsoft.com/office/drawing/2014/main" id="{36E654BC-9DA7-40DE-810D-4DBC10DDAC9E}"/>
              </a:ext>
            </a:extLst>
          </p:cNvPr>
          <p:cNvSpPr/>
          <p:nvPr/>
        </p:nvSpPr>
        <p:spPr bwMode="auto">
          <a:xfrm>
            <a:off x="899906" y="4886678"/>
            <a:ext cx="144000" cy="144000"/>
          </a:xfrm>
          <a:prstGeom prst="roundRect">
            <a:avLst/>
          </a:prstGeom>
          <a:solidFill>
            <a:schemeClr val="bg1"/>
          </a:solidFill>
          <a:ln w="3175" cap="flat" cmpd="sng" algn="ctr">
            <a:solidFill>
              <a:schemeClr val="bg1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>
            <a:innerShdw blurRad="12700" dist="12700" dir="13500000">
              <a:schemeClr val="tx1">
                <a:lumMod val="75000"/>
                <a:lumOff val="25000"/>
                <a:alpha val="30000"/>
              </a:schemeClr>
            </a:innerShdw>
          </a:effectLst>
        </p:spPr>
        <p:txBody>
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fontAlgn="base" latinLnBrk="0">
              <a:spcBef>
                <a:spcPct val="0"/>
              </a:spcBef>
              <a:spcAft>
                <a:spcPct val="0"/>
              </a:spcAft>
            </a:pPr>
            <a:endParaRPr kumimoji="1" lang="ko-KR" altLang="en-US" sz="700" b="1" kern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70" name="사각형: 둥근 모서리 393">
            <a:extLst>
              <a:ext uri="{FF2B5EF4-FFF2-40B4-BE49-F238E27FC236}">
                <a16:creationId xmlns="" xmlns:a16="http://schemas.microsoft.com/office/drawing/2014/main" id="{36E654BC-9DA7-40DE-810D-4DBC10DDAC9E}"/>
              </a:ext>
            </a:extLst>
          </p:cNvPr>
          <p:cNvSpPr/>
          <p:nvPr/>
        </p:nvSpPr>
        <p:spPr bwMode="auto">
          <a:xfrm>
            <a:off x="899906" y="5102442"/>
            <a:ext cx="144000" cy="144000"/>
          </a:xfrm>
          <a:prstGeom prst="roundRect">
            <a:avLst/>
          </a:prstGeom>
          <a:solidFill>
            <a:schemeClr val="bg1"/>
          </a:solidFill>
          <a:ln w="3175" cap="flat" cmpd="sng" algn="ctr">
            <a:solidFill>
              <a:schemeClr val="bg1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>
            <a:innerShdw blurRad="12700" dist="12700" dir="13500000">
              <a:schemeClr val="tx1">
                <a:lumMod val="75000"/>
                <a:lumOff val="25000"/>
                <a:alpha val="30000"/>
              </a:schemeClr>
            </a:innerShdw>
          </a:effectLst>
        </p:spPr>
        <p:txBody>
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fontAlgn="base" latinLnBrk="0">
              <a:spcBef>
                <a:spcPct val="0"/>
              </a:spcBef>
              <a:spcAft>
                <a:spcPct val="0"/>
              </a:spcAft>
            </a:pPr>
            <a:endParaRPr kumimoji="1" lang="ko-KR" altLang="en-US" sz="700" b="1" kern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73" name="직사각형 172"/>
          <p:cNvSpPr/>
          <p:nvPr/>
        </p:nvSpPr>
        <p:spPr>
          <a:xfrm>
            <a:off x="9035785" y="4634679"/>
            <a:ext cx="576000" cy="2160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700">
                <a:solidFill>
                  <a:schemeClr val="bg1"/>
                </a:solidFill>
                <a:latin typeface="맑은 고딕" panose="020B0503020000020004" pitchFamily="50" charset="-127"/>
              </a:rPr>
              <a:t>통관부호</a:t>
            </a:r>
          </a:p>
        </p:txBody>
      </p:sp>
      <p:sp>
        <p:nvSpPr>
          <p:cNvPr id="174" name="직사각형 173"/>
          <p:cNvSpPr/>
          <p:nvPr/>
        </p:nvSpPr>
        <p:spPr>
          <a:xfrm>
            <a:off x="9035785" y="4850678"/>
            <a:ext cx="576000" cy="216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/>
          <a:lstStyle/>
          <a:p>
            <a:pPr algn="ctr"/>
            <a:endParaRPr lang="ko-KR" altLang="en-US" sz="70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75" name="직사각형 174"/>
          <p:cNvSpPr/>
          <p:nvPr/>
        </p:nvSpPr>
        <p:spPr>
          <a:xfrm>
            <a:off x="9035785" y="5066442"/>
            <a:ext cx="576000" cy="216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/>
          <a:lstStyle/>
          <a:p>
            <a:pPr algn="ctr"/>
            <a:endParaRPr lang="ko-KR" altLang="en-US" sz="70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177" name="직사각형 176"/>
          <p:cNvSpPr/>
          <p:nvPr/>
        </p:nvSpPr>
        <p:spPr>
          <a:xfrm>
            <a:off x="9611785" y="4634679"/>
            <a:ext cx="540000" cy="2160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700">
                <a:solidFill>
                  <a:schemeClr val="bg1"/>
                </a:solidFill>
                <a:latin typeface="맑은 고딕" panose="020B0503020000020004" pitchFamily="50" charset="-127"/>
              </a:rPr>
              <a:t>선물부자재</a:t>
            </a:r>
            <a:r>
              <a:rPr lang="en-US" altLang="ko-KR" sz="700">
                <a:solidFill>
                  <a:schemeClr val="bg1"/>
                </a:solidFill>
                <a:latin typeface="맑은 고딕" panose="020B0503020000020004" pitchFamily="50" charset="-127"/>
              </a:rPr>
              <a:t>…</a:t>
            </a:r>
            <a:endParaRPr lang="ko-KR" altLang="en-US" sz="700">
              <a:solidFill>
                <a:schemeClr val="bg1"/>
              </a:solidFill>
              <a:latin typeface="맑은 고딕" panose="020B0503020000020004" pitchFamily="50" charset="-127"/>
            </a:endParaRPr>
          </a:p>
        </p:txBody>
      </p:sp>
      <p:sp>
        <p:nvSpPr>
          <p:cNvPr id="178" name="직사각형 177"/>
          <p:cNvSpPr/>
          <p:nvPr/>
        </p:nvSpPr>
        <p:spPr>
          <a:xfrm>
            <a:off x="9611785" y="4850678"/>
            <a:ext cx="540000" cy="216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/>
          <a:lstStyle/>
          <a:p>
            <a:pPr algn="ctr"/>
            <a:r>
              <a:rPr lang="en-US" altLang="ko-KR" sz="7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-</a:t>
            </a:r>
            <a:endParaRPr lang="ko-KR" altLang="en-US" sz="70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79" name="직사각형 178"/>
          <p:cNvSpPr/>
          <p:nvPr/>
        </p:nvSpPr>
        <p:spPr>
          <a:xfrm>
            <a:off x="9611785" y="5066442"/>
            <a:ext cx="540000" cy="216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/>
          <a:lstStyle/>
          <a:p>
            <a:pPr algn="ctr"/>
            <a:r>
              <a:rPr lang="en-US" altLang="ko-KR" sz="7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-</a:t>
            </a:r>
            <a:endParaRPr lang="ko-KR" altLang="en-US" sz="70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185" name="직사각형 184"/>
          <p:cNvSpPr/>
          <p:nvPr/>
        </p:nvSpPr>
        <p:spPr>
          <a:xfrm>
            <a:off x="10151785" y="4634679"/>
            <a:ext cx="648000" cy="2160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70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결품예정일</a:t>
            </a:r>
            <a:endParaRPr lang="ko-KR" altLang="en-US" sz="70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86" name="직사각형 185"/>
          <p:cNvSpPr/>
          <p:nvPr/>
        </p:nvSpPr>
        <p:spPr>
          <a:xfrm>
            <a:off x="10151785" y="4850678"/>
            <a:ext cx="648000" cy="216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/>
          <a:lstStyle/>
          <a:p>
            <a:pPr algn="ctr"/>
            <a:r>
              <a:rPr lang="en-US" altLang="ko-KR" sz="7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2026.01.16</a:t>
            </a:r>
            <a:endParaRPr lang="ko-KR" altLang="en-US" sz="70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87" name="직사각형 186"/>
          <p:cNvSpPr/>
          <p:nvPr/>
        </p:nvSpPr>
        <p:spPr>
          <a:xfrm>
            <a:off x="10151785" y="5066442"/>
            <a:ext cx="648000" cy="216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/>
          <a:lstStyle/>
          <a:p>
            <a:pPr algn="ctr"/>
            <a:r>
              <a:rPr lang="en-US" altLang="ko-KR" sz="7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2026.01.16</a:t>
            </a:r>
            <a:endParaRPr lang="ko-KR" altLang="en-US" sz="70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189" name="직사각형 188"/>
          <p:cNvSpPr/>
          <p:nvPr/>
        </p:nvSpPr>
        <p:spPr>
          <a:xfrm>
            <a:off x="10800188" y="4634679"/>
            <a:ext cx="1368000" cy="2160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70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매장상품배송 재고주문여부</a:t>
            </a:r>
            <a:endParaRPr lang="ko-KR" altLang="en-US" sz="70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90" name="직사각형 189"/>
          <p:cNvSpPr/>
          <p:nvPr/>
        </p:nvSpPr>
        <p:spPr>
          <a:xfrm>
            <a:off x="10800188" y="4850678"/>
            <a:ext cx="1368000" cy="216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/>
          <a:lstStyle/>
          <a:p>
            <a:pPr algn="ctr"/>
            <a:r>
              <a:rPr lang="ko-KR" altLang="en-US" sz="7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일반</a:t>
            </a:r>
            <a:endParaRPr lang="ko-KR" altLang="en-US" sz="70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91" name="직사각형 190"/>
          <p:cNvSpPr/>
          <p:nvPr/>
        </p:nvSpPr>
        <p:spPr>
          <a:xfrm>
            <a:off x="10800188" y="5066442"/>
            <a:ext cx="1368000" cy="216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/>
          <a:lstStyle/>
          <a:p>
            <a:pPr algn="ctr"/>
            <a:r>
              <a:rPr lang="ko-KR" altLang="en-US" sz="7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매장상품배송 재고주문</a:t>
            </a:r>
            <a:endParaRPr lang="ko-KR" altLang="en-US" sz="70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</a:endParaRPr>
          </a:p>
        </p:txBody>
      </p:sp>
      <p:grpSp>
        <p:nvGrpSpPr>
          <p:cNvPr id="193" name="Cutout">
            <a:extLst>
              <a:ext uri="{FF2B5EF4-FFF2-40B4-BE49-F238E27FC236}">
                <a16:creationId xmlns="" xmlns:a16="http://schemas.microsoft.com/office/drawing/2014/main" id="{8281F436-E80B-4C7F-9B32-A296DD2A4C43}"/>
              </a:ext>
            </a:extLst>
          </p:cNvPr>
          <p:cNvGrpSpPr/>
          <p:nvPr/>
        </p:nvGrpSpPr>
        <p:grpSpPr>
          <a:xfrm>
            <a:off x="10097885" y="4634679"/>
            <a:ext cx="108000" cy="648000"/>
            <a:chOff x="6402388" y="1584325"/>
            <a:chExt cx="239713" cy="933450"/>
          </a:xfrm>
          <a:solidFill>
            <a:srgbClr val="FFFFFF"/>
          </a:solidFill>
        </p:grpSpPr>
        <p:sp>
          <p:nvSpPr>
            <p:cNvPr id="194" name="Fill">
              <a:extLst>
                <a:ext uri="{FF2B5EF4-FFF2-40B4-BE49-F238E27FC236}">
                  <a16:creationId xmlns="" xmlns:a16="http://schemas.microsoft.com/office/drawing/2014/main" id="{037FE56A-459C-4D17-A0B7-95ABD183D048}"/>
                </a:ext>
              </a:extLst>
            </p:cNvPr>
            <p:cNvSpPr>
              <a:spLocks/>
            </p:cNvSpPr>
            <p:nvPr/>
          </p:nvSpPr>
          <p:spPr bwMode="auto">
            <a:xfrm>
              <a:off x="6402388" y="1584325"/>
              <a:ext cx="239713" cy="933450"/>
            </a:xfrm>
            <a:custGeom>
              <a:avLst/>
              <a:gdLst>
                <a:gd name="T0" fmla="*/ 74 w 151"/>
                <a:gd name="T1" fmla="*/ 588 h 588"/>
                <a:gd name="T2" fmla="*/ 151 w 151"/>
                <a:gd name="T3" fmla="*/ 518 h 588"/>
                <a:gd name="T4" fmla="*/ 74 w 151"/>
                <a:gd name="T5" fmla="*/ 441 h 588"/>
                <a:gd name="T6" fmla="*/ 151 w 151"/>
                <a:gd name="T7" fmla="*/ 375 h 588"/>
                <a:gd name="T8" fmla="*/ 74 w 151"/>
                <a:gd name="T9" fmla="*/ 294 h 588"/>
                <a:gd name="T10" fmla="*/ 151 w 151"/>
                <a:gd name="T11" fmla="*/ 231 h 588"/>
                <a:gd name="T12" fmla="*/ 74 w 151"/>
                <a:gd name="T13" fmla="*/ 147 h 588"/>
                <a:gd name="T14" fmla="*/ 151 w 151"/>
                <a:gd name="T15" fmla="*/ 88 h 588"/>
                <a:gd name="T16" fmla="*/ 74 w 151"/>
                <a:gd name="T17" fmla="*/ 0 h 588"/>
                <a:gd name="T18" fmla="*/ 0 w 151"/>
                <a:gd name="T19" fmla="*/ 0 h 588"/>
                <a:gd name="T20" fmla="*/ 78 w 151"/>
                <a:gd name="T21" fmla="*/ 88 h 588"/>
                <a:gd name="T22" fmla="*/ 0 w 151"/>
                <a:gd name="T23" fmla="*/ 147 h 588"/>
                <a:gd name="T24" fmla="*/ 78 w 151"/>
                <a:gd name="T25" fmla="*/ 231 h 588"/>
                <a:gd name="T26" fmla="*/ 0 w 151"/>
                <a:gd name="T27" fmla="*/ 294 h 588"/>
                <a:gd name="T28" fmla="*/ 78 w 151"/>
                <a:gd name="T29" fmla="*/ 375 h 588"/>
                <a:gd name="T30" fmla="*/ 0 w 151"/>
                <a:gd name="T31" fmla="*/ 441 h 588"/>
                <a:gd name="T32" fmla="*/ 78 w 151"/>
                <a:gd name="T33" fmla="*/ 518 h 588"/>
                <a:gd name="T34" fmla="*/ 0 w 151"/>
                <a:gd name="T35" fmla="*/ 588 h 588"/>
                <a:gd name="T36" fmla="*/ 74 w 151"/>
                <a:gd name="T37" fmla="*/ 588 h 5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51" h="588">
                  <a:moveTo>
                    <a:pt x="74" y="588"/>
                  </a:moveTo>
                  <a:lnTo>
                    <a:pt x="151" y="518"/>
                  </a:lnTo>
                  <a:lnTo>
                    <a:pt x="74" y="441"/>
                  </a:lnTo>
                  <a:lnTo>
                    <a:pt x="151" y="375"/>
                  </a:lnTo>
                  <a:lnTo>
                    <a:pt x="74" y="294"/>
                  </a:lnTo>
                  <a:lnTo>
                    <a:pt x="151" y="231"/>
                  </a:lnTo>
                  <a:lnTo>
                    <a:pt x="74" y="147"/>
                  </a:lnTo>
                  <a:lnTo>
                    <a:pt x="151" y="88"/>
                  </a:lnTo>
                  <a:lnTo>
                    <a:pt x="74" y="0"/>
                  </a:lnTo>
                  <a:lnTo>
                    <a:pt x="0" y="0"/>
                  </a:lnTo>
                  <a:lnTo>
                    <a:pt x="78" y="88"/>
                  </a:lnTo>
                  <a:lnTo>
                    <a:pt x="0" y="147"/>
                  </a:lnTo>
                  <a:lnTo>
                    <a:pt x="78" y="231"/>
                  </a:lnTo>
                  <a:lnTo>
                    <a:pt x="0" y="294"/>
                  </a:lnTo>
                  <a:lnTo>
                    <a:pt x="78" y="375"/>
                  </a:lnTo>
                  <a:lnTo>
                    <a:pt x="0" y="441"/>
                  </a:lnTo>
                  <a:lnTo>
                    <a:pt x="78" y="518"/>
                  </a:lnTo>
                  <a:lnTo>
                    <a:pt x="0" y="588"/>
                  </a:lnTo>
                  <a:lnTo>
                    <a:pt x="74" y="588"/>
                  </a:lnTo>
                  <a:close/>
                </a:path>
              </a:pathLst>
            </a:custGeom>
            <a:solidFill>
              <a:srgbClr val="F79646">
                <a:lumMod val="20000"/>
                <a:lumOff val="80000"/>
              </a:srgbClr>
            </a:solidFill>
            <a:ln w="6350" cap="flat" cmpd="sng" algn="ctr">
              <a:solidFill>
                <a:srgbClr val="F79646">
                  <a:lumMod val="60000"/>
                  <a:lumOff val="40000"/>
                </a:srgbClr>
              </a:solidFill>
              <a:prstDash val="solid"/>
            </a:ln>
            <a:effectLst/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Segoe UI" panose="020B0502040204020203" pitchFamily="34" charset="0"/>
                <a:ea typeface="맑은 고딕"/>
                <a:cs typeface="Segoe UI" panose="020B0502040204020203" pitchFamily="34" charset="0"/>
              </a:endParaRPr>
            </a:p>
          </p:txBody>
        </p:sp>
        <p:sp>
          <p:nvSpPr>
            <p:cNvPr id="195" name="Border">
              <a:extLst>
                <a:ext uri="{FF2B5EF4-FFF2-40B4-BE49-F238E27FC236}">
                  <a16:creationId xmlns="" xmlns:a16="http://schemas.microsoft.com/office/drawing/2014/main" id="{3C344D81-4CE5-4D66-9FA5-12D6AFF1448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402388" y="1584325"/>
              <a:ext cx="239713" cy="933450"/>
            </a:xfrm>
            <a:custGeom>
              <a:avLst/>
              <a:gdLst>
                <a:gd name="T0" fmla="*/ 0 w 909"/>
                <a:gd name="T1" fmla="*/ 0 h 3585"/>
                <a:gd name="T2" fmla="*/ 467 w 909"/>
                <a:gd name="T3" fmla="*/ 535 h 3585"/>
                <a:gd name="T4" fmla="*/ 0 w 909"/>
                <a:gd name="T5" fmla="*/ 896 h 3585"/>
                <a:gd name="T6" fmla="*/ 467 w 909"/>
                <a:gd name="T7" fmla="*/ 1409 h 3585"/>
                <a:gd name="T8" fmla="*/ 0 w 909"/>
                <a:gd name="T9" fmla="*/ 1793 h 3585"/>
                <a:gd name="T10" fmla="*/ 467 w 909"/>
                <a:gd name="T11" fmla="*/ 2284 h 3585"/>
                <a:gd name="T12" fmla="*/ 0 w 909"/>
                <a:gd name="T13" fmla="*/ 2689 h 3585"/>
                <a:gd name="T14" fmla="*/ 467 w 909"/>
                <a:gd name="T15" fmla="*/ 3158 h 3585"/>
                <a:gd name="T16" fmla="*/ 0 w 909"/>
                <a:gd name="T17" fmla="*/ 3585 h 3585"/>
                <a:gd name="T18" fmla="*/ 442 w 909"/>
                <a:gd name="T19" fmla="*/ 3585 h 3585"/>
                <a:gd name="T20" fmla="*/ 909 w 909"/>
                <a:gd name="T21" fmla="*/ 3158 h 3585"/>
                <a:gd name="T22" fmla="*/ 442 w 909"/>
                <a:gd name="T23" fmla="*/ 2689 h 3585"/>
                <a:gd name="T24" fmla="*/ 909 w 909"/>
                <a:gd name="T25" fmla="*/ 2284 h 3585"/>
                <a:gd name="T26" fmla="*/ 442 w 909"/>
                <a:gd name="T27" fmla="*/ 1793 h 3585"/>
                <a:gd name="T28" fmla="*/ 909 w 909"/>
                <a:gd name="T29" fmla="*/ 1409 h 3585"/>
                <a:gd name="T30" fmla="*/ 442 w 909"/>
                <a:gd name="T31" fmla="*/ 896 h 3585"/>
                <a:gd name="T32" fmla="*/ 909 w 909"/>
                <a:gd name="T33" fmla="*/ 535 h 3585"/>
                <a:gd name="T34" fmla="*/ 442 w 909"/>
                <a:gd name="T35" fmla="*/ 0 h 35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909" h="3585">
                  <a:moveTo>
                    <a:pt x="0" y="0"/>
                  </a:moveTo>
                  <a:lnTo>
                    <a:pt x="467" y="535"/>
                  </a:lnTo>
                  <a:lnTo>
                    <a:pt x="0" y="896"/>
                  </a:lnTo>
                  <a:lnTo>
                    <a:pt x="467" y="1409"/>
                  </a:lnTo>
                  <a:lnTo>
                    <a:pt x="0" y="1793"/>
                  </a:lnTo>
                  <a:lnTo>
                    <a:pt x="467" y="2284"/>
                  </a:lnTo>
                  <a:lnTo>
                    <a:pt x="0" y="2689"/>
                  </a:lnTo>
                  <a:lnTo>
                    <a:pt x="467" y="3158"/>
                  </a:lnTo>
                  <a:lnTo>
                    <a:pt x="0" y="3585"/>
                  </a:lnTo>
                  <a:moveTo>
                    <a:pt x="442" y="3585"/>
                  </a:moveTo>
                  <a:lnTo>
                    <a:pt x="909" y="3158"/>
                  </a:lnTo>
                  <a:lnTo>
                    <a:pt x="442" y="2689"/>
                  </a:lnTo>
                  <a:lnTo>
                    <a:pt x="909" y="2284"/>
                  </a:lnTo>
                  <a:lnTo>
                    <a:pt x="442" y="1793"/>
                  </a:lnTo>
                  <a:lnTo>
                    <a:pt x="909" y="1409"/>
                  </a:lnTo>
                  <a:lnTo>
                    <a:pt x="442" y="896"/>
                  </a:lnTo>
                  <a:lnTo>
                    <a:pt x="909" y="535"/>
                  </a:lnTo>
                  <a:lnTo>
                    <a:pt x="442" y="0"/>
                  </a:lnTo>
                </a:path>
              </a:pathLst>
            </a:custGeom>
            <a:noFill/>
            <a:ln w="6350" cap="flat" cmpd="sng" algn="ctr">
              <a:solidFill>
                <a:srgbClr val="F79646">
                  <a:lumMod val="60000"/>
                  <a:lumOff val="40000"/>
                </a:srgbClr>
              </a:solidFill>
              <a:prstDash val="solid"/>
            </a:ln>
            <a:effectLst/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Segoe UI" panose="020B0502040204020203" pitchFamily="34" charset="0"/>
                <a:ea typeface="맑은 고딕"/>
                <a:cs typeface="Segoe UI" panose="020B0502040204020203" pitchFamily="34" charset="0"/>
              </a:endParaRPr>
            </a:p>
          </p:txBody>
        </p:sp>
      </p:grpSp>
      <p:sp>
        <p:nvSpPr>
          <p:cNvPr id="487" name="타원 486">
            <a:extLst>
              <a:ext uri="{FF2B5EF4-FFF2-40B4-BE49-F238E27FC236}">
                <a16:creationId xmlns="" xmlns:a16="http://schemas.microsoft.com/office/drawing/2014/main" id="{05928B69-0142-4C14-A783-3D8762E5BBE2}"/>
              </a:ext>
            </a:extLst>
          </p:cNvPr>
          <p:cNvSpPr/>
          <p:nvPr/>
        </p:nvSpPr>
        <p:spPr>
          <a:xfrm>
            <a:off x="10727987" y="4562797"/>
            <a:ext cx="144000" cy="144000"/>
          </a:xfrm>
          <a:prstGeom prst="ellipse">
            <a:avLst/>
          </a:prstGeom>
          <a:solidFill>
            <a:srgbClr val="C00000"/>
          </a:solidFill>
          <a:ln w="3175">
            <a:noFill/>
          </a:ln>
          <a:effectLst>
            <a:outerShdw blurRad="25400" dist="25400" dir="2700000" algn="tl" rotWithShape="0">
              <a:schemeClr val="tx1">
                <a:lumMod val="75000"/>
                <a:lumOff val="2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70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3</a:t>
            </a:r>
            <a:endParaRPr lang="ko-KR" altLang="en-US" sz="70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163378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직사각형 482">
            <a:extLst>
              <a:ext uri="{FF2B5EF4-FFF2-40B4-BE49-F238E27FC236}">
                <a16:creationId xmlns="" xmlns:a16="http://schemas.microsoft.com/office/drawing/2014/main" id="{E955F0F7-52A0-48E2-96C0-51A6B4AD6027}"/>
              </a:ext>
            </a:extLst>
          </p:cNvPr>
          <p:cNvSpPr/>
          <p:nvPr/>
        </p:nvSpPr>
        <p:spPr>
          <a:xfrm>
            <a:off x="1367906" y="3372805"/>
            <a:ext cx="7992000" cy="2592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36000" rIns="36000" bIns="36000" rtlCol="0" anchor="ctr"/>
          <a:lstStyle/>
          <a:p>
            <a:endParaRPr lang="ko-KR" altLang="en-US" sz="700" b="1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485" name="그룹 484">
            <a:extLst>
              <a:ext uri="{FF2B5EF4-FFF2-40B4-BE49-F238E27FC236}">
                <a16:creationId xmlns="" xmlns:a16="http://schemas.microsoft.com/office/drawing/2014/main" id="{57ECD31F-788D-4171-BC56-21203531164F}"/>
              </a:ext>
            </a:extLst>
          </p:cNvPr>
          <p:cNvGrpSpPr/>
          <p:nvPr/>
        </p:nvGrpSpPr>
        <p:grpSpPr>
          <a:xfrm>
            <a:off x="1367906" y="5820805"/>
            <a:ext cx="7992000" cy="144000"/>
            <a:chOff x="8787536" y="5061829"/>
            <a:chExt cx="7992000" cy="144000"/>
          </a:xfrm>
        </p:grpSpPr>
        <p:sp>
          <p:nvSpPr>
            <p:cNvPr id="486" name="직사각형 485">
              <a:extLst>
                <a:ext uri="{FF2B5EF4-FFF2-40B4-BE49-F238E27FC236}">
                  <a16:creationId xmlns="" xmlns:a16="http://schemas.microsoft.com/office/drawing/2014/main" id="{46DB708C-F6C9-4BC3-8798-5AEC8BA752B6}"/>
                </a:ext>
              </a:extLst>
            </p:cNvPr>
            <p:cNvSpPr/>
            <p:nvPr/>
          </p:nvSpPr>
          <p:spPr bwMode="auto">
            <a:xfrm>
              <a:off x="8787536" y="5061829"/>
              <a:ext cx="7992000" cy="144000"/>
            </a:xfrm>
            <a:prstGeom prst="rect">
              <a:avLst/>
            </a:prstGeom>
            <a:solidFill>
              <a:schemeClr val="bg1"/>
            </a:solidFill>
            <a:ln w="3175" cap="flat" cmpd="sng" algn="ctr">
              <a:solidFill>
                <a:schemeClr val="bg1">
                  <a:lumMod val="7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none" lIns="108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fontAlgn="base" latinLnBrk="0">
                <a:spcBef>
                  <a:spcPct val="0"/>
                </a:spcBef>
                <a:spcAft>
                  <a:spcPct val="0"/>
                </a:spcAft>
              </a:pPr>
              <a:endParaRPr kumimoji="1" lang="ko-KR" altLang="en-US" sz="700" kern="0">
                <a:solidFill>
                  <a:srgbClr val="000000"/>
                </a:solidFill>
                <a:latin typeface="+mn-ea"/>
              </a:endParaRPr>
            </a:p>
          </p:txBody>
        </p:sp>
        <p:sp>
          <p:nvSpPr>
            <p:cNvPr id="487" name="직사각형 486">
              <a:extLst>
                <a:ext uri="{FF2B5EF4-FFF2-40B4-BE49-F238E27FC236}">
                  <a16:creationId xmlns="" xmlns:a16="http://schemas.microsoft.com/office/drawing/2014/main" id="{CFA4A5C4-50A2-45F3-A6F7-13A35965A534}"/>
                </a:ext>
              </a:extLst>
            </p:cNvPr>
            <p:cNvSpPr/>
            <p:nvPr/>
          </p:nvSpPr>
          <p:spPr bwMode="auto">
            <a:xfrm>
              <a:off x="8787536" y="5061829"/>
              <a:ext cx="144000" cy="144000"/>
            </a:xfrm>
            <a:prstGeom prst="rect">
              <a:avLst/>
            </a:prstGeom>
            <a:noFill/>
            <a:ln w="317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non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fontAlgn="base" latinLnBrk="0">
                <a:spcBef>
                  <a:spcPct val="0"/>
                </a:spcBef>
                <a:spcAft>
                  <a:spcPct val="0"/>
                </a:spcAft>
              </a:pPr>
              <a:r>
                <a:rPr kumimoji="1" lang="ko-KR" altLang="en-US" sz="700" ker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◀</a:t>
              </a:r>
            </a:p>
          </p:txBody>
        </p:sp>
        <p:sp>
          <p:nvSpPr>
            <p:cNvPr id="488" name="직사각형 487">
              <a:extLst>
                <a:ext uri="{FF2B5EF4-FFF2-40B4-BE49-F238E27FC236}">
                  <a16:creationId xmlns="" xmlns:a16="http://schemas.microsoft.com/office/drawing/2014/main" id="{DE0FE1FF-26CD-4D0A-80D5-87996CA74226}"/>
                </a:ext>
              </a:extLst>
            </p:cNvPr>
            <p:cNvSpPr/>
            <p:nvPr/>
          </p:nvSpPr>
          <p:spPr bwMode="auto">
            <a:xfrm>
              <a:off x="16635536" y="5061829"/>
              <a:ext cx="144000" cy="144000"/>
            </a:xfrm>
            <a:prstGeom prst="rect">
              <a:avLst/>
            </a:prstGeom>
            <a:noFill/>
            <a:ln w="317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non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fontAlgn="base" latinLnBrk="0">
                <a:spcBef>
                  <a:spcPct val="0"/>
                </a:spcBef>
                <a:spcAft>
                  <a:spcPct val="0"/>
                </a:spcAft>
              </a:pPr>
              <a:r>
                <a:rPr kumimoji="1" lang="ko-KR" altLang="en-US" sz="700" ker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▶</a:t>
              </a:r>
            </a:p>
          </p:txBody>
        </p:sp>
        <p:sp>
          <p:nvSpPr>
            <p:cNvPr id="489" name="모서리가 둥근 직사각형 303">
              <a:extLst>
                <a:ext uri="{FF2B5EF4-FFF2-40B4-BE49-F238E27FC236}">
                  <a16:creationId xmlns="" xmlns:a16="http://schemas.microsoft.com/office/drawing/2014/main" id="{6B4E175A-EAD1-47E4-BC64-84F4A065D731}"/>
                </a:ext>
              </a:extLst>
            </p:cNvPr>
            <p:cNvSpPr/>
            <p:nvPr/>
          </p:nvSpPr>
          <p:spPr bwMode="auto">
            <a:xfrm>
              <a:off x="9031173" y="5097829"/>
              <a:ext cx="6480000" cy="72000"/>
            </a:xfrm>
            <a:prstGeom prst="roundRect">
              <a:avLst/>
            </a:prstGeom>
            <a:solidFill>
              <a:schemeClr val="bg1">
                <a:lumMod val="75000"/>
              </a:schemeClr>
            </a:solidFill>
            <a:ln w="3175" cap="flat" cmpd="sng" algn="ctr">
              <a:solidFill>
                <a:schemeClr val="bg1">
                  <a:lumMod val="7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none" lIns="36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fontAlgn="base" latinLnBrk="0">
                <a:spcBef>
                  <a:spcPct val="0"/>
                </a:spcBef>
                <a:spcAft>
                  <a:spcPct val="0"/>
                </a:spcAft>
              </a:pPr>
              <a:endParaRPr kumimoji="1" lang="ko-KR" altLang="en-US" sz="700" kern="0">
                <a:solidFill>
                  <a:srgbClr val="000000"/>
                </a:solidFill>
                <a:latin typeface="+mn-ea"/>
              </a:endParaRPr>
            </a:p>
          </p:txBody>
        </p:sp>
      </p:grpSp>
      <p:sp>
        <p:nvSpPr>
          <p:cNvPr id="341" name="직사각형 340">
            <a:extLst>
              <a:ext uri="{FF2B5EF4-FFF2-40B4-BE49-F238E27FC236}">
                <a16:creationId xmlns="" xmlns:a16="http://schemas.microsoft.com/office/drawing/2014/main" id="{ED30316B-09AE-48E0-BF18-1A5E3F61829D}"/>
              </a:ext>
            </a:extLst>
          </p:cNvPr>
          <p:cNvSpPr/>
          <p:nvPr/>
        </p:nvSpPr>
        <p:spPr>
          <a:xfrm>
            <a:off x="143906" y="1213699"/>
            <a:ext cx="1080000" cy="5184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  <a:effectLst>
            <a:outerShdw blurRad="12700" dist="12700" algn="l" rotWithShape="0">
              <a:schemeClr val="tx1">
                <a:lumMod val="75000"/>
                <a:lumOff val="2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endParaRPr lang="ko-KR" altLang="en-US" sz="1000" b="1">
              <a:solidFill>
                <a:schemeClr val="bg1">
                  <a:lumMod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42" name="직사각형 341"/>
          <p:cNvSpPr/>
          <p:nvPr/>
        </p:nvSpPr>
        <p:spPr>
          <a:xfrm>
            <a:off x="143906" y="1213699"/>
            <a:ext cx="1080000" cy="288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endParaRPr lang="ko-KR" altLang="en-US" sz="700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43" name="사각형: 둥근 모서리 296">
            <a:extLst>
              <a:ext uri="{FF2B5EF4-FFF2-40B4-BE49-F238E27FC236}">
                <a16:creationId xmlns="" xmlns:a16="http://schemas.microsoft.com/office/drawing/2014/main" id="{B58175FB-DF3C-47BC-89DF-82BB433EE187}"/>
              </a:ext>
            </a:extLst>
          </p:cNvPr>
          <p:cNvSpPr/>
          <p:nvPr/>
        </p:nvSpPr>
        <p:spPr bwMode="auto">
          <a:xfrm>
            <a:off x="215906" y="1285699"/>
            <a:ext cx="936000" cy="144000"/>
          </a:xfrm>
          <a:prstGeom prst="roundRect">
            <a:avLst/>
          </a:prstGeom>
          <a:solidFill>
            <a:schemeClr val="bg1"/>
          </a:solidFill>
          <a:ln w="3175" cap="flat" cmpd="sng" algn="ctr">
            <a:solidFill>
              <a:schemeClr val="bg1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>
            <a:outerShdw blurRad="12700" dist="12700" dir="2700000" algn="tl" rotWithShape="0">
              <a:schemeClr val="tx1">
                <a:lumMod val="75000"/>
                <a:lumOff val="25000"/>
                <a:alpha val="30000"/>
              </a:schemeClr>
            </a:outerShdw>
          </a:effectLst>
        </p:spPr>
        <p:txBody>
          <a:bodyPr rot="0" spcFirstLastPara="0" vertOverflow="overflow" horzOverflow="overflow" vert="horz" wrap="non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400" fontAlgn="base" latinLnBrk="0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700" kern="0" dirty="0">
                <a:solidFill>
                  <a:srgbClr val="000000"/>
                </a:solidFill>
                <a:latin typeface="+mn-ea"/>
              </a:rPr>
              <a:t>LFmall </a:t>
            </a:r>
            <a:r>
              <a:rPr kumimoji="1" lang="ko-KR" altLang="en-US" sz="700" kern="0" dirty="0">
                <a:solidFill>
                  <a:srgbClr val="000000"/>
                </a:solidFill>
                <a:latin typeface="+mn-ea"/>
              </a:rPr>
              <a:t>바로가기</a:t>
            </a:r>
          </a:p>
        </p:txBody>
      </p:sp>
      <p:sp>
        <p:nvSpPr>
          <p:cNvPr id="344" name="직사각형 343"/>
          <p:cNvSpPr/>
          <p:nvPr/>
        </p:nvSpPr>
        <p:spPr>
          <a:xfrm>
            <a:off x="143906" y="1501699"/>
            <a:ext cx="540000" cy="21600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7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메뉴</a:t>
            </a:r>
            <a:endParaRPr lang="ko-KR" altLang="en-US" sz="700" b="1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45" name="직사각형 344"/>
          <p:cNvSpPr/>
          <p:nvPr/>
        </p:nvSpPr>
        <p:spPr>
          <a:xfrm>
            <a:off x="683906" y="1501699"/>
            <a:ext cx="540000" cy="216000"/>
          </a:xfrm>
          <a:prstGeom prst="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70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즐겨찾기</a:t>
            </a:r>
            <a:endParaRPr lang="ko-KR" altLang="en-US" sz="700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1" name="제목 1"/>
          <p:cNvSpPr txBox="1">
            <a:spLocks/>
          </p:cNvSpPr>
          <p:nvPr/>
        </p:nvSpPr>
        <p:spPr>
          <a:xfrm>
            <a:off x="1223906" y="358660"/>
            <a:ext cx="1080000" cy="216000"/>
          </a:xfrm>
          <a:prstGeom prst="rect">
            <a:avLst/>
          </a:prstGeom>
        </p:spPr>
        <p:txBody>
          <a:bodyPr lIns="36000" tIns="36000" rIns="36000" bIns="36000" anchor="ctr"/>
          <a:lstStyle>
            <a:lvl1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2pPr>
            <a:lvl3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3pPr>
            <a:lvl4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4pPr>
            <a:lvl5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5pPr>
            <a:lvl6pPr marL="457212" algn="ctr" rtl="0" fontAlgn="base" latinLnBrk="1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6pPr>
            <a:lvl7pPr marL="914423" algn="ctr" rtl="0" fontAlgn="base" latinLnBrk="1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7pPr>
            <a:lvl8pPr marL="1371634" algn="ctr" rtl="0" fontAlgn="base" latinLnBrk="1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8pPr>
            <a:lvl9pPr marL="1828846" algn="ctr" rtl="0" fontAlgn="base" latinLnBrk="1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r>
              <a:rPr lang="en-US" altLang="ko-KR" sz="800" ker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-</a:t>
            </a:r>
            <a:endParaRPr lang="ko-KR" altLang="en-US" sz="800" kern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00" name="제목 1">
            <a:extLst>
              <a:ext uri="{FF2B5EF4-FFF2-40B4-BE49-F238E27FC236}">
                <a16:creationId xmlns="" xmlns:a16="http://schemas.microsoft.com/office/drawing/2014/main" id="{03F65532-A01C-4981-B987-5E15F64E3ABB}"/>
              </a:ext>
            </a:extLst>
          </p:cNvPr>
          <p:cNvSpPr txBox="1">
            <a:spLocks/>
          </p:cNvSpPr>
          <p:nvPr/>
        </p:nvSpPr>
        <p:spPr>
          <a:xfrm>
            <a:off x="3383718" y="142660"/>
            <a:ext cx="4320000" cy="216000"/>
          </a:xfrm>
          <a:prstGeom prst="rect">
            <a:avLst/>
          </a:prstGeom>
        </p:spPr>
        <p:txBody>
          <a:bodyPr lIns="180000" tIns="36000" rIns="180000" bIns="36000" anchor="ctr"/>
          <a:lstStyle>
            <a:lvl1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2pPr>
            <a:lvl3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3pPr>
            <a:lvl4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4pPr>
            <a:lvl5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5pPr>
            <a:lvl6pPr marL="457212" algn="ctr" rtl="0" fontAlgn="base" latinLnBrk="1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6pPr>
            <a:lvl7pPr marL="914423" algn="ctr" rtl="0" fontAlgn="base" latinLnBrk="1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7pPr>
            <a:lvl8pPr marL="1371634" algn="ctr" rtl="0" fontAlgn="base" latinLnBrk="1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8pPr>
            <a:lvl9pPr marL="1828846" algn="ctr" rtl="0" fontAlgn="base" latinLnBrk="1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l"/>
            <a:r>
              <a:rPr lang="ko-KR" altLang="en-US" sz="800" kern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영업 </a:t>
            </a:r>
            <a:r>
              <a:rPr lang="en-US" altLang="ko-KR" sz="800" kern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800" kern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자사매장관리 </a:t>
            </a:r>
            <a:r>
              <a:rPr lang="en-US" altLang="ko-KR" sz="800" kern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</a:t>
            </a:r>
            <a:r>
              <a:rPr lang="en-US" altLang="ko-KR" sz="800" strike="sngStrike" kern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800" strike="sngStrike" kern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직송</a:t>
            </a:r>
            <a:r>
              <a:rPr lang="ko-KR" altLang="en-US" sz="800" kern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매장관리</a:t>
            </a:r>
            <a:endParaRPr lang="ko-KR" altLang="en-US" sz="800" kern="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201" name="제목 1">
            <a:extLst>
              <a:ext uri="{FF2B5EF4-FFF2-40B4-BE49-F238E27FC236}">
                <a16:creationId xmlns="" xmlns:a16="http://schemas.microsoft.com/office/drawing/2014/main" id="{E2CFB5AD-2840-4821-B288-2284D6C0A05E}"/>
              </a:ext>
            </a:extLst>
          </p:cNvPr>
          <p:cNvSpPr txBox="1">
            <a:spLocks/>
          </p:cNvSpPr>
          <p:nvPr/>
        </p:nvSpPr>
        <p:spPr>
          <a:xfrm>
            <a:off x="3383718" y="358660"/>
            <a:ext cx="4320000" cy="216000"/>
          </a:xfrm>
          <a:prstGeom prst="rect">
            <a:avLst/>
          </a:prstGeom>
        </p:spPr>
        <p:txBody>
          <a:bodyPr lIns="180000" tIns="36000" rIns="180000" bIns="36000" anchor="ctr"/>
          <a:lstStyle>
            <a:lvl1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2pPr>
            <a:lvl3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3pPr>
            <a:lvl4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4pPr>
            <a:lvl5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5pPr>
            <a:lvl6pPr marL="457212" algn="ctr" rtl="0" fontAlgn="base" latinLnBrk="1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6pPr>
            <a:lvl7pPr marL="914423" algn="ctr" rtl="0" fontAlgn="base" latinLnBrk="1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7pPr>
            <a:lvl8pPr marL="1371634" algn="ctr" rtl="0" fontAlgn="base" latinLnBrk="1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8pPr>
            <a:lvl9pPr marL="1828846" algn="ctr" rtl="0" fontAlgn="base" latinLnBrk="1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l"/>
            <a:r>
              <a:rPr lang="en-US" altLang="ko-KR" sz="8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https://nbos.lfmall.co.kr/lfmadm/index.html</a:t>
            </a:r>
            <a:endParaRPr lang="ko-KR" altLang="en-US" sz="800" kern="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</a:endParaRPr>
          </a:p>
        </p:txBody>
      </p:sp>
      <p:graphicFrame>
        <p:nvGraphicFramePr>
          <p:cNvPr id="150" name="Group 118">
            <a:extLst>
              <a:ext uri="{FF2B5EF4-FFF2-40B4-BE49-F238E27FC236}">
                <a16:creationId xmlns="" xmlns:a16="http://schemas.microsoft.com/office/drawing/2014/main" id="{41B5A014-BEDB-439E-A302-DBCECEC856B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207822"/>
              </p:ext>
            </p:extLst>
          </p:nvPr>
        </p:nvGraphicFramePr>
        <p:xfrm>
          <a:off x="9647906" y="709700"/>
          <a:ext cx="2376000" cy="1108080"/>
        </p:xfrm>
        <a:graphic>
          <a:graphicData uri="http://schemas.openxmlformats.org/drawingml/2006/table">
            <a:tbl>
              <a:tblPr/>
              <a:tblGrid>
                <a:gridCol w="216000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2160000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</a:tblGrid>
              <a:tr h="2520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 Semilight" panose="020B0502040204020203" pitchFamily="50" charset="-127"/>
                        </a:rPr>
                        <a:t>No</a:t>
                      </a:r>
                    </a:p>
                  </a:txBody>
                  <a:tcPr marL="42203" marR="42203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en-US" altLang="ko-KR" sz="700" b="0" baseline="0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 Semilight" panose="020B0502040204020203" pitchFamily="50" charset="-127"/>
                        </a:rPr>
                        <a:t>Description</a:t>
                      </a:r>
                    </a:p>
                  </a:txBody>
                  <a:tcPr marL="108000" marR="108000" marT="36000" marB="3600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 Semilight" panose="020B0502040204020203" pitchFamily="50" charset="-127"/>
                        </a:rPr>
                        <a:t>1</a:t>
                      </a:r>
                    </a:p>
                  </a:txBody>
                  <a:tcPr marL="42203" marR="42203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ko-KR" altLang="en-US" sz="700" b="0" baseline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 Semilight" panose="020B0502040204020203" pitchFamily="50" charset="-127"/>
                        </a:rPr>
                        <a:t>기존 메뉴 </a:t>
                      </a:r>
                      <a:r>
                        <a:rPr lang="en-US" altLang="ko-KR" sz="700" b="0" baseline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 Semilight" panose="020B0502040204020203" pitchFamily="50" charset="-127"/>
                        </a:rPr>
                        <a:t>‘[D1010]</a:t>
                      </a:r>
                      <a:r>
                        <a:rPr lang="ko-KR" altLang="en-US" sz="700" b="0" baseline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 Semilight" panose="020B0502040204020203" pitchFamily="50" charset="-127"/>
                        </a:rPr>
                        <a:t>직송매장관리</a:t>
                      </a:r>
                      <a:r>
                        <a:rPr lang="en-US" altLang="ko-KR" sz="700" b="0" baseline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 Semilight" panose="020B0502040204020203" pitchFamily="50" charset="-127"/>
                        </a:rPr>
                        <a:t>’ </a:t>
                      </a:r>
                      <a:r>
                        <a:rPr lang="ko-KR" altLang="en-US" sz="700" b="0" baseline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 Semilight" panose="020B0502040204020203" pitchFamily="50" charset="-127"/>
                        </a:rPr>
                        <a:t>의 메뉴명을 </a:t>
                      </a:r>
                      <a:r>
                        <a:rPr lang="en-US" altLang="ko-KR" sz="700" b="0" baseline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 Semilight" panose="020B0502040204020203" pitchFamily="50" charset="-127"/>
                        </a:rPr>
                        <a:t>‘</a:t>
                      </a:r>
                      <a:r>
                        <a:rPr lang="ko-KR" altLang="en-US" sz="700" b="0" baseline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 Semilight" panose="020B0502040204020203" pitchFamily="50" charset="-127"/>
                        </a:rPr>
                        <a:t>매장관리</a:t>
                      </a:r>
                      <a:r>
                        <a:rPr lang="en-US" altLang="ko-KR" sz="700" b="0" baseline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 Semilight" panose="020B0502040204020203" pitchFamily="50" charset="-127"/>
                        </a:rPr>
                        <a:t>’ </a:t>
                      </a:r>
                      <a:r>
                        <a:rPr lang="ko-KR" altLang="en-US" sz="700" b="0" baseline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 Semilight" panose="020B0502040204020203" pitchFamily="50" charset="-127"/>
                        </a:rPr>
                        <a:t>로 변경</a:t>
                      </a:r>
                      <a:endParaRPr lang="en-US" altLang="ko-KR" sz="700" b="0" baseline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108000" marR="108000" marT="36000" marB="3600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 Semilight" panose="020B0502040204020203" pitchFamily="50" charset="-127"/>
                        </a:rPr>
                        <a:t>2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42203" marR="42203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ko-KR" altLang="en-US" sz="700" b="0" baseline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 Semilight" panose="020B0502040204020203" pitchFamily="50" charset="-127"/>
                        </a:rPr>
                        <a:t>매장 데이터에 </a:t>
                      </a:r>
                      <a:r>
                        <a:rPr lang="en-US" altLang="ko-KR" sz="700" b="0" baseline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 Semilight" panose="020B0502040204020203" pitchFamily="50" charset="-127"/>
                        </a:rPr>
                        <a:t>‘</a:t>
                      </a:r>
                      <a:r>
                        <a:rPr lang="ko-KR" altLang="en-US" sz="700" b="0" baseline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 Semilight" panose="020B0502040204020203" pitchFamily="50" charset="-127"/>
                        </a:rPr>
                        <a:t>비직송매장</a:t>
                      </a:r>
                      <a:r>
                        <a:rPr lang="en-US" altLang="ko-KR" sz="700" b="0" baseline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 Semilight" panose="020B0502040204020203" pitchFamily="50" charset="-127"/>
                        </a:rPr>
                        <a:t>’ </a:t>
                      </a:r>
                      <a:r>
                        <a:rPr lang="ko-KR" altLang="en-US" sz="700" b="0" baseline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 Semilight" panose="020B0502040204020203" pitchFamily="50" charset="-127"/>
                        </a:rPr>
                        <a:t>데이터를 호출하여 함께 관리</a:t>
                      </a:r>
                      <a:endParaRPr lang="en-US" altLang="ko-KR" sz="700" b="0" baseline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108000" marR="108000" marT="36000" marB="3600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2520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 Semilight" panose="020B0502040204020203" pitchFamily="50" charset="-127"/>
                        </a:rPr>
                        <a:t>※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42203" marR="42203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en-US" altLang="ko-KR" sz="700" b="0" baseline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 Semilight" panose="020B0502040204020203" pitchFamily="50" charset="-127"/>
                        </a:rPr>
                        <a:t>‘</a:t>
                      </a:r>
                      <a:r>
                        <a:rPr lang="ko-KR" altLang="en-US" sz="700" b="0" baseline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 Semilight" panose="020B0502040204020203" pitchFamily="50" charset="-127"/>
                        </a:rPr>
                        <a:t>비직송매장</a:t>
                      </a:r>
                      <a:r>
                        <a:rPr lang="en-US" altLang="ko-KR" sz="700" b="0" baseline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 Semilight" panose="020B0502040204020203" pitchFamily="50" charset="-127"/>
                        </a:rPr>
                        <a:t>’ </a:t>
                      </a:r>
                      <a:r>
                        <a:rPr lang="ko-KR" altLang="en-US" sz="700" b="0" baseline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 Semilight" panose="020B0502040204020203" pitchFamily="50" charset="-127"/>
                        </a:rPr>
                        <a:t>구분자 추가 위치는 개발팀과 협의하여 진행 예정</a:t>
                      </a:r>
                      <a:endParaRPr lang="en-US" altLang="ko-KR" sz="700" b="0" baseline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108000" marR="108000" marT="36000" marB="3600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129" name="제목 1"/>
          <p:cNvSpPr txBox="1">
            <a:spLocks/>
          </p:cNvSpPr>
          <p:nvPr/>
        </p:nvSpPr>
        <p:spPr>
          <a:xfrm>
            <a:off x="1223906" y="142660"/>
            <a:ext cx="1080000" cy="216000"/>
          </a:xfrm>
          <a:prstGeom prst="rect">
            <a:avLst/>
          </a:prstGeom>
        </p:spPr>
        <p:txBody>
          <a:bodyPr lIns="36000" tIns="36000" rIns="36000" bIns="36000" anchor="ctr"/>
          <a:lstStyle>
            <a:lvl1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2pPr>
            <a:lvl3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3pPr>
            <a:lvl4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4pPr>
            <a:lvl5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5pPr>
            <a:lvl6pPr marL="457212" algn="ctr" rtl="0" fontAlgn="base" latinLnBrk="1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6pPr>
            <a:lvl7pPr marL="914423" algn="ctr" rtl="0" fontAlgn="base" latinLnBrk="1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7pPr>
            <a:lvl8pPr marL="1371634" algn="ctr" rtl="0" fontAlgn="base" latinLnBrk="1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8pPr>
            <a:lvl9pPr marL="1828846" algn="ctr" rtl="0" fontAlgn="base" latinLnBrk="1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r>
              <a:rPr lang="en-US" altLang="ko-KR" sz="8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nBOS</a:t>
            </a:r>
            <a:endParaRPr lang="ko-KR" altLang="en-US" sz="800" kern="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28" name="TextBox 127">
            <a:extLst>
              <a:ext uri="{FF2B5EF4-FFF2-40B4-BE49-F238E27FC236}">
                <a16:creationId xmlns="" xmlns:a16="http://schemas.microsoft.com/office/drawing/2014/main" id="{821D320A-7043-4925-9E68-A31B417D2A2B}"/>
              </a:ext>
            </a:extLst>
          </p:cNvPr>
          <p:cNvSpPr txBox="1"/>
          <p:nvPr/>
        </p:nvSpPr>
        <p:spPr>
          <a:xfrm>
            <a:off x="1367906" y="1439816"/>
            <a:ext cx="628478" cy="195814"/>
          </a:xfrm>
          <a:prstGeom prst="rect">
            <a:avLst/>
          </a:prstGeom>
          <a:noFill/>
          <a:ln w="317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108000" tIns="36000" rIns="108000" bIns="36000" numCol="1" rtlCol="0" anchor="ctr" anchorCtr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ko-KR" altLang="en-US" sz="800" b="1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매장관리</a:t>
            </a:r>
            <a:endParaRPr lang="ko-KR" altLang="en-US" sz="800" b="1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</p:txBody>
      </p:sp>
      <p:sp>
        <p:nvSpPr>
          <p:cNvPr id="130" name="직사각형 129">
            <a:extLst>
              <a:ext uri="{FF2B5EF4-FFF2-40B4-BE49-F238E27FC236}">
                <a16:creationId xmlns="" xmlns:a16="http://schemas.microsoft.com/office/drawing/2014/main" id="{1824E750-4BB3-4D13-BABD-9501057BC22E}"/>
              </a:ext>
            </a:extLst>
          </p:cNvPr>
          <p:cNvSpPr/>
          <p:nvPr/>
        </p:nvSpPr>
        <p:spPr>
          <a:xfrm>
            <a:off x="143906" y="709700"/>
            <a:ext cx="9360000" cy="288000"/>
          </a:xfrm>
          <a:prstGeom prst="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0" rIns="180000" bIns="0" rtlCol="0" anchor="ctr"/>
          <a:lstStyle/>
          <a:p>
            <a:pPr algn="l">
              <a:lnSpc>
                <a:spcPct val="150000"/>
              </a:lnSpc>
            </a:pPr>
            <a:endParaRPr lang="en-US" altLang="ko-KR" sz="700" b="0" i="0">
              <a:solidFill>
                <a:srgbClr val="FFFFFF"/>
              </a:solidFill>
              <a:effectLst/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131" name="사각형: 둥근 모서리 296">
            <a:extLst>
              <a:ext uri="{FF2B5EF4-FFF2-40B4-BE49-F238E27FC236}">
                <a16:creationId xmlns="" xmlns:a16="http://schemas.microsoft.com/office/drawing/2014/main" id="{B58175FB-DF3C-47BC-89DF-82BB433EE187}"/>
              </a:ext>
            </a:extLst>
          </p:cNvPr>
          <p:cNvSpPr/>
          <p:nvPr/>
        </p:nvSpPr>
        <p:spPr bwMode="auto">
          <a:xfrm>
            <a:off x="2087960" y="781700"/>
            <a:ext cx="1080000" cy="144000"/>
          </a:xfrm>
          <a:prstGeom prst="roundRect">
            <a:avLst/>
          </a:prstGeom>
          <a:solidFill>
            <a:srgbClr val="F3F7FB"/>
          </a:solidFill>
          <a:ln w="3175" cap="flat" cmpd="sng" algn="ctr">
            <a:solidFill>
              <a:schemeClr val="bg1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>
            <a:outerShdw blurRad="12700" dist="12700" dir="2700000" algn="tl" rotWithShape="0">
              <a:schemeClr val="tx1">
                <a:lumMod val="75000"/>
                <a:lumOff val="25000"/>
                <a:alpha val="30000"/>
              </a:schemeClr>
            </a:outerShdw>
          </a:effectLst>
        </p:spPr>
        <p:txBody>
          <a:bodyPr rot="0" spcFirstLastPara="0" vertOverflow="overflow" horzOverflow="overflow" vert="horz" wrap="non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400" fontAlgn="base" latinLnBrk="0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700" kern="0" dirty="0">
                <a:solidFill>
                  <a:srgbClr val="000000"/>
                </a:solidFill>
                <a:latin typeface="+mn-ea"/>
              </a:rPr>
              <a:t>업무담당자 연락처보기</a:t>
            </a:r>
          </a:p>
        </p:txBody>
      </p:sp>
      <p:sp>
        <p:nvSpPr>
          <p:cNvPr id="132" name="직사각형 131">
            <a:extLst>
              <a:ext uri="{FF2B5EF4-FFF2-40B4-BE49-F238E27FC236}">
                <a16:creationId xmlns="" xmlns:a16="http://schemas.microsoft.com/office/drawing/2014/main" id="{4601BB9D-29E6-4387-A9BC-B614256B84E6}"/>
              </a:ext>
            </a:extLst>
          </p:cNvPr>
          <p:cNvSpPr/>
          <p:nvPr/>
        </p:nvSpPr>
        <p:spPr>
          <a:xfrm>
            <a:off x="7488393" y="781356"/>
            <a:ext cx="1296000" cy="144000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/>
          <a:lstStyle/>
          <a:p>
            <a:pPr algn="r"/>
            <a:r>
              <a:rPr lang="ko-KR" altLang="en-US" sz="7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홍길동</a:t>
            </a:r>
            <a:r>
              <a:rPr lang="ko-KR" altLang="en-US" sz="7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관리자 </a:t>
            </a:r>
            <a:r>
              <a:rPr lang="en-US" altLang="ko-KR" sz="7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en-US" altLang="ko-KR" sz="700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administrator</a:t>
            </a:r>
            <a:r>
              <a:rPr lang="en-US" altLang="ko-KR" sz="7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endParaRPr lang="ko-KR" altLang="en-US" sz="7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133" name="Picture 2">
            <a:extLst>
              <a:ext uri="{FF2B5EF4-FFF2-40B4-BE49-F238E27FC236}">
                <a16:creationId xmlns="" xmlns:a16="http://schemas.microsoft.com/office/drawing/2014/main" id="{4828E12B-7F18-4601-B086-C3E535638F2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" r="74445" b="87250"/>
          <a:stretch/>
        </p:blipFill>
        <p:spPr bwMode="auto">
          <a:xfrm>
            <a:off x="323168" y="763700"/>
            <a:ext cx="721569" cy="18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4" name="TextBox 133">
            <a:extLst>
              <a:ext uri="{FF2B5EF4-FFF2-40B4-BE49-F238E27FC236}">
                <a16:creationId xmlns="" xmlns:a16="http://schemas.microsoft.com/office/drawing/2014/main" id="{22906217-2D84-45DA-8206-D6A7EAFC70CF}"/>
              </a:ext>
            </a:extLst>
          </p:cNvPr>
          <p:cNvSpPr txBox="1"/>
          <p:nvPr/>
        </p:nvSpPr>
        <p:spPr>
          <a:xfrm>
            <a:off x="1044737" y="763488"/>
            <a:ext cx="1043656" cy="180425"/>
          </a:xfrm>
          <a:prstGeom prst="rect">
            <a:avLst/>
          </a:prstGeom>
          <a:noFill/>
          <a:ln w="317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108000" tIns="36000" rIns="108000" bIns="36000" numCol="1" rtlCol="0" anchor="ctr" anchorCtr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altLang="ko-KR" sz="7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Back Office System</a:t>
            </a:r>
          </a:p>
        </p:txBody>
      </p:sp>
      <p:grpSp>
        <p:nvGrpSpPr>
          <p:cNvPr id="135" name="그룹 134"/>
          <p:cNvGrpSpPr/>
          <p:nvPr/>
        </p:nvGrpSpPr>
        <p:grpSpPr>
          <a:xfrm>
            <a:off x="143906" y="997699"/>
            <a:ext cx="9360000" cy="216000"/>
            <a:chOff x="143906" y="997699"/>
            <a:chExt cx="9360000" cy="216000"/>
          </a:xfrm>
          <a:solidFill>
            <a:schemeClr val="tx1">
              <a:lumMod val="75000"/>
              <a:lumOff val="25000"/>
            </a:schemeClr>
          </a:solidFill>
        </p:grpSpPr>
        <p:sp>
          <p:nvSpPr>
            <p:cNvPr id="136" name="직사각형 135"/>
            <p:cNvSpPr/>
            <p:nvPr/>
          </p:nvSpPr>
          <p:spPr>
            <a:xfrm>
              <a:off x="143906" y="997699"/>
              <a:ext cx="720000" cy="216000"/>
            </a:xfrm>
            <a:prstGeom prst="rect">
              <a:avLst/>
            </a:prstGeom>
            <a:grp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/>
              <a:r>
                <a:rPr lang="ko-KR" altLang="en-US" sz="70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홈</a:t>
              </a:r>
              <a:endParaRPr lang="ko-KR" altLang="en-US" sz="70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37" name="직사각형 136"/>
            <p:cNvSpPr/>
            <p:nvPr/>
          </p:nvSpPr>
          <p:spPr>
            <a:xfrm>
              <a:off x="863906" y="997699"/>
              <a:ext cx="720000" cy="216000"/>
            </a:xfrm>
            <a:prstGeom prst="rect">
              <a:avLst/>
            </a:prstGeom>
            <a:grp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/>
              <a:r>
                <a:rPr lang="ko-KR" altLang="en-US" sz="70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상품</a:t>
              </a:r>
              <a:endParaRPr lang="ko-KR" altLang="en-US" sz="70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38" name="직사각형 137"/>
            <p:cNvSpPr/>
            <p:nvPr/>
          </p:nvSpPr>
          <p:spPr>
            <a:xfrm>
              <a:off x="1583906" y="997699"/>
              <a:ext cx="720000" cy="216000"/>
            </a:xfrm>
            <a:prstGeom prst="rect">
              <a:avLst/>
            </a:prstGeom>
            <a:grp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/>
              <a:r>
                <a:rPr lang="ko-KR" altLang="en-US" sz="700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주문</a:t>
              </a:r>
              <a:r>
                <a:rPr lang="en-US" altLang="ko-KR" sz="700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/</a:t>
              </a:r>
              <a:r>
                <a:rPr lang="ko-KR" altLang="en-US" sz="700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배송</a:t>
              </a:r>
            </a:p>
          </p:txBody>
        </p:sp>
        <p:sp>
          <p:nvSpPr>
            <p:cNvPr id="139" name="직사각형 138"/>
            <p:cNvSpPr/>
            <p:nvPr/>
          </p:nvSpPr>
          <p:spPr>
            <a:xfrm>
              <a:off x="2303906" y="997699"/>
              <a:ext cx="720000" cy="216000"/>
            </a:xfrm>
            <a:prstGeom prst="rect">
              <a:avLst/>
            </a:prstGeom>
            <a:grp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/>
              <a:r>
                <a:rPr lang="ko-KR" altLang="en-US" sz="700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회원</a:t>
              </a:r>
              <a:r>
                <a:rPr lang="en-US" altLang="ko-KR" sz="700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/</a:t>
              </a:r>
              <a:r>
                <a:rPr lang="ko-KR" altLang="en-US" sz="700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프로모션</a:t>
              </a:r>
            </a:p>
          </p:txBody>
        </p:sp>
        <p:sp>
          <p:nvSpPr>
            <p:cNvPr id="140" name="직사각형 139"/>
            <p:cNvSpPr/>
            <p:nvPr/>
          </p:nvSpPr>
          <p:spPr>
            <a:xfrm>
              <a:off x="3023906" y="997699"/>
              <a:ext cx="720000" cy="216000"/>
            </a:xfrm>
            <a:prstGeom prst="rect">
              <a:avLst/>
            </a:prstGeom>
            <a:solidFill>
              <a:srgbClr val="C00000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/>
              <a:r>
                <a:rPr lang="ko-KR" altLang="en-US" sz="700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영업</a:t>
              </a:r>
            </a:p>
          </p:txBody>
        </p:sp>
        <p:sp>
          <p:nvSpPr>
            <p:cNvPr id="141" name="직사각형 140"/>
            <p:cNvSpPr/>
            <p:nvPr/>
          </p:nvSpPr>
          <p:spPr>
            <a:xfrm>
              <a:off x="3743906" y="997699"/>
              <a:ext cx="720000" cy="216000"/>
            </a:xfrm>
            <a:prstGeom prst="rect">
              <a:avLst/>
            </a:prstGeom>
            <a:grp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/>
              <a:r>
                <a:rPr lang="ko-KR" altLang="en-US" sz="700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정산</a:t>
              </a:r>
            </a:p>
          </p:txBody>
        </p:sp>
        <p:sp>
          <p:nvSpPr>
            <p:cNvPr id="142" name="직사각형 141"/>
            <p:cNvSpPr/>
            <p:nvPr/>
          </p:nvSpPr>
          <p:spPr>
            <a:xfrm>
              <a:off x="4463906" y="997699"/>
              <a:ext cx="720000" cy="216000"/>
            </a:xfrm>
            <a:prstGeom prst="rect">
              <a:avLst/>
            </a:prstGeom>
            <a:grp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/>
              <a:r>
                <a:rPr lang="ko-KR" altLang="en-US" sz="70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통계</a:t>
              </a:r>
              <a:endParaRPr lang="ko-KR" altLang="en-US" sz="70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43" name="직사각형 142"/>
            <p:cNvSpPr/>
            <p:nvPr/>
          </p:nvSpPr>
          <p:spPr>
            <a:xfrm>
              <a:off x="5183906" y="997699"/>
              <a:ext cx="720000" cy="216000"/>
            </a:xfrm>
            <a:prstGeom prst="rect">
              <a:avLst/>
            </a:prstGeom>
            <a:grp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/>
              <a:r>
                <a:rPr lang="ko-KR" altLang="en-US" sz="70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게시판</a:t>
              </a:r>
              <a:endParaRPr lang="ko-KR" altLang="en-US" sz="70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44" name="직사각형 143"/>
            <p:cNvSpPr/>
            <p:nvPr/>
          </p:nvSpPr>
          <p:spPr>
            <a:xfrm>
              <a:off x="5903906" y="997699"/>
              <a:ext cx="720000" cy="216000"/>
            </a:xfrm>
            <a:prstGeom prst="rect">
              <a:avLst/>
            </a:prstGeom>
            <a:grp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/>
              <a:r>
                <a:rPr lang="ko-KR" altLang="en-US" sz="700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고객추천지수</a:t>
              </a:r>
            </a:p>
          </p:txBody>
        </p:sp>
        <p:sp>
          <p:nvSpPr>
            <p:cNvPr id="145" name="직사각형 144"/>
            <p:cNvSpPr/>
            <p:nvPr/>
          </p:nvSpPr>
          <p:spPr>
            <a:xfrm>
              <a:off x="6623906" y="997699"/>
              <a:ext cx="720000" cy="216000"/>
            </a:xfrm>
            <a:prstGeom prst="rect">
              <a:avLst/>
            </a:prstGeom>
            <a:grp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/>
              <a:r>
                <a:rPr lang="ko-KR" altLang="en-US" sz="70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시스템</a:t>
              </a:r>
              <a:endParaRPr lang="ko-KR" altLang="en-US" sz="70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46" name="직사각형 145"/>
            <p:cNvSpPr/>
            <p:nvPr/>
          </p:nvSpPr>
          <p:spPr>
            <a:xfrm>
              <a:off x="7343906" y="997699"/>
              <a:ext cx="2160000" cy="216000"/>
            </a:xfrm>
            <a:prstGeom prst="rect">
              <a:avLst/>
            </a:prstGeom>
            <a:grp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/>
              <a:endParaRPr lang="ko-KR" altLang="en-US" sz="70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grpSp>
        <p:nvGrpSpPr>
          <p:cNvPr id="148" name="그룹 147"/>
          <p:cNvGrpSpPr/>
          <p:nvPr/>
        </p:nvGrpSpPr>
        <p:grpSpPr>
          <a:xfrm>
            <a:off x="8856393" y="781700"/>
            <a:ext cx="144000" cy="144000"/>
            <a:chOff x="8856393" y="781700"/>
            <a:chExt cx="144000" cy="144000"/>
          </a:xfrm>
        </p:grpSpPr>
        <p:sp>
          <p:nvSpPr>
            <p:cNvPr id="149" name="사각형: 둥근 모서리 296">
              <a:extLst>
                <a:ext uri="{FF2B5EF4-FFF2-40B4-BE49-F238E27FC236}">
                  <a16:creationId xmlns="" xmlns:a16="http://schemas.microsoft.com/office/drawing/2014/main" id="{5E2C148E-29FC-42C6-B221-CA7B7DA48E4E}"/>
                </a:ext>
              </a:extLst>
            </p:cNvPr>
            <p:cNvSpPr/>
            <p:nvPr/>
          </p:nvSpPr>
          <p:spPr bwMode="auto">
            <a:xfrm>
              <a:off x="8856393" y="781700"/>
              <a:ext cx="144000" cy="144000"/>
            </a:xfrm>
            <a:prstGeom prst="roundRect">
              <a:avLst/>
            </a:prstGeom>
            <a:solidFill>
              <a:srgbClr val="F3F7FB"/>
            </a:solidFill>
            <a:ln w="3175" cap="flat" cmpd="sng" algn="ctr">
              <a:solidFill>
                <a:schemeClr val="bg1">
                  <a:lumMod val="7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12700" dist="12700" dir="2700000" algn="tl" rotWithShape="0">
                <a:schemeClr val="tx1">
                  <a:lumMod val="75000"/>
                  <a:lumOff val="25000"/>
                  <a:alpha val="30000"/>
                </a:schemeClr>
              </a:outerShdw>
            </a:effectLst>
          </p:spPr>
          <p:txBody>
            <a:bodyPr rot="0" spcFirstLastPara="0" vertOverflow="overflow" horzOverflow="overflow" vert="horz" wrap="none" lIns="108000" tIns="36000" rIns="180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14400" fontAlgn="base" latinLnBrk="0">
                <a:spcBef>
                  <a:spcPct val="0"/>
                </a:spcBef>
                <a:spcAft>
                  <a:spcPct val="0"/>
                </a:spcAft>
              </a:pPr>
              <a:endParaRPr kumimoji="1" lang="ko-KR" altLang="en-US" sz="700" kern="0">
                <a:solidFill>
                  <a:srgbClr val="000000"/>
                </a:solidFill>
                <a:latin typeface="+mn-ea"/>
              </a:endParaRPr>
            </a:p>
          </p:txBody>
        </p:sp>
        <p:sp>
          <p:nvSpPr>
            <p:cNvPr id="151" name="Lock"/>
            <p:cNvSpPr>
              <a:spLocks noChangeAspect="1" noEditPoints="1"/>
            </p:cNvSpPr>
            <p:nvPr/>
          </p:nvSpPr>
          <p:spPr bwMode="auto">
            <a:xfrm>
              <a:off x="8872831" y="799700"/>
              <a:ext cx="111125" cy="108000"/>
            </a:xfrm>
            <a:custGeom>
              <a:avLst/>
              <a:gdLst>
                <a:gd name="T0" fmla="*/ 226 w 453"/>
                <a:gd name="T1" fmla="*/ 0 h 600"/>
                <a:gd name="T2" fmla="*/ 80 w 453"/>
                <a:gd name="T3" fmla="*/ 146 h 600"/>
                <a:gd name="T4" fmla="*/ 80 w 453"/>
                <a:gd name="T5" fmla="*/ 226 h 600"/>
                <a:gd name="T6" fmla="*/ 40 w 453"/>
                <a:gd name="T7" fmla="*/ 226 h 600"/>
                <a:gd name="T8" fmla="*/ 0 w 453"/>
                <a:gd name="T9" fmla="*/ 266 h 600"/>
                <a:gd name="T10" fmla="*/ 0 w 453"/>
                <a:gd name="T11" fmla="*/ 560 h 600"/>
                <a:gd name="T12" fmla="*/ 40 w 453"/>
                <a:gd name="T13" fmla="*/ 600 h 600"/>
                <a:gd name="T14" fmla="*/ 413 w 453"/>
                <a:gd name="T15" fmla="*/ 600 h 600"/>
                <a:gd name="T16" fmla="*/ 453 w 453"/>
                <a:gd name="T17" fmla="*/ 560 h 600"/>
                <a:gd name="T18" fmla="*/ 453 w 453"/>
                <a:gd name="T19" fmla="*/ 266 h 600"/>
                <a:gd name="T20" fmla="*/ 413 w 453"/>
                <a:gd name="T21" fmla="*/ 226 h 600"/>
                <a:gd name="T22" fmla="*/ 373 w 453"/>
                <a:gd name="T23" fmla="*/ 226 h 600"/>
                <a:gd name="T24" fmla="*/ 373 w 453"/>
                <a:gd name="T25" fmla="*/ 146 h 600"/>
                <a:gd name="T26" fmla="*/ 226 w 453"/>
                <a:gd name="T27" fmla="*/ 0 h 600"/>
                <a:gd name="T28" fmla="*/ 226 w 453"/>
                <a:gd name="T29" fmla="*/ 26 h 600"/>
                <a:gd name="T30" fmla="*/ 346 w 453"/>
                <a:gd name="T31" fmla="*/ 146 h 600"/>
                <a:gd name="T32" fmla="*/ 346 w 453"/>
                <a:gd name="T33" fmla="*/ 226 h 600"/>
                <a:gd name="T34" fmla="*/ 106 w 453"/>
                <a:gd name="T35" fmla="*/ 226 h 600"/>
                <a:gd name="T36" fmla="*/ 106 w 453"/>
                <a:gd name="T37" fmla="*/ 146 h 600"/>
                <a:gd name="T38" fmla="*/ 226 w 453"/>
                <a:gd name="T39" fmla="*/ 26 h 600"/>
                <a:gd name="T40" fmla="*/ 40 w 453"/>
                <a:gd name="T41" fmla="*/ 253 h 600"/>
                <a:gd name="T42" fmla="*/ 413 w 453"/>
                <a:gd name="T43" fmla="*/ 253 h 600"/>
                <a:gd name="T44" fmla="*/ 426 w 453"/>
                <a:gd name="T45" fmla="*/ 266 h 600"/>
                <a:gd name="T46" fmla="*/ 426 w 453"/>
                <a:gd name="T47" fmla="*/ 560 h 600"/>
                <a:gd name="T48" fmla="*/ 413 w 453"/>
                <a:gd name="T49" fmla="*/ 573 h 600"/>
                <a:gd name="T50" fmla="*/ 40 w 453"/>
                <a:gd name="T51" fmla="*/ 573 h 600"/>
                <a:gd name="T52" fmla="*/ 26 w 453"/>
                <a:gd name="T53" fmla="*/ 560 h 600"/>
                <a:gd name="T54" fmla="*/ 26 w 453"/>
                <a:gd name="T55" fmla="*/ 266 h 600"/>
                <a:gd name="T56" fmla="*/ 40 w 453"/>
                <a:gd name="T57" fmla="*/ 253 h 600"/>
                <a:gd name="T58" fmla="*/ 226 w 453"/>
                <a:gd name="T59" fmla="*/ 346 h 600"/>
                <a:gd name="T60" fmla="*/ 186 w 453"/>
                <a:gd name="T61" fmla="*/ 386 h 600"/>
                <a:gd name="T62" fmla="*/ 200 w 453"/>
                <a:gd name="T63" fmla="*/ 416 h 600"/>
                <a:gd name="T64" fmla="*/ 200 w 453"/>
                <a:gd name="T65" fmla="*/ 453 h 600"/>
                <a:gd name="T66" fmla="*/ 226 w 453"/>
                <a:gd name="T67" fmla="*/ 480 h 600"/>
                <a:gd name="T68" fmla="*/ 253 w 453"/>
                <a:gd name="T69" fmla="*/ 453 h 600"/>
                <a:gd name="T70" fmla="*/ 253 w 453"/>
                <a:gd name="T71" fmla="*/ 416 h 600"/>
                <a:gd name="T72" fmla="*/ 266 w 453"/>
                <a:gd name="T73" fmla="*/ 386 h 600"/>
                <a:gd name="T74" fmla="*/ 226 w 453"/>
                <a:gd name="T75" fmla="*/ 346 h 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453" h="600">
                  <a:moveTo>
                    <a:pt x="226" y="0"/>
                  </a:moveTo>
                  <a:cubicBezTo>
                    <a:pt x="146" y="0"/>
                    <a:pt x="80" y="65"/>
                    <a:pt x="80" y="146"/>
                  </a:cubicBezTo>
                  <a:lnTo>
                    <a:pt x="80" y="226"/>
                  </a:lnTo>
                  <a:lnTo>
                    <a:pt x="40" y="226"/>
                  </a:lnTo>
                  <a:cubicBezTo>
                    <a:pt x="18" y="226"/>
                    <a:pt x="0" y="244"/>
                    <a:pt x="0" y="266"/>
                  </a:cubicBezTo>
                  <a:lnTo>
                    <a:pt x="0" y="560"/>
                  </a:lnTo>
                  <a:cubicBezTo>
                    <a:pt x="0" y="582"/>
                    <a:pt x="18" y="600"/>
                    <a:pt x="40" y="600"/>
                  </a:cubicBezTo>
                  <a:lnTo>
                    <a:pt x="413" y="600"/>
                  </a:lnTo>
                  <a:cubicBezTo>
                    <a:pt x="435" y="600"/>
                    <a:pt x="453" y="582"/>
                    <a:pt x="453" y="560"/>
                  </a:cubicBezTo>
                  <a:lnTo>
                    <a:pt x="453" y="266"/>
                  </a:lnTo>
                  <a:cubicBezTo>
                    <a:pt x="453" y="244"/>
                    <a:pt x="435" y="226"/>
                    <a:pt x="413" y="226"/>
                  </a:cubicBezTo>
                  <a:lnTo>
                    <a:pt x="373" y="226"/>
                  </a:lnTo>
                  <a:lnTo>
                    <a:pt x="373" y="146"/>
                  </a:lnTo>
                  <a:cubicBezTo>
                    <a:pt x="373" y="65"/>
                    <a:pt x="307" y="0"/>
                    <a:pt x="226" y="0"/>
                  </a:cubicBezTo>
                  <a:close/>
                  <a:moveTo>
                    <a:pt x="226" y="26"/>
                  </a:moveTo>
                  <a:cubicBezTo>
                    <a:pt x="293" y="26"/>
                    <a:pt x="346" y="80"/>
                    <a:pt x="346" y="146"/>
                  </a:cubicBezTo>
                  <a:lnTo>
                    <a:pt x="346" y="226"/>
                  </a:lnTo>
                  <a:lnTo>
                    <a:pt x="106" y="226"/>
                  </a:lnTo>
                  <a:lnTo>
                    <a:pt x="106" y="146"/>
                  </a:lnTo>
                  <a:cubicBezTo>
                    <a:pt x="106" y="80"/>
                    <a:pt x="160" y="26"/>
                    <a:pt x="226" y="26"/>
                  </a:cubicBezTo>
                  <a:close/>
                  <a:moveTo>
                    <a:pt x="40" y="253"/>
                  </a:moveTo>
                  <a:lnTo>
                    <a:pt x="413" y="253"/>
                  </a:lnTo>
                  <a:cubicBezTo>
                    <a:pt x="421" y="253"/>
                    <a:pt x="426" y="259"/>
                    <a:pt x="426" y="266"/>
                  </a:cubicBezTo>
                  <a:lnTo>
                    <a:pt x="426" y="560"/>
                  </a:lnTo>
                  <a:cubicBezTo>
                    <a:pt x="426" y="567"/>
                    <a:pt x="421" y="573"/>
                    <a:pt x="413" y="573"/>
                  </a:cubicBezTo>
                  <a:lnTo>
                    <a:pt x="40" y="573"/>
                  </a:lnTo>
                  <a:cubicBezTo>
                    <a:pt x="32" y="573"/>
                    <a:pt x="26" y="567"/>
                    <a:pt x="26" y="560"/>
                  </a:cubicBezTo>
                  <a:lnTo>
                    <a:pt x="26" y="266"/>
                  </a:lnTo>
                  <a:cubicBezTo>
                    <a:pt x="26" y="259"/>
                    <a:pt x="32" y="253"/>
                    <a:pt x="40" y="253"/>
                  </a:cubicBezTo>
                  <a:close/>
                  <a:moveTo>
                    <a:pt x="226" y="346"/>
                  </a:moveTo>
                  <a:cubicBezTo>
                    <a:pt x="204" y="346"/>
                    <a:pt x="186" y="364"/>
                    <a:pt x="186" y="386"/>
                  </a:cubicBezTo>
                  <a:cubicBezTo>
                    <a:pt x="186" y="398"/>
                    <a:pt x="192" y="409"/>
                    <a:pt x="200" y="416"/>
                  </a:cubicBezTo>
                  <a:lnTo>
                    <a:pt x="200" y="453"/>
                  </a:lnTo>
                  <a:cubicBezTo>
                    <a:pt x="200" y="468"/>
                    <a:pt x="212" y="480"/>
                    <a:pt x="226" y="480"/>
                  </a:cubicBezTo>
                  <a:cubicBezTo>
                    <a:pt x="241" y="480"/>
                    <a:pt x="253" y="468"/>
                    <a:pt x="253" y="453"/>
                  </a:cubicBezTo>
                  <a:lnTo>
                    <a:pt x="253" y="416"/>
                  </a:lnTo>
                  <a:cubicBezTo>
                    <a:pt x="261" y="409"/>
                    <a:pt x="266" y="398"/>
                    <a:pt x="266" y="386"/>
                  </a:cubicBezTo>
                  <a:cubicBezTo>
                    <a:pt x="266" y="364"/>
                    <a:pt x="249" y="346"/>
                    <a:pt x="226" y="346"/>
                  </a:cubicBezTo>
                  <a:close/>
                </a:path>
              </a:pathLst>
            </a:custGeom>
            <a:solidFill>
              <a:srgbClr val="5F5F5F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152" name="그룹 151"/>
          <p:cNvGrpSpPr/>
          <p:nvPr/>
        </p:nvGrpSpPr>
        <p:grpSpPr>
          <a:xfrm>
            <a:off x="9072393" y="781700"/>
            <a:ext cx="144000" cy="144000"/>
            <a:chOff x="9072393" y="781700"/>
            <a:chExt cx="144000" cy="144000"/>
          </a:xfrm>
        </p:grpSpPr>
        <p:sp>
          <p:nvSpPr>
            <p:cNvPr id="153" name="사각형: 둥근 모서리 296">
              <a:extLst>
                <a:ext uri="{FF2B5EF4-FFF2-40B4-BE49-F238E27FC236}">
                  <a16:creationId xmlns="" xmlns:a16="http://schemas.microsoft.com/office/drawing/2014/main" id="{5E2C148E-29FC-42C6-B221-CA7B7DA48E4E}"/>
                </a:ext>
              </a:extLst>
            </p:cNvPr>
            <p:cNvSpPr/>
            <p:nvPr/>
          </p:nvSpPr>
          <p:spPr bwMode="auto">
            <a:xfrm>
              <a:off x="9072393" y="781700"/>
              <a:ext cx="144000" cy="144000"/>
            </a:xfrm>
            <a:prstGeom prst="roundRect">
              <a:avLst/>
            </a:prstGeom>
            <a:solidFill>
              <a:srgbClr val="F3F7FB"/>
            </a:solidFill>
            <a:ln w="3175" cap="flat" cmpd="sng" algn="ctr">
              <a:solidFill>
                <a:schemeClr val="bg1">
                  <a:lumMod val="7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12700" dist="12700" dir="2700000" algn="tl" rotWithShape="0">
                <a:schemeClr val="tx1">
                  <a:lumMod val="75000"/>
                  <a:lumOff val="25000"/>
                  <a:alpha val="30000"/>
                </a:schemeClr>
              </a:outerShdw>
            </a:effectLst>
          </p:spPr>
          <p:txBody>
            <a:bodyPr rot="0" spcFirstLastPara="0" vertOverflow="overflow" horzOverflow="overflow" vert="horz" wrap="none" lIns="108000" tIns="36000" rIns="180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14400" fontAlgn="base" latinLnBrk="0">
                <a:spcBef>
                  <a:spcPct val="0"/>
                </a:spcBef>
                <a:spcAft>
                  <a:spcPct val="0"/>
                </a:spcAft>
              </a:pPr>
              <a:endParaRPr kumimoji="1" lang="ko-KR" altLang="en-US" sz="700" kern="0">
                <a:solidFill>
                  <a:srgbClr val="000000"/>
                </a:solidFill>
                <a:latin typeface="+mn-ea"/>
              </a:endParaRPr>
            </a:p>
          </p:txBody>
        </p:sp>
        <p:sp>
          <p:nvSpPr>
            <p:cNvPr id="154" name="Insert Table"/>
            <p:cNvSpPr>
              <a:spLocks noChangeAspect="1" noEditPoints="1"/>
            </p:cNvSpPr>
            <p:nvPr/>
          </p:nvSpPr>
          <p:spPr bwMode="auto">
            <a:xfrm>
              <a:off x="9090393" y="799700"/>
              <a:ext cx="108000" cy="108000"/>
            </a:xfrm>
            <a:custGeom>
              <a:avLst/>
              <a:gdLst>
                <a:gd name="T0" fmla="*/ 13 w 667"/>
                <a:gd name="T1" fmla="*/ 0 h 667"/>
                <a:gd name="T2" fmla="*/ 0 w 667"/>
                <a:gd name="T3" fmla="*/ 13 h 667"/>
                <a:gd name="T4" fmla="*/ 0 w 667"/>
                <a:gd name="T5" fmla="*/ 653 h 667"/>
                <a:gd name="T6" fmla="*/ 13 w 667"/>
                <a:gd name="T7" fmla="*/ 667 h 667"/>
                <a:gd name="T8" fmla="*/ 653 w 667"/>
                <a:gd name="T9" fmla="*/ 667 h 667"/>
                <a:gd name="T10" fmla="*/ 667 w 667"/>
                <a:gd name="T11" fmla="*/ 653 h 667"/>
                <a:gd name="T12" fmla="*/ 667 w 667"/>
                <a:gd name="T13" fmla="*/ 13 h 667"/>
                <a:gd name="T14" fmla="*/ 653 w 667"/>
                <a:gd name="T15" fmla="*/ 0 h 667"/>
                <a:gd name="T16" fmla="*/ 13 w 667"/>
                <a:gd name="T17" fmla="*/ 0 h 667"/>
                <a:gd name="T18" fmla="*/ 27 w 667"/>
                <a:gd name="T19" fmla="*/ 27 h 667"/>
                <a:gd name="T20" fmla="*/ 320 w 667"/>
                <a:gd name="T21" fmla="*/ 27 h 667"/>
                <a:gd name="T22" fmla="*/ 320 w 667"/>
                <a:gd name="T23" fmla="*/ 213 h 667"/>
                <a:gd name="T24" fmla="*/ 27 w 667"/>
                <a:gd name="T25" fmla="*/ 213 h 667"/>
                <a:gd name="T26" fmla="*/ 27 w 667"/>
                <a:gd name="T27" fmla="*/ 27 h 667"/>
                <a:gd name="T28" fmla="*/ 347 w 667"/>
                <a:gd name="T29" fmla="*/ 27 h 667"/>
                <a:gd name="T30" fmla="*/ 640 w 667"/>
                <a:gd name="T31" fmla="*/ 27 h 667"/>
                <a:gd name="T32" fmla="*/ 640 w 667"/>
                <a:gd name="T33" fmla="*/ 213 h 667"/>
                <a:gd name="T34" fmla="*/ 347 w 667"/>
                <a:gd name="T35" fmla="*/ 213 h 667"/>
                <a:gd name="T36" fmla="*/ 347 w 667"/>
                <a:gd name="T37" fmla="*/ 27 h 667"/>
                <a:gd name="T38" fmla="*/ 27 w 667"/>
                <a:gd name="T39" fmla="*/ 240 h 667"/>
                <a:gd name="T40" fmla="*/ 320 w 667"/>
                <a:gd name="T41" fmla="*/ 240 h 667"/>
                <a:gd name="T42" fmla="*/ 320 w 667"/>
                <a:gd name="T43" fmla="*/ 427 h 667"/>
                <a:gd name="T44" fmla="*/ 27 w 667"/>
                <a:gd name="T45" fmla="*/ 427 h 667"/>
                <a:gd name="T46" fmla="*/ 27 w 667"/>
                <a:gd name="T47" fmla="*/ 240 h 667"/>
                <a:gd name="T48" fmla="*/ 347 w 667"/>
                <a:gd name="T49" fmla="*/ 240 h 667"/>
                <a:gd name="T50" fmla="*/ 640 w 667"/>
                <a:gd name="T51" fmla="*/ 240 h 667"/>
                <a:gd name="T52" fmla="*/ 640 w 667"/>
                <a:gd name="T53" fmla="*/ 427 h 667"/>
                <a:gd name="T54" fmla="*/ 347 w 667"/>
                <a:gd name="T55" fmla="*/ 427 h 667"/>
                <a:gd name="T56" fmla="*/ 347 w 667"/>
                <a:gd name="T57" fmla="*/ 240 h 667"/>
                <a:gd name="T58" fmla="*/ 27 w 667"/>
                <a:gd name="T59" fmla="*/ 453 h 667"/>
                <a:gd name="T60" fmla="*/ 320 w 667"/>
                <a:gd name="T61" fmla="*/ 453 h 667"/>
                <a:gd name="T62" fmla="*/ 320 w 667"/>
                <a:gd name="T63" fmla="*/ 640 h 667"/>
                <a:gd name="T64" fmla="*/ 27 w 667"/>
                <a:gd name="T65" fmla="*/ 640 h 667"/>
                <a:gd name="T66" fmla="*/ 27 w 667"/>
                <a:gd name="T67" fmla="*/ 453 h 667"/>
                <a:gd name="T68" fmla="*/ 347 w 667"/>
                <a:gd name="T69" fmla="*/ 453 h 667"/>
                <a:gd name="T70" fmla="*/ 640 w 667"/>
                <a:gd name="T71" fmla="*/ 453 h 667"/>
                <a:gd name="T72" fmla="*/ 640 w 667"/>
                <a:gd name="T73" fmla="*/ 640 h 667"/>
                <a:gd name="T74" fmla="*/ 347 w 667"/>
                <a:gd name="T75" fmla="*/ 640 h 667"/>
                <a:gd name="T76" fmla="*/ 347 w 667"/>
                <a:gd name="T77" fmla="*/ 453 h 6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667" h="667">
                  <a:moveTo>
                    <a:pt x="13" y="0"/>
                  </a:moveTo>
                  <a:cubicBezTo>
                    <a:pt x="6" y="0"/>
                    <a:pt x="0" y="6"/>
                    <a:pt x="0" y="13"/>
                  </a:cubicBezTo>
                  <a:cubicBezTo>
                    <a:pt x="0" y="227"/>
                    <a:pt x="0" y="440"/>
                    <a:pt x="0" y="653"/>
                  </a:cubicBezTo>
                  <a:cubicBezTo>
                    <a:pt x="0" y="661"/>
                    <a:pt x="6" y="667"/>
                    <a:pt x="13" y="667"/>
                  </a:cubicBezTo>
                  <a:cubicBezTo>
                    <a:pt x="227" y="667"/>
                    <a:pt x="440" y="667"/>
                    <a:pt x="653" y="667"/>
                  </a:cubicBezTo>
                  <a:cubicBezTo>
                    <a:pt x="661" y="667"/>
                    <a:pt x="667" y="661"/>
                    <a:pt x="667" y="653"/>
                  </a:cubicBezTo>
                  <a:cubicBezTo>
                    <a:pt x="667" y="440"/>
                    <a:pt x="667" y="227"/>
                    <a:pt x="667" y="13"/>
                  </a:cubicBezTo>
                  <a:cubicBezTo>
                    <a:pt x="667" y="6"/>
                    <a:pt x="661" y="0"/>
                    <a:pt x="653" y="0"/>
                  </a:cubicBezTo>
                  <a:cubicBezTo>
                    <a:pt x="440" y="0"/>
                    <a:pt x="227" y="0"/>
                    <a:pt x="13" y="0"/>
                  </a:cubicBezTo>
                  <a:close/>
                  <a:moveTo>
                    <a:pt x="27" y="27"/>
                  </a:moveTo>
                  <a:lnTo>
                    <a:pt x="320" y="27"/>
                  </a:lnTo>
                  <a:lnTo>
                    <a:pt x="320" y="213"/>
                  </a:lnTo>
                  <a:lnTo>
                    <a:pt x="27" y="213"/>
                  </a:lnTo>
                  <a:lnTo>
                    <a:pt x="27" y="27"/>
                  </a:lnTo>
                  <a:close/>
                  <a:moveTo>
                    <a:pt x="347" y="27"/>
                  </a:moveTo>
                  <a:lnTo>
                    <a:pt x="640" y="27"/>
                  </a:lnTo>
                  <a:lnTo>
                    <a:pt x="640" y="213"/>
                  </a:lnTo>
                  <a:lnTo>
                    <a:pt x="347" y="213"/>
                  </a:lnTo>
                  <a:lnTo>
                    <a:pt x="347" y="27"/>
                  </a:lnTo>
                  <a:close/>
                  <a:moveTo>
                    <a:pt x="27" y="240"/>
                  </a:moveTo>
                  <a:lnTo>
                    <a:pt x="320" y="240"/>
                  </a:lnTo>
                  <a:lnTo>
                    <a:pt x="320" y="427"/>
                  </a:lnTo>
                  <a:lnTo>
                    <a:pt x="27" y="427"/>
                  </a:lnTo>
                  <a:lnTo>
                    <a:pt x="27" y="240"/>
                  </a:lnTo>
                  <a:close/>
                  <a:moveTo>
                    <a:pt x="347" y="240"/>
                  </a:moveTo>
                  <a:lnTo>
                    <a:pt x="640" y="240"/>
                  </a:lnTo>
                  <a:lnTo>
                    <a:pt x="640" y="427"/>
                  </a:lnTo>
                  <a:lnTo>
                    <a:pt x="347" y="427"/>
                  </a:lnTo>
                  <a:lnTo>
                    <a:pt x="347" y="240"/>
                  </a:lnTo>
                  <a:close/>
                  <a:moveTo>
                    <a:pt x="27" y="453"/>
                  </a:moveTo>
                  <a:lnTo>
                    <a:pt x="320" y="453"/>
                  </a:lnTo>
                  <a:lnTo>
                    <a:pt x="320" y="640"/>
                  </a:lnTo>
                  <a:lnTo>
                    <a:pt x="27" y="640"/>
                  </a:lnTo>
                  <a:lnTo>
                    <a:pt x="27" y="453"/>
                  </a:lnTo>
                  <a:close/>
                  <a:moveTo>
                    <a:pt x="347" y="453"/>
                  </a:moveTo>
                  <a:lnTo>
                    <a:pt x="640" y="453"/>
                  </a:lnTo>
                  <a:lnTo>
                    <a:pt x="640" y="640"/>
                  </a:lnTo>
                  <a:lnTo>
                    <a:pt x="347" y="640"/>
                  </a:lnTo>
                  <a:lnTo>
                    <a:pt x="347" y="453"/>
                  </a:lnTo>
                  <a:close/>
                </a:path>
              </a:pathLst>
            </a:custGeom>
            <a:solidFill>
              <a:srgbClr val="5F5F5F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155" name="그룹 154"/>
          <p:cNvGrpSpPr/>
          <p:nvPr/>
        </p:nvGrpSpPr>
        <p:grpSpPr>
          <a:xfrm>
            <a:off x="9287906" y="781700"/>
            <a:ext cx="144000" cy="144000"/>
            <a:chOff x="9287906" y="781700"/>
            <a:chExt cx="144000" cy="144000"/>
          </a:xfrm>
        </p:grpSpPr>
        <p:sp>
          <p:nvSpPr>
            <p:cNvPr id="156" name="사각형: 둥근 모서리 296">
              <a:extLst>
                <a:ext uri="{FF2B5EF4-FFF2-40B4-BE49-F238E27FC236}">
                  <a16:creationId xmlns="" xmlns:a16="http://schemas.microsoft.com/office/drawing/2014/main" id="{5E2C148E-29FC-42C6-B221-CA7B7DA48E4E}"/>
                </a:ext>
              </a:extLst>
            </p:cNvPr>
            <p:cNvSpPr/>
            <p:nvPr/>
          </p:nvSpPr>
          <p:spPr bwMode="auto">
            <a:xfrm>
              <a:off x="9287906" y="781700"/>
              <a:ext cx="144000" cy="144000"/>
            </a:xfrm>
            <a:prstGeom prst="roundRect">
              <a:avLst/>
            </a:prstGeom>
            <a:solidFill>
              <a:srgbClr val="F3F7FB"/>
            </a:solidFill>
            <a:ln w="3175" cap="flat" cmpd="sng" algn="ctr">
              <a:solidFill>
                <a:schemeClr val="bg1">
                  <a:lumMod val="7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12700" dist="12700" dir="2700000" algn="tl" rotWithShape="0">
                <a:schemeClr val="tx1">
                  <a:lumMod val="75000"/>
                  <a:lumOff val="25000"/>
                  <a:alpha val="30000"/>
                </a:schemeClr>
              </a:outerShdw>
            </a:effectLst>
          </p:spPr>
          <p:txBody>
            <a:bodyPr rot="0" spcFirstLastPara="0" vertOverflow="overflow" horzOverflow="overflow" vert="horz" wrap="none" lIns="108000" tIns="36000" rIns="180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14400" fontAlgn="base" latinLnBrk="0">
                <a:spcBef>
                  <a:spcPct val="0"/>
                </a:spcBef>
                <a:spcAft>
                  <a:spcPct val="0"/>
                </a:spcAft>
              </a:pPr>
              <a:endParaRPr kumimoji="1" lang="ko-KR" altLang="en-US" sz="700" kern="0">
                <a:solidFill>
                  <a:srgbClr val="000000"/>
                </a:solidFill>
                <a:latin typeface="+mn-ea"/>
              </a:endParaRPr>
            </a:p>
          </p:txBody>
        </p:sp>
        <p:sp>
          <p:nvSpPr>
            <p:cNvPr id="157" name="Export"/>
            <p:cNvSpPr>
              <a:spLocks noChangeAspect="1" noEditPoints="1"/>
            </p:cNvSpPr>
            <p:nvPr/>
          </p:nvSpPr>
          <p:spPr bwMode="auto">
            <a:xfrm>
              <a:off x="9306955" y="799700"/>
              <a:ext cx="105903" cy="108000"/>
            </a:xfrm>
            <a:custGeom>
              <a:avLst/>
              <a:gdLst>
                <a:gd name="T0" fmla="*/ 14 w 659"/>
                <a:gd name="T1" fmla="*/ 0 h 668"/>
                <a:gd name="T2" fmla="*/ 0 w 659"/>
                <a:gd name="T3" fmla="*/ 14 h 668"/>
                <a:gd name="T4" fmla="*/ 0 w 659"/>
                <a:gd name="T5" fmla="*/ 654 h 668"/>
                <a:gd name="T6" fmla="*/ 14 w 659"/>
                <a:gd name="T7" fmla="*/ 668 h 668"/>
                <a:gd name="T8" fmla="*/ 414 w 659"/>
                <a:gd name="T9" fmla="*/ 668 h 668"/>
                <a:gd name="T10" fmla="*/ 428 w 659"/>
                <a:gd name="T11" fmla="*/ 654 h 668"/>
                <a:gd name="T12" fmla="*/ 428 w 659"/>
                <a:gd name="T13" fmla="*/ 521 h 668"/>
                <a:gd name="T14" fmla="*/ 400 w 659"/>
                <a:gd name="T15" fmla="*/ 521 h 668"/>
                <a:gd name="T16" fmla="*/ 400 w 659"/>
                <a:gd name="T17" fmla="*/ 640 h 668"/>
                <a:gd name="T18" fmla="*/ 28 w 659"/>
                <a:gd name="T19" fmla="*/ 640 h 668"/>
                <a:gd name="T20" fmla="*/ 28 w 659"/>
                <a:gd name="T21" fmla="*/ 28 h 668"/>
                <a:gd name="T22" fmla="*/ 400 w 659"/>
                <a:gd name="T23" fmla="*/ 28 h 668"/>
                <a:gd name="T24" fmla="*/ 400 w 659"/>
                <a:gd name="T25" fmla="*/ 148 h 668"/>
                <a:gd name="T26" fmla="*/ 428 w 659"/>
                <a:gd name="T27" fmla="*/ 148 h 668"/>
                <a:gd name="T28" fmla="*/ 428 w 659"/>
                <a:gd name="T29" fmla="*/ 14 h 668"/>
                <a:gd name="T30" fmla="*/ 414 w 659"/>
                <a:gd name="T31" fmla="*/ 0 h 668"/>
                <a:gd name="T32" fmla="*/ 14 w 659"/>
                <a:gd name="T33" fmla="*/ 0 h 668"/>
                <a:gd name="T34" fmla="*/ 522 w 659"/>
                <a:gd name="T35" fmla="*/ 202 h 668"/>
                <a:gd name="T36" fmla="*/ 513 w 659"/>
                <a:gd name="T37" fmla="*/ 225 h 668"/>
                <a:gd name="T38" fmla="*/ 608 w 659"/>
                <a:gd name="T39" fmla="*/ 321 h 668"/>
                <a:gd name="T40" fmla="*/ 214 w 659"/>
                <a:gd name="T41" fmla="*/ 321 h 668"/>
                <a:gd name="T42" fmla="*/ 214 w 659"/>
                <a:gd name="T43" fmla="*/ 348 h 668"/>
                <a:gd name="T44" fmla="*/ 608 w 659"/>
                <a:gd name="T45" fmla="*/ 348 h 668"/>
                <a:gd name="T46" fmla="*/ 513 w 659"/>
                <a:gd name="T47" fmla="*/ 443 h 668"/>
                <a:gd name="T48" fmla="*/ 531 w 659"/>
                <a:gd name="T49" fmla="*/ 462 h 668"/>
                <a:gd name="T50" fmla="*/ 659 w 659"/>
                <a:gd name="T51" fmla="*/ 334 h 668"/>
                <a:gd name="T52" fmla="*/ 531 w 659"/>
                <a:gd name="T53" fmla="*/ 206 h 668"/>
                <a:gd name="T54" fmla="*/ 522 w 659"/>
                <a:gd name="T55" fmla="*/ 202 h 6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659" h="668">
                  <a:moveTo>
                    <a:pt x="14" y="0"/>
                  </a:moveTo>
                  <a:cubicBezTo>
                    <a:pt x="6" y="0"/>
                    <a:pt x="0" y="7"/>
                    <a:pt x="0" y="14"/>
                  </a:cubicBezTo>
                  <a:lnTo>
                    <a:pt x="0" y="654"/>
                  </a:lnTo>
                  <a:cubicBezTo>
                    <a:pt x="0" y="662"/>
                    <a:pt x="6" y="668"/>
                    <a:pt x="14" y="668"/>
                  </a:cubicBezTo>
                  <a:lnTo>
                    <a:pt x="414" y="668"/>
                  </a:lnTo>
                  <a:cubicBezTo>
                    <a:pt x="421" y="668"/>
                    <a:pt x="428" y="662"/>
                    <a:pt x="428" y="654"/>
                  </a:cubicBezTo>
                  <a:lnTo>
                    <a:pt x="428" y="521"/>
                  </a:lnTo>
                  <a:lnTo>
                    <a:pt x="400" y="521"/>
                  </a:lnTo>
                  <a:lnTo>
                    <a:pt x="400" y="640"/>
                  </a:lnTo>
                  <a:lnTo>
                    <a:pt x="28" y="640"/>
                  </a:lnTo>
                  <a:lnTo>
                    <a:pt x="28" y="28"/>
                  </a:lnTo>
                  <a:lnTo>
                    <a:pt x="400" y="28"/>
                  </a:lnTo>
                  <a:lnTo>
                    <a:pt x="400" y="148"/>
                  </a:lnTo>
                  <a:lnTo>
                    <a:pt x="428" y="148"/>
                  </a:lnTo>
                  <a:lnTo>
                    <a:pt x="428" y="14"/>
                  </a:lnTo>
                  <a:cubicBezTo>
                    <a:pt x="428" y="7"/>
                    <a:pt x="421" y="0"/>
                    <a:pt x="414" y="0"/>
                  </a:cubicBezTo>
                  <a:lnTo>
                    <a:pt x="14" y="0"/>
                  </a:lnTo>
                  <a:close/>
                  <a:moveTo>
                    <a:pt x="522" y="202"/>
                  </a:moveTo>
                  <a:cubicBezTo>
                    <a:pt x="510" y="202"/>
                    <a:pt x="504" y="217"/>
                    <a:pt x="513" y="225"/>
                  </a:cubicBezTo>
                  <a:lnTo>
                    <a:pt x="608" y="321"/>
                  </a:lnTo>
                  <a:lnTo>
                    <a:pt x="214" y="321"/>
                  </a:lnTo>
                  <a:cubicBezTo>
                    <a:pt x="196" y="321"/>
                    <a:pt x="196" y="348"/>
                    <a:pt x="214" y="348"/>
                  </a:cubicBezTo>
                  <a:lnTo>
                    <a:pt x="608" y="348"/>
                  </a:lnTo>
                  <a:lnTo>
                    <a:pt x="513" y="443"/>
                  </a:lnTo>
                  <a:cubicBezTo>
                    <a:pt x="499" y="456"/>
                    <a:pt x="519" y="475"/>
                    <a:pt x="531" y="462"/>
                  </a:cubicBezTo>
                  <a:lnTo>
                    <a:pt x="659" y="334"/>
                  </a:lnTo>
                  <a:lnTo>
                    <a:pt x="531" y="206"/>
                  </a:lnTo>
                  <a:cubicBezTo>
                    <a:pt x="529" y="204"/>
                    <a:pt x="525" y="202"/>
                    <a:pt x="522" y="202"/>
                  </a:cubicBezTo>
                  <a:close/>
                </a:path>
              </a:pathLst>
            </a:custGeom>
            <a:solidFill>
              <a:srgbClr val="5F5F5F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sp>
        <p:nvSpPr>
          <p:cNvPr id="361" name="직사각형 360"/>
          <p:cNvSpPr/>
          <p:nvPr/>
        </p:nvSpPr>
        <p:spPr>
          <a:xfrm>
            <a:off x="143906" y="1717699"/>
            <a:ext cx="1080000" cy="216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36000" rIns="108000" bIns="36000" rtlCol="0" anchor="ctr"/>
          <a:lstStyle/>
          <a:p>
            <a:r>
              <a:rPr lang="ko-KR" altLang="en-US" sz="700" b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─ </a:t>
            </a:r>
            <a:r>
              <a:rPr lang="ko-KR" altLang="en-US" sz="700" b="1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자사매장관리</a:t>
            </a:r>
            <a:endParaRPr lang="ko-KR" altLang="en-US" sz="700" b="1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62" name="직사각형 361"/>
          <p:cNvSpPr/>
          <p:nvPr/>
        </p:nvSpPr>
        <p:spPr>
          <a:xfrm>
            <a:off x="143906" y="1933699"/>
            <a:ext cx="1080000" cy="216000"/>
          </a:xfrm>
          <a:prstGeom prst="rect">
            <a:avLst/>
          </a:prstGeom>
          <a:solidFill>
            <a:srgbClr val="C0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ko-KR" altLang="en-US" sz="600" b="1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매장관리</a:t>
            </a:r>
            <a:endParaRPr lang="ko-KR" altLang="en-US" sz="600" b="1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63" name="직사각형 362"/>
          <p:cNvSpPr/>
          <p:nvPr/>
        </p:nvSpPr>
        <p:spPr>
          <a:xfrm>
            <a:off x="143906" y="2149867"/>
            <a:ext cx="1080000" cy="216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ko-KR" altLang="en-US" sz="6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부자재관리</a:t>
            </a:r>
            <a:endParaRPr lang="ko-KR" altLang="en-US" sz="6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64" name="직사각형 363"/>
          <p:cNvSpPr/>
          <p:nvPr/>
        </p:nvSpPr>
        <p:spPr>
          <a:xfrm>
            <a:off x="143906" y="2366035"/>
            <a:ext cx="1080000" cy="216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ko-KR" altLang="en-US" sz="6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직송매장및창고출고율관리</a:t>
            </a:r>
            <a:endParaRPr lang="ko-KR" altLang="en-US" sz="6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65" name="직사각형 364"/>
          <p:cNvSpPr/>
          <p:nvPr/>
        </p:nvSpPr>
        <p:spPr>
          <a:xfrm>
            <a:off x="143906" y="2582158"/>
            <a:ext cx="1080000" cy="216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ko-KR" altLang="en-US" sz="6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매장별캐파관리</a:t>
            </a:r>
            <a:endParaRPr lang="ko-KR" altLang="en-US" sz="6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66" name="직사각형 365"/>
          <p:cNvSpPr/>
          <p:nvPr/>
        </p:nvSpPr>
        <p:spPr>
          <a:xfrm>
            <a:off x="143906" y="2798281"/>
            <a:ext cx="1080000" cy="216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r>
              <a:rPr lang="ko-KR" altLang="en-US" sz="6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매장요청출고금지상품목록</a:t>
            </a:r>
            <a:endParaRPr lang="ko-KR" altLang="en-US" sz="6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67" name="직사각형 366"/>
          <p:cNvSpPr/>
          <p:nvPr/>
        </p:nvSpPr>
        <p:spPr>
          <a:xfrm>
            <a:off x="143906" y="3014404"/>
            <a:ext cx="1080000" cy="216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ko-KR" altLang="en-US" sz="6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매장별휴무일관리</a:t>
            </a:r>
            <a:endParaRPr lang="ko-KR" altLang="en-US" sz="6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84" name="제목 1">
            <a:extLst>
              <a:ext uri="{FF2B5EF4-FFF2-40B4-BE49-F238E27FC236}">
                <a16:creationId xmlns="" xmlns:a16="http://schemas.microsoft.com/office/drawing/2014/main" id="{03F65532-A01C-4981-B987-5E15F64E3ABB}"/>
              </a:ext>
            </a:extLst>
          </p:cNvPr>
          <p:cNvSpPr txBox="1">
            <a:spLocks/>
          </p:cNvSpPr>
          <p:nvPr/>
        </p:nvSpPr>
        <p:spPr>
          <a:xfrm>
            <a:off x="8783530" y="142660"/>
            <a:ext cx="1079290" cy="432000"/>
          </a:xfrm>
          <a:prstGeom prst="rect">
            <a:avLst/>
          </a:prstGeom>
        </p:spPr>
        <p:txBody>
          <a:bodyPr lIns="180000" tIns="36000" rIns="180000" bIns="36000" anchor="ctr"/>
          <a:lstStyle>
            <a:lvl1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2pPr>
            <a:lvl3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3pPr>
            <a:lvl4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4pPr>
            <a:lvl5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5pPr>
            <a:lvl6pPr marL="457212" algn="ctr" rtl="0" fontAlgn="base" latinLnBrk="1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6pPr>
            <a:lvl7pPr marL="914423" algn="ctr" rtl="0" fontAlgn="base" latinLnBrk="1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7pPr>
            <a:lvl8pPr marL="1371634" algn="ctr" rtl="0" fontAlgn="base" latinLnBrk="1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8pPr>
            <a:lvl9pPr marL="1828846" algn="ctr" rtl="0" fontAlgn="base" latinLnBrk="1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r>
              <a:rPr lang="ko-KR" altLang="en-US" sz="800" kern="0"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</a:rPr>
              <a:t>최범열</a:t>
            </a:r>
          </a:p>
        </p:txBody>
      </p:sp>
      <p:grpSp>
        <p:nvGrpSpPr>
          <p:cNvPr id="4" name="그룹 3"/>
          <p:cNvGrpSpPr/>
          <p:nvPr/>
        </p:nvGrpSpPr>
        <p:grpSpPr>
          <a:xfrm>
            <a:off x="143906" y="3228059"/>
            <a:ext cx="1080000" cy="1079999"/>
            <a:chOff x="143906" y="4957650"/>
            <a:chExt cx="1080000" cy="1079999"/>
          </a:xfrm>
        </p:grpSpPr>
        <p:sp>
          <p:nvSpPr>
            <p:cNvPr id="311" name="직사각형 310"/>
            <p:cNvSpPr/>
            <p:nvPr/>
          </p:nvSpPr>
          <p:spPr>
            <a:xfrm>
              <a:off x="143906" y="4957650"/>
              <a:ext cx="1080000" cy="216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36000" rIns="108000" bIns="36000" rtlCol="0" anchor="ctr"/>
            <a:lstStyle/>
            <a:p>
              <a:r>
                <a:rPr lang="ko-KR" altLang="en-US" sz="70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┼ </a:t>
              </a:r>
              <a:r>
                <a:rPr lang="ko-KR" altLang="en-US" sz="70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입점업체관리</a:t>
              </a:r>
              <a:endParaRPr lang="ko-KR" altLang="en-US" sz="7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312" name="직사각형 311"/>
            <p:cNvSpPr/>
            <p:nvPr/>
          </p:nvSpPr>
          <p:spPr>
            <a:xfrm>
              <a:off x="143906" y="5173650"/>
              <a:ext cx="1080000" cy="216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36000" rIns="108000" bIns="36000" rtlCol="0" anchor="ctr"/>
            <a:lstStyle/>
            <a:p>
              <a:r>
                <a:rPr lang="ko-KR" altLang="en-US" sz="70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┼ </a:t>
              </a:r>
              <a:r>
                <a:rPr lang="ko-KR" altLang="en-US" sz="70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영업망관리</a:t>
              </a:r>
              <a:endParaRPr lang="ko-KR" altLang="en-US" sz="7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313" name="직사각형 312"/>
            <p:cNvSpPr/>
            <p:nvPr/>
          </p:nvSpPr>
          <p:spPr>
            <a:xfrm>
              <a:off x="143906" y="5389650"/>
              <a:ext cx="1080000" cy="216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36000" rIns="0" bIns="36000" rtlCol="0" anchor="ctr"/>
            <a:lstStyle/>
            <a:p>
              <a:r>
                <a:rPr lang="ko-KR" altLang="en-US" sz="70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┼ </a:t>
              </a:r>
              <a:r>
                <a:rPr lang="ko-KR" altLang="en-US" sz="70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오프라인매장관리</a:t>
              </a:r>
              <a:endParaRPr lang="ko-KR" altLang="en-US" sz="7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314" name="직사각형 313"/>
            <p:cNvSpPr/>
            <p:nvPr/>
          </p:nvSpPr>
          <p:spPr>
            <a:xfrm>
              <a:off x="143906" y="5605494"/>
              <a:ext cx="1080000" cy="216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36000" rIns="108000" bIns="36000" rtlCol="0" anchor="ctr"/>
            <a:lstStyle/>
            <a:p>
              <a:r>
                <a:rPr lang="ko-KR" altLang="en-US" sz="70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┼ </a:t>
              </a:r>
              <a:r>
                <a:rPr lang="ko-KR" altLang="en-US" sz="70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단체구매관리</a:t>
              </a:r>
              <a:endParaRPr lang="ko-KR" altLang="en-US" sz="7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285" name="직사각형 284"/>
            <p:cNvSpPr/>
            <p:nvPr/>
          </p:nvSpPr>
          <p:spPr>
            <a:xfrm>
              <a:off x="143906" y="5821649"/>
              <a:ext cx="1080000" cy="216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36000" rIns="108000" bIns="36000" rtlCol="0" anchor="ctr"/>
            <a:lstStyle/>
            <a:p>
              <a:r>
                <a:rPr lang="ko-KR" altLang="en-US" sz="70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┼ </a:t>
              </a:r>
              <a:r>
                <a:rPr lang="ko-KR" altLang="en-US" sz="70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가격기준관리</a:t>
              </a:r>
              <a:endParaRPr lang="ko-KR" altLang="en-US" sz="7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endParaRPr>
            </a:p>
          </p:txBody>
        </p:sp>
      </p:grpSp>
      <p:sp>
        <p:nvSpPr>
          <p:cNvPr id="332" name="직사각형 331">
            <a:extLst>
              <a:ext uri="{FF2B5EF4-FFF2-40B4-BE49-F238E27FC236}">
                <a16:creationId xmlns="" xmlns:a16="http://schemas.microsoft.com/office/drawing/2014/main" id="{D6E71F9F-6A05-4858-BCF1-F73872A38DCC}"/>
              </a:ext>
            </a:extLst>
          </p:cNvPr>
          <p:cNvSpPr/>
          <p:nvPr/>
        </p:nvSpPr>
        <p:spPr>
          <a:xfrm>
            <a:off x="1367906" y="1717723"/>
            <a:ext cx="900000" cy="288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36000" rIns="108000" bIns="36000" rtlCol="0" anchor="ctr"/>
          <a:lstStyle/>
          <a:p>
            <a:r>
              <a:rPr lang="ko-KR" altLang="en-US" sz="7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매장코드</a:t>
            </a:r>
            <a:endParaRPr lang="ko-KR" altLang="en-US" sz="700" dirty="0">
              <a:solidFill>
                <a:srgbClr val="C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80" name="직사각형 379">
            <a:extLst>
              <a:ext uri="{FF2B5EF4-FFF2-40B4-BE49-F238E27FC236}">
                <a16:creationId xmlns="" xmlns:a16="http://schemas.microsoft.com/office/drawing/2014/main" id="{D6E71F9F-6A05-4858-BCF1-F73872A38DCC}"/>
              </a:ext>
            </a:extLst>
          </p:cNvPr>
          <p:cNvSpPr/>
          <p:nvPr/>
        </p:nvSpPr>
        <p:spPr>
          <a:xfrm>
            <a:off x="5363078" y="1717723"/>
            <a:ext cx="900000" cy="288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36000" rIns="108000" bIns="36000" rtlCol="0" anchor="ctr"/>
          <a:lstStyle/>
          <a:p>
            <a:r>
              <a:rPr lang="ko-KR" altLang="en-US" sz="7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사업부</a:t>
            </a:r>
            <a:endParaRPr lang="ko-KR" altLang="en-US" sz="700" dirty="0">
              <a:solidFill>
                <a:srgbClr val="C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76" name="직사각형 375">
            <a:extLst>
              <a:ext uri="{FF2B5EF4-FFF2-40B4-BE49-F238E27FC236}">
                <a16:creationId xmlns="" xmlns:a16="http://schemas.microsoft.com/office/drawing/2014/main" id="{D6E71F9F-6A05-4858-BCF1-F73872A38DCC}"/>
              </a:ext>
            </a:extLst>
          </p:cNvPr>
          <p:cNvSpPr/>
          <p:nvPr/>
        </p:nvSpPr>
        <p:spPr>
          <a:xfrm>
            <a:off x="3347492" y="1717723"/>
            <a:ext cx="900000" cy="288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36000" rIns="108000" bIns="36000" rtlCol="0" anchor="ctr"/>
          <a:lstStyle/>
          <a:p>
            <a:r>
              <a:rPr lang="ko-KR" altLang="en-US" sz="7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매장명</a:t>
            </a:r>
            <a:endParaRPr lang="ko-KR" altLang="en-US" sz="700" dirty="0">
              <a:solidFill>
                <a:srgbClr val="C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81" name="직사각형 380">
            <a:extLst>
              <a:ext uri="{FF2B5EF4-FFF2-40B4-BE49-F238E27FC236}">
                <a16:creationId xmlns="" xmlns:a16="http://schemas.microsoft.com/office/drawing/2014/main" id="{869F0D91-4426-412C-8A0D-962A34E6A583}"/>
              </a:ext>
            </a:extLst>
          </p:cNvPr>
          <p:cNvSpPr/>
          <p:nvPr/>
        </p:nvSpPr>
        <p:spPr>
          <a:xfrm>
            <a:off x="6263353" y="1717723"/>
            <a:ext cx="3095101" cy="288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36000" rIns="108000" bIns="36000" rtlCol="0" anchor="ctr"/>
          <a:lstStyle/>
          <a:p>
            <a:endParaRPr lang="ko-KR" altLang="en-US" sz="80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94" name="직사각형 493">
            <a:extLst>
              <a:ext uri="{FF2B5EF4-FFF2-40B4-BE49-F238E27FC236}">
                <a16:creationId xmlns="" xmlns:a16="http://schemas.microsoft.com/office/drawing/2014/main" id="{869F0D91-4426-412C-8A0D-962A34E6A583}"/>
              </a:ext>
            </a:extLst>
          </p:cNvPr>
          <p:cNvSpPr/>
          <p:nvPr/>
        </p:nvSpPr>
        <p:spPr>
          <a:xfrm>
            <a:off x="2267699" y="1717723"/>
            <a:ext cx="1080000" cy="288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36000" rIns="108000" bIns="36000" rtlCol="0" anchor="ctr"/>
          <a:lstStyle/>
          <a:p>
            <a:endParaRPr lang="ko-KR" altLang="en-US" sz="80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01" name="직사각형 500">
            <a:extLst>
              <a:ext uri="{FF2B5EF4-FFF2-40B4-BE49-F238E27FC236}">
                <a16:creationId xmlns="" xmlns:a16="http://schemas.microsoft.com/office/drawing/2014/main" id="{869F0D91-4426-412C-8A0D-962A34E6A583}"/>
              </a:ext>
            </a:extLst>
          </p:cNvPr>
          <p:cNvSpPr/>
          <p:nvPr/>
        </p:nvSpPr>
        <p:spPr>
          <a:xfrm>
            <a:off x="4247285" y="1717723"/>
            <a:ext cx="1116000" cy="288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36000" rIns="108000" bIns="36000" rtlCol="0" anchor="ctr"/>
          <a:lstStyle/>
          <a:p>
            <a:endParaRPr lang="ko-KR" altLang="en-US" sz="80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147" name="직선 연결선 146">
            <a:extLst>
              <a:ext uri="{FF2B5EF4-FFF2-40B4-BE49-F238E27FC236}">
                <a16:creationId xmlns="" xmlns:a16="http://schemas.microsoft.com/office/drawing/2014/main" id="{8B6CCFB5-6583-4FED-8393-9CCCF89D0E7A}"/>
              </a:ext>
            </a:extLst>
          </p:cNvPr>
          <p:cNvCxnSpPr>
            <a:cxnSpLocks/>
          </p:cNvCxnSpPr>
          <p:nvPr/>
        </p:nvCxnSpPr>
        <p:spPr>
          <a:xfrm>
            <a:off x="1367906" y="1717723"/>
            <a:ext cx="7992000" cy="0"/>
          </a:xfrm>
          <a:prstGeom prst="line">
            <a:avLst/>
          </a:prstGeom>
          <a:ln w="63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9" name="직사각형 508">
            <a:extLst>
              <a:ext uri="{FF2B5EF4-FFF2-40B4-BE49-F238E27FC236}">
                <a16:creationId xmlns="" xmlns:a16="http://schemas.microsoft.com/office/drawing/2014/main" id="{D6E71F9F-6A05-4858-BCF1-F73872A38DCC}"/>
              </a:ext>
            </a:extLst>
          </p:cNvPr>
          <p:cNvSpPr/>
          <p:nvPr/>
        </p:nvSpPr>
        <p:spPr>
          <a:xfrm>
            <a:off x="5363078" y="2004119"/>
            <a:ext cx="900000" cy="288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36000" rIns="108000" bIns="36000" rtlCol="0" anchor="ctr"/>
          <a:lstStyle/>
          <a:p>
            <a:r>
              <a:rPr lang="ko-KR" altLang="en-US" sz="7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폐점여부</a:t>
            </a:r>
            <a:endParaRPr lang="ko-KR" altLang="en-US" sz="7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10" name="직사각형 509">
            <a:extLst>
              <a:ext uri="{FF2B5EF4-FFF2-40B4-BE49-F238E27FC236}">
                <a16:creationId xmlns="" xmlns:a16="http://schemas.microsoft.com/office/drawing/2014/main" id="{869F0D91-4426-412C-8A0D-962A34E6A583}"/>
              </a:ext>
            </a:extLst>
          </p:cNvPr>
          <p:cNvSpPr/>
          <p:nvPr/>
        </p:nvSpPr>
        <p:spPr>
          <a:xfrm>
            <a:off x="6263353" y="2005723"/>
            <a:ext cx="3095101" cy="288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36000" rIns="108000" bIns="36000" rtlCol="0" anchor="ctr"/>
          <a:lstStyle/>
          <a:p>
            <a:endParaRPr lang="ko-KR" altLang="en-US" sz="80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23" name="직사각형 422">
            <a:extLst>
              <a:ext uri="{FF2B5EF4-FFF2-40B4-BE49-F238E27FC236}">
                <a16:creationId xmlns="" xmlns:a16="http://schemas.microsoft.com/office/drawing/2014/main" id="{C3CBC899-E192-4597-B3EF-23483E494D33}"/>
              </a:ext>
            </a:extLst>
          </p:cNvPr>
          <p:cNvSpPr/>
          <p:nvPr/>
        </p:nvSpPr>
        <p:spPr>
          <a:xfrm>
            <a:off x="1367906" y="2004119"/>
            <a:ext cx="900000" cy="288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36000" rIns="108000" bIns="36000" rtlCol="0" anchor="ctr"/>
          <a:lstStyle/>
          <a:p>
            <a:r>
              <a:rPr lang="ko-KR" altLang="en-US" sz="7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매장형태</a:t>
            </a:r>
            <a:endParaRPr lang="ko-KR" altLang="en-US" sz="7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24" name="직사각형 423">
            <a:extLst>
              <a:ext uri="{FF2B5EF4-FFF2-40B4-BE49-F238E27FC236}">
                <a16:creationId xmlns="" xmlns:a16="http://schemas.microsoft.com/office/drawing/2014/main" id="{C8E8B8B5-F2A9-4F2D-8F41-E83BE71E8F5A}"/>
              </a:ext>
            </a:extLst>
          </p:cNvPr>
          <p:cNvSpPr/>
          <p:nvPr/>
        </p:nvSpPr>
        <p:spPr>
          <a:xfrm>
            <a:off x="2266455" y="2004119"/>
            <a:ext cx="1080000" cy="288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36000" rIns="108000" bIns="36000" rtlCol="0" anchor="ctr"/>
          <a:lstStyle/>
          <a:p>
            <a:endParaRPr lang="ko-KR" altLang="en-US" sz="80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425" name="그룹 424">
            <a:extLst>
              <a:ext uri="{FF2B5EF4-FFF2-40B4-BE49-F238E27FC236}">
                <a16:creationId xmlns="" xmlns:a16="http://schemas.microsoft.com/office/drawing/2014/main" id="{CE03C03E-4F04-4133-AEEC-AC03458859A7}"/>
              </a:ext>
            </a:extLst>
          </p:cNvPr>
          <p:cNvGrpSpPr/>
          <p:nvPr/>
        </p:nvGrpSpPr>
        <p:grpSpPr>
          <a:xfrm>
            <a:off x="2339906" y="2058119"/>
            <a:ext cx="936000" cy="180000"/>
            <a:chOff x="2554666" y="3787347"/>
            <a:chExt cx="936000" cy="180000"/>
          </a:xfrm>
        </p:grpSpPr>
        <p:sp>
          <p:nvSpPr>
            <p:cNvPr id="431" name="모서리가 둥근 직사각형 139">
              <a:extLst>
                <a:ext uri="{FF2B5EF4-FFF2-40B4-BE49-F238E27FC236}">
                  <a16:creationId xmlns="" xmlns:a16="http://schemas.microsoft.com/office/drawing/2014/main" id="{D20B2316-7950-45D5-A329-DFCDAA416345}"/>
                </a:ext>
              </a:extLst>
            </p:cNvPr>
            <p:cNvSpPr/>
            <p:nvPr/>
          </p:nvSpPr>
          <p:spPr bwMode="auto">
            <a:xfrm>
              <a:off x="2554666" y="3787347"/>
              <a:ext cx="936000" cy="180000"/>
            </a:xfrm>
            <a:prstGeom prst="roundRect">
              <a:avLst/>
            </a:prstGeom>
            <a:solidFill>
              <a:schemeClr val="bg1"/>
            </a:solidFill>
            <a:ln w="3175" cap="flat" cmpd="sng" algn="ctr">
              <a:solidFill>
                <a:schemeClr val="bg1">
                  <a:lumMod val="7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none" lIns="108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fontAlgn="base" latinLnBrk="0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ko-KR" sz="700" kern="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[</a:t>
              </a:r>
              <a:r>
                <a:rPr kumimoji="1" lang="ko-KR" altLang="en-US" sz="700" kern="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전체</a:t>
              </a:r>
              <a:r>
                <a:rPr kumimoji="1" lang="en-US" altLang="ko-KR" sz="700" kern="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]</a:t>
              </a:r>
              <a:endParaRPr kumimoji="1" lang="ko-KR" altLang="en-US" sz="700" kern="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endParaRPr>
            </a:p>
          </p:txBody>
        </p:sp>
        <p:sp>
          <p:nvSpPr>
            <p:cNvPr id="432" name="모서리가 둥근 직사각형 141">
              <a:extLst>
                <a:ext uri="{FF2B5EF4-FFF2-40B4-BE49-F238E27FC236}">
                  <a16:creationId xmlns="" xmlns:a16="http://schemas.microsoft.com/office/drawing/2014/main" id="{9D3BF834-DC28-4D1A-B5CB-ED60EA5C7751}"/>
                </a:ext>
              </a:extLst>
            </p:cNvPr>
            <p:cNvSpPr/>
            <p:nvPr/>
          </p:nvSpPr>
          <p:spPr bwMode="auto">
            <a:xfrm>
              <a:off x="3310666" y="3787347"/>
              <a:ext cx="180000" cy="180000"/>
            </a:xfrm>
            <a:prstGeom prst="roundRect">
              <a:avLst/>
            </a:prstGeom>
            <a:solidFill>
              <a:schemeClr val="bg1"/>
            </a:solidFill>
            <a:ln w="3175" cap="flat" cmpd="sng" algn="ctr">
              <a:solidFill>
                <a:schemeClr val="bg1">
                  <a:lumMod val="7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none" lIns="36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fontAlgn="base" latinLnBrk="0">
                <a:spcBef>
                  <a:spcPct val="0"/>
                </a:spcBef>
                <a:spcAft>
                  <a:spcPct val="0"/>
                </a:spcAft>
              </a:pPr>
              <a:r>
                <a:rPr kumimoji="1" lang="ko-KR" altLang="en-US" sz="700" kern="0" dirty="0">
                  <a:solidFill>
                    <a:srgbClr val="000000"/>
                  </a:solidFill>
                  <a:latin typeface="+mn-ea"/>
                </a:rPr>
                <a:t>▼</a:t>
              </a:r>
            </a:p>
          </p:txBody>
        </p:sp>
      </p:grpSp>
      <p:sp>
        <p:nvSpPr>
          <p:cNvPr id="682" name="TextBox 681">
            <a:extLst>
              <a:ext uri="{FF2B5EF4-FFF2-40B4-BE49-F238E27FC236}">
                <a16:creationId xmlns="" xmlns:a16="http://schemas.microsoft.com/office/drawing/2014/main" id="{116334FC-EA39-45F8-9823-C272781057F2}"/>
              </a:ext>
            </a:extLst>
          </p:cNvPr>
          <p:cNvSpPr txBox="1"/>
          <p:nvPr/>
        </p:nvSpPr>
        <p:spPr>
          <a:xfrm>
            <a:off x="1367906" y="2847733"/>
            <a:ext cx="1093349" cy="180425"/>
          </a:xfrm>
          <a:prstGeom prst="rect">
            <a:avLst/>
          </a:prstGeom>
          <a:noFill/>
          <a:ln w="317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108000" tIns="36000" rIns="108000" bIns="36000" numCol="1" rtlCol="0" anchor="ctr" anchorCtr="0" compatLnSpc="1">
            <a:prstTxWarp prst="textNoShape">
              <a:avLst/>
            </a:prstTxWarp>
            <a:spAutoFit/>
          </a:bodyPr>
          <a:lstStyle/>
          <a:p>
            <a:r>
              <a:rPr lang="ko-KR" altLang="en-US" sz="7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조회목록 </a:t>
            </a:r>
            <a:r>
              <a:rPr lang="en-US" altLang="ko-KR" sz="70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(</a:t>
            </a:r>
            <a:r>
              <a:rPr lang="ko-KR" altLang="en-US" sz="70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총 </a:t>
            </a:r>
            <a:r>
              <a:rPr lang="en-US" altLang="ko-KR" sz="700">
                <a:solidFill>
                  <a:schemeClr val="accent2"/>
                </a:solidFill>
                <a:latin typeface="+mn-ea"/>
              </a:rPr>
              <a:t>1,234</a:t>
            </a:r>
            <a:r>
              <a:rPr lang="ko-KR" altLang="en-US" sz="70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건</a:t>
            </a:r>
            <a:r>
              <a:rPr lang="en-US" altLang="ko-KR" sz="70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)</a:t>
            </a:r>
            <a:endParaRPr lang="ko-KR" altLang="en-US" sz="70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</p:txBody>
      </p:sp>
      <p:grpSp>
        <p:nvGrpSpPr>
          <p:cNvPr id="684" name="그룹 683"/>
          <p:cNvGrpSpPr/>
          <p:nvPr/>
        </p:nvGrpSpPr>
        <p:grpSpPr>
          <a:xfrm>
            <a:off x="8855906" y="2435137"/>
            <a:ext cx="504000" cy="216000"/>
            <a:chOff x="1367906" y="3586031"/>
            <a:chExt cx="504000" cy="216000"/>
          </a:xfrm>
        </p:grpSpPr>
        <p:grpSp>
          <p:nvGrpSpPr>
            <p:cNvPr id="727" name="그룹 726"/>
            <p:cNvGrpSpPr/>
            <p:nvPr/>
          </p:nvGrpSpPr>
          <p:grpSpPr>
            <a:xfrm>
              <a:off x="1655906" y="3586031"/>
              <a:ext cx="216000" cy="216000"/>
              <a:chOff x="2096446" y="3586031"/>
              <a:chExt cx="216000" cy="216000"/>
            </a:xfrm>
          </p:grpSpPr>
          <p:sp>
            <p:nvSpPr>
              <p:cNvPr id="731" name="사각형: 둥근 모서리 368">
                <a:extLst>
                  <a:ext uri="{FF2B5EF4-FFF2-40B4-BE49-F238E27FC236}">
                    <a16:creationId xmlns="" xmlns:a16="http://schemas.microsoft.com/office/drawing/2014/main" id="{69DF4169-9711-4CBB-BBC0-35A1DA411BF3}"/>
                  </a:ext>
                </a:extLst>
              </p:cNvPr>
              <p:cNvSpPr/>
              <p:nvPr/>
            </p:nvSpPr>
            <p:spPr bwMode="auto">
              <a:xfrm>
                <a:off x="2096446" y="3586031"/>
                <a:ext cx="216000" cy="216000"/>
              </a:xfrm>
              <a:prstGeom prst="roundRect">
                <a:avLst/>
              </a:prstGeom>
              <a:solidFill>
                <a:schemeClr val="bg1">
                  <a:lumMod val="95000"/>
                </a:schemeClr>
              </a:solidFill>
              <a:ln w="3175" cap="flat" cmpd="sng" algn="ctr">
                <a:solidFill>
                  <a:schemeClr val="bg1">
                    <a:lumMod val="7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>
                <a:outerShdw blurRad="12700" dist="12700" dir="2700000" algn="tl" rotWithShape="0">
                  <a:schemeClr val="tx1">
                    <a:lumMod val="75000"/>
                    <a:lumOff val="25000"/>
                    <a:alpha val="30000"/>
                  </a:schemeClr>
                </a:outerShdw>
              </a:effectLst>
            </p:spPr>
            <p:txBody>
              <a:bodyPr rot="0" spcFirstLastPara="0" vertOverflow="overflow" horzOverflow="overflow" vert="horz" wrap="none" lIns="180000" tIns="45720" rIns="3600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indent="0" algn="ctr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1" lang="ko-KR" altLang="en-US" sz="700" i="0" u="none" strike="noStrike" kern="0" cap="none" spc="0" normalizeH="0" baseline="0" noProof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latin typeface="+mn-ea"/>
                </a:endParaRPr>
              </a:p>
            </p:txBody>
          </p:sp>
          <p:sp>
            <p:nvSpPr>
              <p:cNvPr id="732" name="Reload">
                <a:extLst>
                  <a:ext uri="{FF2B5EF4-FFF2-40B4-BE49-F238E27FC236}">
                    <a16:creationId xmlns="" xmlns:a16="http://schemas.microsoft.com/office/drawing/2014/main" id="{639C9F0C-EF86-4670-8665-513669F8444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2151166" y="3640031"/>
                <a:ext cx="106560" cy="108000"/>
              </a:xfrm>
              <a:custGeom>
                <a:avLst/>
                <a:gdLst>
                  <a:gd name="T0" fmla="*/ 440 w 480"/>
                  <a:gd name="T1" fmla="*/ 0 h 494"/>
                  <a:gd name="T2" fmla="*/ 427 w 480"/>
                  <a:gd name="T3" fmla="*/ 14 h 494"/>
                  <a:gd name="T4" fmla="*/ 427 w 480"/>
                  <a:gd name="T5" fmla="*/ 103 h 494"/>
                  <a:gd name="T6" fmla="*/ 418 w 480"/>
                  <a:gd name="T7" fmla="*/ 93 h 494"/>
                  <a:gd name="T8" fmla="*/ 418 w 480"/>
                  <a:gd name="T9" fmla="*/ 93 h 494"/>
                  <a:gd name="T10" fmla="*/ 240 w 480"/>
                  <a:gd name="T11" fmla="*/ 14 h 494"/>
                  <a:gd name="T12" fmla="*/ 0 w 480"/>
                  <a:gd name="T13" fmla="*/ 254 h 494"/>
                  <a:gd name="T14" fmla="*/ 240 w 480"/>
                  <a:gd name="T15" fmla="*/ 494 h 494"/>
                  <a:gd name="T16" fmla="*/ 480 w 480"/>
                  <a:gd name="T17" fmla="*/ 254 h 494"/>
                  <a:gd name="T18" fmla="*/ 453 w 480"/>
                  <a:gd name="T19" fmla="*/ 254 h 494"/>
                  <a:gd name="T20" fmla="*/ 240 w 480"/>
                  <a:gd name="T21" fmla="*/ 467 h 494"/>
                  <a:gd name="T22" fmla="*/ 27 w 480"/>
                  <a:gd name="T23" fmla="*/ 254 h 494"/>
                  <a:gd name="T24" fmla="*/ 240 w 480"/>
                  <a:gd name="T25" fmla="*/ 41 h 494"/>
                  <a:gd name="T26" fmla="*/ 398 w 480"/>
                  <a:gd name="T27" fmla="*/ 111 h 494"/>
                  <a:gd name="T28" fmla="*/ 406 w 480"/>
                  <a:gd name="T29" fmla="*/ 121 h 494"/>
                  <a:gd name="T30" fmla="*/ 320 w 480"/>
                  <a:gd name="T31" fmla="*/ 121 h 494"/>
                  <a:gd name="T32" fmla="*/ 320 w 480"/>
                  <a:gd name="T33" fmla="*/ 147 h 494"/>
                  <a:gd name="T34" fmla="*/ 453 w 480"/>
                  <a:gd name="T35" fmla="*/ 147 h 494"/>
                  <a:gd name="T36" fmla="*/ 453 w 480"/>
                  <a:gd name="T37" fmla="*/ 14 h 494"/>
                  <a:gd name="T38" fmla="*/ 440 w 480"/>
                  <a:gd name="T39" fmla="*/ 0 h 4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480" h="494">
                    <a:moveTo>
                      <a:pt x="440" y="0"/>
                    </a:moveTo>
                    <a:cubicBezTo>
                      <a:pt x="432" y="0"/>
                      <a:pt x="427" y="7"/>
                      <a:pt x="427" y="14"/>
                    </a:cubicBezTo>
                    <a:lnTo>
                      <a:pt x="427" y="103"/>
                    </a:lnTo>
                    <a:cubicBezTo>
                      <a:pt x="424" y="100"/>
                      <a:pt x="421" y="96"/>
                      <a:pt x="418" y="93"/>
                    </a:cubicBezTo>
                    <a:lnTo>
                      <a:pt x="418" y="93"/>
                    </a:lnTo>
                    <a:cubicBezTo>
                      <a:pt x="374" y="45"/>
                      <a:pt x="311" y="14"/>
                      <a:pt x="240" y="14"/>
                    </a:cubicBezTo>
                    <a:cubicBezTo>
                      <a:pt x="108" y="14"/>
                      <a:pt x="0" y="122"/>
                      <a:pt x="0" y="254"/>
                    </a:cubicBezTo>
                    <a:cubicBezTo>
                      <a:pt x="0" y="386"/>
                      <a:pt x="108" y="494"/>
                      <a:pt x="240" y="494"/>
                    </a:cubicBezTo>
                    <a:cubicBezTo>
                      <a:pt x="372" y="494"/>
                      <a:pt x="480" y="386"/>
                      <a:pt x="480" y="254"/>
                    </a:cubicBezTo>
                    <a:cubicBezTo>
                      <a:pt x="480" y="236"/>
                      <a:pt x="453" y="236"/>
                      <a:pt x="453" y="254"/>
                    </a:cubicBezTo>
                    <a:cubicBezTo>
                      <a:pt x="453" y="372"/>
                      <a:pt x="358" y="467"/>
                      <a:pt x="240" y="467"/>
                    </a:cubicBezTo>
                    <a:cubicBezTo>
                      <a:pt x="122" y="467"/>
                      <a:pt x="27" y="372"/>
                      <a:pt x="27" y="254"/>
                    </a:cubicBezTo>
                    <a:cubicBezTo>
                      <a:pt x="27" y="136"/>
                      <a:pt x="122" y="41"/>
                      <a:pt x="240" y="41"/>
                    </a:cubicBezTo>
                    <a:cubicBezTo>
                      <a:pt x="303" y="41"/>
                      <a:pt x="359" y="68"/>
                      <a:pt x="398" y="111"/>
                    </a:cubicBezTo>
                    <a:cubicBezTo>
                      <a:pt x="401" y="114"/>
                      <a:pt x="404" y="117"/>
                      <a:pt x="406" y="121"/>
                    </a:cubicBezTo>
                    <a:lnTo>
                      <a:pt x="320" y="121"/>
                    </a:lnTo>
                    <a:cubicBezTo>
                      <a:pt x="302" y="120"/>
                      <a:pt x="302" y="148"/>
                      <a:pt x="320" y="147"/>
                    </a:cubicBezTo>
                    <a:lnTo>
                      <a:pt x="453" y="147"/>
                    </a:lnTo>
                    <a:lnTo>
                      <a:pt x="453" y="14"/>
                    </a:lnTo>
                    <a:cubicBezTo>
                      <a:pt x="453" y="6"/>
                      <a:pt x="447" y="0"/>
                      <a:pt x="440" y="0"/>
                    </a:cubicBezTo>
                    <a:close/>
                  </a:path>
                </a:pathLst>
              </a:custGeom>
              <a:solidFill>
                <a:srgbClr val="5F5F5F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sz="900"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p:grpSp>
        <p:grpSp>
          <p:nvGrpSpPr>
            <p:cNvPr id="728" name="그룹 727"/>
            <p:cNvGrpSpPr/>
            <p:nvPr/>
          </p:nvGrpSpPr>
          <p:grpSpPr>
            <a:xfrm>
              <a:off x="1367906" y="3586031"/>
              <a:ext cx="216000" cy="216000"/>
              <a:chOff x="1367906" y="3586031"/>
              <a:chExt cx="216000" cy="216000"/>
            </a:xfrm>
          </p:grpSpPr>
          <p:sp>
            <p:nvSpPr>
              <p:cNvPr id="729" name="사각형: 둥근 모서리 368">
                <a:extLst>
                  <a:ext uri="{FF2B5EF4-FFF2-40B4-BE49-F238E27FC236}">
                    <a16:creationId xmlns="" xmlns:a16="http://schemas.microsoft.com/office/drawing/2014/main" id="{69DF4169-9711-4CBB-BBC0-35A1DA411BF3}"/>
                  </a:ext>
                </a:extLst>
              </p:cNvPr>
              <p:cNvSpPr/>
              <p:nvPr/>
            </p:nvSpPr>
            <p:spPr bwMode="auto">
              <a:xfrm>
                <a:off x="1367906" y="3586031"/>
                <a:ext cx="216000" cy="216000"/>
              </a:xfrm>
              <a:prstGeom prst="roundRect">
                <a:avLst/>
              </a:prstGeom>
              <a:solidFill>
                <a:schemeClr val="bg1">
                  <a:lumMod val="95000"/>
                </a:schemeClr>
              </a:solidFill>
              <a:ln w="3175" cap="flat" cmpd="sng" algn="ctr">
                <a:solidFill>
                  <a:schemeClr val="bg1">
                    <a:lumMod val="7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>
                <a:outerShdw blurRad="12700" dist="12700" dir="2700000" algn="tl" rotWithShape="0">
                  <a:schemeClr val="tx1">
                    <a:lumMod val="75000"/>
                    <a:lumOff val="25000"/>
                    <a:alpha val="30000"/>
                  </a:schemeClr>
                </a:outerShdw>
              </a:effectLst>
            </p:spPr>
            <p:txBody>
              <a:bodyPr rot="0" spcFirstLastPara="0" vertOverflow="overflow" horzOverflow="overflow" vert="horz" wrap="none" lIns="180000" tIns="45720" rIns="3600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indent="0" algn="ctr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1" lang="ko-KR" altLang="en-US" sz="700" i="0" u="none" strike="noStrike" kern="0" cap="none" spc="0" normalizeH="0" baseline="0" noProof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latin typeface="+mn-ea"/>
                </a:endParaRPr>
              </a:p>
            </p:txBody>
          </p:sp>
          <p:sp>
            <p:nvSpPr>
              <p:cNvPr id="730" name="Download"/>
              <p:cNvSpPr>
                <a:spLocks noChangeAspect="1" noEditPoints="1"/>
              </p:cNvSpPr>
              <p:nvPr/>
            </p:nvSpPr>
            <p:spPr bwMode="auto">
              <a:xfrm>
                <a:off x="1436342" y="3640031"/>
                <a:ext cx="79128" cy="108000"/>
              </a:xfrm>
              <a:custGeom>
                <a:avLst/>
                <a:gdLst>
                  <a:gd name="T0" fmla="*/ 239 w 480"/>
                  <a:gd name="T1" fmla="*/ 1 h 655"/>
                  <a:gd name="T2" fmla="*/ 227 w 480"/>
                  <a:gd name="T3" fmla="*/ 15 h 655"/>
                  <a:gd name="T4" fmla="*/ 227 w 480"/>
                  <a:gd name="T5" fmla="*/ 422 h 655"/>
                  <a:gd name="T6" fmla="*/ 143 w 480"/>
                  <a:gd name="T7" fmla="*/ 339 h 655"/>
                  <a:gd name="T8" fmla="*/ 131 w 480"/>
                  <a:gd name="T9" fmla="*/ 335 h 655"/>
                  <a:gd name="T10" fmla="*/ 124 w 480"/>
                  <a:gd name="T11" fmla="*/ 358 h 655"/>
                  <a:gd name="T12" fmla="*/ 240 w 480"/>
                  <a:gd name="T13" fmla="*/ 474 h 655"/>
                  <a:gd name="T14" fmla="*/ 356 w 480"/>
                  <a:gd name="T15" fmla="*/ 358 h 655"/>
                  <a:gd name="T16" fmla="*/ 356 w 480"/>
                  <a:gd name="T17" fmla="*/ 339 h 655"/>
                  <a:gd name="T18" fmla="*/ 337 w 480"/>
                  <a:gd name="T19" fmla="*/ 339 h 655"/>
                  <a:gd name="T20" fmla="*/ 254 w 480"/>
                  <a:gd name="T21" fmla="*/ 422 h 655"/>
                  <a:gd name="T22" fmla="*/ 254 w 480"/>
                  <a:gd name="T23" fmla="*/ 15 h 655"/>
                  <a:gd name="T24" fmla="*/ 239 w 480"/>
                  <a:gd name="T25" fmla="*/ 1 h 655"/>
                  <a:gd name="T26" fmla="*/ 0 w 480"/>
                  <a:gd name="T27" fmla="*/ 201 h 655"/>
                  <a:gd name="T28" fmla="*/ 0 w 480"/>
                  <a:gd name="T29" fmla="*/ 655 h 655"/>
                  <a:gd name="T30" fmla="*/ 480 w 480"/>
                  <a:gd name="T31" fmla="*/ 655 h 655"/>
                  <a:gd name="T32" fmla="*/ 480 w 480"/>
                  <a:gd name="T33" fmla="*/ 201 h 655"/>
                  <a:gd name="T34" fmla="*/ 347 w 480"/>
                  <a:gd name="T35" fmla="*/ 201 h 655"/>
                  <a:gd name="T36" fmla="*/ 333 w 480"/>
                  <a:gd name="T37" fmla="*/ 215 h 655"/>
                  <a:gd name="T38" fmla="*/ 347 w 480"/>
                  <a:gd name="T39" fmla="*/ 228 h 655"/>
                  <a:gd name="T40" fmla="*/ 454 w 480"/>
                  <a:gd name="T41" fmla="*/ 228 h 655"/>
                  <a:gd name="T42" fmla="*/ 454 w 480"/>
                  <a:gd name="T43" fmla="*/ 628 h 655"/>
                  <a:gd name="T44" fmla="*/ 27 w 480"/>
                  <a:gd name="T45" fmla="*/ 628 h 655"/>
                  <a:gd name="T46" fmla="*/ 27 w 480"/>
                  <a:gd name="T47" fmla="*/ 228 h 655"/>
                  <a:gd name="T48" fmla="*/ 134 w 480"/>
                  <a:gd name="T49" fmla="*/ 228 h 655"/>
                  <a:gd name="T50" fmla="*/ 147 w 480"/>
                  <a:gd name="T51" fmla="*/ 215 h 655"/>
                  <a:gd name="T52" fmla="*/ 134 w 480"/>
                  <a:gd name="T53" fmla="*/ 201 h 655"/>
                  <a:gd name="T54" fmla="*/ 0 w 480"/>
                  <a:gd name="T55" fmla="*/ 201 h 6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</a:cxnLst>
                <a:rect l="0" t="0" r="r" b="b"/>
                <a:pathLst>
                  <a:path w="480" h="655">
                    <a:moveTo>
                      <a:pt x="239" y="1"/>
                    </a:moveTo>
                    <a:cubicBezTo>
                      <a:pt x="231" y="2"/>
                      <a:pt x="227" y="5"/>
                      <a:pt x="227" y="15"/>
                    </a:cubicBezTo>
                    <a:lnTo>
                      <a:pt x="227" y="422"/>
                    </a:lnTo>
                    <a:lnTo>
                      <a:pt x="143" y="339"/>
                    </a:lnTo>
                    <a:cubicBezTo>
                      <a:pt x="140" y="335"/>
                      <a:pt x="135" y="334"/>
                      <a:pt x="131" y="335"/>
                    </a:cubicBezTo>
                    <a:cubicBezTo>
                      <a:pt x="121" y="337"/>
                      <a:pt x="117" y="351"/>
                      <a:pt x="124" y="358"/>
                    </a:cubicBezTo>
                    <a:cubicBezTo>
                      <a:pt x="163" y="396"/>
                      <a:pt x="201" y="436"/>
                      <a:pt x="240" y="474"/>
                    </a:cubicBezTo>
                    <a:cubicBezTo>
                      <a:pt x="279" y="435"/>
                      <a:pt x="318" y="396"/>
                      <a:pt x="356" y="358"/>
                    </a:cubicBezTo>
                    <a:cubicBezTo>
                      <a:pt x="361" y="353"/>
                      <a:pt x="361" y="344"/>
                      <a:pt x="356" y="339"/>
                    </a:cubicBezTo>
                    <a:cubicBezTo>
                      <a:pt x="351" y="334"/>
                      <a:pt x="342" y="334"/>
                      <a:pt x="337" y="339"/>
                    </a:cubicBezTo>
                    <a:lnTo>
                      <a:pt x="254" y="422"/>
                    </a:lnTo>
                    <a:lnTo>
                      <a:pt x="254" y="15"/>
                    </a:lnTo>
                    <a:cubicBezTo>
                      <a:pt x="254" y="7"/>
                      <a:pt x="246" y="0"/>
                      <a:pt x="239" y="1"/>
                    </a:cubicBezTo>
                    <a:close/>
                    <a:moveTo>
                      <a:pt x="0" y="201"/>
                    </a:moveTo>
                    <a:lnTo>
                      <a:pt x="0" y="655"/>
                    </a:lnTo>
                    <a:lnTo>
                      <a:pt x="480" y="655"/>
                    </a:lnTo>
                    <a:lnTo>
                      <a:pt x="480" y="201"/>
                    </a:lnTo>
                    <a:lnTo>
                      <a:pt x="347" y="201"/>
                    </a:lnTo>
                    <a:cubicBezTo>
                      <a:pt x="340" y="201"/>
                      <a:pt x="333" y="208"/>
                      <a:pt x="333" y="215"/>
                    </a:cubicBezTo>
                    <a:cubicBezTo>
                      <a:pt x="333" y="222"/>
                      <a:pt x="340" y="228"/>
                      <a:pt x="347" y="228"/>
                    </a:cubicBezTo>
                    <a:lnTo>
                      <a:pt x="454" y="228"/>
                    </a:lnTo>
                    <a:lnTo>
                      <a:pt x="454" y="628"/>
                    </a:lnTo>
                    <a:lnTo>
                      <a:pt x="27" y="628"/>
                    </a:lnTo>
                    <a:lnTo>
                      <a:pt x="27" y="228"/>
                    </a:lnTo>
                    <a:lnTo>
                      <a:pt x="134" y="228"/>
                    </a:lnTo>
                    <a:cubicBezTo>
                      <a:pt x="141" y="228"/>
                      <a:pt x="147" y="222"/>
                      <a:pt x="147" y="215"/>
                    </a:cubicBezTo>
                    <a:cubicBezTo>
                      <a:pt x="147" y="208"/>
                      <a:pt x="141" y="201"/>
                      <a:pt x="134" y="201"/>
                    </a:cubicBezTo>
                    <a:lnTo>
                      <a:pt x="0" y="201"/>
                    </a:lnTo>
                    <a:close/>
                  </a:path>
                </a:pathLst>
              </a:custGeom>
              <a:solidFill>
                <a:srgbClr val="5F5F5F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sz="900"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p:grpSp>
      </p:grpSp>
      <p:sp>
        <p:nvSpPr>
          <p:cNvPr id="725" name="사각형: 둥근 모서리 370">
            <a:extLst>
              <a:ext uri="{FF2B5EF4-FFF2-40B4-BE49-F238E27FC236}">
                <a16:creationId xmlns="" xmlns:a16="http://schemas.microsoft.com/office/drawing/2014/main" id="{40426C93-54F4-4D06-9E1D-260D2A45518E}"/>
              </a:ext>
            </a:extLst>
          </p:cNvPr>
          <p:cNvSpPr/>
          <p:nvPr/>
        </p:nvSpPr>
        <p:spPr bwMode="auto">
          <a:xfrm>
            <a:off x="5002455" y="2435137"/>
            <a:ext cx="720000" cy="216000"/>
          </a:xfrm>
          <a:prstGeom prst="roundRect">
            <a:avLst/>
          </a:prstGeom>
          <a:solidFill>
            <a:srgbClr val="C00000"/>
          </a:solidFill>
          <a:ln w="3175" cap="flat" cmpd="sng" algn="ctr">
            <a:solidFill>
              <a:schemeClr val="bg1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>
            <a:outerShdw blurRad="12700" dist="12700" dir="2700000" algn="tl" rotWithShape="0">
              <a:schemeClr val="tx1">
                <a:lumMod val="75000"/>
                <a:lumOff val="25000"/>
                <a:alpha val="30000"/>
              </a:schemeClr>
            </a:outerShdw>
          </a:effectLst>
        </p:spPr>
        <p:txBody>
          <a:bodyPr rot="0" spcFirstLastPara="0" vertOverflow="overflow" horzOverflow="overflow" vert="horz" wrap="non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altLang="en-US" sz="700" i="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</a:rPr>
              <a:t>조회</a:t>
            </a:r>
          </a:p>
        </p:txBody>
      </p:sp>
      <p:grpSp>
        <p:nvGrpSpPr>
          <p:cNvPr id="62" name="그룹 61"/>
          <p:cNvGrpSpPr/>
          <p:nvPr/>
        </p:nvGrpSpPr>
        <p:grpSpPr>
          <a:xfrm>
            <a:off x="1367906" y="3083284"/>
            <a:ext cx="7992000" cy="288000"/>
            <a:chOff x="1367906" y="5677797"/>
            <a:chExt cx="7992000" cy="288000"/>
          </a:xfrm>
        </p:grpSpPr>
        <p:sp>
          <p:nvSpPr>
            <p:cNvPr id="683" name="직사각형 682">
              <a:extLst>
                <a:ext uri="{FF2B5EF4-FFF2-40B4-BE49-F238E27FC236}">
                  <a16:creationId xmlns="" xmlns:a16="http://schemas.microsoft.com/office/drawing/2014/main" id="{4778C4A6-E116-4A27-97F3-5AB5EB72E738}"/>
                </a:ext>
              </a:extLst>
            </p:cNvPr>
            <p:cNvSpPr/>
            <p:nvPr/>
          </p:nvSpPr>
          <p:spPr>
            <a:xfrm>
              <a:off x="1367906" y="5677797"/>
              <a:ext cx="7992000" cy="288000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36000" rIns="180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kumimoji="1" lang="ko-KR" altLang="en-US" sz="700" kern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grpSp>
          <p:nvGrpSpPr>
            <p:cNvPr id="686" name="그룹 685">
              <a:extLst>
                <a:ext uri="{FF2B5EF4-FFF2-40B4-BE49-F238E27FC236}">
                  <a16:creationId xmlns="" xmlns:a16="http://schemas.microsoft.com/office/drawing/2014/main" id="{A977A86B-CF46-4884-B332-B067BCAE0870}"/>
                </a:ext>
              </a:extLst>
            </p:cNvPr>
            <p:cNvGrpSpPr/>
            <p:nvPr/>
          </p:nvGrpSpPr>
          <p:grpSpPr>
            <a:xfrm>
              <a:off x="8785572" y="5731797"/>
              <a:ext cx="504000" cy="180000"/>
              <a:chOff x="2749822" y="4322696"/>
              <a:chExt cx="504000" cy="180000"/>
            </a:xfrm>
          </p:grpSpPr>
          <p:sp>
            <p:nvSpPr>
              <p:cNvPr id="723" name="모서리가 둥근 직사각형 240">
                <a:extLst>
                  <a:ext uri="{FF2B5EF4-FFF2-40B4-BE49-F238E27FC236}">
                    <a16:creationId xmlns="" xmlns:a16="http://schemas.microsoft.com/office/drawing/2014/main" id="{1FEE6B18-FA7D-4DF7-9C80-FD39C9AD8EDC}"/>
                  </a:ext>
                </a:extLst>
              </p:cNvPr>
              <p:cNvSpPr/>
              <p:nvPr/>
            </p:nvSpPr>
            <p:spPr bwMode="auto">
              <a:xfrm>
                <a:off x="2749822" y="4322696"/>
                <a:ext cx="504000" cy="180000"/>
              </a:xfrm>
              <a:prstGeom prst="roundRect">
                <a:avLst/>
              </a:prstGeom>
              <a:solidFill>
                <a:schemeClr val="bg1"/>
              </a:solidFill>
              <a:ln w="3175" cap="flat" cmpd="sng" algn="ctr">
                <a:solidFill>
                  <a:schemeClr val="bg1">
                    <a:lumMod val="7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rot="0" spcFirstLastPara="0" vertOverflow="overflow" horzOverflow="overflow" vert="horz" wrap="none" lIns="72000" tIns="36000" rIns="36000" bIns="36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fontAlgn="base" latinLnBrk="0">
                  <a:spcBef>
                    <a:spcPct val="0"/>
                  </a:spcBef>
                  <a:spcAft>
                    <a:spcPct val="0"/>
                  </a:spcAft>
                </a:pPr>
                <a:r>
                  <a:rPr kumimoji="1" lang="en-US" altLang="ko-KR" sz="700" kern="0">
                    <a:solidFill>
                      <a:srgbClr val="000000"/>
                    </a:solidFill>
                    <a:latin typeface="+mn-ea"/>
                  </a:rPr>
                  <a:t>1/1</a:t>
                </a:r>
                <a:endParaRPr kumimoji="1" lang="ko-KR" altLang="en-US" sz="700" kern="0" dirty="0">
                  <a:solidFill>
                    <a:srgbClr val="000000"/>
                  </a:solidFill>
                  <a:latin typeface="+mn-ea"/>
                </a:endParaRPr>
              </a:p>
            </p:txBody>
          </p:sp>
          <p:sp>
            <p:nvSpPr>
              <p:cNvPr id="724" name="모서리가 둥근 직사각형 241">
                <a:extLst>
                  <a:ext uri="{FF2B5EF4-FFF2-40B4-BE49-F238E27FC236}">
                    <a16:creationId xmlns="" xmlns:a16="http://schemas.microsoft.com/office/drawing/2014/main" id="{E7A68BD9-AFD0-4F2A-8223-6CB9CD833C50}"/>
                  </a:ext>
                </a:extLst>
              </p:cNvPr>
              <p:cNvSpPr/>
              <p:nvPr/>
            </p:nvSpPr>
            <p:spPr bwMode="auto">
              <a:xfrm>
                <a:off x="3073822" y="4322696"/>
                <a:ext cx="180000" cy="180000"/>
              </a:xfrm>
              <a:prstGeom prst="roundRect">
                <a:avLst/>
              </a:prstGeom>
              <a:solidFill>
                <a:schemeClr val="bg1"/>
              </a:solidFill>
              <a:ln w="3175" cap="flat" cmpd="sng" algn="ctr">
                <a:solidFill>
                  <a:schemeClr val="bg1">
                    <a:lumMod val="7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rot="0" spcFirstLastPara="0" vertOverflow="overflow" horzOverflow="overflow" vert="horz" wrap="none" lIns="36000" tIns="36000" rIns="36000" bIns="36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fontAlgn="base" latinLnBrk="0">
                  <a:spcBef>
                    <a:spcPct val="0"/>
                  </a:spcBef>
                  <a:spcAft>
                    <a:spcPct val="0"/>
                  </a:spcAft>
                </a:pPr>
                <a:r>
                  <a:rPr kumimoji="1" lang="ko-KR" altLang="en-US" sz="700" kern="0" dirty="0">
                    <a:solidFill>
                      <a:srgbClr val="000000"/>
                    </a:solidFill>
                    <a:latin typeface="+mn-ea"/>
                  </a:rPr>
                  <a:t>▼</a:t>
                </a:r>
              </a:p>
            </p:txBody>
          </p:sp>
        </p:grpSp>
        <p:sp>
          <p:nvSpPr>
            <p:cNvPr id="687" name="모서리가 둥근 직사각형 240">
              <a:extLst>
                <a:ext uri="{FF2B5EF4-FFF2-40B4-BE49-F238E27FC236}">
                  <a16:creationId xmlns="" xmlns:a16="http://schemas.microsoft.com/office/drawing/2014/main" id="{1FEE6B18-FA7D-4DF7-9C80-FD39C9AD8EDC}"/>
                </a:ext>
              </a:extLst>
            </p:cNvPr>
            <p:cNvSpPr/>
            <p:nvPr/>
          </p:nvSpPr>
          <p:spPr bwMode="auto">
            <a:xfrm>
              <a:off x="8065572" y="5731797"/>
              <a:ext cx="648000" cy="180000"/>
            </a:xfrm>
            <a:prstGeom prst="roundRect">
              <a:avLst/>
            </a:prstGeom>
            <a:solidFill>
              <a:schemeClr val="tx1">
                <a:lumMod val="75000"/>
                <a:lumOff val="25000"/>
              </a:schemeClr>
            </a:solidFill>
            <a:ln w="317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none" lIns="36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fontAlgn="base" latinLnBrk="0">
                <a:spcBef>
                  <a:spcPct val="0"/>
                </a:spcBef>
                <a:spcAft>
                  <a:spcPct val="0"/>
                </a:spcAft>
              </a:pPr>
              <a:r>
                <a:rPr kumimoji="1" lang="ko-KR" altLang="en-US" sz="700" kern="0" smtClean="0">
                  <a:solidFill>
                    <a:schemeClr val="bg1"/>
                  </a:solidFill>
                  <a:latin typeface="+mn-ea"/>
                </a:rPr>
                <a:t>매장추가</a:t>
              </a:r>
              <a:endParaRPr kumimoji="1" lang="ko-KR" altLang="en-US" sz="700" kern="0" dirty="0">
                <a:solidFill>
                  <a:schemeClr val="bg1"/>
                </a:solidFill>
                <a:latin typeface="+mn-ea"/>
              </a:endParaRPr>
            </a:p>
          </p:txBody>
        </p:sp>
      </p:grpSp>
      <p:sp>
        <p:nvSpPr>
          <p:cNvPr id="692" name="직사각형 691">
            <a:extLst>
              <a:ext uri="{FF2B5EF4-FFF2-40B4-BE49-F238E27FC236}">
                <a16:creationId xmlns="" xmlns:a16="http://schemas.microsoft.com/office/drawing/2014/main" id="{A9090594-210F-4E03-B821-432BBB0030E9}"/>
              </a:ext>
            </a:extLst>
          </p:cNvPr>
          <p:cNvSpPr/>
          <p:nvPr/>
        </p:nvSpPr>
        <p:spPr>
          <a:xfrm>
            <a:off x="1907906" y="3372805"/>
            <a:ext cx="936000" cy="2160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70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매장명</a:t>
            </a:r>
          </a:p>
        </p:txBody>
      </p:sp>
      <p:sp>
        <p:nvSpPr>
          <p:cNvPr id="693" name="직사각형 692">
            <a:extLst>
              <a:ext uri="{FF2B5EF4-FFF2-40B4-BE49-F238E27FC236}">
                <a16:creationId xmlns="" xmlns:a16="http://schemas.microsoft.com/office/drawing/2014/main" id="{C2B96CB1-836B-48A8-AFA2-417DDACEDE0E}"/>
              </a:ext>
            </a:extLst>
          </p:cNvPr>
          <p:cNvSpPr/>
          <p:nvPr/>
        </p:nvSpPr>
        <p:spPr>
          <a:xfrm>
            <a:off x="1907906" y="3586910"/>
            <a:ext cx="936000" cy="216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700" u="sng" smtClean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광주첨단라푸마</a:t>
            </a:r>
            <a:endParaRPr lang="ko-KR" altLang="en-US" sz="700" u="sng">
              <a:solidFill>
                <a:srgbClr val="0070C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94" name="직사각형 693">
            <a:extLst>
              <a:ext uri="{FF2B5EF4-FFF2-40B4-BE49-F238E27FC236}">
                <a16:creationId xmlns="" xmlns:a16="http://schemas.microsoft.com/office/drawing/2014/main" id="{6C46722B-A1C8-40C5-9355-BEF50DEEB2FE}"/>
              </a:ext>
            </a:extLst>
          </p:cNvPr>
          <p:cNvSpPr/>
          <p:nvPr/>
        </p:nvSpPr>
        <p:spPr>
          <a:xfrm>
            <a:off x="2843906" y="3372805"/>
            <a:ext cx="720000" cy="2160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70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매장정산형태</a:t>
            </a:r>
          </a:p>
        </p:txBody>
      </p:sp>
      <p:sp>
        <p:nvSpPr>
          <p:cNvPr id="695" name="직사각형 694">
            <a:extLst>
              <a:ext uri="{FF2B5EF4-FFF2-40B4-BE49-F238E27FC236}">
                <a16:creationId xmlns="" xmlns:a16="http://schemas.microsoft.com/office/drawing/2014/main" id="{125A9445-0B2B-4F55-8AE2-07E57374FAAD}"/>
              </a:ext>
            </a:extLst>
          </p:cNvPr>
          <p:cNvSpPr/>
          <p:nvPr/>
        </p:nvSpPr>
        <p:spPr>
          <a:xfrm>
            <a:off x="2843906" y="3586910"/>
            <a:ext cx="720000" cy="216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7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특약</a:t>
            </a:r>
            <a:endParaRPr lang="ko-KR" altLang="en-US" sz="70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96" name="직사각형 695">
            <a:extLst>
              <a:ext uri="{FF2B5EF4-FFF2-40B4-BE49-F238E27FC236}">
                <a16:creationId xmlns="" xmlns:a16="http://schemas.microsoft.com/office/drawing/2014/main" id="{A9090594-210F-4E03-B821-432BBB0030E9}"/>
              </a:ext>
            </a:extLst>
          </p:cNvPr>
          <p:cNvSpPr/>
          <p:nvPr/>
        </p:nvSpPr>
        <p:spPr>
          <a:xfrm>
            <a:off x="3563906" y="3372805"/>
            <a:ext cx="720000" cy="2160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70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매장형태</a:t>
            </a:r>
          </a:p>
        </p:txBody>
      </p:sp>
      <p:sp>
        <p:nvSpPr>
          <p:cNvPr id="697" name="직사각형 696">
            <a:extLst>
              <a:ext uri="{FF2B5EF4-FFF2-40B4-BE49-F238E27FC236}">
                <a16:creationId xmlns="" xmlns:a16="http://schemas.microsoft.com/office/drawing/2014/main" id="{C2B96CB1-836B-48A8-AFA2-417DDACEDE0E}"/>
              </a:ext>
            </a:extLst>
          </p:cNvPr>
          <p:cNvSpPr/>
          <p:nvPr/>
        </p:nvSpPr>
        <p:spPr>
          <a:xfrm>
            <a:off x="3563906" y="3586910"/>
            <a:ext cx="720000" cy="216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7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가두점</a:t>
            </a:r>
            <a:endParaRPr lang="ko-KR" altLang="en-US" sz="70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98" name="직사각형 697">
            <a:extLst>
              <a:ext uri="{FF2B5EF4-FFF2-40B4-BE49-F238E27FC236}">
                <a16:creationId xmlns="" xmlns:a16="http://schemas.microsoft.com/office/drawing/2014/main" id="{A9090594-210F-4E03-B821-432BBB0030E9}"/>
              </a:ext>
            </a:extLst>
          </p:cNvPr>
          <p:cNvSpPr/>
          <p:nvPr/>
        </p:nvSpPr>
        <p:spPr>
          <a:xfrm>
            <a:off x="4283906" y="3372805"/>
            <a:ext cx="720000" cy="2160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70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구분</a:t>
            </a:r>
          </a:p>
        </p:txBody>
      </p:sp>
      <p:sp>
        <p:nvSpPr>
          <p:cNvPr id="699" name="직사각형 698">
            <a:extLst>
              <a:ext uri="{FF2B5EF4-FFF2-40B4-BE49-F238E27FC236}">
                <a16:creationId xmlns="" xmlns:a16="http://schemas.microsoft.com/office/drawing/2014/main" id="{C2B96CB1-836B-48A8-AFA2-417DDACEDE0E}"/>
              </a:ext>
            </a:extLst>
          </p:cNvPr>
          <p:cNvSpPr/>
          <p:nvPr/>
        </p:nvSpPr>
        <p:spPr>
          <a:xfrm>
            <a:off x="4283906" y="3586910"/>
            <a:ext cx="720000" cy="216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7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정상매장</a:t>
            </a:r>
            <a:endParaRPr lang="ko-KR" altLang="en-US" sz="70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00" name="직사각형 699">
            <a:extLst>
              <a:ext uri="{FF2B5EF4-FFF2-40B4-BE49-F238E27FC236}">
                <a16:creationId xmlns="" xmlns:a16="http://schemas.microsoft.com/office/drawing/2014/main" id="{A9090594-210F-4E03-B821-432BBB0030E9}"/>
              </a:ext>
            </a:extLst>
          </p:cNvPr>
          <p:cNvSpPr/>
          <p:nvPr/>
        </p:nvSpPr>
        <p:spPr>
          <a:xfrm>
            <a:off x="5003906" y="3372805"/>
            <a:ext cx="792000" cy="2160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70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현재가용 자동출고</a:t>
            </a:r>
          </a:p>
        </p:txBody>
      </p:sp>
      <p:sp>
        <p:nvSpPr>
          <p:cNvPr id="701" name="직사각형 700">
            <a:extLst>
              <a:ext uri="{FF2B5EF4-FFF2-40B4-BE49-F238E27FC236}">
                <a16:creationId xmlns="" xmlns:a16="http://schemas.microsoft.com/office/drawing/2014/main" id="{C2B96CB1-836B-48A8-AFA2-417DDACEDE0E}"/>
              </a:ext>
            </a:extLst>
          </p:cNvPr>
          <p:cNvSpPr/>
          <p:nvPr/>
        </p:nvSpPr>
        <p:spPr>
          <a:xfrm>
            <a:off x="5003906" y="3586910"/>
            <a:ext cx="792000" cy="216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7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</a:t>
            </a:r>
            <a:endParaRPr lang="ko-KR" altLang="en-US" sz="70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02" name="직사각형 701">
            <a:extLst>
              <a:ext uri="{FF2B5EF4-FFF2-40B4-BE49-F238E27FC236}">
                <a16:creationId xmlns="" xmlns:a16="http://schemas.microsoft.com/office/drawing/2014/main" id="{6C46722B-A1C8-40C5-9355-BEF50DEEB2FE}"/>
              </a:ext>
            </a:extLst>
          </p:cNvPr>
          <p:cNvSpPr/>
          <p:nvPr/>
        </p:nvSpPr>
        <p:spPr>
          <a:xfrm>
            <a:off x="5795906" y="3372805"/>
            <a:ext cx="792000" cy="2160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70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기준 자동출고수량</a:t>
            </a:r>
          </a:p>
        </p:txBody>
      </p:sp>
      <p:sp>
        <p:nvSpPr>
          <p:cNvPr id="703" name="직사각형 702">
            <a:extLst>
              <a:ext uri="{FF2B5EF4-FFF2-40B4-BE49-F238E27FC236}">
                <a16:creationId xmlns="" xmlns:a16="http://schemas.microsoft.com/office/drawing/2014/main" id="{125A9445-0B2B-4F55-8AE2-07E57374FAAD}"/>
              </a:ext>
            </a:extLst>
          </p:cNvPr>
          <p:cNvSpPr/>
          <p:nvPr/>
        </p:nvSpPr>
        <p:spPr>
          <a:xfrm>
            <a:off x="5795906" y="3586910"/>
            <a:ext cx="792000" cy="216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7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0</a:t>
            </a:r>
            <a:endParaRPr lang="ko-KR" altLang="en-US" sz="70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704" name="직사각형 703">
            <a:extLst>
              <a:ext uri="{FF2B5EF4-FFF2-40B4-BE49-F238E27FC236}">
                <a16:creationId xmlns="" xmlns:a16="http://schemas.microsoft.com/office/drawing/2014/main" id="{A9090594-210F-4E03-B821-432BBB0030E9}"/>
              </a:ext>
            </a:extLst>
          </p:cNvPr>
          <p:cNvSpPr/>
          <p:nvPr/>
        </p:nvSpPr>
        <p:spPr>
          <a:xfrm>
            <a:off x="6587906" y="3372805"/>
            <a:ext cx="792000" cy="2160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70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최대허용 자동출고</a:t>
            </a:r>
          </a:p>
        </p:txBody>
      </p:sp>
      <p:sp>
        <p:nvSpPr>
          <p:cNvPr id="705" name="직사각형 704">
            <a:extLst>
              <a:ext uri="{FF2B5EF4-FFF2-40B4-BE49-F238E27FC236}">
                <a16:creationId xmlns="" xmlns:a16="http://schemas.microsoft.com/office/drawing/2014/main" id="{C2B96CB1-836B-48A8-AFA2-417DDACEDE0E}"/>
              </a:ext>
            </a:extLst>
          </p:cNvPr>
          <p:cNvSpPr/>
          <p:nvPr/>
        </p:nvSpPr>
        <p:spPr>
          <a:xfrm>
            <a:off x="6587906" y="3586910"/>
            <a:ext cx="792000" cy="216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7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0</a:t>
            </a:r>
            <a:endParaRPr lang="ko-KR" altLang="en-US" sz="70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706" name="직사각형 705">
            <a:extLst>
              <a:ext uri="{FF2B5EF4-FFF2-40B4-BE49-F238E27FC236}">
                <a16:creationId xmlns="" xmlns:a16="http://schemas.microsoft.com/office/drawing/2014/main" id="{A9090594-210F-4E03-B821-432BBB0030E9}"/>
              </a:ext>
            </a:extLst>
          </p:cNvPr>
          <p:cNvSpPr/>
          <p:nvPr/>
        </p:nvSpPr>
        <p:spPr>
          <a:xfrm>
            <a:off x="7379906" y="3372805"/>
            <a:ext cx="576000" cy="2160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70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매장등급</a:t>
            </a:r>
          </a:p>
        </p:txBody>
      </p:sp>
      <p:sp>
        <p:nvSpPr>
          <p:cNvPr id="707" name="직사각형 706">
            <a:extLst>
              <a:ext uri="{FF2B5EF4-FFF2-40B4-BE49-F238E27FC236}">
                <a16:creationId xmlns="" xmlns:a16="http://schemas.microsoft.com/office/drawing/2014/main" id="{C2B96CB1-836B-48A8-AFA2-417DDACEDE0E}"/>
              </a:ext>
            </a:extLst>
          </p:cNvPr>
          <p:cNvSpPr/>
          <p:nvPr/>
        </p:nvSpPr>
        <p:spPr>
          <a:xfrm>
            <a:off x="7379906" y="3586910"/>
            <a:ext cx="576000" cy="216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7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A</a:t>
            </a:r>
            <a:endParaRPr lang="ko-KR" altLang="en-US" sz="70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708" name="직사각형 707">
            <a:extLst>
              <a:ext uri="{FF2B5EF4-FFF2-40B4-BE49-F238E27FC236}">
                <a16:creationId xmlns="" xmlns:a16="http://schemas.microsoft.com/office/drawing/2014/main" id="{A9090594-210F-4E03-B821-432BBB0030E9}"/>
              </a:ext>
            </a:extLst>
          </p:cNvPr>
          <p:cNvSpPr/>
          <p:nvPr/>
        </p:nvSpPr>
        <p:spPr>
          <a:xfrm>
            <a:off x="7955906" y="3372805"/>
            <a:ext cx="576000" cy="2160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70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우선순위</a:t>
            </a:r>
          </a:p>
        </p:txBody>
      </p:sp>
      <p:sp>
        <p:nvSpPr>
          <p:cNvPr id="709" name="직사각형 708">
            <a:extLst>
              <a:ext uri="{FF2B5EF4-FFF2-40B4-BE49-F238E27FC236}">
                <a16:creationId xmlns="" xmlns:a16="http://schemas.microsoft.com/office/drawing/2014/main" id="{C2B96CB1-836B-48A8-AFA2-417DDACEDE0E}"/>
              </a:ext>
            </a:extLst>
          </p:cNvPr>
          <p:cNvSpPr/>
          <p:nvPr/>
        </p:nvSpPr>
        <p:spPr>
          <a:xfrm>
            <a:off x="7955906" y="3586910"/>
            <a:ext cx="576000" cy="216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7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102</a:t>
            </a:r>
            <a:endParaRPr lang="ko-KR" altLang="en-US" sz="70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10" name="직사각형 709">
            <a:extLst>
              <a:ext uri="{FF2B5EF4-FFF2-40B4-BE49-F238E27FC236}">
                <a16:creationId xmlns="" xmlns:a16="http://schemas.microsoft.com/office/drawing/2014/main" id="{A9090594-210F-4E03-B821-432BBB0030E9}"/>
              </a:ext>
            </a:extLst>
          </p:cNvPr>
          <p:cNvSpPr/>
          <p:nvPr/>
        </p:nvSpPr>
        <p:spPr>
          <a:xfrm>
            <a:off x="8531906" y="3372805"/>
            <a:ext cx="684000" cy="2160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70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송장출력형태</a:t>
            </a:r>
          </a:p>
        </p:txBody>
      </p:sp>
      <p:sp>
        <p:nvSpPr>
          <p:cNvPr id="711" name="직사각형 710">
            <a:extLst>
              <a:ext uri="{FF2B5EF4-FFF2-40B4-BE49-F238E27FC236}">
                <a16:creationId xmlns="" xmlns:a16="http://schemas.microsoft.com/office/drawing/2014/main" id="{C2B96CB1-836B-48A8-AFA2-417DDACEDE0E}"/>
              </a:ext>
            </a:extLst>
          </p:cNvPr>
          <p:cNvSpPr/>
          <p:nvPr/>
        </p:nvSpPr>
        <p:spPr>
          <a:xfrm>
            <a:off x="8531906" y="3586910"/>
            <a:ext cx="684000" cy="216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7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일반연속출력</a:t>
            </a:r>
            <a:endParaRPr lang="ko-KR" altLang="en-US" sz="70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16" name="직사각형 715">
            <a:extLst>
              <a:ext uri="{FF2B5EF4-FFF2-40B4-BE49-F238E27FC236}">
                <a16:creationId xmlns="" xmlns:a16="http://schemas.microsoft.com/office/drawing/2014/main" id="{A9090594-210F-4E03-B821-432BBB0030E9}"/>
              </a:ext>
            </a:extLst>
          </p:cNvPr>
          <p:cNvSpPr/>
          <p:nvPr/>
        </p:nvSpPr>
        <p:spPr>
          <a:xfrm>
            <a:off x="9215906" y="3372805"/>
            <a:ext cx="144000" cy="2160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70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…</a:t>
            </a:r>
            <a:endParaRPr lang="ko-KR" altLang="en-US" sz="70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17" name="직사각형 716">
            <a:extLst>
              <a:ext uri="{FF2B5EF4-FFF2-40B4-BE49-F238E27FC236}">
                <a16:creationId xmlns="" xmlns:a16="http://schemas.microsoft.com/office/drawing/2014/main" id="{C2B96CB1-836B-48A8-AFA2-417DDACEDE0E}"/>
              </a:ext>
            </a:extLst>
          </p:cNvPr>
          <p:cNvSpPr/>
          <p:nvPr/>
        </p:nvSpPr>
        <p:spPr>
          <a:xfrm>
            <a:off x="9215906" y="3586910"/>
            <a:ext cx="144000" cy="216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7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…</a:t>
            </a:r>
            <a:endParaRPr lang="ko-KR" altLang="en-US" sz="70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89" name="직사각형 688">
            <a:extLst>
              <a:ext uri="{FF2B5EF4-FFF2-40B4-BE49-F238E27FC236}">
                <a16:creationId xmlns="" xmlns:a16="http://schemas.microsoft.com/office/drawing/2014/main" id="{A9090594-210F-4E03-B821-432BBB0030E9}"/>
              </a:ext>
            </a:extLst>
          </p:cNvPr>
          <p:cNvSpPr/>
          <p:nvPr/>
        </p:nvSpPr>
        <p:spPr>
          <a:xfrm>
            <a:off x="1367906" y="3372805"/>
            <a:ext cx="540000" cy="2160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70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매장코드</a:t>
            </a:r>
          </a:p>
        </p:txBody>
      </p:sp>
      <p:sp>
        <p:nvSpPr>
          <p:cNvPr id="691" name="직사각형 690">
            <a:extLst>
              <a:ext uri="{FF2B5EF4-FFF2-40B4-BE49-F238E27FC236}">
                <a16:creationId xmlns="" xmlns:a16="http://schemas.microsoft.com/office/drawing/2014/main" id="{C2B96CB1-836B-48A8-AFA2-417DDACEDE0E}"/>
              </a:ext>
            </a:extLst>
          </p:cNvPr>
          <p:cNvSpPr/>
          <p:nvPr/>
        </p:nvSpPr>
        <p:spPr>
          <a:xfrm>
            <a:off x="1367906" y="3586910"/>
            <a:ext cx="540000" cy="216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700" u="sng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D942</a:t>
            </a:r>
            <a:endParaRPr lang="ko-KR" altLang="en-US" sz="700" u="sng">
              <a:solidFill>
                <a:srgbClr val="0070C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86" name="모서리가 둥근 직사각형 184">
            <a:extLst>
              <a:ext uri="{FF2B5EF4-FFF2-40B4-BE49-F238E27FC236}">
                <a16:creationId xmlns="" xmlns:a16="http://schemas.microsoft.com/office/drawing/2014/main" id="{7C4181B1-00DE-4B1A-9AF4-36726F2433BA}"/>
              </a:ext>
            </a:extLst>
          </p:cNvPr>
          <p:cNvSpPr/>
          <p:nvPr/>
        </p:nvSpPr>
        <p:spPr bwMode="auto">
          <a:xfrm>
            <a:off x="2339906" y="1771723"/>
            <a:ext cx="936000" cy="180000"/>
          </a:xfrm>
          <a:prstGeom prst="roundRect">
            <a:avLst/>
          </a:prstGeom>
          <a:solidFill>
            <a:srgbClr val="FFFFEF"/>
          </a:solidFill>
          <a:ln w="3175" cap="flat" cmpd="sng" algn="ctr">
            <a:solidFill>
              <a:schemeClr val="bg1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none" lIns="108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defTabSz="914400" fontAlgn="base" latinLnBrk="0">
              <a:spcBef>
                <a:spcPct val="0"/>
              </a:spcBef>
              <a:spcAft>
                <a:spcPct val="0"/>
              </a:spcAft>
            </a:pPr>
            <a:endParaRPr kumimoji="1" lang="ko-KR" altLang="en-US" sz="700" b="0" i="0" u="none" strike="noStrike" kern="0" cap="none" spc="0" normalizeH="0" baseline="0" noProof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87" name="모서리가 둥근 직사각형 184">
            <a:extLst>
              <a:ext uri="{FF2B5EF4-FFF2-40B4-BE49-F238E27FC236}">
                <a16:creationId xmlns="" xmlns:a16="http://schemas.microsoft.com/office/drawing/2014/main" id="{7C4181B1-00DE-4B1A-9AF4-36726F2433BA}"/>
              </a:ext>
            </a:extLst>
          </p:cNvPr>
          <p:cNvSpPr/>
          <p:nvPr/>
        </p:nvSpPr>
        <p:spPr bwMode="auto">
          <a:xfrm>
            <a:off x="4319422" y="1771723"/>
            <a:ext cx="936000" cy="180000"/>
          </a:xfrm>
          <a:prstGeom prst="roundRect">
            <a:avLst/>
          </a:prstGeom>
          <a:solidFill>
            <a:srgbClr val="FFFFEF"/>
          </a:solidFill>
          <a:ln w="3175" cap="flat" cmpd="sng" algn="ctr">
            <a:solidFill>
              <a:schemeClr val="bg1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none" lIns="108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defTabSz="914400" fontAlgn="base" latinLnBrk="0">
              <a:spcBef>
                <a:spcPct val="0"/>
              </a:spcBef>
              <a:spcAft>
                <a:spcPct val="0"/>
              </a:spcAft>
            </a:pPr>
            <a:endParaRPr kumimoji="1" lang="ko-KR" altLang="en-US" sz="700" b="0" i="0" u="none" strike="noStrike" kern="0" cap="none" spc="0" normalizeH="0" baseline="0" noProof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90" name="직사각형 289">
            <a:extLst>
              <a:ext uri="{FF2B5EF4-FFF2-40B4-BE49-F238E27FC236}">
                <a16:creationId xmlns="" xmlns:a16="http://schemas.microsoft.com/office/drawing/2014/main" id="{C3CBC899-E192-4597-B3EF-23483E494D33}"/>
              </a:ext>
            </a:extLst>
          </p:cNvPr>
          <p:cNvSpPr/>
          <p:nvPr/>
        </p:nvSpPr>
        <p:spPr>
          <a:xfrm>
            <a:off x="3347492" y="2004119"/>
            <a:ext cx="900000" cy="288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36000" rIns="108000" bIns="36000" rtlCol="0" anchor="ctr"/>
          <a:lstStyle/>
          <a:p>
            <a:r>
              <a:rPr lang="ko-KR" altLang="en-US" sz="7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사용여부</a:t>
            </a:r>
            <a:endParaRPr lang="ko-KR" altLang="en-US" sz="7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91" name="직사각형 290">
            <a:extLst>
              <a:ext uri="{FF2B5EF4-FFF2-40B4-BE49-F238E27FC236}">
                <a16:creationId xmlns="" xmlns:a16="http://schemas.microsoft.com/office/drawing/2014/main" id="{C8E8B8B5-F2A9-4F2D-8F41-E83BE71E8F5A}"/>
              </a:ext>
            </a:extLst>
          </p:cNvPr>
          <p:cNvSpPr/>
          <p:nvPr/>
        </p:nvSpPr>
        <p:spPr>
          <a:xfrm>
            <a:off x="4247355" y="2004119"/>
            <a:ext cx="1116000" cy="288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36000" rIns="108000" bIns="36000" rtlCol="0" anchor="ctr"/>
          <a:lstStyle/>
          <a:p>
            <a:endParaRPr lang="ko-KR" altLang="en-US" sz="80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92" name="사각형: 둥근 모서리 393">
            <a:extLst>
              <a:ext uri="{FF2B5EF4-FFF2-40B4-BE49-F238E27FC236}">
                <a16:creationId xmlns="" xmlns:a16="http://schemas.microsoft.com/office/drawing/2014/main" id="{290E9852-4338-4EEA-B9C3-64E5DDED0B7A}"/>
              </a:ext>
            </a:extLst>
          </p:cNvPr>
          <p:cNvSpPr/>
          <p:nvPr/>
        </p:nvSpPr>
        <p:spPr bwMode="auto">
          <a:xfrm>
            <a:off x="4319492" y="2076120"/>
            <a:ext cx="144000" cy="144000"/>
          </a:xfrm>
          <a:prstGeom prst="ellipse">
            <a:avLst/>
          </a:prstGeom>
          <a:solidFill>
            <a:schemeClr val="bg1"/>
          </a:solidFill>
          <a:ln w="3175" cap="flat" cmpd="sng" algn="ctr">
            <a:solidFill>
              <a:schemeClr val="bg1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>
            <a:innerShdw blurRad="12700" dist="12700" dir="13500000">
              <a:schemeClr val="tx1">
                <a:lumMod val="75000"/>
                <a:lumOff val="25000"/>
                <a:alpha val="30000"/>
              </a:schemeClr>
            </a:innerShdw>
          </a:effectLst>
        </p:spPr>
        <p:txBody>
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fontAlgn="base" latinLnBrk="0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600" kern="0">
                <a:solidFill>
                  <a:srgbClr val="C00000"/>
                </a:solidFill>
                <a:latin typeface="맑은 고딕" panose="020B0503020000020004" pitchFamily="50" charset="-127"/>
              </a:rPr>
              <a:t>●</a:t>
            </a:r>
          </a:p>
        </p:txBody>
      </p:sp>
      <p:sp>
        <p:nvSpPr>
          <p:cNvPr id="293" name="TextBox 292">
            <a:extLst>
              <a:ext uri="{FF2B5EF4-FFF2-40B4-BE49-F238E27FC236}">
                <a16:creationId xmlns="" xmlns:a16="http://schemas.microsoft.com/office/drawing/2014/main" id="{371DEE5A-1B36-43FA-89E6-F3BCF143BE9F}"/>
              </a:ext>
            </a:extLst>
          </p:cNvPr>
          <p:cNvSpPr txBox="1"/>
          <p:nvPr/>
        </p:nvSpPr>
        <p:spPr>
          <a:xfrm>
            <a:off x="4463492" y="2057907"/>
            <a:ext cx="252239" cy="180425"/>
          </a:xfrm>
          <a:prstGeom prst="rect">
            <a:avLst/>
          </a:prstGeom>
          <a:noFill/>
          <a:ln w="317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36000" tIns="36000" rIns="36000" bIns="36000" numCol="1" rtlCol="0" anchor="ctr" anchorCtr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ko-KR" altLang="en-US" sz="70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전체</a:t>
            </a:r>
          </a:p>
        </p:txBody>
      </p:sp>
      <p:sp>
        <p:nvSpPr>
          <p:cNvPr id="294" name="사각형: 둥근 모서리 393">
            <a:extLst>
              <a:ext uri="{FF2B5EF4-FFF2-40B4-BE49-F238E27FC236}">
                <a16:creationId xmlns="" xmlns:a16="http://schemas.microsoft.com/office/drawing/2014/main" id="{290E9852-4338-4EEA-B9C3-64E5DDED0B7A}"/>
              </a:ext>
            </a:extLst>
          </p:cNvPr>
          <p:cNvSpPr/>
          <p:nvPr/>
        </p:nvSpPr>
        <p:spPr bwMode="auto">
          <a:xfrm>
            <a:off x="4787771" y="2076120"/>
            <a:ext cx="144000" cy="144000"/>
          </a:xfrm>
          <a:prstGeom prst="ellipse">
            <a:avLst/>
          </a:prstGeom>
          <a:solidFill>
            <a:schemeClr val="bg1"/>
          </a:solidFill>
          <a:ln w="3175" cap="flat" cmpd="sng" algn="ctr">
            <a:solidFill>
              <a:schemeClr val="bg1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>
            <a:innerShdw blurRad="12700" dist="12700" dir="13500000">
              <a:schemeClr val="tx1">
                <a:lumMod val="75000"/>
                <a:lumOff val="25000"/>
                <a:alpha val="30000"/>
              </a:schemeClr>
            </a:innerShdw>
          </a:effectLst>
        </p:spPr>
        <p:txBody>
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fontAlgn="base" latinLnBrk="0">
              <a:spcBef>
                <a:spcPct val="0"/>
              </a:spcBef>
              <a:spcAft>
                <a:spcPct val="0"/>
              </a:spcAft>
            </a:pPr>
            <a:endParaRPr kumimoji="1" lang="ko-KR" altLang="en-US" sz="800" b="1" kern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95" name="TextBox 294">
            <a:extLst>
              <a:ext uri="{FF2B5EF4-FFF2-40B4-BE49-F238E27FC236}">
                <a16:creationId xmlns="" xmlns:a16="http://schemas.microsoft.com/office/drawing/2014/main" id="{371DEE5A-1B36-43FA-89E6-F3BCF143BE9F}"/>
              </a:ext>
            </a:extLst>
          </p:cNvPr>
          <p:cNvSpPr txBox="1"/>
          <p:nvPr/>
        </p:nvSpPr>
        <p:spPr>
          <a:xfrm>
            <a:off x="4931771" y="2057907"/>
            <a:ext cx="123999" cy="180425"/>
          </a:xfrm>
          <a:prstGeom prst="rect">
            <a:avLst/>
          </a:prstGeom>
          <a:noFill/>
          <a:ln w="317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36000" tIns="36000" rIns="36000" bIns="36000" numCol="1" rtlCol="0" anchor="ctr" anchorCtr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altLang="ko-KR" sz="70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Y</a:t>
            </a:r>
            <a:endParaRPr lang="ko-KR" altLang="en-US" sz="70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</p:txBody>
      </p:sp>
      <p:sp>
        <p:nvSpPr>
          <p:cNvPr id="296" name="사각형: 둥근 모서리 393">
            <a:extLst>
              <a:ext uri="{FF2B5EF4-FFF2-40B4-BE49-F238E27FC236}">
                <a16:creationId xmlns="" xmlns:a16="http://schemas.microsoft.com/office/drawing/2014/main" id="{290E9852-4338-4EEA-B9C3-64E5DDED0B7A}"/>
              </a:ext>
            </a:extLst>
          </p:cNvPr>
          <p:cNvSpPr/>
          <p:nvPr/>
        </p:nvSpPr>
        <p:spPr bwMode="auto">
          <a:xfrm>
            <a:off x="5130467" y="2076120"/>
            <a:ext cx="144000" cy="144000"/>
          </a:xfrm>
          <a:prstGeom prst="ellipse">
            <a:avLst/>
          </a:prstGeom>
          <a:solidFill>
            <a:schemeClr val="bg1"/>
          </a:solidFill>
          <a:ln w="3175" cap="flat" cmpd="sng" algn="ctr">
            <a:solidFill>
              <a:schemeClr val="bg1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>
            <a:innerShdw blurRad="12700" dist="12700" dir="13500000">
              <a:schemeClr val="tx1">
                <a:lumMod val="75000"/>
                <a:lumOff val="25000"/>
                <a:alpha val="30000"/>
              </a:schemeClr>
            </a:innerShdw>
          </a:effectLst>
        </p:spPr>
        <p:txBody>
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fontAlgn="base" latinLnBrk="0">
              <a:spcBef>
                <a:spcPct val="0"/>
              </a:spcBef>
              <a:spcAft>
                <a:spcPct val="0"/>
              </a:spcAft>
            </a:pPr>
            <a:endParaRPr kumimoji="1" lang="ko-KR" altLang="en-US" sz="800" b="1" kern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97" name="TextBox 296">
            <a:extLst>
              <a:ext uri="{FF2B5EF4-FFF2-40B4-BE49-F238E27FC236}">
                <a16:creationId xmlns="" xmlns:a16="http://schemas.microsoft.com/office/drawing/2014/main" id="{371DEE5A-1B36-43FA-89E6-F3BCF143BE9F}"/>
              </a:ext>
            </a:extLst>
          </p:cNvPr>
          <p:cNvSpPr txBox="1"/>
          <p:nvPr/>
        </p:nvSpPr>
        <p:spPr>
          <a:xfrm>
            <a:off x="5274467" y="2057907"/>
            <a:ext cx="141633" cy="180425"/>
          </a:xfrm>
          <a:prstGeom prst="rect">
            <a:avLst/>
          </a:prstGeom>
          <a:noFill/>
          <a:ln w="317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36000" tIns="36000" rIns="36000" bIns="36000" numCol="1" rtlCol="0" anchor="ctr" anchorCtr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altLang="ko-KR" sz="7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N</a:t>
            </a:r>
            <a:endParaRPr lang="ko-KR" altLang="en-US" sz="70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</p:txBody>
      </p:sp>
      <p:grpSp>
        <p:nvGrpSpPr>
          <p:cNvPr id="301" name="그룹 300"/>
          <p:cNvGrpSpPr/>
          <p:nvPr/>
        </p:nvGrpSpPr>
        <p:grpSpPr>
          <a:xfrm>
            <a:off x="6336805" y="1771723"/>
            <a:ext cx="936000" cy="180000"/>
            <a:chOff x="8314594" y="1771723"/>
            <a:chExt cx="936000" cy="180000"/>
          </a:xfrm>
        </p:grpSpPr>
        <p:sp>
          <p:nvSpPr>
            <p:cNvPr id="302" name="모서리가 둥근 직사각형 139">
              <a:extLst>
                <a:ext uri="{FF2B5EF4-FFF2-40B4-BE49-F238E27FC236}">
                  <a16:creationId xmlns="" xmlns:a16="http://schemas.microsoft.com/office/drawing/2014/main" id="{D20B2316-7950-45D5-A329-DFCDAA416345}"/>
                </a:ext>
              </a:extLst>
            </p:cNvPr>
            <p:cNvSpPr/>
            <p:nvPr/>
          </p:nvSpPr>
          <p:spPr bwMode="auto">
            <a:xfrm>
              <a:off x="8314594" y="1771723"/>
              <a:ext cx="936000" cy="180000"/>
            </a:xfrm>
            <a:prstGeom prst="roundRect">
              <a:avLst/>
            </a:prstGeom>
            <a:solidFill>
              <a:schemeClr val="bg1"/>
            </a:solidFill>
            <a:ln w="3175" cap="flat" cmpd="sng" algn="ctr">
              <a:solidFill>
                <a:schemeClr val="bg1">
                  <a:lumMod val="7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none" lIns="108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fontAlgn="base" latinLnBrk="0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ko-KR" sz="700" kern="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[</a:t>
              </a:r>
              <a:r>
                <a:rPr kumimoji="1" lang="ko-KR" altLang="en-US" sz="700" kern="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전체</a:t>
              </a:r>
              <a:r>
                <a:rPr kumimoji="1" lang="en-US" altLang="ko-KR" sz="700" kern="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]</a:t>
              </a:r>
              <a:endParaRPr kumimoji="1" lang="ko-KR" altLang="en-US" sz="700" kern="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endParaRPr>
            </a:p>
          </p:txBody>
        </p:sp>
        <p:sp>
          <p:nvSpPr>
            <p:cNvPr id="303" name="모서리가 둥근 직사각형 141">
              <a:extLst>
                <a:ext uri="{FF2B5EF4-FFF2-40B4-BE49-F238E27FC236}">
                  <a16:creationId xmlns="" xmlns:a16="http://schemas.microsoft.com/office/drawing/2014/main" id="{9D3BF834-DC28-4D1A-B5CB-ED60EA5C7751}"/>
                </a:ext>
              </a:extLst>
            </p:cNvPr>
            <p:cNvSpPr/>
            <p:nvPr/>
          </p:nvSpPr>
          <p:spPr bwMode="auto">
            <a:xfrm>
              <a:off x="9070594" y="1771723"/>
              <a:ext cx="180000" cy="180000"/>
            </a:xfrm>
            <a:prstGeom prst="roundRect">
              <a:avLst/>
            </a:prstGeom>
            <a:solidFill>
              <a:schemeClr val="bg1"/>
            </a:solidFill>
            <a:ln w="3175" cap="flat" cmpd="sng" algn="ctr">
              <a:solidFill>
                <a:schemeClr val="bg1">
                  <a:lumMod val="7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none" lIns="36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fontAlgn="base" latinLnBrk="0">
                <a:spcBef>
                  <a:spcPct val="0"/>
                </a:spcBef>
                <a:spcAft>
                  <a:spcPct val="0"/>
                </a:spcAft>
              </a:pPr>
              <a:r>
                <a:rPr kumimoji="1" lang="ko-KR" altLang="en-US" sz="700" kern="0" dirty="0">
                  <a:solidFill>
                    <a:srgbClr val="000000"/>
                  </a:solidFill>
                  <a:latin typeface="+mn-ea"/>
                </a:rPr>
                <a:t>▼</a:t>
              </a:r>
            </a:p>
          </p:txBody>
        </p:sp>
      </p:grpSp>
      <p:grpSp>
        <p:nvGrpSpPr>
          <p:cNvPr id="6" name="그룹 5"/>
          <p:cNvGrpSpPr/>
          <p:nvPr/>
        </p:nvGrpSpPr>
        <p:grpSpPr>
          <a:xfrm>
            <a:off x="6335490" y="2057907"/>
            <a:ext cx="1096608" cy="180425"/>
            <a:chOff x="7164942" y="2057907"/>
            <a:chExt cx="1096608" cy="180425"/>
          </a:xfrm>
        </p:grpSpPr>
        <p:sp>
          <p:nvSpPr>
            <p:cNvPr id="305" name="사각형: 둥근 모서리 393">
              <a:extLst>
                <a:ext uri="{FF2B5EF4-FFF2-40B4-BE49-F238E27FC236}">
                  <a16:creationId xmlns="" xmlns:a16="http://schemas.microsoft.com/office/drawing/2014/main" id="{290E9852-4338-4EEA-B9C3-64E5DDED0B7A}"/>
                </a:ext>
              </a:extLst>
            </p:cNvPr>
            <p:cNvSpPr/>
            <p:nvPr/>
          </p:nvSpPr>
          <p:spPr bwMode="auto">
            <a:xfrm>
              <a:off x="7164942" y="2076120"/>
              <a:ext cx="144000" cy="144000"/>
            </a:xfrm>
            <a:prstGeom prst="ellipse">
              <a:avLst/>
            </a:prstGeom>
            <a:solidFill>
              <a:schemeClr val="bg1"/>
            </a:solidFill>
            <a:ln w="3175" cap="flat" cmpd="sng" algn="ctr">
              <a:solidFill>
                <a:schemeClr val="bg1">
                  <a:lumMod val="7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>
              <a:innerShdw blurRad="12700" dist="12700" dir="13500000">
                <a:schemeClr val="tx1">
                  <a:lumMod val="75000"/>
                  <a:lumOff val="25000"/>
                  <a:alpha val="30000"/>
                </a:schemeClr>
              </a:innerShdw>
            </a:effectLst>
          </p:spPr>
          <p:txBody>
  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fontAlgn="base" latinLnBrk="0">
                <a:spcBef>
                  <a:spcPct val="0"/>
                </a:spcBef>
                <a:spcAft>
                  <a:spcPct val="0"/>
                </a:spcAft>
              </a:pPr>
              <a:r>
                <a:rPr kumimoji="1" lang="ko-KR" altLang="en-US" sz="600" kern="0">
                  <a:solidFill>
                    <a:srgbClr val="C00000"/>
                  </a:solidFill>
                  <a:latin typeface="맑은 고딕" panose="020B0503020000020004" pitchFamily="50" charset="-127"/>
                </a:rPr>
                <a:t>●</a:t>
              </a:r>
            </a:p>
          </p:txBody>
        </p:sp>
        <p:sp>
          <p:nvSpPr>
            <p:cNvPr id="306" name="TextBox 305">
              <a:extLst>
                <a:ext uri="{FF2B5EF4-FFF2-40B4-BE49-F238E27FC236}">
                  <a16:creationId xmlns="" xmlns:a16="http://schemas.microsoft.com/office/drawing/2014/main" id="{371DEE5A-1B36-43FA-89E6-F3BCF143BE9F}"/>
                </a:ext>
              </a:extLst>
            </p:cNvPr>
            <p:cNvSpPr txBox="1"/>
            <p:nvPr/>
          </p:nvSpPr>
          <p:spPr>
            <a:xfrm>
              <a:off x="7308942" y="2057907"/>
              <a:ext cx="252239" cy="180425"/>
            </a:xfrm>
            <a:prstGeom prst="rect">
              <a:avLst/>
            </a:prstGeom>
            <a:noFill/>
            <a:ln w="3175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none" lIns="36000" tIns="36000" rIns="36000" bIns="36000" numCol="1" rtlCol="0" anchor="ctr" anchorCtr="0" compatLnSpc="1">
              <a:prstTxWarp prst="textNoShape">
                <a:avLst/>
              </a:prstTxWarp>
              <a:spAutoFit/>
            </a:bodyPr>
            <a:lstStyle/>
            <a:p>
              <a:pPr algn="l"/>
              <a:r>
                <a:rPr lang="ko-KR" altLang="en-US" sz="7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전체</a:t>
              </a:r>
            </a:p>
          </p:txBody>
        </p:sp>
        <p:sp>
          <p:nvSpPr>
            <p:cNvPr id="307" name="사각형: 둥근 모서리 393">
              <a:extLst>
                <a:ext uri="{FF2B5EF4-FFF2-40B4-BE49-F238E27FC236}">
                  <a16:creationId xmlns="" xmlns:a16="http://schemas.microsoft.com/office/drawing/2014/main" id="{290E9852-4338-4EEA-B9C3-64E5DDED0B7A}"/>
                </a:ext>
              </a:extLst>
            </p:cNvPr>
            <p:cNvSpPr/>
            <p:nvPr/>
          </p:nvSpPr>
          <p:spPr bwMode="auto">
            <a:xfrm>
              <a:off x="7633221" y="2076120"/>
              <a:ext cx="144000" cy="144000"/>
            </a:xfrm>
            <a:prstGeom prst="ellipse">
              <a:avLst/>
            </a:prstGeom>
            <a:solidFill>
              <a:schemeClr val="bg1"/>
            </a:solidFill>
            <a:ln w="3175" cap="flat" cmpd="sng" algn="ctr">
              <a:solidFill>
                <a:schemeClr val="bg1">
                  <a:lumMod val="7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>
              <a:innerShdw blurRad="12700" dist="12700" dir="13500000">
                <a:schemeClr val="tx1">
                  <a:lumMod val="75000"/>
                  <a:lumOff val="25000"/>
                  <a:alpha val="30000"/>
                </a:schemeClr>
              </a:innerShdw>
            </a:effectLst>
          </p:spPr>
          <p:txBody>
  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fontAlgn="base" latinLnBrk="0">
                <a:spcBef>
                  <a:spcPct val="0"/>
                </a:spcBef>
                <a:spcAft>
                  <a:spcPct val="0"/>
                </a:spcAft>
              </a:pPr>
              <a:endParaRPr kumimoji="1" lang="ko-KR" altLang="en-US" sz="800" b="1" ker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308" name="TextBox 307">
              <a:extLst>
                <a:ext uri="{FF2B5EF4-FFF2-40B4-BE49-F238E27FC236}">
                  <a16:creationId xmlns="" xmlns:a16="http://schemas.microsoft.com/office/drawing/2014/main" id="{371DEE5A-1B36-43FA-89E6-F3BCF143BE9F}"/>
                </a:ext>
              </a:extLst>
            </p:cNvPr>
            <p:cNvSpPr txBox="1"/>
            <p:nvPr/>
          </p:nvSpPr>
          <p:spPr>
            <a:xfrm>
              <a:off x="7777221" y="2057907"/>
              <a:ext cx="123999" cy="180425"/>
            </a:xfrm>
            <a:prstGeom prst="rect">
              <a:avLst/>
            </a:prstGeom>
            <a:noFill/>
            <a:ln w="3175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none" lIns="36000" tIns="36000" rIns="36000" bIns="36000" numCol="1" rtlCol="0" anchor="ctr" anchorCtr="0" compatLnSpc="1">
              <a:prstTxWarp prst="textNoShape">
                <a:avLst/>
              </a:prstTxWarp>
              <a:spAutoFit/>
            </a:bodyPr>
            <a:lstStyle/>
            <a:p>
              <a:pPr algn="l"/>
              <a:r>
                <a:rPr lang="en-US" altLang="ko-KR" sz="7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Y</a:t>
              </a:r>
              <a:endParaRPr lang="ko-KR" altLang="en-US" sz="70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endParaRPr>
            </a:p>
          </p:txBody>
        </p:sp>
        <p:sp>
          <p:nvSpPr>
            <p:cNvPr id="309" name="사각형: 둥근 모서리 393">
              <a:extLst>
                <a:ext uri="{FF2B5EF4-FFF2-40B4-BE49-F238E27FC236}">
                  <a16:creationId xmlns="" xmlns:a16="http://schemas.microsoft.com/office/drawing/2014/main" id="{290E9852-4338-4EEA-B9C3-64E5DDED0B7A}"/>
                </a:ext>
              </a:extLst>
            </p:cNvPr>
            <p:cNvSpPr/>
            <p:nvPr/>
          </p:nvSpPr>
          <p:spPr bwMode="auto">
            <a:xfrm>
              <a:off x="7975917" y="2076120"/>
              <a:ext cx="144000" cy="144000"/>
            </a:xfrm>
            <a:prstGeom prst="ellipse">
              <a:avLst/>
            </a:prstGeom>
            <a:solidFill>
              <a:schemeClr val="bg1"/>
            </a:solidFill>
            <a:ln w="3175" cap="flat" cmpd="sng" algn="ctr">
              <a:solidFill>
                <a:schemeClr val="bg1">
                  <a:lumMod val="7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>
              <a:innerShdw blurRad="12700" dist="12700" dir="13500000">
                <a:schemeClr val="tx1">
                  <a:lumMod val="75000"/>
                  <a:lumOff val="25000"/>
                  <a:alpha val="30000"/>
                </a:schemeClr>
              </a:innerShdw>
            </a:effectLst>
          </p:spPr>
          <p:txBody>
  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fontAlgn="base" latinLnBrk="0">
                <a:spcBef>
                  <a:spcPct val="0"/>
                </a:spcBef>
                <a:spcAft>
                  <a:spcPct val="0"/>
                </a:spcAft>
              </a:pPr>
              <a:endParaRPr kumimoji="1" lang="ko-KR" altLang="en-US" sz="800" b="1" ker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310" name="TextBox 309">
              <a:extLst>
                <a:ext uri="{FF2B5EF4-FFF2-40B4-BE49-F238E27FC236}">
                  <a16:creationId xmlns="" xmlns:a16="http://schemas.microsoft.com/office/drawing/2014/main" id="{371DEE5A-1B36-43FA-89E6-F3BCF143BE9F}"/>
                </a:ext>
              </a:extLst>
            </p:cNvPr>
            <p:cNvSpPr txBox="1"/>
            <p:nvPr/>
          </p:nvSpPr>
          <p:spPr>
            <a:xfrm>
              <a:off x="8119917" y="2057907"/>
              <a:ext cx="141633" cy="180425"/>
            </a:xfrm>
            <a:prstGeom prst="rect">
              <a:avLst/>
            </a:prstGeom>
            <a:noFill/>
            <a:ln w="3175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none" lIns="36000" tIns="36000" rIns="36000" bIns="36000" numCol="1" rtlCol="0" anchor="ctr" anchorCtr="0" compatLnSpc="1">
              <a:prstTxWarp prst="textNoShape">
                <a:avLst/>
              </a:prstTxWarp>
              <a:spAutoFit/>
            </a:bodyPr>
            <a:lstStyle/>
            <a:p>
              <a:pPr algn="l"/>
              <a:r>
                <a:rPr lang="en-US" altLang="ko-KR" sz="70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N</a:t>
              </a:r>
              <a:endParaRPr lang="ko-KR" altLang="en-US" sz="70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endParaRPr>
            </a:p>
          </p:txBody>
        </p:sp>
      </p:grpSp>
      <p:cxnSp>
        <p:nvCxnSpPr>
          <p:cNvPr id="673" name="직선 연결선 672">
            <a:extLst>
              <a:ext uri="{FF2B5EF4-FFF2-40B4-BE49-F238E27FC236}">
                <a16:creationId xmlns="" xmlns:a16="http://schemas.microsoft.com/office/drawing/2014/main" id="{B5201B55-6C75-4C21-B4D8-E575C02D8E94}"/>
              </a:ext>
            </a:extLst>
          </p:cNvPr>
          <p:cNvCxnSpPr>
            <a:cxnSpLocks/>
          </p:cNvCxnSpPr>
          <p:nvPr/>
        </p:nvCxnSpPr>
        <p:spPr>
          <a:xfrm>
            <a:off x="1366455" y="2292420"/>
            <a:ext cx="7992000" cy="0"/>
          </a:xfrm>
          <a:prstGeom prst="line">
            <a:avLst/>
          </a:prstGeom>
          <a:ln w="63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4" name="직사각형 323">
            <a:extLst>
              <a:ext uri="{FF2B5EF4-FFF2-40B4-BE49-F238E27FC236}">
                <a16:creationId xmlns="" xmlns:a16="http://schemas.microsoft.com/office/drawing/2014/main" id="{C2B96CB1-836B-48A8-AFA2-417DDACEDE0E}"/>
              </a:ext>
            </a:extLst>
          </p:cNvPr>
          <p:cNvSpPr/>
          <p:nvPr/>
        </p:nvSpPr>
        <p:spPr>
          <a:xfrm>
            <a:off x="1907906" y="3802920"/>
            <a:ext cx="936000" cy="216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700" u="sng" smtClean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트윈타워종합</a:t>
            </a:r>
            <a:endParaRPr lang="ko-KR" altLang="en-US" sz="700" u="sng">
              <a:solidFill>
                <a:srgbClr val="0070C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25" name="직사각형 324">
            <a:extLst>
              <a:ext uri="{FF2B5EF4-FFF2-40B4-BE49-F238E27FC236}">
                <a16:creationId xmlns="" xmlns:a16="http://schemas.microsoft.com/office/drawing/2014/main" id="{125A9445-0B2B-4F55-8AE2-07E57374FAAD}"/>
              </a:ext>
            </a:extLst>
          </p:cNvPr>
          <p:cNvSpPr/>
          <p:nvPr/>
        </p:nvSpPr>
        <p:spPr>
          <a:xfrm>
            <a:off x="2843906" y="3802920"/>
            <a:ext cx="720000" cy="216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7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직영</a:t>
            </a:r>
            <a:endParaRPr lang="ko-KR" altLang="en-US" sz="70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26" name="직사각형 325">
            <a:extLst>
              <a:ext uri="{FF2B5EF4-FFF2-40B4-BE49-F238E27FC236}">
                <a16:creationId xmlns="" xmlns:a16="http://schemas.microsoft.com/office/drawing/2014/main" id="{C2B96CB1-836B-48A8-AFA2-417DDACEDE0E}"/>
              </a:ext>
            </a:extLst>
          </p:cNvPr>
          <p:cNvSpPr/>
          <p:nvPr/>
        </p:nvSpPr>
        <p:spPr>
          <a:xfrm>
            <a:off x="3563906" y="3802920"/>
            <a:ext cx="720000" cy="216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7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가두점</a:t>
            </a:r>
            <a:endParaRPr lang="ko-KR" altLang="en-US" sz="70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27" name="직사각형 326">
            <a:extLst>
              <a:ext uri="{FF2B5EF4-FFF2-40B4-BE49-F238E27FC236}">
                <a16:creationId xmlns="" xmlns:a16="http://schemas.microsoft.com/office/drawing/2014/main" id="{C2B96CB1-836B-48A8-AFA2-417DDACEDE0E}"/>
              </a:ext>
            </a:extLst>
          </p:cNvPr>
          <p:cNvSpPr/>
          <p:nvPr/>
        </p:nvSpPr>
        <p:spPr>
          <a:xfrm>
            <a:off x="4283906" y="3802920"/>
            <a:ext cx="720000" cy="216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7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정상매장</a:t>
            </a:r>
            <a:endParaRPr lang="ko-KR" altLang="en-US" sz="70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28" name="직사각형 327">
            <a:extLst>
              <a:ext uri="{FF2B5EF4-FFF2-40B4-BE49-F238E27FC236}">
                <a16:creationId xmlns="" xmlns:a16="http://schemas.microsoft.com/office/drawing/2014/main" id="{C2B96CB1-836B-48A8-AFA2-417DDACEDE0E}"/>
              </a:ext>
            </a:extLst>
          </p:cNvPr>
          <p:cNvSpPr/>
          <p:nvPr/>
        </p:nvSpPr>
        <p:spPr>
          <a:xfrm>
            <a:off x="5003906" y="3802920"/>
            <a:ext cx="792000" cy="216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7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</a:t>
            </a:r>
            <a:endParaRPr lang="ko-KR" altLang="en-US" sz="70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29" name="직사각형 328">
            <a:extLst>
              <a:ext uri="{FF2B5EF4-FFF2-40B4-BE49-F238E27FC236}">
                <a16:creationId xmlns="" xmlns:a16="http://schemas.microsoft.com/office/drawing/2014/main" id="{125A9445-0B2B-4F55-8AE2-07E57374FAAD}"/>
              </a:ext>
            </a:extLst>
          </p:cNvPr>
          <p:cNvSpPr/>
          <p:nvPr/>
        </p:nvSpPr>
        <p:spPr>
          <a:xfrm>
            <a:off x="5795906" y="3802920"/>
            <a:ext cx="792000" cy="216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7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0</a:t>
            </a:r>
            <a:endParaRPr lang="ko-KR" altLang="en-US" sz="70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330" name="직사각형 329">
            <a:extLst>
              <a:ext uri="{FF2B5EF4-FFF2-40B4-BE49-F238E27FC236}">
                <a16:creationId xmlns="" xmlns:a16="http://schemas.microsoft.com/office/drawing/2014/main" id="{C2B96CB1-836B-48A8-AFA2-417DDACEDE0E}"/>
              </a:ext>
            </a:extLst>
          </p:cNvPr>
          <p:cNvSpPr/>
          <p:nvPr/>
        </p:nvSpPr>
        <p:spPr>
          <a:xfrm>
            <a:off x="6587906" y="3802920"/>
            <a:ext cx="792000" cy="216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7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300</a:t>
            </a:r>
            <a:endParaRPr lang="ko-KR" altLang="en-US" sz="70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331" name="직사각형 330">
            <a:extLst>
              <a:ext uri="{FF2B5EF4-FFF2-40B4-BE49-F238E27FC236}">
                <a16:creationId xmlns="" xmlns:a16="http://schemas.microsoft.com/office/drawing/2014/main" id="{C2B96CB1-836B-48A8-AFA2-417DDACEDE0E}"/>
              </a:ext>
            </a:extLst>
          </p:cNvPr>
          <p:cNvSpPr/>
          <p:nvPr/>
        </p:nvSpPr>
        <p:spPr>
          <a:xfrm>
            <a:off x="7379906" y="3802920"/>
            <a:ext cx="576000" cy="216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7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B</a:t>
            </a:r>
            <a:endParaRPr lang="ko-KR" altLang="en-US" sz="70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333" name="직사각형 332">
            <a:extLst>
              <a:ext uri="{FF2B5EF4-FFF2-40B4-BE49-F238E27FC236}">
                <a16:creationId xmlns="" xmlns:a16="http://schemas.microsoft.com/office/drawing/2014/main" id="{C2B96CB1-836B-48A8-AFA2-417DDACEDE0E}"/>
              </a:ext>
            </a:extLst>
          </p:cNvPr>
          <p:cNvSpPr/>
          <p:nvPr/>
        </p:nvSpPr>
        <p:spPr>
          <a:xfrm>
            <a:off x="7955906" y="3802920"/>
            <a:ext cx="576000" cy="216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7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102</a:t>
            </a:r>
            <a:endParaRPr lang="ko-KR" altLang="en-US" sz="70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34" name="직사각형 333">
            <a:extLst>
              <a:ext uri="{FF2B5EF4-FFF2-40B4-BE49-F238E27FC236}">
                <a16:creationId xmlns="" xmlns:a16="http://schemas.microsoft.com/office/drawing/2014/main" id="{C2B96CB1-836B-48A8-AFA2-417DDACEDE0E}"/>
              </a:ext>
            </a:extLst>
          </p:cNvPr>
          <p:cNvSpPr/>
          <p:nvPr/>
        </p:nvSpPr>
        <p:spPr>
          <a:xfrm>
            <a:off x="8531906" y="3802920"/>
            <a:ext cx="684000" cy="216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7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일반연속출력</a:t>
            </a:r>
            <a:endParaRPr lang="ko-KR" altLang="en-US" sz="70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35" name="직사각형 334">
            <a:extLst>
              <a:ext uri="{FF2B5EF4-FFF2-40B4-BE49-F238E27FC236}">
                <a16:creationId xmlns="" xmlns:a16="http://schemas.microsoft.com/office/drawing/2014/main" id="{C2B96CB1-836B-48A8-AFA2-417DDACEDE0E}"/>
              </a:ext>
            </a:extLst>
          </p:cNvPr>
          <p:cNvSpPr/>
          <p:nvPr/>
        </p:nvSpPr>
        <p:spPr>
          <a:xfrm>
            <a:off x="9215906" y="3802920"/>
            <a:ext cx="144000" cy="216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7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…</a:t>
            </a:r>
            <a:endParaRPr lang="ko-KR" altLang="en-US" sz="70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36" name="직사각형 335">
            <a:extLst>
              <a:ext uri="{FF2B5EF4-FFF2-40B4-BE49-F238E27FC236}">
                <a16:creationId xmlns="" xmlns:a16="http://schemas.microsoft.com/office/drawing/2014/main" id="{C2B96CB1-836B-48A8-AFA2-417DDACEDE0E}"/>
              </a:ext>
            </a:extLst>
          </p:cNvPr>
          <p:cNvSpPr/>
          <p:nvPr/>
        </p:nvSpPr>
        <p:spPr>
          <a:xfrm>
            <a:off x="1367906" y="3802920"/>
            <a:ext cx="540000" cy="216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700" u="sng" smtClean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D624</a:t>
            </a:r>
            <a:endParaRPr lang="ko-KR" altLang="en-US" sz="700" u="sng">
              <a:solidFill>
                <a:srgbClr val="0070C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38" name="직사각형 337">
            <a:extLst>
              <a:ext uri="{FF2B5EF4-FFF2-40B4-BE49-F238E27FC236}">
                <a16:creationId xmlns="" xmlns:a16="http://schemas.microsoft.com/office/drawing/2014/main" id="{C2B96CB1-836B-48A8-AFA2-417DDACEDE0E}"/>
              </a:ext>
            </a:extLst>
          </p:cNvPr>
          <p:cNvSpPr/>
          <p:nvPr/>
        </p:nvSpPr>
        <p:spPr>
          <a:xfrm>
            <a:off x="1907906" y="4017015"/>
            <a:ext cx="936000" cy="216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700" u="sng" smtClean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문정</a:t>
            </a:r>
            <a:r>
              <a:rPr lang="en-US" altLang="ko-KR" sz="700" u="sng" smtClean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TNGT</a:t>
            </a:r>
            <a:endParaRPr lang="ko-KR" altLang="en-US" sz="700" u="sng">
              <a:solidFill>
                <a:srgbClr val="0070C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39" name="직사각형 338">
            <a:extLst>
              <a:ext uri="{FF2B5EF4-FFF2-40B4-BE49-F238E27FC236}">
                <a16:creationId xmlns="" xmlns:a16="http://schemas.microsoft.com/office/drawing/2014/main" id="{125A9445-0B2B-4F55-8AE2-07E57374FAAD}"/>
              </a:ext>
            </a:extLst>
          </p:cNvPr>
          <p:cNvSpPr/>
          <p:nvPr/>
        </p:nvSpPr>
        <p:spPr>
          <a:xfrm>
            <a:off x="2843906" y="4017015"/>
            <a:ext cx="720000" cy="216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7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직영</a:t>
            </a:r>
          </a:p>
        </p:txBody>
      </p:sp>
      <p:sp>
        <p:nvSpPr>
          <p:cNvPr id="340" name="직사각형 339">
            <a:extLst>
              <a:ext uri="{FF2B5EF4-FFF2-40B4-BE49-F238E27FC236}">
                <a16:creationId xmlns="" xmlns:a16="http://schemas.microsoft.com/office/drawing/2014/main" id="{C2B96CB1-836B-48A8-AFA2-417DDACEDE0E}"/>
              </a:ext>
            </a:extLst>
          </p:cNvPr>
          <p:cNvSpPr/>
          <p:nvPr/>
        </p:nvSpPr>
        <p:spPr>
          <a:xfrm>
            <a:off x="3563906" y="4017015"/>
            <a:ext cx="720000" cy="216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7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가두점</a:t>
            </a:r>
            <a:endParaRPr lang="ko-KR" altLang="en-US" sz="70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46" name="직사각형 345">
            <a:extLst>
              <a:ext uri="{FF2B5EF4-FFF2-40B4-BE49-F238E27FC236}">
                <a16:creationId xmlns="" xmlns:a16="http://schemas.microsoft.com/office/drawing/2014/main" id="{C2B96CB1-836B-48A8-AFA2-417DDACEDE0E}"/>
              </a:ext>
            </a:extLst>
          </p:cNvPr>
          <p:cNvSpPr/>
          <p:nvPr/>
        </p:nvSpPr>
        <p:spPr>
          <a:xfrm>
            <a:off x="4283906" y="4017015"/>
            <a:ext cx="720000" cy="216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7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정상매장</a:t>
            </a:r>
            <a:endParaRPr lang="ko-KR" altLang="en-US" sz="70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47" name="직사각형 346">
            <a:extLst>
              <a:ext uri="{FF2B5EF4-FFF2-40B4-BE49-F238E27FC236}">
                <a16:creationId xmlns="" xmlns:a16="http://schemas.microsoft.com/office/drawing/2014/main" id="{C2B96CB1-836B-48A8-AFA2-417DDACEDE0E}"/>
              </a:ext>
            </a:extLst>
          </p:cNvPr>
          <p:cNvSpPr/>
          <p:nvPr/>
        </p:nvSpPr>
        <p:spPr>
          <a:xfrm>
            <a:off x="5003906" y="4017015"/>
            <a:ext cx="792000" cy="216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7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30</a:t>
            </a:r>
            <a:endParaRPr lang="ko-KR" altLang="en-US" sz="70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48" name="직사각형 347">
            <a:extLst>
              <a:ext uri="{FF2B5EF4-FFF2-40B4-BE49-F238E27FC236}">
                <a16:creationId xmlns="" xmlns:a16="http://schemas.microsoft.com/office/drawing/2014/main" id="{125A9445-0B2B-4F55-8AE2-07E57374FAAD}"/>
              </a:ext>
            </a:extLst>
          </p:cNvPr>
          <p:cNvSpPr/>
          <p:nvPr/>
        </p:nvSpPr>
        <p:spPr>
          <a:xfrm>
            <a:off x="5795906" y="4017015"/>
            <a:ext cx="792000" cy="216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7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0</a:t>
            </a:r>
            <a:endParaRPr lang="ko-KR" altLang="en-US" sz="70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349" name="직사각형 348">
            <a:extLst>
              <a:ext uri="{FF2B5EF4-FFF2-40B4-BE49-F238E27FC236}">
                <a16:creationId xmlns="" xmlns:a16="http://schemas.microsoft.com/office/drawing/2014/main" id="{C2B96CB1-836B-48A8-AFA2-417DDACEDE0E}"/>
              </a:ext>
            </a:extLst>
          </p:cNvPr>
          <p:cNvSpPr/>
          <p:nvPr/>
        </p:nvSpPr>
        <p:spPr>
          <a:xfrm>
            <a:off x="6587906" y="4017015"/>
            <a:ext cx="792000" cy="216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7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300</a:t>
            </a:r>
            <a:endParaRPr lang="ko-KR" altLang="en-US" sz="70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350" name="직사각형 349">
            <a:extLst>
              <a:ext uri="{FF2B5EF4-FFF2-40B4-BE49-F238E27FC236}">
                <a16:creationId xmlns="" xmlns:a16="http://schemas.microsoft.com/office/drawing/2014/main" id="{C2B96CB1-836B-48A8-AFA2-417DDACEDE0E}"/>
              </a:ext>
            </a:extLst>
          </p:cNvPr>
          <p:cNvSpPr/>
          <p:nvPr/>
        </p:nvSpPr>
        <p:spPr>
          <a:xfrm>
            <a:off x="7379906" y="4017015"/>
            <a:ext cx="576000" cy="216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7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B</a:t>
            </a:r>
            <a:endParaRPr lang="ko-KR" altLang="en-US" sz="70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351" name="직사각형 350">
            <a:extLst>
              <a:ext uri="{FF2B5EF4-FFF2-40B4-BE49-F238E27FC236}">
                <a16:creationId xmlns="" xmlns:a16="http://schemas.microsoft.com/office/drawing/2014/main" id="{C2B96CB1-836B-48A8-AFA2-417DDACEDE0E}"/>
              </a:ext>
            </a:extLst>
          </p:cNvPr>
          <p:cNvSpPr/>
          <p:nvPr/>
        </p:nvSpPr>
        <p:spPr>
          <a:xfrm>
            <a:off x="7955906" y="4017015"/>
            <a:ext cx="576000" cy="216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7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102</a:t>
            </a:r>
            <a:endParaRPr lang="ko-KR" altLang="en-US" sz="70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52" name="직사각형 351">
            <a:extLst>
              <a:ext uri="{FF2B5EF4-FFF2-40B4-BE49-F238E27FC236}">
                <a16:creationId xmlns="" xmlns:a16="http://schemas.microsoft.com/office/drawing/2014/main" id="{C2B96CB1-836B-48A8-AFA2-417DDACEDE0E}"/>
              </a:ext>
            </a:extLst>
          </p:cNvPr>
          <p:cNvSpPr/>
          <p:nvPr/>
        </p:nvSpPr>
        <p:spPr>
          <a:xfrm>
            <a:off x="8531906" y="4017015"/>
            <a:ext cx="684000" cy="216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7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일반연속출력</a:t>
            </a:r>
            <a:endParaRPr lang="ko-KR" altLang="en-US" sz="70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53" name="직사각형 352">
            <a:extLst>
              <a:ext uri="{FF2B5EF4-FFF2-40B4-BE49-F238E27FC236}">
                <a16:creationId xmlns="" xmlns:a16="http://schemas.microsoft.com/office/drawing/2014/main" id="{C2B96CB1-836B-48A8-AFA2-417DDACEDE0E}"/>
              </a:ext>
            </a:extLst>
          </p:cNvPr>
          <p:cNvSpPr/>
          <p:nvPr/>
        </p:nvSpPr>
        <p:spPr>
          <a:xfrm>
            <a:off x="9215906" y="4017015"/>
            <a:ext cx="144000" cy="216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7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…</a:t>
            </a:r>
            <a:endParaRPr lang="ko-KR" altLang="en-US" sz="70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54" name="직사각형 353">
            <a:extLst>
              <a:ext uri="{FF2B5EF4-FFF2-40B4-BE49-F238E27FC236}">
                <a16:creationId xmlns="" xmlns:a16="http://schemas.microsoft.com/office/drawing/2014/main" id="{C2B96CB1-836B-48A8-AFA2-417DDACEDE0E}"/>
              </a:ext>
            </a:extLst>
          </p:cNvPr>
          <p:cNvSpPr/>
          <p:nvPr/>
        </p:nvSpPr>
        <p:spPr>
          <a:xfrm>
            <a:off x="1367906" y="4017015"/>
            <a:ext cx="540000" cy="216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700" u="sng" smtClean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D638</a:t>
            </a:r>
            <a:endParaRPr lang="ko-KR" altLang="en-US" sz="700" u="sng">
              <a:solidFill>
                <a:srgbClr val="0070C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56" name="직사각형 355">
            <a:extLst>
              <a:ext uri="{FF2B5EF4-FFF2-40B4-BE49-F238E27FC236}">
                <a16:creationId xmlns="" xmlns:a16="http://schemas.microsoft.com/office/drawing/2014/main" id="{C2B96CB1-836B-48A8-AFA2-417DDACEDE0E}"/>
              </a:ext>
            </a:extLst>
          </p:cNvPr>
          <p:cNvSpPr/>
          <p:nvPr/>
        </p:nvSpPr>
        <p:spPr>
          <a:xfrm>
            <a:off x="1907906" y="4233450"/>
            <a:ext cx="936000" cy="216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700" u="sng" smtClean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울산라푸마</a:t>
            </a:r>
            <a:endParaRPr lang="ko-KR" altLang="en-US" sz="700" u="sng">
              <a:solidFill>
                <a:srgbClr val="0070C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57" name="직사각형 356">
            <a:extLst>
              <a:ext uri="{FF2B5EF4-FFF2-40B4-BE49-F238E27FC236}">
                <a16:creationId xmlns="" xmlns:a16="http://schemas.microsoft.com/office/drawing/2014/main" id="{125A9445-0B2B-4F55-8AE2-07E57374FAAD}"/>
              </a:ext>
            </a:extLst>
          </p:cNvPr>
          <p:cNvSpPr/>
          <p:nvPr/>
        </p:nvSpPr>
        <p:spPr>
          <a:xfrm>
            <a:off x="2843906" y="4233450"/>
            <a:ext cx="720000" cy="216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7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특약</a:t>
            </a:r>
            <a:endParaRPr lang="ko-KR" altLang="en-US" sz="70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58" name="직사각형 357">
            <a:extLst>
              <a:ext uri="{FF2B5EF4-FFF2-40B4-BE49-F238E27FC236}">
                <a16:creationId xmlns="" xmlns:a16="http://schemas.microsoft.com/office/drawing/2014/main" id="{C2B96CB1-836B-48A8-AFA2-417DDACEDE0E}"/>
              </a:ext>
            </a:extLst>
          </p:cNvPr>
          <p:cNvSpPr/>
          <p:nvPr/>
        </p:nvSpPr>
        <p:spPr>
          <a:xfrm>
            <a:off x="3563906" y="4233450"/>
            <a:ext cx="720000" cy="216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7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가두점</a:t>
            </a:r>
            <a:endParaRPr lang="ko-KR" altLang="en-US" sz="70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59" name="직사각형 358">
            <a:extLst>
              <a:ext uri="{FF2B5EF4-FFF2-40B4-BE49-F238E27FC236}">
                <a16:creationId xmlns="" xmlns:a16="http://schemas.microsoft.com/office/drawing/2014/main" id="{C2B96CB1-836B-48A8-AFA2-417DDACEDE0E}"/>
              </a:ext>
            </a:extLst>
          </p:cNvPr>
          <p:cNvSpPr/>
          <p:nvPr/>
        </p:nvSpPr>
        <p:spPr>
          <a:xfrm>
            <a:off x="4283906" y="4233450"/>
            <a:ext cx="720000" cy="216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7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정상매장</a:t>
            </a:r>
            <a:endParaRPr lang="ko-KR" altLang="en-US" sz="70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60" name="직사각형 359">
            <a:extLst>
              <a:ext uri="{FF2B5EF4-FFF2-40B4-BE49-F238E27FC236}">
                <a16:creationId xmlns="" xmlns:a16="http://schemas.microsoft.com/office/drawing/2014/main" id="{C2B96CB1-836B-48A8-AFA2-417DDACEDE0E}"/>
              </a:ext>
            </a:extLst>
          </p:cNvPr>
          <p:cNvSpPr/>
          <p:nvPr/>
        </p:nvSpPr>
        <p:spPr>
          <a:xfrm>
            <a:off x="5003906" y="4233450"/>
            <a:ext cx="792000" cy="216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7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30</a:t>
            </a:r>
            <a:endParaRPr lang="ko-KR" altLang="en-US" sz="70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374" name="직사각형 373">
            <a:extLst>
              <a:ext uri="{FF2B5EF4-FFF2-40B4-BE49-F238E27FC236}">
                <a16:creationId xmlns="" xmlns:a16="http://schemas.microsoft.com/office/drawing/2014/main" id="{125A9445-0B2B-4F55-8AE2-07E57374FAAD}"/>
              </a:ext>
            </a:extLst>
          </p:cNvPr>
          <p:cNvSpPr/>
          <p:nvPr/>
        </p:nvSpPr>
        <p:spPr>
          <a:xfrm>
            <a:off x="5795906" y="4233450"/>
            <a:ext cx="792000" cy="216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7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0</a:t>
            </a:r>
            <a:endParaRPr lang="ko-KR" altLang="en-US" sz="70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375" name="직사각형 374">
            <a:extLst>
              <a:ext uri="{FF2B5EF4-FFF2-40B4-BE49-F238E27FC236}">
                <a16:creationId xmlns="" xmlns:a16="http://schemas.microsoft.com/office/drawing/2014/main" id="{C2B96CB1-836B-48A8-AFA2-417DDACEDE0E}"/>
              </a:ext>
            </a:extLst>
          </p:cNvPr>
          <p:cNvSpPr/>
          <p:nvPr/>
        </p:nvSpPr>
        <p:spPr>
          <a:xfrm>
            <a:off x="6587906" y="4233450"/>
            <a:ext cx="792000" cy="216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7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0</a:t>
            </a:r>
            <a:endParaRPr lang="ko-KR" altLang="en-US" sz="70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377" name="직사각형 376">
            <a:extLst>
              <a:ext uri="{FF2B5EF4-FFF2-40B4-BE49-F238E27FC236}">
                <a16:creationId xmlns="" xmlns:a16="http://schemas.microsoft.com/office/drawing/2014/main" id="{C2B96CB1-836B-48A8-AFA2-417DDACEDE0E}"/>
              </a:ext>
            </a:extLst>
          </p:cNvPr>
          <p:cNvSpPr/>
          <p:nvPr/>
        </p:nvSpPr>
        <p:spPr>
          <a:xfrm>
            <a:off x="7379906" y="4233450"/>
            <a:ext cx="576000" cy="216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7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C</a:t>
            </a:r>
            <a:endParaRPr lang="ko-KR" altLang="en-US" sz="70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378" name="직사각형 377">
            <a:extLst>
              <a:ext uri="{FF2B5EF4-FFF2-40B4-BE49-F238E27FC236}">
                <a16:creationId xmlns="" xmlns:a16="http://schemas.microsoft.com/office/drawing/2014/main" id="{C2B96CB1-836B-48A8-AFA2-417DDACEDE0E}"/>
              </a:ext>
            </a:extLst>
          </p:cNvPr>
          <p:cNvSpPr/>
          <p:nvPr/>
        </p:nvSpPr>
        <p:spPr>
          <a:xfrm>
            <a:off x="7955906" y="4233450"/>
            <a:ext cx="576000" cy="216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7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102</a:t>
            </a:r>
            <a:endParaRPr lang="ko-KR" altLang="en-US" sz="70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79" name="직사각형 378">
            <a:extLst>
              <a:ext uri="{FF2B5EF4-FFF2-40B4-BE49-F238E27FC236}">
                <a16:creationId xmlns="" xmlns:a16="http://schemas.microsoft.com/office/drawing/2014/main" id="{C2B96CB1-836B-48A8-AFA2-417DDACEDE0E}"/>
              </a:ext>
            </a:extLst>
          </p:cNvPr>
          <p:cNvSpPr/>
          <p:nvPr/>
        </p:nvSpPr>
        <p:spPr>
          <a:xfrm>
            <a:off x="8531906" y="4233450"/>
            <a:ext cx="684000" cy="216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7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일반연속출력</a:t>
            </a:r>
            <a:endParaRPr lang="ko-KR" altLang="en-US" sz="70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82" name="직사각형 381">
            <a:extLst>
              <a:ext uri="{FF2B5EF4-FFF2-40B4-BE49-F238E27FC236}">
                <a16:creationId xmlns="" xmlns:a16="http://schemas.microsoft.com/office/drawing/2014/main" id="{C2B96CB1-836B-48A8-AFA2-417DDACEDE0E}"/>
              </a:ext>
            </a:extLst>
          </p:cNvPr>
          <p:cNvSpPr/>
          <p:nvPr/>
        </p:nvSpPr>
        <p:spPr>
          <a:xfrm>
            <a:off x="9215906" y="4233450"/>
            <a:ext cx="144000" cy="216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7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…</a:t>
            </a:r>
            <a:endParaRPr lang="ko-KR" altLang="en-US" sz="70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83" name="직사각형 382">
            <a:extLst>
              <a:ext uri="{FF2B5EF4-FFF2-40B4-BE49-F238E27FC236}">
                <a16:creationId xmlns="" xmlns:a16="http://schemas.microsoft.com/office/drawing/2014/main" id="{C2B96CB1-836B-48A8-AFA2-417DDACEDE0E}"/>
              </a:ext>
            </a:extLst>
          </p:cNvPr>
          <p:cNvSpPr/>
          <p:nvPr/>
        </p:nvSpPr>
        <p:spPr>
          <a:xfrm>
            <a:off x="1367906" y="4233450"/>
            <a:ext cx="540000" cy="216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700" u="sng" smtClean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D808</a:t>
            </a:r>
            <a:endParaRPr lang="ko-KR" altLang="en-US" sz="700" u="sng">
              <a:solidFill>
                <a:srgbClr val="0070C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85" name="직사각형 384">
            <a:extLst>
              <a:ext uri="{FF2B5EF4-FFF2-40B4-BE49-F238E27FC236}">
                <a16:creationId xmlns="" xmlns:a16="http://schemas.microsoft.com/office/drawing/2014/main" id="{C2B96CB1-836B-48A8-AFA2-417DDACEDE0E}"/>
              </a:ext>
            </a:extLst>
          </p:cNvPr>
          <p:cNvSpPr/>
          <p:nvPr/>
        </p:nvSpPr>
        <p:spPr>
          <a:xfrm>
            <a:off x="1907906" y="4447545"/>
            <a:ext cx="936000" cy="216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700" u="sng" smtClean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대백프라자 닥스골</a:t>
            </a:r>
            <a:endParaRPr lang="ko-KR" altLang="en-US" sz="700" u="sng">
              <a:solidFill>
                <a:srgbClr val="0070C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86" name="직사각형 385">
            <a:extLst>
              <a:ext uri="{FF2B5EF4-FFF2-40B4-BE49-F238E27FC236}">
                <a16:creationId xmlns="" xmlns:a16="http://schemas.microsoft.com/office/drawing/2014/main" id="{125A9445-0B2B-4F55-8AE2-07E57374FAAD}"/>
              </a:ext>
            </a:extLst>
          </p:cNvPr>
          <p:cNvSpPr/>
          <p:nvPr/>
        </p:nvSpPr>
        <p:spPr>
          <a:xfrm>
            <a:off x="2843906" y="4447545"/>
            <a:ext cx="720000" cy="216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7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임대</a:t>
            </a:r>
            <a:endParaRPr lang="ko-KR" altLang="en-US" sz="70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87" name="직사각형 386">
            <a:extLst>
              <a:ext uri="{FF2B5EF4-FFF2-40B4-BE49-F238E27FC236}">
                <a16:creationId xmlns="" xmlns:a16="http://schemas.microsoft.com/office/drawing/2014/main" id="{C2B96CB1-836B-48A8-AFA2-417DDACEDE0E}"/>
              </a:ext>
            </a:extLst>
          </p:cNvPr>
          <p:cNvSpPr/>
          <p:nvPr/>
        </p:nvSpPr>
        <p:spPr>
          <a:xfrm>
            <a:off x="3563906" y="4447545"/>
            <a:ext cx="720000" cy="216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7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백화점</a:t>
            </a:r>
            <a:endParaRPr lang="ko-KR" altLang="en-US" sz="70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90" name="직사각형 389">
            <a:extLst>
              <a:ext uri="{FF2B5EF4-FFF2-40B4-BE49-F238E27FC236}">
                <a16:creationId xmlns="" xmlns:a16="http://schemas.microsoft.com/office/drawing/2014/main" id="{C2B96CB1-836B-48A8-AFA2-417DDACEDE0E}"/>
              </a:ext>
            </a:extLst>
          </p:cNvPr>
          <p:cNvSpPr/>
          <p:nvPr/>
        </p:nvSpPr>
        <p:spPr>
          <a:xfrm>
            <a:off x="4283906" y="4447545"/>
            <a:ext cx="720000" cy="216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7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정상매장</a:t>
            </a:r>
            <a:endParaRPr lang="ko-KR" altLang="en-US" sz="70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91" name="직사각형 390">
            <a:extLst>
              <a:ext uri="{FF2B5EF4-FFF2-40B4-BE49-F238E27FC236}">
                <a16:creationId xmlns="" xmlns:a16="http://schemas.microsoft.com/office/drawing/2014/main" id="{C2B96CB1-836B-48A8-AFA2-417DDACEDE0E}"/>
              </a:ext>
            </a:extLst>
          </p:cNvPr>
          <p:cNvSpPr/>
          <p:nvPr/>
        </p:nvSpPr>
        <p:spPr>
          <a:xfrm>
            <a:off x="5003906" y="4447545"/>
            <a:ext cx="792000" cy="216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7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10</a:t>
            </a:r>
            <a:endParaRPr lang="ko-KR" altLang="en-US" sz="70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92" name="직사각형 391">
            <a:extLst>
              <a:ext uri="{FF2B5EF4-FFF2-40B4-BE49-F238E27FC236}">
                <a16:creationId xmlns="" xmlns:a16="http://schemas.microsoft.com/office/drawing/2014/main" id="{125A9445-0B2B-4F55-8AE2-07E57374FAAD}"/>
              </a:ext>
            </a:extLst>
          </p:cNvPr>
          <p:cNvSpPr/>
          <p:nvPr/>
        </p:nvSpPr>
        <p:spPr>
          <a:xfrm>
            <a:off x="5795906" y="4447545"/>
            <a:ext cx="792000" cy="216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7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0</a:t>
            </a:r>
            <a:endParaRPr lang="ko-KR" altLang="en-US" sz="70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393" name="직사각형 392">
            <a:extLst>
              <a:ext uri="{FF2B5EF4-FFF2-40B4-BE49-F238E27FC236}">
                <a16:creationId xmlns="" xmlns:a16="http://schemas.microsoft.com/office/drawing/2014/main" id="{C2B96CB1-836B-48A8-AFA2-417DDACEDE0E}"/>
              </a:ext>
            </a:extLst>
          </p:cNvPr>
          <p:cNvSpPr/>
          <p:nvPr/>
        </p:nvSpPr>
        <p:spPr>
          <a:xfrm>
            <a:off x="6587906" y="4447545"/>
            <a:ext cx="792000" cy="216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7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30</a:t>
            </a:r>
            <a:endParaRPr lang="ko-KR" altLang="en-US" sz="70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394" name="직사각형 393">
            <a:extLst>
              <a:ext uri="{FF2B5EF4-FFF2-40B4-BE49-F238E27FC236}">
                <a16:creationId xmlns="" xmlns:a16="http://schemas.microsoft.com/office/drawing/2014/main" id="{C2B96CB1-836B-48A8-AFA2-417DDACEDE0E}"/>
              </a:ext>
            </a:extLst>
          </p:cNvPr>
          <p:cNvSpPr/>
          <p:nvPr/>
        </p:nvSpPr>
        <p:spPr>
          <a:xfrm>
            <a:off x="7379906" y="4447545"/>
            <a:ext cx="576000" cy="216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7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B</a:t>
            </a:r>
            <a:endParaRPr lang="ko-KR" altLang="en-US" sz="70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395" name="직사각형 394">
            <a:extLst>
              <a:ext uri="{FF2B5EF4-FFF2-40B4-BE49-F238E27FC236}">
                <a16:creationId xmlns="" xmlns:a16="http://schemas.microsoft.com/office/drawing/2014/main" id="{C2B96CB1-836B-48A8-AFA2-417DDACEDE0E}"/>
              </a:ext>
            </a:extLst>
          </p:cNvPr>
          <p:cNvSpPr/>
          <p:nvPr/>
        </p:nvSpPr>
        <p:spPr>
          <a:xfrm>
            <a:off x="7955906" y="4447545"/>
            <a:ext cx="576000" cy="216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7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102</a:t>
            </a:r>
            <a:endParaRPr lang="ko-KR" altLang="en-US" sz="70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96" name="직사각형 395">
            <a:extLst>
              <a:ext uri="{FF2B5EF4-FFF2-40B4-BE49-F238E27FC236}">
                <a16:creationId xmlns="" xmlns:a16="http://schemas.microsoft.com/office/drawing/2014/main" id="{C2B96CB1-836B-48A8-AFA2-417DDACEDE0E}"/>
              </a:ext>
            </a:extLst>
          </p:cNvPr>
          <p:cNvSpPr/>
          <p:nvPr/>
        </p:nvSpPr>
        <p:spPr>
          <a:xfrm>
            <a:off x="8531906" y="4447545"/>
            <a:ext cx="684000" cy="216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7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일반연속출력</a:t>
            </a:r>
            <a:endParaRPr lang="ko-KR" altLang="en-US" sz="70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01" name="직사각형 400">
            <a:extLst>
              <a:ext uri="{FF2B5EF4-FFF2-40B4-BE49-F238E27FC236}">
                <a16:creationId xmlns="" xmlns:a16="http://schemas.microsoft.com/office/drawing/2014/main" id="{C2B96CB1-836B-48A8-AFA2-417DDACEDE0E}"/>
              </a:ext>
            </a:extLst>
          </p:cNvPr>
          <p:cNvSpPr/>
          <p:nvPr/>
        </p:nvSpPr>
        <p:spPr>
          <a:xfrm>
            <a:off x="9215906" y="4447545"/>
            <a:ext cx="144000" cy="216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7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…</a:t>
            </a:r>
            <a:endParaRPr lang="ko-KR" altLang="en-US" sz="70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02" name="직사각형 401">
            <a:extLst>
              <a:ext uri="{FF2B5EF4-FFF2-40B4-BE49-F238E27FC236}">
                <a16:creationId xmlns="" xmlns:a16="http://schemas.microsoft.com/office/drawing/2014/main" id="{C2B96CB1-836B-48A8-AFA2-417DDACEDE0E}"/>
              </a:ext>
            </a:extLst>
          </p:cNvPr>
          <p:cNvSpPr/>
          <p:nvPr/>
        </p:nvSpPr>
        <p:spPr>
          <a:xfrm>
            <a:off x="1367906" y="4447545"/>
            <a:ext cx="540000" cy="216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700" u="sng" smtClean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D504</a:t>
            </a:r>
            <a:endParaRPr lang="ko-KR" altLang="en-US" sz="700" u="sng">
              <a:solidFill>
                <a:srgbClr val="0070C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05" name="직사각형 404">
            <a:extLst>
              <a:ext uri="{FF2B5EF4-FFF2-40B4-BE49-F238E27FC236}">
                <a16:creationId xmlns="" xmlns:a16="http://schemas.microsoft.com/office/drawing/2014/main" id="{C2B96CB1-836B-48A8-AFA2-417DDACEDE0E}"/>
              </a:ext>
            </a:extLst>
          </p:cNvPr>
          <p:cNvSpPr/>
          <p:nvPr/>
        </p:nvSpPr>
        <p:spPr>
          <a:xfrm>
            <a:off x="1907906" y="4663980"/>
            <a:ext cx="936000" cy="216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700" u="sng" smtClean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수원영동라푸마</a:t>
            </a:r>
            <a:endParaRPr lang="ko-KR" altLang="en-US" sz="700" u="sng">
              <a:solidFill>
                <a:srgbClr val="0070C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06" name="직사각형 405">
            <a:extLst>
              <a:ext uri="{FF2B5EF4-FFF2-40B4-BE49-F238E27FC236}">
                <a16:creationId xmlns="" xmlns:a16="http://schemas.microsoft.com/office/drawing/2014/main" id="{125A9445-0B2B-4F55-8AE2-07E57374FAAD}"/>
              </a:ext>
            </a:extLst>
          </p:cNvPr>
          <p:cNvSpPr/>
          <p:nvPr/>
        </p:nvSpPr>
        <p:spPr>
          <a:xfrm>
            <a:off x="2843906" y="4663980"/>
            <a:ext cx="720000" cy="216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7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특약</a:t>
            </a:r>
            <a:endParaRPr lang="ko-KR" altLang="en-US" sz="70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07" name="직사각형 406">
            <a:extLst>
              <a:ext uri="{FF2B5EF4-FFF2-40B4-BE49-F238E27FC236}">
                <a16:creationId xmlns="" xmlns:a16="http://schemas.microsoft.com/office/drawing/2014/main" id="{C2B96CB1-836B-48A8-AFA2-417DDACEDE0E}"/>
              </a:ext>
            </a:extLst>
          </p:cNvPr>
          <p:cNvSpPr/>
          <p:nvPr/>
        </p:nvSpPr>
        <p:spPr>
          <a:xfrm>
            <a:off x="3563906" y="4663980"/>
            <a:ext cx="720000" cy="216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7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가두점</a:t>
            </a:r>
            <a:endParaRPr lang="ko-KR" altLang="en-US" sz="70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08" name="직사각형 407">
            <a:extLst>
              <a:ext uri="{FF2B5EF4-FFF2-40B4-BE49-F238E27FC236}">
                <a16:creationId xmlns="" xmlns:a16="http://schemas.microsoft.com/office/drawing/2014/main" id="{C2B96CB1-836B-48A8-AFA2-417DDACEDE0E}"/>
              </a:ext>
            </a:extLst>
          </p:cNvPr>
          <p:cNvSpPr/>
          <p:nvPr/>
        </p:nvSpPr>
        <p:spPr>
          <a:xfrm>
            <a:off x="4283906" y="4663980"/>
            <a:ext cx="720000" cy="216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7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정상매장</a:t>
            </a:r>
            <a:endParaRPr lang="ko-KR" altLang="en-US" sz="70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10" name="직사각형 409">
            <a:extLst>
              <a:ext uri="{FF2B5EF4-FFF2-40B4-BE49-F238E27FC236}">
                <a16:creationId xmlns="" xmlns:a16="http://schemas.microsoft.com/office/drawing/2014/main" id="{C2B96CB1-836B-48A8-AFA2-417DDACEDE0E}"/>
              </a:ext>
            </a:extLst>
          </p:cNvPr>
          <p:cNvSpPr/>
          <p:nvPr/>
        </p:nvSpPr>
        <p:spPr>
          <a:xfrm>
            <a:off x="5003906" y="4663980"/>
            <a:ext cx="792000" cy="216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7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30</a:t>
            </a:r>
            <a:endParaRPr lang="ko-KR" altLang="en-US" sz="70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412" name="직사각형 411">
            <a:extLst>
              <a:ext uri="{FF2B5EF4-FFF2-40B4-BE49-F238E27FC236}">
                <a16:creationId xmlns="" xmlns:a16="http://schemas.microsoft.com/office/drawing/2014/main" id="{125A9445-0B2B-4F55-8AE2-07E57374FAAD}"/>
              </a:ext>
            </a:extLst>
          </p:cNvPr>
          <p:cNvSpPr/>
          <p:nvPr/>
        </p:nvSpPr>
        <p:spPr>
          <a:xfrm>
            <a:off x="5795906" y="4663980"/>
            <a:ext cx="792000" cy="216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7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0</a:t>
            </a:r>
            <a:endParaRPr lang="ko-KR" altLang="en-US" sz="70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413" name="직사각형 412">
            <a:extLst>
              <a:ext uri="{FF2B5EF4-FFF2-40B4-BE49-F238E27FC236}">
                <a16:creationId xmlns="" xmlns:a16="http://schemas.microsoft.com/office/drawing/2014/main" id="{C2B96CB1-836B-48A8-AFA2-417DDACEDE0E}"/>
              </a:ext>
            </a:extLst>
          </p:cNvPr>
          <p:cNvSpPr/>
          <p:nvPr/>
        </p:nvSpPr>
        <p:spPr>
          <a:xfrm>
            <a:off x="6587906" y="4663980"/>
            <a:ext cx="792000" cy="216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7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500</a:t>
            </a:r>
            <a:endParaRPr lang="ko-KR" altLang="en-US" sz="70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415" name="직사각형 414">
            <a:extLst>
              <a:ext uri="{FF2B5EF4-FFF2-40B4-BE49-F238E27FC236}">
                <a16:creationId xmlns="" xmlns:a16="http://schemas.microsoft.com/office/drawing/2014/main" id="{C2B96CB1-836B-48A8-AFA2-417DDACEDE0E}"/>
              </a:ext>
            </a:extLst>
          </p:cNvPr>
          <p:cNvSpPr/>
          <p:nvPr/>
        </p:nvSpPr>
        <p:spPr>
          <a:xfrm>
            <a:off x="7379906" y="4663980"/>
            <a:ext cx="576000" cy="216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7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C</a:t>
            </a:r>
            <a:endParaRPr lang="ko-KR" altLang="en-US" sz="70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417" name="직사각형 416">
            <a:extLst>
              <a:ext uri="{FF2B5EF4-FFF2-40B4-BE49-F238E27FC236}">
                <a16:creationId xmlns="" xmlns:a16="http://schemas.microsoft.com/office/drawing/2014/main" id="{C2B96CB1-836B-48A8-AFA2-417DDACEDE0E}"/>
              </a:ext>
            </a:extLst>
          </p:cNvPr>
          <p:cNvSpPr/>
          <p:nvPr/>
        </p:nvSpPr>
        <p:spPr>
          <a:xfrm>
            <a:off x="7955906" y="4663980"/>
            <a:ext cx="576000" cy="216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7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102</a:t>
            </a:r>
            <a:endParaRPr lang="ko-KR" altLang="en-US" sz="70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20" name="직사각형 419">
            <a:extLst>
              <a:ext uri="{FF2B5EF4-FFF2-40B4-BE49-F238E27FC236}">
                <a16:creationId xmlns="" xmlns:a16="http://schemas.microsoft.com/office/drawing/2014/main" id="{C2B96CB1-836B-48A8-AFA2-417DDACEDE0E}"/>
              </a:ext>
            </a:extLst>
          </p:cNvPr>
          <p:cNvSpPr/>
          <p:nvPr/>
        </p:nvSpPr>
        <p:spPr>
          <a:xfrm>
            <a:off x="8531906" y="4663980"/>
            <a:ext cx="684000" cy="216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7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일반연속출력</a:t>
            </a:r>
            <a:endParaRPr lang="ko-KR" altLang="en-US" sz="70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28" name="직사각형 427">
            <a:extLst>
              <a:ext uri="{FF2B5EF4-FFF2-40B4-BE49-F238E27FC236}">
                <a16:creationId xmlns="" xmlns:a16="http://schemas.microsoft.com/office/drawing/2014/main" id="{C2B96CB1-836B-48A8-AFA2-417DDACEDE0E}"/>
              </a:ext>
            </a:extLst>
          </p:cNvPr>
          <p:cNvSpPr/>
          <p:nvPr/>
        </p:nvSpPr>
        <p:spPr>
          <a:xfrm>
            <a:off x="9215906" y="4663980"/>
            <a:ext cx="144000" cy="216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7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…</a:t>
            </a:r>
            <a:endParaRPr lang="ko-KR" altLang="en-US" sz="70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29" name="직사각형 428">
            <a:extLst>
              <a:ext uri="{FF2B5EF4-FFF2-40B4-BE49-F238E27FC236}">
                <a16:creationId xmlns="" xmlns:a16="http://schemas.microsoft.com/office/drawing/2014/main" id="{C2B96CB1-836B-48A8-AFA2-417DDACEDE0E}"/>
              </a:ext>
            </a:extLst>
          </p:cNvPr>
          <p:cNvSpPr/>
          <p:nvPr/>
        </p:nvSpPr>
        <p:spPr>
          <a:xfrm>
            <a:off x="1367906" y="4663980"/>
            <a:ext cx="540000" cy="216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700" u="sng" smtClean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D677</a:t>
            </a:r>
            <a:endParaRPr lang="ko-KR" altLang="en-US" sz="700" u="sng">
              <a:solidFill>
                <a:srgbClr val="0070C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33" name="직사각형 432">
            <a:extLst>
              <a:ext uri="{FF2B5EF4-FFF2-40B4-BE49-F238E27FC236}">
                <a16:creationId xmlns="" xmlns:a16="http://schemas.microsoft.com/office/drawing/2014/main" id="{C2B96CB1-836B-48A8-AFA2-417DDACEDE0E}"/>
              </a:ext>
            </a:extLst>
          </p:cNvPr>
          <p:cNvSpPr/>
          <p:nvPr/>
        </p:nvSpPr>
        <p:spPr>
          <a:xfrm>
            <a:off x="1907906" y="4878075"/>
            <a:ext cx="936000" cy="216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700" u="sng" smtClean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롯데잠실핏플랍</a:t>
            </a:r>
            <a:endParaRPr lang="ko-KR" altLang="en-US" sz="700" u="sng">
              <a:solidFill>
                <a:srgbClr val="0070C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36" name="직사각형 435">
            <a:extLst>
              <a:ext uri="{FF2B5EF4-FFF2-40B4-BE49-F238E27FC236}">
                <a16:creationId xmlns="" xmlns:a16="http://schemas.microsoft.com/office/drawing/2014/main" id="{125A9445-0B2B-4F55-8AE2-07E57374FAAD}"/>
              </a:ext>
            </a:extLst>
          </p:cNvPr>
          <p:cNvSpPr/>
          <p:nvPr/>
        </p:nvSpPr>
        <p:spPr>
          <a:xfrm>
            <a:off x="2843906" y="4878075"/>
            <a:ext cx="720000" cy="216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7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수탁</a:t>
            </a:r>
            <a:endParaRPr lang="ko-KR" altLang="en-US" sz="70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37" name="직사각형 436">
            <a:extLst>
              <a:ext uri="{FF2B5EF4-FFF2-40B4-BE49-F238E27FC236}">
                <a16:creationId xmlns="" xmlns:a16="http://schemas.microsoft.com/office/drawing/2014/main" id="{C2B96CB1-836B-48A8-AFA2-417DDACEDE0E}"/>
              </a:ext>
            </a:extLst>
          </p:cNvPr>
          <p:cNvSpPr/>
          <p:nvPr/>
        </p:nvSpPr>
        <p:spPr>
          <a:xfrm>
            <a:off x="3563906" y="4878075"/>
            <a:ext cx="720000" cy="216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7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백화점</a:t>
            </a:r>
          </a:p>
        </p:txBody>
      </p:sp>
      <p:sp>
        <p:nvSpPr>
          <p:cNvPr id="438" name="직사각형 437">
            <a:extLst>
              <a:ext uri="{FF2B5EF4-FFF2-40B4-BE49-F238E27FC236}">
                <a16:creationId xmlns="" xmlns:a16="http://schemas.microsoft.com/office/drawing/2014/main" id="{C2B96CB1-836B-48A8-AFA2-417DDACEDE0E}"/>
              </a:ext>
            </a:extLst>
          </p:cNvPr>
          <p:cNvSpPr/>
          <p:nvPr/>
        </p:nvSpPr>
        <p:spPr>
          <a:xfrm>
            <a:off x="4283906" y="4878075"/>
            <a:ext cx="720000" cy="216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7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정상매장</a:t>
            </a:r>
            <a:endParaRPr lang="ko-KR" altLang="en-US" sz="70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39" name="직사각형 438">
            <a:extLst>
              <a:ext uri="{FF2B5EF4-FFF2-40B4-BE49-F238E27FC236}">
                <a16:creationId xmlns="" xmlns:a16="http://schemas.microsoft.com/office/drawing/2014/main" id="{C2B96CB1-836B-48A8-AFA2-417DDACEDE0E}"/>
              </a:ext>
            </a:extLst>
          </p:cNvPr>
          <p:cNvSpPr/>
          <p:nvPr/>
        </p:nvSpPr>
        <p:spPr>
          <a:xfrm>
            <a:off x="5003906" y="4878075"/>
            <a:ext cx="792000" cy="216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7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</a:t>
            </a:r>
            <a:endParaRPr lang="ko-KR" altLang="en-US" sz="70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40" name="직사각형 439">
            <a:extLst>
              <a:ext uri="{FF2B5EF4-FFF2-40B4-BE49-F238E27FC236}">
                <a16:creationId xmlns="" xmlns:a16="http://schemas.microsoft.com/office/drawing/2014/main" id="{125A9445-0B2B-4F55-8AE2-07E57374FAAD}"/>
              </a:ext>
            </a:extLst>
          </p:cNvPr>
          <p:cNvSpPr/>
          <p:nvPr/>
        </p:nvSpPr>
        <p:spPr>
          <a:xfrm>
            <a:off x="5795906" y="4878075"/>
            <a:ext cx="792000" cy="216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7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0</a:t>
            </a:r>
            <a:endParaRPr lang="ko-KR" altLang="en-US" sz="70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441" name="직사각형 440">
            <a:extLst>
              <a:ext uri="{FF2B5EF4-FFF2-40B4-BE49-F238E27FC236}">
                <a16:creationId xmlns="" xmlns:a16="http://schemas.microsoft.com/office/drawing/2014/main" id="{C2B96CB1-836B-48A8-AFA2-417DDACEDE0E}"/>
              </a:ext>
            </a:extLst>
          </p:cNvPr>
          <p:cNvSpPr/>
          <p:nvPr/>
        </p:nvSpPr>
        <p:spPr>
          <a:xfrm>
            <a:off x="6587906" y="4878075"/>
            <a:ext cx="792000" cy="216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7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500</a:t>
            </a:r>
            <a:endParaRPr lang="ko-KR" altLang="en-US" sz="70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443" name="직사각형 442">
            <a:extLst>
              <a:ext uri="{FF2B5EF4-FFF2-40B4-BE49-F238E27FC236}">
                <a16:creationId xmlns="" xmlns:a16="http://schemas.microsoft.com/office/drawing/2014/main" id="{C2B96CB1-836B-48A8-AFA2-417DDACEDE0E}"/>
              </a:ext>
            </a:extLst>
          </p:cNvPr>
          <p:cNvSpPr/>
          <p:nvPr/>
        </p:nvSpPr>
        <p:spPr>
          <a:xfrm>
            <a:off x="7379906" y="4878075"/>
            <a:ext cx="576000" cy="216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7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B</a:t>
            </a:r>
            <a:endParaRPr lang="ko-KR" altLang="en-US" sz="70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444" name="직사각형 443">
            <a:extLst>
              <a:ext uri="{FF2B5EF4-FFF2-40B4-BE49-F238E27FC236}">
                <a16:creationId xmlns="" xmlns:a16="http://schemas.microsoft.com/office/drawing/2014/main" id="{C2B96CB1-836B-48A8-AFA2-417DDACEDE0E}"/>
              </a:ext>
            </a:extLst>
          </p:cNvPr>
          <p:cNvSpPr/>
          <p:nvPr/>
        </p:nvSpPr>
        <p:spPr>
          <a:xfrm>
            <a:off x="7955906" y="4878075"/>
            <a:ext cx="576000" cy="216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7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102</a:t>
            </a:r>
            <a:endParaRPr lang="ko-KR" altLang="en-US" sz="70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48" name="직사각형 447">
            <a:extLst>
              <a:ext uri="{FF2B5EF4-FFF2-40B4-BE49-F238E27FC236}">
                <a16:creationId xmlns="" xmlns:a16="http://schemas.microsoft.com/office/drawing/2014/main" id="{C2B96CB1-836B-48A8-AFA2-417DDACEDE0E}"/>
              </a:ext>
            </a:extLst>
          </p:cNvPr>
          <p:cNvSpPr/>
          <p:nvPr/>
        </p:nvSpPr>
        <p:spPr>
          <a:xfrm>
            <a:off x="8531906" y="4878075"/>
            <a:ext cx="684000" cy="216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7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일반연속출력</a:t>
            </a:r>
            <a:endParaRPr lang="ko-KR" altLang="en-US" sz="70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49" name="직사각형 448">
            <a:extLst>
              <a:ext uri="{FF2B5EF4-FFF2-40B4-BE49-F238E27FC236}">
                <a16:creationId xmlns="" xmlns:a16="http://schemas.microsoft.com/office/drawing/2014/main" id="{C2B96CB1-836B-48A8-AFA2-417DDACEDE0E}"/>
              </a:ext>
            </a:extLst>
          </p:cNvPr>
          <p:cNvSpPr/>
          <p:nvPr/>
        </p:nvSpPr>
        <p:spPr>
          <a:xfrm>
            <a:off x="9215906" y="4878075"/>
            <a:ext cx="144000" cy="216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7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…</a:t>
            </a:r>
            <a:endParaRPr lang="ko-KR" altLang="en-US" sz="70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50" name="직사각형 449">
            <a:extLst>
              <a:ext uri="{FF2B5EF4-FFF2-40B4-BE49-F238E27FC236}">
                <a16:creationId xmlns="" xmlns:a16="http://schemas.microsoft.com/office/drawing/2014/main" id="{C2B96CB1-836B-48A8-AFA2-417DDACEDE0E}"/>
              </a:ext>
            </a:extLst>
          </p:cNvPr>
          <p:cNvSpPr/>
          <p:nvPr/>
        </p:nvSpPr>
        <p:spPr>
          <a:xfrm>
            <a:off x="1367906" y="4878075"/>
            <a:ext cx="540000" cy="216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700" u="sng" smtClean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F661</a:t>
            </a:r>
            <a:endParaRPr lang="ko-KR" altLang="en-US" sz="700" u="sng">
              <a:solidFill>
                <a:srgbClr val="0070C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54" name="직사각형 453">
            <a:extLst>
              <a:ext uri="{FF2B5EF4-FFF2-40B4-BE49-F238E27FC236}">
                <a16:creationId xmlns="" xmlns:a16="http://schemas.microsoft.com/office/drawing/2014/main" id="{C2B96CB1-836B-48A8-AFA2-417DDACEDE0E}"/>
              </a:ext>
            </a:extLst>
          </p:cNvPr>
          <p:cNvSpPr/>
          <p:nvPr/>
        </p:nvSpPr>
        <p:spPr>
          <a:xfrm>
            <a:off x="1907906" y="5094510"/>
            <a:ext cx="936000" cy="216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700" u="sng" smtClean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롯데잠실바네사브루노</a:t>
            </a:r>
            <a:endParaRPr lang="ko-KR" altLang="en-US" sz="700" u="sng">
              <a:solidFill>
                <a:srgbClr val="0070C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55" name="직사각형 454">
            <a:extLst>
              <a:ext uri="{FF2B5EF4-FFF2-40B4-BE49-F238E27FC236}">
                <a16:creationId xmlns="" xmlns:a16="http://schemas.microsoft.com/office/drawing/2014/main" id="{125A9445-0B2B-4F55-8AE2-07E57374FAAD}"/>
              </a:ext>
            </a:extLst>
          </p:cNvPr>
          <p:cNvSpPr/>
          <p:nvPr/>
        </p:nvSpPr>
        <p:spPr>
          <a:xfrm>
            <a:off x="2843906" y="5094510"/>
            <a:ext cx="720000" cy="216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7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수탁</a:t>
            </a:r>
          </a:p>
        </p:txBody>
      </p:sp>
      <p:sp>
        <p:nvSpPr>
          <p:cNvPr id="456" name="직사각형 455">
            <a:extLst>
              <a:ext uri="{FF2B5EF4-FFF2-40B4-BE49-F238E27FC236}">
                <a16:creationId xmlns="" xmlns:a16="http://schemas.microsoft.com/office/drawing/2014/main" id="{C2B96CB1-836B-48A8-AFA2-417DDACEDE0E}"/>
              </a:ext>
            </a:extLst>
          </p:cNvPr>
          <p:cNvSpPr/>
          <p:nvPr/>
        </p:nvSpPr>
        <p:spPr>
          <a:xfrm>
            <a:off x="3563906" y="5094510"/>
            <a:ext cx="720000" cy="216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7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백화점</a:t>
            </a:r>
          </a:p>
        </p:txBody>
      </p:sp>
      <p:sp>
        <p:nvSpPr>
          <p:cNvPr id="459" name="직사각형 458">
            <a:extLst>
              <a:ext uri="{FF2B5EF4-FFF2-40B4-BE49-F238E27FC236}">
                <a16:creationId xmlns="" xmlns:a16="http://schemas.microsoft.com/office/drawing/2014/main" id="{C2B96CB1-836B-48A8-AFA2-417DDACEDE0E}"/>
              </a:ext>
            </a:extLst>
          </p:cNvPr>
          <p:cNvSpPr/>
          <p:nvPr/>
        </p:nvSpPr>
        <p:spPr>
          <a:xfrm>
            <a:off x="4283906" y="5094510"/>
            <a:ext cx="720000" cy="216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7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정상매장</a:t>
            </a:r>
            <a:endParaRPr lang="ko-KR" altLang="en-US" sz="70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60" name="직사각형 459">
            <a:extLst>
              <a:ext uri="{FF2B5EF4-FFF2-40B4-BE49-F238E27FC236}">
                <a16:creationId xmlns="" xmlns:a16="http://schemas.microsoft.com/office/drawing/2014/main" id="{C2B96CB1-836B-48A8-AFA2-417DDACEDE0E}"/>
              </a:ext>
            </a:extLst>
          </p:cNvPr>
          <p:cNvSpPr/>
          <p:nvPr/>
        </p:nvSpPr>
        <p:spPr>
          <a:xfrm>
            <a:off x="5003906" y="5094510"/>
            <a:ext cx="792000" cy="216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7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50</a:t>
            </a:r>
            <a:endParaRPr lang="ko-KR" altLang="en-US" sz="70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61" name="직사각형 460">
            <a:extLst>
              <a:ext uri="{FF2B5EF4-FFF2-40B4-BE49-F238E27FC236}">
                <a16:creationId xmlns="" xmlns:a16="http://schemas.microsoft.com/office/drawing/2014/main" id="{125A9445-0B2B-4F55-8AE2-07E57374FAAD}"/>
              </a:ext>
            </a:extLst>
          </p:cNvPr>
          <p:cNvSpPr/>
          <p:nvPr/>
        </p:nvSpPr>
        <p:spPr>
          <a:xfrm>
            <a:off x="5795906" y="5094510"/>
            <a:ext cx="792000" cy="216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7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0</a:t>
            </a:r>
            <a:endParaRPr lang="ko-KR" altLang="en-US" sz="70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462" name="직사각형 461">
            <a:extLst>
              <a:ext uri="{FF2B5EF4-FFF2-40B4-BE49-F238E27FC236}">
                <a16:creationId xmlns="" xmlns:a16="http://schemas.microsoft.com/office/drawing/2014/main" id="{C2B96CB1-836B-48A8-AFA2-417DDACEDE0E}"/>
              </a:ext>
            </a:extLst>
          </p:cNvPr>
          <p:cNvSpPr/>
          <p:nvPr/>
        </p:nvSpPr>
        <p:spPr>
          <a:xfrm>
            <a:off x="6587906" y="5094510"/>
            <a:ext cx="792000" cy="216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7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0</a:t>
            </a:r>
            <a:endParaRPr lang="ko-KR" altLang="en-US" sz="70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465" name="직사각형 464">
            <a:extLst>
              <a:ext uri="{FF2B5EF4-FFF2-40B4-BE49-F238E27FC236}">
                <a16:creationId xmlns="" xmlns:a16="http://schemas.microsoft.com/office/drawing/2014/main" id="{C2B96CB1-836B-48A8-AFA2-417DDACEDE0E}"/>
              </a:ext>
            </a:extLst>
          </p:cNvPr>
          <p:cNvSpPr/>
          <p:nvPr/>
        </p:nvSpPr>
        <p:spPr>
          <a:xfrm>
            <a:off x="7379906" y="5094510"/>
            <a:ext cx="576000" cy="216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7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A</a:t>
            </a:r>
            <a:endParaRPr lang="ko-KR" altLang="en-US" sz="70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466" name="직사각형 465">
            <a:extLst>
              <a:ext uri="{FF2B5EF4-FFF2-40B4-BE49-F238E27FC236}">
                <a16:creationId xmlns="" xmlns:a16="http://schemas.microsoft.com/office/drawing/2014/main" id="{C2B96CB1-836B-48A8-AFA2-417DDACEDE0E}"/>
              </a:ext>
            </a:extLst>
          </p:cNvPr>
          <p:cNvSpPr/>
          <p:nvPr/>
        </p:nvSpPr>
        <p:spPr>
          <a:xfrm>
            <a:off x="7955906" y="5094510"/>
            <a:ext cx="576000" cy="216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7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102</a:t>
            </a:r>
            <a:endParaRPr lang="ko-KR" altLang="en-US" sz="70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67" name="직사각형 466">
            <a:extLst>
              <a:ext uri="{FF2B5EF4-FFF2-40B4-BE49-F238E27FC236}">
                <a16:creationId xmlns="" xmlns:a16="http://schemas.microsoft.com/office/drawing/2014/main" id="{C2B96CB1-836B-48A8-AFA2-417DDACEDE0E}"/>
              </a:ext>
            </a:extLst>
          </p:cNvPr>
          <p:cNvSpPr/>
          <p:nvPr/>
        </p:nvSpPr>
        <p:spPr>
          <a:xfrm>
            <a:off x="8531906" y="5094510"/>
            <a:ext cx="684000" cy="216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7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일반연속출력</a:t>
            </a:r>
            <a:endParaRPr lang="ko-KR" altLang="en-US" sz="70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68" name="직사각형 467">
            <a:extLst>
              <a:ext uri="{FF2B5EF4-FFF2-40B4-BE49-F238E27FC236}">
                <a16:creationId xmlns="" xmlns:a16="http://schemas.microsoft.com/office/drawing/2014/main" id="{C2B96CB1-836B-48A8-AFA2-417DDACEDE0E}"/>
              </a:ext>
            </a:extLst>
          </p:cNvPr>
          <p:cNvSpPr/>
          <p:nvPr/>
        </p:nvSpPr>
        <p:spPr>
          <a:xfrm>
            <a:off x="9215906" y="5094510"/>
            <a:ext cx="144000" cy="216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7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…</a:t>
            </a:r>
            <a:endParaRPr lang="ko-KR" altLang="en-US" sz="70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69" name="직사각형 468">
            <a:extLst>
              <a:ext uri="{FF2B5EF4-FFF2-40B4-BE49-F238E27FC236}">
                <a16:creationId xmlns="" xmlns:a16="http://schemas.microsoft.com/office/drawing/2014/main" id="{C2B96CB1-836B-48A8-AFA2-417DDACEDE0E}"/>
              </a:ext>
            </a:extLst>
          </p:cNvPr>
          <p:cNvSpPr/>
          <p:nvPr/>
        </p:nvSpPr>
        <p:spPr>
          <a:xfrm>
            <a:off x="1367906" y="5094510"/>
            <a:ext cx="540000" cy="216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700" u="sng" smtClean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F697</a:t>
            </a:r>
            <a:endParaRPr lang="ko-KR" altLang="en-US" sz="700" u="sng">
              <a:solidFill>
                <a:srgbClr val="0070C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71" name="직사각형 470">
            <a:extLst>
              <a:ext uri="{FF2B5EF4-FFF2-40B4-BE49-F238E27FC236}">
                <a16:creationId xmlns="" xmlns:a16="http://schemas.microsoft.com/office/drawing/2014/main" id="{C2B96CB1-836B-48A8-AFA2-417DDACEDE0E}"/>
              </a:ext>
            </a:extLst>
          </p:cNvPr>
          <p:cNvSpPr/>
          <p:nvPr/>
        </p:nvSpPr>
        <p:spPr>
          <a:xfrm>
            <a:off x="1907906" y="5308605"/>
            <a:ext cx="936000" cy="216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700" u="sng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갤</a:t>
            </a:r>
            <a:r>
              <a:rPr lang="ko-KR" altLang="en-US" sz="700" u="sng" smtClean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럴리아본점라움</a:t>
            </a:r>
            <a:endParaRPr lang="ko-KR" altLang="en-US" sz="700" u="sng">
              <a:solidFill>
                <a:srgbClr val="0070C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72" name="직사각형 471">
            <a:extLst>
              <a:ext uri="{FF2B5EF4-FFF2-40B4-BE49-F238E27FC236}">
                <a16:creationId xmlns="" xmlns:a16="http://schemas.microsoft.com/office/drawing/2014/main" id="{125A9445-0B2B-4F55-8AE2-07E57374FAAD}"/>
              </a:ext>
            </a:extLst>
          </p:cNvPr>
          <p:cNvSpPr/>
          <p:nvPr/>
        </p:nvSpPr>
        <p:spPr>
          <a:xfrm>
            <a:off x="2843906" y="5308605"/>
            <a:ext cx="720000" cy="216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7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수탁</a:t>
            </a:r>
          </a:p>
        </p:txBody>
      </p:sp>
      <p:sp>
        <p:nvSpPr>
          <p:cNvPr id="473" name="직사각형 472">
            <a:extLst>
              <a:ext uri="{FF2B5EF4-FFF2-40B4-BE49-F238E27FC236}">
                <a16:creationId xmlns="" xmlns:a16="http://schemas.microsoft.com/office/drawing/2014/main" id="{C2B96CB1-836B-48A8-AFA2-417DDACEDE0E}"/>
              </a:ext>
            </a:extLst>
          </p:cNvPr>
          <p:cNvSpPr/>
          <p:nvPr/>
        </p:nvSpPr>
        <p:spPr>
          <a:xfrm>
            <a:off x="3563906" y="5308605"/>
            <a:ext cx="720000" cy="216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7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백화점</a:t>
            </a:r>
          </a:p>
        </p:txBody>
      </p:sp>
      <p:sp>
        <p:nvSpPr>
          <p:cNvPr id="474" name="직사각형 473">
            <a:extLst>
              <a:ext uri="{FF2B5EF4-FFF2-40B4-BE49-F238E27FC236}">
                <a16:creationId xmlns="" xmlns:a16="http://schemas.microsoft.com/office/drawing/2014/main" id="{C2B96CB1-836B-48A8-AFA2-417DDACEDE0E}"/>
              </a:ext>
            </a:extLst>
          </p:cNvPr>
          <p:cNvSpPr/>
          <p:nvPr/>
        </p:nvSpPr>
        <p:spPr>
          <a:xfrm>
            <a:off x="4283906" y="5308605"/>
            <a:ext cx="720000" cy="216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7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정상매장</a:t>
            </a:r>
            <a:endParaRPr lang="ko-KR" altLang="en-US" sz="70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75" name="직사각형 474">
            <a:extLst>
              <a:ext uri="{FF2B5EF4-FFF2-40B4-BE49-F238E27FC236}">
                <a16:creationId xmlns="" xmlns:a16="http://schemas.microsoft.com/office/drawing/2014/main" id="{C2B96CB1-836B-48A8-AFA2-417DDACEDE0E}"/>
              </a:ext>
            </a:extLst>
          </p:cNvPr>
          <p:cNvSpPr/>
          <p:nvPr/>
        </p:nvSpPr>
        <p:spPr>
          <a:xfrm>
            <a:off x="5003906" y="5308605"/>
            <a:ext cx="792000" cy="216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7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10</a:t>
            </a:r>
            <a:endParaRPr lang="ko-KR" altLang="en-US" sz="70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76" name="직사각형 475">
            <a:extLst>
              <a:ext uri="{FF2B5EF4-FFF2-40B4-BE49-F238E27FC236}">
                <a16:creationId xmlns="" xmlns:a16="http://schemas.microsoft.com/office/drawing/2014/main" id="{125A9445-0B2B-4F55-8AE2-07E57374FAAD}"/>
              </a:ext>
            </a:extLst>
          </p:cNvPr>
          <p:cNvSpPr/>
          <p:nvPr/>
        </p:nvSpPr>
        <p:spPr>
          <a:xfrm>
            <a:off x="5795906" y="5308605"/>
            <a:ext cx="792000" cy="216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7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0</a:t>
            </a:r>
            <a:endParaRPr lang="ko-KR" altLang="en-US" sz="70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477" name="직사각형 476">
            <a:extLst>
              <a:ext uri="{FF2B5EF4-FFF2-40B4-BE49-F238E27FC236}">
                <a16:creationId xmlns="" xmlns:a16="http://schemas.microsoft.com/office/drawing/2014/main" id="{C2B96CB1-836B-48A8-AFA2-417DDACEDE0E}"/>
              </a:ext>
            </a:extLst>
          </p:cNvPr>
          <p:cNvSpPr/>
          <p:nvPr/>
        </p:nvSpPr>
        <p:spPr>
          <a:xfrm>
            <a:off x="6587906" y="5308605"/>
            <a:ext cx="792000" cy="216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7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300</a:t>
            </a:r>
            <a:endParaRPr lang="ko-KR" altLang="en-US" sz="70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478" name="직사각형 477">
            <a:extLst>
              <a:ext uri="{FF2B5EF4-FFF2-40B4-BE49-F238E27FC236}">
                <a16:creationId xmlns="" xmlns:a16="http://schemas.microsoft.com/office/drawing/2014/main" id="{C2B96CB1-836B-48A8-AFA2-417DDACEDE0E}"/>
              </a:ext>
            </a:extLst>
          </p:cNvPr>
          <p:cNvSpPr/>
          <p:nvPr/>
        </p:nvSpPr>
        <p:spPr>
          <a:xfrm>
            <a:off x="7379906" y="5308605"/>
            <a:ext cx="576000" cy="216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7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B</a:t>
            </a:r>
            <a:endParaRPr lang="ko-KR" altLang="en-US" sz="70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479" name="직사각형 478">
            <a:extLst>
              <a:ext uri="{FF2B5EF4-FFF2-40B4-BE49-F238E27FC236}">
                <a16:creationId xmlns="" xmlns:a16="http://schemas.microsoft.com/office/drawing/2014/main" id="{C2B96CB1-836B-48A8-AFA2-417DDACEDE0E}"/>
              </a:ext>
            </a:extLst>
          </p:cNvPr>
          <p:cNvSpPr/>
          <p:nvPr/>
        </p:nvSpPr>
        <p:spPr>
          <a:xfrm>
            <a:off x="7955906" y="5308605"/>
            <a:ext cx="576000" cy="216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7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102</a:t>
            </a:r>
            <a:endParaRPr lang="ko-KR" altLang="en-US" sz="70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80" name="직사각형 479">
            <a:extLst>
              <a:ext uri="{FF2B5EF4-FFF2-40B4-BE49-F238E27FC236}">
                <a16:creationId xmlns="" xmlns:a16="http://schemas.microsoft.com/office/drawing/2014/main" id="{C2B96CB1-836B-48A8-AFA2-417DDACEDE0E}"/>
              </a:ext>
            </a:extLst>
          </p:cNvPr>
          <p:cNvSpPr/>
          <p:nvPr/>
        </p:nvSpPr>
        <p:spPr>
          <a:xfrm>
            <a:off x="8531906" y="5308605"/>
            <a:ext cx="684000" cy="216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7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일반연속출력</a:t>
            </a:r>
            <a:endParaRPr lang="ko-KR" altLang="en-US" sz="70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81" name="직사각형 480">
            <a:extLst>
              <a:ext uri="{FF2B5EF4-FFF2-40B4-BE49-F238E27FC236}">
                <a16:creationId xmlns="" xmlns:a16="http://schemas.microsoft.com/office/drawing/2014/main" id="{C2B96CB1-836B-48A8-AFA2-417DDACEDE0E}"/>
              </a:ext>
            </a:extLst>
          </p:cNvPr>
          <p:cNvSpPr/>
          <p:nvPr/>
        </p:nvSpPr>
        <p:spPr>
          <a:xfrm>
            <a:off x="9215906" y="5308605"/>
            <a:ext cx="144000" cy="216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7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…</a:t>
            </a:r>
            <a:endParaRPr lang="ko-KR" altLang="en-US" sz="70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82" name="직사각형 481">
            <a:extLst>
              <a:ext uri="{FF2B5EF4-FFF2-40B4-BE49-F238E27FC236}">
                <a16:creationId xmlns="" xmlns:a16="http://schemas.microsoft.com/office/drawing/2014/main" id="{C2B96CB1-836B-48A8-AFA2-417DDACEDE0E}"/>
              </a:ext>
            </a:extLst>
          </p:cNvPr>
          <p:cNvSpPr/>
          <p:nvPr/>
        </p:nvSpPr>
        <p:spPr>
          <a:xfrm>
            <a:off x="1367906" y="5308605"/>
            <a:ext cx="540000" cy="216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700" u="sng" smtClean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F610</a:t>
            </a:r>
            <a:endParaRPr lang="ko-KR" altLang="en-US" sz="700" u="sng">
              <a:solidFill>
                <a:srgbClr val="0070C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14" name="타원 513">
            <a:extLst>
              <a:ext uri="{FF2B5EF4-FFF2-40B4-BE49-F238E27FC236}">
                <a16:creationId xmlns="" xmlns:a16="http://schemas.microsoft.com/office/drawing/2014/main" id="{05928B69-0142-4C14-A783-3D8762E5BBE2}"/>
              </a:ext>
            </a:extLst>
          </p:cNvPr>
          <p:cNvSpPr/>
          <p:nvPr/>
        </p:nvSpPr>
        <p:spPr>
          <a:xfrm>
            <a:off x="1223181" y="1439816"/>
            <a:ext cx="144000" cy="144000"/>
          </a:xfrm>
          <a:prstGeom prst="ellipse">
            <a:avLst/>
          </a:prstGeom>
          <a:solidFill>
            <a:srgbClr val="C00000"/>
          </a:solidFill>
          <a:ln w="3175">
            <a:noFill/>
          </a:ln>
          <a:effectLst>
            <a:outerShdw blurRad="25400" dist="25400" dir="2700000" algn="tl" rotWithShape="0">
              <a:schemeClr val="tx1">
                <a:lumMod val="75000"/>
                <a:lumOff val="2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70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endParaRPr lang="ko-KR" altLang="en-US" sz="70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23" name="타원 522">
            <a:extLst>
              <a:ext uri="{FF2B5EF4-FFF2-40B4-BE49-F238E27FC236}">
                <a16:creationId xmlns="" xmlns:a16="http://schemas.microsoft.com/office/drawing/2014/main" id="{05928B69-0142-4C14-A783-3D8762E5BBE2}"/>
              </a:ext>
            </a:extLst>
          </p:cNvPr>
          <p:cNvSpPr/>
          <p:nvPr/>
        </p:nvSpPr>
        <p:spPr>
          <a:xfrm>
            <a:off x="1223181" y="3372805"/>
            <a:ext cx="144000" cy="144000"/>
          </a:xfrm>
          <a:prstGeom prst="ellipse">
            <a:avLst/>
          </a:prstGeom>
          <a:solidFill>
            <a:srgbClr val="C00000"/>
          </a:solidFill>
          <a:ln w="3175">
            <a:noFill/>
          </a:ln>
          <a:effectLst>
            <a:outerShdw blurRad="25400" dist="25400" dir="2700000" algn="tl" rotWithShape="0">
              <a:schemeClr val="tx1">
                <a:lumMod val="75000"/>
                <a:lumOff val="2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70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endParaRPr lang="ko-KR" altLang="en-US" sz="70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2668941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1" name="그룹 270"/>
          <p:cNvGrpSpPr/>
          <p:nvPr/>
        </p:nvGrpSpPr>
        <p:grpSpPr>
          <a:xfrm>
            <a:off x="1367906" y="1717723"/>
            <a:ext cx="3996828" cy="288000"/>
            <a:chOff x="5363078" y="2870101"/>
            <a:chExt cx="3996828" cy="288000"/>
          </a:xfrm>
        </p:grpSpPr>
        <p:sp>
          <p:nvSpPr>
            <p:cNvPr id="272" name="직사각형 271">
              <a:extLst>
                <a:ext uri="{FF2B5EF4-FFF2-40B4-BE49-F238E27FC236}">
                  <a16:creationId xmlns="" xmlns:a16="http://schemas.microsoft.com/office/drawing/2014/main" id="{C3CBC899-E192-4597-B3EF-23483E494D33}"/>
                </a:ext>
              </a:extLst>
            </p:cNvPr>
            <p:cNvSpPr/>
            <p:nvPr/>
          </p:nvSpPr>
          <p:spPr>
            <a:xfrm>
              <a:off x="5363078" y="2870101"/>
              <a:ext cx="900000" cy="288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36000" rIns="108000" bIns="36000" rtlCol="0" anchor="ctr"/>
            <a:lstStyle/>
            <a:p>
              <a:r>
                <a:rPr lang="ko-KR" altLang="en-US" sz="70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브랜드</a:t>
              </a:r>
              <a:endParaRPr lang="ko-KR" altLang="en-US" sz="7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273" name="직사각형 272">
              <a:extLst>
                <a:ext uri="{FF2B5EF4-FFF2-40B4-BE49-F238E27FC236}">
                  <a16:creationId xmlns="" xmlns:a16="http://schemas.microsoft.com/office/drawing/2014/main" id="{C8E8B8B5-F2A9-4F2D-8F41-E83BE71E8F5A}"/>
                </a:ext>
              </a:extLst>
            </p:cNvPr>
            <p:cNvSpPr/>
            <p:nvPr/>
          </p:nvSpPr>
          <p:spPr>
            <a:xfrm>
              <a:off x="6263906" y="2870101"/>
              <a:ext cx="3096000" cy="288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36000" rIns="108000" bIns="36000" rtlCol="0" anchor="ctr"/>
            <a:lstStyle/>
            <a:p>
              <a:endParaRPr lang="ko-KR" altLang="en-US" sz="8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274" name="모서리가 둥근 직사각형 184">
              <a:extLst>
                <a:ext uri="{FF2B5EF4-FFF2-40B4-BE49-F238E27FC236}">
                  <a16:creationId xmlns="" xmlns:a16="http://schemas.microsoft.com/office/drawing/2014/main" id="{7C4181B1-00DE-4B1A-9AF4-36726F2433BA}"/>
                </a:ext>
              </a:extLst>
            </p:cNvPr>
            <p:cNvSpPr/>
            <p:nvPr/>
          </p:nvSpPr>
          <p:spPr bwMode="auto">
            <a:xfrm>
              <a:off x="6336805" y="2924101"/>
              <a:ext cx="720000" cy="180000"/>
            </a:xfrm>
            <a:prstGeom prst="roundRect">
              <a:avLst/>
            </a:prstGeom>
            <a:solidFill>
              <a:srgbClr val="FFFFEF"/>
            </a:solidFill>
            <a:ln w="3175" cap="flat" cmpd="sng" algn="ctr">
              <a:solidFill>
                <a:schemeClr val="bg1">
                  <a:lumMod val="7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none" lIns="108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defTabSz="914400" fontAlgn="base" latinLnBrk="0">
                <a:spcBef>
                  <a:spcPct val="0"/>
                </a:spcBef>
                <a:spcAft>
                  <a:spcPct val="0"/>
                </a:spcAft>
              </a:pPr>
              <a:endParaRPr kumimoji="1" lang="ko-KR" altLang="en-US" sz="700" b="0" i="0" u="none" strike="noStrike" kern="0" cap="none" spc="0" normalizeH="0" baseline="0" noProof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275" name="모서리가 둥근 직사각형 184">
              <a:extLst>
                <a:ext uri="{FF2B5EF4-FFF2-40B4-BE49-F238E27FC236}">
                  <a16:creationId xmlns="" xmlns:a16="http://schemas.microsoft.com/office/drawing/2014/main" id="{7C4181B1-00DE-4B1A-9AF4-36726F2433BA}"/>
                </a:ext>
              </a:extLst>
            </p:cNvPr>
            <p:cNvSpPr/>
            <p:nvPr/>
          </p:nvSpPr>
          <p:spPr bwMode="auto">
            <a:xfrm>
              <a:off x="7092805" y="2924101"/>
              <a:ext cx="720000" cy="180000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 w="3175" cap="flat" cmpd="sng" algn="ctr">
              <a:solidFill>
                <a:schemeClr val="bg1">
                  <a:lumMod val="7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none" lIns="108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defTabSz="914400" fontAlgn="base" latinLnBrk="0">
                <a:spcBef>
                  <a:spcPct val="0"/>
                </a:spcBef>
                <a:spcAft>
                  <a:spcPct val="0"/>
                </a:spcAft>
              </a:pPr>
              <a:endParaRPr kumimoji="1" lang="ko-KR" altLang="en-US" sz="700" b="0" i="0" u="none" strike="noStrike" kern="0" cap="none" spc="0" normalizeH="0" baseline="0" noProof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276" name="Search"/>
            <p:cNvSpPr>
              <a:spLocks noChangeAspect="1" noEditPoints="1"/>
            </p:cNvSpPr>
            <p:nvPr/>
          </p:nvSpPr>
          <p:spPr bwMode="auto">
            <a:xfrm>
              <a:off x="6876667" y="2942664"/>
              <a:ext cx="144000" cy="142875"/>
            </a:xfrm>
            <a:custGeom>
              <a:avLst/>
              <a:gdLst>
                <a:gd name="T0" fmla="*/ 227 w 572"/>
                <a:gd name="T1" fmla="*/ 0 h 585"/>
                <a:gd name="T2" fmla="*/ 0 w 572"/>
                <a:gd name="T3" fmla="*/ 227 h 585"/>
                <a:gd name="T4" fmla="*/ 227 w 572"/>
                <a:gd name="T5" fmla="*/ 453 h 585"/>
                <a:gd name="T6" fmla="*/ 359 w 572"/>
                <a:gd name="T7" fmla="*/ 410 h 585"/>
                <a:gd name="T8" fmla="*/ 535 w 572"/>
                <a:gd name="T9" fmla="*/ 585 h 585"/>
                <a:gd name="T10" fmla="*/ 572 w 572"/>
                <a:gd name="T11" fmla="*/ 548 h 585"/>
                <a:gd name="T12" fmla="*/ 399 w 572"/>
                <a:gd name="T13" fmla="*/ 374 h 585"/>
                <a:gd name="T14" fmla="*/ 454 w 572"/>
                <a:gd name="T15" fmla="*/ 227 h 585"/>
                <a:gd name="T16" fmla="*/ 227 w 572"/>
                <a:gd name="T17" fmla="*/ 0 h 585"/>
                <a:gd name="T18" fmla="*/ 227 w 572"/>
                <a:gd name="T19" fmla="*/ 27 h 585"/>
                <a:gd name="T20" fmla="*/ 427 w 572"/>
                <a:gd name="T21" fmla="*/ 227 h 585"/>
                <a:gd name="T22" fmla="*/ 227 w 572"/>
                <a:gd name="T23" fmla="*/ 427 h 585"/>
                <a:gd name="T24" fmla="*/ 27 w 572"/>
                <a:gd name="T25" fmla="*/ 227 h 585"/>
                <a:gd name="T26" fmla="*/ 227 w 572"/>
                <a:gd name="T27" fmla="*/ 27 h 5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572" h="585">
                  <a:moveTo>
                    <a:pt x="227" y="0"/>
                  </a:moveTo>
                  <a:cubicBezTo>
                    <a:pt x="102" y="0"/>
                    <a:pt x="0" y="102"/>
                    <a:pt x="0" y="227"/>
                  </a:cubicBezTo>
                  <a:cubicBezTo>
                    <a:pt x="0" y="352"/>
                    <a:pt x="102" y="453"/>
                    <a:pt x="227" y="453"/>
                  </a:cubicBezTo>
                  <a:cubicBezTo>
                    <a:pt x="276" y="453"/>
                    <a:pt x="322" y="437"/>
                    <a:pt x="359" y="410"/>
                  </a:cubicBezTo>
                  <a:lnTo>
                    <a:pt x="535" y="585"/>
                  </a:lnTo>
                  <a:lnTo>
                    <a:pt x="572" y="548"/>
                  </a:lnTo>
                  <a:lnTo>
                    <a:pt x="399" y="374"/>
                  </a:lnTo>
                  <a:cubicBezTo>
                    <a:pt x="433" y="335"/>
                    <a:pt x="454" y="283"/>
                    <a:pt x="454" y="227"/>
                  </a:cubicBezTo>
                  <a:cubicBezTo>
                    <a:pt x="454" y="102"/>
                    <a:pt x="352" y="0"/>
                    <a:pt x="227" y="0"/>
                  </a:cubicBezTo>
                  <a:close/>
                  <a:moveTo>
                    <a:pt x="227" y="27"/>
                  </a:moveTo>
                  <a:cubicBezTo>
                    <a:pt x="338" y="27"/>
                    <a:pt x="427" y="116"/>
                    <a:pt x="427" y="227"/>
                  </a:cubicBezTo>
                  <a:cubicBezTo>
                    <a:pt x="427" y="337"/>
                    <a:pt x="338" y="427"/>
                    <a:pt x="227" y="427"/>
                  </a:cubicBezTo>
                  <a:cubicBezTo>
                    <a:pt x="116" y="427"/>
                    <a:pt x="27" y="337"/>
                    <a:pt x="27" y="227"/>
                  </a:cubicBezTo>
                  <a:cubicBezTo>
                    <a:pt x="27" y="116"/>
                    <a:pt x="116" y="27"/>
                    <a:pt x="227" y="27"/>
                  </a:cubicBezTo>
                  <a:close/>
                </a:path>
              </a:pathLst>
            </a:custGeom>
            <a:solidFill>
              <a:srgbClr val="5F5F5F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sp>
        <p:nvSpPr>
          <p:cNvPr id="483" name="직사각형 482">
            <a:extLst>
              <a:ext uri="{FF2B5EF4-FFF2-40B4-BE49-F238E27FC236}">
                <a16:creationId xmlns="" xmlns:a16="http://schemas.microsoft.com/office/drawing/2014/main" id="{E955F0F7-52A0-48E2-96C0-51A6B4AD6027}"/>
              </a:ext>
            </a:extLst>
          </p:cNvPr>
          <p:cNvSpPr/>
          <p:nvPr/>
        </p:nvSpPr>
        <p:spPr>
          <a:xfrm>
            <a:off x="1367906" y="3372805"/>
            <a:ext cx="7992000" cy="2592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36000" rIns="36000" bIns="36000" rtlCol="0" anchor="ctr"/>
          <a:lstStyle/>
          <a:p>
            <a:endParaRPr lang="ko-KR" altLang="en-US" sz="700" b="1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485" name="그룹 484">
            <a:extLst>
              <a:ext uri="{FF2B5EF4-FFF2-40B4-BE49-F238E27FC236}">
                <a16:creationId xmlns="" xmlns:a16="http://schemas.microsoft.com/office/drawing/2014/main" id="{57ECD31F-788D-4171-BC56-21203531164F}"/>
              </a:ext>
            </a:extLst>
          </p:cNvPr>
          <p:cNvGrpSpPr/>
          <p:nvPr/>
        </p:nvGrpSpPr>
        <p:grpSpPr>
          <a:xfrm>
            <a:off x="1367906" y="5820805"/>
            <a:ext cx="7992000" cy="144000"/>
            <a:chOff x="8787536" y="5061829"/>
            <a:chExt cx="7992000" cy="144000"/>
          </a:xfrm>
        </p:grpSpPr>
        <p:sp>
          <p:nvSpPr>
            <p:cNvPr id="486" name="직사각형 485">
              <a:extLst>
                <a:ext uri="{FF2B5EF4-FFF2-40B4-BE49-F238E27FC236}">
                  <a16:creationId xmlns="" xmlns:a16="http://schemas.microsoft.com/office/drawing/2014/main" id="{46DB708C-F6C9-4BC3-8798-5AEC8BA752B6}"/>
                </a:ext>
              </a:extLst>
            </p:cNvPr>
            <p:cNvSpPr/>
            <p:nvPr/>
          </p:nvSpPr>
          <p:spPr bwMode="auto">
            <a:xfrm>
              <a:off x="8787536" y="5061829"/>
              <a:ext cx="7992000" cy="144000"/>
            </a:xfrm>
            <a:prstGeom prst="rect">
              <a:avLst/>
            </a:prstGeom>
            <a:solidFill>
              <a:schemeClr val="bg1"/>
            </a:solidFill>
            <a:ln w="3175" cap="flat" cmpd="sng" algn="ctr">
              <a:solidFill>
                <a:schemeClr val="bg1">
                  <a:lumMod val="7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none" lIns="108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fontAlgn="base" latinLnBrk="0">
                <a:spcBef>
                  <a:spcPct val="0"/>
                </a:spcBef>
                <a:spcAft>
                  <a:spcPct val="0"/>
                </a:spcAft>
              </a:pPr>
              <a:endParaRPr kumimoji="1" lang="ko-KR" altLang="en-US" sz="700" kern="0">
                <a:solidFill>
                  <a:srgbClr val="000000"/>
                </a:solidFill>
                <a:latin typeface="+mn-ea"/>
              </a:endParaRPr>
            </a:p>
          </p:txBody>
        </p:sp>
        <p:sp>
          <p:nvSpPr>
            <p:cNvPr id="487" name="직사각형 486">
              <a:extLst>
                <a:ext uri="{FF2B5EF4-FFF2-40B4-BE49-F238E27FC236}">
                  <a16:creationId xmlns="" xmlns:a16="http://schemas.microsoft.com/office/drawing/2014/main" id="{CFA4A5C4-50A2-45F3-A6F7-13A35965A534}"/>
                </a:ext>
              </a:extLst>
            </p:cNvPr>
            <p:cNvSpPr/>
            <p:nvPr/>
          </p:nvSpPr>
          <p:spPr bwMode="auto">
            <a:xfrm>
              <a:off x="8787536" y="5061829"/>
              <a:ext cx="144000" cy="144000"/>
            </a:xfrm>
            <a:prstGeom prst="rect">
              <a:avLst/>
            </a:prstGeom>
            <a:noFill/>
            <a:ln w="317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non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fontAlgn="base" latinLnBrk="0">
                <a:spcBef>
                  <a:spcPct val="0"/>
                </a:spcBef>
                <a:spcAft>
                  <a:spcPct val="0"/>
                </a:spcAft>
              </a:pPr>
              <a:r>
                <a:rPr kumimoji="1" lang="ko-KR" altLang="en-US" sz="700" ker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◀</a:t>
              </a:r>
            </a:p>
          </p:txBody>
        </p:sp>
        <p:sp>
          <p:nvSpPr>
            <p:cNvPr id="488" name="직사각형 487">
              <a:extLst>
                <a:ext uri="{FF2B5EF4-FFF2-40B4-BE49-F238E27FC236}">
                  <a16:creationId xmlns="" xmlns:a16="http://schemas.microsoft.com/office/drawing/2014/main" id="{DE0FE1FF-26CD-4D0A-80D5-87996CA74226}"/>
                </a:ext>
              </a:extLst>
            </p:cNvPr>
            <p:cNvSpPr/>
            <p:nvPr/>
          </p:nvSpPr>
          <p:spPr bwMode="auto">
            <a:xfrm>
              <a:off x="16635536" y="5061829"/>
              <a:ext cx="144000" cy="144000"/>
            </a:xfrm>
            <a:prstGeom prst="rect">
              <a:avLst/>
            </a:prstGeom>
            <a:noFill/>
            <a:ln w="317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non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fontAlgn="base" latinLnBrk="0">
                <a:spcBef>
                  <a:spcPct val="0"/>
                </a:spcBef>
                <a:spcAft>
                  <a:spcPct val="0"/>
                </a:spcAft>
              </a:pPr>
              <a:r>
                <a:rPr kumimoji="1" lang="ko-KR" altLang="en-US" sz="700" ker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▶</a:t>
              </a:r>
            </a:p>
          </p:txBody>
        </p:sp>
        <p:sp>
          <p:nvSpPr>
            <p:cNvPr id="489" name="모서리가 둥근 직사각형 303">
              <a:extLst>
                <a:ext uri="{FF2B5EF4-FFF2-40B4-BE49-F238E27FC236}">
                  <a16:creationId xmlns="" xmlns:a16="http://schemas.microsoft.com/office/drawing/2014/main" id="{6B4E175A-EAD1-47E4-BC64-84F4A065D731}"/>
                </a:ext>
              </a:extLst>
            </p:cNvPr>
            <p:cNvSpPr/>
            <p:nvPr/>
          </p:nvSpPr>
          <p:spPr bwMode="auto">
            <a:xfrm>
              <a:off x="9031173" y="5097829"/>
              <a:ext cx="6480000" cy="72000"/>
            </a:xfrm>
            <a:prstGeom prst="roundRect">
              <a:avLst/>
            </a:prstGeom>
            <a:solidFill>
              <a:schemeClr val="bg1">
                <a:lumMod val="75000"/>
              </a:schemeClr>
            </a:solidFill>
            <a:ln w="3175" cap="flat" cmpd="sng" algn="ctr">
              <a:solidFill>
                <a:schemeClr val="bg1">
                  <a:lumMod val="7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none" lIns="36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fontAlgn="base" latinLnBrk="0">
                <a:spcBef>
                  <a:spcPct val="0"/>
                </a:spcBef>
                <a:spcAft>
                  <a:spcPct val="0"/>
                </a:spcAft>
              </a:pPr>
              <a:endParaRPr kumimoji="1" lang="ko-KR" altLang="en-US" sz="700" kern="0">
                <a:solidFill>
                  <a:srgbClr val="000000"/>
                </a:solidFill>
                <a:latin typeface="+mn-ea"/>
              </a:endParaRPr>
            </a:p>
          </p:txBody>
        </p:sp>
      </p:grpSp>
      <p:sp>
        <p:nvSpPr>
          <p:cNvPr id="341" name="직사각형 340">
            <a:extLst>
              <a:ext uri="{FF2B5EF4-FFF2-40B4-BE49-F238E27FC236}">
                <a16:creationId xmlns="" xmlns:a16="http://schemas.microsoft.com/office/drawing/2014/main" id="{ED30316B-09AE-48E0-BF18-1A5E3F61829D}"/>
              </a:ext>
            </a:extLst>
          </p:cNvPr>
          <p:cNvSpPr/>
          <p:nvPr/>
        </p:nvSpPr>
        <p:spPr>
          <a:xfrm>
            <a:off x="143906" y="1213699"/>
            <a:ext cx="1080000" cy="5184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  <a:effectLst>
            <a:outerShdw blurRad="12700" dist="12700" algn="l" rotWithShape="0">
              <a:schemeClr val="tx1">
                <a:lumMod val="75000"/>
                <a:lumOff val="2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endParaRPr lang="ko-KR" altLang="en-US" sz="1000" b="1">
              <a:solidFill>
                <a:schemeClr val="bg1">
                  <a:lumMod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42" name="직사각형 341"/>
          <p:cNvSpPr/>
          <p:nvPr/>
        </p:nvSpPr>
        <p:spPr>
          <a:xfrm>
            <a:off x="143906" y="1213699"/>
            <a:ext cx="1080000" cy="288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endParaRPr lang="ko-KR" altLang="en-US" sz="700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43" name="사각형: 둥근 모서리 296">
            <a:extLst>
              <a:ext uri="{FF2B5EF4-FFF2-40B4-BE49-F238E27FC236}">
                <a16:creationId xmlns="" xmlns:a16="http://schemas.microsoft.com/office/drawing/2014/main" id="{B58175FB-DF3C-47BC-89DF-82BB433EE187}"/>
              </a:ext>
            </a:extLst>
          </p:cNvPr>
          <p:cNvSpPr/>
          <p:nvPr/>
        </p:nvSpPr>
        <p:spPr bwMode="auto">
          <a:xfrm>
            <a:off x="215906" y="1285699"/>
            <a:ext cx="936000" cy="144000"/>
          </a:xfrm>
          <a:prstGeom prst="roundRect">
            <a:avLst/>
          </a:prstGeom>
          <a:solidFill>
            <a:schemeClr val="bg1"/>
          </a:solidFill>
          <a:ln w="3175" cap="flat" cmpd="sng" algn="ctr">
            <a:solidFill>
              <a:schemeClr val="bg1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>
            <a:outerShdw blurRad="12700" dist="12700" dir="2700000" algn="tl" rotWithShape="0">
              <a:schemeClr val="tx1">
                <a:lumMod val="75000"/>
                <a:lumOff val="25000"/>
                <a:alpha val="30000"/>
              </a:schemeClr>
            </a:outerShdw>
          </a:effectLst>
        </p:spPr>
        <p:txBody>
          <a:bodyPr rot="0" spcFirstLastPara="0" vertOverflow="overflow" horzOverflow="overflow" vert="horz" wrap="non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400" fontAlgn="base" latinLnBrk="0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700" kern="0" dirty="0">
                <a:solidFill>
                  <a:srgbClr val="000000"/>
                </a:solidFill>
                <a:latin typeface="+mn-ea"/>
              </a:rPr>
              <a:t>LFmall </a:t>
            </a:r>
            <a:r>
              <a:rPr kumimoji="1" lang="ko-KR" altLang="en-US" sz="700" kern="0" dirty="0">
                <a:solidFill>
                  <a:srgbClr val="000000"/>
                </a:solidFill>
                <a:latin typeface="+mn-ea"/>
              </a:rPr>
              <a:t>바로가기</a:t>
            </a:r>
          </a:p>
        </p:txBody>
      </p:sp>
      <p:sp>
        <p:nvSpPr>
          <p:cNvPr id="344" name="직사각형 343"/>
          <p:cNvSpPr/>
          <p:nvPr/>
        </p:nvSpPr>
        <p:spPr>
          <a:xfrm>
            <a:off x="143906" y="1501699"/>
            <a:ext cx="540000" cy="21600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7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메뉴</a:t>
            </a:r>
            <a:endParaRPr lang="ko-KR" altLang="en-US" sz="700" b="1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45" name="직사각형 344"/>
          <p:cNvSpPr/>
          <p:nvPr/>
        </p:nvSpPr>
        <p:spPr>
          <a:xfrm>
            <a:off x="683906" y="1501699"/>
            <a:ext cx="540000" cy="216000"/>
          </a:xfrm>
          <a:prstGeom prst="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70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즐겨찾기</a:t>
            </a:r>
            <a:endParaRPr lang="ko-KR" altLang="en-US" sz="700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1" name="제목 1"/>
          <p:cNvSpPr txBox="1">
            <a:spLocks/>
          </p:cNvSpPr>
          <p:nvPr/>
        </p:nvSpPr>
        <p:spPr>
          <a:xfrm>
            <a:off x="1223906" y="358660"/>
            <a:ext cx="1080000" cy="216000"/>
          </a:xfrm>
          <a:prstGeom prst="rect">
            <a:avLst/>
          </a:prstGeom>
        </p:spPr>
        <p:txBody>
          <a:bodyPr lIns="36000" tIns="36000" rIns="36000" bIns="36000" anchor="ctr"/>
          <a:lstStyle>
            <a:lvl1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2pPr>
            <a:lvl3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3pPr>
            <a:lvl4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4pPr>
            <a:lvl5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5pPr>
            <a:lvl6pPr marL="457212" algn="ctr" rtl="0" fontAlgn="base" latinLnBrk="1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6pPr>
            <a:lvl7pPr marL="914423" algn="ctr" rtl="0" fontAlgn="base" latinLnBrk="1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7pPr>
            <a:lvl8pPr marL="1371634" algn="ctr" rtl="0" fontAlgn="base" latinLnBrk="1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8pPr>
            <a:lvl9pPr marL="1828846" algn="ctr" rtl="0" fontAlgn="base" latinLnBrk="1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r>
              <a:rPr lang="en-US" altLang="ko-KR" sz="800" ker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-</a:t>
            </a:r>
            <a:endParaRPr lang="ko-KR" altLang="en-US" sz="800" kern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29" name="제목 1"/>
          <p:cNvSpPr txBox="1">
            <a:spLocks/>
          </p:cNvSpPr>
          <p:nvPr/>
        </p:nvSpPr>
        <p:spPr>
          <a:xfrm>
            <a:off x="1223906" y="142660"/>
            <a:ext cx="1080000" cy="216000"/>
          </a:xfrm>
          <a:prstGeom prst="rect">
            <a:avLst/>
          </a:prstGeom>
        </p:spPr>
        <p:txBody>
          <a:bodyPr lIns="36000" tIns="36000" rIns="36000" bIns="36000" anchor="ctr"/>
          <a:lstStyle>
            <a:lvl1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2pPr>
            <a:lvl3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3pPr>
            <a:lvl4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4pPr>
            <a:lvl5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5pPr>
            <a:lvl6pPr marL="457212" algn="ctr" rtl="0" fontAlgn="base" latinLnBrk="1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6pPr>
            <a:lvl7pPr marL="914423" algn="ctr" rtl="0" fontAlgn="base" latinLnBrk="1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7pPr>
            <a:lvl8pPr marL="1371634" algn="ctr" rtl="0" fontAlgn="base" latinLnBrk="1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8pPr>
            <a:lvl9pPr marL="1828846" algn="ctr" rtl="0" fontAlgn="base" latinLnBrk="1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r>
              <a:rPr lang="en-US" altLang="ko-KR" sz="8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nBOS</a:t>
            </a:r>
            <a:endParaRPr lang="ko-KR" altLang="en-US" sz="800" kern="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28" name="TextBox 127">
            <a:extLst>
              <a:ext uri="{FF2B5EF4-FFF2-40B4-BE49-F238E27FC236}">
                <a16:creationId xmlns="" xmlns:a16="http://schemas.microsoft.com/office/drawing/2014/main" id="{821D320A-7043-4925-9E68-A31B417D2A2B}"/>
              </a:ext>
            </a:extLst>
          </p:cNvPr>
          <p:cNvSpPr txBox="1"/>
          <p:nvPr/>
        </p:nvSpPr>
        <p:spPr>
          <a:xfrm>
            <a:off x="1367906" y="1439816"/>
            <a:ext cx="833663" cy="195814"/>
          </a:xfrm>
          <a:prstGeom prst="rect">
            <a:avLst/>
          </a:prstGeom>
          <a:noFill/>
          <a:ln w="317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108000" tIns="36000" rIns="108000" bIns="36000" numCol="1" rtlCol="0" anchor="ctr" anchorCtr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ko-KR" altLang="en-US" sz="800" b="1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매장재고연동</a:t>
            </a:r>
            <a:endParaRPr lang="ko-KR" altLang="en-US" sz="800" b="1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</p:txBody>
      </p:sp>
      <p:sp>
        <p:nvSpPr>
          <p:cNvPr id="130" name="직사각형 129">
            <a:extLst>
              <a:ext uri="{FF2B5EF4-FFF2-40B4-BE49-F238E27FC236}">
                <a16:creationId xmlns="" xmlns:a16="http://schemas.microsoft.com/office/drawing/2014/main" id="{1824E750-4BB3-4D13-BABD-9501057BC22E}"/>
              </a:ext>
            </a:extLst>
          </p:cNvPr>
          <p:cNvSpPr/>
          <p:nvPr/>
        </p:nvSpPr>
        <p:spPr>
          <a:xfrm>
            <a:off x="143906" y="709700"/>
            <a:ext cx="9360000" cy="288000"/>
          </a:xfrm>
          <a:prstGeom prst="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0" rIns="180000" bIns="0" rtlCol="0" anchor="ctr"/>
          <a:lstStyle/>
          <a:p>
            <a:pPr algn="l">
              <a:lnSpc>
                <a:spcPct val="150000"/>
              </a:lnSpc>
            </a:pPr>
            <a:endParaRPr lang="en-US" altLang="ko-KR" sz="700" b="0" i="0">
              <a:solidFill>
                <a:srgbClr val="FFFFFF"/>
              </a:solidFill>
              <a:effectLst/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131" name="사각형: 둥근 모서리 296">
            <a:extLst>
              <a:ext uri="{FF2B5EF4-FFF2-40B4-BE49-F238E27FC236}">
                <a16:creationId xmlns="" xmlns:a16="http://schemas.microsoft.com/office/drawing/2014/main" id="{B58175FB-DF3C-47BC-89DF-82BB433EE187}"/>
              </a:ext>
            </a:extLst>
          </p:cNvPr>
          <p:cNvSpPr/>
          <p:nvPr/>
        </p:nvSpPr>
        <p:spPr bwMode="auto">
          <a:xfrm>
            <a:off x="2087960" y="781700"/>
            <a:ext cx="1080000" cy="144000"/>
          </a:xfrm>
          <a:prstGeom prst="roundRect">
            <a:avLst/>
          </a:prstGeom>
          <a:solidFill>
            <a:srgbClr val="F3F7FB"/>
          </a:solidFill>
          <a:ln w="3175" cap="flat" cmpd="sng" algn="ctr">
            <a:solidFill>
              <a:schemeClr val="bg1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>
            <a:outerShdw blurRad="12700" dist="12700" dir="2700000" algn="tl" rotWithShape="0">
              <a:schemeClr val="tx1">
                <a:lumMod val="75000"/>
                <a:lumOff val="25000"/>
                <a:alpha val="30000"/>
              </a:schemeClr>
            </a:outerShdw>
          </a:effectLst>
        </p:spPr>
        <p:txBody>
          <a:bodyPr rot="0" spcFirstLastPara="0" vertOverflow="overflow" horzOverflow="overflow" vert="horz" wrap="non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400" fontAlgn="base" latinLnBrk="0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700" kern="0" dirty="0">
                <a:solidFill>
                  <a:srgbClr val="000000"/>
                </a:solidFill>
                <a:latin typeface="+mn-ea"/>
              </a:rPr>
              <a:t>업무담당자 연락처보기</a:t>
            </a:r>
          </a:p>
        </p:txBody>
      </p:sp>
      <p:sp>
        <p:nvSpPr>
          <p:cNvPr id="132" name="직사각형 131">
            <a:extLst>
              <a:ext uri="{FF2B5EF4-FFF2-40B4-BE49-F238E27FC236}">
                <a16:creationId xmlns="" xmlns:a16="http://schemas.microsoft.com/office/drawing/2014/main" id="{4601BB9D-29E6-4387-A9BC-B614256B84E6}"/>
              </a:ext>
            </a:extLst>
          </p:cNvPr>
          <p:cNvSpPr/>
          <p:nvPr/>
        </p:nvSpPr>
        <p:spPr>
          <a:xfrm>
            <a:off x="7488393" y="781356"/>
            <a:ext cx="1296000" cy="144000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/>
          <a:lstStyle/>
          <a:p>
            <a:pPr algn="r"/>
            <a:r>
              <a:rPr lang="ko-KR" altLang="en-US" sz="7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홍길동</a:t>
            </a:r>
            <a:r>
              <a:rPr lang="ko-KR" altLang="en-US" sz="7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관리자 </a:t>
            </a:r>
            <a:r>
              <a:rPr lang="en-US" altLang="ko-KR" sz="7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en-US" altLang="ko-KR" sz="700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administrator</a:t>
            </a:r>
            <a:r>
              <a:rPr lang="en-US" altLang="ko-KR" sz="7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endParaRPr lang="ko-KR" altLang="en-US" sz="7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133" name="Picture 2">
            <a:extLst>
              <a:ext uri="{FF2B5EF4-FFF2-40B4-BE49-F238E27FC236}">
                <a16:creationId xmlns="" xmlns:a16="http://schemas.microsoft.com/office/drawing/2014/main" id="{4828E12B-7F18-4601-B086-C3E535638F2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" r="74445" b="87250"/>
          <a:stretch/>
        </p:blipFill>
        <p:spPr bwMode="auto">
          <a:xfrm>
            <a:off x="323168" y="763700"/>
            <a:ext cx="721569" cy="18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4" name="TextBox 133">
            <a:extLst>
              <a:ext uri="{FF2B5EF4-FFF2-40B4-BE49-F238E27FC236}">
                <a16:creationId xmlns="" xmlns:a16="http://schemas.microsoft.com/office/drawing/2014/main" id="{22906217-2D84-45DA-8206-D6A7EAFC70CF}"/>
              </a:ext>
            </a:extLst>
          </p:cNvPr>
          <p:cNvSpPr txBox="1"/>
          <p:nvPr/>
        </p:nvSpPr>
        <p:spPr>
          <a:xfrm>
            <a:off x="1044737" y="763488"/>
            <a:ext cx="1043656" cy="180425"/>
          </a:xfrm>
          <a:prstGeom prst="rect">
            <a:avLst/>
          </a:prstGeom>
          <a:noFill/>
          <a:ln w="317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108000" tIns="36000" rIns="108000" bIns="36000" numCol="1" rtlCol="0" anchor="ctr" anchorCtr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altLang="ko-KR" sz="7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Back Office System</a:t>
            </a:r>
          </a:p>
        </p:txBody>
      </p:sp>
      <p:grpSp>
        <p:nvGrpSpPr>
          <p:cNvPr id="135" name="그룹 134"/>
          <p:cNvGrpSpPr/>
          <p:nvPr/>
        </p:nvGrpSpPr>
        <p:grpSpPr>
          <a:xfrm>
            <a:off x="143906" y="997699"/>
            <a:ext cx="9360000" cy="216000"/>
            <a:chOff x="143906" y="997699"/>
            <a:chExt cx="9360000" cy="216000"/>
          </a:xfrm>
          <a:solidFill>
            <a:schemeClr val="tx1">
              <a:lumMod val="75000"/>
              <a:lumOff val="25000"/>
            </a:schemeClr>
          </a:solidFill>
        </p:grpSpPr>
        <p:sp>
          <p:nvSpPr>
            <p:cNvPr id="136" name="직사각형 135"/>
            <p:cNvSpPr/>
            <p:nvPr/>
          </p:nvSpPr>
          <p:spPr>
            <a:xfrm>
              <a:off x="143906" y="997699"/>
              <a:ext cx="720000" cy="216000"/>
            </a:xfrm>
            <a:prstGeom prst="rect">
              <a:avLst/>
            </a:prstGeom>
            <a:grp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/>
              <a:r>
                <a:rPr lang="ko-KR" altLang="en-US" sz="70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홈</a:t>
              </a:r>
              <a:endParaRPr lang="ko-KR" altLang="en-US" sz="70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37" name="직사각형 136"/>
            <p:cNvSpPr/>
            <p:nvPr/>
          </p:nvSpPr>
          <p:spPr>
            <a:xfrm>
              <a:off x="863906" y="997699"/>
              <a:ext cx="720000" cy="216000"/>
            </a:xfrm>
            <a:prstGeom prst="rect">
              <a:avLst/>
            </a:prstGeom>
            <a:solidFill>
              <a:srgbClr val="C00000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/>
              <a:r>
                <a:rPr lang="ko-KR" altLang="en-US" sz="70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상품</a:t>
              </a:r>
              <a:endParaRPr lang="ko-KR" altLang="en-US" sz="70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38" name="직사각형 137"/>
            <p:cNvSpPr/>
            <p:nvPr/>
          </p:nvSpPr>
          <p:spPr>
            <a:xfrm>
              <a:off x="1583906" y="997699"/>
              <a:ext cx="720000" cy="216000"/>
            </a:xfrm>
            <a:prstGeom prst="rect">
              <a:avLst/>
            </a:prstGeom>
            <a:grp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/>
              <a:r>
                <a:rPr lang="ko-KR" altLang="en-US" sz="700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주문</a:t>
              </a:r>
              <a:r>
                <a:rPr lang="en-US" altLang="ko-KR" sz="700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/</a:t>
              </a:r>
              <a:r>
                <a:rPr lang="ko-KR" altLang="en-US" sz="700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배송</a:t>
              </a:r>
            </a:p>
          </p:txBody>
        </p:sp>
        <p:sp>
          <p:nvSpPr>
            <p:cNvPr id="139" name="직사각형 138"/>
            <p:cNvSpPr/>
            <p:nvPr/>
          </p:nvSpPr>
          <p:spPr>
            <a:xfrm>
              <a:off x="2303906" y="997699"/>
              <a:ext cx="720000" cy="216000"/>
            </a:xfrm>
            <a:prstGeom prst="rect">
              <a:avLst/>
            </a:prstGeom>
            <a:grp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/>
              <a:r>
                <a:rPr lang="ko-KR" altLang="en-US" sz="700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회원</a:t>
              </a:r>
              <a:r>
                <a:rPr lang="en-US" altLang="ko-KR" sz="700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/</a:t>
              </a:r>
              <a:r>
                <a:rPr lang="ko-KR" altLang="en-US" sz="700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프로모션</a:t>
              </a:r>
            </a:p>
          </p:txBody>
        </p:sp>
        <p:sp>
          <p:nvSpPr>
            <p:cNvPr id="140" name="직사각형 139"/>
            <p:cNvSpPr/>
            <p:nvPr/>
          </p:nvSpPr>
          <p:spPr>
            <a:xfrm>
              <a:off x="3023906" y="997699"/>
              <a:ext cx="720000" cy="216000"/>
            </a:xfrm>
            <a:prstGeom prst="rect">
              <a:avLst/>
            </a:prstGeom>
            <a:grp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/>
              <a:r>
                <a:rPr lang="ko-KR" altLang="en-US" sz="700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영업</a:t>
              </a:r>
            </a:p>
          </p:txBody>
        </p:sp>
        <p:sp>
          <p:nvSpPr>
            <p:cNvPr id="141" name="직사각형 140"/>
            <p:cNvSpPr/>
            <p:nvPr/>
          </p:nvSpPr>
          <p:spPr>
            <a:xfrm>
              <a:off x="3743906" y="997699"/>
              <a:ext cx="720000" cy="216000"/>
            </a:xfrm>
            <a:prstGeom prst="rect">
              <a:avLst/>
            </a:prstGeom>
            <a:grp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/>
              <a:r>
                <a:rPr lang="ko-KR" altLang="en-US" sz="700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정산</a:t>
              </a:r>
            </a:p>
          </p:txBody>
        </p:sp>
        <p:sp>
          <p:nvSpPr>
            <p:cNvPr id="142" name="직사각형 141"/>
            <p:cNvSpPr/>
            <p:nvPr/>
          </p:nvSpPr>
          <p:spPr>
            <a:xfrm>
              <a:off x="4463906" y="997699"/>
              <a:ext cx="720000" cy="216000"/>
            </a:xfrm>
            <a:prstGeom prst="rect">
              <a:avLst/>
            </a:prstGeom>
            <a:grp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/>
              <a:r>
                <a:rPr lang="ko-KR" altLang="en-US" sz="70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통계</a:t>
              </a:r>
              <a:endParaRPr lang="ko-KR" altLang="en-US" sz="70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43" name="직사각형 142"/>
            <p:cNvSpPr/>
            <p:nvPr/>
          </p:nvSpPr>
          <p:spPr>
            <a:xfrm>
              <a:off x="5183906" y="997699"/>
              <a:ext cx="720000" cy="216000"/>
            </a:xfrm>
            <a:prstGeom prst="rect">
              <a:avLst/>
            </a:prstGeom>
            <a:grp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/>
              <a:r>
                <a:rPr lang="ko-KR" altLang="en-US" sz="70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게시판</a:t>
              </a:r>
              <a:endParaRPr lang="ko-KR" altLang="en-US" sz="70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44" name="직사각형 143"/>
            <p:cNvSpPr/>
            <p:nvPr/>
          </p:nvSpPr>
          <p:spPr>
            <a:xfrm>
              <a:off x="5903906" y="997699"/>
              <a:ext cx="720000" cy="216000"/>
            </a:xfrm>
            <a:prstGeom prst="rect">
              <a:avLst/>
            </a:prstGeom>
            <a:grp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/>
              <a:r>
                <a:rPr lang="ko-KR" altLang="en-US" sz="700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고객추천지수</a:t>
              </a:r>
            </a:p>
          </p:txBody>
        </p:sp>
        <p:sp>
          <p:nvSpPr>
            <p:cNvPr id="145" name="직사각형 144"/>
            <p:cNvSpPr/>
            <p:nvPr/>
          </p:nvSpPr>
          <p:spPr>
            <a:xfrm>
              <a:off x="6623906" y="997699"/>
              <a:ext cx="720000" cy="216000"/>
            </a:xfrm>
            <a:prstGeom prst="rect">
              <a:avLst/>
            </a:prstGeom>
            <a:grp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/>
              <a:r>
                <a:rPr lang="ko-KR" altLang="en-US" sz="70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시스템</a:t>
              </a:r>
              <a:endParaRPr lang="ko-KR" altLang="en-US" sz="70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46" name="직사각형 145"/>
            <p:cNvSpPr/>
            <p:nvPr/>
          </p:nvSpPr>
          <p:spPr>
            <a:xfrm>
              <a:off x="7343906" y="997699"/>
              <a:ext cx="2160000" cy="216000"/>
            </a:xfrm>
            <a:prstGeom prst="rect">
              <a:avLst/>
            </a:prstGeom>
            <a:grp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/>
              <a:endParaRPr lang="ko-KR" altLang="en-US" sz="70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grpSp>
        <p:nvGrpSpPr>
          <p:cNvPr id="148" name="그룹 147"/>
          <p:cNvGrpSpPr/>
          <p:nvPr/>
        </p:nvGrpSpPr>
        <p:grpSpPr>
          <a:xfrm>
            <a:off x="8856393" y="781700"/>
            <a:ext cx="144000" cy="144000"/>
            <a:chOff x="8856393" y="781700"/>
            <a:chExt cx="144000" cy="144000"/>
          </a:xfrm>
        </p:grpSpPr>
        <p:sp>
          <p:nvSpPr>
            <p:cNvPr id="149" name="사각형: 둥근 모서리 296">
              <a:extLst>
                <a:ext uri="{FF2B5EF4-FFF2-40B4-BE49-F238E27FC236}">
                  <a16:creationId xmlns="" xmlns:a16="http://schemas.microsoft.com/office/drawing/2014/main" id="{5E2C148E-29FC-42C6-B221-CA7B7DA48E4E}"/>
                </a:ext>
              </a:extLst>
            </p:cNvPr>
            <p:cNvSpPr/>
            <p:nvPr/>
          </p:nvSpPr>
          <p:spPr bwMode="auto">
            <a:xfrm>
              <a:off x="8856393" y="781700"/>
              <a:ext cx="144000" cy="144000"/>
            </a:xfrm>
            <a:prstGeom prst="roundRect">
              <a:avLst/>
            </a:prstGeom>
            <a:solidFill>
              <a:srgbClr val="F3F7FB"/>
            </a:solidFill>
            <a:ln w="3175" cap="flat" cmpd="sng" algn="ctr">
              <a:solidFill>
                <a:schemeClr val="bg1">
                  <a:lumMod val="7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12700" dist="12700" dir="2700000" algn="tl" rotWithShape="0">
                <a:schemeClr val="tx1">
                  <a:lumMod val="75000"/>
                  <a:lumOff val="25000"/>
                  <a:alpha val="30000"/>
                </a:schemeClr>
              </a:outerShdw>
            </a:effectLst>
          </p:spPr>
          <p:txBody>
            <a:bodyPr rot="0" spcFirstLastPara="0" vertOverflow="overflow" horzOverflow="overflow" vert="horz" wrap="none" lIns="108000" tIns="36000" rIns="180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14400" fontAlgn="base" latinLnBrk="0">
                <a:spcBef>
                  <a:spcPct val="0"/>
                </a:spcBef>
                <a:spcAft>
                  <a:spcPct val="0"/>
                </a:spcAft>
              </a:pPr>
              <a:endParaRPr kumimoji="1" lang="ko-KR" altLang="en-US" sz="700" kern="0">
                <a:solidFill>
                  <a:srgbClr val="000000"/>
                </a:solidFill>
                <a:latin typeface="+mn-ea"/>
              </a:endParaRPr>
            </a:p>
          </p:txBody>
        </p:sp>
        <p:sp>
          <p:nvSpPr>
            <p:cNvPr id="151" name="Lock"/>
            <p:cNvSpPr>
              <a:spLocks noChangeAspect="1" noEditPoints="1"/>
            </p:cNvSpPr>
            <p:nvPr/>
          </p:nvSpPr>
          <p:spPr bwMode="auto">
            <a:xfrm>
              <a:off x="8872831" y="799700"/>
              <a:ext cx="111125" cy="108000"/>
            </a:xfrm>
            <a:custGeom>
              <a:avLst/>
              <a:gdLst>
                <a:gd name="T0" fmla="*/ 226 w 453"/>
                <a:gd name="T1" fmla="*/ 0 h 600"/>
                <a:gd name="T2" fmla="*/ 80 w 453"/>
                <a:gd name="T3" fmla="*/ 146 h 600"/>
                <a:gd name="T4" fmla="*/ 80 w 453"/>
                <a:gd name="T5" fmla="*/ 226 h 600"/>
                <a:gd name="T6" fmla="*/ 40 w 453"/>
                <a:gd name="T7" fmla="*/ 226 h 600"/>
                <a:gd name="T8" fmla="*/ 0 w 453"/>
                <a:gd name="T9" fmla="*/ 266 h 600"/>
                <a:gd name="T10" fmla="*/ 0 w 453"/>
                <a:gd name="T11" fmla="*/ 560 h 600"/>
                <a:gd name="T12" fmla="*/ 40 w 453"/>
                <a:gd name="T13" fmla="*/ 600 h 600"/>
                <a:gd name="T14" fmla="*/ 413 w 453"/>
                <a:gd name="T15" fmla="*/ 600 h 600"/>
                <a:gd name="T16" fmla="*/ 453 w 453"/>
                <a:gd name="T17" fmla="*/ 560 h 600"/>
                <a:gd name="T18" fmla="*/ 453 w 453"/>
                <a:gd name="T19" fmla="*/ 266 h 600"/>
                <a:gd name="T20" fmla="*/ 413 w 453"/>
                <a:gd name="T21" fmla="*/ 226 h 600"/>
                <a:gd name="T22" fmla="*/ 373 w 453"/>
                <a:gd name="T23" fmla="*/ 226 h 600"/>
                <a:gd name="T24" fmla="*/ 373 w 453"/>
                <a:gd name="T25" fmla="*/ 146 h 600"/>
                <a:gd name="T26" fmla="*/ 226 w 453"/>
                <a:gd name="T27" fmla="*/ 0 h 600"/>
                <a:gd name="T28" fmla="*/ 226 w 453"/>
                <a:gd name="T29" fmla="*/ 26 h 600"/>
                <a:gd name="T30" fmla="*/ 346 w 453"/>
                <a:gd name="T31" fmla="*/ 146 h 600"/>
                <a:gd name="T32" fmla="*/ 346 w 453"/>
                <a:gd name="T33" fmla="*/ 226 h 600"/>
                <a:gd name="T34" fmla="*/ 106 w 453"/>
                <a:gd name="T35" fmla="*/ 226 h 600"/>
                <a:gd name="T36" fmla="*/ 106 w 453"/>
                <a:gd name="T37" fmla="*/ 146 h 600"/>
                <a:gd name="T38" fmla="*/ 226 w 453"/>
                <a:gd name="T39" fmla="*/ 26 h 600"/>
                <a:gd name="T40" fmla="*/ 40 w 453"/>
                <a:gd name="T41" fmla="*/ 253 h 600"/>
                <a:gd name="T42" fmla="*/ 413 w 453"/>
                <a:gd name="T43" fmla="*/ 253 h 600"/>
                <a:gd name="T44" fmla="*/ 426 w 453"/>
                <a:gd name="T45" fmla="*/ 266 h 600"/>
                <a:gd name="T46" fmla="*/ 426 w 453"/>
                <a:gd name="T47" fmla="*/ 560 h 600"/>
                <a:gd name="T48" fmla="*/ 413 w 453"/>
                <a:gd name="T49" fmla="*/ 573 h 600"/>
                <a:gd name="T50" fmla="*/ 40 w 453"/>
                <a:gd name="T51" fmla="*/ 573 h 600"/>
                <a:gd name="T52" fmla="*/ 26 w 453"/>
                <a:gd name="T53" fmla="*/ 560 h 600"/>
                <a:gd name="T54" fmla="*/ 26 w 453"/>
                <a:gd name="T55" fmla="*/ 266 h 600"/>
                <a:gd name="T56" fmla="*/ 40 w 453"/>
                <a:gd name="T57" fmla="*/ 253 h 600"/>
                <a:gd name="T58" fmla="*/ 226 w 453"/>
                <a:gd name="T59" fmla="*/ 346 h 600"/>
                <a:gd name="T60" fmla="*/ 186 w 453"/>
                <a:gd name="T61" fmla="*/ 386 h 600"/>
                <a:gd name="T62" fmla="*/ 200 w 453"/>
                <a:gd name="T63" fmla="*/ 416 h 600"/>
                <a:gd name="T64" fmla="*/ 200 w 453"/>
                <a:gd name="T65" fmla="*/ 453 h 600"/>
                <a:gd name="T66" fmla="*/ 226 w 453"/>
                <a:gd name="T67" fmla="*/ 480 h 600"/>
                <a:gd name="T68" fmla="*/ 253 w 453"/>
                <a:gd name="T69" fmla="*/ 453 h 600"/>
                <a:gd name="T70" fmla="*/ 253 w 453"/>
                <a:gd name="T71" fmla="*/ 416 h 600"/>
                <a:gd name="T72" fmla="*/ 266 w 453"/>
                <a:gd name="T73" fmla="*/ 386 h 600"/>
                <a:gd name="T74" fmla="*/ 226 w 453"/>
                <a:gd name="T75" fmla="*/ 346 h 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453" h="600">
                  <a:moveTo>
                    <a:pt x="226" y="0"/>
                  </a:moveTo>
                  <a:cubicBezTo>
                    <a:pt x="146" y="0"/>
                    <a:pt x="80" y="65"/>
                    <a:pt x="80" y="146"/>
                  </a:cubicBezTo>
                  <a:lnTo>
                    <a:pt x="80" y="226"/>
                  </a:lnTo>
                  <a:lnTo>
                    <a:pt x="40" y="226"/>
                  </a:lnTo>
                  <a:cubicBezTo>
                    <a:pt x="18" y="226"/>
                    <a:pt x="0" y="244"/>
                    <a:pt x="0" y="266"/>
                  </a:cubicBezTo>
                  <a:lnTo>
                    <a:pt x="0" y="560"/>
                  </a:lnTo>
                  <a:cubicBezTo>
                    <a:pt x="0" y="582"/>
                    <a:pt x="18" y="600"/>
                    <a:pt x="40" y="600"/>
                  </a:cubicBezTo>
                  <a:lnTo>
                    <a:pt x="413" y="600"/>
                  </a:lnTo>
                  <a:cubicBezTo>
                    <a:pt x="435" y="600"/>
                    <a:pt x="453" y="582"/>
                    <a:pt x="453" y="560"/>
                  </a:cubicBezTo>
                  <a:lnTo>
                    <a:pt x="453" y="266"/>
                  </a:lnTo>
                  <a:cubicBezTo>
                    <a:pt x="453" y="244"/>
                    <a:pt x="435" y="226"/>
                    <a:pt x="413" y="226"/>
                  </a:cubicBezTo>
                  <a:lnTo>
                    <a:pt x="373" y="226"/>
                  </a:lnTo>
                  <a:lnTo>
                    <a:pt x="373" y="146"/>
                  </a:lnTo>
                  <a:cubicBezTo>
                    <a:pt x="373" y="65"/>
                    <a:pt x="307" y="0"/>
                    <a:pt x="226" y="0"/>
                  </a:cubicBezTo>
                  <a:close/>
                  <a:moveTo>
                    <a:pt x="226" y="26"/>
                  </a:moveTo>
                  <a:cubicBezTo>
                    <a:pt x="293" y="26"/>
                    <a:pt x="346" y="80"/>
                    <a:pt x="346" y="146"/>
                  </a:cubicBezTo>
                  <a:lnTo>
                    <a:pt x="346" y="226"/>
                  </a:lnTo>
                  <a:lnTo>
                    <a:pt x="106" y="226"/>
                  </a:lnTo>
                  <a:lnTo>
                    <a:pt x="106" y="146"/>
                  </a:lnTo>
                  <a:cubicBezTo>
                    <a:pt x="106" y="80"/>
                    <a:pt x="160" y="26"/>
                    <a:pt x="226" y="26"/>
                  </a:cubicBezTo>
                  <a:close/>
                  <a:moveTo>
                    <a:pt x="40" y="253"/>
                  </a:moveTo>
                  <a:lnTo>
                    <a:pt x="413" y="253"/>
                  </a:lnTo>
                  <a:cubicBezTo>
                    <a:pt x="421" y="253"/>
                    <a:pt x="426" y="259"/>
                    <a:pt x="426" y="266"/>
                  </a:cubicBezTo>
                  <a:lnTo>
                    <a:pt x="426" y="560"/>
                  </a:lnTo>
                  <a:cubicBezTo>
                    <a:pt x="426" y="567"/>
                    <a:pt x="421" y="573"/>
                    <a:pt x="413" y="573"/>
                  </a:cubicBezTo>
                  <a:lnTo>
                    <a:pt x="40" y="573"/>
                  </a:lnTo>
                  <a:cubicBezTo>
                    <a:pt x="32" y="573"/>
                    <a:pt x="26" y="567"/>
                    <a:pt x="26" y="560"/>
                  </a:cubicBezTo>
                  <a:lnTo>
                    <a:pt x="26" y="266"/>
                  </a:lnTo>
                  <a:cubicBezTo>
                    <a:pt x="26" y="259"/>
                    <a:pt x="32" y="253"/>
                    <a:pt x="40" y="253"/>
                  </a:cubicBezTo>
                  <a:close/>
                  <a:moveTo>
                    <a:pt x="226" y="346"/>
                  </a:moveTo>
                  <a:cubicBezTo>
                    <a:pt x="204" y="346"/>
                    <a:pt x="186" y="364"/>
                    <a:pt x="186" y="386"/>
                  </a:cubicBezTo>
                  <a:cubicBezTo>
                    <a:pt x="186" y="398"/>
                    <a:pt x="192" y="409"/>
                    <a:pt x="200" y="416"/>
                  </a:cubicBezTo>
                  <a:lnTo>
                    <a:pt x="200" y="453"/>
                  </a:lnTo>
                  <a:cubicBezTo>
                    <a:pt x="200" y="468"/>
                    <a:pt x="212" y="480"/>
                    <a:pt x="226" y="480"/>
                  </a:cubicBezTo>
                  <a:cubicBezTo>
                    <a:pt x="241" y="480"/>
                    <a:pt x="253" y="468"/>
                    <a:pt x="253" y="453"/>
                  </a:cubicBezTo>
                  <a:lnTo>
                    <a:pt x="253" y="416"/>
                  </a:lnTo>
                  <a:cubicBezTo>
                    <a:pt x="261" y="409"/>
                    <a:pt x="266" y="398"/>
                    <a:pt x="266" y="386"/>
                  </a:cubicBezTo>
                  <a:cubicBezTo>
                    <a:pt x="266" y="364"/>
                    <a:pt x="249" y="346"/>
                    <a:pt x="226" y="346"/>
                  </a:cubicBezTo>
                  <a:close/>
                </a:path>
              </a:pathLst>
            </a:custGeom>
            <a:solidFill>
              <a:srgbClr val="5F5F5F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152" name="그룹 151"/>
          <p:cNvGrpSpPr/>
          <p:nvPr/>
        </p:nvGrpSpPr>
        <p:grpSpPr>
          <a:xfrm>
            <a:off x="9072393" y="781700"/>
            <a:ext cx="144000" cy="144000"/>
            <a:chOff x="9072393" y="781700"/>
            <a:chExt cx="144000" cy="144000"/>
          </a:xfrm>
        </p:grpSpPr>
        <p:sp>
          <p:nvSpPr>
            <p:cNvPr id="153" name="사각형: 둥근 모서리 296">
              <a:extLst>
                <a:ext uri="{FF2B5EF4-FFF2-40B4-BE49-F238E27FC236}">
                  <a16:creationId xmlns="" xmlns:a16="http://schemas.microsoft.com/office/drawing/2014/main" id="{5E2C148E-29FC-42C6-B221-CA7B7DA48E4E}"/>
                </a:ext>
              </a:extLst>
            </p:cNvPr>
            <p:cNvSpPr/>
            <p:nvPr/>
          </p:nvSpPr>
          <p:spPr bwMode="auto">
            <a:xfrm>
              <a:off x="9072393" y="781700"/>
              <a:ext cx="144000" cy="144000"/>
            </a:xfrm>
            <a:prstGeom prst="roundRect">
              <a:avLst/>
            </a:prstGeom>
            <a:solidFill>
              <a:srgbClr val="F3F7FB"/>
            </a:solidFill>
            <a:ln w="3175" cap="flat" cmpd="sng" algn="ctr">
              <a:solidFill>
                <a:schemeClr val="bg1">
                  <a:lumMod val="7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12700" dist="12700" dir="2700000" algn="tl" rotWithShape="0">
                <a:schemeClr val="tx1">
                  <a:lumMod val="75000"/>
                  <a:lumOff val="25000"/>
                  <a:alpha val="30000"/>
                </a:schemeClr>
              </a:outerShdw>
            </a:effectLst>
          </p:spPr>
          <p:txBody>
            <a:bodyPr rot="0" spcFirstLastPara="0" vertOverflow="overflow" horzOverflow="overflow" vert="horz" wrap="none" lIns="108000" tIns="36000" rIns="180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14400" fontAlgn="base" latinLnBrk="0">
                <a:spcBef>
                  <a:spcPct val="0"/>
                </a:spcBef>
                <a:spcAft>
                  <a:spcPct val="0"/>
                </a:spcAft>
              </a:pPr>
              <a:endParaRPr kumimoji="1" lang="ko-KR" altLang="en-US" sz="700" kern="0">
                <a:solidFill>
                  <a:srgbClr val="000000"/>
                </a:solidFill>
                <a:latin typeface="+mn-ea"/>
              </a:endParaRPr>
            </a:p>
          </p:txBody>
        </p:sp>
        <p:sp>
          <p:nvSpPr>
            <p:cNvPr id="154" name="Insert Table"/>
            <p:cNvSpPr>
              <a:spLocks noChangeAspect="1" noEditPoints="1"/>
            </p:cNvSpPr>
            <p:nvPr/>
          </p:nvSpPr>
          <p:spPr bwMode="auto">
            <a:xfrm>
              <a:off x="9090393" y="799700"/>
              <a:ext cx="108000" cy="108000"/>
            </a:xfrm>
            <a:custGeom>
              <a:avLst/>
              <a:gdLst>
                <a:gd name="T0" fmla="*/ 13 w 667"/>
                <a:gd name="T1" fmla="*/ 0 h 667"/>
                <a:gd name="T2" fmla="*/ 0 w 667"/>
                <a:gd name="T3" fmla="*/ 13 h 667"/>
                <a:gd name="T4" fmla="*/ 0 w 667"/>
                <a:gd name="T5" fmla="*/ 653 h 667"/>
                <a:gd name="T6" fmla="*/ 13 w 667"/>
                <a:gd name="T7" fmla="*/ 667 h 667"/>
                <a:gd name="T8" fmla="*/ 653 w 667"/>
                <a:gd name="T9" fmla="*/ 667 h 667"/>
                <a:gd name="T10" fmla="*/ 667 w 667"/>
                <a:gd name="T11" fmla="*/ 653 h 667"/>
                <a:gd name="T12" fmla="*/ 667 w 667"/>
                <a:gd name="T13" fmla="*/ 13 h 667"/>
                <a:gd name="T14" fmla="*/ 653 w 667"/>
                <a:gd name="T15" fmla="*/ 0 h 667"/>
                <a:gd name="T16" fmla="*/ 13 w 667"/>
                <a:gd name="T17" fmla="*/ 0 h 667"/>
                <a:gd name="T18" fmla="*/ 27 w 667"/>
                <a:gd name="T19" fmla="*/ 27 h 667"/>
                <a:gd name="T20" fmla="*/ 320 w 667"/>
                <a:gd name="T21" fmla="*/ 27 h 667"/>
                <a:gd name="T22" fmla="*/ 320 w 667"/>
                <a:gd name="T23" fmla="*/ 213 h 667"/>
                <a:gd name="T24" fmla="*/ 27 w 667"/>
                <a:gd name="T25" fmla="*/ 213 h 667"/>
                <a:gd name="T26" fmla="*/ 27 w 667"/>
                <a:gd name="T27" fmla="*/ 27 h 667"/>
                <a:gd name="T28" fmla="*/ 347 w 667"/>
                <a:gd name="T29" fmla="*/ 27 h 667"/>
                <a:gd name="T30" fmla="*/ 640 w 667"/>
                <a:gd name="T31" fmla="*/ 27 h 667"/>
                <a:gd name="T32" fmla="*/ 640 w 667"/>
                <a:gd name="T33" fmla="*/ 213 h 667"/>
                <a:gd name="T34" fmla="*/ 347 w 667"/>
                <a:gd name="T35" fmla="*/ 213 h 667"/>
                <a:gd name="T36" fmla="*/ 347 w 667"/>
                <a:gd name="T37" fmla="*/ 27 h 667"/>
                <a:gd name="T38" fmla="*/ 27 w 667"/>
                <a:gd name="T39" fmla="*/ 240 h 667"/>
                <a:gd name="T40" fmla="*/ 320 w 667"/>
                <a:gd name="T41" fmla="*/ 240 h 667"/>
                <a:gd name="T42" fmla="*/ 320 w 667"/>
                <a:gd name="T43" fmla="*/ 427 h 667"/>
                <a:gd name="T44" fmla="*/ 27 w 667"/>
                <a:gd name="T45" fmla="*/ 427 h 667"/>
                <a:gd name="T46" fmla="*/ 27 w 667"/>
                <a:gd name="T47" fmla="*/ 240 h 667"/>
                <a:gd name="T48" fmla="*/ 347 w 667"/>
                <a:gd name="T49" fmla="*/ 240 h 667"/>
                <a:gd name="T50" fmla="*/ 640 w 667"/>
                <a:gd name="T51" fmla="*/ 240 h 667"/>
                <a:gd name="T52" fmla="*/ 640 w 667"/>
                <a:gd name="T53" fmla="*/ 427 h 667"/>
                <a:gd name="T54" fmla="*/ 347 w 667"/>
                <a:gd name="T55" fmla="*/ 427 h 667"/>
                <a:gd name="T56" fmla="*/ 347 w 667"/>
                <a:gd name="T57" fmla="*/ 240 h 667"/>
                <a:gd name="T58" fmla="*/ 27 w 667"/>
                <a:gd name="T59" fmla="*/ 453 h 667"/>
                <a:gd name="T60" fmla="*/ 320 w 667"/>
                <a:gd name="T61" fmla="*/ 453 h 667"/>
                <a:gd name="T62" fmla="*/ 320 w 667"/>
                <a:gd name="T63" fmla="*/ 640 h 667"/>
                <a:gd name="T64" fmla="*/ 27 w 667"/>
                <a:gd name="T65" fmla="*/ 640 h 667"/>
                <a:gd name="T66" fmla="*/ 27 w 667"/>
                <a:gd name="T67" fmla="*/ 453 h 667"/>
                <a:gd name="T68" fmla="*/ 347 w 667"/>
                <a:gd name="T69" fmla="*/ 453 h 667"/>
                <a:gd name="T70" fmla="*/ 640 w 667"/>
                <a:gd name="T71" fmla="*/ 453 h 667"/>
                <a:gd name="T72" fmla="*/ 640 w 667"/>
                <a:gd name="T73" fmla="*/ 640 h 667"/>
                <a:gd name="T74" fmla="*/ 347 w 667"/>
                <a:gd name="T75" fmla="*/ 640 h 667"/>
                <a:gd name="T76" fmla="*/ 347 w 667"/>
                <a:gd name="T77" fmla="*/ 453 h 6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667" h="667">
                  <a:moveTo>
                    <a:pt x="13" y="0"/>
                  </a:moveTo>
                  <a:cubicBezTo>
                    <a:pt x="6" y="0"/>
                    <a:pt x="0" y="6"/>
                    <a:pt x="0" y="13"/>
                  </a:cubicBezTo>
                  <a:cubicBezTo>
                    <a:pt x="0" y="227"/>
                    <a:pt x="0" y="440"/>
                    <a:pt x="0" y="653"/>
                  </a:cubicBezTo>
                  <a:cubicBezTo>
                    <a:pt x="0" y="661"/>
                    <a:pt x="6" y="667"/>
                    <a:pt x="13" y="667"/>
                  </a:cubicBezTo>
                  <a:cubicBezTo>
                    <a:pt x="227" y="667"/>
                    <a:pt x="440" y="667"/>
                    <a:pt x="653" y="667"/>
                  </a:cubicBezTo>
                  <a:cubicBezTo>
                    <a:pt x="661" y="667"/>
                    <a:pt x="667" y="661"/>
                    <a:pt x="667" y="653"/>
                  </a:cubicBezTo>
                  <a:cubicBezTo>
                    <a:pt x="667" y="440"/>
                    <a:pt x="667" y="227"/>
                    <a:pt x="667" y="13"/>
                  </a:cubicBezTo>
                  <a:cubicBezTo>
                    <a:pt x="667" y="6"/>
                    <a:pt x="661" y="0"/>
                    <a:pt x="653" y="0"/>
                  </a:cubicBezTo>
                  <a:cubicBezTo>
                    <a:pt x="440" y="0"/>
                    <a:pt x="227" y="0"/>
                    <a:pt x="13" y="0"/>
                  </a:cubicBezTo>
                  <a:close/>
                  <a:moveTo>
                    <a:pt x="27" y="27"/>
                  </a:moveTo>
                  <a:lnTo>
                    <a:pt x="320" y="27"/>
                  </a:lnTo>
                  <a:lnTo>
                    <a:pt x="320" y="213"/>
                  </a:lnTo>
                  <a:lnTo>
                    <a:pt x="27" y="213"/>
                  </a:lnTo>
                  <a:lnTo>
                    <a:pt x="27" y="27"/>
                  </a:lnTo>
                  <a:close/>
                  <a:moveTo>
                    <a:pt x="347" y="27"/>
                  </a:moveTo>
                  <a:lnTo>
                    <a:pt x="640" y="27"/>
                  </a:lnTo>
                  <a:lnTo>
                    <a:pt x="640" y="213"/>
                  </a:lnTo>
                  <a:lnTo>
                    <a:pt x="347" y="213"/>
                  </a:lnTo>
                  <a:lnTo>
                    <a:pt x="347" y="27"/>
                  </a:lnTo>
                  <a:close/>
                  <a:moveTo>
                    <a:pt x="27" y="240"/>
                  </a:moveTo>
                  <a:lnTo>
                    <a:pt x="320" y="240"/>
                  </a:lnTo>
                  <a:lnTo>
                    <a:pt x="320" y="427"/>
                  </a:lnTo>
                  <a:lnTo>
                    <a:pt x="27" y="427"/>
                  </a:lnTo>
                  <a:lnTo>
                    <a:pt x="27" y="240"/>
                  </a:lnTo>
                  <a:close/>
                  <a:moveTo>
                    <a:pt x="347" y="240"/>
                  </a:moveTo>
                  <a:lnTo>
                    <a:pt x="640" y="240"/>
                  </a:lnTo>
                  <a:lnTo>
                    <a:pt x="640" y="427"/>
                  </a:lnTo>
                  <a:lnTo>
                    <a:pt x="347" y="427"/>
                  </a:lnTo>
                  <a:lnTo>
                    <a:pt x="347" y="240"/>
                  </a:lnTo>
                  <a:close/>
                  <a:moveTo>
                    <a:pt x="27" y="453"/>
                  </a:moveTo>
                  <a:lnTo>
                    <a:pt x="320" y="453"/>
                  </a:lnTo>
                  <a:lnTo>
                    <a:pt x="320" y="640"/>
                  </a:lnTo>
                  <a:lnTo>
                    <a:pt x="27" y="640"/>
                  </a:lnTo>
                  <a:lnTo>
                    <a:pt x="27" y="453"/>
                  </a:lnTo>
                  <a:close/>
                  <a:moveTo>
                    <a:pt x="347" y="453"/>
                  </a:moveTo>
                  <a:lnTo>
                    <a:pt x="640" y="453"/>
                  </a:lnTo>
                  <a:lnTo>
                    <a:pt x="640" y="640"/>
                  </a:lnTo>
                  <a:lnTo>
                    <a:pt x="347" y="640"/>
                  </a:lnTo>
                  <a:lnTo>
                    <a:pt x="347" y="453"/>
                  </a:lnTo>
                  <a:close/>
                </a:path>
              </a:pathLst>
            </a:custGeom>
            <a:solidFill>
              <a:srgbClr val="5F5F5F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155" name="그룹 154"/>
          <p:cNvGrpSpPr/>
          <p:nvPr/>
        </p:nvGrpSpPr>
        <p:grpSpPr>
          <a:xfrm>
            <a:off x="9287906" y="781700"/>
            <a:ext cx="144000" cy="144000"/>
            <a:chOff x="9287906" y="781700"/>
            <a:chExt cx="144000" cy="144000"/>
          </a:xfrm>
        </p:grpSpPr>
        <p:sp>
          <p:nvSpPr>
            <p:cNvPr id="156" name="사각형: 둥근 모서리 296">
              <a:extLst>
                <a:ext uri="{FF2B5EF4-FFF2-40B4-BE49-F238E27FC236}">
                  <a16:creationId xmlns="" xmlns:a16="http://schemas.microsoft.com/office/drawing/2014/main" id="{5E2C148E-29FC-42C6-B221-CA7B7DA48E4E}"/>
                </a:ext>
              </a:extLst>
            </p:cNvPr>
            <p:cNvSpPr/>
            <p:nvPr/>
          </p:nvSpPr>
          <p:spPr bwMode="auto">
            <a:xfrm>
              <a:off x="9287906" y="781700"/>
              <a:ext cx="144000" cy="144000"/>
            </a:xfrm>
            <a:prstGeom prst="roundRect">
              <a:avLst/>
            </a:prstGeom>
            <a:solidFill>
              <a:srgbClr val="F3F7FB"/>
            </a:solidFill>
            <a:ln w="3175" cap="flat" cmpd="sng" algn="ctr">
              <a:solidFill>
                <a:schemeClr val="bg1">
                  <a:lumMod val="7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12700" dist="12700" dir="2700000" algn="tl" rotWithShape="0">
                <a:schemeClr val="tx1">
                  <a:lumMod val="75000"/>
                  <a:lumOff val="25000"/>
                  <a:alpha val="30000"/>
                </a:schemeClr>
              </a:outerShdw>
            </a:effectLst>
          </p:spPr>
          <p:txBody>
            <a:bodyPr rot="0" spcFirstLastPara="0" vertOverflow="overflow" horzOverflow="overflow" vert="horz" wrap="none" lIns="108000" tIns="36000" rIns="180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14400" fontAlgn="base" latinLnBrk="0">
                <a:spcBef>
                  <a:spcPct val="0"/>
                </a:spcBef>
                <a:spcAft>
                  <a:spcPct val="0"/>
                </a:spcAft>
              </a:pPr>
              <a:endParaRPr kumimoji="1" lang="ko-KR" altLang="en-US" sz="700" kern="0">
                <a:solidFill>
                  <a:srgbClr val="000000"/>
                </a:solidFill>
                <a:latin typeface="+mn-ea"/>
              </a:endParaRPr>
            </a:p>
          </p:txBody>
        </p:sp>
        <p:sp>
          <p:nvSpPr>
            <p:cNvPr id="157" name="Export"/>
            <p:cNvSpPr>
              <a:spLocks noChangeAspect="1" noEditPoints="1"/>
            </p:cNvSpPr>
            <p:nvPr/>
          </p:nvSpPr>
          <p:spPr bwMode="auto">
            <a:xfrm>
              <a:off x="9306955" y="799700"/>
              <a:ext cx="105903" cy="108000"/>
            </a:xfrm>
            <a:custGeom>
              <a:avLst/>
              <a:gdLst>
                <a:gd name="T0" fmla="*/ 14 w 659"/>
                <a:gd name="T1" fmla="*/ 0 h 668"/>
                <a:gd name="T2" fmla="*/ 0 w 659"/>
                <a:gd name="T3" fmla="*/ 14 h 668"/>
                <a:gd name="T4" fmla="*/ 0 w 659"/>
                <a:gd name="T5" fmla="*/ 654 h 668"/>
                <a:gd name="T6" fmla="*/ 14 w 659"/>
                <a:gd name="T7" fmla="*/ 668 h 668"/>
                <a:gd name="T8" fmla="*/ 414 w 659"/>
                <a:gd name="T9" fmla="*/ 668 h 668"/>
                <a:gd name="T10" fmla="*/ 428 w 659"/>
                <a:gd name="T11" fmla="*/ 654 h 668"/>
                <a:gd name="T12" fmla="*/ 428 w 659"/>
                <a:gd name="T13" fmla="*/ 521 h 668"/>
                <a:gd name="T14" fmla="*/ 400 w 659"/>
                <a:gd name="T15" fmla="*/ 521 h 668"/>
                <a:gd name="T16" fmla="*/ 400 w 659"/>
                <a:gd name="T17" fmla="*/ 640 h 668"/>
                <a:gd name="T18" fmla="*/ 28 w 659"/>
                <a:gd name="T19" fmla="*/ 640 h 668"/>
                <a:gd name="T20" fmla="*/ 28 w 659"/>
                <a:gd name="T21" fmla="*/ 28 h 668"/>
                <a:gd name="T22" fmla="*/ 400 w 659"/>
                <a:gd name="T23" fmla="*/ 28 h 668"/>
                <a:gd name="T24" fmla="*/ 400 w 659"/>
                <a:gd name="T25" fmla="*/ 148 h 668"/>
                <a:gd name="T26" fmla="*/ 428 w 659"/>
                <a:gd name="T27" fmla="*/ 148 h 668"/>
                <a:gd name="T28" fmla="*/ 428 w 659"/>
                <a:gd name="T29" fmla="*/ 14 h 668"/>
                <a:gd name="T30" fmla="*/ 414 w 659"/>
                <a:gd name="T31" fmla="*/ 0 h 668"/>
                <a:gd name="T32" fmla="*/ 14 w 659"/>
                <a:gd name="T33" fmla="*/ 0 h 668"/>
                <a:gd name="T34" fmla="*/ 522 w 659"/>
                <a:gd name="T35" fmla="*/ 202 h 668"/>
                <a:gd name="T36" fmla="*/ 513 w 659"/>
                <a:gd name="T37" fmla="*/ 225 h 668"/>
                <a:gd name="T38" fmla="*/ 608 w 659"/>
                <a:gd name="T39" fmla="*/ 321 h 668"/>
                <a:gd name="T40" fmla="*/ 214 w 659"/>
                <a:gd name="T41" fmla="*/ 321 h 668"/>
                <a:gd name="T42" fmla="*/ 214 w 659"/>
                <a:gd name="T43" fmla="*/ 348 h 668"/>
                <a:gd name="T44" fmla="*/ 608 w 659"/>
                <a:gd name="T45" fmla="*/ 348 h 668"/>
                <a:gd name="T46" fmla="*/ 513 w 659"/>
                <a:gd name="T47" fmla="*/ 443 h 668"/>
                <a:gd name="T48" fmla="*/ 531 w 659"/>
                <a:gd name="T49" fmla="*/ 462 h 668"/>
                <a:gd name="T50" fmla="*/ 659 w 659"/>
                <a:gd name="T51" fmla="*/ 334 h 668"/>
                <a:gd name="T52" fmla="*/ 531 w 659"/>
                <a:gd name="T53" fmla="*/ 206 h 668"/>
                <a:gd name="T54" fmla="*/ 522 w 659"/>
                <a:gd name="T55" fmla="*/ 202 h 6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659" h="668">
                  <a:moveTo>
                    <a:pt x="14" y="0"/>
                  </a:moveTo>
                  <a:cubicBezTo>
                    <a:pt x="6" y="0"/>
                    <a:pt x="0" y="7"/>
                    <a:pt x="0" y="14"/>
                  </a:cubicBezTo>
                  <a:lnTo>
                    <a:pt x="0" y="654"/>
                  </a:lnTo>
                  <a:cubicBezTo>
                    <a:pt x="0" y="662"/>
                    <a:pt x="6" y="668"/>
                    <a:pt x="14" y="668"/>
                  </a:cubicBezTo>
                  <a:lnTo>
                    <a:pt x="414" y="668"/>
                  </a:lnTo>
                  <a:cubicBezTo>
                    <a:pt x="421" y="668"/>
                    <a:pt x="428" y="662"/>
                    <a:pt x="428" y="654"/>
                  </a:cubicBezTo>
                  <a:lnTo>
                    <a:pt x="428" y="521"/>
                  </a:lnTo>
                  <a:lnTo>
                    <a:pt x="400" y="521"/>
                  </a:lnTo>
                  <a:lnTo>
                    <a:pt x="400" y="640"/>
                  </a:lnTo>
                  <a:lnTo>
                    <a:pt x="28" y="640"/>
                  </a:lnTo>
                  <a:lnTo>
                    <a:pt x="28" y="28"/>
                  </a:lnTo>
                  <a:lnTo>
                    <a:pt x="400" y="28"/>
                  </a:lnTo>
                  <a:lnTo>
                    <a:pt x="400" y="148"/>
                  </a:lnTo>
                  <a:lnTo>
                    <a:pt x="428" y="148"/>
                  </a:lnTo>
                  <a:lnTo>
                    <a:pt x="428" y="14"/>
                  </a:lnTo>
                  <a:cubicBezTo>
                    <a:pt x="428" y="7"/>
                    <a:pt x="421" y="0"/>
                    <a:pt x="414" y="0"/>
                  </a:cubicBezTo>
                  <a:lnTo>
                    <a:pt x="14" y="0"/>
                  </a:lnTo>
                  <a:close/>
                  <a:moveTo>
                    <a:pt x="522" y="202"/>
                  </a:moveTo>
                  <a:cubicBezTo>
                    <a:pt x="510" y="202"/>
                    <a:pt x="504" y="217"/>
                    <a:pt x="513" y="225"/>
                  </a:cubicBezTo>
                  <a:lnTo>
                    <a:pt x="608" y="321"/>
                  </a:lnTo>
                  <a:lnTo>
                    <a:pt x="214" y="321"/>
                  </a:lnTo>
                  <a:cubicBezTo>
                    <a:pt x="196" y="321"/>
                    <a:pt x="196" y="348"/>
                    <a:pt x="214" y="348"/>
                  </a:cubicBezTo>
                  <a:lnTo>
                    <a:pt x="608" y="348"/>
                  </a:lnTo>
                  <a:lnTo>
                    <a:pt x="513" y="443"/>
                  </a:lnTo>
                  <a:cubicBezTo>
                    <a:pt x="499" y="456"/>
                    <a:pt x="519" y="475"/>
                    <a:pt x="531" y="462"/>
                  </a:cubicBezTo>
                  <a:lnTo>
                    <a:pt x="659" y="334"/>
                  </a:lnTo>
                  <a:lnTo>
                    <a:pt x="531" y="206"/>
                  </a:lnTo>
                  <a:cubicBezTo>
                    <a:pt x="529" y="204"/>
                    <a:pt x="525" y="202"/>
                    <a:pt x="522" y="202"/>
                  </a:cubicBezTo>
                  <a:close/>
                </a:path>
              </a:pathLst>
            </a:custGeom>
            <a:solidFill>
              <a:srgbClr val="5F5F5F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sp>
        <p:nvSpPr>
          <p:cNvPr id="484" name="제목 1">
            <a:extLst>
              <a:ext uri="{FF2B5EF4-FFF2-40B4-BE49-F238E27FC236}">
                <a16:creationId xmlns="" xmlns:a16="http://schemas.microsoft.com/office/drawing/2014/main" id="{03F65532-A01C-4981-B987-5E15F64E3ABB}"/>
              </a:ext>
            </a:extLst>
          </p:cNvPr>
          <p:cNvSpPr txBox="1">
            <a:spLocks/>
          </p:cNvSpPr>
          <p:nvPr/>
        </p:nvSpPr>
        <p:spPr>
          <a:xfrm>
            <a:off x="8783530" y="142660"/>
            <a:ext cx="1079290" cy="432000"/>
          </a:xfrm>
          <a:prstGeom prst="rect">
            <a:avLst/>
          </a:prstGeom>
        </p:spPr>
        <p:txBody>
          <a:bodyPr lIns="180000" tIns="36000" rIns="180000" bIns="36000" anchor="ctr"/>
          <a:lstStyle>
            <a:lvl1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2pPr>
            <a:lvl3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3pPr>
            <a:lvl4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4pPr>
            <a:lvl5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5pPr>
            <a:lvl6pPr marL="457212" algn="ctr" rtl="0" fontAlgn="base" latinLnBrk="1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6pPr>
            <a:lvl7pPr marL="914423" algn="ctr" rtl="0" fontAlgn="base" latinLnBrk="1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7pPr>
            <a:lvl8pPr marL="1371634" algn="ctr" rtl="0" fontAlgn="base" latinLnBrk="1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8pPr>
            <a:lvl9pPr marL="1828846" algn="ctr" rtl="0" fontAlgn="base" latinLnBrk="1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r>
              <a:rPr lang="ko-KR" altLang="en-US" sz="800" kern="0"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</a:rPr>
              <a:t>최범열</a:t>
            </a:r>
          </a:p>
        </p:txBody>
      </p:sp>
      <p:sp>
        <p:nvSpPr>
          <p:cNvPr id="682" name="TextBox 681">
            <a:extLst>
              <a:ext uri="{FF2B5EF4-FFF2-40B4-BE49-F238E27FC236}">
                <a16:creationId xmlns="" xmlns:a16="http://schemas.microsoft.com/office/drawing/2014/main" id="{116334FC-EA39-45F8-9823-C272781057F2}"/>
              </a:ext>
            </a:extLst>
          </p:cNvPr>
          <p:cNvSpPr txBox="1"/>
          <p:nvPr/>
        </p:nvSpPr>
        <p:spPr>
          <a:xfrm>
            <a:off x="1367906" y="2847733"/>
            <a:ext cx="1093349" cy="180425"/>
          </a:xfrm>
          <a:prstGeom prst="rect">
            <a:avLst/>
          </a:prstGeom>
          <a:noFill/>
          <a:ln w="317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108000" tIns="36000" rIns="108000" bIns="36000" numCol="1" rtlCol="0" anchor="ctr" anchorCtr="0" compatLnSpc="1">
            <a:prstTxWarp prst="textNoShape">
              <a:avLst/>
            </a:prstTxWarp>
            <a:spAutoFit/>
          </a:bodyPr>
          <a:lstStyle/>
          <a:p>
            <a:r>
              <a:rPr lang="ko-KR" altLang="en-US" sz="7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조회목록 </a:t>
            </a:r>
            <a:r>
              <a:rPr lang="en-US" altLang="ko-KR" sz="70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(</a:t>
            </a:r>
            <a:r>
              <a:rPr lang="ko-KR" altLang="en-US" sz="70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총 </a:t>
            </a:r>
            <a:r>
              <a:rPr lang="en-US" altLang="ko-KR" sz="700">
                <a:solidFill>
                  <a:schemeClr val="accent2"/>
                </a:solidFill>
                <a:latin typeface="+mn-ea"/>
              </a:rPr>
              <a:t>1,234</a:t>
            </a:r>
            <a:r>
              <a:rPr lang="ko-KR" altLang="en-US" sz="70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건</a:t>
            </a:r>
            <a:r>
              <a:rPr lang="en-US" altLang="ko-KR" sz="70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)</a:t>
            </a:r>
            <a:endParaRPr lang="ko-KR" altLang="en-US" sz="70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</p:txBody>
      </p:sp>
      <p:grpSp>
        <p:nvGrpSpPr>
          <p:cNvPr id="684" name="그룹 683"/>
          <p:cNvGrpSpPr/>
          <p:nvPr/>
        </p:nvGrpSpPr>
        <p:grpSpPr>
          <a:xfrm>
            <a:off x="8855906" y="2435137"/>
            <a:ext cx="504000" cy="216000"/>
            <a:chOff x="1367906" y="3586031"/>
            <a:chExt cx="504000" cy="216000"/>
          </a:xfrm>
        </p:grpSpPr>
        <p:grpSp>
          <p:nvGrpSpPr>
            <p:cNvPr id="727" name="그룹 726"/>
            <p:cNvGrpSpPr/>
            <p:nvPr/>
          </p:nvGrpSpPr>
          <p:grpSpPr>
            <a:xfrm>
              <a:off x="1655906" y="3586031"/>
              <a:ext cx="216000" cy="216000"/>
              <a:chOff x="2096446" y="3586031"/>
              <a:chExt cx="216000" cy="216000"/>
            </a:xfrm>
          </p:grpSpPr>
          <p:sp>
            <p:nvSpPr>
              <p:cNvPr id="731" name="사각형: 둥근 모서리 368">
                <a:extLst>
                  <a:ext uri="{FF2B5EF4-FFF2-40B4-BE49-F238E27FC236}">
                    <a16:creationId xmlns="" xmlns:a16="http://schemas.microsoft.com/office/drawing/2014/main" id="{69DF4169-9711-4CBB-BBC0-35A1DA411BF3}"/>
                  </a:ext>
                </a:extLst>
              </p:cNvPr>
              <p:cNvSpPr/>
              <p:nvPr/>
            </p:nvSpPr>
            <p:spPr bwMode="auto">
              <a:xfrm>
                <a:off x="2096446" y="3586031"/>
                <a:ext cx="216000" cy="216000"/>
              </a:xfrm>
              <a:prstGeom prst="roundRect">
                <a:avLst/>
              </a:prstGeom>
              <a:solidFill>
                <a:schemeClr val="bg1">
                  <a:lumMod val="95000"/>
                </a:schemeClr>
              </a:solidFill>
              <a:ln w="3175" cap="flat" cmpd="sng" algn="ctr">
                <a:solidFill>
                  <a:schemeClr val="bg1">
                    <a:lumMod val="7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>
                <a:outerShdw blurRad="12700" dist="12700" dir="2700000" algn="tl" rotWithShape="0">
                  <a:schemeClr val="tx1">
                    <a:lumMod val="75000"/>
                    <a:lumOff val="25000"/>
                    <a:alpha val="30000"/>
                  </a:schemeClr>
                </a:outerShdw>
              </a:effectLst>
            </p:spPr>
            <p:txBody>
              <a:bodyPr rot="0" spcFirstLastPara="0" vertOverflow="overflow" horzOverflow="overflow" vert="horz" wrap="none" lIns="180000" tIns="45720" rIns="3600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indent="0" algn="ctr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1" lang="ko-KR" altLang="en-US" sz="700" i="0" u="none" strike="noStrike" kern="0" cap="none" spc="0" normalizeH="0" baseline="0" noProof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latin typeface="+mn-ea"/>
                </a:endParaRPr>
              </a:p>
            </p:txBody>
          </p:sp>
          <p:sp>
            <p:nvSpPr>
              <p:cNvPr id="732" name="Reload">
                <a:extLst>
                  <a:ext uri="{FF2B5EF4-FFF2-40B4-BE49-F238E27FC236}">
                    <a16:creationId xmlns="" xmlns:a16="http://schemas.microsoft.com/office/drawing/2014/main" id="{639C9F0C-EF86-4670-8665-513669F8444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2151166" y="3640031"/>
                <a:ext cx="106560" cy="108000"/>
              </a:xfrm>
              <a:custGeom>
                <a:avLst/>
                <a:gdLst>
                  <a:gd name="T0" fmla="*/ 440 w 480"/>
                  <a:gd name="T1" fmla="*/ 0 h 494"/>
                  <a:gd name="T2" fmla="*/ 427 w 480"/>
                  <a:gd name="T3" fmla="*/ 14 h 494"/>
                  <a:gd name="T4" fmla="*/ 427 w 480"/>
                  <a:gd name="T5" fmla="*/ 103 h 494"/>
                  <a:gd name="T6" fmla="*/ 418 w 480"/>
                  <a:gd name="T7" fmla="*/ 93 h 494"/>
                  <a:gd name="T8" fmla="*/ 418 w 480"/>
                  <a:gd name="T9" fmla="*/ 93 h 494"/>
                  <a:gd name="T10" fmla="*/ 240 w 480"/>
                  <a:gd name="T11" fmla="*/ 14 h 494"/>
                  <a:gd name="T12" fmla="*/ 0 w 480"/>
                  <a:gd name="T13" fmla="*/ 254 h 494"/>
                  <a:gd name="T14" fmla="*/ 240 w 480"/>
                  <a:gd name="T15" fmla="*/ 494 h 494"/>
                  <a:gd name="T16" fmla="*/ 480 w 480"/>
                  <a:gd name="T17" fmla="*/ 254 h 494"/>
                  <a:gd name="T18" fmla="*/ 453 w 480"/>
                  <a:gd name="T19" fmla="*/ 254 h 494"/>
                  <a:gd name="T20" fmla="*/ 240 w 480"/>
                  <a:gd name="T21" fmla="*/ 467 h 494"/>
                  <a:gd name="T22" fmla="*/ 27 w 480"/>
                  <a:gd name="T23" fmla="*/ 254 h 494"/>
                  <a:gd name="T24" fmla="*/ 240 w 480"/>
                  <a:gd name="T25" fmla="*/ 41 h 494"/>
                  <a:gd name="T26" fmla="*/ 398 w 480"/>
                  <a:gd name="T27" fmla="*/ 111 h 494"/>
                  <a:gd name="T28" fmla="*/ 406 w 480"/>
                  <a:gd name="T29" fmla="*/ 121 h 494"/>
                  <a:gd name="T30" fmla="*/ 320 w 480"/>
                  <a:gd name="T31" fmla="*/ 121 h 494"/>
                  <a:gd name="T32" fmla="*/ 320 w 480"/>
                  <a:gd name="T33" fmla="*/ 147 h 494"/>
                  <a:gd name="T34" fmla="*/ 453 w 480"/>
                  <a:gd name="T35" fmla="*/ 147 h 494"/>
                  <a:gd name="T36" fmla="*/ 453 w 480"/>
                  <a:gd name="T37" fmla="*/ 14 h 494"/>
                  <a:gd name="T38" fmla="*/ 440 w 480"/>
                  <a:gd name="T39" fmla="*/ 0 h 4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480" h="494">
                    <a:moveTo>
                      <a:pt x="440" y="0"/>
                    </a:moveTo>
                    <a:cubicBezTo>
                      <a:pt x="432" y="0"/>
                      <a:pt x="427" y="7"/>
                      <a:pt x="427" y="14"/>
                    </a:cubicBezTo>
                    <a:lnTo>
                      <a:pt x="427" y="103"/>
                    </a:lnTo>
                    <a:cubicBezTo>
                      <a:pt x="424" y="100"/>
                      <a:pt x="421" y="96"/>
                      <a:pt x="418" y="93"/>
                    </a:cubicBezTo>
                    <a:lnTo>
                      <a:pt x="418" y="93"/>
                    </a:lnTo>
                    <a:cubicBezTo>
                      <a:pt x="374" y="45"/>
                      <a:pt x="311" y="14"/>
                      <a:pt x="240" y="14"/>
                    </a:cubicBezTo>
                    <a:cubicBezTo>
                      <a:pt x="108" y="14"/>
                      <a:pt x="0" y="122"/>
                      <a:pt x="0" y="254"/>
                    </a:cubicBezTo>
                    <a:cubicBezTo>
                      <a:pt x="0" y="386"/>
                      <a:pt x="108" y="494"/>
                      <a:pt x="240" y="494"/>
                    </a:cubicBezTo>
                    <a:cubicBezTo>
                      <a:pt x="372" y="494"/>
                      <a:pt x="480" y="386"/>
                      <a:pt x="480" y="254"/>
                    </a:cubicBezTo>
                    <a:cubicBezTo>
                      <a:pt x="480" y="236"/>
                      <a:pt x="453" y="236"/>
                      <a:pt x="453" y="254"/>
                    </a:cubicBezTo>
                    <a:cubicBezTo>
                      <a:pt x="453" y="372"/>
                      <a:pt x="358" y="467"/>
                      <a:pt x="240" y="467"/>
                    </a:cubicBezTo>
                    <a:cubicBezTo>
                      <a:pt x="122" y="467"/>
                      <a:pt x="27" y="372"/>
                      <a:pt x="27" y="254"/>
                    </a:cubicBezTo>
                    <a:cubicBezTo>
                      <a:pt x="27" y="136"/>
                      <a:pt x="122" y="41"/>
                      <a:pt x="240" y="41"/>
                    </a:cubicBezTo>
                    <a:cubicBezTo>
                      <a:pt x="303" y="41"/>
                      <a:pt x="359" y="68"/>
                      <a:pt x="398" y="111"/>
                    </a:cubicBezTo>
                    <a:cubicBezTo>
                      <a:pt x="401" y="114"/>
                      <a:pt x="404" y="117"/>
                      <a:pt x="406" y="121"/>
                    </a:cubicBezTo>
                    <a:lnTo>
                      <a:pt x="320" y="121"/>
                    </a:lnTo>
                    <a:cubicBezTo>
                      <a:pt x="302" y="120"/>
                      <a:pt x="302" y="148"/>
                      <a:pt x="320" y="147"/>
                    </a:cubicBezTo>
                    <a:lnTo>
                      <a:pt x="453" y="147"/>
                    </a:lnTo>
                    <a:lnTo>
                      <a:pt x="453" y="14"/>
                    </a:lnTo>
                    <a:cubicBezTo>
                      <a:pt x="453" y="6"/>
                      <a:pt x="447" y="0"/>
                      <a:pt x="440" y="0"/>
                    </a:cubicBezTo>
                    <a:close/>
                  </a:path>
                </a:pathLst>
              </a:custGeom>
              <a:solidFill>
                <a:srgbClr val="5F5F5F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sz="900"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p:grpSp>
        <p:grpSp>
          <p:nvGrpSpPr>
            <p:cNvPr id="728" name="그룹 727"/>
            <p:cNvGrpSpPr/>
            <p:nvPr/>
          </p:nvGrpSpPr>
          <p:grpSpPr>
            <a:xfrm>
              <a:off x="1367906" y="3586031"/>
              <a:ext cx="216000" cy="216000"/>
              <a:chOff x="1367906" y="3586031"/>
              <a:chExt cx="216000" cy="216000"/>
            </a:xfrm>
          </p:grpSpPr>
          <p:sp>
            <p:nvSpPr>
              <p:cNvPr id="729" name="사각형: 둥근 모서리 368">
                <a:extLst>
                  <a:ext uri="{FF2B5EF4-FFF2-40B4-BE49-F238E27FC236}">
                    <a16:creationId xmlns="" xmlns:a16="http://schemas.microsoft.com/office/drawing/2014/main" id="{69DF4169-9711-4CBB-BBC0-35A1DA411BF3}"/>
                  </a:ext>
                </a:extLst>
              </p:cNvPr>
              <p:cNvSpPr/>
              <p:nvPr/>
            </p:nvSpPr>
            <p:spPr bwMode="auto">
              <a:xfrm>
                <a:off x="1367906" y="3586031"/>
                <a:ext cx="216000" cy="216000"/>
              </a:xfrm>
              <a:prstGeom prst="roundRect">
                <a:avLst/>
              </a:prstGeom>
              <a:solidFill>
                <a:schemeClr val="bg1">
                  <a:lumMod val="95000"/>
                </a:schemeClr>
              </a:solidFill>
              <a:ln w="3175" cap="flat" cmpd="sng" algn="ctr">
                <a:solidFill>
                  <a:schemeClr val="bg1">
                    <a:lumMod val="7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>
                <a:outerShdw blurRad="12700" dist="12700" dir="2700000" algn="tl" rotWithShape="0">
                  <a:schemeClr val="tx1">
                    <a:lumMod val="75000"/>
                    <a:lumOff val="25000"/>
                    <a:alpha val="30000"/>
                  </a:schemeClr>
                </a:outerShdw>
              </a:effectLst>
            </p:spPr>
            <p:txBody>
              <a:bodyPr rot="0" spcFirstLastPara="0" vertOverflow="overflow" horzOverflow="overflow" vert="horz" wrap="none" lIns="180000" tIns="45720" rIns="3600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indent="0" algn="ctr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1" lang="ko-KR" altLang="en-US" sz="700" i="0" u="none" strike="noStrike" kern="0" cap="none" spc="0" normalizeH="0" baseline="0" noProof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latin typeface="+mn-ea"/>
                </a:endParaRPr>
              </a:p>
            </p:txBody>
          </p:sp>
          <p:sp>
            <p:nvSpPr>
              <p:cNvPr id="730" name="Download"/>
              <p:cNvSpPr>
                <a:spLocks noChangeAspect="1" noEditPoints="1"/>
              </p:cNvSpPr>
              <p:nvPr/>
            </p:nvSpPr>
            <p:spPr bwMode="auto">
              <a:xfrm>
                <a:off x="1436342" y="3640031"/>
                <a:ext cx="79128" cy="108000"/>
              </a:xfrm>
              <a:custGeom>
                <a:avLst/>
                <a:gdLst>
                  <a:gd name="T0" fmla="*/ 239 w 480"/>
                  <a:gd name="T1" fmla="*/ 1 h 655"/>
                  <a:gd name="T2" fmla="*/ 227 w 480"/>
                  <a:gd name="T3" fmla="*/ 15 h 655"/>
                  <a:gd name="T4" fmla="*/ 227 w 480"/>
                  <a:gd name="T5" fmla="*/ 422 h 655"/>
                  <a:gd name="T6" fmla="*/ 143 w 480"/>
                  <a:gd name="T7" fmla="*/ 339 h 655"/>
                  <a:gd name="T8" fmla="*/ 131 w 480"/>
                  <a:gd name="T9" fmla="*/ 335 h 655"/>
                  <a:gd name="T10" fmla="*/ 124 w 480"/>
                  <a:gd name="T11" fmla="*/ 358 h 655"/>
                  <a:gd name="T12" fmla="*/ 240 w 480"/>
                  <a:gd name="T13" fmla="*/ 474 h 655"/>
                  <a:gd name="T14" fmla="*/ 356 w 480"/>
                  <a:gd name="T15" fmla="*/ 358 h 655"/>
                  <a:gd name="T16" fmla="*/ 356 w 480"/>
                  <a:gd name="T17" fmla="*/ 339 h 655"/>
                  <a:gd name="T18" fmla="*/ 337 w 480"/>
                  <a:gd name="T19" fmla="*/ 339 h 655"/>
                  <a:gd name="T20" fmla="*/ 254 w 480"/>
                  <a:gd name="T21" fmla="*/ 422 h 655"/>
                  <a:gd name="T22" fmla="*/ 254 w 480"/>
                  <a:gd name="T23" fmla="*/ 15 h 655"/>
                  <a:gd name="T24" fmla="*/ 239 w 480"/>
                  <a:gd name="T25" fmla="*/ 1 h 655"/>
                  <a:gd name="T26" fmla="*/ 0 w 480"/>
                  <a:gd name="T27" fmla="*/ 201 h 655"/>
                  <a:gd name="T28" fmla="*/ 0 w 480"/>
                  <a:gd name="T29" fmla="*/ 655 h 655"/>
                  <a:gd name="T30" fmla="*/ 480 w 480"/>
                  <a:gd name="T31" fmla="*/ 655 h 655"/>
                  <a:gd name="T32" fmla="*/ 480 w 480"/>
                  <a:gd name="T33" fmla="*/ 201 h 655"/>
                  <a:gd name="T34" fmla="*/ 347 w 480"/>
                  <a:gd name="T35" fmla="*/ 201 h 655"/>
                  <a:gd name="T36" fmla="*/ 333 w 480"/>
                  <a:gd name="T37" fmla="*/ 215 h 655"/>
                  <a:gd name="T38" fmla="*/ 347 w 480"/>
                  <a:gd name="T39" fmla="*/ 228 h 655"/>
                  <a:gd name="T40" fmla="*/ 454 w 480"/>
                  <a:gd name="T41" fmla="*/ 228 h 655"/>
                  <a:gd name="T42" fmla="*/ 454 w 480"/>
                  <a:gd name="T43" fmla="*/ 628 h 655"/>
                  <a:gd name="T44" fmla="*/ 27 w 480"/>
                  <a:gd name="T45" fmla="*/ 628 h 655"/>
                  <a:gd name="T46" fmla="*/ 27 w 480"/>
                  <a:gd name="T47" fmla="*/ 228 h 655"/>
                  <a:gd name="T48" fmla="*/ 134 w 480"/>
                  <a:gd name="T49" fmla="*/ 228 h 655"/>
                  <a:gd name="T50" fmla="*/ 147 w 480"/>
                  <a:gd name="T51" fmla="*/ 215 h 655"/>
                  <a:gd name="T52" fmla="*/ 134 w 480"/>
                  <a:gd name="T53" fmla="*/ 201 h 655"/>
                  <a:gd name="T54" fmla="*/ 0 w 480"/>
                  <a:gd name="T55" fmla="*/ 201 h 6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</a:cxnLst>
                <a:rect l="0" t="0" r="r" b="b"/>
                <a:pathLst>
                  <a:path w="480" h="655">
                    <a:moveTo>
                      <a:pt x="239" y="1"/>
                    </a:moveTo>
                    <a:cubicBezTo>
                      <a:pt x="231" y="2"/>
                      <a:pt x="227" y="5"/>
                      <a:pt x="227" y="15"/>
                    </a:cubicBezTo>
                    <a:lnTo>
                      <a:pt x="227" y="422"/>
                    </a:lnTo>
                    <a:lnTo>
                      <a:pt x="143" y="339"/>
                    </a:lnTo>
                    <a:cubicBezTo>
                      <a:pt x="140" y="335"/>
                      <a:pt x="135" y="334"/>
                      <a:pt x="131" y="335"/>
                    </a:cubicBezTo>
                    <a:cubicBezTo>
                      <a:pt x="121" y="337"/>
                      <a:pt x="117" y="351"/>
                      <a:pt x="124" y="358"/>
                    </a:cubicBezTo>
                    <a:cubicBezTo>
                      <a:pt x="163" y="396"/>
                      <a:pt x="201" y="436"/>
                      <a:pt x="240" y="474"/>
                    </a:cubicBezTo>
                    <a:cubicBezTo>
                      <a:pt x="279" y="435"/>
                      <a:pt x="318" y="396"/>
                      <a:pt x="356" y="358"/>
                    </a:cubicBezTo>
                    <a:cubicBezTo>
                      <a:pt x="361" y="353"/>
                      <a:pt x="361" y="344"/>
                      <a:pt x="356" y="339"/>
                    </a:cubicBezTo>
                    <a:cubicBezTo>
                      <a:pt x="351" y="334"/>
                      <a:pt x="342" y="334"/>
                      <a:pt x="337" y="339"/>
                    </a:cubicBezTo>
                    <a:lnTo>
                      <a:pt x="254" y="422"/>
                    </a:lnTo>
                    <a:lnTo>
                      <a:pt x="254" y="15"/>
                    </a:lnTo>
                    <a:cubicBezTo>
                      <a:pt x="254" y="7"/>
                      <a:pt x="246" y="0"/>
                      <a:pt x="239" y="1"/>
                    </a:cubicBezTo>
                    <a:close/>
                    <a:moveTo>
                      <a:pt x="0" y="201"/>
                    </a:moveTo>
                    <a:lnTo>
                      <a:pt x="0" y="655"/>
                    </a:lnTo>
                    <a:lnTo>
                      <a:pt x="480" y="655"/>
                    </a:lnTo>
                    <a:lnTo>
                      <a:pt x="480" y="201"/>
                    </a:lnTo>
                    <a:lnTo>
                      <a:pt x="347" y="201"/>
                    </a:lnTo>
                    <a:cubicBezTo>
                      <a:pt x="340" y="201"/>
                      <a:pt x="333" y="208"/>
                      <a:pt x="333" y="215"/>
                    </a:cubicBezTo>
                    <a:cubicBezTo>
                      <a:pt x="333" y="222"/>
                      <a:pt x="340" y="228"/>
                      <a:pt x="347" y="228"/>
                    </a:cubicBezTo>
                    <a:lnTo>
                      <a:pt x="454" y="228"/>
                    </a:lnTo>
                    <a:lnTo>
                      <a:pt x="454" y="628"/>
                    </a:lnTo>
                    <a:lnTo>
                      <a:pt x="27" y="628"/>
                    </a:lnTo>
                    <a:lnTo>
                      <a:pt x="27" y="228"/>
                    </a:lnTo>
                    <a:lnTo>
                      <a:pt x="134" y="228"/>
                    </a:lnTo>
                    <a:cubicBezTo>
                      <a:pt x="141" y="228"/>
                      <a:pt x="147" y="222"/>
                      <a:pt x="147" y="215"/>
                    </a:cubicBezTo>
                    <a:cubicBezTo>
                      <a:pt x="147" y="208"/>
                      <a:pt x="141" y="201"/>
                      <a:pt x="134" y="201"/>
                    </a:cubicBezTo>
                    <a:lnTo>
                      <a:pt x="0" y="201"/>
                    </a:lnTo>
                    <a:close/>
                  </a:path>
                </a:pathLst>
              </a:custGeom>
              <a:solidFill>
                <a:srgbClr val="5F5F5F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sz="900"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p:grpSp>
      </p:grpSp>
      <p:sp>
        <p:nvSpPr>
          <p:cNvPr id="725" name="사각형: 둥근 모서리 370">
            <a:extLst>
              <a:ext uri="{FF2B5EF4-FFF2-40B4-BE49-F238E27FC236}">
                <a16:creationId xmlns="" xmlns:a16="http://schemas.microsoft.com/office/drawing/2014/main" id="{40426C93-54F4-4D06-9E1D-260D2A45518E}"/>
              </a:ext>
            </a:extLst>
          </p:cNvPr>
          <p:cNvSpPr/>
          <p:nvPr/>
        </p:nvSpPr>
        <p:spPr bwMode="auto">
          <a:xfrm>
            <a:off x="5003906" y="2435137"/>
            <a:ext cx="720000" cy="216000"/>
          </a:xfrm>
          <a:prstGeom prst="roundRect">
            <a:avLst/>
          </a:prstGeom>
          <a:solidFill>
            <a:srgbClr val="C00000"/>
          </a:solidFill>
          <a:ln w="3175" cap="flat" cmpd="sng" algn="ctr">
            <a:solidFill>
              <a:schemeClr val="bg1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>
            <a:outerShdw blurRad="12700" dist="12700" dir="2700000" algn="tl" rotWithShape="0">
              <a:schemeClr val="tx1">
                <a:lumMod val="75000"/>
                <a:lumOff val="25000"/>
                <a:alpha val="30000"/>
              </a:schemeClr>
            </a:outerShdw>
          </a:effectLst>
        </p:spPr>
        <p:txBody>
          <a:bodyPr rot="0" spcFirstLastPara="0" vertOverflow="overflow" horzOverflow="overflow" vert="horz" wrap="non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altLang="en-US" sz="700" i="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</a:rPr>
              <a:t>조회</a:t>
            </a:r>
          </a:p>
        </p:txBody>
      </p:sp>
      <p:grpSp>
        <p:nvGrpSpPr>
          <p:cNvPr id="62" name="그룹 61"/>
          <p:cNvGrpSpPr/>
          <p:nvPr/>
        </p:nvGrpSpPr>
        <p:grpSpPr>
          <a:xfrm>
            <a:off x="1367906" y="3083284"/>
            <a:ext cx="7992000" cy="288000"/>
            <a:chOff x="1367906" y="5677797"/>
            <a:chExt cx="7992000" cy="288000"/>
          </a:xfrm>
        </p:grpSpPr>
        <p:sp>
          <p:nvSpPr>
            <p:cNvPr id="683" name="직사각형 682">
              <a:extLst>
                <a:ext uri="{FF2B5EF4-FFF2-40B4-BE49-F238E27FC236}">
                  <a16:creationId xmlns="" xmlns:a16="http://schemas.microsoft.com/office/drawing/2014/main" id="{4778C4A6-E116-4A27-97F3-5AB5EB72E738}"/>
                </a:ext>
              </a:extLst>
            </p:cNvPr>
            <p:cNvSpPr/>
            <p:nvPr/>
          </p:nvSpPr>
          <p:spPr>
            <a:xfrm>
              <a:off x="1367906" y="5677797"/>
              <a:ext cx="7992000" cy="288000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36000" rIns="180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kumimoji="1" lang="ko-KR" altLang="en-US" sz="700" kern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grpSp>
          <p:nvGrpSpPr>
            <p:cNvPr id="686" name="그룹 685">
              <a:extLst>
                <a:ext uri="{FF2B5EF4-FFF2-40B4-BE49-F238E27FC236}">
                  <a16:creationId xmlns="" xmlns:a16="http://schemas.microsoft.com/office/drawing/2014/main" id="{A977A86B-CF46-4884-B332-B067BCAE0870}"/>
                </a:ext>
              </a:extLst>
            </p:cNvPr>
            <p:cNvGrpSpPr/>
            <p:nvPr/>
          </p:nvGrpSpPr>
          <p:grpSpPr>
            <a:xfrm>
              <a:off x="8785572" y="5731797"/>
              <a:ext cx="504000" cy="180000"/>
              <a:chOff x="2749822" y="4322696"/>
              <a:chExt cx="504000" cy="180000"/>
            </a:xfrm>
          </p:grpSpPr>
          <p:sp>
            <p:nvSpPr>
              <p:cNvPr id="723" name="모서리가 둥근 직사각형 240">
                <a:extLst>
                  <a:ext uri="{FF2B5EF4-FFF2-40B4-BE49-F238E27FC236}">
                    <a16:creationId xmlns="" xmlns:a16="http://schemas.microsoft.com/office/drawing/2014/main" id="{1FEE6B18-FA7D-4DF7-9C80-FD39C9AD8EDC}"/>
                  </a:ext>
                </a:extLst>
              </p:cNvPr>
              <p:cNvSpPr/>
              <p:nvPr/>
            </p:nvSpPr>
            <p:spPr bwMode="auto">
              <a:xfrm>
                <a:off x="2749822" y="4322696"/>
                <a:ext cx="504000" cy="180000"/>
              </a:xfrm>
              <a:prstGeom prst="roundRect">
                <a:avLst/>
              </a:prstGeom>
              <a:solidFill>
                <a:schemeClr val="bg1"/>
              </a:solidFill>
              <a:ln w="3175" cap="flat" cmpd="sng" algn="ctr">
                <a:solidFill>
                  <a:schemeClr val="bg1">
                    <a:lumMod val="7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rot="0" spcFirstLastPara="0" vertOverflow="overflow" horzOverflow="overflow" vert="horz" wrap="none" lIns="72000" tIns="36000" rIns="36000" bIns="36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fontAlgn="base" latinLnBrk="0">
                  <a:spcBef>
                    <a:spcPct val="0"/>
                  </a:spcBef>
                  <a:spcAft>
                    <a:spcPct val="0"/>
                  </a:spcAft>
                </a:pPr>
                <a:r>
                  <a:rPr kumimoji="1" lang="en-US" altLang="ko-KR" sz="700" kern="0">
                    <a:solidFill>
                      <a:srgbClr val="000000"/>
                    </a:solidFill>
                    <a:latin typeface="+mn-ea"/>
                  </a:rPr>
                  <a:t>1/1</a:t>
                </a:r>
                <a:endParaRPr kumimoji="1" lang="ko-KR" altLang="en-US" sz="700" kern="0" dirty="0">
                  <a:solidFill>
                    <a:srgbClr val="000000"/>
                  </a:solidFill>
                  <a:latin typeface="+mn-ea"/>
                </a:endParaRPr>
              </a:p>
            </p:txBody>
          </p:sp>
          <p:sp>
            <p:nvSpPr>
              <p:cNvPr id="724" name="모서리가 둥근 직사각형 241">
                <a:extLst>
                  <a:ext uri="{FF2B5EF4-FFF2-40B4-BE49-F238E27FC236}">
                    <a16:creationId xmlns="" xmlns:a16="http://schemas.microsoft.com/office/drawing/2014/main" id="{E7A68BD9-AFD0-4F2A-8223-6CB9CD833C50}"/>
                  </a:ext>
                </a:extLst>
              </p:cNvPr>
              <p:cNvSpPr/>
              <p:nvPr/>
            </p:nvSpPr>
            <p:spPr bwMode="auto">
              <a:xfrm>
                <a:off x="3073822" y="4322696"/>
                <a:ext cx="180000" cy="180000"/>
              </a:xfrm>
              <a:prstGeom prst="roundRect">
                <a:avLst/>
              </a:prstGeom>
              <a:solidFill>
                <a:schemeClr val="bg1"/>
              </a:solidFill>
              <a:ln w="3175" cap="flat" cmpd="sng" algn="ctr">
                <a:solidFill>
                  <a:schemeClr val="bg1">
                    <a:lumMod val="7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rot="0" spcFirstLastPara="0" vertOverflow="overflow" horzOverflow="overflow" vert="horz" wrap="none" lIns="36000" tIns="36000" rIns="36000" bIns="36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fontAlgn="base" latinLnBrk="0">
                  <a:spcBef>
                    <a:spcPct val="0"/>
                  </a:spcBef>
                  <a:spcAft>
                    <a:spcPct val="0"/>
                  </a:spcAft>
                </a:pPr>
                <a:r>
                  <a:rPr kumimoji="1" lang="ko-KR" altLang="en-US" sz="700" kern="0" dirty="0">
                    <a:solidFill>
                      <a:srgbClr val="000000"/>
                    </a:solidFill>
                    <a:latin typeface="+mn-ea"/>
                  </a:rPr>
                  <a:t>▼</a:t>
                </a:r>
              </a:p>
            </p:txBody>
          </p:sp>
        </p:grpSp>
        <p:sp>
          <p:nvSpPr>
            <p:cNvPr id="687" name="모서리가 둥근 직사각형 240">
              <a:extLst>
                <a:ext uri="{FF2B5EF4-FFF2-40B4-BE49-F238E27FC236}">
                  <a16:creationId xmlns="" xmlns:a16="http://schemas.microsoft.com/office/drawing/2014/main" id="{1FEE6B18-FA7D-4DF7-9C80-FD39C9AD8EDC}"/>
                </a:ext>
              </a:extLst>
            </p:cNvPr>
            <p:cNvSpPr/>
            <p:nvPr/>
          </p:nvSpPr>
          <p:spPr bwMode="auto">
            <a:xfrm>
              <a:off x="8065572" y="5731797"/>
              <a:ext cx="648000" cy="180000"/>
            </a:xfrm>
            <a:prstGeom prst="roundRect">
              <a:avLst/>
            </a:prstGeom>
            <a:solidFill>
              <a:schemeClr val="tx1">
                <a:lumMod val="75000"/>
                <a:lumOff val="25000"/>
              </a:schemeClr>
            </a:solidFill>
            <a:ln w="317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none" lIns="36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fontAlgn="base" latinLnBrk="0">
                <a:spcBef>
                  <a:spcPct val="0"/>
                </a:spcBef>
                <a:spcAft>
                  <a:spcPct val="0"/>
                </a:spcAft>
              </a:pPr>
              <a:r>
                <a:rPr kumimoji="1" lang="ko-KR" altLang="en-US" sz="700" kern="0" smtClean="0">
                  <a:solidFill>
                    <a:schemeClr val="bg1"/>
                  </a:solidFill>
                  <a:latin typeface="+mn-ea"/>
                </a:rPr>
                <a:t>신규등록</a:t>
              </a:r>
              <a:endParaRPr kumimoji="1" lang="ko-KR" altLang="en-US" sz="700" kern="0" dirty="0">
                <a:solidFill>
                  <a:schemeClr val="bg1"/>
                </a:solidFill>
                <a:latin typeface="+mn-ea"/>
              </a:endParaRPr>
            </a:p>
          </p:txBody>
        </p:sp>
      </p:grpSp>
      <p:sp>
        <p:nvSpPr>
          <p:cNvPr id="689" name="직사각형 688">
            <a:extLst>
              <a:ext uri="{FF2B5EF4-FFF2-40B4-BE49-F238E27FC236}">
                <a16:creationId xmlns="" xmlns:a16="http://schemas.microsoft.com/office/drawing/2014/main" id="{A9090594-210F-4E03-B821-432BBB0030E9}"/>
              </a:ext>
            </a:extLst>
          </p:cNvPr>
          <p:cNvSpPr/>
          <p:nvPr/>
        </p:nvSpPr>
        <p:spPr>
          <a:xfrm>
            <a:off x="1367906" y="3372805"/>
            <a:ext cx="1080000" cy="2160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70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번호</a:t>
            </a:r>
            <a:endParaRPr lang="ko-KR" altLang="en-US" sz="70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91" name="직사각형 690">
            <a:extLst>
              <a:ext uri="{FF2B5EF4-FFF2-40B4-BE49-F238E27FC236}">
                <a16:creationId xmlns="" xmlns:a16="http://schemas.microsoft.com/office/drawing/2014/main" id="{C2B96CB1-836B-48A8-AFA2-417DDACEDE0E}"/>
              </a:ext>
            </a:extLst>
          </p:cNvPr>
          <p:cNvSpPr/>
          <p:nvPr/>
        </p:nvSpPr>
        <p:spPr>
          <a:xfrm>
            <a:off x="1367906" y="3586910"/>
            <a:ext cx="1080000" cy="216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700" u="sng" smtClean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123</a:t>
            </a:r>
            <a:endParaRPr lang="ko-KR" altLang="en-US" sz="700" u="sng">
              <a:solidFill>
                <a:srgbClr val="0070C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36" name="직사각형 335">
            <a:extLst>
              <a:ext uri="{FF2B5EF4-FFF2-40B4-BE49-F238E27FC236}">
                <a16:creationId xmlns="" xmlns:a16="http://schemas.microsoft.com/office/drawing/2014/main" id="{C2B96CB1-836B-48A8-AFA2-417DDACEDE0E}"/>
              </a:ext>
            </a:extLst>
          </p:cNvPr>
          <p:cNvSpPr/>
          <p:nvPr/>
        </p:nvSpPr>
        <p:spPr>
          <a:xfrm>
            <a:off x="1367906" y="3802920"/>
            <a:ext cx="1080000" cy="216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700" u="sng" smtClean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122</a:t>
            </a:r>
            <a:endParaRPr lang="ko-KR" altLang="en-US" sz="700" u="sng">
              <a:solidFill>
                <a:srgbClr val="0070C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54" name="직사각형 353">
            <a:extLst>
              <a:ext uri="{FF2B5EF4-FFF2-40B4-BE49-F238E27FC236}">
                <a16:creationId xmlns="" xmlns:a16="http://schemas.microsoft.com/office/drawing/2014/main" id="{C2B96CB1-836B-48A8-AFA2-417DDACEDE0E}"/>
              </a:ext>
            </a:extLst>
          </p:cNvPr>
          <p:cNvSpPr/>
          <p:nvPr/>
        </p:nvSpPr>
        <p:spPr>
          <a:xfrm>
            <a:off x="1367906" y="4017015"/>
            <a:ext cx="1080000" cy="216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700" u="sng" smtClean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121</a:t>
            </a:r>
            <a:endParaRPr lang="ko-KR" altLang="en-US" sz="700" u="sng">
              <a:solidFill>
                <a:srgbClr val="0070C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83" name="직사각형 382">
            <a:extLst>
              <a:ext uri="{FF2B5EF4-FFF2-40B4-BE49-F238E27FC236}">
                <a16:creationId xmlns="" xmlns:a16="http://schemas.microsoft.com/office/drawing/2014/main" id="{C2B96CB1-836B-48A8-AFA2-417DDACEDE0E}"/>
              </a:ext>
            </a:extLst>
          </p:cNvPr>
          <p:cNvSpPr/>
          <p:nvPr/>
        </p:nvSpPr>
        <p:spPr>
          <a:xfrm>
            <a:off x="1367906" y="4233450"/>
            <a:ext cx="1080000" cy="216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700" u="sng" smtClean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120</a:t>
            </a:r>
            <a:endParaRPr lang="ko-KR" altLang="en-US" sz="700" u="sng">
              <a:solidFill>
                <a:srgbClr val="0070C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02" name="직사각형 401">
            <a:extLst>
              <a:ext uri="{FF2B5EF4-FFF2-40B4-BE49-F238E27FC236}">
                <a16:creationId xmlns="" xmlns:a16="http://schemas.microsoft.com/office/drawing/2014/main" id="{C2B96CB1-836B-48A8-AFA2-417DDACEDE0E}"/>
              </a:ext>
            </a:extLst>
          </p:cNvPr>
          <p:cNvSpPr/>
          <p:nvPr/>
        </p:nvSpPr>
        <p:spPr>
          <a:xfrm>
            <a:off x="1367906" y="4447545"/>
            <a:ext cx="1080000" cy="216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700" u="sng" smtClean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119</a:t>
            </a:r>
            <a:endParaRPr lang="ko-KR" altLang="en-US" sz="700" u="sng">
              <a:solidFill>
                <a:srgbClr val="0070C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29" name="직사각형 428">
            <a:extLst>
              <a:ext uri="{FF2B5EF4-FFF2-40B4-BE49-F238E27FC236}">
                <a16:creationId xmlns="" xmlns:a16="http://schemas.microsoft.com/office/drawing/2014/main" id="{C2B96CB1-836B-48A8-AFA2-417DDACEDE0E}"/>
              </a:ext>
            </a:extLst>
          </p:cNvPr>
          <p:cNvSpPr/>
          <p:nvPr/>
        </p:nvSpPr>
        <p:spPr>
          <a:xfrm>
            <a:off x="1367906" y="4663980"/>
            <a:ext cx="1080000" cy="216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700" u="sng" smtClean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118</a:t>
            </a:r>
            <a:endParaRPr lang="ko-KR" altLang="en-US" sz="700" u="sng">
              <a:solidFill>
                <a:srgbClr val="0070C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50" name="직사각형 449">
            <a:extLst>
              <a:ext uri="{FF2B5EF4-FFF2-40B4-BE49-F238E27FC236}">
                <a16:creationId xmlns="" xmlns:a16="http://schemas.microsoft.com/office/drawing/2014/main" id="{C2B96CB1-836B-48A8-AFA2-417DDACEDE0E}"/>
              </a:ext>
            </a:extLst>
          </p:cNvPr>
          <p:cNvSpPr/>
          <p:nvPr/>
        </p:nvSpPr>
        <p:spPr>
          <a:xfrm>
            <a:off x="1367906" y="4878075"/>
            <a:ext cx="1080000" cy="216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700" u="sng" smtClean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117</a:t>
            </a:r>
            <a:endParaRPr lang="ko-KR" altLang="en-US" sz="700" u="sng">
              <a:solidFill>
                <a:srgbClr val="0070C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69" name="직사각형 468">
            <a:extLst>
              <a:ext uri="{FF2B5EF4-FFF2-40B4-BE49-F238E27FC236}">
                <a16:creationId xmlns="" xmlns:a16="http://schemas.microsoft.com/office/drawing/2014/main" id="{C2B96CB1-836B-48A8-AFA2-417DDACEDE0E}"/>
              </a:ext>
            </a:extLst>
          </p:cNvPr>
          <p:cNvSpPr/>
          <p:nvPr/>
        </p:nvSpPr>
        <p:spPr>
          <a:xfrm>
            <a:off x="1367906" y="5094510"/>
            <a:ext cx="1080000" cy="216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700" u="sng" smtClean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116</a:t>
            </a:r>
            <a:endParaRPr lang="ko-KR" altLang="en-US" sz="700" u="sng">
              <a:solidFill>
                <a:srgbClr val="0070C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11" name="그룹 10"/>
          <p:cNvGrpSpPr/>
          <p:nvPr/>
        </p:nvGrpSpPr>
        <p:grpSpPr>
          <a:xfrm>
            <a:off x="2447906" y="3372805"/>
            <a:ext cx="1152000" cy="2151800"/>
            <a:chOff x="2446001" y="3372805"/>
            <a:chExt cx="1080000" cy="2151800"/>
          </a:xfrm>
        </p:grpSpPr>
        <p:sp>
          <p:nvSpPr>
            <p:cNvPr id="692" name="직사각형 691">
              <a:extLst>
                <a:ext uri="{FF2B5EF4-FFF2-40B4-BE49-F238E27FC236}">
                  <a16:creationId xmlns="" xmlns:a16="http://schemas.microsoft.com/office/drawing/2014/main" id="{A9090594-210F-4E03-B821-432BBB0030E9}"/>
                </a:ext>
              </a:extLst>
            </p:cNvPr>
            <p:cNvSpPr/>
            <p:nvPr/>
          </p:nvSpPr>
          <p:spPr>
            <a:xfrm>
              <a:off x="2446001" y="3372805"/>
              <a:ext cx="1080000" cy="216000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700" smtClean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등록 형태</a:t>
              </a:r>
              <a:endParaRPr lang="ko-KR" altLang="en-US" sz="70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693" name="직사각형 692">
              <a:extLst>
                <a:ext uri="{FF2B5EF4-FFF2-40B4-BE49-F238E27FC236}">
                  <a16:creationId xmlns="" xmlns:a16="http://schemas.microsoft.com/office/drawing/2014/main" id="{C2B96CB1-836B-48A8-AFA2-417DDACEDE0E}"/>
                </a:ext>
              </a:extLst>
            </p:cNvPr>
            <p:cNvSpPr/>
            <p:nvPr/>
          </p:nvSpPr>
          <p:spPr>
            <a:xfrm>
              <a:off x="2446001" y="3586910"/>
              <a:ext cx="1080000" cy="216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700" u="sng" smtClean="0">
                  <a:solidFill>
                    <a:srgbClr val="0070C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브랜드</a:t>
              </a:r>
              <a:endParaRPr lang="ko-KR" altLang="en-US" sz="700" u="sng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324" name="직사각형 323">
              <a:extLst>
                <a:ext uri="{FF2B5EF4-FFF2-40B4-BE49-F238E27FC236}">
                  <a16:creationId xmlns="" xmlns:a16="http://schemas.microsoft.com/office/drawing/2014/main" id="{C2B96CB1-836B-48A8-AFA2-417DDACEDE0E}"/>
                </a:ext>
              </a:extLst>
            </p:cNvPr>
            <p:cNvSpPr/>
            <p:nvPr/>
          </p:nvSpPr>
          <p:spPr>
            <a:xfrm>
              <a:off x="2446001" y="3802920"/>
              <a:ext cx="1080000" cy="216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700" u="sng" smtClean="0">
                  <a:solidFill>
                    <a:srgbClr val="0070C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상품</a:t>
              </a:r>
              <a:endParaRPr lang="ko-KR" altLang="en-US" sz="700" u="sng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338" name="직사각형 337">
              <a:extLst>
                <a:ext uri="{FF2B5EF4-FFF2-40B4-BE49-F238E27FC236}">
                  <a16:creationId xmlns="" xmlns:a16="http://schemas.microsoft.com/office/drawing/2014/main" id="{C2B96CB1-836B-48A8-AFA2-417DDACEDE0E}"/>
                </a:ext>
              </a:extLst>
            </p:cNvPr>
            <p:cNvSpPr/>
            <p:nvPr/>
          </p:nvSpPr>
          <p:spPr>
            <a:xfrm>
              <a:off x="2446001" y="4017015"/>
              <a:ext cx="1080000" cy="216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700" u="sng">
                  <a:solidFill>
                    <a:srgbClr val="0070C0"/>
                  </a:solidFill>
                  <a:latin typeface="맑은 고딕" panose="020B0503020000020004" pitchFamily="50" charset="-127"/>
                </a:rPr>
                <a:t>브랜드</a:t>
              </a:r>
            </a:p>
          </p:txBody>
        </p:sp>
        <p:sp>
          <p:nvSpPr>
            <p:cNvPr id="356" name="직사각형 355">
              <a:extLst>
                <a:ext uri="{FF2B5EF4-FFF2-40B4-BE49-F238E27FC236}">
                  <a16:creationId xmlns="" xmlns:a16="http://schemas.microsoft.com/office/drawing/2014/main" id="{C2B96CB1-836B-48A8-AFA2-417DDACEDE0E}"/>
                </a:ext>
              </a:extLst>
            </p:cNvPr>
            <p:cNvSpPr/>
            <p:nvPr/>
          </p:nvSpPr>
          <p:spPr>
            <a:xfrm>
              <a:off x="2446001" y="4233450"/>
              <a:ext cx="1080000" cy="216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700" u="sng">
                  <a:solidFill>
                    <a:srgbClr val="0070C0"/>
                  </a:solidFill>
                  <a:latin typeface="맑은 고딕" panose="020B0503020000020004" pitchFamily="50" charset="-127"/>
                </a:rPr>
                <a:t>상품</a:t>
              </a:r>
            </a:p>
          </p:txBody>
        </p:sp>
        <p:sp>
          <p:nvSpPr>
            <p:cNvPr id="385" name="직사각형 384">
              <a:extLst>
                <a:ext uri="{FF2B5EF4-FFF2-40B4-BE49-F238E27FC236}">
                  <a16:creationId xmlns="" xmlns:a16="http://schemas.microsoft.com/office/drawing/2014/main" id="{C2B96CB1-836B-48A8-AFA2-417DDACEDE0E}"/>
                </a:ext>
              </a:extLst>
            </p:cNvPr>
            <p:cNvSpPr/>
            <p:nvPr/>
          </p:nvSpPr>
          <p:spPr>
            <a:xfrm>
              <a:off x="2446001" y="4447545"/>
              <a:ext cx="1080000" cy="216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700" u="sng">
                  <a:solidFill>
                    <a:srgbClr val="0070C0"/>
                  </a:solidFill>
                  <a:latin typeface="맑은 고딕" panose="020B0503020000020004" pitchFamily="50" charset="-127"/>
                </a:rPr>
                <a:t>상품</a:t>
              </a:r>
            </a:p>
          </p:txBody>
        </p:sp>
        <p:sp>
          <p:nvSpPr>
            <p:cNvPr id="405" name="직사각형 404">
              <a:extLst>
                <a:ext uri="{FF2B5EF4-FFF2-40B4-BE49-F238E27FC236}">
                  <a16:creationId xmlns="" xmlns:a16="http://schemas.microsoft.com/office/drawing/2014/main" id="{C2B96CB1-836B-48A8-AFA2-417DDACEDE0E}"/>
                </a:ext>
              </a:extLst>
            </p:cNvPr>
            <p:cNvSpPr/>
            <p:nvPr/>
          </p:nvSpPr>
          <p:spPr>
            <a:xfrm>
              <a:off x="2446001" y="4663980"/>
              <a:ext cx="1080000" cy="216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700" u="sng">
                  <a:solidFill>
                    <a:srgbClr val="0070C0"/>
                  </a:solidFill>
                  <a:latin typeface="맑은 고딕" panose="020B0503020000020004" pitchFamily="50" charset="-127"/>
                </a:rPr>
                <a:t>브랜드</a:t>
              </a:r>
            </a:p>
          </p:txBody>
        </p:sp>
        <p:sp>
          <p:nvSpPr>
            <p:cNvPr id="433" name="직사각형 432">
              <a:extLst>
                <a:ext uri="{FF2B5EF4-FFF2-40B4-BE49-F238E27FC236}">
                  <a16:creationId xmlns="" xmlns:a16="http://schemas.microsoft.com/office/drawing/2014/main" id="{C2B96CB1-836B-48A8-AFA2-417DDACEDE0E}"/>
                </a:ext>
              </a:extLst>
            </p:cNvPr>
            <p:cNvSpPr/>
            <p:nvPr/>
          </p:nvSpPr>
          <p:spPr>
            <a:xfrm>
              <a:off x="2446001" y="4878075"/>
              <a:ext cx="1080000" cy="216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700" u="sng">
                  <a:solidFill>
                    <a:srgbClr val="0070C0"/>
                  </a:solidFill>
                  <a:latin typeface="맑은 고딕" panose="020B0503020000020004" pitchFamily="50" charset="-127"/>
                </a:rPr>
                <a:t>브랜드</a:t>
              </a:r>
            </a:p>
          </p:txBody>
        </p:sp>
        <p:sp>
          <p:nvSpPr>
            <p:cNvPr id="454" name="직사각형 453">
              <a:extLst>
                <a:ext uri="{FF2B5EF4-FFF2-40B4-BE49-F238E27FC236}">
                  <a16:creationId xmlns="" xmlns:a16="http://schemas.microsoft.com/office/drawing/2014/main" id="{C2B96CB1-836B-48A8-AFA2-417DDACEDE0E}"/>
                </a:ext>
              </a:extLst>
            </p:cNvPr>
            <p:cNvSpPr/>
            <p:nvPr/>
          </p:nvSpPr>
          <p:spPr>
            <a:xfrm>
              <a:off x="2446001" y="5094510"/>
              <a:ext cx="1080000" cy="216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700" u="sng">
                  <a:solidFill>
                    <a:srgbClr val="0070C0"/>
                  </a:solidFill>
                  <a:latin typeface="맑은 고딕" panose="020B0503020000020004" pitchFamily="50" charset="-127"/>
                </a:rPr>
                <a:t>브랜드</a:t>
              </a:r>
            </a:p>
          </p:txBody>
        </p:sp>
        <p:sp>
          <p:nvSpPr>
            <p:cNvPr id="471" name="직사각형 470">
              <a:extLst>
                <a:ext uri="{FF2B5EF4-FFF2-40B4-BE49-F238E27FC236}">
                  <a16:creationId xmlns="" xmlns:a16="http://schemas.microsoft.com/office/drawing/2014/main" id="{C2B96CB1-836B-48A8-AFA2-417DDACEDE0E}"/>
                </a:ext>
              </a:extLst>
            </p:cNvPr>
            <p:cNvSpPr/>
            <p:nvPr/>
          </p:nvSpPr>
          <p:spPr>
            <a:xfrm>
              <a:off x="2446001" y="5308605"/>
              <a:ext cx="1080000" cy="216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700" u="sng">
                  <a:solidFill>
                    <a:srgbClr val="0070C0"/>
                  </a:solidFill>
                  <a:latin typeface="맑은 고딕" panose="020B0503020000020004" pitchFamily="50" charset="-127"/>
                </a:rPr>
                <a:t>상품</a:t>
              </a:r>
            </a:p>
          </p:txBody>
        </p:sp>
      </p:grpSp>
      <p:grpSp>
        <p:nvGrpSpPr>
          <p:cNvPr id="10" name="그룹 9"/>
          <p:cNvGrpSpPr/>
          <p:nvPr/>
        </p:nvGrpSpPr>
        <p:grpSpPr>
          <a:xfrm>
            <a:off x="3599906" y="3372805"/>
            <a:ext cx="2160000" cy="2151800"/>
            <a:chOff x="2843906" y="3372805"/>
            <a:chExt cx="2160000" cy="2151800"/>
          </a:xfrm>
        </p:grpSpPr>
        <p:sp>
          <p:nvSpPr>
            <p:cNvPr id="694" name="직사각형 693">
              <a:extLst>
                <a:ext uri="{FF2B5EF4-FFF2-40B4-BE49-F238E27FC236}">
                  <a16:creationId xmlns="" xmlns:a16="http://schemas.microsoft.com/office/drawing/2014/main" id="{6C46722B-A1C8-40C5-9355-BEF50DEEB2FE}"/>
                </a:ext>
              </a:extLst>
            </p:cNvPr>
            <p:cNvSpPr/>
            <p:nvPr/>
          </p:nvSpPr>
          <p:spPr>
            <a:xfrm>
              <a:off x="2843906" y="3372805"/>
              <a:ext cx="2160000" cy="216000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700" smtClean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등록 데이터</a:t>
              </a:r>
              <a:endParaRPr lang="ko-KR" altLang="en-US" sz="70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695" name="직사각형 694">
              <a:extLst>
                <a:ext uri="{FF2B5EF4-FFF2-40B4-BE49-F238E27FC236}">
                  <a16:creationId xmlns="" xmlns:a16="http://schemas.microsoft.com/office/drawing/2014/main" id="{125A9445-0B2B-4F55-8AE2-07E57374FAAD}"/>
                </a:ext>
              </a:extLst>
            </p:cNvPr>
            <p:cNvSpPr/>
            <p:nvPr/>
          </p:nvSpPr>
          <p:spPr>
            <a:xfrm>
              <a:off x="2843906" y="3586910"/>
              <a:ext cx="2160000" cy="216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70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HAZZYS </a:t>
              </a:r>
              <a:r>
                <a:rPr lang="en-US" altLang="ko-KR" sz="70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LADIES </a:t>
              </a:r>
              <a:r>
                <a:rPr lang="ko-KR" altLang="en-US" sz="70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외 </a:t>
              </a:r>
              <a:r>
                <a:rPr lang="en-US" altLang="ko-KR" sz="70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123</a:t>
              </a:r>
              <a:r>
                <a:rPr lang="ko-KR" altLang="en-US" sz="70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건</a:t>
              </a:r>
              <a:endParaRPr lang="ko-KR" altLang="en-US" sz="7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325" name="직사각형 324">
              <a:extLst>
                <a:ext uri="{FF2B5EF4-FFF2-40B4-BE49-F238E27FC236}">
                  <a16:creationId xmlns="" xmlns:a16="http://schemas.microsoft.com/office/drawing/2014/main" id="{125A9445-0B2B-4F55-8AE2-07E57374FAAD}"/>
                </a:ext>
              </a:extLst>
            </p:cNvPr>
            <p:cNvSpPr/>
            <p:nvPr/>
          </p:nvSpPr>
          <p:spPr>
            <a:xfrm>
              <a:off x="2843906" y="3802920"/>
              <a:ext cx="2160000" cy="216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70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HZJU6A100W2 </a:t>
              </a:r>
              <a:r>
                <a:rPr lang="ko-KR" altLang="en-US" sz="70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외 </a:t>
              </a:r>
              <a:r>
                <a:rPr lang="en-US" altLang="ko-KR" sz="70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987</a:t>
              </a:r>
              <a:r>
                <a:rPr lang="ko-KR" altLang="en-US" sz="70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건</a:t>
              </a:r>
              <a:endParaRPr lang="ko-KR" altLang="en-US" sz="7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339" name="직사각형 338">
              <a:extLst>
                <a:ext uri="{FF2B5EF4-FFF2-40B4-BE49-F238E27FC236}">
                  <a16:creationId xmlns="" xmlns:a16="http://schemas.microsoft.com/office/drawing/2014/main" id="{125A9445-0B2B-4F55-8AE2-07E57374FAAD}"/>
                </a:ext>
              </a:extLst>
            </p:cNvPr>
            <p:cNvSpPr/>
            <p:nvPr/>
          </p:nvSpPr>
          <p:spPr>
            <a:xfrm>
              <a:off x="2843906" y="4017015"/>
              <a:ext cx="2160000" cy="216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70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DAKS GOLF  WOMEN </a:t>
              </a:r>
              <a:r>
                <a:rPr lang="ko-KR" altLang="en-US" sz="70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외 </a:t>
              </a:r>
              <a:r>
                <a:rPr lang="en-US" altLang="ko-KR" sz="70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45</a:t>
              </a:r>
              <a:r>
                <a:rPr lang="ko-KR" altLang="en-US" sz="70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건</a:t>
              </a:r>
              <a:endParaRPr lang="ko-KR" altLang="en-US" sz="7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357" name="직사각형 356">
              <a:extLst>
                <a:ext uri="{FF2B5EF4-FFF2-40B4-BE49-F238E27FC236}">
                  <a16:creationId xmlns="" xmlns:a16="http://schemas.microsoft.com/office/drawing/2014/main" id="{125A9445-0B2B-4F55-8AE2-07E57374FAAD}"/>
                </a:ext>
              </a:extLst>
            </p:cNvPr>
            <p:cNvSpPr/>
            <p:nvPr/>
          </p:nvSpPr>
          <p:spPr>
            <a:xfrm>
              <a:off x="2843906" y="4233450"/>
              <a:ext cx="2160000" cy="216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70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DNJU6A902BK </a:t>
              </a:r>
              <a:r>
                <a:rPr lang="ko-KR" altLang="en-US" sz="70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외 </a:t>
              </a:r>
              <a:r>
                <a:rPr lang="en-US" altLang="ko-KR" sz="70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32</a:t>
              </a:r>
              <a:r>
                <a:rPr lang="ko-KR" altLang="en-US" sz="70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건</a:t>
              </a:r>
              <a:endParaRPr lang="ko-KR" altLang="en-US" sz="7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386" name="직사각형 385">
              <a:extLst>
                <a:ext uri="{FF2B5EF4-FFF2-40B4-BE49-F238E27FC236}">
                  <a16:creationId xmlns="" xmlns:a16="http://schemas.microsoft.com/office/drawing/2014/main" id="{125A9445-0B2B-4F55-8AE2-07E57374FAAD}"/>
                </a:ext>
              </a:extLst>
            </p:cNvPr>
            <p:cNvSpPr/>
            <p:nvPr/>
          </p:nvSpPr>
          <p:spPr>
            <a:xfrm>
              <a:off x="2843906" y="4447545"/>
              <a:ext cx="2160000" cy="216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70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DNJU6A902BK </a:t>
              </a:r>
              <a:r>
                <a:rPr lang="ko-KR" altLang="en-US" sz="70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외 </a:t>
              </a:r>
              <a:r>
                <a:rPr lang="en-US" altLang="ko-KR" sz="70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32</a:t>
              </a:r>
              <a:r>
                <a:rPr lang="ko-KR" altLang="en-US" sz="70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건</a:t>
              </a:r>
            </a:p>
          </p:txBody>
        </p:sp>
        <p:sp>
          <p:nvSpPr>
            <p:cNvPr id="406" name="직사각형 405">
              <a:extLst>
                <a:ext uri="{FF2B5EF4-FFF2-40B4-BE49-F238E27FC236}">
                  <a16:creationId xmlns="" xmlns:a16="http://schemas.microsoft.com/office/drawing/2014/main" id="{125A9445-0B2B-4F55-8AE2-07E57374FAAD}"/>
                </a:ext>
              </a:extLst>
            </p:cNvPr>
            <p:cNvSpPr/>
            <p:nvPr/>
          </p:nvSpPr>
          <p:spPr>
            <a:xfrm>
              <a:off x="2843906" y="4663980"/>
              <a:ext cx="2160000" cy="216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70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DAKS GOLF  WOMEN </a:t>
              </a:r>
              <a:r>
                <a:rPr lang="ko-KR" altLang="en-US" sz="70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외 </a:t>
              </a:r>
              <a:r>
                <a:rPr lang="en-US" altLang="ko-KR" sz="70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45</a:t>
              </a:r>
              <a:r>
                <a:rPr lang="ko-KR" altLang="en-US" sz="70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건</a:t>
              </a:r>
            </a:p>
          </p:txBody>
        </p:sp>
        <p:sp>
          <p:nvSpPr>
            <p:cNvPr id="436" name="직사각형 435">
              <a:extLst>
                <a:ext uri="{FF2B5EF4-FFF2-40B4-BE49-F238E27FC236}">
                  <a16:creationId xmlns="" xmlns:a16="http://schemas.microsoft.com/office/drawing/2014/main" id="{125A9445-0B2B-4F55-8AE2-07E57374FAAD}"/>
                </a:ext>
              </a:extLst>
            </p:cNvPr>
            <p:cNvSpPr/>
            <p:nvPr/>
          </p:nvSpPr>
          <p:spPr>
            <a:xfrm>
              <a:off x="2843906" y="4878075"/>
              <a:ext cx="2160000" cy="216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70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DAKS GOLF  WOMEN </a:t>
              </a:r>
              <a:r>
                <a:rPr lang="ko-KR" altLang="en-US" sz="70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외 </a:t>
              </a:r>
              <a:r>
                <a:rPr lang="en-US" altLang="ko-KR" sz="70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45</a:t>
              </a:r>
              <a:r>
                <a:rPr lang="ko-KR" altLang="en-US" sz="70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건</a:t>
              </a:r>
            </a:p>
          </p:txBody>
        </p:sp>
        <p:sp>
          <p:nvSpPr>
            <p:cNvPr id="455" name="직사각형 454">
              <a:extLst>
                <a:ext uri="{FF2B5EF4-FFF2-40B4-BE49-F238E27FC236}">
                  <a16:creationId xmlns="" xmlns:a16="http://schemas.microsoft.com/office/drawing/2014/main" id="{125A9445-0B2B-4F55-8AE2-07E57374FAAD}"/>
                </a:ext>
              </a:extLst>
            </p:cNvPr>
            <p:cNvSpPr/>
            <p:nvPr/>
          </p:nvSpPr>
          <p:spPr>
            <a:xfrm>
              <a:off x="2843906" y="5094510"/>
              <a:ext cx="2160000" cy="216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70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DAKS GOLF  WOMEN </a:t>
              </a:r>
              <a:r>
                <a:rPr lang="ko-KR" altLang="en-US" sz="70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외 </a:t>
              </a:r>
              <a:r>
                <a:rPr lang="en-US" altLang="ko-KR" sz="70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45</a:t>
              </a:r>
              <a:r>
                <a:rPr lang="ko-KR" altLang="en-US" sz="70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건</a:t>
              </a:r>
            </a:p>
          </p:txBody>
        </p:sp>
        <p:sp>
          <p:nvSpPr>
            <p:cNvPr id="472" name="직사각형 471">
              <a:extLst>
                <a:ext uri="{FF2B5EF4-FFF2-40B4-BE49-F238E27FC236}">
                  <a16:creationId xmlns="" xmlns:a16="http://schemas.microsoft.com/office/drawing/2014/main" id="{125A9445-0B2B-4F55-8AE2-07E57374FAAD}"/>
                </a:ext>
              </a:extLst>
            </p:cNvPr>
            <p:cNvSpPr/>
            <p:nvPr/>
          </p:nvSpPr>
          <p:spPr>
            <a:xfrm>
              <a:off x="2843906" y="5308605"/>
              <a:ext cx="2160000" cy="216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70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DNJU6A902BK </a:t>
              </a:r>
              <a:r>
                <a:rPr lang="ko-KR" altLang="en-US" sz="70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외 </a:t>
              </a:r>
              <a:r>
                <a:rPr lang="en-US" altLang="ko-KR" sz="70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32</a:t>
              </a:r>
              <a:r>
                <a:rPr lang="ko-KR" altLang="en-US" sz="70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건</a:t>
              </a:r>
            </a:p>
          </p:txBody>
        </p:sp>
      </p:grpSp>
      <p:grpSp>
        <p:nvGrpSpPr>
          <p:cNvPr id="3" name="그룹 2"/>
          <p:cNvGrpSpPr/>
          <p:nvPr/>
        </p:nvGrpSpPr>
        <p:grpSpPr>
          <a:xfrm>
            <a:off x="5759906" y="3372805"/>
            <a:ext cx="1080000" cy="2151800"/>
            <a:chOff x="5758456" y="3372805"/>
            <a:chExt cx="1080000" cy="2151800"/>
          </a:xfrm>
        </p:grpSpPr>
        <p:sp>
          <p:nvSpPr>
            <p:cNvPr id="696" name="직사각형 695">
              <a:extLst>
                <a:ext uri="{FF2B5EF4-FFF2-40B4-BE49-F238E27FC236}">
                  <a16:creationId xmlns="" xmlns:a16="http://schemas.microsoft.com/office/drawing/2014/main" id="{A9090594-210F-4E03-B821-432BBB0030E9}"/>
                </a:ext>
              </a:extLst>
            </p:cNvPr>
            <p:cNvSpPr/>
            <p:nvPr/>
          </p:nvSpPr>
          <p:spPr>
            <a:xfrm>
              <a:off x="5758456" y="3372805"/>
              <a:ext cx="1080000" cy="216000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700" smtClean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재고연동여부</a:t>
              </a:r>
              <a:endParaRPr lang="ko-KR" altLang="en-US" sz="70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697" name="직사각형 696">
              <a:extLst>
                <a:ext uri="{FF2B5EF4-FFF2-40B4-BE49-F238E27FC236}">
                  <a16:creationId xmlns="" xmlns:a16="http://schemas.microsoft.com/office/drawing/2014/main" id="{C2B96CB1-836B-48A8-AFA2-417DDACEDE0E}"/>
                </a:ext>
              </a:extLst>
            </p:cNvPr>
            <p:cNvSpPr/>
            <p:nvPr/>
          </p:nvSpPr>
          <p:spPr>
            <a:xfrm>
              <a:off x="5758456" y="3586910"/>
              <a:ext cx="1080000" cy="216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70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Y</a:t>
              </a:r>
              <a:endParaRPr lang="ko-KR" altLang="en-US" sz="7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326" name="직사각형 325">
              <a:extLst>
                <a:ext uri="{FF2B5EF4-FFF2-40B4-BE49-F238E27FC236}">
                  <a16:creationId xmlns="" xmlns:a16="http://schemas.microsoft.com/office/drawing/2014/main" id="{C2B96CB1-836B-48A8-AFA2-417DDACEDE0E}"/>
                </a:ext>
              </a:extLst>
            </p:cNvPr>
            <p:cNvSpPr/>
            <p:nvPr/>
          </p:nvSpPr>
          <p:spPr>
            <a:xfrm>
              <a:off x="5758456" y="3802920"/>
              <a:ext cx="1080000" cy="216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70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Y</a:t>
              </a:r>
              <a:endParaRPr lang="ko-KR" altLang="en-US" sz="7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340" name="직사각형 339">
              <a:extLst>
                <a:ext uri="{FF2B5EF4-FFF2-40B4-BE49-F238E27FC236}">
                  <a16:creationId xmlns="" xmlns:a16="http://schemas.microsoft.com/office/drawing/2014/main" id="{C2B96CB1-836B-48A8-AFA2-417DDACEDE0E}"/>
                </a:ext>
              </a:extLst>
            </p:cNvPr>
            <p:cNvSpPr/>
            <p:nvPr/>
          </p:nvSpPr>
          <p:spPr>
            <a:xfrm>
              <a:off x="5758456" y="4017015"/>
              <a:ext cx="1080000" cy="216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70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N</a:t>
              </a:r>
              <a:endParaRPr lang="ko-KR" altLang="en-US" sz="7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358" name="직사각형 357">
              <a:extLst>
                <a:ext uri="{FF2B5EF4-FFF2-40B4-BE49-F238E27FC236}">
                  <a16:creationId xmlns="" xmlns:a16="http://schemas.microsoft.com/office/drawing/2014/main" id="{C2B96CB1-836B-48A8-AFA2-417DDACEDE0E}"/>
                </a:ext>
              </a:extLst>
            </p:cNvPr>
            <p:cNvSpPr/>
            <p:nvPr/>
          </p:nvSpPr>
          <p:spPr>
            <a:xfrm>
              <a:off x="5758456" y="4233450"/>
              <a:ext cx="1080000" cy="216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70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N</a:t>
              </a:r>
              <a:endParaRPr lang="ko-KR" altLang="en-US" sz="7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387" name="직사각형 386">
              <a:extLst>
                <a:ext uri="{FF2B5EF4-FFF2-40B4-BE49-F238E27FC236}">
                  <a16:creationId xmlns="" xmlns:a16="http://schemas.microsoft.com/office/drawing/2014/main" id="{C2B96CB1-836B-48A8-AFA2-417DDACEDE0E}"/>
                </a:ext>
              </a:extLst>
            </p:cNvPr>
            <p:cNvSpPr/>
            <p:nvPr/>
          </p:nvSpPr>
          <p:spPr>
            <a:xfrm>
              <a:off x="5758456" y="4447545"/>
              <a:ext cx="1080000" cy="216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70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Y</a:t>
              </a:r>
              <a:endParaRPr lang="ko-KR" altLang="en-US" sz="7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407" name="직사각형 406">
              <a:extLst>
                <a:ext uri="{FF2B5EF4-FFF2-40B4-BE49-F238E27FC236}">
                  <a16:creationId xmlns="" xmlns:a16="http://schemas.microsoft.com/office/drawing/2014/main" id="{C2B96CB1-836B-48A8-AFA2-417DDACEDE0E}"/>
                </a:ext>
              </a:extLst>
            </p:cNvPr>
            <p:cNvSpPr/>
            <p:nvPr/>
          </p:nvSpPr>
          <p:spPr>
            <a:xfrm>
              <a:off x="5758456" y="4663980"/>
              <a:ext cx="1080000" cy="216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70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N</a:t>
              </a:r>
              <a:endParaRPr lang="ko-KR" altLang="en-US" sz="7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437" name="직사각형 436">
              <a:extLst>
                <a:ext uri="{FF2B5EF4-FFF2-40B4-BE49-F238E27FC236}">
                  <a16:creationId xmlns="" xmlns:a16="http://schemas.microsoft.com/office/drawing/2014/main" id="{C2B96CB1-836B-48A8-AFA2-417DDACEDE0E}"/>
                </a:ext>
              </a:extLst>
            </p:cNvPr>
            <p:cNvSpPr/>
            <p:nvPr/>
          </p:nvSpPr>
          <p:spPr>
            <a:xfrm>
              <a:off x="5758456" y="4878075"/>
              <a:ext cx="1080000" cy="216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70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N</a:t>
              </a:r>
              <a:endParaRPr lang="ko-KR" altLang="en-US" sz="7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456" name="직사각형 455">
              <a:extLst>
                <a:ext uri="{FF2B5EF4-FFF2-40B4-BE49-F238E27FC236}">
                  <a16:creationId xmlns="" xmlns:a16="http://schemas.microsoft.com/office/drawing/2014/main" id="{C2B96CB1-836B-48A8-AFA2-417DDACEDE0E}"/>
                </a:ext>
              </a:extLst>
            </p:cNvPr>
            <p:cNvSpPr/>
            <p:nvPr/>
          </p:nvSpPr>
          <p:spPr>
            <a:xfrm>
              <a:off x="5758456" y="5094510"/>
              <a:ext cx="1080000" cy="216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70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Y</a:t>
              </a:r>
              <a:endParaRPr lang="ko-KR" altLang="en-US" sz="7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473" name="직사각형 472">
              <a:extLst>
                <a:ext uri="{FF2B5EF4-FFF2-40B4-BE49-F238E27FC236}">
                  <a16:creationId xmlns="" xmlns:a16="http://schemas.microsoft.com/office/drawing/2014/main" id="{C2B96CB1-836B-48A8-AFA2-417DDACEDE0E}"/>
                </a:ext>
              </a:extLst>
            </p:cNvPr>
            <p:cNvSpPr/>
            <p:nvPr/>
          </p:nvSpPr>
          <p:spPr>
            <a:xfrm>
              <a:off x="5758456" y="5308605"/>
              <a:ext cx="1080000" cy="216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70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N</a:t>
              </a:r>
              <a:endParaRPr lang="ko-KR" altLang="en-US" sz="7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endParaRPr>
            </a:p>
          </p:txBody>
        </p:sp>
      </p:grpSp>
      <p:grpSp>
        <p:nvGrpSpPr>
          <p:cNvPr id="8" name="그룹 7"/>
          <p:cNvGrpSpPr/>
          <p:nvPr/>
        </p:nvGrpSpPr>
        <p:grpSpPr>
          <a:xfrm>
            <a:off x="6839906" y="3372805"/>
            <a:ext cx="1080000" cy="2151800"/>
            <a:chOff x="6839181" y="3372805"/>
            <a:chExt cx="1080000" cy="2151800"/>
          </a:xfrm>
        </p:grpSpPr>
        <p:sp>
          <p:nvSpPr>
            <p:cNvPr id="698" name="직사각형 697">
              <a:extLst>
                <a:ext uri="{FF2B5EF4-FFF2-40B4-BE49-F238E27FC236}">
                  <a16:creationId xmlns="" xmlns:a16="http://schemas.microsoft.com/office/drawing/2014/main" id="{A9090594-210F-4E03-B821-432BBB0030E9}"/>
                </a:ext>
              </a:extLst>
            </p:cNvPr>
            <p:cNvSpPr/>
            <p:nvPr/>
          </p:nvSpPr>
          <p:spPr>
            <a:xfrm>
              <a:off x="6839181" y="3372805"/>
              <a:ext cx="1080000" cy="216000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700" smtClean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등록자</a:t>
              </a:r>
              <a:endParaRPr lang="ko-KR" altLang="en-US" sz="70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699" name="직사각형 698">
              <a:extLst>
                <a:ext uri="{FF2B5EF4-FFF2-40B4-BE49-F238E27FC236}">
                  <a16:creationId xmlns="" xmlns:a16="http://schemas.microsoft.com/office/drawing/2014/main" id="{C2B96CB1-836B-48A8-AFA2-417DDACEDE0E}"/>
                </a:ext>
              </a:extLst>
            </p:cNvPr>
            <p:cNvSpPr/>
            <p:nvPr/>
          </p:nvSpPr>
          <p:spPr>
            <a:xfrm>
              <a:off x="6839181" y="3586910"/>
              <a:ext cx="1080000" cy="216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70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by.choi</a:t>
              </a:r>
              <a:endParaRPr lang="ko-KR" altLang="en-US" sz="7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327" name="직사각형 326">
              <a:extLst>
                <a:ext uri="{FF2B5EF4-FFF2-40B4-BE49-F238E27FC236}">
                  <a16:creationId xmlns="" xmlns:a16="http://schemas.microsoft.com/office/drawing/2014/main" id="{C2B96CB1-836B-48A8-AFA2-417DDACEDE0E}"/>
                </a:ext>
              </a:extLst>
            </p:cNvPr>
            <p:cNvSpPr/>
            <p:nvPr/>
          </p:nvSpPr>
          <p:spPr>
            <a:xfrm>
              <a:off x="6839181" y="3802920"/>
              <a:ext cx="1080000" cy="216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70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gildong.hong</a:t>
              </a:r>
              <a:endParaRPr lang="ko-KR" altLang="en-US" sz="7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346" name="직사각형 345">
              <a:extLst>
                <a:ext uri="{FF2B5EF4-FFF2-40B4-BE49-F238E27FC236}">
                  <a16:creationId xmlns="" xmlns:a16="http://schemas.microsoft.com/office/drawing/2014/main" id="{C2B96CB1-836B-48A8-AFA2-417DDACEDE0E}"/>
                </a:ext>
              </a:extLst>
            </p:cNvPr>
            <p:cNvSpPr/>
            <p:nvPr/>
          </p:nvSpPr>
          <p:spPr>
            <a:xfrm>
              <a:off x="6839181" y="4017015"/>
              <a:ext cx="1080000" cy="216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70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gildong.hong</a:t>
              </a:r>
              <a:endParaRPr lang="ko-KR" altLang="en-US" sz="7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359" name="직사각형 358">
              <a:extLst>
                <a:ext uri="{FF2B5EF4-FFF2-40B4-BE49-F238E27FC236}">
                  <a16:creationId xmlns="" xmlns:a16="http://schemas.microsoft.com/office/drawing/2014/main" id="{C2B96CB1-836B-48A8-AFA2-417DDACEDE0E}"/>
                </a:ext>
              </a:extLst>
            </p:cNvPr>
            <p:cNvSpPr/>
            <p:nvPr/>
          </p:nvSpPr>
          <p:spPr>
            <a:xfrm>
              <a:off x="6839181" y="4233450"/>
              <a:ext cx="1080000" cy="216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70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gildong.hong</a:t>
              </a:r>
              <a:endParaRPr lang="ko-KR" altLang="en-US" sz="7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390" name="직사각형 389">
              <a:extLst>
                <a:ext uri="{FF2B5EF4-FFF2-40B4-BE49-F238E27FC236}">
                  <a16:creationId xmlns="" xmlns:a16="http://schemas.microsoft.com/office/drawing/2014/main" id="{C2B96CB1-836B-48A8-AFA2-417DDACEDE0E}"/>
                </a:ext>
              </a:extLst>
            </p:cNvPr>
            <p:cNvSpPr/>
            <p:nvPr/>
          </p:nvSpPr>
          <p:spPr>
            <a:xfrm>
              <a:off x="6839181" y="4447545"/>
              <a:ext cx="1080000" cy="216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70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gildong.hong</a:t>
              </a:r>
              <a:endParaRPr lang="ko-KR" altLang="en-US" sz="7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408" name="직사각형 407">
              <a:extLst>
                <a:ext uri="{FF2B5EF4-FFF2-40B4-BE49-F238E27FC236}">
                  <a16:creationId xmlns="" xmlns:a16="http://schemas.microsoft.com/office/drawing/2014/main" id="{C2B96CB1-836B-48A8-AFA2-417DDACEDE0E}"/>
                </a:ext>
              </a:extLst>
            </p:cNvPr>
            <p:cNvSpPr/>
            <p:nvPr/>
          </p:nvSpPr>
          <p:spPr>
            <a:xfrm>
              <a:off x="6839181" y="4663980"/>
              <a:ext cx="1080000" cy="216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70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gildong.hong</a:t>
              </a:r>
              <a:endParaRPr lang="ko-KR" altLang="en-US" sz="7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438" name="직사각형 437">
              <a:extLst>
                <a:ext uri="{FF2B5EF4-FFF2-40B4-BE49-F238E27FC236}">
                  <a16:creationId xmlns="" xmlns:a16="http://schemas.microsoft.com/office/drawing/2014/main" id="{C2B96CB1-836B-48A8-AFA2-417DDACEDE0E}"/>
                </a:ext>
              </a:extLst>
            </p:cNvPr>
            <p:cNvSpPr/>
            <p:nvPr/>
          </p:nvSpPr>
          <p:spPr>
            <a:xfrm>
              <a:off x="6839181" y="4878075"/>
              <a:ext cx="1080000" cy="216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70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gildong.hong</a:t>
              </a:r>
              <a:endParaRPr lang="ko-KR" altLang="en-US" sz="7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459" name="직사각형 458">
              <a:extLst>
                <a:ext uri="{FF2B5EF4-FFF2-40B4-BE49-F238E27FC236}">
                  <a16:creationId xmlns="" xmlns:a16="http://schemas.microsoft.com/office/drawing/2014/main" id="{C2B96CB1-836B-48A8-AFA2-417DDACEDE0E}"/>
                </a:ext>
              </a:extLst>
            </p:cNvPr>
            <p:cNvSpPr/>
            <p:nvPr/>
          </p:nvSpPr>
          <p:spPr>
            <a:xfrm>
              <a:off x="6839181" y="5094510"/>
              <a:ext cx="1080000" cy="216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70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gildong.hong</a:t>
              </a:r>
              <a:endParaRPr lang="ko-KR" altLang="en-US" sz="7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474" name="직사각형 473">
              <a:extLst>
                <a:ext uri="{FF2B5EF4-FFF2-40B4-BE49-F238E27FC236}">
                  <a16:creationId xmlns="" xmlns:a16="http://schemas.microsoft.com/office/drawing/2014/main" id="{C2B96CB1-836B-48A8-AFA2-417DDACEDE0E}"/>
                </a:ext>
              </a:extLst>
            </p:cNvPr>
            <p:cNvSpPr/>
            <p:nvPr/>
          </p:nvSpPr>
          <p:spPr>
            <a:xfrm>
              <a:off x="6839181" y="5308605"/>
              <a:ext cx="1080000" cy="216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70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gildong.hong</a:t>
              </a:r>
              <a:endParaRPr lang="ko-KR" altLang="en-US" sz="7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endParaRPr>
            </a:p>
          </p:txBody>
        </p:sp>
      </p:grpSp>
      <p:grpSp>
        <p:nvGrpSpPr>
          <p:cNvPr id="2" name="그룹 1"/>
          <p:cNvGrpSpPr/>
          <p:nvPr/>
        </p:nvGrpSpPr>
        <p:grpSpPr>
          <a:xfrm>
            <a:off x="7919906" y="3372805"/>
            <a:ext cx="1440000" cy="2151800"/>
            <a:chOff x="7919906" y="3372805"/>
            <a:chExt cx="1440000" cy="2151800"/>
          </a:xfrm>
        </p:grpSpPr>
        <p:sp>
          <p:nvSpPr>
            <p:cNvPr id="700" name="직사각형 699">
              <a:extLst>
                <a:ext uri="{FF2B5EF4-FFF2-40B4-BE49-F238E27FC236}">
                  <a16:creationId xmlns="" xmlns:a16="http://schemas.microsoft.com/office/drawing/2014/main" id="{A9090594-210F-4E03-B821-432BBB0030E9}"/>
                </a:ext>
              </a:extLst>
            </p:cNvPr>
            <p:cNvSpPr/>
            <p:nvPr/>
          </p:nvSpPr>
          <p:spPr>
            <a:xfrm>
              <a:off x="7919906" y="3372805"/>
              <a:ext cx="1440000" cy="216000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700" smtClean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등록일시</a:t>
              </a:r>
              <a:endParaRPr lang="ko-KR" altLang="en-US" sz="70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701" name="직사각형 700">
              <a:extLst>
                <a:ext uri="{FF2B5EF4-FFF2-40B4-BE49-F238E27FC236}">
                  <a16:creationId xmlns="" xmlns:a16="http://schemas.microsoft.com/office/drawing/2014/main" id="{C2B96CB1-836B-48A8-AFA2-417DDACEDE0E}"/>
                </a:ext>
              </a:extLst>
            </p:cNvPr>
            <p:cNvSpPr/>
            <p:nvPr/>
          </p:nvSpPr>
          <p:spPr>
            <a:xfrm>
              <a:off x="7919906" y="3586910"/>
              <a:ext cx="1440000" cy="216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70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2026-04-14 13:05:12</a:t>
              </a:r>
              <a:endParaRPr lang="ko-KR" altLang="en-US" sz="7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328" name="직사각형 327">
              <a:extLst>
                <a:ext uri="{FF2B5EF4-FFF2-40B4-BE49-F238E27FC236}">
                  <a16:creationId xmlns="" xmlns:a16="http://schemas.microsoft.com/office/drawing/2014/main" id="{C2B96CB1-836B-48A8-AFA2-417DDACEDE0E}"/>
                </a:ext>
              </a:extLst>
            </p:cNvPr>
            <p:cNvSpPr/>
            <p:nvPr/>
          </p:nvSpPr>
          <p:spPr>
            <a:xfrm>
              <a:off x="7919906" y="3802920"/>
              <a:ext cx="1440000" cy="216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70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2026-04-14 </a:t>
              </a:r>
              <a:r>
                <a:rPr lang="en-US" altLang="ko-KR" sz="70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13:05:12</a:t>
              </a:r>
              <a:endParaRPr lang="ko-KR" altLang="en-US" sz="7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347" name="직사각형 346">
              <a:extLst>
                <a:ext uri="{FF2B5EF4-FFF2-40B4-BE49-F238E27FC236}">
                  <a16:creationId xmlns="" xmlns:a16="http://schemas.microsoft.com/office/drawing/2014/main" id="{C2B96CB1-836B-48A8-AFA2-417DDACEDE0E}"/>
                </a:ext>
              </a:extLst>
            </p:cNvPr>
            <p:cNvSpPr/>
            <p:nvPr/>
          </p:nvSpPr>
          <p:spPr>
            <a:xfrm>
              <a:off x="7919906" y="4017015"/>
              <a:ext cx="1440000" cy="216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70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2026-04-14 </a:t>
              </a:r>
              <a:r>
                <a:rPr lang="en-US" altLang="ko-KR" sz="70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13:05:12</a:t>
              </a:r>
              <a:endParaRPr lang="ko-KR" altLang="en-US" sz="7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360" name="직사각형 359">
              <a:extLst>
                <a:ext uri="{FF2B5EF4-FFF2-40B4-BE49-F238E27FC236}">
                  <a16:creationId xmlns="" xmlns:a16="http://schemas.microsoft.com/office/drawing/2014/main" id="{C2B96CB1-836B-48A8-AFA2-417DDACEDE0E}"/>
                </a:ext>
              </a:extLst>
            </p:cNvPr>
            <p:cNvSpPr/>
            <p:nvPr/>
          </p:nvSpPr>
          <p:spPr>
            <a:xfrm>
              <a:off x="7919906" y="4233450"/>
              <a:ext cx="1440000" cy="216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70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2026-04-14 </a:t>
              </a:r>
              <a:r>
                <a:rPr lang="en-US" altLang="ko-KR" sz="70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13:05:12</a:t>
              </a:r>
              <a:endParaRPr lang="ko-KR" altLang="en-US" sz="7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391" name="직사각형 390">
              <a:extLst>
                <a:ext uri="{FF2B5EF4-FFF2-40B4-BE49-F238E27FC236}">
                  <a16:creationId xmlns="" xmlns:a16="http://schemas.microsoft.com/office/drawing/2014/main" id="{C2B96CB1-836B-48A8-AFA2-417DDACEDE0E}"/>
                </a:ext>
              </a:extLst>
            </p:cNvPr>
            <p:cNvSpPr/>
            <p:nvPr/>
          </p:nvSpPr>
          <p:spPr>
            <a:xfrm>
              <a:off x="7919906" y="4447545"/>
              <a:ext cx="1440000" cy="216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70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2026-04-14 </a:t>
              </a:r>
              <a:r>
                <a:rPr lang="en-US" altLang="ko-KR" sz="70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13:05:12</a:t>
              </a:r>
              <a:endParaRPr lang="ko-KR" altLang="en-US" sz="7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410" name="직사각형 409">
              <a:extLst>
                <a:ext uri="{FF2B5EF4-FFF2-40B4-BE49-F238E27FC236}">
                  <a16:creationId xmlns="" xmlns:a16="http://schemas.microsoft.com/office/drawing/2014/main" id="{C2B96CB1-836B-48A8-AFA2-417DDACEDE0E}"/>
                </a:ext>
              </a:extLst>
            </p:cNvPr>
            <p:cNvSpPr/>
            <p:nvPr/>
          </p:nvSpPr>
          <p:spPr>
            <a:xfrm>
              <a:off x="7919906" y="4663980"/>
              <a:ext cx="1440000" cy="216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70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2026-04-14 </a:t>
              </a:r>
              <a:r>
                <a:rPr lang="en-US" altLang="ko-KR" sz="70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13:05:12</a:t>
              </a:r>
              <a:endParaRPr lang="ko-KR" altLang="en-US" sz="7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439" name="직사각형 438">
              <a:extLst>
                <a:ext uri="{FF2B5EF4-FFF2-40B4-BE49-F238E27FC236}">
                  <a16:creationId xmlns="" xmlns:a16="http://schemas.microsoft.com/office/drawing/2014/main" id="{C2B96CB1-836B-48A8-AFA2-417DDACEDE0E}"/>
                </a:ext>
              </a:extLst>
            </p:cNvPr>
            <p:cNvSpPr/>
            <p:nvPr/>
          </p:nvSpPr>
          <p:spPr>
            <a:xfrm>
              <a:off x="7919906" y="4878075"/>
              <a:ext cx="1440000" cy="216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70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2026-04-14 </a:t>
              </a:r>
              <a:r>
                <a:rPr lang="en-US" altLang="ko-KR" sz="70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13:05:12</a:t>
              </a:r>
              <a:endParaRPr lang="ko-KR" altLang="en-US" sz="7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460" name="직사각형 459">
              <a:extLst>
                <a:ext uri="{FF2B5EF4-FFF2-40B4-BE49-F238E27FC236}">
                  <a16:creationId xmlns="" xmlns:a16="http://schemas.microsoft.com/office/drawing/2014/main" id="{C2B96CB1-836B-48A8-AFA2-417DDACEDE0E}"/>
                </a:ext>
              </a:extLst>
            </p:cNvPr>
            <p:cNvSpPr/>
            <p:nvPr/>
          </p:nvSpPr>
          <p:spPr>
            <a:xfrm>
              <a:off x="7919906" y="5094510"/>
              <a:ext cx="1440000" cy="216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70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2026-04-14 </a:t>
              </a:r>
              <a:r>
                <a:rPr lang="en-US" altLang="ko-KR" sz="70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13:05:12</a:t>
              </a:r>
              <a:endParaRPr lang="ko-KR" altLang="en-US" sz="7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475" name="직사각형 474">
              <a:extLst>
                <a:ext uri="{FF2B5EF4-FFF2-40B4-BE49-F238E27FC236}">
                  <a16:creationId xmlns="" xmlns:a16="http://schemas.microsoft.com/office/drawing/2014/main" id="{C2B96CB1-836B-48A8-AFA2-417DDACEDE0E}"/>
                </a:ext>
              </a:extLst>
            </p:cNvPr>
            <p:cNvSpPr/>
            <p:nvPr/>
          </p:nvSpPr>
          <p:spPr>
            <a:xfrm>
              <a:off x="7919906" y="5308605"/>
              <a:ext cx="1440000" cy="216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70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2026-04-14 </a:t>
              </a:r>
              <a:r>
                <a:rPr lang="en-US" altLang="ko-KR" sz="70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13:05:12</a:t>
              </a:r>
              <a:endParaRPr lang="ko-KR" altLang="en-US" sz="7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endParaRPr>
            </a:p>
          </p:txBody>
        </p:sp>
      </p:grpSp>
      <p:sp>
        <p:nvSpPr>
          <p:cNvPr id="482" name="직사각형 481">
            <a:extLst>
              <a:ext uri="{FF2B5EF4-FFF2-40B4-BE49-F238E27FC236}">
                <a16:creationId xmlns="" xmlns:a16="http://schemas.microsoft.com/office/drawing/2014/main" id="{C2B96CB1-836B-48A8-AFA2-417DDACEDE0E}"/>
              </a:ext>
            </a:extLst>
          </p:cNvPr>
          <p:cNvSpPr/>
          <p:nvPr/>
        </p:nvSpPr>
        <p:spPr>
          <a:xfrm>
            <a:off x="1367906" y="5308605"/>
            <a:ext cx="1080000" cy="216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700" u="sng" smtClean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115</a:t>
            </a:r>
            <a:endParaRPr lang="ko-KR" altLang="en-US" sz="700" u="sng">
              <a:solidFill>
                <a:srgbClr val="0070C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33" name="직사각형 232"/>
          <p:cNvSpPr/>
          <p:nvPr/>
        </p:nvSpPr>
        <p:spPr>
          <a:xfrm>
            <a:off x="143906" y="1717699"/>
            <a:ext cx="1080000" cy="216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36000" rIns="108000" bIns="36000" rtlCol="0" anchor="ctr"/>
          <a:lstStyle/>
          <a:p>
            <a:r>
              <a:rPr lang="ko-KR" altLang="en-US" sz="700" b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─ </a:t>
            </a:r>
            <a:r>
              <a:rPr lang="ko-KR" altLang="en-US" sz="700" b="1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상품관리</a:t>
            </a:r>
            <a:endParaRPr lang="ko-KR" altLang="en-US" sz="700" b="1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34" name="직사각형 233"/>
          <p:cNvSpPr/>
          <p:nvPr/>
        </p:nvSpPr>
        <p:spPr>
          <a:xfrm>
            <a:off x="143906" y="1933699"/>
            <a:ext cx="1080000" cy="216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ko-KR" altLang="en-US" sz="6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상품관리</a:t>
            </a:r>
            <a:endParaRPr lang="ko-KR" altLang="en-US" sz="6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35" name="직사각형 234"/>
          <p:cNvSpPr/>
          <p:nvPr/>
        </p:nvSpPr>
        <p:spPr>
          <a:xfrm>
            <a:off x="143906" y="2149867"/>
            <a:ext cx="1080000" cy="216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ko-KR" altLang="en-US" sz="6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세트상품관리</a:t>
            </a:r>
            <a:endParaRPr lang="ko-KR" altLang="en-US" sz="6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36" name="직사각형 235"/>
          <p:cNvSpPr/>
          <p:nvPr/>
        </p:nvSpPr>
        <p:spPr>
          <a:xfrm>
            <a:off x="143906" y="2366035"/>
            <a:ext cx="1080000" cy="216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ko-KR" altLang="en-US" sz="6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상품그룹관리</a:t>
            </a:r>
            <a:endParaRPr lang="ko-KR" altLang="en-US" sz="6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37" name="직사각형 236"/>
          <p:cNvSpPr/>
          <p:nvPr/>
        </p:nvSpPr>
        <p:spPr>
          <a:xfrm>
            <a:off x="143906" y="2582158"/>
            <a:ext cx="1080000" cy="216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ko-KR" altLang="en-US" sz="6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품절관리</a:t>
            </a:r>
            <a:endParaRPr lang="ko-KR" altLang="en-US" sz="6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38" name="직사각형 237"/>
          <p:cNvSpPr/>
          <p:nvPr/>
        </p:nvSpPr>
        <p:spPr>
          <a:xfrm>
            <a:off x="143906" y="2798281"/>
            <a:ext cx="1080000" cy="216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r>
              <a:rPr lang="ko-KR" altLang="en-US" sz="6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외부몰판매다운로드</a:t>
            </a:r>
            <a:endParaRPr lang="ko-KR" altLang="en-US" sz="6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39" name="직사각형 238"/>
          <p:cNvSpPr/>
          <p:nvPr/>
        </p:nvSpPr>
        <p:spPr>
          <a:xfrm>
            <a:off x="143906" y="3014404"/>
            <a:ext cx="1080000" cy="216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ko-KR" altLang="en-US" sz="6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자사상품 매출</a:t>
            </a:r>
            <a:r>
              <a:rPr lang="en-US" altLang="ko-KR" sz="6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6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입판재</a:t>
            </a:r>
            <a:endParaRPr lang="ko-KR" altLang="en-US" sz="6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40" name="직사각형 239"/>
          <p:cNvSpPr/>
          <p:nvPr/>
        </p:nvSpPr>
        <p:spPr>
          <a:xfrm>
            <a:off x="143906" y="3228059"/>
            <a:ext cx="1080000" cy="216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ko-KR" altLang="en-US" sz="6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상품 손익 시뮬레이션</a:t>
            </a:r>
            <a:endParaRPr lang="ko-KR" altLang="en-US" sz="6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41" name="직사각형 240"/>
          <p:cNvSpPr/>
          <p:nvPr/>
        </p:nvSpPr>
        <p:spPr>
          <a:xfrm>
            <a:off x="143906" y="3444227"/>
            <a:ext cx="1080000" cy="216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ko-KR" altLang="en-US" sz="6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상품리뷰관리</a:t>
            </a:r>
            <a:endParaRPr lang="ko-KR" altLang="en-US" sz="6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42" name="직사각형 241"/>
          <p:cNvSpPr/>
          <p:nvPr/>
        </p:nvSpPr>
        <p:spPr>
          <a:xfrm>
            <a:off x="143906" y="3660395"/>
            <a:ext cx="1080000" cy="216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ko-KR" altLang="en-US" sz="6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관리자 상품리뷰관리</a:t>
            </a:r>
            <a:endParaRPr lang="ko-KR" altLang="en-US" sz="6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43" name="직사각형 242"/>
          <p:cNvSpPr/>
          <p:nvPr/>
        </p:nvSpPr>
        <p:spPr>
          <a:xfrm>
            <a:off x="143906" y="3876518"/>
            <a:ext cx="1080000" cy="216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ko-KR" altLang="en-US" sz="6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상품별브랜드변경관리</a:t>
            </a:r>
            <a:endParaRPr lang="ko-KR" altLang="en-US" sz="6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44" name="직사각형 243"/>
          <p:cNvSpPr/>
          <p:nvPr/>
        </p:nvSpPr>
        <p:spPr>
          <a:xfrm>
            <a:off x="143906" y="4092641"/>
            <a:ext cx="1080000" cy="216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r>
              <a:rPr lang="ko-KR" altLang="en-US" sz="6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공지배너관리</a:t>
            </a:r>
            <a:endParaRPr lang="ko-KR" altLang="en-US" sz="6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45" name="직사각형 244"/>
          <p:cNvSpPr/>
          <p:nvPr/>
        </p:nvSpPr>
        <p:spPr>
          <a:xfrm>
            <a:off x="143906" y="4308764"/>
            <a:ext cx="1080000" cy="216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ko-KR" altLang="en-US" sz="6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코스메틱 사은품 관리</a:t>
            </a:r>
            <a:endParaRPr lang="ko-KR" altLang="en-US" sz="6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246" name="그룹 245"/>
          <p:cNvGrpSpPr/>
          <p:nvPr/>
        </p:nvGrpSpPr>
        <p:grpSpPr>
          <a:xfrm>
            <a:off x="143906" y="4524640"/>
            <a:ext cx="1080000" cy="432123"/>
            <a:chOff x="143906" y="4757486"/>
            <a:chExt cx="1080000" cy="432123"/>
          </a:xfrm>
        </p:grpSpPr>
        <p:sp>
          <p:nvSpPr>
            <p:cNvPr id="247" name="직사각형 246"/>
            <p:cNvSpPr/>
            <p:nvPr/>
          </p:nvSpPr>
          <p:spPr>
            <a:xfrm>
              <a:off x="143906" y="4757486"/>
              <a:ext cx="1080000" cy="216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r>
                <a:rPr lang="ko-KR" altLang="en-US" sz="60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사은품 프로모션 관리</a:t>
              </a:r>
              <a:endParaRPr lang="ko-KR" altLang="en-US" sz="6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248" name="직사각형 247"/>
            <p:cNvSpPr/>
            <p:nvPr/>
          </p:nvSpPr>
          <p:spPr>
            <a:xfrm>
              <a:off x="143906" y="4973609"/>
              <a:ext cx="1080000" cy="216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r>
                <a:rPr lang="ko-KR" altLang="en-US" sz="60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입점상품 이월기준 관리</a:t>
              </a:r>
              <a:endParaRPr lang="ko-KR" altLang="en-US" sz="6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grpSp>
        <p:nvGrpSpPr>
          <p:cNvPr id="249" name="그룹 248"/>
          <p:cNvGrpSpPr/>
          <p:nvPr/>
        </p:nvGrpSpPr>
        <p:grpSpPr>
          <a:xfrm>
            <a:off x="143906" y="5820805"/>
            <a:ext cx="1080000" cy="648000"/>
            <a:chOff x="143906" y="4957650"/>
            <a:chExt cx="1080000" cy="648000"/>
          </a:xfrm>
        </p:grpSpPr>
        <p:sp>
          <p:nvSpPr>
            <p:cNvPr id="250" name="직사각형 249"/>
            <p:cNvSpPr/>
            <p:nvPr/>
          </p:nvSpPr>
          <p:spPr>
            <a:xfrm>
              <a:off x="143906" y="4957650"/>
              <a:ext cx="1080000" cy="216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36000" rIns="108000" bIns="36000" rtlCol="0" anchor="ctr"/>
            <a:lstStyle/>
            <a:p>
              <a:r>
                <a:rPr lang="ko-KR" altLang="en-US" sz="70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┼ </a:t>
              </a:r>
              <a:r>
                <a:rPr lang="ko-KR" altLang="en-US" sz="70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가격관리</a:t>
              </a:r>
              <a:endParaRPr lang="ko-KR" altLang="en-US" sz="7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251" name="직사각형 250"/>
            <p:cNvSpPr/>
            <p:nvPr/>
          </p:nvSpPr>
          <p:spPr>
            <a:xfrm>
              <a:off x="143906" y="5173650"/>
              <a:ext cx="1080000" cy="216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36000" rIns="108000" bIns="36000" rtlCol="0" anchor="ctr"/>
            <a:lstStyle/>
            <a:p>
              <a:r>
                <a:rPr lang="ko-KR" altLang="en-US" sz="70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┼ </a:t>
              </a:r>
              <a:r>
                <a:rPr lang="ko-KR" altLang="en-US" sz="70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상품부가정보관리</a:t>
              </a:r>
              <a:endParaRPr lang="ko-KR" altLang="en-US" sz="7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252" name="직사각형 251"/>
            <p:cNvSpPr/>
            <p:nvPr/>
          </p:nvSpPr>
          <p:spPr>
            <a:xfrm>
              <a:off x="143906" y="5389650"/>
              <a:ext cx="1080000" cy="216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36000" rIns="0" bIns="36000" rtlCol="0" anchor="ctr"/>
            <a:lstStyle/>
            <a:p>
              <a:r>
                <a:rPr lang="ko-KR" altLang="en-US" sz="70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┼ </a:t>
              </a:r>
              <a:r>
                <a:rPr lang="ko-KR" altLang="en-US" sz="70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브랜드</a:t>
              </a:r>
              <a:r>
                <a:rPr lang="en-US" altLang="ko-KR" sz="70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/</a:t>
              </a:r>
              <a:r>
                <a:rPr lang="ko-KR" altLang="en-US" sz="70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카테고리관리</a:t>
              </a:r>
              <a:endParaRPr lang="ko-KR" altLang="en-US" sz="7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sp>
        <p:nvSpPr>
          <p:cNvPr id="254" name="직사각형 253"/>
          <p:cNvSpPr/>
          <p:nvPr/>
        </p:nvSpPr>
        <p:spPr>
          <a:xfrm>
            <a:off x="143906" y="4956967"/>
            <a:ext cx="1080000" cy="216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ko-KR" altLang="en-US" sz="6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네이버최저가 대상상품 관리</a:t>
            </a:r>
            <a:endParaRPr lang="ko-KR" altLang="en-US" sz="6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55" name="직사각형 254"/>
          <p:cNvSpPr/>
          <p:nvPr/>
        </p:nvSpPr>
        <p:spPr>
          <a:xfrm>
            <a:off x="143906" y="5172843"/>
            <a:ext cx="1080000" cy="216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r>
              <a:rPr lang="ko-KR" altLang="en-US" sz="6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체험상품관리</a:t>
            </a:r>
            <a:endParaRPr lang="ko-KR" altLang="en-US" sz="6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56" name="직사각형 255"/>
          <p:cNvSpPr/>
          <p:nvPr/>
        </p:nvSpPr>
        <p:spPr>
          <a:xfrm>
            <a:off x="143906" y="5388966"/>
            <a:ext cx="1080000" cy="216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ko-KR" altLang="en-US" sz="6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대량 데이터 변경 관리</a:t>
            </a:r>
            <a:endParaRPr lang="ko-KR" altLang="en-US" sz="6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57" name="직사각형 256"/>
          <p:cNvSpPr/>
          <p:nvPr/>
        </p:nvSpPr>
        <p:spPr>
          <a:xfrm>
            <a:off x="107906" y="6396891"/>
            <a:ext cx="1152000" cy="108000"/>
          </a:xfrm>
          <a:prstGeom prst="rect">
            <a:avLst/>
          </a:pr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58" name="직사각형 257"/>
          <p:cNvSpPr/>
          <p:nvPr/>
        </p:nvSpPr>
        <p:spPr>
          <a:xfrm>
            <a:off x="143906" y="5605047"/>
            <a:ext cx="1080000" cy="216000"/>
          </a:xfrm>
          <a:prstGeom prst="rect">
            <a:avLst/>
          </a:prstGeom>
          <a:solidFill>
            <a:srgbClr val="C0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ko-KR" altLang="en-US" sz="6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매장재고연동</a:t>
            </a:r>
            <a:endParaRPr lang="ko-KR" altLang="en-US" sz="600" b="1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77" name="직사각형 276">
            <a:extLst>
              <a:ext uri="{FF2B5EF4-FFF2-40B4-BE49-F238E27FC236}">
                <a16:creationId xmlns="" xmlns:a16="http://schemas.microsoft.com/office/drawing/2014/main" id="{D6E71F9F-6A05-4858-BCF1-F73872A38DCC}"/>
              </a:ext>
            </a:extLst>
          </p:cNvPr>
          <p:cNvSpPr/>
          <p:nvPr/>
        </p:nvSpPr>
        <p:spPr>
          <a:xfrm>
            <a:off x="5363078" y="1717723"/>
            <a:ext cx="900000" cy="288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36000" rIns="108000" bIns="36000" rtlCol="0" anchor="ctr"/>
          <a:lstStyle/>
          <a:p>
            <a:r>
              <a:rPr lang="ko-KR" altLang="en-US" sz="7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상품코드</a:t>
            </a:r>
            <a:endParaRPr lang="ko-KR" altLang="en-US" sz="700" dirty="0">
              <a:solidFill>
                <a:srgbClr val="C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78" name="직사각형 277">
            <a:extLst>
              <a:ext uri="{FF2B5EF4-FFF2-40B4-BE49-F238E27FC236}">
                <a16:creationId xmlns="" xmlns:a16="http://schemas.microsoft.com/office/drawing/2014/main" id="{D6E71F9F-6A05-4858-BCF1-F73872A38DCC}"/>
              </a:ext>
            </a:extLst>
          </p:cNvPr>
          <p:cNvSpPr/>
          <p:nvPr/>
        </p:nvSpPr>
        <p:spPr>
          <a:xfrm>
            <a:off x="7343630" y="1717723"/>
            <a:ext cx="900000" cy="288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36000" rIns="108000" bIns="36000" rtlCol="0" anchor="ctr"/>
          <a:lstStyle/>
          <a:p>
            <a:r>
              <a:rPr lang="ko-KR" altLang="en-US" sz="7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상품명</a:t>
            </a:r>
            <a:endParaRPr lang="ko-KR" altLang="en-US" sz="700" dirty="0">
              <a:solidFill>
                <a:srgbClr val="C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79" name="직사각형 278">
            <a:extLst>
              <a:ext uri="{FF2B5EF4-FFF2-40B4-BE49-F238E27FC236}">
                <a16:creationId xmlns="" xmlns:a16="http://schemas.microsoft.com/office/drawing/2014/main" id="{869F0D91-4426-412C-8A0D-962A34E6A583}"/>
              </a:ext>
            </a:extLst>
          </p:cNvPr>
          <p:cNvSpPr/>
          <p:nvPr/>
        </p:nvSpPr>
        <p:spPr>
          <a:xfrm>
            <a:off x="6263354" y="1717723"/>
            <a:ext cx="1080000" cy="288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36000" rIns="108000" bIns="36000" rtlCol="0" anchor="ctr"/>
          <a:lstStyle/>
          <a:p>
            <a:endParaRPr lang="ko-KR" altLang="en-US" sz="80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80" name="직사각형 279">
            <a:extLst>
              <a:ext uri="{FF2B5EF4-FFF2-40B4-BE49-F238E27FC236}">
                <a16:creationId xmlns="" xmlns:a16="http://schemas.microsoft.com/office/drawing/2014/main" id="{869F0D91-4426-412C-8A0D-962A34E6A583}"/>
              </a:ext>
            </a:extLst>
          </p:cNvPr>
          <p:cNvSpPr/>
          <p:nvPr/>
        </p:nvSpPr>
        <p:spPr>
          <a:xfrm>
            <a:off x="8243906" y="1717723"/>
            <a:ext cx="1116000" cy="288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36000" rIns="108000" bIns="36000" rtlCol="0" anchor="ctr"/>
          <a:lstStyle/>
          <a:p>
            <a:endParaRPr lang="ko-KR" altLang="en-US" sz="80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81" name="모서리가 둥근 직사각형 184">
            <a:extLst>
              <a:ext uri="{FF2B5EF4-FFF2-40B4-BE49-F238E27FC236}">
                <a16:creationId xmlns="" xmlns:a16="http://schemas.microsoft.com/office/drawing/2014/main" id="{7C4181B1-00DE-4B1A-9AF4-36726F2433BA}"/>
              </a:ext>
            </a:extLst>
          </p:cNvPr>
          <p:cNvSpPr/>
          <p:nvPr/>
        </p:nvSpPr>
        <p:spPr bwMode="auto">
          <a:xfrm>
            <a:off x="6336805" y="1771723"/>
            <a:ext cx="936000" cy="180000"/>
          </a:xfrm>
          <a:prstGeom prst="roundRect">
            <a:avLst/>
          </a:prstGeom>
          <a:solidFill>
            <a:srgbClr val="FFFFEF"/>
          </a:solidFill>
          <a:ln w="3175" cap="flat" cmpd="sng" algn="ctr">
            <a:solidFill>
              <a:schemeClr val="bg1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none" lIns="108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defTabSz="914400" fontAlgn="base" latinLnBrk="0">
              <a:spcBef>
                <a:spcPct val="0"/>
              </a:spcBef>
              <a:spcAft>
                <a:spcPct val="0"/>
              </a:spcAft>
            </a:pPr>
            <a:endParaRPr kumimoji="1" lang="ko-KR" altLang="en-US" sz="700" b="0" i="0" u="none" strike="noStrike" kern="0" cap="none" spc="0" normalizeH="0" baseline="0" noProof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82" name="모서리가 둥근 직사각형 184">
            <a:extLst>
              <a:ext uri="{FF2B5EF4-FFF2-40B4-BE49-F238E27FC236}">
                <a16:creationId xmlns="" xmlns:a16="http://schemas.microsoft.com/office/drawing/2014/main" id="{7C4181B1-00DE-4B1A-9AF4-36726F2433BA}"/>
              </a:ext>
            </a:extLst>
          </p:cNvPr>
          <p:cNvSpPr/>
          <p:nvPr/>
        </p:nvSpPr>
        <p:spPr bwMode="auto">
          <a:xfrm>
            <a:off x="8314594" y="1771723"/>
            <a:ext cx="936000" cy="180000"/>
          </a:xfrm>
          <a:prstGeom prst="roundRect">
            <a:avLst/>
          </a:prstGeom>
          <a:solidFill>
            <a:srgbClr val="FFFFEF"/>
          </a:solidFill>
          <a:ln w="3175" cap="flat" cmpd="sng" algn="ctr">
            <a:solidFill>
              <a:schemeClr val="bg1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none" lIns="108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defTabSz="914400" fontAlgn="base" latinLnBrk="0">
              <a:spcBef>
                <a:spcPct val="0"/>
              </a:spcBef>
              <a:spcAft>
                <a:spcPct val="0"/>
              </a:spcAft>
            </a:pPr>
            <a:endParaRPr kumimoji="1" lang="ko-KR" altLang="en-US" sz="700" b="0" i="0" u="none" strike="noStrike" kern="0" cap="none" spc="0" normalizeH="0" baseline="0" noProof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147" name="직선 연결선 146">
            <a:extLst>
              <a:ext uri="{FF2B5EF4-FFF2-40B4-BE49-F238E27FC236}">
                <a16:creationId xmlns="" xmlns:a16="http://schemas.microsoft.com/office/drawing/2014/main" id="{8B6CCFB5-6583-4FED-8393-9CCCF89D0E7A}"/>
              </a:ext>
            </a:extLst>
          </p:cNvPr>
          <p:cNvCxnSpPr>
            <a:cxnSpLocks/>
          </p:cNvCxnSpPr>
          <p:nvPr/>
        </p:nvCxnSpPr>
        <p:spPr>
          <a:xfrm>
            <a:off x="1367906" y="1717723"/>
            <a:ext cx="7992000" cy="0"/>
          </a:xfrm>
          <a:prstGeom prst="line">
            <a:avLst/>
          </a:prstGeom>
          <a:ln w="63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18" name="그룹 317"/>
          <p:cNvGrpSpPr/>
          <p:nvPr/>
        </p:nvGrpSpPr>
        <p:grpSpPr>
          <a:xfrm>
            <a:off x="1367906" y="2005723"/>
            <a:ext cx="3996828" cy="288000"/>
            <a:chOff x="5363078" y="2581912"/>
            <a:chExt cx="3996828" cy="288000"/>
          </a:xfrm>
        </p:grpSpPr>
        <p:sp>
          <p:nvSpPr>
            <p:cNvPr id="319" name="직사각형 318">
              <a:extLst>
                <a:ext uri="{FF2B5EF4-FFF2-40B4-BE49-F238E27FC236}">
                  <a16:creationId xmlns="" xmlns:a16="http://schemas.microsoft.com/office/drawing/2014/main" id="{C3CBC899-E192-4597-B3EF-23483E494D33}"/>
                </a:ext>
              </a:extLst>
            </p:cNvPr>
            <p:cNvSpPr/>
            <p:nvPr/>
          </p:nvSpPr>
          <p:spPr>
            <a:xfrm>
              <a:off x="5363078" y="2581912"/>
              <a:ext cx="900000" cy="288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36000" rIns="108000" bIns="36000" rtlCol="0" anchor="ctr"/>
            <a:lstStyle/>
            <a:p>
              <a:r>
                <a:rPr lang="ko-KR" altLang="en-US" sz="70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담당</a:t>
              </a:r>
              <a:r>
                <a:rPr lang="en-US" altLang="ko-KR" sz="70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BM</a:t>
              </a:r>
              <a:endParaRPr lang="ko-KR" altLang="en-US" sz="7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320" name="직사각형 319">
              <a:extLst>
                <a:ext uri="{FF2B5EF4-FFF2-40B4-BE49-F238E27FC236}">
                  <a16:creationId xmlns="" xmlns:a16="http://schemas.microsoft.com/office/drawing/2014/main" id="{C8E8B8B5-F2A9-4F2D-8F41-E83BE71E8F5A}"/>
                </a:ext>
              </a:extLst>
            </p:cNvPr>
            <p:cNvSpPr/>
            <p:nvPr/>
          </p:nvSpPr>
          <p:spPr>
            <a:xfrm>
              <a:off x="6263906" y="2581912"/>
              <a:ext cx="3096000" cy="288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36000" rIns="108000" bIns="36000" rtlCol="0" anchor="ctr"/>
            <a:lstStyle/>
            <a:p>
              <a:endParaRPr lang="ko-KR" altLang="en-US" sz="8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321" name="모서리가 둥근 직사각형 184">
              <a:extLst>
                <a:ext uri="{FF2B5EF4-FFF2-40B4-BE49-F238E27FC236}">
                  <a16:creationId xmlns="" xmlns:a16="http://schemas.microsoft.com/office/drawing/2014/main" id="{7C4181B1-00DE-4B1A-9AF4-36726F2433BA}"/>
                </a:ext>
              </a:extLst>
            </p:cNvPr>
            <p:cNvSpPr/>
            <p:nvPr/>
          </p:nvSpPr>
          <p:spPr bwMode="auto">
            <a:xfrm>
              <a:off x="6336805" y="2635912"/>
              <a:ext cx="720000" cy="180000"/>
            </a:xfrm>
            <a:prstGeom prst="roundRect">
              <a:avLst/>
            </a:prstGeom>
            <a:solidFill>
              <a:srgbClr val="FFFFEF"/>
            </a:solidFill>
            <a:ln w="3175" cap="flat" cmpd="sng" algn="ctr">
              <a:solidFill>
                <a:schemeClr val="bg1">
                  <a:lumMod val="7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none" lIns="108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defTabSz="914400" fontAlgn="base" latinLnBrk="0">
                <a:spcBef>
                  <a:spcPct val="0"/>
                </a:spcBef>
                <a:spcAft>
                  <a:spcPct val="0"/>
                </a:spcAft>
              </a:pPr>
              <a:endParaRPr kumimoji="1" lang="ko-KR" altLang="en-US" sz="700" b="0" i="0" u="none" strike="noStrike" kern="0" cap="none" spc="0" normalizeH="0" baseline="0" noProof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322" name="모서리가 둥근 직사각형 184">
              <a:extLst>
                <a:ext uri="{FF2B5EF4-FFF2-40B4-BE49-F238E27FC236}">
                  <a16:creationId xmlns="" xmlns:a16="http://schemas.microsoft.com/office/drawing/2014/main" id="{7C4181B1-00DE-4B1A-9AF4-36726F2433BA}"/>
                </a:ext>
              </a:extLst>
            </p:cNvPr>
            <p:cNvSpPr/>
            <p:nvPr/>
          </p:nvSpPr>
          <p:spPr bwMode="auto">
            <a:xfrm>
              <a:off x="7092805" y="2635912"/>
              <a:ext cx="720000" cy="180000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 w="3175" cap="flat" cmpd="sng" algn="ctr">
              <a:solidFill>
                <a:schemeClr val="bg1">
                  <a:lumMod val="7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none" lIns="108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defTabSz="914400" fontAlgn="base" latinLnBrk="0">
                <a:spcBef>
                  <a:spcPct val="0"/>
                </a:spcBef>
                <a:spcAft>
                  <a:spcPct val="0"/>
                </a:spcAft>
              </a:pPr>
              <a:endParaRPr kumimoji="1" lang="ko-KR" altLang="en-US" sz="700" b="0" i="0" u="none" strike="noStrike" kern="0" cap="none" spc="0" normalizeH="0" baseline="0" noProof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323" name="Search"/>
            <p:cNvSpPr>
              <a:spLocks noChangeAspect="1" noEditPoints="1"/>
            </p:cNvSpPr>
            <p:nvPr/>
          </p:nvSpPr>
          <p:spPr bwMode="auto">
            <a:xfrm>
              <a:off x="6876667" y="2654475"/>
              <a:ext cx="144000" cy="142875"/>
            </a:xfrm>
            <a:custGeom>
              <a:avLst/>
              <a:gdLst>
                <a:gd name="T0" fmla="*/ 227 w 572"/>
                <a:gd name="T1" fmla="*/ 0 h 585"/>
                <a:gd name="T2" fmla="*/ 0 w 572"/>
                <a:gd name="T3" fmla="*/ 227 h 585"/>
                <a:gd name="T4" fmla="*/ 227 w 572"/>
                <a:gd name="T5" fmla="*/ 453 h 585"/>
                <a:gd name="T6" fmla="*/ 359 w 572"/>
                <a:gd name="T7" fmla="*/ 410 h 585"/>
                <a:gd name="T8" fmla="*/ 535 w 572"/>
                <a:gd name="T9" fmla="*/ 585 h 585"/>
                <a:gd name="T10" fmla="*/ 572 w 572"/>
                <a:gd name="T11" fmla="*/ 548 h 585"/>
                <a:gd name="T12" fmla="*/ 399 w 572"/>
                <a:gd name="T13" fmla="*/ 374 h 585"/>
                <a:gd name="T14" fmla="*/ 454 w 572"/>
                <a:gd name="T15" fmla="*/ 227 h 585"/>
                <a:gd name="T16" fmla="*/ 227 w 572"/>
                <a:gd name="T17" fmla="*/ 0 h 585"/>
                <a:gd name="T18" fmla="*/ 227 w 572"/>
                <a:gd name="T19" fmla="*/ 27 h 585"/>
                <a:gd name="T20" fmla="*/ 427 w 572"/>
                <a:gd name="T21" fmla="*/ 227 h 585"/>
                <a:gd name="T22" fmla="*/ 227 w 572"/>
                <a:gd name="T23" fmla="*/ 427 h 585"/>
                <a:gd name="T24" fmla="*/ 27 w 572"/>
                <a:gd name="T25" fmla="*/ 227 h 585"/>
                <a:gd name="T26" fmla="*/ 227 w 572"/>
                <a:gd name="T27" fmla="*/ 27 h 5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572" h="585">
                  <a:moveTo>
                    <a:pt x="227" y="0"/>
                  </a:moveTo>
                  <a:cubicBezTo>
                    <a:pt x="102" y="0"/>
                    <a:pt x="0" y="102"/>
                    <a:pt x="0" y="227"/>
                  </a:cubicBezTo>
                  <a:cubicBezTo>
                    <a:pt x="0" y="352"/>
                    <a:pt x="102" y="453"/>
                    <a:pt x="227" y="453"/>
                  </a:cubicBezTo>
                  <a:cubicBezTo>
                    <a:pt x="276" y="453"/>
                    <a:pt x="322" y="437"/>
                    <a:pt x="359" y="410"/>
                  </a:cubicBezTo>
                  <a:lnTo>
                    <a:pt x="535" y="585"/>
                  </a:lnTo>
                  <a:lnTo>
                    <a:pt x="572" y="548"/>
                  </a:lnTo>
                  <a:lnTo>
                    <a:pt x="399" y="374"/>
                  </a:lnTo>
                  <a:cubicBezTo>
                    <a:pt x="433" y="335"/>
                    <a:pt x="454" y="283"/>
                    <a:pt x="454" y="227"/>
                  </a:cubicBezTo>
                  <a:cubicBezTo>
                    <a:pt x="454" y="102"/>
                    <a:pt x="352" y="0"/>
                    <a:pt x="227" y="0"/>
                  </a:cubicBezTo>
                  <a:close/>
                  <a:moveTo>
                    <a:pt x="227" y="27"/>
                  </a:moveTo>
                  <a:cubicBezTo>
                    <a:pt x="338" y="27"/>
                    <a:pt x="427" y="116"/>
                    <a:pt x="427" y="227"/>
                  </a:cubicBezTo>
                  <a:cubicBezTo>
                    <a:pt x="427" y="337"/>
                    <a:pt x="338" y="427"/>
                    <a:pt x="227" y="427"/>
                  </a:cubicBezTo>
                  <a:cubicBezTo>
                    <a:pt x="116" y="427"/>
                    <a:pt x="27" y="337"/>
                    <a:pt x="27" y="227"/>
                  </a:cubicBezTo>
                  <a:cubicBezTo>
                    <a:pt x="27" y="116"/>
                    <a:pt x="116" y="27"/>
                    <a:pt x="227" y="27"/>
                  </a:cubicBezTo>
                  <a:close/>
                </a:path>
              </a:pathLst>
            </a:custGeom>
            <a:solidFill>
              <a:srgbClr val="5F5F5F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388" name="그룹 387"/>
          <p:cNvGrpSpPr/>
          <p:nvPr/>
        </p:nvGrpSpPr>
        <p:grpSpPr>
          <a:xfrm>
            <a:off x="5365701" y="2005723"/>
            <a:ext cx="3994205" cy="288000"/>
            <a:chOff x="1367906" y="4599233"/>
            <a:chExt cx="3994205" cy="288000"/>
          </a:xfrm>
        </p:grpSpPr>
        <p:sp>
          <p:nvSpPr>
            <p:cNvPr id="389" name="직사각형 388">
              <a:extLst>
                <a:ext uri="{FF2B5EF4-FFF2-40B4-BE49-F238E27FC236}">
                  <a16:creationId xmlns="" xmlns:a16="http://schemas.microsoft.com/office/drawing/2014/main" id="{C3CBC899-E192-4597-B3EF-23483E494D33}"/>
                </a:ext>
              </a:extLst>
            </p:cNvPr>
            <p:cNvSpPr/>
            <p:nvPr/>
          </p:nvSpPr>
          <p:spPr>
            <a:xfrm>
              <a:off x="1367906" y="4599233"/>
              <a:ext cx="900000" cy="288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36000" rIns="108000" bIns="36000" rtlCol="0" anchor="ctr"/>
            <a:lstStyle/>
            <a:p>
              <a:r>
                <a:rPr lang="ko-KR" altLang="en-US" sz="70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재고연동여부</a:t>
              </a:r>
              <a:endParaRPr lang="ko-KR" altLang="en-US" sz="7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397" name="직사각형 396">
              <a:extLst>
                <a:ext uri="{FF2B5EF4-FFF2-40B4-BE49-F238E27FC236}">
                  <a16:creationId xmlns="" xmlns:a16="http://schemas.microsoft.com/office/drawing/2014/main" id="{C8E8B8B5-F2A9-4F2D-8F41-E83BE71E8F5A}"/>
                </a:ext>
              </a:extLst>
            </p:cNvPr>
            <p:cNvSpPr/>
            <p:nvPr/>
          </p:nvSpPr>
          <p:spPr>
            <a:xfrm>
              <a:off x="2267769" y="4599233"/>
              <a:ext cx="3094342" cy="288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36000" rIns="108000" bIns="36000" rtlCol="0" anchor="ctr"/>
            <a:lstStyle/>
            <a:p>
              <a:endParaRPr lang="ko-KR" altLang="en-US" sz="8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grpSp>
          <p:nvGrpSpPr>
            <p:cNvPr id="398" name="그룹 397"/>
            <p:cNvGrpSpPr/>
            <p:nvPr/>
          </p:nvGrpSpPr>
          <p:grpSpPr>
            <a:xfrm>
              <a:off x="2339906" y="4653021"/>
              <a:ext cx="1096608" cy="180425"/>
              <a:chOff x="6335078" y="5082630"/>
              <a:chExt cx="1096608" cy="180425"/>
            </a:xfrm>
          </p:grpSpPr>
          <p:sp>
            <p:nvSpPr>
              <p:cNvPr id="399" name="사각형: 둥근 모서리 393">
                <a:extLst>
                  <a:ext uri="{FF2B5EF4-FFF2-40B4-BE49-F238E27FC236}">
                    <a16:creationId xmlns="" xmlns:a16="http://schemas.microsoft.com/office/drawing/2014/main" id="{290E9852-4338-4EEA-B9C3-64E5DDED0B7A}"/>
                  </a:ext>
                </a:extLst>
              </p:cNvPr>
              <p:cNvSpPr/>
              <p:nvPr/>
            </p:nvSpPr>
            <p:spPr bwMode="auto">
              <a:xfrm>
                <a:off x="6335078" y="5100843"/>
                <a:ext cx="144000" cy="144000"/>
              </a:xfrm>
              <a:prstGeom prst="ellipse">
                <a:avLst/>
              </a:prstGeom>
              <a:solidFill>
                <a:schemeClr val="bg1"/>
              </a:solidFill>
              <a:ln w="3175" cap="flat" cmpd="sng" algn="ctr">
                <a:solidFill>
                  <a:schemeClr val="bg1">
                    <a:lumMod val="7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>
                <a:innerShdw blurRad="12700" dist="12700" dir="13500000">
                  <a:schemeClr val="tx1">
                    <a:lumMod val="75000"/>
                    <a:lumOff val="25000"/>
                    <a:alpha val="30000"/>
                  </a:schemeClr>
                </a:innerShdw>
              </a:effectLst>
            </p:spPr>
            <p:txBody>
    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fontAlgn="base" latinLnBrk="0">
                  <a:spcBef>
                    <a:spcPct val="0"/>
                  </a:spcBef>
                  <a:spcAft>
                    <a:spcPct val="0"/>
                  </a:spcAft>
                </a:pPr>
                <a:r>
                  <a:rPr kumimoji="1" lang="ko-KR" altLang="en-US" sz="600" kern="0">
                    <a:solidFill>
                      <a:srgbClr val="C00000"/>
                    </a:solidFill>
                    <a:latin typeface="맑은 고딕" panose="020B0503020000020004" pitchFamily="50" charset="-127"/>
                  </a:rPr>
                  <a:t>●</a:t>
                </a:r>
              </a:p>
            </p:txBody>
          </p:sp>
          <p:sp>
            <p:nvSpPr>
              <p:cNvPr id="400" name="TextBox 399">
                <a:extLst>
                  <a:ext uri="{FF2B5EF4-FFF2-40B4-BE49-F238E27FC236}">
                    <a16:creationId xmlns="" xmlns:a16="http://schemas.microsoft.com/office/drawing/2014/main" id="{371DEE5A-1B36-43FA-89E6-F3BCF143BE9F}"/>
                  </a:ext>
                </a:extLst>
              </p:cNvPr>
              <p:cNvSpPr txBox="1"/>
              <p:nvPr/>
            </p:nvSpPr>
            <p:spPr>
              <a:xfrm>
                <a:off x="6479078" y="5082630"/>
                <a:ext cx="252239" cy="180425"/>
              </a:xfrm>
              <a:prstGeom prst="rect">
                <a:avLst/>
              </a:prstGeom>
              <a:noFill/>
              <a:ln w="3175" cap="flat" cmpd="sng" algn="ctr">
                <a:noFill/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txBody>
              <a:bodyPr vert="horz" wrap="none" lIns="36000" tIns="36000" rIns="36000" bIns="36000" numCol="1" rtlCol="0" anchor="ctr" anchorCtr="0" compatLnSpc="1">
                <a:prstTxWarp prst="textNoShape">
                  <a:avLst/>
                </a:prstTxWarp>
                <a:spAutoFit/>
              </a:bodyPr>
              <a:lstStyle/>
              <a:p>
                <a:pPr algn="l"/>
                <a:r>
                  <a:rPr lang="ko-KR" altLang="en-US" sz="7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</a:rPr>
                  <a:t>전체</a:t>
                </a:r>
              </a:p>
            </p:txBody>
          </p:sp>
          <p:sp>
            <p:nvSpPr>
              <p:cNvPr id="403" name="사각형: 둥근 모서리 393">
                <a:extLst>
                  <a:ext uri="{FF2B5EF4-FFF2-40B4-BE49-F238E27FC236}">
                    <a16:creationId xmlns="" xmlns:a16="http://schemas.microsoft.com/office/drawing/2014/main" id="{290E9852-4338-4EEA-B9C3-64E5DDED0B7A}"/>
                  </a:ext>
                </a:extLst>
              </p:cNvPr>
              <p:cNvSpPr/>
              <p:nvPr/>
            </p:nvSpPr>
            <p:spPr bwMode="auto">
              <a:xfrm>
                <a:off x="6803357" y="5100843"/>
                <a:ext cx="144000" cy="144000"/>
              </a:xfrm>
              <a:prstGeom prst="ellipse">
                <a:avLst/>
              </a:prstGeom>
              <a:solidFill>
                <a:schemeClr val="bg1"/>
              </a:solidFill>
              <a:ln w="3175" cap="flat" cmpd="sng" algn="ctr">
                <a:solidFill>
                  <a:schemeClr val="bg1">
                    <a:lumMod val="7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>
                <a:innerShdw blurRad="12700" dist="12700" dir="13500000">
                  <a:schemeClr val="tx1">
                    <a:lumMod val="75000"/>
                    <a:lumOff val="25000"/>
                    <a:alpha val="30000"/>
                  </a:schemeClr>
                </a:innerShdw>
              </a:effectLst>
            </p:spPr>
            <p:txBody>
    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fontAlgn="base" latinLnBrk="0">
                  <a:spcBef>
                    <a:spcPct val="0"/>
                  </a:spcBef>
                  <a:spcAft>
                    <a:spcPct val="0"/>
                  </a:spcAft>
                </a:pPr>
                <a:endParaRPr kumimoji="1" lang="ko-KR" altLang="en-US" sz="800" b="1" ker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  <p:sp>
            <p:nvSpPr>
              <p:cNvPr id="404" name="TextBox 403">
                <a:extLst>
                  <a:ext uri="{FF2B5EF4-FFF2-40B4-BE49-F238E27FC236}">
                    <a16:creationId xmlns="" xmlns:a16="http://schemas.microsoft.com/office/drawing/2014/main" id="{371DEE5A-1B36-43FA-89E6-F3BCF143BE9F}"/>
                  </a:ext>
                </a:extLst>
              </p:cNvPr>
              <p:cNvSpPr txBox="1"/>
              <p:nvPr/>
            </p:nvSpPr>
            <p:spPr>
              <a:xfrm>
                <a:off x="6947357" y="5082630"/>
                <a:ext cx="123999" cy="180425"/>
              </a:xfrm>
              <a:prstGeom prst="rect">
                <a:avLst/>
              </a:prstGeom>
              <a:noFill/>
              <a:ln w="3175" cap="flat" cmpd="sng" algn="ctr">
                <a:noFill/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txBody>
              <a:bodyPr vert="horz" wrap="none" lIns="36000" tIns="36000" rIns="36000" bIns="36000" numCol="1" rtlCol="0" anchor="ctr" anchorCtr="0" compatLnSpc="1">
                <a:prstTxWarp prst="textNoShape">
                  <a:avLst/>
                </a:prstTxWarp>
                <a:spAutoFit/>
              </a:bodyPr>
              <a:lstStyle/>
              <a:p>
                <a:pPr algn="l"/>
                <a:r>
                  <a:rPr lang="en-US" altLang="ko-KR" sz="7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</a:rPr>
                  <a:t>Y</a:t>
                </a:r>
                <a:endParaRPr lang="ko-KR" altLang="en-US" sz="7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endParaRPr>
              </a:p>
            </p:txBody>
          </p:sp>
          <p:sp>
            <p:nvSpPr>
              <p:cNvPr id="409" name="사각형: 둥근 모서리 393">
                <a:extLst>
                  <a:ext uri="{FF2B5EF4-FFF2-40B4-BE49-F238E27FC236}">
                    <a16:creationId xmlns="" xmlns:a16="http://schemas.microsoft.com/office/drawing/2014/main" id="{290E9852-4338-4EEA-B9C3-64E5DDED0B7A}"/>
                  </a:ext>
                </a:extLst>
              </p:cNvPr>
              <p:cNvSpPr/>
              <p:nvPr/>
            </p:nvSpPr>
            <p:spPr bwMode="auto">
              <a:xfrm>
                <a:off x="7146053" y="5100843"/>
                <a:ext cx="144000" cy="144000"/>
              </a:xfrm>
              <a:prstGeom prst="ellipse">
                <a:avLst/>
              </a:prstGeom>
              <a:solidFill>
                <a:schemeClr val="bg1"/>
              </a:solidFill>
              <a:ln w="3175" cap="flat" cmpd="sng" algn="ctr">
                <a:solidFill>
                  <a:schemeClr val="bg1">
                    <a:lumMod val="7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>
                <a:innerShdw blurRad="12700" dist="12700" dir="13500000">
                  <a:schemeClr val="tx1">
                    <a:lumMod val="75000"/>
                    <a:lumOff val="25000"/>
                    <a:alpha val="30000"/>
                  </a:schemeClr>
                </a:innerShdw>
              </a:effectLst>
            </p:spPr>
            <p:txBody>
    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fontAlgn="base" latinLnBrk="0">
                  <a:spcBef>
                    <a:spcPct val="0"/>
                  </a:spcBef>
                  <a:spcAft>
                    <a:spcPct val="0"/>
                  </a:spcAft>
                </a:pPr>
                <a:endParaRPr kumimoji="1" lang="ko-KR" altLang="en-US" sz="800" b="1" ker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  <p:sp>
            <p:nvSpPr>
              <p:cNvPr id="411" name="TextBox 410">
                <a:extLst>
                  <a:ext uri="{FF2B5EF4-FFF2-40B4-BE49-F238E27FC236}">
                    <a16:creationId xmlns="" xmlns:a16="http://schemas.microsoft.com/office/drawing/2014/main" id="{371DEE5A-1B36-43FA-89E6-F3BCF143BE9F}"/>
                  </a:ext>
                </a:extLst>
              </p:cNvPr>
              <p:cNvSpPr txBox="1"/>
              <p:nvPr/>
            </p:nvSpPr>
            <p:spPr>
              <a:xfrm>
                <a:off x="7290053" y="5082630"/>
                <a:ext cx="141633" cy="180425"/>
              </a:xfrm>
              <a:prstGeom prst="rect">
                <a:avLst/>
              </a:prstGeom>
              <a:noFill/>
              <a:ln w="3175" cap="flat" cmpd="sng" algn="ctr">
                <a:noFill/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txBody>
              <a:bodyPr vert="horz" wrap="none" lIns="36000" tIns="36000" rIns="36000" bIns="36000" numCol="1" rtlCol="0" anchor="ctr" anchorCtr="0" compatLnSpc="1">
                <a:prstTxWarp prst="textNoShape">
                  <a:avLst/>
                </a:prstTxWarp>
                <a:spAutoFit/>
              </a:bodyPr>
              <a:lstStyle/>
              <a:p>
                <a:pPr algn="l"/>
                <a:r>
                  <a:rPr lang="en-US" altLang="ko-KR" sz="700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</a:rPr>
                  <a:t>N</a:t>
                </a:r>
                <a:endParaRPr lang="ko-KR" altLang="en-US" sz="7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endParaRPr>
              </a:p>
            </p:txBody>
          </p:sp>
        </p:grpSp>
      </p:grpSp>
      <p:sp>
        <p:nvSpPr>
          <p:cNvPr id="178" name="제목 1">
            <a:extLst>
              <a:ext uri="{FF2B5EF4-FFF2-40B4-BE49-F238E27FC236}">
                <a16:creationId xmlns="" xmlns:a16="http://schemas.microsoft.com/office/drawing/2014/main" id="{03F65532-A01C-4981-B987-5E15F64E3ABB}"/>
              </a:ext>
            </a:extLst>
          </p:cNvPr>
          <p:cNvSpPr txBox="1">
            <a:spLocks/>
          </p:cNvSpPr>
          <p:nvPr/>
        </p:nvSpPr>
        <p:spPr>
          <a:xfrm>
            <a:off x="3383718" y="142660"/>
            <a:ext cx="4320000" cy="216000"/>
          </a:xfrm>
          <a:prstGeom prst="rect">
            <a:avLst/>
          </a:prstGeom>
        </p:spPr>
        <p:txBody>
          <a:bodyPr lIns="180000" tIns="36000" rIns="180000" bIns="36000" anchor="ctr"/>
          <a:lstStyle>
            <a:lvl1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2pPr>
            <a:lvl3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3pPr>
            <a:lvl4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4pPr>
            <a:lvl5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5pPr>
            <a:lvl6pPr marL="457212" algn="ctr" rtl="0" fontAlgn="base" latinLnBrk="1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6pPr>
            <a:lvl7pPr marL="914423" algn="ctr" rtl="0" fontAlgn="base" latinLnBrk="1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7pPr>
            <a:lvl8pPr marL="1371634" algn="ctr" rtl="0" fontAlgn="base" latinLnBrk="1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8pPr>
            <a:lvl9pPr marL="1828846" algn="ctr" rtl="0" fontAlgn="base" latinLnBrk="1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l"/>
            <a:r>
              <a:rPr lang="ko-KR" altLang="en-US" sz="800" kern="0" smtClean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상품 </a:t>
            </a:r>
            <a:r>
              <a:rPr lang="en-US" altLang="ko-KR" sz="800" kern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800" kern="0" smtClean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상품관리 </a:t>
            </a:r>
            <a:r>
              <a:rPr lang="en-US" altLang="ko-KR" sz="800" kern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800" kern="0" smtClean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매장재고연동 </a:t>
            </a:r>
            <a:r>
              <a:rPr lang="en-US" altLang="ko-KR" sz="800" kern="0" smtClean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(Sample)</a:t>
            </a:r>
            <a:endParaRPr lang="ko-KR" altLang="en-US" sz="800" kern="0" dirty="0">
              <a:solidFill>
                <a:srgbClr val="C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79" name="제목 1">
            <a:extLst>
              <a:ext uri="{FF2B5EF4-FFF2-40B4-BE49-F238E27FC236}">
                <a16:creationId xmlns="" xmlns:a16="http://schemas.microsoft.com/office/drawing/2014/main" id="{E2CFB5AD-2840-4821-B288-2284D6C0A05E}"/>
              </a:ext>
            </a:extLst>
          </p:cNvPr>
          <p:cNvSpPr txBox="1">
            <a:spLocks/>
          </p:cNvSpPr>
          <p:nvPr/>
        </p:nvSpPr>
        <p:spPr>
          <a:xfrm>
            <a:off x="3383718" y="358660"/>
            <a:ext cx="4320000" cy="216000"/>
          </a:xfrm>
          <a:prstGeom prst="rect">
            <a:avLst/>
          </a:prstGeom>
        </p:spPr>
        <p:txBody>
          <a:bodyPr lIns="180000" tIns="36000" rIns="180000" bIns="36000" anchor="ctr"/>
          <a:lstStyle>
            <a:lvl1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2pPr>
            <a:lvl3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3pPr>
            <a:lvl4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4pPr>
            <a:lvl5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5pPr>
            <a:lvl6pPr marL="457212" algn="ctr" rtl="0" fontAlgn="base" latinLnBrk="1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6pPr>
            <a:lvl7pPr marL="914423" algn="ctr" rtl="0" fontAlgn="base" latinLnBrk="1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7pPr>
            <a:lvl8pPr marL="1371634" algn="ctr" rtl="0" fontAlgn="base" latinLnBrk="1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8pPr>
            <a:lvl9pPr marL="1828846" algn="ctr" rtl="0" fontAlgn="base" latinLnBrk="1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l"/>
            <a:r>
              <a:rPr lang="en-US" altLang="ko-KR" sz="8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https://nbos.lfmall.co.kr/lfmadm/index.html</a:t>
            </a:r>
            <a:endParaRPr lang="ko-KR" altLang="en-US" sz="800" kern="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</a:endParaRPr>
          </a:p>
        </p:txBody>
      </p:sp>
      <p:graphicFrame>
        <p:nvGraphicFramePr>
          <p:cNvPr id="180" name="Group 118">
            <a:extLst>
              <a:ext uri="{FF2B5EF4-FFF2-40B4-BE49-F238E27FC236}">
                <a16:creationId xmlns="" xmlns:a16="http://schemas.microsoft.com/office/drawing/2014/main" id="{41B5A014-BEDB-439E-A302-DBCECEC856B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68611802"/>
              </p:ext>
            </p:extLst>
          </p:nvPr>
        </p:nvGraphicFramePr>
        <p:xfrm>
          <a:off x="9647906" y="709700"/>
          <a:ext cx="2376000" cy="504000"/>
        </p:xfrm>
        <a:graphic>
          <a:graphicData uri="http://schemas.openxmlformats.org/drawingml/2006/table">
            <a:tbl>
              <a:tblPr/>
              <a:tblGrid>
                <a:gridCol w="216000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2160000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</a:tblGrid>
              <a:tr h="2520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 Semilight" panose="020B0502040204020203" pitchFamily="50" charset="-127"/>
                        </a:rPr>
                        <a:t>No</a:t>
                      </a:r>
                    </a:p>
                  </a:txBody>
                  <a:tcPr marL="42203" marR="42203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en-US" altLang="ko-KR" sz="700" b="0" baseline="0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 Semilight" panose="020B0502040204020203" pitchFamily="50" charset="-127"/>
                        </a:rPr>
                        <a:t>Description</a:t>
                      </a:r>
                    </a:p>
                  </a:txBody>
                  <a:tcPr marL="108000" marR="108000" marT="36000" marB="3600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 Semilight" panose="020B0502040204020203" pitchFamily="50" charset="-127"/>
                        </a:rPr>
                        <a:t>※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42203" marR="42203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ko-KR" altLang="en-US" sz="700" b="0" baseline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 Semilight" panose="020B0502040204020203" pitchFamily="50" charset="-127"/>
                        </a:rPr>
                        <a:t>매장재고연동 상세 예시</a:t>
                      </a:r>
                      <a:endParaRPr lang="en-US" altLang="ko-KR" sz="700" b="0" baseline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108000" marR="108000" marT="36000" marB="3600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309057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1"/>
          <p:cNvSpPr txBox="1">
            <a:spLocks/>
          </p:cNvSpPr>
          <p:nvPr/>
        </p:nvSpPr>
        <p:spPr>
          <a:xfrm>
            <a:off x="1223906" y="142660"/>
            <a:ext cx="1080000" cy="216000"/>
          </a:xfrm>
          <a:prstGeom prst="rect">
            <a:avLst/>
          </a:prstGeom>
        </p:spPr>
        <p:txBody>
          <a:bodyPr lIns="36000" tIns="36000" rIns="36000" bIns="36000" anchor="ctr"/>
          <a:lstStyle>
            <a:lvl1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2pPr>
            <a:lvl3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3pPr>
            <a:lvl4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4pPr>
            <a:lvl5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5pPr>
            <a:lvl6pPr marL="457212" algn="ctr" rtl="0" fontAlgn="base" latinLnBrk="1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6pPr>
            <a:lvl7pPr marL="914423" algn="ctr" rtl="0" fontAlgn="base" latinLnBrk="1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7pPr>
            <a:lvl8pPr marL="1371634" algn="ctr" rtl="0" fontAlgn="base" latinLnBrk="1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8pPr>
            <a:lvl9pPr marL="1828846" algn="ctr" rtl="0" fontAlgn="base" latinLnBrk="1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r>
              <a:rPr lang="en-US" altLang="ko-KR" sz="8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nBOS</a:t>
            </a:r>
            <a:endParaRPr lang="ko-KR" altLang="en-US" sz="800" kern="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01" name="직사각형 200">
            <a:extLst>
              <a:ext uri="{FF2B5EF4-FFF2-40B4-BE49-F238E27FC236}">
                <a16:creationId xmlns="" xmlns:a16="http://schemas.microsoft.com/office/drawing/2014/main" id="{09B54577-DFD2-4CD0-A7A1-F1C86267855F}"/>
              </a:ext>
            </a:extLst>
          </p:cNvPr>
          <p:cNvSpPr/>
          <p:nvPr/>
        </p:nvSpPr>
        <p:spPr>
          <a:xfrm>
            <a:off x="143906" y="709700"/>
            <a:ext cx="9360000" cy="5688022"/>
          </a:xfrm>
          <a:prstGeom prst="rect">
            <a:avLst/>
          </a:prstGeom>
          <a:solidFill>
            <a:schemeClr val="tx1">
              <a:lumMod val="75000"/>
              <a:lumOff val="25000"/>
              <a:alpha val="7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 b="1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81" name="제목 1"/>
          <p:cNvSpPr txBox="1">
            <a:spLocks/>
          </p:cNvSpPr>
          <p:nvPr/>
        </p:nvSpPr>
        <p:spPr>
          <a:xfrm>
            <a:off x="1223906" y="358660"/>
            <a:ext cx="1080000" cy="216000"/>
          </a:xfrm>
          <a:prstGeom prst="rect">
            <a:avLst/>
          </a:prstGeom>
        </p:spPr>
        <p:txBody>
          <a:bodyPr lIns="36000" tIns="36000" rIns="36000" bIns="36000" anchor="ctr"/>
          <a:lstStyle>
            <a:lvl1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2pPr>
            <a:lvl3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3pPr>
            <a:lvl4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4pPr>
            <a:lvl5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5pPr>
            <a:lvl6pPr marL="457212" algn="ctr" rtl="0" fontAlgn="base" latinLnBrk="1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6pPr>
            <a:lvl7pPr marL="914423" algn="ctr" rtl="0" fontAlgn="base" latinLnBrk="1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7pPr>
            <a:lvl8pPr marL="1371634" algn="ctr" rtl="0" fontAlgn="base" latinLnBrk="1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8pPr>
            <a:lvl9pPr marL="1828846" algn="ctr" rtl="0" fontAlgn="base" latinLnBrk="1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r>
              <a:rPr lang="en-US" altLang="ko-KR" sz="800" ker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-</a:t>
            </a:r>
            <a:endParaRPr lang="ko-KR" altLang="en-US" sz="800" kern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82" name="제목 1">
            <a:extLst>
              <a:ext uri="{FF2B5EF4-FFF2-40B4-BE49-F238E27FC236}">
                <a16:creationId xmlns="" xmlns:a16="http://schemas.microsoft.com/office/drawing/2014/main" id="{03F65532-A01C-4981-B987-5E15F64E3ABB}"/>
              </a:ext>
            </a:extLst>
          </p:cNvPr>
          <p:cNvSpPr txBox="1">
            <a:spLocks/>
          </p:cNvSpPr>
          <p:nvPr/>
        </p:nvSpPr>
        <p:spPr>
          <a:xfrm>
            <a:off x="3383718" y="142660"/>
            <a:ext cx="4320000" cy="216000"/>
          </a:xfrm>
          <a:prstGeom prst="rect">
            <a:avLst/>
          </a:prstGeom>
        </p:spPr>
        <p:txBody>
          <a:bodyPr lIns="180000" tIns="36000" rIns="180000" bIns="36000" anchor="ctr"/>
          <a:lstStyle>
            <a:lvl1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2pPr>
            <a:lvl3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3pPr>
            <a:lvl4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4pPr>
            <a:lvl5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5pPr>
            <a:lvl6pPr marL="457212" algn="ctr" rtl="0" fontAlgn="base" latinLnBrk="1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6pPr>
            <a:lvl7pPr marL="914423" algn="ctr" rtl="0" fontAlgn="base" latinLnBrk="1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7pPr>
            <a:lvl8pPr marL="1371634" algn="ctr" rtl="0" fontAlgn="base" latinLnBrk="1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8pPr>
            <a:lvl9pPr marL="1828846" algn="ctr" rtl="0" fontAlgn="base" latinLnBrk="1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l"/>
            <a:r>
              <a:rPr lang="ko-KR" altLang="en-US" sz="800" kern="0" smtClean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상품 </a:t>
            </a:r>
            <a:r>
              <a:rPr lang="en-US" altLang="ko-KR" sz="800" kern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800" kern="0" smtClean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상품관리 </a:t>
            </a:r>
            <a:r>
              <a:rPr lang="en-US" altLang="ko-KR" sz="800" kern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800" kern="0" smtClean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매장재고연동 </a:t>
            </a:r>
            <a:r>
              <a:rPr lang="en-US" altLang="ko-KR" sz="800" kern="0" smtClean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(Sample)</a:t>
            </a:r>
            <a:endParaRPr lang="ko-KR" altLang="en-US" sz="800" kern="0" dirty="0">
              <a:solidFill>
                <a:srgbClr val="C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83" name="제목 1">
            <a:extLst>
              <a:ext uri="{FF2B5EF4-FFF2-40B4-BE49-F238E27FC236}">
                <a16:creationId xmlns="" xmlns:a16="http://schemas.microsoft.com/office/drawing/2014/main" id="{E2CFB5AD-2840-4821-B288-2284D6C0A05E}"/>
              </a:ext>
            </a:extLst>
          </p:cNvPr>
          <p:cNvSpPr txBox="1">
            <a:spLocks/>
          </p:cNvSpPr>
          <p:nvPr/>
        </p:nvSpPr>
        <p:spPr>
          <a:xfrm>
            <a:off x="3383718" y="358660"/>
            <a:ext cx="4320000" cy="216000"/>
          </a:xfrm>
          <a:prstGeom prst="rect">
            <a:avLst/>
          </a:prstGeom>
        </p:spPr>
        <p:txBody>
          <a:bodyPr lIns="180000" tIns="36000" rIns="180000" bIns="36000" anchor="ctr"/>
          <a:lstStyle>
            <a:lvl1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2pPr>
            <a:lvl3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3pPr>
            <a:lvl4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4pPr>
            <a:lvl5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5pPr>
            <a:lvl6pPr marL="457212" algn="ctr" rtl="0" fontAlgn="base" latinLnBrk="1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6pPr>
            <a:lvl7pPr marL="914423" algn="ctr" rtl="0" fontAlgn="base" latinLnBrk="1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7pPr>
            <a:lvl8pPr marL="1371634" algn="ctr" rtl="0" fontAlgn="base" latinLnBrk="1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8pPr>
            <a:lvl9pPr marL="1828846" algn="ctr" rtl="0" fontAlgn="base" latinLnBrk="1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l"/>
            <a:r>
              <a:rPr lang="en-US" altLang="ko-KR" sz="8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https://nbos.lfmall.co.kr/lfmadm/index.html</a:t>
            </a:r>
            <a:endParaRPr lang="ko-KR" altLang="en-US" sz="800" kern="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184" name="제목 1">
            <a:extLst>
              <a:ext uri="{FF2B5EF4-FFF2-40B4-BE49-F238E27FC236}">
                <a16:creationId xmlns="" xmlns:a16="http://schemas.microsoft.com/office/drawing/2014/main" id="{03F65532-A01C-4981-B987-5E15F64E3ABB}"/>
              </a:ext>
            </a:extLst>
          </p:cNvPr>
          <p:cNvSpPr txBox="1">
            <a:spLocks/>
          </p:cNvSpPr>
          <p:nvPr/>
        </p:nvSpPr>
        <p:spPr>
          <a:xfrm>
            <a:off x="8783530" y="142660"/>
            <a:ext cx="1079290" cy="432000"/>
          </a:xfrm>
          <a:prstGeom prst="rect">
            <a:avLst/>
          </a:prstGeom>
        </p:spPr>
        <p:txBody>
          <a:bodyPr lIns="180000" tIns="36000" rIns="180000" bIns="36000" anchor="ctr"/>
          <a:lstStyle>
            <a:lvl1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2pPr>
            <a:lvl3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3pPr>
            <a:lvl4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4pPr>
            <a:lvl5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5pPr>
            <a:lvl6pPr marL="457212" algn="ctr" rtl="0" fontAlgn="base" latinLnBrk="1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6pPr>
            <a:lvl7pPr marL="914423" algn="ctr" rtl="0" fontAlgn="base" latinLnBrk="1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7pPr>
            <a:lvl8pPr marL="1371634" algn="ctr" rtl="0" fontAlgn="base" latinLnBrk="1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8pPr>
            <a:lvl9pPr marL="1828846" algn="ctr" rtl="0" fontAlgn="base" latinLnBrk="1">
              <a:spcBef>
                <a:spcPct val="0"/>
              </a:spcBef>
              <a:spcAft>
                <a:spcPct val="0"/>
              </a:spcAft>
              <a:defRPr kumimoji="1" sz="4401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r>
              <a:rPr lang="ko-KR" altLang="en-US" sz="800" kern="0"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</a:rPr>
              <a:t>최범열</a:t>
            </a:r>
          </a:p>
        </p:txBody>
      </p:sp>
      <p:sp>
        <p:nvSpPr>
          <p:cNvPr id="202" name="사각형: 둥근 모서리 58">
            <a:extLst>
              <a:ext uri="{FF2B5EF4-FFF2-40B4-BE49-F238E27FC236}">
                <a16:creationId xmlns="" xmlns:a16="http://schemas.microsoft.com/office/drawing/2014/main" id="{DD080841-1344-4C9C-ADD3-8387E4C1C248}"/>
              </a:ext>
            </a:extLst>
          </p:cNvPr>
          <p:cNvSpPr/>
          <p:nvPr/>
        </p:nvSpPr>
        <p:spPr bwMode="auto">
          <a:xfrm>
            <a:off x="683906" y="1465711"/>
            <a:ext cx="8280000" cy="4176000"/>
          </a:xfrm>
          <a:prstGeom prst="roundRect">
            <a:avLst>
              <a:gd name="adj" fmla="val 750"/>
            </a:avLst>
          </a:prstGeom>
          <a:solidFill>
            <a:srgbClr val="FFFFFF"/>
          </a:solidFill>
          <a:ln w="3175" cap="flat" cmpd="sng" algn="ctr">
            <a:solidFill>
              <a:srgbClr val="FFFFFF">
                <a:lumMod val="75000"/>
              </a:srgbClr>
            </a:solidFill>
            <a:prstDash val="solid"/>
            <a:round/>
            <a:headEnd type="none" w="med" len="med"/>
            <a:tailEnd type="none" w="med" len="med"/>
          </a:ln>
          <a:effectLst>
            <a:outerShdw blurRad="25400" dist="12700" dir="2700000" algn="tl" rotWithShape="0">
              <a:prstClr val="black">
                <a:alpha val="60000"/>
              </a:prstClr>
            </a:outerShdw>
          </a:effectLst>
        </p:spPr>
        <p:txBody>
          <a:bodyPr vert="horz" wrap="square" lIns="36000" tIns="36000" rIns="36000" bIns="3600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87313" indent="-87313" algn="ctr" defTabSz="914400" fontAlgn="base" latinLnBrk="0">
              <a:lnSpc>
                <a:spcPct val="110000"/>
              </a:lnSpc>
              <a:spcBef>
                <a:spcPct val="25000"/>
              </a:spcBef>
              <a:spcAft>
                <a:spcPct val="0"/>
              </a:spcAft>
              <a:defRPr/>
            </a:pPr>
            <a:endParaRPr kumimoji="1" lang="ko-KR" altLang="en-US" sz="700" kern="0">
              <a:solidFill>
                <a:srgbClr val="000000">
                  <a:lumMod val="75000"/>
                  <a:lumOff val="25000"/>
                </a:srgb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203" name="사각형: 둥근 모서리 59">
            <a:extLst>
              <a:ext uri="{FF2B5EF4-FFF2-40B4-BE49-F238E27FC236}">
                <a16:creationId xmlns="" xmlns:a16="http://schemas.microsoft.com/office/drawing/2014/main" id="{0292A016-C154-4D66-B0A3-EA847A752A31}"/>
              </a:ext>
            </a:extLst>
          </p:cNvPr>
          <p:cNvSpPr/>
          <p:nvPr/>
        </p:nvSpPr>
        <p:spPr bwMode="auto">
          <a:xfrm>
            <a:off x="683906" y="1465711"/>
            <a:ext cx="8280000" cy="287752"/>
          </a:xfrm>
          <a:prstGeom prst="roundRect">
            <a:avLst>
              <a:gd name="adj" fmla="val 12975"/>
            </a:avLst>
          </a:prstGeom>
          <a:solidFill>
            <a:srgbClr val="FFFFFF">
              <a:lumMod val="85000"/>
            </a:srgbClr>
          </a:solidFill>
          <a:ln w="3175" cap="flat" cmpd="sng" algn="ctr">
            <a:solidFill>
              <a:srgbClr val="FFFFFF">
                <a:lumMod val="75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36000" rIns="36000" bIns="3600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87313" indent="-87313" defTabSz="914400" fontAlgn="base" latinLnBrk="0">
              <a:lnSpc>
                <a:spcPct val="110000"/>
              </a:lnSpc>
              <a:spcBef>
                <a:spcPct val="25000"/>
              </a:spcBef>
              <a:spcAft>
                <a:spcPct val="0"/>
              </a:spcAft>
              <a:defRPr/>
            </a:pPr>
            <a:r>
              <a:rPr kumimoji="1" lang="ko-KR" altLang="en-US" sz="800" b="1" kern="0" smtClean="0">
                <a:solidFill>
                  <a:srgbClr val="000000">
                    <a:lumMod val="75000"/>
                    <a:lumOff val="25000"/>
                  </a:srgbClr>
                </a:solidFill>
                <a:latin typeface="맑은 고딕" panose="020B0503020000020004" pitchFamily="50" charset="-127"/>
              </a:rPr>
              <a:t>매장재고연동</a:t>
            </a:r>
            <a:endParaRPr kumimoji="1" lang="ko-KR" altLang="en-US" sz="800" b="1" kern="0">
              <a:solidFill>
                <a:srgbClr val="000000">
                  <a:lumMod val="75000"/>
                  <a:lumOff val="25000"/>
                </a:srgb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204" name="곱하기 기호 199">
            <a:extLst>
              <a:ext uri="{FF2B5EF4-FFF2-40B4-BE49-F238E27FC236}">
                <a16:creationId xmlns="" xmlns:a16="http://schemas.microsoft.com/office/drawing/2014/main" id="{FC59F712-927B-4C6B-A7B9-6F7D03C2E8DC}"/>
              </a:ext>
            </a:extLst>
          </p:cNvPr>
          <p:cNvSpPr/>
          <p:nvPr/>
        </p:nvSpPr>
        <p:spPr bwMode="auto">
          <a:xfrm>
            <a:off x="8712512" y="1537587"/>
            <a:ext cx="144000" cy="144000"/>
          </a:xfrm>
          <a:prstGeom prst="mathMultiply">
            <a:avLst>
              <a:gd name="adj1" fmla="val 0"/>
            </a:avLst>
          </a:prstGeom>
          <a:noFill/>
          <a:ln w="6350" cap="flat" cmpd="sng" algn="ctr">
            <a:solidFill>
              <a:srgbClr val="FFFFFF">
                <a:lumMod val="50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87313" indent="-87313" algn="ctr" defTabSz="914400" fontAlgn="base" latinLnBrk="0">
              <a:lnSpc>
                <a:spcPct val="110000"/>
              </a:lnSpc>
              <a:spcBef>
                <a:spcPct val="25000"/>
              </a:spcBef>
              <a:spcAft>
                <a:spcPct val="0"/>
              </a:spcAft>
              <a:buFont typeface="Wingdings" pitchFamily="2" charset="2"/>
              <a:buNone/>
              <a:defRPr/>
            </a:pPr>
            <a:endParaRPr kumimoji="1" lang="ko-KR" altLang="en-US" sz="800" b="1" kern="0">
              <a:solidFill>
                <a:srgbClr val="000000">
                  <a:lumMod val="75000"/>
                  <a:lumOff val="25000"/>
                </a:srgb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200" name="TextBox 199">
            <a:extLst>
              <a:ext uri="{FF2B5EF4-FFF2-40B4-BE49-F238E27FC236}">
                <a16:creationId xmlns="" xmlns:a16="http://schemas.microsoft.com/office/drawing/2014/main" id="{87DCF5B8-61F6-4E97-889B-24A0F3E5B471}"/>
              </a:ext>
            </a:extLst>
          </p:cNvPr>
          <p:cNvSpPr txBox="1"/>
          <p:nvPr/>
        </p:nvSpPr>
        <p:spPr>
          <a:xfrm>
            <a:off x="827906" y="1943630"/>
            <a:ext cx="628478" cy="195814"/>
          </a:xfrm>
          <a:prstGeom prst="rect">
            <a:avLst/>
          </a:prstGeom>
          <a:noFill/>
          <a:ln w="317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108000" tIns="36000" rIns="108000" bIns="36000" numCol="1" rtlCol="0" anchor="ctr" anchorCtr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ko-KR" altLang="en-US" sz="800" b="1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기본정보</a:t>
            </a:r>
            <a:endParaRPr lang="ko-KR" altLang="en-US" sz="800" b="1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</p:txBody>
      </p:sp>
      <p:sp>
        <p:nvSpPr>
          <p:cNvPr id="317" name="직사각형 316">
            <a:extLst>
              <a:ext uri="{FF2B5EF4-FFF2-40B4-BE49-F238E27FC236}">
                <a16:creationId xmlns="" xmlns:a16="http://schemas.microsoft.com/office/drawing/2014/main" id="{2086226C-F3B2-4253-81E2-3DD09EF4018E}"/>
              </a:ext>
            </a:extLst>
          </p:cNvPr>
          <p:cNvSpPr/>
          <p:nvPr/>
        </p:nvSpPr>
        <p:spPr>
          <a:xfrm>
            <a:off x="827906" y="2185205"/>
            <a:ext cx="828000" cy="288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36000" rIns="36000" bIns="36000" rtlCol="0" anchor="ctr"/>
          <a:lstStyle/>
          <a:p>
            <a:r>
              <a:rPr lang="ko-KR" altLang="en-US" sz="7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번호</a:t>
            </a:r>
            <a:endParaRPr lang="ko-KR" altLang="en-US" sz="7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318" name="직사각형 317">
            <a:extLst>
              <a:ext uri="{FF2B5EF4-FFF2-40B4-BE49-F238E27FC236}">
                <a16:creationId xmlns="" xmlns:a16="http://schemas.microsoft.com/office/drawing/2014/main" id="{E955F0F7-52A0-48E2-96C0-51A6B4AD6027}"/>
              </a:ext>
            </a:extLst>
          </p:cNvPr>
          <p:cNvSpPr/>
          <p:nvPr/>
        </p:nvSpPr>
        <p:spPr>
          <a:xfrm>
            <a:off x="1655906" y="2185205"/>
            <a:ext cx="3168000" cy="288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36000" rIns="108000" bIns="36000" rtlCol="0" anchor="ctr"/>
          <a:lstStyle/>
          <a:p>
            <a:r>
              <a:rPr lang="en-US" altLang="ko-KR" sz="7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123</a:t>
            </a:r>
            <a:endParaRPr lang="ko-KR" altLang="en-US" sz="7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57" name="직사각형 256">
            <a:extLst>
              <a:ext uri="{FF2B5EF4-FFF2-40B4-BE49-F238E27FC236}">
                <a16:creationId xmlns="" xmlns:a16="http://schemas.microsoft.com/office/drawing/2014/main" id="{2086226C-F3B2-4253-81E2-3DD09EF4018E}"/>
              </a:ext>
            </a:extLst>
          </p:cNvPr>
          <p:cNvSpPr/>
          <p:nvPr/>
        </p:nvSpPr>
        <p:spPr>
          <a:xfrm>
            <a:off x="827906" y="2473119"/>
            <a:ext cx="828000" cy="288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36000" rIns="36000" bIns="36000" rtlCol="0" anchor="ctr"/>
          <a:lstStyle/>
          <a:p>
            <a:r>
              <a:rPr lang="ko-KR" altLang="en-US" sz="7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등록 데이터</a:t>
            </a:r>
            <a:endParaRPr lang="ko-KR" altLang="en-US" sz="7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258" name="직사각형 257">
            <a:extLst>
              <a:ext uri="{FF2B5EF4-FFF2-40B4-BE49-F238E27FC236}">
                <a16:creationId xmlns="" xmlns:a16="http://schemas.microsoft.com/office/drawing/2014/main" id="{E955F0F7-52A0-48E2-96C0-51A6B4AD6027}"/>
              </a:ext>
            </a:extLst>
          </p:cNvPr>
          <p:cNvSpPr/>
          <p:nvPr/>
        </p:nvSpPr>
        <p:spPr>
          <a:xfrm>
            <a:off x="1655906" y="2473119"/>
            <a:ext cx="3166923" cy="288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36000" rIns="108000" bIns="36000" rtlCol="0" anchor="ctr"/>
          <a:lstStyle/>
          <a:p>
            <a:endParaRPr lang="ko-KR" altLang="en-US" sz="7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32" name="직사각형 231">
            <a:extLst>
              <a:ext uri="{FF2B5EF4-FFF2-40B4-BE49-F238E27FC236}">
                <a16:creationId xmlns="" xmlns:a16="http://schemas.microsoft.com/office/drawing/2014/main" id="{2086226C-F3B2-4253-81E2-3DD09EF4018E}"/>
              </a:ext>
            </a:extLst>
          </p:cNvPr>
          <p:cNvSpPr/>
          <p:nvPr/>
        </p:nvSpPr>
        <p:spPr>
          <a:xfrm>
            <a:off x="4823906" y="2185205"/>
            <a:ext cx="828000" cy="288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36000" rIns="36000" bIns="36000" rtlCol="0" anchor="ctr"/>
          <a:lstStyle/>
          <a:p>
            <a:r>
              <a:rPr lang="ko-KR" altLang="en-US" sz="7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등록자</a:t>
            </a:r>
            <a:endParaRPr lang="ko-KR" altLang="en-US" sz="7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233" name="직사각형 232">
            <a:extLst>
              <a:ext uri="{FF2B5EF4-FFF2-40B4-BE49-F238E27FC236}">
                <a16:creationId xmlns="" xmlns:a16="http://schemas.microsoft.com/office/drawing/2014/main" id="{E955F0F7-52A0-48E2-96C0-51A6B4AD6027}"/>
              </a:ext>
            </a:extLst>
          </p:cNvPr>
          <p:cNvSpPr/>
          <p:nvPr/>
        </p:nvSpPr>
        <p:spPr>
          <a:xfrm>
            <a:off x="5651906" y="2185205"/>
            <a:ext cx="3168000" cy="288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36000" rIns="108000" bIns="36000" rtlCol="0" anchor="ctr"/>
          <a:lstStyle/>
          <a:p>
            <a:r>
              <a:rPr lang="en-US" altLang="ko-KR" sz="7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by.choi   </a:t>
            </a:r>
            <a:r>
              <a:rPr lang="en-US" altLang="ko-KR" sz="7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(2026-04-14 13:05:12</a:t>
            </a:r>
            <a:r>
              <a:rPr lang="en-US" altLang="ko-KR" sz="7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)</a:t>
            </a:r>
            <a:endParaRPr lang="en-US" altLang="ko-KR" sz="70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289" name="사각형: 둥근 모서리 393">
            <a:extLst>
              <a:ext uri="{FF2B5EF4-FFF2-40B4-BE49-F238E27FC236}">
                <a16:creationId xmlns="" xmlns:a16="http://schemas.microsoft.com/office/drawing/2014/main" id="{290E9852-4338-4EEA-B9C3-64E5DDED0B7A}"/>
              </a:ext>
            </a:extLst>
          </p:cNvPr>
          <p:cNvSpPr/>
          <p:nvPr/>
        </p:nvSpPr>
        <p:spPr bwMode="auto">
          <a:xfrm>
            <a:off x="1726842" y="2545120"/>
            <a:ext cx="144000" cy="144000"/>
          </a:xfrm>
          <a:prstGeom prst="ellipse">
            <a:avLst/>
          </a:prstGeom>
          <a:solidFill>
            <a:schemeClr val="bg1"/>
          </a:solidFill>
          <a:ln w="3175" cap="flat" cmpd="sng" algn="ctr">
            <a:solidFill>
              <a:schemeClr val="bg1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>
            <a:innerShdw blurRad="12700" dist="12700" dir="13500000">
              <a:schemeClr val="tx1">
                <a:lumMod val="75000"/>
                <a:lumOff val="25000"/>
                <a:alpha val="30000"/>
              </a:schemeClr>
            </a:innerShdw>
          </a:effectLst>
        </p:spPr>
        <p:txBody>
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fontAlgn="base" latinLnBrk="0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700" kern="0">
                <a:solidFill>
                  <a:srgbClr val="C00000"/>
                </a:solidFill>
                <a:latin typeface="맑은 고딕" panose="020B0503020000020004" pitchFamily="50" charset="-127"/>
              </a:rPr>
              <a:t>●</a:t>
            </a:r>
          </a:p>
        </p:txBody>
      </p:sp>
      <p:sp>
        <p:nvSpPr>
          <p:cNvPr id="290" name="TextBox 289">
            <a:extLst>
              <a:ext uri="{FF2B5EF4-FFF2-40B4-BE49-F238E27FC236}">
                <a16:creationId xmlns="" xmlns:a16="http://schemas.microsoft.com/office/drawing/2014/main" id="{371DEE5A-1B36-43FA-89E6-F3BCF143BE9F}"/>
              </a:ext>
            </a:extLst>
          </p:cNvPr>
          <p:cNvSpPr txBox="1"/>
          <p:nvPr/>
        </p:nvSpPr>
        <p:spPr>
          <a:xfrm>
            <a:off x="1870842" y="2526907"/>
            <a:ext cx="342008" cy="180425"/>
          </a:xfrm>
          <a:prstGeom prst="rect">
            <a:avLst/>
          </a:prstGeom>
          <a:noFill/>
          <a:ln w="317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36000" tIns="36000" rIns="36000" bIns="36000" numCol="1" rtlCol="0" anchor="ctr" anchorCtr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ko-KR" altLang="en-US" sz="7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브랜드</a:t>
            </a:r>
            <a:endParaRPr lang="ko-KR" altLang="en-US" sz="70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</p:txBody>
      </p:sp>
      <p:sp>
        <p:nvSpPr>
          <p:cNvPr id="291" name="사각형: 둥근 모서리 393">
            <a:extLst>
              <a:ext uri="{FF2B5EF4-FFF2-40B4-BE49-F238E27FC236}">
                <a16:creationId xmlns="" xmlns:a16="http://schemas.microsoft.com/office/drawing/2014/main" id="{290E9852-4338-4EEA-B9C3-64E5DDED0B7A}"/>
              </a:ext>
            </a:extLst>
          </p:cNvPr>
          <p:cNvSpPr/>
          <p:nvPr/>
        </p:nvSpPr>
        <p:spPr bwMode="auto">
          <a:xfrm>
            <a:off x="2356611" y="2545120"/>
            <a:ext cx="144000" cy="144000"/>
          </a:xfrm>
          <a:prstGeom prst="ellipse">
            <a:avLst/>
          </a:prstGeom>
          <a:solidFill>
            <a:schemeClr val="bg1"/>
          </a:solidFill>
          <a:ln w="3175" cap="flat" cmpd="sng" algn="ctr">
            <a:solidFill>
              <a:schemeClr val="bg1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>
            <a:innerShdw blurRad="12700" dist="12700" dir="13500000">
              <a:schemeClr val="tx1">
                <a:lumMod val="75000"/>
                <a:lumOff val="25000"/>
                <a:alpha val="30000"/>
              </a:schemeClr>
            </a:innerShdw>
          </a:effectLst>
        </p:spPr>
        <p:txBody>
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fontAlgn="base" latinLnBrk="0">
              <a:spcBef>
                <a:spcPct val="0"/>
              </a:spcBef>
              <a:spcAft>
                <a:spcPct val="0"/>
              </a:spcAft>
            </a:pPr>
            <a:endParaRPr kumimoji="1" lang="ko-KR" altLang="en-US" sz="800" b="1" kern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92" name="TextBox 291">
            <a:extLst>
              <a:ext uri="{FF2B5EF4-FFF2-40B4-BE49-F238E27FC236}">
                <a16:creationId xmlns="" xmlns:a16="http://schemas.microsoft.com/office/drawing/2014/main" id="{371DEE5A-1B36-43FA-89E6-F3BCF143BE9F}"/>
              </a:ext>
            </a:extLst>
          </p:cNvPr>
          <p:cNvSpPr txBox="1"/>
          <p:nvPr/>
        </p:nvSpPr>
        <p:spPr>
          <a:xfrm>
            <a:off x="2500611" y="2526907"/>
            <a:ext cx="252239" cy="180425"/>
          </a:xfrm>
          <a:prstGeom prst="rect">
            <a:avLst/>
          </a:prstGeom>
          <a:noFill/>
          <a:ln w="317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36000" tIns="36000" rIns="36000" bIns="36000" numCol="1" rtlCol="0" anchor="ctr" anchorCtr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ko-KR" altLang="en-US" sz="7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상품</a:t>
            </a:r>
            <a:endParaRPr lang="ko-KR" altLang="en-US" sz="70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</p:txBody>
      </p:sp>
      <p:sp>
        <p:nvSpPr>
          <p:cNvPr id="296" name="직사각형 295">
            <a:extLst>
              <a:ext uri="{FF2B5EF4-FFF2-40B4-BE49-F238E27FC236}">
                <a16:creationId xmlns="" xmlns:a16="http://schemas.microsoft.com/office/drawing/2014/main" id="{2086226C-F3B2-4253-81E2-3DD09EF4018E}"/>
              </a:ext>
            </a:extLst>
          </p:cNvPr>
          <p:cNvSpPr/>
          <p:nvPr/>
        </p:nvSpPr>
        <p:spPr>
          <a:xfrm>
            <a:off x="4823906" y="2473119"/>
            <a:ext cx="828000" cy="288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36000" rIns="36000" bIns="36000" rtlCol="0" anchor="ctr"/>
          <a:lstStyle/>
          <a:p>
            <a:r>
              <a:rPr lang="ko-KR" altLang="en-US" sz="7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재고연동여부</a:t>
            </a:r>
            <a:endParaRPr lang="ko-KR" altLang="en-US" sz="7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297" name="직사각형 296">
            <a:extLst>
              <a:ext uri="{FF2B5EF4-FFF2-40B4-BE49-F238E27FC236}">
                <a16:creationId xmlns="" xmlns:a16="http://schemas.microsoft.com/office/drawing/2014/main" id="{E955F0F7-52A0-48E2-96C0-51A6B4AD6027}"/>
              </a:ext>
            </a:extLst>
          </p:cNvPr>
          <p:cNvSpPr/>
          <p:nvPr/>
        </p:nvSpPr>
        <p:spPr>
          <a:xfrm>
            <a:off x="5651906" y="2473119"/>
            <a:ext cx="3168000" cy="288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36000" rIns="108000" bIns="36000" rtlCol="0" anchor="ctr"/>
          <a:lstStyle/>
          <a:p>
            <a:endParaRPr lang="ko-KR" altLang="en-US" sz="7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298" name="그룹 297"/>
          <p:cNvGrpSpPr/>
          <p:nvPr/>
        </p:nvGrpSpPr>
        <p:grpSpPr>
          <a:xfrm>
            <a:off x="5723919" y="2526907"/>
            <a:ext cx="695117" cy="180425"/>
            <a:chOff x="6805980" y="2059511"/>
            <a:chExt cx="695117" cy="180425"/>
          </a:xfrm>
        </p:grpSpPr>
        <p:sp>
          <p:nvSpPr>
            <p:cNvPr id="301" name="사각형: 둥근 모서리 393">
              <a:extLst>
                <a:ext uri="{FF2B5EF4-FFF2-40B4-BE49-F238E27FC236}">
                  <a16:creationId xmlns="" xmlns:a16="http://schemas.microsoft.com/office/drawing/2014/main" id="{290E9852-4338-4EEA-B9C3-64E5DDED0B7A}"/>
                </a:ext>
              </a:extLst>
            </p:cNvPr>
            <p:cNvSpPr/>
            <p:nvPr/>
          </p:nvSpPr>
          <p:spPr bwMode="auto">
            <a:xfrm>
              <a:off x="6805980" y="2077724"/>
              <a:ext cx="144000" cy="144000"/>
            </a:xfrm>
            <a:prstGeom prst="ellipse">
              <a:avLst/>
            </a:prstGeom>
            <a:solidFill>
              <a:schemeClr val="bg1"/>
            </a:solidFill>
            <a:ln w="3175" cap="flat" cmpd="sng" algn="ctr">
              <a:solidFill>
                <a:schemeClr val="bg1">
                  <a:lumMod val="7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>
              <a:innerShdw blurRad="12700" dist="12700" dir="13500000">
                <a:schemeClr val="tx1">
                  <a:lumMod val="75000"/>
                  <a:lumOff val="25000"/>
                  <a:alpha val="30000"/>
                </a:schemeClr>
              </a:innerShdw>
            </a:effectLst>
          </p:spPr>
          <p:txBody>
  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fontAlgn="base" latinLnBrk="0">
                <a:spcBef>
                  <a:spcPct val="0"/>
                </a:spcBef>
                <a:spcAft>
                  <a:spcPct val="0"/>
                </a:spcAft>
              </a:pPr>
              <a:r>
                <a:rPr kumimoji="1" lang="ko-KR" altLang="en-US" sz="700" kern="0">
                  <a:solidFill>
                    <a:srgbClr val="C00000"/>
                  </a:solidFill>
                  <a:latin typeface="맑은 고딕" panose="020B0503020000020004" pitchFamily="50" charset="-127"/>
                </a:rPr>
                <a:t>●</a:t>
              </a:r>
            </a:p>
          </p:txBody>
        </p:sp>
        <p:sp>
          <p:nvSpPr>
            <p:cNvPr id="302" name="TextBox 301">
              <a:extLst>
                <a:ext uri="{FF2B5EF4-FFF2-40B4-BE49-F238E27FC236}">
                  <a16:creationId xmlns="" xmlns:a16="http://schemas.microsoft.com/office/drawing/2014/main" id="{371DEE5A-1B36-43FA-89E6-F3BCF143BE9F}"/>
                </a:ext>
              </a:extLst>
            </p:cNvPr>
            <p:cNvSpPr txBox="1"/>
            <p:nvPr/>
          </p:nvSpPr>
          <p:spPr>
            <a:xfrm>
              <a:off x="6949980" y="2059511"/>
              <a:ext cx="123999" cy="180425"/>
            </a:xfrm>
            <a:prstGeom prst="rect">
              <a:avLst/>
            </a:prstGeom>
            <a:noFill/>
            <a:ln w="3175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none" lIns="36000" tIns="36000" rIns="36000" bIns="36000" numCol="1" rtlCol="0" anchor="ctr" anchorCtr="0" compatLnSpc="1">
              <a:prstTxWarp prst="textNoShape">
                <a:avLst/>
              </a:prstTxWarp>
              <a:spAutoFit/>
            </a:bodyPr>
            <a:lstStyle/>
            <a:p>
              <a:pPr algn="l"/>
              <a:r>
                <a:rPr lang="en-US" altLang="ko-KR" sz="7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Y</a:t>
              </a:r>
              <a:endParaRPr lang="ko-KR" altLang="en-US" sz="70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endParaRPr>
            </a:p>
          </p:txBody>
        </p:sp>
        <p:sp>
          <p:nvSpPr>
            <p:cNvPr id="303" name="사각형: 둥근 모서리 393">
              <a:extLst>
                <a:ext uri="{FF2B5EF4-FFF2-40B4-BE49-F238E27FC236}">
                  <a16:creationId xmlns="" xmlns:a16="http://schemas.microsoft.com/office/drawing/2014/main" id="{290E9852-4338-4EEA-B9C3-64E5DDED0B7A}"/>
                </a:ext>
              </a:extLst>
            </p:cNvPr>
            <p:cNvSpPr/>
            <p:nvPr/>
          </p:nvSpPr>
          <p:spPr bwMode="auto">
            <a:xfrm>
              <a:off x="7215464" y="2077724"/>
              <a:ext cx="144000" cy="144000"/>
            </a:xfrm>
            <a:prstGeom prst="ellipse">
              <a:avLst/>
            </a:prstGeom>
            <a:solidFill>
              <a:schemeClr val="bg1"/>
            </a:solidFill>
            <a:ln w="3175" cap="flat" cmpd="sng" algn="ctr">
              <a:solidFill>
                <a:schemeClr val="bg1">
                  <a:lumMod val="7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>
              <a:innerShdw blurRad="12700" dist="12700" dir="13500000">
                <a:schemeClr val="tx1">
                  <a:lumMod val="75000"/>
                  <a:lumOff val="25000"/>
                  <a:alpha val="30000"/>
                </a:schemeClr>
              </a:innerShdw>
            </a:effectLst>
          </p:spPr>
          <p:txBody>
  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fontAlgn="base" latinLnBrk="0">
                <a:spcBef>
                  <a:spcPct val="0"/>
                </a:spcBef>
                <a:spcAft>
                  <a:spcPct val="0"/>
                </a:spcAft>
              </a:pPr>
              <a:endParaRPr kumimoji="1" lang="ko-KR" altLang="en-US" sz="800" b="1" ker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304" name="TextBox 303">
              <a:extLst>
                <a:ext uri="{FF2B5EF4-FFF2-40B4-BE49-F238E27FC236}">
                  <a16:creationId xmlns="" xmlns:a16="http://schemas.microsoft.com/office/drawing/2014/main" id="{371DEE5A-1B36-43FA-89E6-F3BCF143BE9F}"/>
                </a:ext>
              </a:extLst>
            </p:cNvPr>
            <p:cNvSpPr txBox="1"/>
            <p:nvPr/>
          </p:nvSpPr>
          <p:spPr>
            <a:xfrm>
              <a:off x="7359464" y="2059511"/>
              <a:ext cx="141633" cy="180425"/>
            </a:xfrm>
            <a:prstGeom prst="rect">
              <a:avLst/>
            </a:prstGeom>
            <a:noFill/>
            <a:ln w="3175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none" lIns="36000" tIns="36000" rIns="36000" bIns="36000" numCol="1" rtlCol="0" anchor="ctr" anchorCtr="0" compatLnSpc="1">
              <a:prstTxWarp prst="textNoShape">
                <a:avLst/>
              </a:prstTxWarp>
              <a:spAutoFit/>
            </a:bodyPr>
            <a:lstStyle/>
            <a:p>
              <a:pPr algn="l"/>
              <a:r>
                <a:rPr lang="en-US" altLang="ko-KR" sz="70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N</a:t>
              </a:r>
              <a:endParaRPr lang="ko-KR" altLang="en-US" sz="70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endParaRPr>
            </a:p>
          </p:txBody>
        </p:sp>
      </p:grpSp>
      <p:sp>
        <p:nvSpPr>
          <p:cNvPr id="410" name="사각형: 둥근 모서리 370">
            <a:extLst>
              <a:ext uri="{FF2B5EF4-FFF2-40B4-BE49-F238E27FC236}">
                <a16:creationId xmlns="" xmlns:a16="http://schemas.microsoft.com/office/drawing/2014/main" id="{40426C93-54F4-4D06-9E1D-260D2A45518E}"/>
              </a:ext>
            </a:extLst>
          </p:cNvPr>
          <p:cNvSpPr/>
          <p:nvPr/>
        </p:nvSpPr>
        <p:spPr bwMode="auto">
          <a:xfrm>
            <a:off x="4891974" y="5281711"/>
            <a:ext cx="720000" cy="216000"/>
          </a:xfrm>
          <a:prstGeom prst="roundRect">
            <a:avLst/>
          </a:prstGeom>
          <a:solidFill>
            <a:srgbClr val="C00000"/>
          </a:solidFill>
          <a:ln w="3175" cap="flat" cmpd="sng" algn="ctr">
            <a:solidFill>
              <a:schemeClr val="bg1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>
            <a:outerShdw blurRad="12700" dist="12700" dir="2700000" algn="tl" rotWithShape="0">
              <a:schemeClr val="tx1">
                <a:lumMod val="75000"/>
                <a:lumOff val="25000"/>
                <a:alpha val="30000"/>
              </a:schemeClr>
            </a:outerShdw>
          </a:effectLst>
        </p:spPr>
        <p:txBody>
          <a:bodyPr rot="0" spcFirstLastPara="0" vertOverflow="overflow" horzOverflow="overflow" vert="horz" wrap="non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altLang="en-US" sz="700" i="0" u="none" strike="noStrike" kern="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</a:rPr>
              <a:t>수정</a:t>
            </a:r>
            <a:endParaRPr kumimoji="1" lang="ko-KR" altLang="en-US" sz="700" i="0" u="none" strike="noStrike" kern="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411" name="사각형: 둥근 모서리 370">
            <a:extLst>
              <a:ext uri="{FF2B5EF4-FFF2-40B4-BE49-F238E27FC236}">
                <a16:creationId xmlns="" xmlns:a16="http://schemas.microsoft.com/office/drawing/2014/main" id="{40426C93-54F4-4D06-9E1D-260D2A45518E}"/>
              </a:ext>
            </a:extLst>
          </p:cNvPr>
          <p:cNvSpPr/>
          <p:nvPr/>
        </p:nvSpPr>
        <p:spPr bwMode="auto">
          <a:xfrm>
            <a:off x="4029429" y="5281711"/>
            <a:ext cx="720000" cy="216000"/>
          </a:xfrm>
          <a:prstGeom prst="roundRect">
            <a:avLst/>
          </a:prstGeom>
          <a:solidFill>
            <a:schemeClr val="bg1"/>
          </a:solidFill>
          <a:ln w="3175" cap="flat" cmpd="sng" algn="ctr">
            <a:solidFill>
              <a:schemeClr val="bg1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>
            <a:outerShdw blurRad="12700" dist="12700" dir="2700000" algn="tl" rotWithShape="0">
              <a:schemeClr val="tx1">
                <a:lumMod val="75000"/>
                <a:lumOff val="25000"/>
                <a:alpha val="30000"/>
              </a:schemeClr>
            </a:outerShdw>
          </a:effectLst>
        </p:spPr>
        <p:txBody>
          <a:bodyPr rot="0" spcFirstLastPara="0" vertOverflow="overflow" horzOverflow="overflow" vert="horz" wrap="non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altLang="en-US" sz="700" i="0" u="none" strike="noStrike" kern="0" cap="none" spc="0" normalizeH="0" baseline="0" noProof="0" smtClean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n-ea"/>
              </a:rPr>
              <a:t>닫기</a:t>
            </a:r>
            <a:endParaRPr kumimoji="1" lang="ko-KR" altLang="en-US" sz="700" i="0" u="none" strike="noStrike" kern="0" cap="none" spc="0" normalizeH="0" baseline="0" noProof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477" name="직사각형 476">
            <a:extLst>
              <a:ext uri="{FF2B5EF4-FFF2-40B4-BE49-F238E27FC236}">
                <a16:creationId xmlns="" xmlns:a16="http://schemas.microsoft.com/office/drawing/2014/main" id="{E955F0F7-52A0-48E2-96C0-51A6B4AD6027}"/>
              </a:ext>
            </a:extLst>
          </p:cNvPr>
          <p:cNvSpPr/>
          <p:nvPr/>
        </p:nvSpPr>
        <p:spPr>
          <a:xfrm>
            <a:off x="827906" y="2977711"/>
            <a:ext cx="7992000" cy="2160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36000" rIns="36000" bIns="36000" rtlCol="0" anchor="ctr"/>
          <a:lstStyle/>
          <a:p>
            <a:endParaRPr lang="ko-KR" altLang="en-US" sz="700" b="1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12" name="직사각형 411">
            <a:extLst>
              <a:ext uri="{FF2B5EF4-FFF2-40B4-BE49-F238E27FC236}">
                <a16:creationId xmlns="" xmlns:a16="http://schemas.microsoft.com/office/drawing/2014/main" id="{E955F0F7-52A0-48E2-96C0-51A6B4AD6027}"/>
              </a:ext>
            </a:extLst>
          </p:cNvPr>
          <p:cNvSpPr/>
          <p:nvPr/>
        </p:nvSpPr>
        <p:spPr>
          <a:xfrm>
            <a:off x="827906" y="2977711"/>
            <a:ext cx="7992000" cy="288000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36000" rIns="36000" bIns="36000" rtlCol="0" anchor="ctr"/>
          <a:lstStyle/>
          <a:p>
            <a:endParaRPr lang="ko-KR" altLang="en-US" sz="700" b="1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18" name="직사각형 417"/>
          <p:cNvSpPr/>
          <p:nvPr/>
        </p:nvSpPr>
        <p:spPr>
          <a:xfrm>
            <a:off x="1115907" y="3265711"/>
            <a:ext cx="720000" cy="2160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70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대표브랜드코드</a:t>
            </a:r>
            <a:endParaRPr lang="ko-KR" altLang="en-US" sz="70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30" name="직사각형 429"/>
          <p:cNvSpPr/>
          <p:nvPr/>
        </p:nvSpPr>
        <p:spPr>
          <a:xfrm>
            <a:off x="1115907" y="3481882"/>
            <a:ext cx="720000" cy="216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7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5012</a:t>
            </a:r>
            <a:endParaRPr lang="en-US" altLang="ko-KR" sz="70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442" name="직사각형 441"/>
          <p:cNvSpPr/>
          <p:nvPr/>
        </p:nvSpPr>
        <p:spPr>
          <a:xfrm>
            <a:off x="1115907" y="3698053"/>
            <a:ext cx="720000" cy="216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7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2760</a:t>
            </a:r>
            <a:endParaRPr lang="en-US" altLang="ko-KR" sz="70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</a:endParaRPr>
          </a:p>
        </p:txBody>
      </p:sp>
      <p:grpSp>
        <p:nvGrpSpPr>
          <p:cNvPr id="479" name="그룹 478">
            <a:extLst>
              <a:ext uri="{FF2B5EF4-FFF2-40B4-BE49-F238E27FC236}">
                <a16:creationId xmlns="" xmlns:a16="http://schemas.microsoft.com/office/drawing/2014/main" id="{57ECD31F-788D-4171-BC56-21203531164F}"/>
              </a:ext>
            </a:extLst>
          </p:cNvPr>
          <p:cNvGrpSpPr/>
          <p:nvPr/>
        </p:nvGrpSpPr>
        <p:grpSpPr>
          <a:xfrm>
            <a:off x="827906" y="4993711"/>
            <a:ext cx="7992000" cy="144000"/>
            <a:chOff x="8787536" y="5061829"/>
            <a:chExt cx="7992000" cy="144000"/>
          </a:xfrm>
        </p:grpSpPr>
        <p:sp>
          <p:nvSpPr>
            <p:cNvPr id="481" name="직사각형 480">
              <a:extLst>
                <a:ext uri="{FF2B5EF4-FFF2-40B4-BE49-F238E27FC236}">
                  <a16:creationId xmlns="" xmlns:a16="http://schemas.microsoft.com/office/drawing/2014/main" id="{46DB708C-F6C9-4BC3-8798-5AEC8BA752B6}"/>
                </a:ext>
              </a:extLst>
            </p:cNvPr>
            <p:cNvSpPr/>
            <p:nvPr/>
          </p:nvSpPr>
          <p:spPr bwMode="auto">
            <a:xfrm>
              <a:off x="8787536" y="5061829"/>
              <a:ext cx="7992000" cy="144000"/>
            </a:xfrm>
            <a:prstGeom prst="rect">
              <a:avLst/>
            </a:prstGeom>
            <a:solidFill>
              <a:schemeClr val="bg1"/>
            </a:solidFill>
            <a:ln w="3175" cap="flat" cmpd="sng" algn="ctr">
              <a:solidFill>
                <a:schemeClr val="bg1">
                  <a:lumMod val="7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none" lIns="108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fontAlgn="base" latinLnBrk="0">
                <a:spcBef>
                  <a:spcPct val="0"/>
                </a:spcBef>
                <a:spcAft>
                  <a:spcPct val="0"/>
                </a:spcAft>
              </a:pPr>
              <a:endParaRPr kumimoji="1" lang="ko-KR" altLang="en-US" sz="700" kern="0">
                <a:solidFill>
                  <a:srgbClr val="000000"/>
                </a:solidFill>
                <a:latin typeface="+mn-ea"/>
              </a:endParaRPr>
            </a:p>
          </p:txBody>
        </p:sp>
        <p:sp>
          <p:nvSpPr>
            <p:cNvPr id="482" name="직사각형 481">
              <a:extLst>
                <a:ext uri="{FF2B5EF4-FFF2-40B4-BE49-F238E27FC236}">
                  <a16:creationId xmlns="" xmlns:a16="http://schemas.microsoft.com/office/drawing/2014/main" id="{CFA4A5C4-50A2-45F3-A6F7-13A35965A534}"/>
                </a:ext>
              </a:extLst>
            </p:cNvPr>
            <p:cNvSpPr/>
            <p:nvPr/>
          </p:nvSpPr>
          <p:spPr bwMode="auto">
            <a:xfrm>
              <a:off x="8787536" y="5061829"/>
              <a:ext cx="144000" cy="144000"/>
            </a:xfrm>
            <a:prstGeom prst="rect">
              <a:avLst/>
            </a:prstGeom>
            <a:noFill/>
            <a:ln w="317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non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fontAlgn="base" latinLnBrk="0">
                <a:spcBef>
                  <a:spcPct val="0"/>
                </a:spcBef>
                <a:spcAft>
                  <a:spcPct val="0"/>
                </a:spcAft>
              </a:pPr>
              <a:r>
                <a:rPr kumimoji="1" lang="ko-KR" altLang="en-US" sz="700" ker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◀</a:t>
              </a:r>
            </a:p>
          </p:txBody>
        </p:sp>
        <p:sp>
          <p:nvSpPr>
            <p:cNvPr id="483" name="직사각형 482">
              <a:extLst>
                <a:ext uri="{FF2B5EF4-FFF2-40B4-BE49-F238E27FC236}">
                  <a16:creationId xmlns="" xmlns:a16="http://schemas.microsoft.com/office/drawing/2014/main" id="{DE0FE1FF-26CD-4D0A-80D5-87996CA74226}"/>
                </a:ext>
              </a:extLst>
            </p:cNvPr>
            <p:cNvSpPr/>
            <p:nvPr/>
          </p:nvSpPr>
          <p:spPr bwMode="auto">
            <a:xfrm>
              <a:off x="16635536" y="5061829"/>
              <a:ext cx="144000" cy="144000"/>
            </a:xfrm>
            <a:prstGeom prst="rect">
              <a:avLst/>
            </a:prstGeom>
            <a:noFill/>
            <a:ln w="317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non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fontAlgn="base" latinLnBrk="0">
                <a:spcBef>
                  <a:spcPct val="0"/>
                </a:spcBef>
                <a:spcAft>
                  <a:spcPct val="0"/>
                </a:spcAft>
              </a:pPr>
              <a:r>
                <a:rPr kumimoji="1" lang="ko-KR" altLang="en-US" sz="700" ker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▶</a:t>
              </a:r>
            </a:p>
          </p:txBody>
        </p:sp>
        <p:sp>
          <p:nvSpPr>
            <p:cNvPr id="484" name="모서리가 둥근 직사각형 303">
              <a:extLst>
                <a:ext uri="{FF2B5EF4-FFF2-40B4-BE49-F238E27FC236}">
                  <a16:creationId xmlns="" xmlns:a16="http://schemas.microsoft.com/office/drawing/2014/main" id="{6B4E175A-EAD1-47E4-BC64-84F4A065D731}"/>
                </a:ext>
              </a:extLst>
            </p:cNvPr>
            <p:cNvSpPr/>
            <p:nvPr/>
          </p:nvSpPr>
          <p:spPr bwMode="auto">
            <a:xfrm>
              <a:off x="9031173" y="5097829"/>
              <a:ext cx="6480000" cy="72000"/>
            </a:xfrm>
            <a:prstGeom prst="roundRect">
              <a:avLst/>
            </a:prstGeom>
            <a:solidFill>
              <a:schemeClr val="bg1">
                <a:lumMod val="75000"/>
              </a:schemeClr>
            </a:solidFill>
            <a:ln w="3175" cap="flat" cmpd="sng" algn="ctr">
              <a:solidFill>
                <a:schemeClr val="bg1">
                  <a:lumMod val="7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none" lIns="36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fontAlgn="base" latinLnBrk="0">
                <a:spcBef>
                  <a:spcPct val="0"/>
                </a:spcBef>
                <a:spcAft>
                  <a:spcPct val="0"/>
                </a:spcAft>
              </a:pPr>
              <a:endParaRPr kumimoji="1" lang="ko-KR" altLang="en-US" sz="700" kern="0">
                <a:solidFill>
                  <a:srgbClr val="000000"/>
                </a:solidFill>
                <a:latin typeface="+mn-ea"/>
              </a:endParaRPr>
            </a:p>
          </p:txBody>
        </p:sp>
      </p:grpSp>
      <p:sp>
        <p:nvSpPr>
          <p:cNvPr id="161" name="사각형: 둥근 모서리 244">
            <a:extLst>
              <a:ext uri="{FF2B5EF4-FFF2-40B4-BE49-F238E27FC236}">
                <a16:creationId xmlns="" xmlns:a16="http://schemas.microsoft.com/office/drawing/2014/main" id="{6A3ABAA2-A5F4-4C8F-B9C8-C37B43E8884D}"/>
              </a:ext>
            </a:extLst>
          </p:cNvPr>
          <p:cNvSpPr/>
          <p:nvPr/>
        </p:nvSpPr>
        <p:spPr bwMode="auto">
          <a:xfrm>
            <a:off x="899906" y="3031711"/>
            <a:ext cx="504000" cy="18000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317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12700" dist="12700" dir="2700000" algn="tl" rotWithShape="0">
              <a:schemeClr val="tx1">
                <a:lumMod val="75000"/>
                <a:lumOff val="25000"/>
                <a:alpha val="30000"/>
              </a:schemeClr>
            </a:outerShdw>
          </a:effectLst>
        </p:spPr>
        <p:txBody>
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400" fontAlgn="base" latinLnBrk="0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700" kern="0" smtClean="0">
                <a:solidFill>
                  <a:schemeClr val="bg1"/>
                </a:solidFill>
                <a:latin typeface="+mn-ea"/>
              </a:rPr>
              <a:t>선택삭제</a:t>
            </a:r>
            <a:endParaRPr kumimoji="1" lang="ko-KR" altLang="en-US" sz="700" kern="0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163" name="직사각형 162"/>
          <p:cNvSpPr/>
          <p:nvPr/>
        </p:nvSpPr>
        <p:spPr>
          <a:xfrm>
            <a:off x="827906" y="3265711"/>
            <a:ext cx="288000" cy="2160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70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선택</a:t>
            </a:r>
          </a:p>
        </p:txBody>
      </p:sp>
      <p:sp>
        <p:nvSpPr>
          <p:cNvPr id="164" name="직사각형 163"/>
          <p:cNvSpPr/>
          <p:nvPr/>
        </p:nvSpPr>
        <p:spPr>
          <a:xfrm>
            <a:off x="827906" y="3481882"/>
            <a:ext cx="288000" cy="216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ko-KR" altLang="en-US" sz="70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65" name="직사각형 164"/>
          <p:cNvSpPr/>
          <p:nvPr/>
        </p:nvSpPr>
        <p:spPr>
          <a:xfrm>
            <a:off x="827906" y="3698053"/>
            <a:ext cx="288000" cy="216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ko-KR" altLang="en-US" sz="70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169" name="사각형: 둥근 모서리 393">
            <a:extLst>
              <a:ext uri="{FF2B5EF4-FFF2-40B4-BE49-F238E27FC236}">
                <a16:creationId xmlns="" xmlns:a16="http://schemas.microsoft.com/office/drawing/2014/main" id="{36E654BC-9DA7-40DE-810D-4DBC10DDAC9E}"/>
              </a:ext>
            </a:extLst>
          </p:cNvPr>
          <p:cNvSpPr/>
          <p:nvPr/>
        </p:nvSpPr>
        <p:spPr bwMode="auto">
          <a:xfrm>
            <a:off x="899906" y="3517882"/>
            <a:ext cx="144000" cy="144000"/>
          </a:xfrm>
          <a:prstGeom prst="roundRect">
            <a:avLst/>
          </a:prstGeom>
          <a:solidFill>
            <a:schemeClr val="bg1"/>
          </a:solidFill>
          <a:ln w="3175" cap="flat" cmpd="sng" algn="ctr">
            <a:solidFill>
              <a:schemeClr val="bg1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>
            <a:innerShdw blurRad="12700" dist="12700" dir="13500000">
              <a:schemeClr val="tx1">
                <a:lumMod val="75000"/>
                <a:lumOff val="25000"/>
                <a:alpha val="30000"/>
              </a:schemeClr>
            </a:innerShdw>
          </a:effectLst>
        </p:spPr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fontAlgn="base" latinLnBrk="0">
              <a:spcBef>
                <a:spcPct val="0"/>
              </a:spcBef>
              <a:spcAft>
                <a:spcPct val="0"/>
              </a:spcAft>
            </a:pPr>
            <a:endParaRPr kumimoji="1" lang="ko-KR" altLang="en-US" sz="700" b="1" kern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70" name="사각형: 둥근 모서리 393">
            <a:extLst>
              <a:ext uri="{FF2B5EF4-FFF2-40B4-BE49-F238E27FC236}">
                <a16:creationId xmlns="" xmlns:a16="http://schemas.microsoft.com/office/drawing/2014/main" id="{36E654BC-9DA7-40DE-810D-4DBC10DDAC9E}"/>
              </a:ext>
            </a:extLst>
          </p:cNvPr>
          <p:cNvSpPr/>
          <p:nvPr/>
        </p:nvSpPr>
        <p:spPr bwMode="auto">
          <a:xfrm>
            <a:off x="899906" y="3734053"/>
            <a:ext cx="144000" cy="144000"/>
          </a:xfrm>
          <a:prstGeom prst="roundRect">
            <a:avLst/>
          </a:prstGeom>
          <a:solidFill>
            <a:schemeClr val="bg1"/>
          </a:solidFill>
          <a:ln w="3175" cap="flat" cmpd="sng" algn="ctr">
            <a:solidFill>
              <a:schemeClr val="bg1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>
            <a:innerShdw blurRad="12700" dist="12700" dir="13500000">
              <a:schemeClr val="tx1">
                <a:lumMod val="75000"/>
                <a:lumOff val="25000"/>
                <a:alpha val="30000"/>
              </a:schemeClr>
            </a:innerShdw>
          </a:effectLst>
        </p:spPr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fontAlgn="base" latinLnBrk="0">
              <a:spcBef>
                <a:spcPct val="0"/>
              </a:spcBef>
              <a:spcAft>
                <a:spcPct val="0"/>
              </a:spcAft>
            </a:pPr>
            <a:endParaRPr kumimoji="1" lang="ko-KR" altLang="en-US" sz="700" b="1" kern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05" name="사각형: 둥근 모서리 244">
            <a:extLst>
              <a:ext uri="{FF2B5EF4-FFF2-40B4-BE49-F238E27FC236}">
                <a16:creationId xmlns="" xmlns:a16="http://schemas.microsoft.com/office/drawing/2014/main" id="{6A3ABAA2-A5F4-4C8F-B9C8-C37B43E8884D}"/>
              </a:ext>
            </a:extLst>
          </p:cNvPr>
          <p:cNvSpPr/>
          <p:nvPr/>
        </p:nvSpPr>
        <p:spPr bwMode="auto">
          <a:xfrm>
            <a:off x="8100037" y="3031711"/>
            <a:ext cx="648000" cy="18000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317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12700" dist="12700" dir="2700000" algn="tl" rotWithShape="0">
              <a:schemeClr val="tx1">
                <a:lumMod val="75000"/>
                <a:lumOff val="25000"/>
                <a:alpha val="30000"/>
              </a:schemeClr>
            </a:outerShdw>
          </a:effectLst>
        </p:spPr>
        <p:txBody>
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400" fontAlgn="base" latinLnBrk="0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700" kern="0" smtClean="0">
                <a:solidFill>
                  <a:schemeClr val="bg1"/>
                </a:solidFill>
                <a:latin typeface="+mn-ea"/>
              </a:rPr>
              <a:t>브랜드 추가</a:t>
            </a:r>
            <a:endParaRPr kumimoji="1" lang="ko-KR" altLang="en-US" sz="700" kern="0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413" name="직사각형 412"/>
          <p:cNvSpPr/>
          <p:nvPr/>
        </p:nvSpPr>
        <p:spPr>
          <a:xfrm>
            <a:off x="1115907" y="3914224"/>
            <a:ext cx="720000" cy="216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7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1017</a:t>
            </a:r>
            <a:endParaRPr lang="ko-KR" altLang="en-US" sz="70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419" name="직사각형 418"/>
          <p:cNvSpPr/>
          <p:nvPr/>
        </p:nvSpPr>
        <p:spPr>
          <a:xfrm>
            <a:off x="1835907" y="3265711"/>
            <a:ext cx="1224000" cy="2160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70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대표브랜드</a:t>
            </a:r>
            <a:endParaRPr lang="ko-KR" altLang="en-US" sz="70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31" name="직사각형 430"/>
          <p:cNvSpPr/>
          <p:nvPr/>
        </p:nvSpPr>
        <p:spPr>
          <a:xfrm>
            <a:off x="1835907" y="3481882"/>
            <a:ext cx="1224000" cy="216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700" b="1" u="sng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OOFOS</a:t>
            </a:r>
            <a:endParaRPr lang="en-US" altLang="ko-KR" sz="700" b="1" u="sng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443" name="직사각형 442"/>
          <p:cNvSpPr/>
          <p:nvPr/>
        </p:nvSpPr>
        <p:spPr>
          <a:xfrm>
            <a:off x="1835907" y="3698053"/>
            <a:ext cx="1224000" cy="216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700" b="1" u="sng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GREYMER</a:t>
            </a:r>
            <a:endParaRPr lang="en-US" altLang="ko-KR" sz="700" b="1" u="sng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414" name="직사각형 413"/>
          <p:cNvSpPr/>
          <p:nvPr/>
        </p:nvSpPr>
        <p:spPr>
          <a:xfrm>
            <a:off x="1835907" y="3914224"/>
            <a:ext cx="1224000" cy="216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700" b="1" u="sng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JILLSTUART NEW YORK</a:t>
            </a:r>
          </a:p>
        </p:txBody>
      </p:sp>
      <p:sp>
        <p:nvSpPr>
          <p:cNvPr id="427" name="직사각형 426"/>
          <p:cNvSpPr/>
          <p:nvPr/>
        </p:nvSpPr>
        <p:spPr>
          <a:xfrm>
            <a:off x="8459906" y="3265711"/>
            <a:ext cx="360000" cy="2160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70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…</a:t>
            </a:r>
            <a:endParaRPr lang="ko-KR" altLang="en-US" sz="70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39" name="직사각형 438"/>
          <p:cNvSpPr/>
          <p:nvPr/>
        </p:nvSpPr>
        <p:spPr>
          <a:xfrm>
            <a:off x="8459906" y="3481882"/>
            <a:ext cx="360000" cy="216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7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…</a:t>
            </a:r>
            <a:endParaRPr lang="en-US" altLang="ko-KR" sz="70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451" name="직사각형 450"/>
          <p:cNvSpPr/>
          <p:nvPr/>
        </p:nvSpPr>
        <p:spPr>
          <a:xfrm>
            <a:off x="8459906" y="3698053"/>
            <a:ext cx="360000" cy="216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7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…</a:t>
            </a:r>
            <a:endParaRPr lang="en-US" altLang="ko-KR" sz="70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420" name="직사각형 419"/>
          <p:cNvSpPr/>
          <p:nvPr/>
        </p:nvSpPr>
        <p:spPr>
          <a:xfrm>
            <a:off x="3059652" y="3265711"/>
            <a:ext cx="720000" cy="2160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70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브랜드코드</a:t>
            </a:r>
            <a:endParaRPr lang="ko-KR" altLang="en-US" sz="70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32" name="직사각형 431"/>
          <p:cNvSpPr/>
          <p:nvPr/>
        </p:nvSpPr>
        <p:spPr>
          <a:xfrm>
            <a:off x="3059652" y="3481882"/>
            <a:ext cx="720000" cy="216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700" b="1" u="sng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C02L</a:t>
            </a:r>
            <a:endParaRPr lang="en-US" altLang="ko-KR" sz="700" b="1" u="sng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444" name="직사각형 443"/>
          <p:cNvSpPr/>
          <p:nvPr/>
        </p:nvSpPr>
        <p:spPr>
          <a:xfrm>
            <a:off x="3059652" y="3698053"/>
            <a:ext cx="720000" cy="216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700" b="1" u="sng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C352</a:t>
            </a:r>
            <a:endParaRPr lang="en-US" altLang="ko-KR" sz="700" b="1" u="sng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421" name="직사각형 420"/>
          <p:cNvSpPr/>
          <p:nvPr/>
        </p:nvSpPr>
        <p:spPr>
          <a:xfrm>
            <a:off x="3779652" y="3265711"/>
            <a:ext cx="1080000" cy="2160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70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브랜드한글명</a:t>
            </a:r>
            <a:endParaRPr lang="ko-KR" altLang="en-US" sz="70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22" name="직사각형 421"/>
          <p:cNvSpPr/>
          <p:nvPr/>
        </p:nvSpPr>
        <p:spPr>
          <a:xfrm>
            <a:off x="4860466" y="3265711"/>
            <a:ext cx="1440000" cy="2160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70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브랜드영문명</a:t>
            </a:r>
            <a:endParaRPr lang="ko-KR" altLang="en-US" sz="70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33" name="직사각형 432"/>
          <p:cNvSpPr/>
          <p:nvPr/>
        </p:nvSpPr>
        <p:spPr>
          <a:xfrm>
            <a:off x="3779652" y="3481882"/>
            <a:ext cx="1080000" cy="216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7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우포스</a:t>
            </a:r>
            <a:endParaRPr lang="ko-KR" altLang="en-US" sz="70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434" name="직사각형 433"/>
          <p:cNvSpPr/>
          <p:nvPr/>
        </p:nvSpPr>
        <p:spPr>
          <a:xfrm>
            <a:off x="4860466" y="3481882"/>
            <a:ext cx="1440000" cy="216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7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OOFOS</a:t>
            </a:r>
          </a:p>
        </p:txBody>
      </p:sp>
      <p:sp>
        <p:nvSpPr>
          <p:cNvPr id="445" name="직사각형 444"/>
          <p:cNvSpPr/>
          <p:nvPr/>
        </p:nvSpPr>
        <p:spPr>
          <a:xfrm>
            <a:off x="3779652" y="3698053"/>
            <a:ext cx="1080000" cy="216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7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그레이머</a:t>
            </a:r>
            <a:endParaRPr lang="ko-KR" altLang="en-US" sz="70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446" name="직사각형 445"/>
          <p:cNvSpPr/>
          <p:nvPr/>
        </p:nvSpPr>
        <p:spPr>
          <a:xfrm>
            <a:off x="4860466" y="3698053"/>
            <a:ext cx="1440000" cy="216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7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GREYMER</a:t>
            </a:r>
          </a:p>
        </p:txBody>
      </p:sp>
      <p:sp>
        <p:nvSpPr>
          <p:cNvPr id="415" name="직사각형 414"/>
          <p:cNvSpPr/>
          <p:nvPr/>
        </p:nvSpPr>
        <p:spPr>
          <a:xfrm>
            <a:off x="3059652" y="3914224"/>
            <a:ext cx="720000" cy="216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700" b="1" u="sng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JF</a:t>
            </a:r>
            <a:endParaRPr lang="ko-KR" altLang="en-US" sz="700" b="1" u="sng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416" name="직사각형 415"/>
          <p:cNvSpPr/>
          <p:nvPr/>
        </p:nvSpPr>
        <p:spPr>
          <a:xfrm>
            <a:off x="3779652" y="3914224"/>
            <a:ext cx="1080000" cy="216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7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질스튜어트 뉴욕 스포츠</a:t>
            </a:r>
            <a:endParaRPr lang="ko-KR" altLang="en-US" sz="70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417" name="직사각형 416"/>
          <p:cNvSpPr/>
          <p:nvPr/>
        </p:nvSpPr>
        <p:spPr>
          <a:xfrm>
            <a:off x="4860466" y="3914224"/>
            <a:ext cx="1440000" cy="216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7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JILLSTUART NEW YORK SPORT</a:t>
            </a:r>
          </a:p>
        </p:txBody>
      </p:sp>
      <p:sp>
        <p:nvSpPr>
          <p:cNvPr id="423" name="직사각형 422"/>
          <p:cNvSpPr/>
          <p:nvPr/>
        </p:nvSpPr>
        <p:spPr>
          <a:xfrm>
            <a:off x="6300644" y="3265711"/>
            <a:ext cx="1440000" cy="2160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70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브랜드그룹명</a:t>
            </a:r>
            <a:endParaRPr lang="ko-KR" altLang="en-US" sz="70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35" name="직사각형 434"/>
          <p:cNvSpPr/>
          <p:nvPr/>
        </p:nvSpPr>
        <p:spPr>
          <a:xfrm>
            <a:off x="6300644" y="3481882"/>
            <a:ext cx="1440000" cy="216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7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OOFOS</a:t>
            </a:r>
            <a:endParaRPr lang="ko-KR" altLang="en-US" sz="70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447" name="직사각형 446"/>
          <p:cNvSpPr/>
          <p:nvPr/>
        </p:nvSpPr>
        <p:spPr>
          <a:xfrm>
            <a:off x="6300644" y="3698053"/>
            <a:ext cx="1440000" cy="216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7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GREYMER</a:t>
            </a:r>
            <a:endParaRPr lang="ko-KR" altLang="en-US" sz="70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454" name="직사각형 453"/>
          <p:cNvSpPr/>
          <p:nvPr/>
        </p:nvSpPr>
        <p:spPr>
          <a:xfrm>
            <a:off x="6300644" y="3914224"/>
            <a:ext cx="1440000" cy="216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7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JILLSTUART NEW YORK SPORT</a:t>
            </a:r>
            <a:endParaRPr lang="ko-KR" altLang="en-US" sz="70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424" name="직사각형 423"/>
          <p:cNvSpPr/>
          <p:nvPr/>
        </p:nvSpPr>
        <p:spPr>
          <a:xfrm>
            <a:off x="7740161" y="3265711"/>
            <a:ext cx="720000" cy="2160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70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업체코드</a:t>
            </a:r>
            <a:endParaRPr lang="ko-KR" altLang="en-US" sz="70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36" name="직사각형 435"/>
          <p:cNvSpPr/>
          <p:nvPr/>
        </p:nvSpPr>
        <p:spPr>
          <a:xfrm>
            <a:off x="7740161" y="3481882"/>
            <a:ext cx="720000" cy="216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defTabSz="914400" fontAlgn="base" latinLnBrk="0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700" ker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LGF</a:t>
            </a:r>
          </a:p>
        </p:txBody>
      </p:sp>
      <p:sp>
        <p:nvSpPr>
          <p:cNvPr id="448" name="직사각형 447"/>
          <p:cNvSpPr/>
          <p:nvPr/>
        </p:nvSpPr>
        <p:spPr>
          <a:xfrm>
            <a:off x="7740161" y="3698053"/>
            <a:ext cx="720000" cy="216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defTabSz="914400" fontAlgn="base" latinLnBrk="0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700" ker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LGF</a:t>
            </a:r>
          </a:p>
        </p:txBody>
      </p:sp>
      <p:sp>
        <p:nvSpPr>
          <p:cNvPr id="455" name="직사각형 454"/>
          <p:cNvSpPr/>
          <p:nvPr/>
        </p:nvSpPr>
        <p:spPr>
          <a:xfrm>
            <a:off x="7740161" y="3914224"/>
            <a:ext cx="720000" cy="216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defTabSz="914400" fontAlgn="base" latinLnBrk="0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700" ker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LGF</a:t>
            </a:r>
          </a:p>
        </p:txBody>
      </p:sp>
      <p:sp>
        <p:nvSpPr>
          <p:cNvPr id="458" name="직사각형 457"/>
          <p:cNvSpPr/>
          <p:nvPr/>
        </p:nvSpPr>
        <p:spPr>
          <a:xfrm>
            <a:off x="8459906" y="3914224"/>
            <a:ext cx="360000" cy="216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7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…</a:t>
            </a:r>
            <a:endParaRPr lang="en-US" altLang="ko-KR" sz="70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459" name="직사각형 458"/>
          <p:cNvSpPr/>
          <p:nvPr/>
        </p:nvSpPr>
        <p:spPr>
          <a:xfrm>
            <a:off x="827906" y="3914224"/>
            <a:ext cx="288000" cy="216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ko-KR" altLang="en-US" sz="70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460" name="사각형: 둥근 모서리 393">
            <a:extLst>
              <a:ext uri="{FF2B5EF4-FFF2-40B4-BE49-F238E27FC236}">
                <a16:creationId xmlns="" xmlns:a16="http://schemas.microsoft.com/office/drawing/2014/main" id="{36E654BC-9DA7-40DE-810D-4DBC10DDAC9E}"/>
              </a:ext>
            </a:extLst>
          </p:cNvPr>
          <p:cNvSpPr/>
          <p:nvPr/>
        </p:nvSpPr>
        <p:spPr bwMode="auto">
          <a:xfrm>
            <a:off x="899906" y="3950224"/>
            <a:ext cx="144000" cy="144000"/>
          </a:xfrm>
          <a:prstGeom prst="roundRect">
            <a:avLst/>
          </a:prstGeom>
          <a:solidFill>
            <a:schemeClr val="bg1"/>
          </a:solidFill>
          <a:ln w="3175" cap="flat" cmpd="sng" algn="ctr">
            <a:solidFill>
              <a:schemeClr val="bg1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>
            <a:innerShdw blurRad="12700" dist="12700" dir="13500000">
              <a:schemeClr val="tx1">
                <a:lumMod val="75000"/>
                <a:lumOff val="25000"/>
                <a:alpha val="30000"/>
              </a:schemeClr>
            </a:innerShdw>
          </a:effectLst>
        </p:spPr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fontAlgn="base" latinLnBrk="0">
              <a:spcBef>
                <a:spcPct val="0"/>
              </a:spcBef>
              <a:spcAft>
                <a:spcPct val="0"/>
              </a:spcAft>
            </a:pPr>
            <a:endParaRPr kumimoji="1" lang="ko-KR" altLang="en-US" sz="700" b="1" kern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66" name="직사각형 165"/>
          <p:cNvSpPr/>
          <p:nvPr/>
        </p:nvSpPr>
        <p:spPr>
          <a:xfrm>
            <a:off x="1115907" y="4129802"/>
            <a:ext cx="720000" cy="216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7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15727</a:t>
            </a:r>
          </a:p>
        </p:txBody>
      </p:sp>
      <p:sp>
        <p:nvSpPr>
          <p:cNvPr id="167" name="직사각형 166"/>
          <p:cNvSpPr/>
          <p:nvPr/>
        </p:nvSpPr>
        <p:spPr>
          <a:xfrm>
            <a:off x="1115907" y="4345973"/>
            <a:ext cx="720000" cy="216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7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1697</a:t>
            </a:r>
          </a:p>
        </p:txBody>
      </p:sp>
      <p:sp>
        <p:nvSpPr>
          <p:cNvPr id="168" name="직사각형 167"/>
          <p:cNvSpPr/>
          <p:nvPr/>
        </p:nvSpPr>
        <p:spPr>
          <a:xfrm>
            <a:off x="827906" y="4129802"/>
            <a:ext cx="288000" cy="216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ko-KR" altLang="en-US" sz="70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71" name="직사각형 170"/>
          <p:cNvSpPr/>
          <p:nvPr/>
        </p:nvSpPr>
        <p:spPr>
          <a:xfrm>
            <a:off x="827906" y="4345973"/>
            <a:ext cx="288000" cy="216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ko-KR" altLang="en-US" sz="70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172" name="사각형: 둥근 모서리 393">
            <a:extLst>
              <a:ext uri="{FF2B5EF4-FFF2-40B4-BE49-F238E27FC236}">
                <a16:creationId xmlns="" xmlns:a16="http://schemas.microsoft.com/office/drawing/2014/main" id="{36E654BC-9DA7-40DE-810D-4DBC10DDAC9E}"/>
              </a:ext>
            </a:extLst>
          </p:cNvPr>
          <p:cNvSpPr/>
          <p:nvPr/>
        </p:nvSpPr>
        <p:spPr bwMode="auto">
          <a:xfrm>
            <a:off x="899906" y="4165802"/>
            <a:ext cx="144000" cy="144000"/>
          </a:xfrm>
          <a:prstGeom prst="roundRect">
            <a:avLst/>
          </a:prstGeom>
          <a:solidFill>
            <a:schemeClr val="bg1"/>
          </a:solidFill>
          <a:ln w="3175" cap="flat" cmpd="sng" algn="ctr">
            <a:solidFill>
              <a:schemeClr val="bg1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>
            <a:innerShdw blurRad="12700" dist="12700" dir="13500000">
              <a:schemeClr val="tx1">
                <a:lumMod val="75000"/>
                <a:lumOff val="25000"/>
                <a:alpha val="30000"/>
              </a:schemeClr>
            </a:innerShdw>
          </a:effectLst>
        </p:spPr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fontAlgn="base" latinLnBrk="0">
              <a:spcBef>
                <a:spcPct val="0"/>
              </a:spcBef>
              <a:spcAft>
                <a:spcPct val="0"/>
              </a:spcAft>
            </a:pPr>
            <a:endParaRPr kumimoji="1" lang="ko-KR" altLang="en-US" sz="700" b="1" kern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73" name="사각형: 둥근 모서리 393">
            <a:extLst>
              <a:ext uri="{FF2B5EF4-FFF2-40B4-BE49-F238E27FC236}">
                <a16:creationId xmlns="" xmlns:a16="http://schemas.microsoft.com/office/drawing/2014/main" id="{36E654BC-9DA7-40DE-810D-4DBC10DDAC9E}"/>
              </a:ext>
            </a:extLst>
          </p:cNvPr>
          <p:cNvSpPr/>
          <p:nvPr/>
        </p:nvSpPr>
        <p:spPr bwMode="auto">
          <a:xfrm>
            <a:off x="899906" y="4381973"/>
            <a:ext cx="144000" cy="144000"/>
          </a:xfrm>
          <a:prstGeom prst="roundRect">
            <a:avLst/>
          </a:prstGeom>
          <a:solidFill>
            <a:schemeClr val="bg1"/>
          </a:solidFill>
          <a:ln w="3175" cap="flat" cmpd="sng" algn="ctr">
            <a:solidFill>
              <a:schemeClr val="bg1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>
            <a:innerShdw blurRad="12700" dist="12700" dir="13500000">
              <a:schemeClr val="tx1">
                <a:lumMod val="75000"/>
                <a:lumOff val="25000"/>
                <a:alpha val="30000"/>
              </a:schemeClr>
            </a:innerShdw>
          </a:effectLst>
        </p:spPr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fontAlgn="base" latinLnBrk="0">
              <a:spcBef>
                <a:spcPct val="0"/>
              </a:spcBef>
              <a:spcAft>
                <a:spcPct val="0"/>
              </a:spcAft>
            </a:pPr>
            <a:endParaRPr kumimoji="1" lang="ko-KR" altLang="en-US" sz="700" b="1" kern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74" name="직사각형 173"/>
          <p:cNvSpPr/>
          <p:nvPr/>
        </p:nvSpPr>
        <p:spPr>
          <a:xfrm>
            <a:off x="1115907" y="4562144"/>
            <a:ext cx="720000" cy="216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7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3816</a:t>
            </a:r>
            <a:endParaRPr lang="ko-KR" altLang="en-US" sz="70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175" name="직사각형 174"/>
          <p:cNvSpPr/>
          <p:nvPr/>
        </p:nvSpPr>
        <p:spPr>
          <a:xfrm>
            <a:off x="1835907" y="4129802"/>
            <a:ext cx="1224000" cy="216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700" b="1" u="sng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TAKE ME</a:t>
            </a:r>
          </a:p>
        </p:txBody>
      </p:sp>
      <p:sp>
        <p:nvSpPr>
          <p:cNvPr id="176" name="직사각형 175"/>
          <p:cNvSpPr/>
          <p:nvPr/>
        </p:nvSpPr>
        <p:spPr>
          <a:xfrm>
            <a:off x="1835907" y="4345973"/>
            <a:ext cx="1224000" cy="216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700" b="1" u="sng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GRAMICCI</a:t>
            </a:r>
          </a:p>
        </p:txBody>
      </p:sp>
      <p:sp>
        <p:nvSpPr>
          <p:cNvPr id="177" name="직사각형 176"/>
          <p:cNvSpPr/>
          <p:nvPr/>
        </p:nvSpPr>
        <p:spPr>
          <a:xfrm>
            <a:off x="1835907" y="4562144"/>
            <a:ext cx="1224000" cy="216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700" b="1" u="sng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PILGRIM</a:t>
            </a:r>
          </a:p>
        </p:txBody>
      </p:sp>
      <p:sp>
        <p:nvSpPr>
          <p:cNvPr id="178" name="직사각형 177"/>
          <p:cNvSpPr/>
          <p:nvPr/>
        </p:nvSpPr>
        <p:spPr>
          <a:xfrm>
            <a:off x="8459906" y="4129802"/>
            <a:ext cx="360000" cy="216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7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…</a:t>
            </a:r>
            <a:endParaRPr lang="en-US" altLang="ko-KR" sz="70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179" name="직사각형 178"/>
          <p:cNvSpPr/>
          <p:nvPr/>
        </p:nvSpPr>
        <p:spPr>
          <a:xfrm>
            <a:off x="8459906" y="4345973"/>
            <a:ext cx="360000" cy="216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7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…</a:t>
            </a:r>
            <a:endParaRPr lang="en-US" altLang="ko-KR" sz="70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180" name="직사각형 179"/>
          <p:cNvSpPr/>
          <p:nvPr/>
        </p:nvSpPr>
        <p:spPr>
          <a:xfrm>
            <a:off x="3059652" y="4129802"/>
            <a:ext cx="720000" cy="216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700" b="1" u="sng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C605</a:t>
            </a:r>
          </a:p>
        </p:txBody>
      </p:sp>
      <p:sp>
        <p:nvSpPr>
          <p:cNvPr id="185" name="직사각형 184"/>
          <p:cNvSpPr/>
          <p:nvPr/>
        </p:nvSpPr>
        <p:spPr>
          <a:xfrm>
            <a:off x="3059652" y="4345973"/>
            <a:ext cx="720000" cy="216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700" b="1" u="sng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C415</a:t>
            </a:r>
          </a:p>
        </p:txBody>
      </p:sp>
      <p:sp>
        <p:nvSpPr>
          <p:cNvPr id="186" name="직사각형 185"/>
          <p:cNvSpPr/>
          <p:nvPr/>
        </p:nvSpPr>
        <p:spPr>
          <a:xfrm>
            <a:off x="3779652" y="4129802"/>
            <a:ext cx="1080000" cy="216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7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테이크 </a:t>
            </a:r>
            <a:r>
              <a:rPr lang="ko-KR" altLang="en-US" sz="7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미</a:t>
            </a:r>
            <a:endParaRPr lang="ko-KR" altLang="en-US" sz="70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187" name="직사각형 186"/>
          <p:cNvSpPr/>
          <p:nvPr/>
        </p:nvSpPr>
        <p:spPr>
          <a:xfrm>
            <a:off x="4860466" y="4129802"/>
            <a:ext cx="1440000" cy="216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7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TAKE ME</a:t>
            </a:r>
          </a:p>
        </p:txBody>
      </p:sp>
      <p:sp>
        <p:nvSpPr>
          <p:cNvPr id="188" name="직사각형 187"/>
          <p:cNvSpPr/>
          <p:nvPr/>
        </p:nvSpPr>
        <p:spPr>
          <a:xfrm>
            <a:off x="3779652" y="4345973"/>
            <a:ext cx="1080000" cy="216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7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그라미치</a:t>
            </a:r>
            <a:endParaRPr lang="ko-KR" altLang="en-US" sz="70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189" name="직사각형 188"/>
          <p:cNvSpPr/>
          <p:nvPr/>
        </p:nvSpPr>
        <p:spPr>
          <a:xfrm>
            <a:off x="4860466" y="4345973"/>
            <a:ext cx="1440000" cy="216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7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GRAMICCI</a:t>
            </a:r>
          </a:p>
        </p:txBody>
      </p:sp>
      <p:sp>
        <p:nvSpPr>
          <p:cNvPr id="190" name="직사각형 189"/>
          <p:cNvSpPr/>
          <p:nvPr/>
        </p:nvSpPr>
        <p:spPr>
          <a:xfrm>
            <a:off x="3059652" y="4562144"/>
            <a:ext cx="720000" cy="216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700" b="1" u="sng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B015</a:t>
            </a:r>
            <a:endParaRPr lang="ko-KR" altLang="en-US" sz="700" b="1" u="sng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191" name="직사각형 190"/>
          <p:cNvSpPr/>
          <p:nvPr/>
        </p:nvSpPr>
        <p:spPr>
          <a:xfrm>
            <a:off x="3779652" y="4562144"/>
            <a:ext cx="1080000" cy="216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7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필그림</a:t>
            </a:r>
          </a:p>
        </p:txBody>
      </p:sp>
      <p:sp>
        <p:nvSpPr>
          <p:cNvPr id="192" name="직사각형 191"/>
          <p:cNvSpPr/>
          <p:nvPr/>
        </p:nvSpPr>
        <p:spPr>
          <a:xfrm>
            <a:off x="4860466" y="4562144"/>
            <a:ext cx="1440000" cy="216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7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PILGRIM</a:t>
            </a:r>
          </a:p>
        </p:txBody>
      </p:sp>
      <p:sp>
        <p:nvSpPr>
          <p:cNvPr id="193" name="직사각형 192"/>
          <p:cNvSpPr/>
          <p:nvPr/>
        </p:nvSpPr>
        <p:spPr>
          <a:xfrm>
            <a:off x="6300644" y="4129802"/>
            <a:ext cx="1440000" cy="216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7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TAKE ME</a:t>
            </a:r>
          </a:p>
        </p:txBody>
      </p:sp>
      <p:sp>
        <p:nvSpPr>
          <p:cNvPr id="194" name="직사각형 193"/>
          <p:cNvSpPr/>
          <p:nvPr/>
        </p:nvSpPr>
        <p:spPr>
          <a:xfrm>
            <a:off x="6300644" y="4345973"/>
            <a:ext cx="1440000" cy="216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7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GRAMICCI</a:t>
            </a:r>
            <a:endParaRPr lang="ko-KR" altLang="en-US" sz="70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195" name="직사각형 194"/>
          <p:cNvSpPr/>
          <p:nvPr/>
        </p:nvSpPr>
        <p:spPr>
          <a:xfrm>
            <a:off x="6300644" y="4562144"/>
            <a:ext cx="1440000" cy="216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7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PILGRIM</a:t>
            </a:r>
            <a:endParaRPr lang="ko-KR" altLang="en-US" sz="70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196" name="직사각형 195"/>
          <p:cNvSpPr/>
          <p:nvPr/>
        </p:nvSpPr>
        <p:spPr>
          <a:xfrm>
            <a:off x="7740161" y="4129802"/>
            <a:ext cx="720000" cy="216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defTabSz="914400" fontAlgn="base" latinLnBrk="0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700" ker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LGF</a:t>
            </a:r>
          </a:p>
        </p:txBody>
      </p:sp>
      <p:sp>
        <p:nvSpPr>
          <p:cNvPr id="197" name="직사각형 196"/>
          <p:cNvSpPr/>
          <p:nvPr/>
        </p:nvSpPr>
        <p:spPr>
          <a:xfrm>
            <a:off x="7740161" y="4345973"/>
            <a:ext cx="720000" cy="216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defTabSz="914400" fontAlgn="base" latinLnBrk="0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700" ker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LGF</a:t>
            </a:r>
          </a:p>
        </p:txBody>
      </p:sp>
      <p:sp>
        <p:nvSpPr>
          <p:cNvPr id="198" name="직사각형 197"/>
          <p:cNvSpPr/>
          <p:nvPr/>
        </p:nvSpPr>
        <p:spPr>
          <a:xfrm>
            <a:off x="7740161" y="4562144"/>
            <a:ext cx="720000" cy="216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defTabSz="914400" fontAlgn="base" latinLnBrk="0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700" ker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LGF</a:t>
            </a:r>
          </a:p>
        </p:txBody>
      </p:sp>
      <p:sp>
        <p:nvSpPr>
          <p:cNvPr id="199" name="직사각형 198"/>
          <p:cNvSpPr/>
          <p:nvPr/>
        </p:nvSpPr>
        <p:spPr>
          <a:xfrm>
            <a:off x="8459906" y="4562144"/>
            <a:ext cx="360000" cy="216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7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…</a:t>
            </a:r>
            <a:endParaRPr lang="en-US" altLang="ko-KR" sz="70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205" name="직사각형 204"/>
          <p:cNvSpPr/>
          <p:nvPr/>
        </p:nvSpPr>
        <p:spPr>
          <a:xfrm>
            <a:off x="827906" y="4562144"/>
            <a:ext cx="288000" cy="216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ko-KR" altLang="en-US" sz="70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206" name="사각형: 둥근 모서리 393">
            <a:extLst>
              <a:ext uri="{FF2B5EF4-FFF2-40B4-BE49-F238E27FC236}">
                <a16:creationId xmlns="" xmlns:a16="http://schemas.microsoft.com/office/drawing/2014/main" id="{36E654BC-9DA7-40DE-810D-4DBC10DDAC9E}"/>
              </a:ext>
            </a:extLst>
          </p:cNvPr>
          <p:cNvSpPr/>
          <p:nvPr/>
        </p:nvSpPr>
        <p:spPr bwMode="auto">
          <a:xfrm>
            <a:off x="899906" y="4598144"/>
            <a:ext cx="144000" cy="144000"/>
          </a:xfrm>
          <a:prstGeom prst="roundRect">
            <a:avLst/>
          </a:prstGeom>
          <a:solidFill>
            <a:schemeClr val="bg1"/>
          </a:solidFill>
          <a:ln w="3175" cap="flat" cmpd="sng" algn="ctr">
            <a:solidFill>
              <a:schemeClr val="bg1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>
            <a:innerShdw blurRad="12700" dist="12700" dir="13500000">
              <a:schemeClr val="tx1">
                <a:lumMod val="75000"/>
                <a:lumOff val="25000"/>
                <a:alpha val="30000"/>
              </a:schemeClr>
            </a:innerShdw>
          </a:effectLst>
        </p:spPr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fontAlgn="base" latinLnBrk="0">
              <a:spcBef>
                <a:spcPct val="0"/>
              </a:spcBef>
              <a:spcAft>
                <a:spcPct val="0"/>
              </a:spcAft>
            </a:pPr>
            <a:endParaRPr kumimoji="1" lang="ko-KR" altLang="en-US" sz="700" b="1" kern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306" name="그룹 305"/>
          <p:cNvGrpSpPr/>
          <p:nvPr/>
        </p:nvGrpSpPr>
        <p:grpSpPr>
          <a:xfrm>
            <a:off x="8388911" y="2417464"/>
            <a:ext cx="3600000" cy="4248000"/>
            <a:chOff x="8423906" y="2477259"/>
            <a:chExt cx="3600000" cy="4248000"/>
          </a:xfrm>
        </p:grpSpPr>
        <p:sp>
          <p:nvSpPr>
            <p:cNvPr id="307" name="모서리가 둥근 직사각형 306"/>
            <p:cNvSpPr/>
            <p:nvPr/>
          </p:nvSpPr>
          <p:spPr>
            <a:xfrm>
              <a:off x="9682848" y="3162079"/>
              <a:ext cx="2160000" cy="288000"/>
            </a:xfrm>
            <a:prstGeom prst="roundRect">
              <a:avLst/>
            </a:prstGeom>
            <a:solidFill>
              <a:schemeClr val="tx1">
                <a:lumMod val="75000"/>
                <a:lumOff val="25000"/>
              </a:schemeClr>
            </a:solidFill>
            <a:ln w="3175" cap="flat" cmpd="sng" algn="ctr">
              <a:solidFill>
                <a:schemeClr val="bg1">
                  <a:lumMod val="7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12700" dist="12700" dir="2700000" algn="tl" rotWithShape="0">
                <a:schemeClr val="tx1">
                  <a:lumMod val="75000"/>
                  <a:lumOff val="25000"/>
                  <a:alpha val="30000"/>
                </a:schemeClr>
              </a:outerShdw>
            </a:effectLst>
          </p:spPr>
          <p:txBody>
            <a:bodyPr rot="0" spcFirstLastPara="0" vertOverflow="overflow" horzOverflow="overflow" vert="horz" wrap="non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14400" fontAlgn="base" latinLnBrk="0">
                <a:spcBef>
                  <a:spcPct val="0"/>
                </a:spcBef>
                <a:spcAft>
                  <a:spcPct val="0"/>
                </a:spcAft>
              </a:pPr>
              <a:r>
                <a:rPr kumimoji="1" lang="ko-KR" altLang="en-US" sz="700" kern="0">
                  <a:solidFill>
                    <a:schemeClr val="bg1"/>
                  </a:solidFill>
                  <a:latin typeface="+mn-ea"/>
                </a:rPr>
                <a:t>기본 정보 저장하고 화면 구성하기 ▼</a:t>
              </a:r>
              <a:endParaRPr kumimoji="1" lang="en-US" altLang="ko-KR" sz="700" kern="0" dirty="0">
                <a:solidFill>
                  <a:schemeClr val="bg1"/>
                </a:solidFill>
                <a:latin typeface="+mn-ea"/>
              </a:endParaRPr>
            </a:p>
          </p:txBody>
        </p:sp>
        <p:sp>
          <p:nvSpPr>
            <p:cNvPr id="308" name="사각형: 둥근 모서리 58">
              <a:extLst>
                <a:ext uri="{FF2B5EF4-FFF2-40B4-BE49-F238E27FC236}">
                  <a16:creationId xmlns:a16="http://schemas.microsoft.com/office/drawing/2014/main" xmlns="" id="{DD080841-1344-4C9C-ADD3-8387E4C1C248}"/>
                </a:ext>
              </a:extLst>
            </p:cNvPr>
            <p:cNvSpPr/>
            <p:nvPr/>
          </p:nvSpPr>
          <p:spPr bwMode="auto">
            <a:xfrm>
              <a:off x="8423906" y="2477259"/>
              <a:ext cx="3600000" cy="4248000"/>
            </a:xfrm>
            <a:prstGeom prst="roundRect">
              <a:avLst>
                <a:gd name="adj" fmla="val 750"/>
              </a:avLst>
            </a:prstGeom>
            <a:solidFill>
              <a:srgbClr val="FFFFFF"/>
            </a:solidFill>
            <a:ln w="3175" cap="flat" cmpd="sng" algn="ctr">
              <a:solidFill>
                <a:srgbClr val="FFFFFF">
                  <a:lumMod val="75000"/>
                </a:srgbClr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25400" dist="12700" dir="2700000" algn="tl" rotWithShape="0">
                <a:prstClr val="black">
                  <a:alpha val="60000"/>
                </a:prstClr>
              </a:outerShdw>
            </a:effectLst>
          </p:spPr>
          <p:txBody>
            <a:bodyPr vert="horz" wrap="square" lIns="36000" tIns="36000" rIns="36000" bIns="36000" numCol="1" rtlCol="0" anchor="ctr" anchorCtr="0" compatLnSpc="1">
              <a:prstTxWarp prst="textNoShape">
                <a:avLst/>
              </a:prstTxWarp>
              <a:noAutofit/>
            </a:bodyPr>
            <a:lstStyle/>
            <a:p>
              <a:pPr marL="87313" indent="-87313" algn="ctr" defTabSz="914400" fontAlgn="base" latinLnBrk="0">
                <a:lnSpc>
                  <a:spcPct val="110000"/>
                </a:lnSpc>
                <a:spcBef>
                  <a:spcPct val="25000"/>
                </a:spcBef>
                <a:spcAft>
                  <a:spcPct val="0"/>
                </a:spcAft>
                <a:defRPr/>
              </a:pPr>
              <a:endParaRPr kumimoji="1" lang="ko-KR" altLang="en-US" sz="700" kern="0">
                <a:solidFill>
                  <a:srgbClr val="000000">
                    <a:lumMod val="75000"/>
                    <a:lumOff val="25000"/>
                  </a:srgbClr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312" name="사각형: 둥근 모서리 59">
              <a:extLst>
                <a:ext uri="{FF2B5EF4-FFF2-40B4-BE49-F238E27FC236}">
                  <a16:creationId xmlns:a16="http://schemas.microsoft.com/office/drawing/2014/main" xmlns="" id="{0292A016-C154-4D66-B0A3-EA847A752A31}"/>
                </a:ext>
              </a:extLst>
            </p:cNvPr>
            <p:cNvSpPr/>
            <p:nvPr/>
          </p:nvSpPr>
          <p:spPr bwMode="auto">
            <a:xfrm>
              <a:off x="8423906" y="2477259"/>
              <a:ext cx="3600000" cy="287752"/>
            </a:xfrm>
            <a:prstGeom prst="roundRect">
              <a:avLst>
                <a:gd name="adj" fmla="val 12975"/>
              </a:avLst>
            </a:prstGeom>
            <a:solidFill>
              <a:srgbClr val="FFFFFF">
                <a:lumMod val="85000"/>
              </a:srgbClr>
            </a:solidFill>
            <a:ln w="3175" cap="flat" cmpd="sng" algn="ctr">
              <a:solidFill>
                <a:srgbClr val="FFFFFF">
                  <a:lumMod val="75000"/>
                </a:srgb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8000" tIns="36000" rIns="36000" bIns="36000" numCol="1" rtlCol="0" anchor="ctr" anchorCtr="0" compatLnSpc="1">
              <a:prstTxWarp prst="textNoShape">
                <a:avLst/>
              </a:prstTxWarp>
              <a:noAutofit/>
            </a:bodyPr>
            <a:lstStyle/>
            <a:p>
              <a:pPr marL="87313" indent="-87313" defTabSz="914400" fontAlgn="base" latinLnBrk="0">
                <a:lnSpc>
                  <a:spcPct val="110000"/>
                </a:lnSpc>
                <a:spcBef>
                  <a:spcPct val="25000"/>
                </a:spcBef>
                <a:spcAft>
                  <a:spcPct val="0"/>
                </a:spcAft>
                <a:defRPr/>
              </a:pPr>
              <a:r>
                <a:rPr kumimoji="1" lang="en-US" altLang="ko-KR" sz="700" b="1" kern="0" smtClean="0">
                  <a:solidFill>
                    <a:srgbClr val="000000">
                      <a:lumMod val="75000"/>
                      <a:lumOff val="25000"/>
                    </a:srgbClr>
                  </a:solidFill>
                  <a:latin typeface="맑은 고딕" panose="020B0503020000020004" pitchFamily="50" charset="-127"/>
                </a:rPr>
                <a:t>LFmall Onesphere</a:t>
              </a:r>
              <a:endParaRPr kumimoji="1" lang="ko-KR" altLang="en-US" sz="700" b="1" kern="0">
                <a:solidFill>
                  <a:srgbClr val="000000">
                    <a:lumMod val="75000"/>
                    <a:lumOff val="25000"/>
                  </a:srgbClr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315" name="TextBox 314">
              <a:extLst>
                <a:ext uri="{FF2B5EF4-FFF2-40B4-BE49-F238E27FC236}">
                  <a16:creationId xmlns:a16="http://schemas.microsoft.com/office/drawing/2014/main" xmlns="" id="{A56BA07D-2740-4CF0-AAB3-7A3F8E5E750B}"/>
                </a:ext>
              </a:extLst>
            </p:cNvPr>
            <p:cNvSpPr txBox="1"/>
            <p:nvPr/>
          </p:nvSpPr>
          <p:spPr>
            <a:xfrm>
              <a:off x="8567906" y="2919004"/>
              <a:ext cx="767940" cy="195814"/>
            </a:xfrm>
            <a:prstGeom prst="rect">
              <a:avLst/>
            </a:prstGeom>
            <a:noFill/>
            <a:ln w="3175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none" lIns="108000" tIns="36000" rIns="108000" bIns="36000" numCol="1" rtlCol="0" anchor="ctr" anchorCtr="0" compatLnSpc="1">
              <a:prstTxWarp prst="textNoShape">
                <a:avLst/>
              </a:prstTxWarp>
              <a:spAutoFit/>
            </a:bodyPr>
            <a:lstStyle>
              <a:defPPr>
                <a:defRPr lang="ko-KR"/>
              </a:defPPr>
              <a:lvl1pPr>
                <a:defRPr sz="800" b="1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defRPr>
              </a:lvl1pPr>
            </a:lstStyle>
            <a:p>
              <a:r>
                <a:rPr lang="ko-KR" altLang="en-US" smtClean="0"/>
                <a:t>브랜드 조회</a:t>
              </a:r>
              <a:endParaRPr lang="ko-KR" altLang="en-US"/>
            </a:p>
          </p:txBody>
        </p:sp>
        <p:sp>
          <p:nvSpPr>
            <p:cNvPr id="319" name="직사각형 318">
              <a:extLst>
                <a:ext uri="{FF2B5EF4-FFF2-40B4-BE49-F238E27FC236}">
                  <a16:creationId xmlns:a16="http://schemas.microsoft.com/office/drawing/2014/main" xmlns="" id="{D6E71F9F-6A05-4858-BCF1-F73872A38DCC}"/>
                </a:ext>
              </a:extLst>
            </p:cNvPr>
            <p:cNvSpPr/>
            <p:nvPr/>
          </p:nvSpPr>
          <p:spPr>
            <a:xfrm>
              <a:off x="8569357" y="3269199"/>
              <a:ext cx="900000" cy="288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36000" rIns="108000" bIns="36000" rtlCol="0" anchor="ctr"/>
            <a:lstStyle/>
            <a:p>
              <a:r>
                <a:rPr lang="ko-KR" altLang="en-US" sz="70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브랜드</a:t>
              </a:r>
              <a:endParaRPr lang="ko-KR" altLang="en-US" sz="70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320" name="직사각형 319">
              <a:extLst>
                <a:ext uri="{FF2B5EF4-FFF2-40B4-BE49-F238E27FC236}">
                  <a16:creationId xmlns:a16="http://schemas.microsoft.com/office/drawing/2014/main" xmlns="" id="{869F0D91-4426-412C-8A0D-962A34E6A583}"/>
                </a:ext>
              </a:extLst>
            </p:cNvPr>
            <p:cNvSpPr/>
            <p:nvPr/>
          </p:nvSpPr>
          <p:spPr>
            <a:xfrm>
              <a:off x="9467906" y="3269199"/>
              <a:ext cx="2412000" cy="288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36000" rIns="108000" bIns="36000" rtlCol="0" anchor="ctr"/>
            <a:lstStyle/>
            <a:p>
              <a:endParaRPr lang="ko-KR" altLang="en-US" sz="8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cxnSp>
          <p:nvCxnSpPr>
            <p:cNvPr id="323" name="직선 연결선 322">
              <a:extLst>
                <a:ext uri="{FF2B5EF4-FFF2-40B4-BE49-F238E27FC236}">
                  <a16:creationId xmlns:a16="http://schemas.microsoft.com/office/drawing/2014/main" xmlns="" id="{8B6CCFB5-6583-4FED-8393-9CCCF89D0E7A}"/>
                </a:ext>
              </a:extLst>
            </p:cNvPr>
            <p:cNvCxnSpPr>
              <a:cxnSpLocks/>
            </p:cNvCxnSpPr>
            <p:nvPr/>
          </p:nvCxnSpPr>
          <p:spPr>
            <a:xfrm>
              <a:off x="8569357" y="3269199"/>
              <a:ext cx="3312000" cy="0"/>
            </a:xfrm>
            <a:prstGeom prst="line">
              <a:avLst/>
            </a:prstGeom>
            <a:ln w="635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4" name="곱하기 기호 199">
              <a:extLst>
                <a:ext uri="{FF2B5EF4-FFF2-40B4-BE49-F238E27FC236}">
                  <a16:creationId xmlns:a16="http://schemas.microsoft.com/office/drawing/2014/main" xmlns="" id="{FC59F712-927B-4C6B-A7B9-6F7D03C2E8DC}"/>
                </a:ext>
              </a:extLst>
            </p:cNvPr>
            <p:cNvSpPr/>
            <p:nvPr/>
          </p:nvSpPr>
          <p:spPr bwMode="auto">
            <a:xfrm>
              <a:off x="11771906" y="2549135"/>
              <a:ext cx="144000" cy="144000"/>
            </a:xfrm>
            <a:prstGeom prst="mathMultiply">
              <a:avLst>
                <a:gd name="adj1" fmla="val 0"/>
              </a:avLst>
            </a:prstGeom>
            <a:noFill/>
            <a:ln w="6350" cap="flat" cmpd="sng" algn="ctr">
              <a:solidFill>
                <a:srgbClr val="FFFFFF">
                  <a:lumMod val="50000"/>
                </a:srgb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  <a:noAutofit/>
            </a:bodyPr>
            <a:lstStyle/>
            <a:p>
              <a:pPr marL="87313" indent="-87313" algn="ctr" defTabSz="914400" fontAlgn="base" latinLnBrk="0">
                <a:lnSpc>
                  <a:spcPct val="110000"/>
                </a:lnSpc>
                <a:spcBef>
                  <a:spcPct val="25000"/>
                </a:spcBef>
                <a:spcAft>
                  <a:spcPct val="0"/>
                </a:spcAft>
                <a:buFont typeface="Wingdings" pitchFamily="2" charset="2"/>
                <a:buNone/>
                <a:defRPr/>
              </a:pPr>
              <a:endParaRPr kumimoji="1" lang="ko-KR" altLang="en-US" sz="800" b="1" kern="0">
                <a:solidFill>
                  <a:srgbClr val="000000">
                    <a:lumMod val="75000"/>
                    <a:lumOff val="25000"/>
                  </a:srgbClr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325" name="모서리가 둥근 직사각형 142">
              <a:extLst>
                <a:ext uri="{FF2B5EF4-FFF2-40B4-BE49-F238E27FC236}">
                  <a16:creationId xmlns:a16="http://schemas.microsoft.com/office/drawing/2014/main" xmlns="" id="{970D7D7A-4F6E-463C-B918-C345548F1D7A}"/>
                </a:ext>
              </a:extLst>
            </p:cNvPr>
            <p:cNvSpPr/>
            <p:nvPr/>
          </p:nvSpPr>
          <p:spPr bwMode="auto">
            <a:xfrm>
              <a:off x="9539906" y="3324451"/>
              <a:ext cx="2268000" cy="180000"/>
            </a:xfrm>
            <a:prstGeom prst="roundRect">
              <a:avLst/>
            </a:prstGeom>
            <a:solidFill>
              <a:srgbClr val="FFFFEF"/>
            </a:solidFill>
            <a:ln w="3175" cap="flat" cmpd="sng" algn="ctr">
              <a:solidFill>
                <a:schemeClr val="bg1">
                  <a:lumMod val="7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none" lIns="108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defTabSz="914400" fontAlgn="base" latinLnBrk="0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ko-KR" sz="700" kern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DAKS</a:t>
              </a:r>
              <a:endParaRPr kumimoji="1" lang="en-US" altLang="ko-KR" sz="700" ker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endParaRPr>
            </a:p>
          </p:txBody>
        </p:sp>
        <p:cxnSp>
          <p:nvCxnSpPr>
            <p:cNvPr id="326" name="직선 연결선 325">
              <a:extLst>
                <a:ext uri="{FF2B5EF4-FFF2-40B4-BE49-F238E27FC236}">
                  <a16:creationId xmlns:a16="http://schemas.microsoft.com/office/drawing/2014/main" xmlns="" id="{8B6CCFB5-6583-4FED-8393-9CCCF89D0E7A}"/>
                </a:ext>
              </a:extLst>
            </p:cNvPr>
            <p:cNvCxnSpPr>
              <a:cxnSpLocks/>
            </p:cNvCxnSpPr>
            <p:nvPr/>
          </p:nvCxnSpPr>
          <p:spPr>
            <a:xfrm>
              <a:off x="8569357" y="3557199"/>
              <a:ext cx="3312000" cy="0"/>
            </a:xfrm>
            <a:prstGeom prst="line">
              <a:avLst/>
            </a:prstGeom>
            <a:ln w="635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7" name="직사각형 326">
              <a:extLst>
                <a:ext uri="{FF2B5EF4-FFF2-40B4-BE49-F238E27FC236}">
                  <a16:creationId xmlns:a16="http://schemas.microsoft.com/office/drawing/2014/main" xmlns="" id="{63F66E7F-2D1E-4CBD-B45B-15A86245F581}"/>
                </a:ext>
              </a:extLst>
            </p:cNvPr>
            <p:cNvSpPr/>
            <p:nvPr/>
          </p:nvSpPr>
          <p:spPr>
            <a:xfrm>
              <a:off x="8569357" y="4205628"/>
              <a:ext cx="216000" cy="288000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ko-KR" altLang="en-US" sz="70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328" name="직사각형 327">
              <a:extLst>
                <a:ext uri="{FF2B5EF4-FFF2-40B4-BE49-F238E27FC236}">
                  <a16:creationId xmlns:a16="http://schemas.microsoft.com/office/drawing/2014/main" xmlns="" id="{63F66E7F-2D1E-4CBD-B45B-15A86245F581}"/>
                </a:ext>
              </a:extLst>
            </p:cNvPr>
            <p:cNvSpPr/>
            <p:nvPr/>
          </p:nvSpPr>
          <p:spPr>
            <a:xfrm>
              <a:off x="8785357" y="4205628"/>
              <a:ext cx="792000" cy="288000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700" smtClean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브랜드코드</a:t>
              </a:r>
              <a:endParaRPr lang="ko-KR" altLang="en-US" sz="70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330" name="직사각형 329">
              <a:extLst>
                <a:ext uri="{FF2B5EF4-FFF2-40B4-BE49-F238E27FC236}">
                  <a16:creationId xmlns:a16="http://schemas.microsoft.com/office/drawing/2014/main" xmlns="" id="{63F66E7F-2D1E-4CBD-B45B-15A86245F581}"/>
                </a:ext>
              </a:extLst>
            </p:cNvPr>
            <p:cNvSpPr/>
            <p:nvPr/>
          </p:nvSpPr>
          <p:spPr>
            <a:xfrm>
              <a:off x="8785357" y="4493776"/>
              <a:ext cx="792000" cy="288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70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1001</a:t>
              </a:r>
              <a:endParaRPr lang="ko-KR" altLang="en-US" sz="7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331" name="직사각형 330">
              <a:extLst>
                <a:ext uri="{FF2B5EF4-FFF2-40B4-BE49-F238E27FC236}">
                  <a16:creationId xmlns:a16="http://schemas.microsoft.com/office/drawing/2014/main" xmlns="" id="{63F66E7F-2D1E-4CBD-B45B-15A86245F581}"/>
                </a:ext>
              </a:extLst>
            </p:cNvPr>
            <p:cNvSpPr/>
            <p:nvPr/>
          </p:nvSpPr>
          <p:spPr>
            <a:xfrm>
              <a:off x="8785357" y="4781924"/>
              <a:ext cx="792000" cy="288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70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4567</a:t>
              </a:r>
              <a:endParaRPr lang="ko-KR" altLang="en-US" sz="7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332" name="직사각형 331">
              <a:extLst>
                <a:ext uri="{FF2B5EF4-FFF2-40B4-BE49-F238E27FC236}">
                  <a16:creationId xmlns:a16="http://schemas.microsoft.com/office/drawing/2014/main" xmlns="" id="{63F66E7F-2D1E-4CBD-B45B-15A86245F581}"/>
                </a:ext>
              </a:extLst>
            </p:cNvPr>
            <p:cNvSpPr/>
            <p:nvPr/>
          </p:nvSpPr>
          <p:spPr>
            <a:xfrm>
              <a:off x="8785357" y="5070072"/>
              <a:ext cx="792000" cy="288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70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9876</a:t>
              </a:r>
              <a:endParaRPr lang="ko-KR" altLang="en-US" sz="7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333" name="직사각형 332">
              <a:extLst>
                <a:ext uri="{FF2B5EF4-FFF2-40B4-BE49-F238E27FC236}">
                  <a16:creationId xmlns:a16="http://schemas.microsoft.com/office/drawing/2014/main" xmlns="" id="{63F66E7F-2D1E-4CBD-B45B-15A86245F581}"/>
                </a:ext>
              </a:extLst>
            </p:cNvPr>
            <p:cNvSpPr/>
            <p:nvPr/>
          </p:nvSpPr>
          <p:spPr>
            <a:xfrm>
              <a:off x="8785357" y="5358220"/>
              <a:ext cx="792000" cy="288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700">
                  <a:solidFill>
                    <a:srgbClr val="C00000"/>
                  </a:solidFill>
                  <a:latin typeface="맑은 고딕" panose="020B0503020000020004" pitchFamily="50" charset="-127"/>
                </a:rPr>
                <a:t>DAKS</a:t>
              </a:r>
            </a:p>
          </p:txBody>
        </p:sp>
        <p:sp>
          <p:nvSpPr>
            <p:cNvPr id="334" name="직사각형 333">
              <a:extLst>
                <a:ext uri="{FF2B5EF4-FFF2-40B4-BE49-F238E27FC236}">
                  <a16:creationId xmlns:a16="http://schemas.microsoft.com/office/drawing/2014/main" xmlns="" id="{63F66E7F-2D1E-4CBD-B45B-15A86245F581}"/>
                </a:ext>
              </a:extLst>
            </p:cNvPr>
            <p:cNvSpPr/>
            <p:nvPr/>
          </p:nvSpPr>
          <p:spPr>
            <a:xfrm>
              <a:off x="8785357" y="5646368"/>
              <a:ext cx="792000" cy="288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70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7896</a:t>
              </a:r>
              <a:endParaRPr lang="ko-KR" altLang="en-US" sz="7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grpSp>
          <p:nvGrpSpPr>
            <p:cNvPr id="335" name="그룹 334">
              <a:extLst>
                <a:ext uri="{FF2B5EF4-FFF2-40B4-BE49-F238E27FC236}">
                  <a16:creationId xmlns="" xmlns:a16="http://schemas.microsoft.com/office/drawing/2014/main" id="{5500EACA-AF19-4A2A-9003-A25BBE9BDE7C}"/>
                </a:ext>
              </a:extLst>
            </p:cNvPr>
            <p:cNvGrpSpPr/>
            <p:nvPr/>
          </p:nvGrpSpPr>
          <p:grpSpPr>
            <a:xfrm>
              <a:off x="9576841" y="6365687"/>
              <a:ext cx="1294131" cy="216000"/>
              <a:chOff x="4212693" y="5643364"/>
              <a:chExt cx="1294131" cy="216000"/>
            </a:xfrm>
          </p:grpSpPr>
          <p:sp>
            <p:nvSpPr>
              <p:cNvPr id="375" name="사각형: 둥근 모서리 368">
                <a:extLst>
                  <a:ext uri="{FF2B5EF4-FFF2-40B4-BE49-F238E27FC236}">
                    <a16:creationId xmlns="" xmlns:a16="http://schemas.microsoft.com/office/drawing/2014/main" id="{40A4A769-FEC7-44EF-AE3E-7AF935163D1E}"/>
                  </a:ext>
                </a:extLst>
              </p:cNvPr>
              <p:cNvSpPr/>
              <p:nvPr/>
            </p:nvSpPr>
            <p:spPr bwMode="auto">
              <a:xfrm>
                <a:off x="4930824" y="5643364"/>
                <a:ext cx="576000" cy="216000"/>
              </a:xfrm>
              <a:prstGeom prst="roundRect">
                <a:avLst/>
              </a:prstGeom>
              <a:solidFill>
                <a:schemeClr val="bg1">
                  <a:lumMod val="95000"/>
                </a:schemeClr>
              </a:solidFill>
              <a:ln w="3175" cap="flat" cmpd="sng" algn="ctr">
                <a:solidFill>
                  <a:schemeClr val="bg1">
                    <a:lumMod val="7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>
                <a:outerShdw blurRad="12700" dist="12700" dir="2700000" algn="tl" rotWithShape="0">
                  <a:schemeClr val="tx1">
                    <a:lumMod val="75000"/>
                    <a:lumOff val="25000"/>
                    <a:alpha val="30000"/>
                  </a:schemeClr>
                </a:outerShdw>
              </a:effectLst>
            </p:spPr>
            <p:txBody>
              <a:bodyPr rot="0" spcFirstLastPara="0" vertOverflow="overflow" horzOverflow="overflow" vert="horz" wrap="none" lIns="180000" tIns="36000" rIns="36000" bIns="36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indent="0" algn="ctr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1" lang="ko-KR" altLang="en-US" sz="700" i="0" u="none" strike="noStrike" kern="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uLnTx/>
                    <a:uFillTx/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취소</a:t>
                </a:r>
              </a:p>
            </p:txBody>
          </p:sp>
          <p:sp>
            <p:nvSpPr>
              <p:cNvPr id="376" name="Delete">
                <a:extLst>
                  <a:ext uri="{FF2B5EF4-FFF2-40B4-BE49-F238E27FC236}">
                    <a16:creationId xmlns="" xmlns:a16="http://schemas.microsoft.com/office/drawing/2014/main" id="{34073A11-059D-4A86-817F-189785CE6E1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011755" y="5697364"/>
                <a:ext cx="108001" cy="108000"/>
              </a:xfrm>
              <a:custGeom>
                <a:avLst/>
                <a:gdLst>
                  <a:gd name="T0" fmla="*/ 3 w 77"/>
                  <a:gd name="T1" fmla="*/ 0 h 77"/>
                  <a:gd name="T2" fmla="*/ 0 w 77"/>
                  <a:gd name="T3" fmla="*/ 3 h 77"/>
                  <a:gd name="T4" fmla="*/ 36 w 77"/>
                  <a:gd name="T5" fmla="*/ 38 h 77"/>
                  <a:gd name="T6" fmla="*/ 0 w 77"/>
                  <a:gd name="T7" fmla="*/ 74 h 77"/>
                  <a:gd name="T8" fmla="*/ 3 w 77"/>
                  <a:gd name="T9" fmla="*/ 77 h 77"/>
                  <a:gd name="T10" fmla="*/ 39 w 77"/>
                  <a:gd name="T11" fmla="*/ 41 h 77"/>
                  <a:gd name="T12" fmla="*/ 74 w 77"/>
                  <a:gd name="T13" fmla="*/ 77 h 77"/>
                  <a:gd name="T14" fmla="*/ 77 w 77"/>
                  <a:gd name="T15" fmla="*/ 74 h 77"/>
                  <a:gd name="T16" fmla="*/ 42 w 77"/>
                  <a:gd name="T17" fmla="*/ 38 h 77"/>
                  <a:gd name="T18" fmla="*/ 77 w 77"/>
                  <a:gd name="T19" fmla="*/ 3 h 77"/>
                  <a:gd name="T20" fmla="*/ 74 w 77"/>
                  <a:gd name="T21" fmla="*/ 0 h 77"/>
                  <a:gd name="T22" fmla="*/ 39 w 77"/>
                  <a:gd name="T23" fmla="*/ 35 h 77"/>
                  <a:gd name="T24" fmla="*/ 3 w 77"/>
                  <a:gd name="T25" fmla="*/ 0 h 7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77" h="77">
                    <a:moveTo>
                      <a:pt x="3" y="0"/>
                    </a:moveTo>
                    <a:lnTo>
                      <a:pt x="0" y="3"/>
                    </a:lnTo>
                    <a:lnTo>
                      <a:pt x="36" y="38"/>
                    </a:lnTo>
                    <a:lnTo>
                      <a:pt x="0" y="74"/>
                    </a:lnTo>
                    <a:lnTo>
                      <a:pt x="3" y="77"/>
                    </a:lnTo>
                    <a:lnTo>
                      <a:pt x="39" y="41"/>
                    </a:lnTo>
                    <a:lnTo>
                      <a:pt x="74" y="77"/>
                    </a:lnTo>
                    <a:lnTo>
                      <a:pt x="77" y="74"/>
                    </a:lnTo>
                    <a:lnTo>
                      <a:pt x="42" y="38"/>
                    </a:lnTo>
                    <a:lnTo>
                      <a:pt x="77" y="3"/>
                    </a:lnTo>
                    <a:lnTo>
                      <a:pt x="74" y="0"/>
                    </a:lnTo>
                    <a:lnTo>
                      <a:pt x="39" y="35"/>
                    </a:lnTo>
                    <a:lnTo>
                      <a:pt x="3" y="0"/>
                    </a:lnTo>
                    <a:close/>
                  </a:path>
                </a:pathLst>
              </a:custGeom>
              <a:solidFill>
                <a:srgbClr val="5F5F5F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sz="900">
                  <a:latin typeface="맑은 고딕" panose="020B0503020000020004" pitchFamily="50" charset="-127"/>
                  <a:ea typeface="맑은 고딕" panose="020B0503020000020004" pitchFamily="50" charset="-127"/>
                  <a:cs typeface="Segoe UI" panose="020B0502040204020203" pitchFamily="34" charset="0"/>
                </a:endParaRPr>
              </a:p>
            </p:txBody>
          </p:sp>
          <p:sp>
            <p:nvSpPr>
              <p:cNvPr id="377" name="사각형: 둥근 모서리 370">
                <a:extLst>
                  <a:ext uri="{FF2B5EF4-FFF2-40B4-BE49-F238E27FC236}">
                    <a16:creationId xmlns="" xmlns:a16="http://schemas.microsoft.com/office/drawing/2014/main" id="{83EB9C9A-F49D-468D-BBB4-0741F27DC6DA}"/>
                  </a:ext>
                </a:extLst>
              </p:cNvPr>
              <p:cNvSpPr/>
              <p:nvPr/>
            </p:nvSpPr>
            <p:spPr bwMode="auto">
              <a:xfrm>
                <a:off x="4212693" y="5643364"/>
                <a:ext cx="576000" cy="216000"/>
              </a:xfrm>
              <a:prstGeom prst="roundRect">
                <a:avLst/>
              </a:prstGeom>
              <a:solidFill>
                <a:schemeClr val="tx2"/>
              </a:solidFill>
              <a:ln w="3175" cap="flat" cmpd="sng" algn="ctr">
                <a:solidFill>
                  <a:schemeClr val="bg1">
                    <a:lumMod val="7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>
                <a:outerShdw blurRad="12700" dist="12700" dir="2700000" algn="tl" rotWithShape="0">
                  <a:schemeClr val="tx1">
                    <a:lumMod val="75000"/>
                    <a:lumOff val="25000"/>
                    <a:alpha val="30000"/>
                  </a:schemeClr>
                </a:outerShdw>
              </a:effectLst>
            </p:spPr>
            <p:txBody>
              <a:bodyPr rot="0" spcFirstLastPara="0" vertOverflow="overflow" horzOverflow="overflow" vert="horz" wrap="none" lIns="180000" tIns="36000" rIns="36000" bIns="36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14400" fontAlgn="base" latinLnBrk="0">
                  <a:spcBef>
                    <a:spcPct val="0"/>
                  </a:spcBef>
                  <a:spcAft>
                    <a:spcPct val="0"/>
                  </a:spcAft>
                </a:pPr>
                <a:r>
                  <a:rPr kumimoji="1" lang="ko-KR" altLang="en-US" sz="700" kern="0" smtClean="0">
                    <a:solidFill>
                      <a:schemeClr val="bg1"/>
                    </a:solidFill>
                    <a:latin typeface="+mn-ea"/>
                  </a:rPr>
                  <a:t>선택</a:t>
                </a:r>
                <a:endParaRPr kumimoji="1" lang="ko-KR" altLang="en-US" sz="700" kern="0" dirty="0">
                  <a:solidFill>
                    <a:schemeClr val="bg1"/>
                  </a:solidFill>
                  <a:latin typeface="+mn-ea"/>
                </a:endParaRPr>
              </a:p>
            </p:txBody>
          </p:sp>
          <p:sp>
            <p:nvSpPr>
              <p:cNvPr id="378" name="Accept">
                <a:extLst>
                  <a:ext uri="{FF2B5EF4-FFF2-40B4-BE49-F238E27FC236}">
                    <a16:creationId xmlns="" xmlns:a16="http://schemas.microsoft.com/office/drawing/2014/main" id="{E9B72FB6-0636-415B-93C9-C77F55BEC93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4293624" y="5697364"/>
                <a:ext cx="121691" cy="108000"/>
              </a:xfrm>
              <a:custGeom>
                <a:avLst/>
                <a:gdLst>
                  <a:gd name="T0" fmla="*/ 504 w 525"/>
                  <a:gd name="T1" fmla="*/ 3 h 467"/>
                  <a:gd name="T2" fmla="*/ 495 w 525"/>
                  <a:gd name="T3" fmla="*/ 9 h 467"/>
                  <a:gd name="T4" fmla="*/ 223 w 525"/>
                  <a:gd name="T5" fmla="*/ 431 h 467"/>
                  <a:gd name="T6" fmla="*/ 35 w 525"/>
                  <a:gd name="T7" fmla="*/ 262 h 467"/>
                  <a:gd name="T8" fmla="*/ 18 w 525"/>
                  <a:gd name="T9" fmla="*/ 282 h 467"/>
                  <a:gd name="T10" fmla="*/ 217 w 525"/>
                  <a:gd name="T11" fmla="*/ 462 h 467"/>
                  <a:gd name="T12" fmla="*/ 237 w 525"/>
                  <a:gd name="T13" fmla="*/ 459 h 467"/>
                  <a:gd name="T14" fmla="*/ 518 w 525"/>
                  <a:gd name="T15" fmla="*/ 23 h 467"/>
                  <a:gd name="T16" fmla="*/ 504 w 525"/>
                  <a:gd name="T17" fmla="*/ 3 h 4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525" h="467">
                    <a:moveTo>
                      <a:pt x="504" y="3"/>
                    </a:moveTo>
                    <a:cubicBezTo>
                      <a:pt x="500" y="3"/>
                      <a:pt x="497" y="6"/>
                      <a:pt x="495" y="9"/>
                    </a:cubicBezTo>
                    <a:lnTo>
                      <a:pt x="223" y="431"/>
                    </a:lnTo>
                    <a:lnTo>
                      <a:pt x="35" y="262"/>
                    </a:lnTo>
                    <a:cubicBezTo>
                      <a:pt x="22" y="245"/>
                      <a:pt x="0" y="271"/>
                      <a:pt x="18" y="282"/>
                    </a:cubicBezTo>
                    <a:lnTo>
                      <a:pt x="217" y="462"/>
                    </a:lnTo>
                    <a:cubicBezTo>
                      <a:pt x="223" y="467"/>
                      <a:pt x="232" y="466"/>
                      <a:pt x="237" y="459"/>
                    </a:cubicBezTo>
                    <a:lnTo>
                      <a:pt x="518" y="23"/>
                    </a:lnTo>
                    <a:cubicBezTo>
                      <a:pt x="525" y="13"/>
                      <a:pt x="515" y="0"/>
                      <a:pt x="504" y="3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sz="900">
                  <a:latin typeface="맑은 고딕" panose="020B0503020000020004" pitchFamily="50" charset="-127"/>
                  <a:ea typeface="맑은 고딕" panose="020B0503020000020004" pitchFamily="50" charset="-127"/>
                  <a:cs typeface="Segoe UI" panose="020B0502040204020203" pitchFamily="34" charset="0"/>
                </a:endParaRPr>
              </a:p>
            </p:txBody>
          </p:sp>
        </p:grpSp>
        <p:sp>
          <p:nvSpPr>
            <p:cNvPr id="336" name="직사각형 335">
              <a:extLst>
                <a:ext uri="{FF2B5EF4-FFF2-40B4-BE49-F238E27FC236}">
                  <a16:creationId xmlns:a16="http://schemas.microsoft.com/office/drawing/2014/main" xmlns="" id="{63F66E7F-2D1E-4CBD-B45B-15A86245F581}"/>
                </a:ext>
              </a:extLst>
            </p:cNvPr>
            <p:cNvSpPr/>
            <p:nvPr/>
          </p:nvSpPr>
          <p:spPr>
            <a:xfrm>
              <a:off x="8785357" y="5934516"/>
              <a:ext cx="792000" cy="288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70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1234</a:t>
              </a:r>
              <a:endParaRPr lang="ko-KR" altLang="en-US" sz="7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337" name="직사각형 336">
              <a:extLst>
                <a:ext uri="{FF2B5EF4-FFF2-40B4-BE49-F238E27FC236}">
                  <a16:creationId xmlns:a16="http://schemas.microsoft.com/office/drawing/2014/main" xmlns="" id="{63F66E7F-2D1E-4CBD-B45B-15A86245F581}"/>
                </a:ext>
              </a:extLst>
            </p:cNvPr>
            <p:cNvSpPr/>
            <p:nvPr/>
          </p:nvSpPr>
          <p:spPr>
            <a:xfrm>
              <a:off x="9575906" y="4205628"/>
              <a:ext cx="2304000" cy="288000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700" smtClean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브랜드명</a:t>
              </a:r>
              <a:endParaRPr lang="ko-KR" altLang="en-US" sz="70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338" name="직사각형 337">
              <a:extLst>
                <a:ext uri="{FF2B5EF4-FFF2-40B4-BE49-F238E27FC236}">
                  <a16:creationId xmlns:a16="http://schemas.microsoft.com/office/drawing/2014/main" xmlns="" id="{63F66E7F-2D1E-4CBD-B45B-15A86245F581}"/>
                </a:ext>
              </a:extLst>
            </p:cNvPr>
            <p:cNvSpPr/>
            <p:nvPr/>
          </p:nvSpPr>
          <p:spPr>
            <a:xfrm>
              <a:off x="9575906" y="4493776"/>
              <a:ext cx="2304000" cy="288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700" smtClean="0">
                  <a:solidFill>
                    <a:srgbClr val="C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DAKS</a:t>
              </a:r>
              <a:endParaRPr lang="ko-KR" altLang="en-US" sz="70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339" name="직사각형 338">
              <a:extLst>
                <a:ext uri="{FF2B5EF4-FFF2-40B4-BE49-F238E27FC236}">
                  <a16:creationId xmlns:a16="http://schemas.microsoft.com/office/drawing/2014/main" xmlns="" id="{63F66E7F-2D1E-4CBD-B45B-15A86245F581}"/>
                </a:ext>
              </a:extLst>
            </p:cNvPr>
            <p:cNvSpPr/>
            <p:nvPr/>
          </p:nvSpPr>
          <p:spPr>
            <a:xfrm>
              <a:off x="9575906" y="4781924"/>
              <a:ext cx="2304000" cy="288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700">
                  <a:solidFill>
                    <a:srgbClr val="C00000"/>
                  </a:solidFill>
                  <a:latin typeface="맑은 고딕" panose="020B0503020000020004" pitchFamily="50" charset="-127"/>
                </a:rPr>
                <a:t>DAKS</a:t>
              </a:r>
              <a:r>
                <a:rPr lang="en-US" altLang="ko-KR" sz="70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S</a:t>
              </a:r>
              <a:endParaRPr lang="ko-KR" altLang="en-US" sz="7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341" name="직사각형 340">
              <a:extLst>
                <a:ext uri="{FF2B5EF4-FFF2-40B4-BE49-F238E27FC236}">
                  <a16:creationId xmlns:a16="http://schemas.microsoft.com/office/drawing/2014/main" xmlns="" id="{63F66E7F-2D1E-4CBD-B45B-15A86245F581}"/>
                </a:ext>
              </a:extLst>
            </p:cNvPr>
            <p:cNvSpPr/>
            <p:nvPr/>
          </p:nvSpPr>
          <p:spPr>
            <a:xfrm>
              <a:off x="9575906" y="5070072"/>
              <a:ext cx="2304000" cy="288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70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A</a:t>
              </a:r>
              <a:r>
                <a:rPr lang="en-US" altLang="ko-KR" sz="700">
                  <a:solidFill>
                    <a:srgbClr val="C00000"/>
                  </a:solidFill>
                  <a:latin typeface="맑은 고딕" panose="020B0503020000020004" pitchFamily="50" charset="-127"/>
                </a:rPr>
                <a:t>DAKS</a:t>
              </a:r>
              <a:endParaRPr lang="ko-KR" altLang="en-US" sz="70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342" name="직사각형 341">
              <a:extLst>
                <a:ext uri="{FF2B5EF4-FFF2-40B4-BE49-F238E27FC236}">
                  <a16:creationId xmlns:a16="http://schemas.microsoft.com/office/drawing/2014/main" xmlns="" id="{63F66E7F-2D1E-4CBD-B45B-15A86245F581}"/>
                </a:ext>
              </a:extLst>
            </p:cNvPr>
            <p:cNvSpPr/>
            <p:nvPr/>
          </p:nvSpPr>
          <p:spPr>
            <a:xfrm>
              <a:off x="9575906" y="5358220"/>
              <a:ext cx="2304000" cy="288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70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QWER</a:t>
              </a:r>
              <a:endParaRPr lang="en-US" altLang="ko-KR" sz="7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343" name="직사각형 342">
              <a:extLst>
                <a:ext uri="{FF2B5EF4-FFF2-40B4-BE49-F238E27FC236}">
                  <a16:creationId xmlns:a16="http://schemas.microsoft.com/office/drawing/2014/main" xmlns="" id="{63F66E7F-2D1E-4CBD-B45B-15A86245F581}"/>
                </a:ext>
              </a:extLst>
            </p:cNvPr>
            <p:cNvSpPr/>
            <p:nvPr/>
          </p:nvSpPr>
          <p:spPr>
            <a:xfrm>
              <a:off x="9575906" y="5646368"/>
              <a:ext cx="2304000" cy="288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700" smtClean="0">
                  <a:solidFill>
                    <a:srgbClr val="C00000"/>
                  </a:solidFill>
                  <a:latin typeface="맑은 고딕" panose="020B0503020000020004" pitchFamily="50" charset="-127"/>
                </a:rPr>
                <a:t>DAKS</a:t>
              </a:r>
              <a:r>
                <a:rPr lang="en-US" altLang="ko-KR" sz="70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X</a:t>
              </a:r>
              <a:endParaRPr lang="ko-KR" altLang="en-US" sz="7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346" name="직사각형 345">
              <a:extLst>
                <a:ext uri="{FF2B5EF4-FFF2-40B4-BE49-F238E27FC236}">
                  <a16:creationId xmlns:a16="http://schemas.microsoft.com/office/drawing/2014/main" xmlns="" id="{63F66E7F-2D1E-4CBD-B45B-15A86245F581}"/>
                </a:ext>
              </a:extLst>
            </p:cNvPr>
            <p:cNvSpPr/>
            <p:nvPr/>
          </p:nvSpPr>
          <p:spPr>
            <a:xfrm>
              <a:off x="9575906" y="5934516"/>
              <a:ext cx="2304000" cy="288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70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M</a:t>
              </a:r>
              <a:r>
                <a:rPr lang="en-US" altLang="ko-KR" sz="700">
                  <a:solidFill>
                    <a:srgbClr val="C00000"/>
                  </a:solidFill>
                  <a:latin typeface="맑은 고딕" panose="020B0503020000020004" pitchFamily="50" charset="-127"/>
                </a:rPr>
                <a:t>DAKS</a:t>
              </a:r>
              <a:r>
                <a:rPr lang="en-US" altLang="ko-KR" sz="70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MAN</a:t>
              </a:r>
              <a:endParaRPr lang="ko-KR" altLang="en-US" sz="7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grpSp>
          <p:nvGrpSpPr>
            <p:cNvPr id="348" name="그룹 347">
              <a:extLst>
                <a:ext uri="{FF2B5EF4-FFF2-40B4-BE49-F238E27FC236}">
                  <a16:creationId xmlns:a16="http://schemas.microsoft.com/office/drawing/2014/main" xmlns="" id="{DE83D565-A155-4EC6-9D62-DC28554B94D6}"/>
                </a:ext>
              </a:extLst>
            </p:cNvPr>
            <p:cNvGrpSpPr/>
            <p:nvPr/>
          </p:nvGrpSpPr>
          <p:grpSpPr>
            <a:xfrm>
              <a:off x="9935906" y="3703104"/>
              <a:ext cx="576000" cy="216000"/>
              <a:chOff x="3892259" y="4581128"/>
              <a:chExt cx="576000" cy="216000"/>
            </a:xfrm>
          </p:grpSpPr>
          <p:sp>
            <p:nvSpPr>
              <p:cNvPr id="373" name="사각형: 둥근 모서리 370">
                <a:extLst>
                  <a:ext uri="{FF2B5EF4-FFF2-40B4-BE49-F238E27FC236}">
                    <a16:creationId xmlns:a16="http://schemas.microsoft.com/office/drawing/2014/main" xmlns="" id="{40426C93-54F4-4D06-9E1D-260D2A45518E}"/>
                  </a:ext>
                </a:extLst>
              </p:cNvPr>
              <p:cNvSpPr/>
              <p:nvPr/>
            </p:nvSpPr>
            <p:spPr bwMode="auto">
              <a:xfrm>
                <a:off x="3892259" y="4581128"/>
                <a:ext cx="576000" cy="216000"/>
              </a:xfrm>
              <a:prstGeom prst="roundRect">
                <a:avLst/>
              </a:prstGeom>
              <a:solidFill>
                <a:schemeClr val="tx2"/>
              </a:solidFill>
              <a:ln w="3175" cap="flat" cmpd="sng" algn="ctr">
                <a:solidFill>
                  <a:schemeClr val="bg1">
                    <a:lumMod val="7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>
                <a:outerShdw blurRad="12700" dist="12700" dir="2700000" algn="tl" rotWithShape="0">
                  <a:schemeClr val="tx1">
                    <a:lumMod val="75000"/>
                    <a:lumOff val="25000"/>
                    <a:alpha val="30000"/>
                  </a:schemeClr>
                </a:outerShdw>
              </a:effectLst>
            </p:spPr>
            <p:txBody>
              <a:bodyPr rot="0" spcFirstLastPara="0" vertOverflow="overflow" horzOverflow="overflow" vert="horz" wrap="none" lIns="180000" tIns="45720" rIns="3600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indent="0" algn="ctr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1" lang="ko-KR" altLang="en-US" sz="700" i="0" u="none" strike="noStrike" kern="0" cap="none" spc="0" normalizeH="0" baseline="0" noProof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+mn-ea"/>
                  </a:rPr>
                  <a:t>조회</a:t>
                </a:r>
              </a:p>
            </p:txBody>
          </p:sp>
          <p:sp>
            <p:nvSpPr>
              <p:cNvPr id="374" name="Search">
                <a:extLst>
                  <a:ext uri="{FF2B5EF4-FFF2-40B4-BE49-F238E27FC236}">
                    <a16:creationId xmlns:a16="http://schemas.microsoft.com/office/drawing/2014/main" xmlns="" id="{3D61170C-C5BF-4482-BCB7-9DE8F809A09A}"/>
                  </a:ext>
                </a:extLst>
              </p:cNvPr>
              <p:cNvSpPr>
                <a:spLocks noChangeAspect="1" noEditPoints="1"/>
              </p:cNvSpPr>
              <p:nvPr/>
            </p:nvSpPr>
            <p:spPr bwMode="auto">
              <a:xfrm>
                <a:off x="3973190" y="4635128"/>
                <a:ext cx="105600" cy="108000"/>
              </a:xfrm>
              <a:custGeom>
                <a:avLst/>
                <a:gdLst>
                  <a:gd name="T0" fmla="*/ 227 w 572"/>
                  <a:gd name="T1" fmla="*/ 0 h 585"/>
                  <a:gd name="T2" fmla="*/ 0 w 572"/>
                  <a:gd name="T3" fmla="*/ 227 h 585"/>
                  <a:gd name="T4" fmla="*/ 227 w 572"/>
                  <a:gd name="T5" fmla="*/ 453 h 585"/>
                  <a:gd name="T6" fmla="*/ 359 w 572"/>
                  <a:gd name="T7" fmla="*/ 410 h 585"/>
                  <a:gd name="T8" fmla="*/ 535 w 572"/>
                  <a:gd name="T9" fmla="*/ 585 h 585"/>
                  <a:gd name="T10" fmla="*/ 572 w 572"/>
                  <a:gd name="T11" fmla="*/ 548 h 585"/>
                  <a:gd name="T12" fmla="*/ 399 w 572"/>
                  <a:gd name="T13" fmla="*/ 374 h 585"/>
                  <a:gd name="T14" fmla="*/ 454 w 572"/>
                  <a:gd name="T15" fmla="*/ 227 h 585"/>
                  <a:gd name="T16" fmla="*/ 227 w 572"/>
                  <a:gd name="T17" fmla="*/ 0 h 585"/>
                  <a:gd name="T18" fmla="*/ 227 w 572"/>
                  <a:gd name="T19" fmla="*/ 27 h 585"/>
                  <a:gd name="T20" fmla="*/ 427 w 572"/>
                  <a:gd name="T21" fmla="*/ 227 h 585"/>
                  <a:gd name="T22" fmla="*/ 227 w 572"/>
                  <a:gd name="T23" fmla="*/ 427 h 585"/>
                  <a:gd name="T24" fmla="*/ 27 w 572"/>
                  <a:gd name="T25" fmla="*/ 227 h 585"/>
                  <a:gd name="T26" fmla="*/ 227 w 572"/>
                  <a:gd name="T27" fmla="*/ 27 h 58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572" h="585">
                    <a:moveTo>
                      <a:pt x="227" y="0"/>
                    </a:moveTo>
                    <a:cubicBezTo>
                      <a:pt x="102" y="0"/>
                      <a:pt x="0" y="102"/>
                      <a:pt x="0" y="227"/>
                    </a:cubicBezTo>
                    <a:cubicBezTo>
                      <a:pt x="0" y="352"/>
                      <a:pt x="102" y="453"/>
                      <a:pt x="227" y="453"/>
                    </a:cubicBezTo>
                    <a:cubicBezTo>
                      <a:pt x="276" y="453"/>
                      <a:pt x="322" y="437"/>
                      <a:pt x="359" y="410"/>
                    </a:cubicBezTo>
                    <a:lnTo>
                      <a:pt x="535" y="585"/>
                    </a:lnTo>
                    <a:lnTo>
                      <a:pt x="572" y="548"/>
                    </a:lnTo>
                    <a:lnTo>
                      <a:pt x="399" y="374"/>
                    </a:lnTo>
                    <a:cubicBezTo>
                      <a:pt x="433" y="335"/>
                      <a:pt x="454" y="283"/>
                      <a:pt x="454" y="227"/>
                    </a:cubicBezTo>
                    <a:cubicBezTo>
                      <a:pt x="454" y="102"/>
                      <a:pt x="352" y="0"/>
                      <a:pt x="227" y="0"/>
                    </a:cubicBezTo>
                    <a:close/>
                    <a:moveTo>
                      <a:pt x="227" y="27"/>
                    </a:moveTo>
                    <a:cubicBezTo>
                      <a:pt x="338" y="27"/>
                      <a:pt x="427" y="116"/>
                      <a:pt x="427" y="227"/>
                    </a:cubicBezTo>
                    <a:cubicBezTo>
                      <a:pt x="427" y="337"/>
                      <a:pt x="338" y="427"/>
                      <a:pt x="227" y="427"/>
                    </a:cubicBezTo>
                    <a:cubicBezTo>
                      <a:pt x="116" y="427"/>
                      <a:pt x="27" y="337"/>
                      <a:pt x="27" y="227"/>
                    </a:cubicBezTo>
                    <a:cubicBezTo>
                      <a:pt x="27" y="116"/>
                      <a:pt x="116" y="27"/>
                      <a:pt x="227" y="27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sz="900"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p:grpSp>
        <p:grpSp>
          <p:nvGrpSpPr>
            <p:cNvPr id="349" name="그룹 348"/>
            <p:cNvGrpSpPr/>
            <p:nvPr/>
          </p:nvGrpSpPr>
          <p:grpSpPr>
            <a:xfrm>
              <a:off x="8569357" y="4493776"/>
              <a:ext cx="216000" cy="288000"/>
              <a:chOff x="8569357" y="4493776"/>
              <a:chExt cx="216000" cy="288000"/>
            </a:xfrm>
          </p:grpSpPr>
          <p:sp>
            <p:nvSpPr>
              <p:cNvPr id="369" name="직사각형 368">
                <a:extLst>
                  <a:ext uri="{FF2B5EF4-FFF2-40B4-BE49-F238E27FC236}">
                    <a16:creationId xmlns:a16="http://schemas.microsoft.com/office/drawing/2014/main" xmlns="" id="{63F66E7F-2D1E-4CBD-B45B-15A86245F581}"/>
                  </a:ext>
                </a:extLst>
              </p:cNvPr>
              <p:cNvSpPr/>
              <p:nvPr/>
            </p:nvSpPr>
            <p:spPr>
              <a:xfrm>
                <a:off x="8569357" y="4493776"/>
                <a:ext cx="216000" cy="288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ko-KR" altLang="en-US" sz="70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  <p:grpSp>
            <p:nvGrpSpPr>
              <p:cNvPr id="370" name="그룹 369"/>
              <p:cNvGrpSpPr/>
              <p:nvPr/>
            </p:nvGrpSpPr>
            <p:grpSpPr>
              <a:xfrm>
                <a:off x="8605357" y="4565776"/>
                <a:ext cx="144000" cy="144000"/>
                <a:chOff x="6048437" y="1861504"/>
                <a:chExt cx="144000" cy="144000"/>
              </a:xfrm>
            </p:grpSpPr>
            <p:sp>
              <p:nvSpPr>
                <p:cNvPr id="371" name="사각형: 둥근 모서리 393">
                  <a:extLst>
                    <a:ext uri="{FF2B5EF4-FFF2-40B4-BE49-F238E27FC236}">
                      <a16:creationId xmlns:a16="http://schemas.microsoft.com/office/drawing/2014/main" xmlns="" id="{8A287835-68DF-4959-BC75-5C6CB44CA232}"/>
                    </a:ext>
                  </a:extLst>
                </p:cNvPr>
                <p:cNvSpPr/>
                <p:nvPr/>
              </p:nvSpPr>
              <p:spPr bwMode="auto">
                <a:xfrm>
                  <a:off x="6048437" y="1861504"/>
                  <a:ext cx="144000" cy="144000"/>
                </a:xfrm>
                <a:prstGeom prst="roundRect">
                  <a:avLst/>
                </a:prstGeom>
                <a:solidFill>
                  <a:schemeClr val="bg1"/>
                </a:solidFill>
                <a:ln w="3175" cap="flat" cmpd="sng" algn="ctr">
                  <a:solidFill>
                    <a:schemeClr val="bg1">
                      <a:lumMod val="75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>
                  <a:innerShdw blurRad="12700" dist="12700" dir="13500000">
                    <a:schemeClr val="tx1">
                      <a:lumMod val="75000"/>
                      <a:lumOff val="25000"/>
                      <a:alpha val="30000"/>
                    </a:schemeClr>
                  </a:innerShdw>
                </a:effectLst>
              </p:spPr>
              <p:txBody>
      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 fontAlgn="base" latinLnBrk="0">
                    <a:spcBef>
                      <a:spcPct val="0"/>
                    </a:spcBef>
                    <a:spcAft>
                      <a:spcPct val="0"/>
                    </a:spcAft>
                  </a:pPr>
                  <a:endParaRPr kumimoji="1" lang="ko-KR" altLang="en-US" sz="700" b="1" kern="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endParaRPr>
                </a:p>
              </p:txBody>
            </p:sp>
            <p:sp>
              <p:nvSpPr>
                <p:cNvPr id="372" name="Accept"/>
                <p:cNvSpPr>
                  <a:spLocks noChangeAspect="1"/>
                </p:cNvSpPr>
                <p:nvPr/>
              </p:nvSpPr>
              <p:spPr bwMode="auto">
                <a:xfrm>
                  <a:off x="6079874" y="1897504"/>
                  <a:ext cx="81127" cy="72000"/>
                </a:xfrm>
                <a:custGeom>
                  <a:avLst/>
                  <a:gdLst>
                    <a:gd name="T0" fmla="*/ 504 w 525"/>
                    <a:gd name="T1" fmla="*/ 3 h 467"/>
                    <a:gd name="T2" fmla="*/ 495 w 525"/>
                    <a:gd name="T3" fmla="*/ 9 h 467"/>
                    <a:gd name="T4" fmla="*/ 223 w 525"/>
                    <a:gd name="T5" fmla="*/ 431 h 467"/>
                    <a:gd name="T6" fmla="*/ 35 w 525"/>
                    <a:gd name="T7" fmla="*/ 262 h 467"/>
                    <a:gd name="T8" fmla="*/ 18 w 525"/>
                    <a:gd name="T9" fmla="*/ 282 h 467"/>
                    <a:gd name="T10" fmla="*/ 217 w 525"/>
                    <a:gd name="T11" fmla="*/ 462 h 467"/>
                    <a:gd name="T12" fmla="*/ 237 w 525"/>
                    <a:gd name="T13" fmla="*/ 459 h 467"/>
                    <a:gd name="T14" fmla="*/ 518 w 525"/>
                    <a:gd name="T15" fmla="*/ 23 h 467"/>
                    <a:gd name="T16" fmla="*/ 504 w 525"/>
                    <a:gd name="T17" fmla="*/ 3 h 46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525" h="467">
                      <a:moveTo>
                        <a:pt x="504" y="3"/>
                      </a:moveTo>
                      <a:cubicBezTo>
                        <a:pt x="500" y="3"/>
                        <a:pt x="497" y="6"/>
                        <a:pt x="495" y="9"/>
                      </a:cubicBezTo>
                      <a:lnTo>
                        <a:pt x="223" y="431"/>
                      </a:lnTo>
                      <a:lnTo>
                        <a:pt x="35" y="262"/>
                      </a:lnTo>
                      <a:cubicBezTo>
                        <a:pt x="22" y="245"/>
                        <a:pt x="0" y="271"/>
                        <a:pt x="18" y="282"/>
                      </a:cubicBezTo>
                      <a:lnTo>
                        <a:pt x="217" y="462"/>
                      </a:lnTo>
                      <a:cubicBezTo>
                        <a:pt x="223" y="467"/>
                        <a:pt x="232" y="466"/>
                        <a:pt x="237" y="459"/>
                      </a:cubicBezTo>
                      <a:lnTo>
                        <a:pt x="518" y="23"/>
                      </a:lnTo>
                      <a:cubicBezTo>
                        <a:pt x="525" y="13"/>
                        <a:pt x="515" y="0"/>
                        <a:pt x="504" y="3"/>
                      </a:cubicBezTo>
                      <a:close/>
                    </a:path>
                  </a:pathLst>
                </a:custGeom>
                <a:solidFill>
                  <a:srgbClr val="C00000"/>
                </a:solidFill>
                <a:ln>
                  <a:solidFill>
                    <a:schemeClr val="tx1">
                      <a:lumMod val="75000"/>
                      <a:lumOff val="25000"/>
                    </a:schemeClr>
                  </a:solidFill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en-US" sz="900">
                    <a:latin typeface="Segoe UI" panose="020B0502040204020203" pitchFamily="34" charset="0"/>
                    <a:cs typeface="Segoe UI" panose="020B0502040204020203" pitchFamily="34" charset="0"/>
                  </a:endParaRPr>
                </a:p>
              </p:txBody>
            </p:sp>
          </p:grpSp>
        </p:grpSp>
        <p:grpSp>
          <p:nvGrpSpPr>
            <p:cNvPr id="350" name="그룹 349"/>
            <p:cNvGrpSpPr/>
            <p:nvPr/>
          </p:nvGrpSpPr>
          <p:grpSpPr>
            <a:xfrm>
              <a:off x="8569357" y="4781924"/>
              <a:ext cx="216000" cy="288000"/>
              <a:chOff x="8569357" y="4781924"/>
              <a:chExt cx="216000" cy="288000"/>
            </a:xfrm>
          </p:grpSpPr>
          <p:sp>
            <p:nvSpPr>
              <p:cNvPr id="365" name="직사각형 364">
                <a:extLst>
                  <a:ext uri="{FF2B5EF4-FFF2-40B4-BE49-F238E27FC236}">
                    <a16:creationId xmlns:a16="http://schemas.microsoft.com/office/drawing/2014/main" xmlns="" id="{63F66E7F-2D1E-4CBD-B45B-15A86245F581}"/>
                  </a:ext>
                </a:extLst>
              </p:cNvPr>
              <p:cNvSpPr/>
              <p:nvPr/>
            </p:nvSpPr>
            <p:spPr>
              <a:xfrm>
                <a:off x="8569357" y="4781924"/>
                <a:ext cx="216000" cy="288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ko-KR" altLang="en-US" sz="70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  <p:grpSp>
            <p:nvGrpSpPr>
              <p:cNvPr id="366" name="그룹 365"/>
              <p:cNvGrpSpPr/>
              <p:nvPr/>
            </p:nvGrpSpPr>
            <p:grpSpPr>
              <a:xfrm>
                <a:off x="8605357" y="4853924"/>
                <a:ext cx="144000" cy="144000"/>
                <a:chOff x="6048437" y="1861504"/>
                <a:chExt cx="144000" cy="144000"/>
              </a:xfrm>
            </p:grpSpPr>
            <p:sp>
              <p:nvSpPr>
                <p:cNvPr id="367" name="사각형: 둥근 모서리 393">
                  <a:extLst>
                    <a:ext uri="{FF2B5EF4-FFF2-40B4-BE49-F238E27FC236}">
                      <a16:creationId xmlns:a16="http://schemas.microsoft.com/office/drawing/2014/main" xmlns="" id="{8A287835-68DF-4959-BC75-5C6CB44CA232}"/>
                    </a:ext>
                  </a:extLst>
                </p:cNvPr>
                <p:cNvSpPr/>
                <p:nvPr/>
              </p:nvSpPr>
              <p:spPr bwMode="auto">
                <a:xfrm>
                  <a:off x="6048437" y="1861504"/>
                  <a:ext cx="144000" cy="144000"/>
                </a:xfrm>
                <a:prstGeom prst="roundRect">
                  <a:avLst/>
                </a:prstGeom>
                <a:solidFill>
                  <a:schemeClr val="bg1"/>
                </a:solidFill>
                <a:ln w="3175" cap="flat" cmpd="sng" algn="ctr">
                  <a:solidFill>
                    <a:schemeClr val="bg1">
                      <a:lumMod val="75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>
                  <a:innerShdw blurRad="12700" dist="12700" dir="13500000">
                    <a:schemeClr val="tx1">
                      <a:lumMod val="75000"/>
                      <a:lumOff val="25000"/>
                      <a:alpha val="30000"/>
                    </a:schemeClr>
                  </a:innerShdw>
                </a:effectLst>
              </p:spPr>
              <p:txBody>
      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 fontAlgn="base" latinLnBrk="0">
                    <a:spcBef>
                      <a:spcPct val="0"/>
                    </a:spcBef>
                    <a:spcAft>
                      <a:spcPct val="0"/>
                    </a:spcAft>
                  </a:pPr>
                  <a:endParaRPr kumimoji="1" lang="ko-KR" altLang="en-US" sz="700" b="1" kern="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endParaRPr>
                </a:p>
              </p:txBody>
            </p:sp>
            <p:sp>
              <p:nvSpPr>
                <p:cNvPr id="368" name="Accept"/>
                <p:cNvSpPr>
                  <a:spLocks noChangeAspect="1"/>
                </p:cNvSpPr>
                <p:nvPr/>
              </p:nvSpPr>
              <p:spPr bwMode="auto">
                <a:xfrm>
                  <a:off x="6079874" y="1897504"/>
                  <a:ext cx="81127" cy="72000"/>
                </a:xfrm>
                <a:custGeom>
                  <a:avLst/>
                  <a:gdLst>
                    <a:gd name="T0" fmla="*/ 504 w 525"/>
                    <a:gd name="T1" fmla="*/ 3 h 467"/>
                    <a:gd name="T2" fmla="*/ 495 w 525"/>
                    <a:gd name="T3" fmla="*/ 9 h 467"/>
                    <a:gd name="T4" fmla="*/ 223 w 525"/>
                    <a:gd name="T5" fmla="*/ 431 h 467"/>
                    <a:gd name="T6" fmla="*/ 35 w 525"/>
                    <a:gd name="T7" fmla="*/ 262 h 467"/>
                    <a:gd name="T8" fmla="*/ 18 w 525"/>
                    <a:gd name="T9" fmla="*/ 282 h 467"/>
                    <a:gd name="T10" fmla="*/ 217 w 525"/>
                    <a:gd name="T11" fmla="*/ 462 h 467"/>
                    <a:gd name="T12" fmla="*/ 237 w 525"/>
                    <a:gd name="T13" fmla="*/ 459 h 467"/>
                    <a:gd name="T14" fmla="*/ 518 w 525"/>
                    <a:gd name="T15" fmla="*/ 23 h 467"/>
                    <a:gd name="T16" fmla="*/ 504 w 525"/>
                    <a:gd name="T17" fmla="*/ 3 h 46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525" h="467">
                      <a:moveTo>
                        <a:pt x="504" y="3"/>
                      </a:moveTo>
                      <a:cubicBezTo>
                        <a:pt x="500" y="3"/>
                        <a:pt x="497" y="6"/>
                        <a:pt x="495" y="9"/>
                      </a:cubicBezTo>
                      <a:lnTo>
                        <a:pt x="223" y="431"/>
                      </a:lnTo>
                      <a:lnTo>
                        <a:pt x="35" y="262"/>
                      </a:lnTo>
                      <a:cubicBezTo>
                        <a:pt x="22" y="245"/>
                        <a:pt x="0" y="271"/>
                        <a:pt x="18" y="282"/>
                      </a:cubicBezTo>
                      <a:lnTo>
                        <a:pt x="217" y="462"/>
                      </a:lnTo>
                      <a:cubicBezTo>
                        <a:pt x="223" y="467"/>
                        <a:pt x="232" y="466"/>
                        <a:pt x="237" y="459"/>
                      </a:cubicBezTo>
                      <a:lnTo>
                        <a:pt x="518" y="23"/>
                      </a:lnTo>
                      <a:cubicBezTo>
                        <a:pt x="525" y="13"/>
                        <a:pt x="515" y="0"/>
                        <a:pt x="504" y="3"/>
                      </a:cubicBezTo>
                      <a:close/>
                    </a:path>
                  </a:pathLst>
                </a:custGeom>
                <a:solidFill>
                  <a:srgbClr val="C00000"/>
                </a:solidFill>
                <a:ln>
                  <a:solidFill>
                    <a:schemeClr val="tx1">
                      <a:lumMod val="75000"/>
                      <a:lumOff val="25000"/>
                    </a:schemeClr>
                  </a:solidFill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en-US" sz="900">
                    <a:latin typeface="Segoe UI" panose="020B0502040204020203" pitchFamily="34" charset="0"/>
                    <a:cs typeface="Segoe UI" panose="020B0502040204020203" pitchFamily="34" charset="0"/>
                  </a:endParaRPr>
                </a:p>
              </p:txBody>
            </p:sp>
          </p:grpSp>
        </p:grpSp>
        <p:grpSp>
          <p:nvGrpSpPr>
            <p:cNvPr id="351" name="그룹 350"/>
            <p:cNvGrpSpPr/>
            <p:nvPr/>
          </p:nvGrpSpPr>
          <p:grpSpPr>
            <a:xfrm>
              <a:off x="8569357" y="5070072"/>
              <a:ext cx="216000" cy="288000"/>
              <a:chOff x="8569357" y="5070072"/>
              <a:chExt cx="216000" cy="288000"/>
            </a:xfrm>
          </p:grpSpPr>
          <p:sp>
            <p:nvSpPr>
              <p:cNvPr id="363" name="직사각형 362">
                <a:extLst>
                  <a:ext uri="{FF2B5EF4-FFF2-40B4-BE49-F238E27FC236}">
                    <a16:creationId xmlns:a16="http://schemas.microsoft.com/office/drawing/2014/main" xmlns="" id="{63F66E7F-2D1E-4CBD-B45B-15A86245F581}"/>
                  </a:ext>
                </a:extLst>
              </p:cNvPr>
              <p:cNvSpPr/>
              <p:nvPr/>
            </p:nvSpPr>
            <p:spPr>
              <a:xfrm>
                <a:off x="8569357" y="5070072"/>
                <a:ext cx="216000" cy="288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ko-KR" altLang="en-US" sz="70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  <p:sp>
            <p:nvSpPr>
              <p:cNvPr id="364" name="사각형: 둥근 모서리 393">
                <a:extLst>
                  <a:ext uri="{FF2B5EF4-FFF2-40B4-BE49-F238E27FC236}">
                    <a16:creationId xmlns:a16="http://schemas.microsoft.com/office/drawing/2014/main" xmlns="" id="{8A287835-68DF-4959-BC75-5C6CB44CA232}"/>
                  </a:ext>
                </a:extLst>
              </p:cNvPr>
              <p:cNvSpPr/>
              <p:nvPr/>
            </p:nvSpPr>
            <p:spPr bwMode="auto">
              <a:xfrm>
                <a:off x="8605357" y="5142072"/>
                <a:ext cx="144000" cy="144000"/>
              </a:xfrm>
              <a:prstGeom prst="roundRect">
                <a:avLst/>
              </a:prstGeom>
              <a:solidFill>
                <a:schemeClr val="bg1"/>
              </a:solidFill>
              <a:ln w="3175" cap="flat" cmpd="sng" algn="ctr">
                <a:solidFill>
                  <a:schemeClr val="bg1">
                    <a:lumMod val="7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>
                <a:innerShdw blurRad="12700" dist="12700" dir="13500000">
                  <a:schemeClr val="tx1">
                    <a:lumMod val="75000"/>
                    <a:lumOff val="25000"/>
                    <a:alpha val="30000"/>
                  </a:schemeClr>
                </a:innerShdw>
              </a:effectLst>
            </p:spPr>
            <p:txBody>
    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fontAlgn="base" latinLnBrk="0">
                  <a:spcBef>
                    <a:spcPct val="0"/>
                  </a:spcBef>
                  <a:spcAft>
                    <a:spcPct val="0"/>
                  </a:spcAft>
                </a:pPr>
                <a:endParaRPr kumimoji="1" lang="ko-KR" altLang="en-US" sz="700" b="1" kern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</p:grpSp>
        <p:grpSp>
          <p:nvGrpSpPr>
            <p:cNvPr id="352" name="그룹 351"/>
            <p:cNvGrpSpPr/>
            <p:nvPr/>
          </p:nvGrpSpPr>
          <p:grpSpPr>
            <a:xfrm>
              <a:off x="8569357" y="5358220"/>
              <a:ext cx="216000" cy="288000"/>
              <a:chOff x="8569357" y="5358220"/>
              <a:chExt cx="216000" cy="288000"/>
            </a:xfrm>
          </p:grpSpPr>
          <p:sp>
            <p:nvSpPr>
              <p:cNvPr id="359" name="직사각형 358">
                <a:extLst>
                  <a:ext uri="{FF2B5EF4-FFF2-40B4-BE49-F238E27FC236}">
                    <a16:creationId xmlns:a16="http://schemas.microsoft.com/office/drawing/2014/main" xmlns="" id="{63F66E7F-2D1E-4CBD-B45B-15A86245F581}"/>
                  </a:ext>
                </a:extLst>
              </p:cNvPr>
              <p:cNvSpPr/>
              <p:nvPr/>
            </p:nvSpPr>
            <p:spPr>
              <a:xfrm>
                <a:off x="8569357" y="5358220"/>
                <a:ext cx="216000" cy="288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ko-KR" altLang="en-US" sz="70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  <p:grpSp>
            <p:nvGrpSpPr>
              <p:cNvPr id="360" name="그룹 359"/>
              <p:cNvGrpSpPr/>
              <p:nvPr/>
            </p:nvGrpSpPr>
            <p:grpSpPr>
              <a:xfrm>
                <a:off x="8605357" y="5430220"/>
                <a:ext cx="144000" cy="144000"/>
                <a:chOff x="6048437" y="1861504"/>
                <a:chExt cx="144000" cy="144000"/>
              </a:xfrm>
            </p:grpSpPr>
            <p:sp>
              <p:nvSpPr>
                <p:cNvPr id="361" name="사각형: 둥근 모서리 393">
                  <a:extLst>
                    <a:ext uri="{FF2B5EF4-FFF2-40B4-BE49-F238E27FC236}">
                      <a16:creationId xmlns:a16="http://schemas.microsoft.com/office/drawing/2014/main" xmlns="" id="{8A287835-68DF-4959-BC75-5C6CB44CA232}"/>
                    </a:ext>
                  </a:extLst>
                </p:cNvPr>
                <p:cNvSpPr/>
                <p:nvPr/>
              </p:nvSpPr>
              <p:spPr bwMode="auto">
                <a:xfrm>
                  <a:off x="6048437" y="1861504"/>
                  <a:ext cx="144000" cy="144000"/>
                </a:xfrm>
                <a:prstGeom prst="roundRect">
                  <a:avLst/>
                </a:prstGeom>
                <a:solidFill>
                  <a:schemeClr val="bg1"/>
                </a:solidFill>
                <a:ln w="3175" cap="flat" cmpd="sng" algn="ctr">
                  <a:solidFill>
                    <a:schemeClr val="bg1">
                      <a:lumMod val="75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>
                  <a:innerShdw blurRad="12700" dist="12700" dir="13500000">
                    <a:schemeClr val="tx1">
                      <a:lumMod val="75000"/>
                      <a:lumOff val="25000"/>
                      <a:alpha val="30000"/>
                    </a:schemeClr>
                  </a:innerShdw>
                </a:effectLst>
              </p:spPr>
              <p:txBody>
      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 fontAlgn="base" latinLnBrk="0">
                    <a:spcBef>
                      <a:spcPct val="0"/>
                    </a:spcBef>
                    <a:spcAft>
                      <a:spcPct val="0"/>
                    </a:spcAft>
                  </a:pPr>
                  <a:endParaRPr kumimoji="1" lang="ko-KR" altLang="en-US" sz="700" b="1" kern="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endParaRPr>
                </a:p>
              </p:txBody>
            </p:sp>
            <p:sp>
              <p:nvSpPr>
                <p:cNvPr id="362" name="Accept"/>
                <p:cNvSpPr>
                  <a:spLocks noChangeAspect="1"/>
                </p:cNvSpPr>
                <p:nvPr/>
              </p:nvSpPr>
              <p:spPr bwMode="auto">
                <a:xfrm>
                  <a:off x="6079874" y="1897504"/>
                  <a:ext cx="81127" cy="72000"/>
                </a:xfrm>
                <a:custGeom>
                  <a:avLst/>
                  <a:gdLst>
                    <a:gd name="T0" fmla="*/ 504 w 525"/>
                    <a:gd name="T1" fmla="*/ 3 h 467"/>
                    <a:gd name="T2" fmla="*/ 495 w 525"/>
                    <a:gd name="T3" fmla="*/ 9 h 467"/>
                    <a:gd name="T4" fmla="*/ 223 w 525"/>
                    <a:gd name="T5" fmla="*/ 431 h 467"/>
                    <a:gd name="T6" fmla="*/ 35 w 525"/>
                    <a:gd name="T7" fmla="*/ 262 h 467"/>
                    <a:gd name="T8" fmla="*/ 18 w 525"/>
                    <a:gd name="T9" fmla="*/ 282 h 467"/>
                    <a:gd name="T10" fmla="*/ 217 w 525"/>
                    <a:gd name="T11" fmla="*/ 462 h 467"/>
                    <a:gd name="T12" fmla="*/ 237 w 525"/>
                    <a:gd name="T13" fmla="*/ 459 h 467"/>
                    <a:gd name="T14" fmla="*/ 518 w 525"/>
                    <a:gd name="T15" fmla="*/ 23 h 467"/>
                    <a:gd name="T16" fmla="*/ 504 w 525"/>
                    <a:gd name="T17" fmla="*/ 3 h 46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525" h="467">
                      <a:moveTo>
                        <a:pt x="504" y="3"/>
                      </a:moveTo>
                      <a:cubicBezTo>
                        <a:pt x="500" y="3"/>
                        <a:pt x="497" y="6"/>
                        <a:pt x="495" y="9"/>
                      </a:cubicBezTo>
                      <a:lnTo>
                        <a:pt x="223" y="431"/>
                      </a:lnTo>
                      <a:lnTo>
                        <a:pt x="35" y="262"/>
                      </a:lnTo>
                      <a:cubicBezTo>
                        <a:pt x="22" y="245"/>
                        <a:pt x="0" y="271"/>
                        <a:pt x="18" y="282"/>
                      </a:cubicBezTo>
                      <a:lnTo>
                        <a:pt x="217" y="462"/>
                      </a:lnTo>
                      <a:cubicBezTo>
                        <a:pt x="223" y="467"/>
                        <a:pt x="232" y="466"/>
                        <a:pt x="237" y="459"/>
                      </a:cubicBezTo>
                      <a:lnTo>
                        <a:pt x="518" y="23"/>
                      </a:lnTo>
                      <a:cubicBezTo>
                        <a:pt x="525" y="13"/>
                        <a:pt x="515" y="0"/>
                        <a:pt x="504" y="3"/>
                      </a:cubicBezTo>
                      <a:close/>
                    </a:path>
                  </a:pathLst>
                </a:custGeom>
                <a:solidFill>
                  <a:srgbClr val="C00000"/>
                </a:solidFill>
                <a:ln>
                  <a:solidFill>
                    <a:schemeClr val="tx1">
                      <a:lumMod val="75000"/>
                      <a:lumOff val="25000"/>
                    </a:schemeClr>
                  </a:solidFill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en-US" sz="900">
                    <a:latin typeface="Segoe UI" panose="020B0502040204020203" pitchFamily="34" charset="0"/>
                    <a:cs typeface="Segoe UI" panose="020B0502040204020203" pitchFamily="34" charset="0"/>
                  </a:endParaRPr>
                </a:p>
              </p:txBody>
            </p:sp>
          </p:grpSp>
        </p:grpSp>
        <p:grpSp>
          <p:nvGrpSpPr>
            <p:cNvPr id="353" name="그룹 352"/>
            <p:cNvGrpSpPr/>
            <p:nvPr/>
          </p:nvGrpSpPr>
          <p:grpSpPr>
            <a:xfrm>
              <a:off x="8569357" y="5646368"/>
              <a:ext cx="216000" cy="288000"/>
              <a:chOff x="8569357" y="5646368"/>
              <a:chExt cx="216000" cy="288000"/>
            </a:xfrm>
          </p:grpSpPr>
          <p:sp>
            <p:nvSpPr>
              <p:cNvPr id="357" name="직사각형 356">
                <a:extLst>
                  <a:ext uri="{FF2B5EF4-FFF2-40B4-BE49-F238E27FC236}">
                    <a16:creationId xmlns:a16="http://schemas.microsoft.com/office/drawing/2014/main" xmlns="" id="{63F66E7F-2D1E-4CBD-B45B-15A86245F581}"/>
                  </a:ext>
                </a:extLst>
              </p:cNvPr>
              <p:cNvSpPr/>
              <p:nvPr/>
            </p:nvSpPr>
            <p:spPr>
              <a:xfrm>
                <a:off x="8569357" y="5646368"/>
                <a:ext cx="216000" cy="288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ko-KR" altLang="en-US" sz="70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  <p:sp>
            <p:nvSpPr>
              <p:cNvPr id="358" name="사각형: 둥근 모서리 393">
                <a:extLst>
                  <a:ext uri="{FF2B5EF4-FFF2-40B4-BE49-F238E27FC236}">
                    <a16:creationId xmlns:a16="http://schemas.microsoft.com/office/drawing/2014/main" xmlns="" id="{8A287835-68DF-4959-BC75-5C6CB44CA232}"/>
                  </a:ext>
                </a:extLst>
              </p:cNvPr>
              <p:cNvSpPr/>
              <p:nvPr/>
            </p:nvSpPr>
            <p:spPr bwMode="auto">
              <a:xfrm>
                <a:off x="8605357" y="5718368"/>
                <a:ext cx="144000" cy="144000"/>
              </a:xfrm>
              <a:prstGeom prst="roundRect">
                <a:avLst/>
              </a:prstGeom>
              <a:solidFill>
                <a:schemeClr val="bg1"/>
              </a:solidFill>
              <a:ln w="3175" cap="flat" cmpd="sng" algn="ctr">
                <a:solidFill>
                  <a:schemeClr val="bg1">
                    <a:lumMod val="7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>
                <a:innerShdw blurRad="12700" dist="12700" dir="13500000">
                  <a:schemeClr val="tx1">
                    <a:lumMod val="75000"/>
                    <a:lumOff val="25000"/>
                    <a:alpha val="30000"/>
                  </a:schemeClr>
                </a:innerShdw>
              </a:effectLst>
            </p:spPr>
            <p:txBody>
    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fontAlgn="base" latinLnBrk="0">
                  <a:spcBef>
                    <a:spcPct val="0"/>
                  </a:spcBef>
                  <a:spcAft>
                    <a:spcPct val="0"/>
                  </a:spcAft>
                </a:pPr>
                <a:endParaRPr kumimoji="1" lang="ko-KR" altLang="en-US" sz="700" b="1" kern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</p:grpSp>
        <p:grpSp>
          <p:nvGrpSpPr>
            <p:cNvPr id="354" name="그룹 353"/>
            <p:cNvGrpSpPr/>
            <p:nvPr/>
          </p:nvGrpSpPr>
          <p:grpSpPr>
            <a:xfrm>
              <a:off x="8569357" y="5934516"/>
              <a:ext cx="216000" cy="288000"/>
              <a:chOff x="8569357" y="5934516"/>
              <a:chExt cx="216000" cy="288000"/>
            </a:xfrm>
          </p:grpSpPr>
          <p:sp>
            <p:nvSpPr>
              <p:cNvPr id="355" name="직사각형 354">
                <a:extLst>
                  <a:ext uri="{FF2B5EF4-FFF2-40B4-BE49-F238E27FC236}">
                    <a16:creationId xmlns:a16="http://schemas.microsoft.com/office/drawing/2014/main" xmlns="" id="{63F66E7F-2D1E-4CBD-B45B-15A86245F581}"/>
                  </a:ext>
                </a:extLst>
              </p:cNvPr>
              <p:cNvSpPr/>
              <p:nvPr/>
            </p:nvSpPr>
            <p:spPr>
              <a:xfrm>
                <a:off x="8569357" y="5934516"/>
                <a:ext cx="216000" cy="288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ko-KR" altLang="en-US" sz="70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  <p:sp>
            <p:nvSpPr>
              <p:cNvPr id="356" name="사각형: 둥근 모서리 393">
                <a:extLst>
                  <a:ext uri="{FF2B5EF4-FFF2-40B4-BE49-F238E27FC236}">
                    <a16:creationId xmlns:a16="http://schemas.microsoft.com/office/drawing/2014/main" xmlns="" id="{8A287835-68DF-4959-BC75-5C6CB44CA232}"/>
                  </a:ext>
                </a:extLst>
              </p:cNvPr>
              <p:cNvSpPr/>
              <p:nvPr/>
            </p:nvSpPr>
            <p:spPr bwMode="auto">
              <a:xfrm>
                <a:off x="8605357" y="6006516"/>
                <a:ext cx="144000" cy="144000"/>
              </a:xfrm>
              <a:prstGeom prst="roundRect">
                <a:avLst/>
              </a:prstGeom>
              <a:solidFill>
                <a:schemeClr val="bg1"/>
              </a:solidFill>
              <a:ln w="3175" cap="flat" cmpd="sng" algn="ctr">
                <a:solidFill>
                  <a:schemeClr val="bg1">
                    <a:lumMod val="7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>
                <a:innerShdw blurRad="12700" dist="12700" dir="13500000">
                  <a:schemeClr val="tx1">
                    <a:lumMod val="75000"/>
                    <a:lumOff val="25000"/>
                    <a:alpha val="30000"/>
                  </a:schemeClr>
                </a:innerShdw>
              </a:effectLst>
            </p:spPr>
            <p:txBody>
    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fontAlgn="base" latinLnBrk="0">
                  <a:spcBef>
                    <a:spcPct val="0"/>
                  </a:spcBef>
                  <a:spcAft>
                    <a:spcPct val="0"/>
                  </a:spcAft>
                </a:pPr>
                <a:endParaRPr kumimoji="1" lang="ko-KR" altLang="en-US" sz="700" b="1" kern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</p:grpSp>
      </p:grpSp>
      <p:graphicFrame>
        <p:nvGraphicFramePr>
          <p:cNvPr id="207" name="Group 118">
            <a:extLst>
              <a:ext uri="{FF2B5EF4-FFF2-40B4-BE49-F238E27FC236}">
                <a16:creationId xmlns="" xmlns:a16="http://schemas.microsoft.com/office/drawing/2014/main" id="{41B5A014-BEDB-439E-A302-DBCECEC856B4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9647906" y="709700"/>
          <a:ext cx="2376000" cy="504000"/>
        </p:xfrm>
        <a:graphic>
          <a:graphicData uri="http://schemas.openxmlformats.org/drawingml/2006/table">
            <a:tbl>
              <a:tblPr/>
              <a:tblGrid>
                <a:gridCol w="216000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2160000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</a:tblGrid>
              <a:tr h="2520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 Semilight" panose="020B0502040204020203" pitchFamily="50" charset="-127"/>
                        </a:rPr>
                        <a:t>No</a:t>
                      </a:r>
                    </a:p>
                  </a:txBody>
                  <a:tcPr marL="42203" marR="42203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en-US" altLang="ko-KR" sz="700" b="0" baseline="0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 Semilight" panose="020B0502040204020203" pitchFamily="50" charset="-127"/>
                        </a:rPr>
                        <a:t>Description</a:t>
                      </a:r>
                    </a:p>
                  </a:txBody>
                  <a:tcPr marL="108000" marR="108000" marT="36000" marB="3600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 Semilight" panose="020B0502040204020203" pitchFamily="50" charset="-127"/>
                        </a:rPr>
                        <a:t>※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42203" marR="42203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ko-KR" altLang="en-US" sz="700" b="0" baseline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 Semilight" panose="020B0502040204020203" pitchFamily="50" charset="-127"/>
                        </a:rPr>
                        <a:t>매장재고연동 상세 예시</a:t>
                      </a:r>
                      <a:endParaRPr lang="en-US" altLang="ko-KR" sz="700" b="0" baseline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108000" marR="108000" marT="36000" marB="3600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945038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1_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>
            <a:lumMod val="95000"/>
          </a:schemeClr>
        </a:solidFill>
        <a:ln w="3175">
          <a:solidFill>
            <a:schemeClr val="bg1">
              <a:lumMod val="75000"/>
            </a:schemeClr>
          </a:solidFill>
        </a:ln>
      </a:spPr>
      <a:bodyPr rtlCol="0" anchor="ctr"/>
      <a:lstStyle>
        <a:defPPr algn="ctr">
          <a:defRPr sz="800">
            <a:solidFill>
              <a:schemeClr val="tx1">
                <a:lumMod val="75000"/>
                <a:lumOff val="25000"/>
              </a:schemeClr>
            </a:solidFill>
            <a:latin typeface="맑은 고딕" panose="020B0503020000020004" pitchFamily="50" charset="-127"/>
            <a:ea typeface="맑은 고딕" panose="020B0503020000020004" pitchFamily="50" charset="-127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none" lIns="36000" tIns="36000" rIns="36000" bIns="36000" rtlCol="0" anchor="ctr">
        <a:spAutoFit/>
      </a:bodyPr>
      <a:lstStyle>
        <a:defPPr>
          <a:defRPr sz="800" dirty="0">
            <a:solidFill>
              <a:schemeClr val="tx1">
                <a:lumMod val="75000"/>
                <a:lumOff val="25000"/>
              </a:schemeClr>
            </a:solidFill>
            <a:latin typeface="맑은 고딕" panose="020B0503020000020004" pitchFamily="50" charset="-127"/>
            <a:ea typeface="맑은 고딕" panose="020B0503020000020004" pitchFamily="50" charset="-127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137433</TotalTime>
  <Words>7920</Words>
  <Application>Microsoft Office PowerPoint</Application>
  <PresentationFormat>사용자 지정</PresentationFormat>
  <Paragraphs>3244</Paragraphs>
  <Slides>38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38</vt:i4>
      </vt:variant>
    </vt:vector>
  </HeadingPairs>
  <TitlesOfParts>
    <vt:vector size="46" baseType="lpstr">
      <vt:lpstr>Malgun Gothic Semilight</vt:lpstr>
      <vt:lpstr>맑은 고딕</vt:lpstr>
      <vt:lpstr>맑은 고딕</vt:lpstr>
      <vt:lpstr>Arial</vt:lpstr>
      <vt:lpstr>Calibri</vt:lpstr>
      <vt:lpstr>Segoe UI</vt:lpstr>
      <vt:lpstr>Wingdings</vt:lpstr>
      <vt:lpstr>1_Office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김지인</dc:creator>
  <cp:lastModifiedBy>최범열</cp:lastModifiedBy>
  <cp:revision>26332</cp:revision>
  <cp:lastPrinted>2023-11-16T08:45:09Z</cp:lastPrinted>
  <dcterms:created xsi:type="dcterms:W3CDTF">2021-02-15T00:35:33Z</dcterms:created>
  <dcterms:modified xsi:type="dcterms:W3CDTF">2026-04-15T09:04:13Z</dcterms:modified>
</cp:coreProperties>
</file>