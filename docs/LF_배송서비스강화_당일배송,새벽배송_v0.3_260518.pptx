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1"/>
  </p:notesMasterIdLst>
  <p:sldIdLst>
    <p:sldId id="256" r:id="rId2"/>
    <p:sldId id="322" r:id="rId3"/>
    <p:sldId id="346" r:id="rId4"/>
    <p:sldId id="327" r:id="rId5"/>
    <p:sldId id="350" r:id="rId6"/>
    <p:sldId id="349" r:id="rId7"/>
    <p:sldId id="348" r:id="rId8"/>
    <p:sldId id="347" r:id="rId9"/>
    <p:sldId id="351" r:id="rId10"/>
  </p:sldIdLst>
  <p:sldSz cx="12168188" cy="6840538"/>
  <p:notesSz cx="6858000" cy="9144000"/>
  <p:defaultTextStyle>
    <a:defPPr>
      <a:defRPr lang="ko-KR"/>
    </a:defPPr>
    <a:lvl1pPr marL="0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1pPr>
    <a:lvl2pPr marL="456194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2pPr>
    <a:lvl3pPr marL="912388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3pPr>
    <a:lvl4pPr marL="1368582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4pPr>
    <a:lvl5pPr marL="1824777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5pPr>
    <a:lvl6pPr marL="2280971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6pPr>
    <a:lvl7pPr marL="2737165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7pPr>
    <a:lvl8pPr marL="3193359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8pPr>
    <a:lvl9pPr marL="3649553" algn="l" defTabSz="912388" rtl="0" eaLnBrk="1" latinLnBrk="1" hangingPunct="1">
      <a:defRPr sz="179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FAC7ADD-389A-48ED-A3A5-25BBB1A0C40D}">
          <p14:sldIdLst>
            <p14:sldId id="256"/>
            <p14:sldId id="322"/>
            <p14:sldId id="346"/>
            <p14:sldId id="327"/>
            <p14:sldId id="350"/>
            <p14:sldId id="349"/>
            <p14:sldId id="348"/>
            <p14:sldId id="347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5E5"/>
    <a:srgbClr val="F4EDF9"/>
    <a:srgbClr val="F8FAFC"/>
    <a:srgbClr val="F9FBFD"/>
    <a:srgbClr val="F3F6FA"/>
    <a:srgbClr val="F4F4F5"/>
    <a:srgbClr val="D2CEC0"/>
    <a:srgbClr val="FFF5FF"/>
    <a:srgbClr val="FFEFFF"/>
    <a:srgbClr val="9A91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11" autoAdjust="0"/>
    <p:restoredTop sz="94660"/>
  </p:normalViewPr>
  <p:slideViewPr>
    <p:cSldViewPr snapToGrid="0">
      <p:cViewPr>
        <p:scale>
          <a:sx n="125" d="100"/>
          <a:sy n="125" d="100"/>
        </p:scale>
        <p:origin x="414" y="-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bychoi\01_&#45236;&#48512;&#47928;&#49436;\01_&#44592;&#54925;\03_&#48372;&#44256;&#49436;\&#49821;&#48176;&#49569;%20&#44053;&#54868;\24&#45380;_&#51452;&#47928;&#45936;&#51060;&#53552;_1~6&#50900;_&#51221;&#47532;_1_240807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2569618055555554E-2"/>
          <c:y val="0.11087301587301587"/>
          <c:w val="0.8256990451388887"/>
          <c:h val="0.67401587301587307"/>
        </c:manualLayout>
      </c:layout>
      <c:lineChart>
        <c:grouping val="standard"/>
        <c:varyColors val="0"/>
        <c:ser>
          <c:idx val="0"/>
          <c:order val="0"/>
          <c:tx>
            <c:strRef>
              <c:f>요약_3!$B$15</c:f>
              <c:strCache>
                <c:ptCount val="1"/>
                <c:pt idx="0">
                  <c:v>월평균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8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strRef>
              <c:f>요약_3!$C$3:$Z$3</c:f>
              <c:strCache>
                <c:ptCount val="24"/>
                <c:pt idx="0">
                  <c:v>00</c:v>
                </c:pt>
                <c:pt idx="1">
                  <c:v>01</c:v>
                </c:pt>
                <c:pt idx="2">
                  <c:v>02</c:v>
                </c:pt>
                <c:pt idx="3">
                  <c:v>03</c:v>
                </c:pt>
                <c:pt idx="4">
                  <c:v>04</c:v>
                </c:pt>
                <c:pt idx="5">
                  <c:v>05</c:v>
                </c:pt>
                <c:pt idx="6">
                  <c:v>06</c:v>
                </c:pt>
                <c:pt idx="7">
                  <c:v>07</c:v>
                </c:pt>
                <c:pt idx="8">
                  <c:v>08</c:v>
                </c:pt>
                <c:pt idx="9">
                  <c:v>09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요약_3!$C$15:$Z$15</c:f>
              <c:numCache>
                <c:formatCode>_(* #,##0_);_(* \(#,##0\);_(* "-"_);_(@_)</c:formatCode>
                <c:ptCount val="24"/>
                <c:pt idx="0">
                  <c:v>3316.1666666666665</c:v>
                </c:pt>
                <c:pt idx="1">
                  <c:v>1815.8333333333333</c:v>
                </c:pt>
                <c:pt idx="2">
                  <c:v>964.83333333333337</c:v>
                </c:pt>
                <c:pt idx="3">
                  <c:v>534.66666666666663</c:v>
                </c:pt>
                <c:pt idx="4">
                  <c:v>387.66666666666669</c:v>
                </c:pt>
                <c:pt idx="5">
                  <c:v>472.83333333333331</c:v>
                </c:pt>
                <c:pt idx="6">
                  <c:v>913.83333333333337</c:v>
                </c:pt>
                <c:pt idx="7">
                  <c:v>1738.6666666666667</c:v>
                </c:pt>
                <c:pt idx="8">
                  <c:v>3072.1666666666665</c:v>
                </c:pt>
                <c:pt idx="9">
                  <c:v>4102.5</c:v>
                </c:pt>
                <c:pt idx="10">
                  <c:v>4999</c:v>
                </c:pt>
                <c:pt idx="11">
                  <c:v>5144.333333333333</c:v>
                </c:pt>
                <c:pt idx="12">
                  <c:v>4647.333333333333</c:v>
                </c:pt>
                <c:pt idx="13">
                  <c:v>5178.166666666667</c:v>
                </c:pt>
                <c:pt idx="14">
                  <c:v>5346.666666666667</c:v>
                </c:pt>
                <c:pt idx="15">
                  <c:v>5023.166666666667</c:v>
                </c:pt>
                <c:pt idx="16">
                  <c:v>4980.833333333333</c:v>
                </c:pt>
                <c:pt idx="17">
                  <c:v>4746</c:v>
                </c:pt>
                <c:pt idx="18">
                  <c:v>4276.666666666667</c:v>
                </c:pt>
                <c:pt idx="19">
                  <c:v>4275</c:v>
                </c:pt>
                <c:pt idx="20">
                  <c:v>4799.666666666667</c:v>
                </c:pt>
                <c:pt idx="21">
                  <c:v>5355</c:v>
                </c:pt>
                <c:pt idx="22">
                  <c:v>5505</c:v>
                </c:pt>
                <c:pt idx="23">
                  <c:v>5210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E8-4FD2-829E-632AF52C42E9}"/>
            </c:ext>
          </c:extLst>
        </c:ser>
        <c:ser>
          <c:idx val="1"/>
          <c:order val="1"/>
          <c:tx>
            <c:strRef>
              <c:f>요약_3!$B$16</c:f>
              <c:strCache>
                <c:ptCount val="1"/>
                <c:pt idx="0">
                  <c:v>월평균 (VIP)</c:v>
                </c:pt>
              </c:strCache>
            </c:strRef>
          </c:tx>
          <c:spPr>
            <a:ln w="34925" cap="rnd">
              <a:solidFill>
                <a:schemeClr val="accent6">
                  <a:lumMod val="75000"/>
                </a:schemeClr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8"/>
            <c:spPr>
              <a:solidFill>
                <a:schemeClr val="accent6">
                  <a:lumMod val="75000"/>
                </a:schemeClr>
              </a:solidFill>
              <a:ln w="9525">
                <a:solidFill>
                  <a:schemeClr val="accent6">
                    <a:lumMod val="75000"/>
                  </a:schemeClr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strRef>
              <c:f>요약_3!$C$3:$Z$3</c:f>
              <c:strCache>
                <c:ptCount val="24"/>
                <c:pt idx="0">
                  <c:v>00</c:v>
                </c:pt>
                <c:pt idx="1">
                  <c:v>01</c:v>
                </c:pt>
                <c:pt idx="2">
                  <c:v>02</c:v>
                </c:pt>
                <c:pt idx="3">
                  <c:v>03</c:v>
                </c:pt>
                <c:pt idx="4">
                  <c:v>04</c:v>
                </c:pt>
                <c:pt idx="5">
                  <c:v>05</c:v>
                </c:pt>
                <c:pt idx="6">
                  <c:v>06</c:v>
                </c:pt>
                <c:pt idx="7">
                  <c:v>07</c:v>
                </c:pt>
                <c:pt idx="8">
                  <c:v>08</c:v>
                </c:pt>
                <c:pt idx="9">
                  <c:v>09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요약_3!$C$16:$Z$16</c:f>
              <c:numCache>
                <c:formatCode>_(* #,##0_);_(* \(#,##0\);_(* "-"_);_(@_)</c:formatCode>
                <c:ptCount val="24"/>
                <c:pt idx="0">
                  <c:v>1322.6666666666667</c:v>
                </c:pt>
                <c:pt idx="1">
                  <c:v>737.83333333333337</c:v>
                </c:pt>
                <c:pt idx="2">
                  <c:v>403.83333333333331</c:v>
                </c:pt>
                <c:pt idx="3">
                  <c:v>210.66666666666666</c:v>
                </c:pt>
                <c:pt idx="4">
                  <c:v>159</c:v>
                </c:pt>
                <c:pt idx="5">
                  <c:v>210.83333333333334</c:v>
                </c:pt>
                <c:pt idx="6">
                  <c:v>422.5</c:v>
                </c:pt>
                <c:pt idx="7">
                  <c:v>770</c:v>
                </c:pt>
                <c:pt idx="8">
                  <c:v>1368</c:v>
                </c:pt>
                <c:pt idx="9">
                  <c:v>1758.5</c:v>
                </c:pt>
                <c:pt idx="10">
                  <c:v>2173</c:v>
                </c:pt>
                <c:pt idx="11">
                  <c:v>2154.6666666666665</c:v>
                </c:pt>
                <c:pt idx="12">
                  <c:v>1912.6666666666667</c:v>
                </c:pt>
                <c:pt idx="13">
                  <c:v>2196.5</c:v>
                </c:pt>
                <c:pt idx="14">
                  <c:v>2199.1666666666665</c:v>
                </c:pt>
                <c:pt idx="15">
                  <c:v>2032</c:v>
                </c:pt>
                <c:pt idx="16">
                  <c:v>2057.6666666666665</c:v>
                </c:pt>
                <c:pt idx="17">
                  <c:v>1873.3333333333333</c:v>
                </c:pt>
                <c:pt idx="18">
                  <c:v>1732.5</c:v>
                </c:pt>
                <c:pt idx="19">
                  <c:v>1691.8333333333333</c:v>
                </c:pt>
                <c:pt idx="20">
                  <c:v>1900.1666666666667</c:v>
                </c:pt>
                <c:pt idx="21">
                  <c:v>2138.8333333333335</c:v>
                </c:pt>
                <c:pt idx="22">
                  <c:v>2139.3333333333335</c:v>
                </c:pt>
                <c:pt idx="23">
                  <c:v>2171.8333333333335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E8-4FD2-829E-632AF52C42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09049720"/>
        <c:axId val="709047760"/>
      </c:lineChart>
      <c:catAx>
        <c:axId val="709049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09047760"/>
        <c:crosses val="autoZero"/>
        <c:auto val="0"/>
        <c:lblAlgn val="ctr"/>
        <c:lblOffset val="100"/>
        <c:noMultiLvlLbl val="0"/>
      </c:catAx>
      <c:valAx>
        <c:axId val="709047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_(* #,##0_);_(* \(#,##0\);_(* &quot;-&quot;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09049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>
      <a:outerShdw blurRad="25400" dist="25400" dir="2700000" algn="tl" rotWithShape="0">
        <a:schemeClr val="tx1">
          <a:lumMod val="75000"/>
          <a:lumOff val="25000"/>
          <a:alpha val="50000"/>
        </a:schemeClr>
      </a:outerShdw>
    </a:effectLst>
  </c:spPr>
  <c:txPr>
    <a:bodyPr/>
    <a:lstStyle/>
    <a:p>
      <a:pPr>
        <a:defRPr sz="800"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BBB49-ACD4-4383-AEF7-EF5A2D0E3B6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4213" y="1143000"/>
            <a:ext cx="548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A74E2A-C5E6-4BFD-810A-92AF8B60F7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457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1pPr>
    <a:lvl2pPr marL="456194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2pPr>
    <a:lvl3pPr marL="912388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3pPr>
    <a:lvl4pPr marL="1368582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4pPr>
    <a:lvl5pPr marL="1824777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5pPr>
    <a:lvl6pPr marL="2280971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6pPr>
    <a:lvl7pPr marL="2737165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7pPr>
    <a:lvl8pPr marL="3193359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8pPr>
    <a:lvl9pPr marL="3649553" algn="l" defTabSz="912388" rtl="0" eaLnBrk="1" latinLnBrk="1" hangingPunct="1">
      <a:defRPr sz="119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커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68188" cy="68405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07" tIns="45604" rIns="91207" bIns="456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792"/>
          </a:p>
        </p:txBody>
      </p:sp>
      <p:sp>
        <p:nvSpPr>
          <p:cNvPr id="8" name="모서리가 둥근 직사각형 7"/>
          <p:cNvSpPr/>
          <p:nvPr userDrawn="1"/>
        </p:nvSpPr>
        <p:spPr>
          <a:xfrm>
            <a:off x="144093" y="144269"/>
            <a:ext cx="11880000" cy="6552000"/>
          </a:xfrm>
          <a:prstGeom prst="roundRect">
            <a:avLst>
              <a:gd name="adj" fmla="val 3634"/>
            </a:avLst>
          </a:prstGeom>
          <a:solidFill>
            <a:schemeClr val="bg1"/>
          </a:solidFill>
          <a:ln>
            <a:noFill/>
          </a:ln>
          <a:effectLst>
            <a:innerShdw blurRad="635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07" tIns="45604" rIns="91207" bIns="456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792"/>
          </a:p>
        </p:txBody>
      </p:sp>
      <p:sp>
        <p:nvSpPr>
          <p:cNvPr id="9" name="직사각형 8"/>
          <p:cNvSpPr/>
          <p:nvPr userDrawn="1"/>
        </p:nvSpPr>
        <p:spPr>
          <a:xfrm>
            <a:off x="684094" y="1436333"/>
            <a:ext cx="2005677" cy="33791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96" baseline="0"/>
              <a:t>Mall </a:t>
            </a:r>
            <a:r>
              <a:rPr lang="ko-KR" altLang="en-US" sz="1596" baseline="0"/>
              <a:t>서비스기획 </a:t>
            </a:r>
            <a:r>
              <a:rPr lang="en-US" altLang="ko-KR" sz="1596" baseline="0" dirty="0"/>
              <a:t>BSU</a:t>
            </a:r>
            <a:endParaRPr lang="ko-KR" altLang="en-US" sz="1596" dirty="0"/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684094" y="3420269"/>
            <a:ext cx="108000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E6CBCE7-B83C-4ABD-8C65-A7D6AF73DA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94" y="718167"/>
            <a:ext cx="7685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3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;p13"/>
          <p:cNvSpPr txBox="1"/>
          <p:nvPr userDrawn="1"/>
        </p:nvSpPr>
        <p:spPr>
          <a:xfrm>
            <a:off x="144094" y="237094"/>
            <a:ext cx="1188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180000" tIns="72000" rIns="180000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b="1" i="0" u="none" strike="noStrike" cap="none">
              <a:solidFill>
                <a:srgbClr val="3F3F3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Arial"/>
              <a:sym typeface="Arial"/>
            </a:endParaRPr>
          </a:p>
        </p:txBody>
      </p:sp>
      <p:cxnSp>
        <p:nvCxnSpPr>
          <p:cNvPr id="4" name="Google Shape;65;p13"/>
          <p:cNvCxnSpPr/>
          <p:nvPr userDrawn="1"/>
        </p:nvCxnSpPr>
        <p:spPr>
          <a:xfrm>
            <a:off x="144094" y="836712"/>
            <a:ext cx="11880000" cy="2"/>
          </a:xfrm>
          <a:prstGeom prst="straightConnector1">
            <a:avLst/>
          </a:prstGeom>
          <a:noFill/>
          <a:ln w="12700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7DC3F44-E69A-4F60-A108-ACE9D6FEFDF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685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공통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 userDrawn="1"/>
        </p:nvSpPr>
        <p:spPr>
          <a:xfrm>
            <a:off x="188" y="433454"/>
            <a:ext cx="12168000" cy="64070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63500" dist="12700" dir="16200000">
              <a:schemeClr val="tx1">
                <a:lumMod val="85000"/>
                <a:lumOff val="15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07" tIns="45604" rIns="91207" bIns="456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792"/>
          </a:p>
        </p:txBody>
      </p:sp>
      <p:sp>
        <p:nvSpPr>
          <p:cNvPr id="5" name="직사각형 4"/>
          <p:cNvSpPr/>
          <p:nvPr userDrawn="1"/>
        </p:nvSpPr>
        <p:spPr>
          <a:xfrm>
            <a:off x="94" y="-1"/>
            <a:ext cx="12168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07" tIns="45604" rIns="91207" bIns="456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792"/>
          </a:p>
        </p:txBody>
      </p:sp>
      <p:sp>
        <p:nvSpPr>
          <p:cNvPr id="11" name="직사각형 10"/>
          <p:cNvSpPr/>
          <p:nvPr userDrawn="1"/>
        </p:nvSpPr>
        <p:spPr>
          <a:xfrm>
            <a:off x="143906" y="575999"/>
            <a:ext cx="11880000" cy="583202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F5BF3D7-D5EB-4365-8FC3-DD83DE929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60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 userDrawn="1"/>
        </p:nvSpPr>
        <p:spPr>
          <a:xfrm>
            <a:off x="143906" y="709700"/>
            <a:ext cx="9360000" cy="568802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graphicFrame>
        <p:nvGraphicFramePr>
          <p:cNvPr id="41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3611419888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969D864D-1DDE-4AD9-9B8A-9042B6B2AE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22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C_다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 userDrawn="1"/>
        </p:nvSpPr>
        <p:spPr>
          <a:xfrm>
            <a:off x="143906" y="709700"/>
            <a:ext cx="9360000" cy="568802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sp>
        <p:nvSpPr>
          <p:cNvPr id="15" name="직사각형 14"/>
          <p:cNvSpPr/>
          <p:nvPr userDrawn="1"/>
        </p:nvSpPr>
        <p:spPr>
          <a:xfrm>
            <a:off x="143906" y="6109723"/>
            <a:ext cx="9360000" cy="288000"/>
          </a:xfrm>
          <a:prstGeom prst="rect">
            <a:avLst/>
          </a:prstGeom>
          <a:pattFill prst="wave">
            <a:fgClr>
              <a:schemeClr val="bg1">
                <a:lumMod val="75000"/>
              </a:schemeClr>
            </a:fgClr>
            <a:bgClr>
              <a:schemeClr val="bg1"/>
            </a:bgClr>
          </a:patt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Next Page</a:t>
            </a:r>
            <a:endParaRPr lang="ko-KR" altLang="en-US" sz="800" b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8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1096973808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850AE9D5-E4B6-414A-BDF1-C3A19BF663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10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C_이전/다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 userDrawn="1"/>
        </p:nvSpPr>
        <p:spPr>
          <a:xfrm>
            <a:off x="143906" y="709700"/>
            <a:ext cx="9360000" cy="568802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sp>
        <p:nvSpPr>
          <p:cNvPr id="15" name="직사각형 14"/>
          <p:cNvSpPr/>
          <p:nvPr userDrawn="1"/>
        </p:nvSpPr>
        <p:spPr>
          <a:xfrm>
            <a:off x="143906" y="6109723"/>
            <a:ext cx="9360000" cy="288000"/>
          </a:xfrm>
          <a:prstGeom prst="rect">
            <a:avLst/>
          </a:prstGeom>
          <a:pattFill prst="wave">
            <a:fgClr>
              <a:schemeClr val="bg1">
                <a:lumMod val="75000"/>
              </a:schemeClr>
            </a:fgClr>
            <a:bgClr>
              <a:schemeClr val="bg1"/>
            </a:bgClr>
          </a:patt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Next Page</a:t>
            </a:r>
            <a:endParaRPr lang="ko-KR" altLang="en-US" sz="800" b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/>
          <p:cNvSpPr/>
          <p:nvPr userDrawn="1"/>
        </p:nvSpPr>
        <p:spPr>
          <a:xfrm>
            <a:off x="143906" y="709700"/>
            <a:ext cx="9360000" cy="288000"/>
          </a:xfrm>
          <a:prstGeom prst="rect">
            <a:avLst/>
          </a:prstGeom>
          <a:pattFill prst="wave">
            <a:fgClr>
              <a:schemeClr val="bg1">
                <a:lumMod val="75000"/>
              </a:schemeClr>
            </a:fgClr>
            <a:bgClr>
              <a:schemeClr val="bg1"/>
            </a:bgClr>
          </a:patt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+mn-ea"/>
              </a:rPr>
              <a:t>Previous </a:t>
            </a:r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</a:t>
            </a:r>
            <a:endParaRPr lang="ko-KR" altLang="en-US" sz="800" b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1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3095824910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E65DD553-E009-45CC-97F1-C3FD89BB4B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913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C_이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 userDrawn="1"/>
        </p:nvSpPr>
        <p:spPr>
          <a:xfrm>
            <a:off x="143906" y="709700"/>
            <a:ext cx="9360000" cy="568802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sp>
        <p:nvSpPr>
          <p:cNvPr id="8" name="직사각형 7"/>
          <p:cNvSpPr/>
          <p:nvPr userDrawn="1"/>
        </p:nvSpPr>
        <p:spPr>
          <a:xfrm>
            <a:off x="143906" y="709700"/>
            <a:ext cx="9360000" cy="288000"/>
          </a:xfrm>
          <a:prstGeom prst="rect">
            <a:avLst/>
          </a:prstGeom>
          <a:pattFill prst="wave">
            <a:fgClr>
              <a:schemeClr val="bg1">
                <a:lumMod val="75000"/>
              </a:schemeClr>
            </a:fgClr>
            <a:bgClr>
              <a:schemeClr val="bg1"/>
            </a:bgClr>
          </a:patt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+mn-ea"/>
              </a:rPr>
              <a:t>Previous </a:t>
            </a:r>
            <a:r>
              <a:rPr lang="en-US" altLang="ko-KR" sz="8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</a:t>
            </a:r>
            <a:endParaRPr lang="ko-KR" altLang="en-US" sz="800" b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1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240487210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3CDBADD8-681F-42BD-B882-4E137E36C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00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graphicFrame>
        <p:nvGraphicFramePr>
          <p:cNvPr id="41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4279704059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1EF6DC7B-6025-4CCF-AC27-0E7AE8F39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20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슬라이드 번호 개체 틀 5"/>
          <p:cNvSpPr txBox="1">
            <a:spLocks/>
          </p:cNvSpPr>
          <p:nvPr userDrawn="1"/>
        </p:nvSpPr>
        <p:spPr>
          <a:xfrm>
            <a:off x="5969008" y="6506395"/>
            <a:ext cx="229797" cy="234286"/>
          </a:xfrm>
          <a:prstGeom prst="rect">
            <a:avLst/>
          </a:prstGeom>
        </p:spPr>
        <p:txBody>
          <a:bodyPr vert="horz" wrap="none" lIns="36000" tIns="36000" rIns="36000" bIns="36000" rtlCol="0" anchor="ctr">
            <a:spAutoFit/>
          </a:bodyPr>
          <a:lstStyle>
            <a:defPPr>
              <a:defRPr lang="ko-KR"/>
            </a:defPPr>
            <a:lvl1pPr marL="0" algn="r" defTabSz="912388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194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2388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8582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4777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0971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7165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3359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49553" algn="l" defTabSz="912388" rtl="0" eaLnBrk="1" latinLnBrk="1" hangingPunct="1">
              <a:defRPr sz="179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599212-FDAA-48C6-AA0A-60FFE96216AA}" type="slidenum">
              <a:rPr lang="ko-KR" altLang="en-US" sz="1000" smtClean="0"/>
              <a:pPr/>
              <a:t>‹#›</a:t>
            </a:fld>
            <a:endParaRPr lang="ko-KR" altLang="en-US" sz="1000"/>
          </a:p>
        </p:txBody>
      </p:sp>
      <p:graphicFrame>
        <p:nvGraphicFramePr>
          <p:cNvPr id="41" name="Google Shape;26;p5"/>
          <p:cNvGraphicFramePr/>
          <p:nvPr userDrawn="1">
            <p:extLst>
              <p:ext uri="{D42A27DB-BD31-4B8C-83A1-F6EECF244321}">
                <p14:modId xmlns:p14="http://schemas.microsoft.com/office/powerpoint/2010/main" val="2640004708"/>
              </p:ext>
            </p:extLst>
          </p:nvPr>
        </p:nvGraphicFramePr>
        <p:xfrm>
          <a:off x="143906" y="142660"/>
          <a:ext cx="11880000" cy="4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구분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Partner Office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명칭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최범열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일자</a:t>
                      </a: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2021-12-27</a:t>
                      </a:r>
                      <a:endParaRPr sz="80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코드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alt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경로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-KR" alt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</a:t>
                      </a:r>
                      <a:r>
                        <a:rPr lang="ko-KR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altLang="ko-KR" sz="800" b="0" i="0" u="none" strike="noStrike" cap="none">
                          <a:solidFill>
                            <a:srgbClr val="3F3F3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v0.3</a:t>
                      </a:r>
                      <a:endParaRPr sz="800" b="0" i="0" u="none" strike="noStrike" cap="none">
                        <a:solidFill>
                          <a:srgbClr val="3F3F3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1EF6DC7B-6025-4CCF-AC27-0E7AE8F39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6" y="6533538"/>
            <a:ext cx="384255" cy="180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0967B30-A4C4-48EA-A2AF-95256A83DA82}"/>
              </a:ext>
            </a:extLst>
          </p:cNvPr>
          <p:cNvSpPr/>
          <p:nvPr userDrawn="1"/>
        </p:nvSpPr>
        <p:spPr>
          <a:xfrm>
            <a:off x="143906" y="709700"/>
            <a:ext cx="11880000" cy="568802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857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0297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63" r:id="rId3"/>
    <p:sldLayoutId id="2147483670" r:id="rId4"/>
    <p:sldLayoutId id="2147483672" r:id="rId5"/>
    <p:sldLayoutId id="2147483673" r:id="rId6"/>
    <p:sldLayoutId id="2147483674" r:id="rId7"/>
    <p:sldLayoutId id="2147483678" r:id="rId8"/>
    <p:sldLayoutId id="2147483679" r:id="rId9"/>
  </p:sldLayoutIdLst>
  <p:hf hdr="0" ftr="0" dt="0"/>
  <p:txStyles>
    <p:titleStyle>
      <a:lvl1pPr algn="l" defTabSz="912114" rtl="0" eaLnBrk="1" latinLnBrk="1" hangingPunct="1">
        <a:lnSpc>
          <a:spcPct val="90000"/>
        </a:lnSpc>
        <a:spcBef>
          <a:spcPct val="0"/>
        </a:spcBef>
        <a:buNone/>
        <a:defRPr sz="43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029" indent="-228029" algn="l" defTabSz="912114" rtl="0" eaLnBrk="1" latinLnBrk="1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3" kern="1200">
          <a:solidFill>
            <a:schemeClr val="tx1"/>
          </a:solidFill>
          <a:latin typeface="+mn-lt"/>
          <a:ea typeface="+mn-ea"/>
          <a:cs typeface="+mn-cs"/>
        </a:defRPr>
      </a:lvl1pPr>
      <a:lvl2pPr marL="684086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2394" kern="1200">
          <a:solidFill>
            <a:schemeClr val="tx1"/>
          </a:solidFill>
          <a:latin typeface="+mn-lt"/>
          <a:ea typeface="+mn-ea"/>
          <a:cs typeface="+mn-cs"/>
        </a:defRPr>
      </a:lvl2pPr>
      <a:lvl3pPr marL="1140143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3pPr>
      <a:lvl4pPr marL="1596200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2052257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508314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4371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20428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6485" indent="-228029" algn="l" defTabSz="912114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6057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2114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8171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4228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80285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6342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2399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8456" algn="l" defTabSz="912114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97844" y="2620700"/>
            <a:ext cx="72603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LFmall </a:t>
            </a:r>
            <a:r>
              <a:rPr lang="ko-KR" altLang="en-U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배송 서비스 강화 </a:t>
            </a:r>
            <a:r>
              <a:rPr lang="en-US" altLang="ko-KR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ko-KR" altLang="en-U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당일배송</a:t>
            </a:r>
            <a:r>
              <a:rPr lang="en-US" altLang="ko-KR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lang="ko-KR" altLang="en-U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새벽배송</a:t>
            </a:r>
            <a:r>
              <a:rPr lang="en-US" altLang="ko-KR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endParaRPr lang="ko-KR" alt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97845" y="3728650"/>
            <a:ext cx="723275" cy="4607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394" b="1"/>
              <a:t>v0.3</a:t>
            </a:r>
            <a:endParaRPr lang="ko-KR" altLang="en-US" sz="2394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54674"/>
              </p:ext>
            </p:extLst>
          </p:nvPr>
        </p:nvGraphicFramePr>
        <p:xfrm>
          <a:off x="5725011" y="5382580"/>
          <a:ext cx="5745332" cy="739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6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6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6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8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작성자</a:t>
                      </a: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최범열 매니저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작성일</a:t>
                      </a: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2024.08.05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8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검토자</a:t>
                      </a: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김용희 팀장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검토일</a:t>
                      </a: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207" marR="91207" marT="45604" marB="4560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790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324094" y="754959"/>
            <a:ext cx="360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당일배송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서비스 비교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8" name="직선 연결선 27"/>
          <p:cNvCxnSpPr/>
          <p:nvPr/>
        </p:nvCxnSpPr>
        <p:spPr>
          <a:xfrm>
            <a:off x="1475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1907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2339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2771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/>
          <p:nvPr/>
        </p:nvCxnSpPr>
        <p:spPr>
          <a:xfrm>
            <a:off x="3203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/>
          <p:cNvCxnSpPr/>
          <p:nvPr/>
        </p:nvCxnSpPr>
        <p:spPr>
          <a:xfrm>
            <a:off x="3635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>
            <a:off x="4067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/>
          <p:cNvCxnSpPr/>
          <p:nvPr/>
        </p:nvCxnSpPr>
        <p:spPr>
          <a:xfrm>
            <a:off x="4499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/>
          <p:cNvCxnSpPr/>
          <p:nvPr/>
        </p:nvCxnSpPr>
        <p:spPr>
          <a:xfrm>
            <a:off x="4931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5363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>
            <a:off x="5795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6227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/>
          <p:cNvCxnSpPr/>
          <p:nvPr/>
        </p:nvCxnSpPr>
        <p:spPr>
          <a:xfrm>
            <a:off x="6659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/>
          <p:cNvCxnSpPr/>
          <p:nvPr/>
        </p:nvCxnSpPr>
        <p:spPr>
          <a:xfrm>
            <a:off x="7091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523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/>
          <p:cNvCxnSpPr/>
          <p:nvPr/>
        </p:nvCxnSpPr>
        <p:spPr>
          <a:xfrm>
            <a:off x="7955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8387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/>
          <p:cNvCxnSpPr/>
          <p:nvPr/>
        </p:nvCxnSpPr>
        <p:spPr>
          <a:xfrm>
            <a:off x="8819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/>
          <p:nvPr/>
        </p:nvCxnSpPr>
        <p:spPr>
          <a:xfrm>
            <a:off x="9251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/>
          <p:cNvCxnSpPr/>
          <p:nvPr/>
        </p:nvCxnSpPr>
        <p:spPr>
          <a:xfrm>
            <a:off x="9683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/>
          <p:cNvCxnSpPr/>
          <p:nvPr/>
        </p:nvCxnSpPr>
        <p:spPr>
          <a:xfrm>
            <a:off x="10115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/>
          <p:cNvCxnSpPr/>
          <p:nvPr/>
        </p:nvCxnSpPr>
        <p:spPr>
          <a:xfrm>
            <a:off x="10547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10979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11411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11843906" y="1222959"/>
            <a:ext cx="0" cy="4896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/>
          <p:cNvSpPr/>
          <p:nvPr/>
        </p:nvSpPr>
        <p:spPr>
          <a:xfrm>
            <a:off x="1475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00:00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907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339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2771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3203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3635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4067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4499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4931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08:00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5363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09:00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5795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6227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6659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7091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7523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7955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8387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16:00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8819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17:00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9251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9683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10115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0547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10979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11411906" y="1222959"/>
            <a:ext cx="43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23:00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323906" y="1510958"/>
            <a:ext cx="576000" cy="230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899906" y="1510958"/>
            <a:ext cx="576000" cy="61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LFmall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3" name="직사각형 142"/>
          <p:cNvSpPr/>
          <p:nvPr/>
        </p:nvSpPr>
        <p:spPr>
          <a:xfrm>
            <a:off x="899906" y="2122958"/>
            <a:ext cx="576000" cy="54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물류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혁신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899906" y="2662958"/>
            <a:ext cx="576000" cy="115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기업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7" name="직사각형 146"/>
          <p:cNvSpPr/>
          <p:nvPr/>
        </p:nvSpPr>
        <p:spPr>
          <a:xfrm>
            <a:off x="323904" y="1222959"/>
            <a:ext cx="1152000" cy="28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구분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4" name="직선 연결선 53"/>
          <p:cNvCxnSpPr/>
          <p:nvPr/>
        </p:nvCxnSpPr>
        <p:spPr>
          <a:xfrm>
            <a:off x="323906" y="6118958"/>
            <a:ext cx="11520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직사각형 119"/>
          <p:cNvSpPr/>
          <p:nvPr/>
        </p:nvSpPr>
        <p:spPr>
          <a:xfrm>
            <a:off x="323906" y="3814958"/>
            <a:ext cx="576000" cy="23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899906" y="3814958"/>
            <a:ext cx="576000" cy="61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LFmall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44" name="직사각형 143"/>
          <p:cNvSpPr/>
          <p:nvPr/>
        </p:nvSpPr>
        <p:spPr>
          <a:xfrm>
            <a:off x="899906" y="4426957"/>
            <a:ext cx="576000" cy="54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물류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혁신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46" name="직사각형 145"/>
          <p:cNvSpPr/>
          <p:nvPr/>
        </p:nvSpPr>
        <p:spPr>
          <a:xfrm>
            <a:off x="899906" y="4966958"/>
            <a:ext cx="576000" cy="115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배송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기업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49" name="직선 연결선 148"/>
          <p:cNvCxnSpPr/>
          <p:nvPr/>
        </p:nvCxnSpPr>
        <p:spPr>
          <a:xfrm>
            <a:off x="323906" y="3814958"/>
            <a:ext cx="11520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그룹 198"/>
          <p:cNvGrpSpPr/>
          <p:nvPr/>
        </p:nvGrpSpPr>
        <p:grpSpPr>
          <a:xfrm>
            <a:off x="1475906" y="1672958"/>
            <a:ext cx="10368000" cy="360000"/>
            <a:chOff x="1475906" y="1718348"/>
            <a:chExt cx="10368000" cy="360000"/>
          </a:xfrm>
        </p:grpSpPr>
        <p:cxnSp>
          <p:nvCxnSpPr>
            <p:cNvPr id="114" name="직선 연결선 113"/>
            <p:cNvCxnSpPr/>
            <p:nvPr/>
          </p:nvCxnSpPr>
          <p:spPr>
            <a:xfrm>
              <a:off x="7955906" y="1718348"/>
              <a:ext cx="3888000" cy="28906"/>
            </a:xfrm>
            <a:prstGeom prst="line">
              <a:avLst/>
            </a:prstGeom>
            <a:ln w="38100">
              <a:solidFill>
                <a:schemeClr val="accent1">
                  <a:lumMod val="40000"/>
                  <a:lumOff val="6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8" name="그룹 187"/>
            <p:cNvGrpSpPr/>
            <p:nvPr/>
          </p:nvGrpSpPr>
          <p:grpSpPr>
            <a:xfrm>
              <a:off x="1475906" y="1718348"/>
              <a:ext cx="6480000" cy="360000"/>
              <a:chOff x="1475906" y="1718348"/>
              <a:chExt cx="6480000" cy="360000"/>
            </a:xfrm>
          </p:grpSpPr>
          <p:cxnSp>
            <p:nvCxnSpPr>
              <p:cNvPr id="80" name="직선 연결선 79"/>
              <p:cNvCxnSpPr/>
              <p:nvPr/>
            </p:nvCxnSpPr>
            <p:spPr>
              <a:xfrm>
                <a:off x="1475906" y="1718348"/>
                <a:ext cx="6480000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7" name="그룹 186"/>
              <p:cNvGrpSpPr/>
              <p:nvPr/>
            </p:nvGrpSpPr>
            <p:grpSpPr>
              <a:xfrm>
                <a:off x="4202280" y="1718348"/>
                <a:ext cx="1027253" cy="360000"/>
                <a:chOff x="4733516" y="1718348"/>
                <a:chExt cx="1027253" cy="360000"/>
              </a:xfrm>
            </p:grpSpPr>
            <p:sp>
              <p:nvSpPr>
                <p:cNvPr id="81" name="TextBox 80"/>
                <p:cNvSpPr txBox="1"/>
                <p:nvPr/>
              </p:nvSpPr>
              <p:spPr>
                <a:xfrm>
                  <a:off x="4733516" y="1727738"/>
                  <a:ext cx="665348" cy="341220"/>
                </a:xfrm>
                <a:prstGeom prst="rect">
                  <a:avLst/>
                </a:prstGeom>
                <a:noFill/>
              </p:spPr>
              <p:txBody>
                <a:bodyPr wrap="none" lIns="108000" tIns="108000" rIns="108000" bIns="108000" rtlCol="0" anchor="ctr">
                  <a:spAutoFit/>
                </a:bodyPr>
                <a:lstStyle/>
                <a:p>
                  <a:pPr algn="ctr"/>
                  <a:r>
                    <a:rPr lang="ko-KR" altLang="en-US" sz="800" b="1">
                      <a:solidFill>
                        <a:schemeClr val="accent5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</a:rPr>
                    <a:t>고객 주문</a:t>
                  </a:r>
                </a:p>
              </p:txBody>
            </p:sp>
            <p:pic>
              <p:nvPicPr>
                <p:cNvPr id="183" name="그림 182"/>
                <p:cNvPicPr>
                  <a:picLocks noChangeAspect="1"/>
                </p:cNvPicPr>
                <p:nvPr/>
              </p:nvPicPr>
              <p:blipFill>
                <a:blip r:embed="rId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400769" y="1718348"/>
                  <a:ext cx="360000" cy="36000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98" name="그룹 197"/>
          <p:cNvGrpSpPr/>
          <p:nvPr/>
        </p:nvGrpSpPr>
        <p:grpSpPr>
          <a:xfrm>
            <a:off x="7955906" y="2212958"/>
            <a:ext cx="1728000" cy="360000"/>
            <a:chOff x="7955906" y="2474348"/>
            <a:chExt cx="1728000" cy="360000"/>
          </a:xfrm>
        </p:grpSpPr>
        <p:grpSp>
          <p:nvGrpSpPr>
            <p:cNvPr id="190" name="그룹 189"/>
            <p:cNvGrpSpPr/>
            <p:nvPr/>
          </p:nvGrpSpPr>
          <p:grpSpPr>
            <a:xfrm>
              <a:off x="7955906" y="2474348"/>
              <a:ext cx="864000" cy="360000"/>
              <a:chOff x="7955906" y="2474348"/>
              <a:chExt cx="864000" cy="360000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7955906" y="2474348"/>
                <a:ext cx="864000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" name="그룹 188"/>
              <p:cNvGrpSpPr/>
              <p:nvPr/>
            </p:nvGrpSpPr>
            <p:grpSpPr>
              <a:xfrm>
                <a:off x="7995318" y="2474348"/>
                <a:ext cx="785177" cy="360000"/>
                <a:chOff x="7977946" y="2474348"/>
                <a:chExt cx="785177" cy="360000"/>
              </a:xfrm>
            </p:grpSpPr>
            <p:sp>
              <p:nvSpPr>
                <p:cNvPr id="161" name="TextBox 160"/>
                <p:cNvSpPr txBox="1"/>
                <p:nvPr/>
              </p:nvSpPr>
              <p:spPr>
                <a:xfrm>
                  <a:off x="7977946" y="2494886"/>
                  <a:ext cx="423294" cy="318924"/>
                </a:xfrm>
                <a:prstGeom prst="rect">
                  <a:avLst/>
                </a:prstGeom>
                <a:noFill/>
              </p:spPr>
              <p:txBody>
                <a:bodyPr wrap="none" lIns="108000" tIns="36000" rIns="108000" bIns="36000" rtlCol="0" anchor="ctr">
                  <a:spAutoFit/>
                </a:bodyPr>
                <a:lstStyle/>
                <a:p>
                  <a:pPr algn="ctr"/>
                  <a:r>
                    <a:rPr lang="ko-KR" altLang="en-US"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rPr>
                    <a:t>출고</a:t>
                  </a:r>
                  <a:endParaRPr lang="en-US" altLang="ko-KR" sz="800" b="1">
                    <a:solidFill>
                      <a:schemeClr val="accent6">
                        <a:lumMod val="75000"/>
                      </a:schemeClr>
                    </a:solidFill>
                    <a:latin typeface="맑은 고딕" panose="020B0503020000020004" pitchFamily="50" charset="-127"/>
                  </a:endParaRPr>
                </a:p>
                <a:p>
                  <a:pPr algn="ctr"/>
                  <a:r>
                    <a:rPr lang="ko-KR" altLang="en-US"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rPr>
                    <a:t>준비</a:t>
                  </a:r>
                </a:p>
              </p:txBody>
            </p:sp>
            <p:pic>
              <p:nvPicPr>
                <p:cNvPr id="184" name="그림 183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03123" y="2474348"/>
                  <a:ext cx="360000" cy="36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96" name="그룹 195"/>
            <p:cNvGrpSpPr/>
            <p:nvPr/>
          </p:nvGrpSpPr>
          <p:grpSpPr>
            <a:xfrm>
              <a:off x="8819906" y="2474348"/>
              <a:ext cx="864000" cy="360000"/>
              <a:chOff x="8819906" y="2474348"/>
              <a:chExt cx="864000" cy="360000"/>
            </a:xfrm>
          </p:grpSpPr>
          <p:cxnSp>
            <p:nvCxnSpPr>
              <p:cNvPr id="163" name="직선 연결선 162"/>
              <p:cNvCxnSpPr/>
              <p:nvPr/>
            </p:nvCxnSpPr>
            <p:spPr>
              <a:xfrm>
                <a:off x="8819906" y="2474348"/>
                <a:ext cx="864000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5" name="그룹 194"/>
              <p:cNvGrpSpPr/>
              <p:nvPr/>
            </p:nvGrpSpPr>
            <p:grpSpPr>
              <a:xfrm>
                <a:off x="8852091" y="2474348"/>
                <a:ext cx="799631" cy="360000"/>
                <a:chOff x="8844876" y="2474348"/>
                <a:chExt cx="799631" cy="360000"/>
              </a:xfrm>
            </p:grpSpPr>
            <p:sp>
              <p:nvSpPr>
                <p:cNvPr id="162" name="TextBox 161"/>
                <p:cNvSpPr txBox="1"/>
                <p:nvPr/>
              </p:nvSpPr>
              <p:spPr>
                <a:xfrm>
                  <a:off x="8844876" y="2494886"/>
                  <a:ext cx="437720" cy="318924"/>
                </a:xfrm>
                <a:prstGeom prst="rect">
                  <a:avLst/>
                </a:prstGeom>
                <a:noFill/>
              </p:spPr>
              <p:txBody>
                <a:bodyPr wrap="none" lIns="108000" tIns="36000" rIns="108000" bIns="36000" rtlCol="0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defRPr>
                  </a:lvl1pPr>
                </a:lstStyle>
                <a:p>
                  <a:r>
                    <a:rPr lang="en-US" altLang="ko-KR"/>
                    <a:t>HUB</a:t>
                  </a:r>
                </a:p>
                <a:p>
                  <a:r>
                    <a:rPr lang="ko-KR" altLang="en-US"/>
                    <a:t>입고</a:t>
                  </a:r>
                </a:p>
              </p:txBody>
            </p:sp>
            <p:pic>
              <p:nvPicPr>
                <p:cNvPr id="192" name="그림 191"/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4507" y="2474348"/>
                  <a:ext cx="360000" cy="36000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97" name="그룹 196"/>
          <p:cNvGrpSpPr/>
          <p:nvPr/>
        </p:nvGrpSpPr>
        <p:grpSpPr>
          <a:xfrm>
            <a:off x="11015906" y="3292958"/>
            <a:ext cx="828000" cy="360000"/>
            <a:chOff x="11015906" y="3213964"/>
            <a:chExt cx="828000" cy="360000"/>
          </a:xfrm>
        </p:grpSpPr>
        <p:cxnSp>
          <p:nvCxnSpPr>
            <p:cNvPr id="176" name="직선 연결선 175"/>
            <p:cNvCxnSpPr/>
            <p:nvPr/>
          </p:nvCxnSpPr>
          <p:spPr>
            <a:xfrm>
              <a:off x="11015906" y="3213964"/>
              <a:ext cx="828000" cy="0"/>
            </a:xfrm>
            <a:prstGeom prst="line">
              <a:avLst/>
            </a:prstGeom>
            <a:ln w="38100">
              <a:solidFill>
                <a:schemeClr val="tx1">
                  <a:lumMod val="75000"/>
                  <a:lumOff val="2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4" name="그룹 193"/>
            <p:cNvGrpSpPr/>
            <p:nvPr/>
          </p:nvGrpSpPr>
          <p:grpSpPr>
            <a:xfrm>
              <a:off x="11019306" y="3213964"/>
              <a:ext cx="785200" cy="360000"/>
              <a:chOff x="11002474" y="3213964"/>
              <a:chExt cx="785200" cy="360000"/>
            </a:xfrm>
          </p:grpSpPr>
          <p:pic>
            <p:nvPicPr>
              <p:cNvPr id="191" name="그림 190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427674" y="3213964"/>
                <a:ext cx="360000" cy="360000"/>
              </a:xfrm>
              <a:prstGeom prst="rect">
                <a:avLst/>
              </a:prstGeom>
            </p:spPr>
          </p:pic>
          <p:sp>
            <p:nvSpPr>
              <p:cNvPr id="193" name="TextBox 192"/>
              <p:cNvSpPr txBox="1"/>
              <p:nvPr/>
            </p:nvSpPr>
            <p:spPr>
              <a:xfrm>
                <a:off x="11002474" y="3223354"/>
                <a:ext cx="423295" cy="341220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 anchor="ctr">
                <a:spAutoFit/>
              </a:bodyPr>
              <a:lstStyle/>
              <a:p>
                <a:pPr algn="ctr"/>
                <a:r>
                  <a:rPr lang="ko-KR" altLang="en-US" sz="8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도착</a:t>
                </a:r>
              </a:p>
            </p:txBody>
          </p:sp>
        </p:grpSp>
      </p:grpSp>
      <p:cxnSp>
        <p:nvCxnSpPr>
          <p:cNvPr id="222" name="직선 연결선 221"/>
          <p:cNvCxnSpPr/>
          <p:nvPr/>
        </p:nvCxnSpPr>
        <p:spPr>
          <a:xfrm>
            <a:off x="10115906" y="3976957"/>
            <a:ext cx="1728000" cy="12847"/>
          </a:xfrm>
          <a:prstGeom prst="line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9" name="그룹 228"/>
          <p:cNvGrpSpPr/>
          <p:nvPr/>
        </p:nvGrpSpPr>
        <p:grpSpPr>
          <a:xfrm>
            <a:off x="1475906" y="3976957"/>
            <a:ext cx="8640000" cy="360000"/>
            <a:chOff x="1475906" y="3976957"/>
            <a:chExt cx="8640000" cy="360000"/>
          </a:xfrm>
        </p:grpSpPr>
        <p:cxnSp>
          <p:nvCxnSpPr>
            <p:cNvPr id="224" name="직선 연결선 223"/>
            <p:cNvCxnSpPr/>
            <p:nvPr/>
          </p:nvCxnSpPr>
          <p:spPr>
            <a:xfrm>
              <a:off x="1475906" y="3976957"/>
              <a:ext cx="8640000" cy="0"/>
            </a:xfrm>
            <a:prstGeom prst="line">
              <a:avLst/>
            </a:prstGeom>
            <a:ln w="38100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" name="그룹 224"/>
            <p:cNvGrpSpPr/>
            <p:nvPr/>
          </p:nvGrpSpPr>
          <p:grpSpPr>
            <a:xfrm>
              <a:off x="5282280" y="3976957"/>
              <a:ext cx="1027253" cy="360000"/>
              <a:chOff x="4733516" y="1718348"/>
              <a:chExt cx="1027253" cy="360000"/>
            </a:xfrm>
          </p:grpSpPr>
          <p:sp>
            <p:nvSpPr>
              <p:cNvPr id="226" name="TextBox 225"/>
              <p:cNvSpPr txBox="1"/>
              <p:nvPr/>
            </p:nvSpPr>
            <p:spPr>
              <a:xfrm>
                <a:off x="4733516" y="1727738"/>
                <a:ext cx="665348" cy="341220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 anchor="ctr">
                <a:spAutoFit/>
              </a:bodyPr>
              <a:lstStyle/>
              <a:p>
                <a:pPr algn="ctr"/>
                <a:r>
                  <a:rPr lang="ko-KR" altLang="en-US" sz="800" b="1">
                    <a:solidFill>
                      <a:schemeClr val="accent5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고객 주문</a:t>
                </a:r>
              </a:p>
            </p:txBody>
          </p:sp>
          <p:pic>
            <p:nvPicPr>
              <p:cNvPr id="227" name="그림 226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00769" y="171834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230" name="그룹 229"/>
          <p:cNvGrpSpPr/>
          <p:nvPr/>
        </p:nvGrpSpPr>
        <p:grpSpPr>
          <a:xfrm>
            <a:off x="10115906" y="4516957"/>
            <a:ext cx="1728000" cy="360000"/>
            <a:chOff x="7955906" y="2474348"/>
            <a:chExt cx="1728000" cy="360000"/>
          </a:xfrm>
        </p:grpSpPr>
        <p:grpSp>
          <p:nvGrpSpPr>
            <p:cNvPr id="231" name="그룹 230"/>
            <p:cNvGrpSpPr/>
            <p:nvPr/>
          </p:nvGrpSpPr>
          <p:grpSpPr>
            <a:xfrm>
              <a:off x="7955906" y="2474348"/>
              <a:ext cx="864000" cy="360000"/>
              <a:chOff x="7955906" y="2474348"/>
              <a:chExt cx="864000" cy="360000"/>
            </a:xfrm>
          </p:grpSpPr>
          <p:cxnSp>
            <p:nvCxnSpPr>
              <p:cNvPr id="237" name="직선 연결선 236"/>
              <p:cNvCxnSpPr/>
              <p:nvPr/>
            </p:nvCxnSpPr>
            <p:spPr>
              <a:xfrm>
                <a:off x="7955906" y="2474348"/>
                <a:ext cx="864000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8" name="그룹 237"/>
              <p:cNvGrpSpPr/>
              <p:nvPr/>
            </p:nvGrpSpPr>
            <p:grpSpPr>
              <a:xfrm>
                <a:off x="7995318" y="2474348"/>
                <a:ext cx="785177" cy="360000"/>
                <a:chOff x="7977946" y="2474348"/>
                <a:chExt cx="785177" cy="360000"/>
              </a:xfrm>
            </p:grpSpPr>
            <p:sp>
              <p:nvSpPr>
                <p:cNvPr id="239" name="TextBox 238"/>
                <p:cNvSpPr txBox="1"/>
                <p:nvPr/>
              </p:nvSpPr>
              <p:spPr>
                <a:xfrm>
                  <a:off x="7977946" y="2494886"/>
                  <a:ext cx="423294" cy="318924"/>
                </a:xfrm>
                <a:prstGeom prst="rect">
                  <a:avLst/>
                </a:prstGeom>
                <a:noFill/>
              </p:spPr>
              <p:txBody>
                <a:bodyPr wrap="none" lIns="108000" tIns="36000" rIns="108000" bIns="36000" rtlCol="0" anchor="ctr">
                  <a:spAutoFit/>
                </a:bodyPr>
                <a:lstStyle/>
                <a:p>
                  <a:pPr algn="ctr"/>
                  <a:r>
                    <a:rPr lang="ko-KR" altLang="en-US"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rPr>
                    <a:t>출고</a:t>
                  </a:r>
                  <a:endParaRPr lang="en-US" altLang="ko-KR" sz="800" b="1">
                    <a:solidFill>
                      <a:schemeClr val="accent6">
                        <a:lumMod val="75000"/>
                      </a:schemeClr>
                    </a:solidFill>
                    <a:latin typeface="맑은 고딕" panose="020B0503020000020004" pitchFamily="50" charset="-127"/>
                  </a:endParaRPr>
                </a:p>
                <a:p>
                  <a:pPr algn="ctr"/>
                  <a:r>
                    <a:rPr lang="ko-KR" altLang="en-US"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rPr>
                    <a:t>준비</a:t>
                  </a:r>
                </a:p>
              </p:txBody>
            </p:sp>
            <p:pic>
              <p:nvPicPr>
                <p:cNvPr id="240" name="그림 239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03123" y="2474348"/>
                  <a:ext cx="360000" cy="36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32" name="그룹 231"/>
            <p:cNvGrpSpPr/>
            <p:nvPr/>
          </p:nvGrpSpPr>
          <p:grpSpPr>
            <a:xfrm>
              <a:off x="8819906" y="2474348"/>
              <a:ext cx="864000" cy="360000"/>
              <a:chOff x="8819906" y="2474348"/>
              <a:chExt cx="864000" cy="360000"/>
            </a:xfrm>
          </p:grpSpPr>
          <p:cxnSp>
            <p:nvCxnSpPr>
              <p:cNvPr id="233" name="직선 연결선 232"/>
              <p:cNvCxnSpPr/>
              <p:nvPr/>
            </p:nvCxnSpPr>
            <p:spPr>
              <a:xfrm>
                <a:off x="8819906" y="2474348"/>
                <a:ext cx="864000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4" name="그룹 233"/>
              <p:cNvGrpSpPr/>
              <p:nvPr/>
            </p:nvGrpSpPr>
            <p:grpSpPr>
              <a:xfrm>
                <a:off x="8852091" y="2474348"/>
                <a:ext cx="799631" cy="360000"/>
                <a:chOff x="8844876" y="2474348"/>
                <a:chExt cx="799631" cy="360000"/>
              </a:xfrm>
            </p:grpSpPr>
            <p:sp>
              <p:nvSpPr>
                <p:cNvPr id="235" name="TextBox 234"/>
                <p:cNvSpPr txBox="1"/>
                <p:nvPr/>
              </p:nvSpPr>
              <p:spPr>
                <a:xfrm>
                  <a:off x="8844876" y="2494886"/>
                  <a:ext cx="437720" cy="318924"/>
                </a:xfrm>
                <a:prstGeom prst="rect">
                  <a:avLst/>
                </a:prstGeom>
                <a:noFill/>
              </p:spPr>
              <p:txBody>
                <a:bodyPr wrap="none" lIns="108000" tIns="36000" rIns="108000" bIns="36000" rtlCol="0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800" b="1">
                      <a:solidFill>
                        <a:schemeClr val="accent6">
                          <a:lumMod val="75000"/>
                        </a:schemeClr>
                      </a:solidFill>
                      <a:latin typeface="맑은 고딕" panose="020B0503020000020004" pitchFamily="50" charset="-127"/>
                    </a:defRPr>
                  </a:lvl1pPr>
                </a:lstStyle>
                <a:p>
                  <a:r>
                    <a:rPr lang="en-US" altLang="ko-KR"/>
                    <a:t>HUB</a:t>
                  </a:r>
                </a:p>
                <a:p>
                  <a:r>
                    <a:rPr lang="ko-KR" altLang="en-US"/>
                    <a:t>입고</a:t>
                  </a:r>
                </a:p>
              </p:txBody>
            </p:sp>
            <p:pic>
              <p:nvPicPr>
                <p:cNvPr id="236" name="그림 235"/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4507" y="2474348"/>
                  <a:ext cx="360000" cy="36000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246" name="그룹 245"/>
          <p:cNvGrpSpPr/>
          <p:nvPr/>
        </p:nvGrpSpPr>
        <p:grpSpPr>
          <a:xfrm>
            <a:off x="4103906" y="5596957"/>
            <a:ext cx="828000" cy="360000"/>
            <a:chOff x="11015906" y="3213964"/>
            <a:chExt cx="828000" cy="360000"/>
          </a:xfrm>
        </p:grpSpPr>
        <p:cxnSp>
          <p:nvCxnSpPr>
            <p:cNvPr id="247" name="직선 연결선 246"/>
            <p:cNvCxnSpPr/>
            <p:nvPr/>
          </p:nvCxnSpPr>
          <p:spPr>
            <a:xfrm>
              <a:off x="11015906" y="3213964"/>
              <a:ext cx="828000" cy="0"/>
            </a:xfrm>
            <a:prstGeom prst="line">
              <a:avLst/>
            </a:prstGeom>
            <a:ln w="38100">
              <a:solidFill>
                <a:schemeClr val="tx1">
                  <a:lumMod val="75000"/>
                  <a:lumOff val="2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8" name="그룹 247"/>
            <p:cNvGrpSpPr/>
            <p:nvPr/>
          </p:nvGrpSpPr>
          <p:grpSpPr>
            <a:xfrm>
              <a:off x="11019306" y="3213964"/>
              <a:ext cx="785200" cy="360000"/>
              <a:chOff x="11002474" y="3213964"/>
              <a:chExt cx="785200" cy="360000"/>
            </a:xfrm>
          </p:grpSpPr>
          <p:pic>
            <p:nvPicPr>
              <p:cNvPr id="249" name="그림 248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427674" y="3213964"/>
                <a:ext cx="360000" cy="360000"/>
              </a:xfrm>
              <a:prstGeom prst="rect">
                <a:avLst/>
              </a:prstGeom>
            </p:spPr>
          </p:pic>
          <p:sp>
            <p:nvSpPr>
              <p:cNvPr id="250" name="TextBox 249"/>
              <p:cNvSpPr txBox="1"/>
              <p:nvPr/>
            </p:nvSpPr>
            <p:spPr>
              <a:xfrm>
                <a:off x="11002474" y="3223354"/>
                <a:ext cx="423295" cy="341220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 anchor="ctr">
                <a:spAutoFit/>
              </a:bodyPr>
              <a:lstStyle/>
              <a:p>
                <a:pPr algn="ctr"/>
                <a:r>
                  <a:rPr lang="ko-KR" altLang="en-US" sz="8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도착</a:t>
                </a:r>
              </a:p>
            </p:txBody>
          </p:sp>
        </p:grpSp>
      </p:grpSp>
      <p:grpSp>
        <p:nvGrpSpPr>
          <p:cNvPr id="254" name="그룹 253"/>
          <p:cNvGrpSpPr/>
          <p:nvPr/>
        </p:nvGrpSpPr>
        <p:grpSpPr>
          <a:xfrm>
            <a:off x="1475906" y="5056957"/>
            <a:ext cx="3456000" cy="360000"/>
            <a:chOff x="1475906" y="5056957"/>
            <a:chExt cx="3456000" cy="360000"/>
          </a:xfrm>
        </p:grpSpPr>
        <p:cxnSp>
          <p:nvCxnSpPr>
            <p:cNvPr id="242" name="직선 연결선 241"/>
            <p:cNvCxnSpPr/>
            <p:nvPr/>
          </p:nvCxnSpPr>
          <p:spPr>
            <a:xfrm>
              <a:off x="1475906" y="5056957"/>
              <a:ext cx="3456000" cy="0"/>
            </a:xfrm>
            <a:prstGeom prst="line">
              <a:avLst/>
            </a:prstGeom>
            <a:ln w="38100">
              <a:solidFill>
                <a:schemeClr val="accent2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4" name="TextBox 243"/>
            <p:cNvSpPr txBox="1"/>
            <p:nvPr/>
          </p:nvSpPr>
          <p:spPr>
            <a:xfrm>
              <a:off x="2812149" y="5066347"/>
              <a:ext cx="423294" cy="341220"/>
            </a:xfrm>
            <a:prstGeom prst="rect">
              <a:avLst/>
            </a:prstGeom>
            <a:noFill/>
          </p:spPr>
          <p:txBody>
            <a:bodyPr wrap="none" lIns="108000" tIns="108000" rIns="108000" bIns="108000" rtlCol="0" anchor="ctr">
              <a:spAutoFit/>
            </a:bodyPr>
            <a:lstStyle/>
            <a:p>
              <a:pPr algn="ctr"/>
              <a:r>
                <a:rPr lang="ko-KR" altLang="en-US" sz="800" b="1">
                  <a:solidFill>
                    <a:schemeClr val="accent2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배송</a:t>
              </a:r>
            </a:p>
          </p:txBody>
        </p:sp>
        <p:pic>
          <p:nvPicPr>
            <p:cNvPr id="253" name="그림 25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35664" y="5056957"/>
              <a:ext cx="360000" cy="360000"/>
            </a:xfrm>
            <a:prstGeom prst="rect">
              <a:avLst/>
            </a:prstGeom>
          </p:spPr>
        </p:pic>
      </p:grpSp>
      <p:grpSp>
        <p:nvGrpSpPr>
          <p:cNvPr id="258" name="그룹 257"/>
          <p:cNvGrpSpPr/>
          <p:nvPr/>
        </p:nvGrpSpPr>
        <p:grpSpPr>
          <a:xfrm>
            <a:off x="9683906" y="2752958"/>
            <a:ext cx="2160000" cy="360000"/>
            <a:chOff x="9683906" y="2752958"/>
            <a:chExt cx="2160000" cy="360000"/>
          </a:xfrm>
        </p:grpSpPr>
        <p:cxnSp>
          <p:nvCxnSpPr>
            <p:cNvPr id="98" name="직선 연결선 97"/>
            <p:cNvCxnSpPr/>
            <p:nvPr/>
          </p:nvCxnSpPr>
          <p:spPr>
            <a:xfrm>
              <a:off x="9683906" y="2752958"/>
              <a:ext cx="2160000" cy="0"/>
            </a:xfrm>
            <a:prstGeom prst="line">
              <a:avLst/>
            </a:prstGeom>
            <a:ln w="38100">
              <a:solidFill>
                <a:schemeClr val="accent2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/>
            <p:cNvGrpSpPr/>
            <p:nvPr/>
          </p:nvGrpSpPr>
          <p:grpSpPr>
            <a:xfrm>
              <a:off x="10372149" y="2752958"/>
              <a:ext cx="783515" cy="360000"/>
              <a:chOff x="10372149" y="2752958"/>
              <a:chExt cx="783515" cy="360000"/>
            </a:xfrm>
          </p:grpSpPr>
          <p:sp>
            <p:nvSpPr>
              <p:cNvPr id="99" name="TextBox 98"/>
              <p:cNvSpPr txBox="1"/>
              <p:nvPr/>
            </p:nvSpPr>
            <p:spPr>
              <a:xfrm>
                <a:off x="10372149" y="2762348"/>
                <a:ext cx="423294" cy="341220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 anchor="ctr">
                <a:spAutoFit/>
              </a:bodyPr>
              <a:lstStyle/>
              <a:p>
                <a:pPr algn="ctr"/>
                <a:r>
                  <a:rPr lang="ko-KR" altLang="en-US" sz="800" b="1">
                    <a:solidFill>
                      <a:schemeClr val="accent2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배송</a:t>
                </a:r>
              </a:p>
            </p:txBody>
          </p:sp>
          <p:pic>
            <p:nvPicPr>
              <p:cNvPr id="256" name="그림 255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95664" y="2752958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572942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324094" y="754959"/>
            <a:ext cx="288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당일배송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 비교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6572328"/>
              </p:ext>
            </p:extLst>
          </p:nvPr>
        </p:nvGraphicFramePr>
        <p:xfrm>
          <a:off x="324095" y="1222959"/>
          <a:ext cx="11520000" cy="4680000"/>
        </p:xfrm>
        <a:graphic>
          <a:graphicData uri="http://schemas.openxmlformats.org/drawingml/2006/table">
            <a:tbl>
              <a:tblPr>
                <a:effectLst>
                  <a:outerShdw blurRad="25400" dist="25400" dir="2700000" algn="tl" rotWithShape="0">
                    <a:schemeClr val="tx1">
                      <a:lumMod val="75000"/>
                      <a:lumOff val="25000"/>
                      <a:alpha val="50000"/>
                    </a:schemeClr>
                  </a:outerShdw>
                </a:effectLst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00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팀프레시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CJ</a:t>
                      </a:r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대한통운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로지스밸리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 rowSpan="8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당일배송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주문마감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입고마감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입고처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 입고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하남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일산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CJ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대한통운 픽업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안산물류센터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층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배송완료시간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단가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4,000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3,570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4,000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3,950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3,150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3,900 ~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이상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2,800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3,800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알림톡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배송비 포함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배송비 포함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000">
                <a:tc rowSpan="9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주문마감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입고마감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입고처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기흥 허브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용인시 기흥구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용인 센터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용인시 처인구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안산물류센터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층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배송완료시간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익일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익일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익일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시까지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단가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3,780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3,230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3,640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4,100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3,150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1,500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3,430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4,000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이상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3,090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초과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알림톡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5E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배송비 포함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문자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사진 배송비 포함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6000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공통사항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배송가능권역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충청권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일부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(80%)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(60%)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배송사이즈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가로세로높이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65/65/35cm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세변합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140cm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15kg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세변합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160cm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10kg 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배송가능일수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반품서비스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 회수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 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일반택배 회수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취급물품가액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F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만원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초과 시 협의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만원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제한 없음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pSp>
        <p:nvGrpSpPr>
          <p:cNvPr id="14" name="그룹 13"/>
          <p:cNvGrpSpPr/>
          <p:nvPr/>
        </p:nvGrpSpPr>
        <p:grpSpPr>
          <a:xfrm>
            <a:off x="8680221" y="754959"/>
            <a:ext cx="1489845" cy="288000"/>
            <a:chOff x="6272784" y="754959"/>
            <a:chExt cx="1489845" cy="288000"/>
          </a:xfrm>
        </p:grpSpPr>
        <p:sp>
          <p:nvSpPr>
            <p:cNvPr id="6" name="모서리가 둥근 직사각형 5"/>
            <p:cNvSpPr/>
            <p:nvPr/>
          </p:nvSpPr>
          <p:spPr>
            <a:xfrm>
              <a:off x="6272784" y="754959"/>
              <a:ext cx="720000" cy="288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94689" y="801052"/>
              <a:ext cx="767940" cy="195814"/>
            </a:xfrm>
            <a:prstGeom prst="rect">
              <a:avLst/>
            </a:prstGeom>
            <a:noFill/>
          </p:spPr>
          <p:txBody>
            <a:bodyPr wrap="none" lIns="108000" tIns="36000" rIns="108000" bIns="36000" rtlCol="0" anchor="ctr">
              <a:spAutoFit/>
            </a:bodyPr>
            <a:lstStyle/>
            <a:p>
              <a:pPr algn="ctr"/>
              <a:r>
                <a:rPr lang="ko-KR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서비스 강점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10353614" y="754959"/>
            <a:ext cx="1490480" cy="288000"/>
            <a:chOff x="8491728" y="754959"/>
            <a:chExt cx="1490480" cy="288000"/>
          </a:xfrm>
        </p:grpSpPr>
        <p:sp>
          <p:nvSpPr>
            <p:cNvPr id="13" name="모서리가 둥근 직사각형 12"/>
            <p:cNvSpPr/>
            <p:nvPr/>
          </p:nvSpPr>
          <p:spPr>
            <a:xfrm>
              <a:off x="8491728" y="754959"/>
              <a:ext cx="720000" cy="288000"/>
            </a:xfrm>
            <a:prstGeom prst="roundRect">
              <a:avLst/>
            </a:prstGeom>
            <a:solidFill>
              <a:srgbClr val="FFE5E5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14268" y="801052"/>
              <a:ext cx="767940" cy="195814"/>
            </a:xfrm>
            <a:prstGeom prst="rect">
              <a:avLst/>
            </a:prstGeom>
            <a:noFill/>
          </p:spPr>
          <p:txBody>
            <a:bodyPr wrap="none" lIns="108000" tIns="36000" rIns="108000" bIns="36000" rtlCol="0" anchor="ctr">
              <a:spAutoFit/>
            </a:bodyPr>
            <a:lstStyle/>
            <a:p>
              <a:pPr algn="ctr"/>
              <a:r>
                <a:rPr lang="ko-KR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서비스 약점</a:t>
              </a:r>
            </a:p>
          </p:txBody>
        </p:sp>
      </p:grpSp>
      <p:sp>
        <p:nvSpPr>
          <p:cNvPr id="21" name="모서리가 둥근 직사각형 20"/>
          <p:cNvSpPr/>
          <p:nvPr/>
        </p:nvSpPr>
        <p:spPr>
          <a:xfrm>
            <a:off x="8964095" y="1438959"/>
            <a:ext cx="2880000" cy="4464000"/>
          </a:xfrm>
          <a:prstGeom prst="roundRect">
            <a:avLst>
              <a:gd name="adj" fmla="val 4140"/>
            </a:avLst>
          </a:prstGeom>
          <a:solidFill>
            <a:schemeClr val="tx1">
              <a:lumMod val="75000"/>
              <a:lumOff val="25000"/>
              <a:alpha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비효율</a:t>
            </a:r>
            <a:endParaRPr lang="ko-KR" altLang="en-US" sz="12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983309" y="6082995"/>
            <a:ext cx="4201571" cy="211203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pPr algn="ctr"/>
            <a:r>
              <a: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새벽배송 서비스는 ‘팀프레시’ 우세   </a:t>
            </a:r>
            <a:r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/   </a:t>
            </a:r>
            <a:r>
              <a: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당일배송 서비스는 </a:t>
            </a:r>
            <a:r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‘CJ</a:t>
            </a:r>
            <a:r>
              <a: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대한통운</a:t>
            </a:r>
            <a:r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우세</a:t>
            </a:r>
            <a:endParaRPr lang="ko-KR" altLang="en-US" sz="9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38328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1" name="모서리가 둥근 직사각형 90"/>
          <p:cNvSpPr/>
          <p:nvPr/>
        </p:nvSpPr>
        <p:spPr>
          <a:xfrm>
            <a:off x="324094" y="754959"/>
            <a:ext cx="288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2024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~ 6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주문 데이터 분석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1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100140"/>
              </p:ext>
            </p:extLst>
          </p:nvPr>
        </p:nvGraphicFramePr>
        <p:xfrm>
          <a:off x="324099" y="1222959"/>
          <a:ext cx="11520000" cy="5040000"/>
        </p:xfrm>
        <a:graphic>
          <a:graphicData uri="http://schemas.openxmlformats.org/drawingml/2006/table">
            <a:tbl>
              <a:tblPr>
                <a:effectLst>
                  <a:outerShdw blurRad="25400" dist="25400" dir="2700000" algn="tl" rotWithShape="0">
                    <a:schemeClr val="tx1">
                      <a:lumMod val="75000"/>
                      <a:lumOff val="25000"/>
                      <a:alpha val="50000"/>
                    </a:schemeClr>
                  </a:outerShdw>
                </a:effectLst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</a:tblGrid>
              <a:tr h="144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회원등급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지역분류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 gridSpan="24"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 시간</a:t>
                      </a:r>
                      <a:r>
                        <a:rPr lang="ko-KR" altLang="en-US" sz="600" b="0" i="0" u="none" strike="noStrike" baseline="0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별 </a:t>
                      </a:r>
                      <a:r>
                        <a:rPr lang="ko-KR" altLang="en-US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운송장 수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RATIO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00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01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02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03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04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05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06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08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09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1,164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1,044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15,226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7,665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551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7,561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753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18,900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9,179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9,721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GD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2,314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1,444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624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1,015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3,158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3,894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4,609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5,547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5,370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4,701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4,332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4,381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4,182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4,107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82,273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1,330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2,967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2,994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2,628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2,101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1,902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43,260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1,799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2,553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2,705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1,970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39,013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SV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3,796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1,953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1,016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1,508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7,248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7,272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6,191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7,325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7,106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6,984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7,074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6,474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5,818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6,504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7,076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6,997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6,598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118,399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2,096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3,164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3,756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3,136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3,874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3,634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3,011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2,988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3,808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3,728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61,672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1,700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1,386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2,861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3,478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3,055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3,209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2,807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3,269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3,028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56,727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BK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6,255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4,083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7,070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9,003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10,820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11,063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9,873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10,604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10,604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10,523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10,779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9,875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9,210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9,622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10,508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11,671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11,546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11,187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184,183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3,487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2,024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4,541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5,411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4,959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5,186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5,240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4,814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5,306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5,895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5,996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92,648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2,768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4,462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5,409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5,630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4,914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5,418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5,364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5,642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4,487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4,903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5,202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5,776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5,521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5,191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91,535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7,447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3,859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1,293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2,471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4,340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8,383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10,610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12,724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13,354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12,213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13,790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13,880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13,742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13,773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12,579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11,215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11,645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12,855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13,938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13,904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12,596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224,883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3,998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1,115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4,141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6,260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5,761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6,336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6,383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6,225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5,729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5,281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5,503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6,151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6,712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6,983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6,290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107,190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3,449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1,756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1,356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6,719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7,094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6,452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7,454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7,497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7,676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7,548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6,850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5,934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6,142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6,704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7,226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6,921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6,306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117,693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RD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 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14,103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7,738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4,013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1,557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3,482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6,704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11,550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17,162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21,292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22,842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20,658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22,704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24,277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23,650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23,031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22,181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19,119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19,731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21,763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24,192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24,700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21,849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382,427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7,963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4,365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2,268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3,685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8,933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10,951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11,678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10,647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11,554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12,502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11,881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11,314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11,507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9,984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9,996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11,246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12,585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13,211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11,939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199,222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6,140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3,373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8,229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10,341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11,164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10,011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11,150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11,775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11,769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11,717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10,674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9,135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9,735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10,517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11,607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11,489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9,910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183,205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35,674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19,400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10,274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5,998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4,378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5,695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11,013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20,166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35,633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48,060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59,302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61,905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55,696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62,340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64,064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62,535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61,947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57,497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51,090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52,446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57,121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62,692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63,052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58,313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1,026,291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19,897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10,895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5,789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2,326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2,837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5,483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10,432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18,433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24,615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29,994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30,866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27,884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31,069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32,080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30,139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29,885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28,476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25,660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25,650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28,798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32,130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33,030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31,260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520,836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15,777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8,505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4,485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2,790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2,858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5,530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9,734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17,200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23,445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29,308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31,039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27,812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31,271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31,984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32,396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32,062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29,021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25,430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26,796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28,323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30,562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30,022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27,053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505,455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RATIO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3.5%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3.8%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3.1%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VIP TTL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14,124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7,803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4,210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2,463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2,571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5,060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9,122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15,700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20,288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25,286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25,709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22,825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25,846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25,907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25,143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25,143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22,737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20,756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21,070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22,503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24,562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24,448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23,868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418,981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7,936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4,427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2,423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1,264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954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1,265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2,535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4,620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8,208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10,551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13,038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12,928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11,476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13,179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13,195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12,192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12,346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11,240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10,395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10,151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11,401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12,833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12,836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13,031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214,424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6,188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3,376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1,787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1,199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883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1,306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2,525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4,502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7,492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9,737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12,248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12,781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11,349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12,667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12,712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12,951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12,797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11,497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10,361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10,919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11,102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11,729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11,612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10,837 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204,557 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VIP RATIO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3.4%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3.7%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수도권 외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0.9%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4.8%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6.0%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5.5%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6.2%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5.6%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5.1%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5.4%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5.7%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5.3%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263" marR="4263" marT="426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4263" marR="4263" marT="4263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</a:tbl>
          </a:graphicData>
        </a:graphic>
      </p:graphicFrame>
      <p:sp>
        <p:nvSpPr>
          <p:cNvPr id="10" name="모서리가 둥근 직사각형 9"/>
          <p:cNvSpPr/>
          <p:nvPr/>
        </p:nvSpPr>
        <p:spPr>
          <a:xfrm>
            <a:off x="864099" y="4678252"/>
            <a:ext cx="10980000" cy="144000"/>
          </a:xfrm>
          <a:prstGeom prst="roundRect">
            <a:avLst/>
          </a:prstGeom>
          <a:solidFill>
            <a:schemeClr val="accent4">
              <a:alpha val="20000"/>
            </a:schemeClr>
          </a:solidFill>
          <a:ln w="63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모서리가 둥근 직사각형 23"/>
          <p:cNvSpPr/>
          <p:nvPr/>
        </p:nvSpPr>
        <p:spPr>
          <a:xfrm>
            <a:off x="864099" y="5541979"/>
            <a:ext cx="10980000" cy="144000"/>
          </a:xfrm>
          <a:prstGeom prst="roundRect">
            <a:avLst/>
          </a:prstGeom>
          <a:solidFill>
            <a:schemeClr val="accent4">
              <a:alpha val="20000"/>
            </a:schemeClr>
          </a:solidFill>
          <a:ln w="63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75612" y="808747"/>
            <a:ext cx="2768487" cy="180425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pPr algn="r"/>
            <a:r>
              <a:rPr lang="en-US" altLang="ko-KR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 박스에 복수 상품을 패킹하므로</a:t>
            </a:r>
            <a:r>
              <a:rPr lang="en-US" altLang="ko-KR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주문 </a:t>
            </a:r>
            <a:r>
              <a:rPr lang="en-US" altLang="ko-KR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SKU </a:t>
            </a:r>
            <a:r>
              <a:rPr lang="ko-KR" altLang="en-US" sz="7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수보다 적은 수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0538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차트 2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1519791"/>
              </p:ext>
            </p:extLst>
          </p:nvPr>
        </p:nvGraphicFramePr>
        <p:xfrm>
          <a:off x="324094" y="2374959"/>
          <a:ext cx="11520000" cy="12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324094" y="754959"/>
            <a:ext cx="288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2024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~ 6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주문 데이터 분석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10930"/>
              </p:ext>
            </p:extLst>
          </p:nvPr>
        </p:nvGraphicFramePr>
        <p:xfrm>
          <a:off x="324089" y="1222959"/>
          <a:ext cx="11520000" cy="864000"/>
        </p:xfrm>
        <a:graphic>
          <a:graphicData uri="http://schemas.openxmlformats.org/drawingml/2006/table">
            <a:tbl>
              <a:tblPr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</a:tblGrid>
              <a:tr h="216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 gridSpan="24"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주문 시간 별 운송장 수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RATIO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00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01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02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03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04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05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06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08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09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월평균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3,316 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1,816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914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1,739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3,072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4,103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4,999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5,144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4,647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5,178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5,347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5,023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4,981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4,746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4,277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4,275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4,800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5,355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5,505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5,210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86,806 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월평균 </a:t>
                      </a:r>
                      <a:r>
                        <a:rPr lang="en-US" alt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VIP)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33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1,323 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738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404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211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211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770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1,368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1,759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2,173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2,155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1,913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2,197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2,199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2,032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2,058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1,873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1,733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1,692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1,900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2,139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2,139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2,172 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35,737 </a:t>
                      </a:r>
                    </a:p>
                  </a:txBody>
                  <a:tcPr marL="4939" marR="4939" marT="4939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41.2%</a:t>
                      </a:r>
                    </a:p>
                  </a:txBody>
                  <a:tcPr marL="4939" marR="4939" marT="4939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9" name="직선 연결선 8"/>
          <p:cNvCxnSpPr/>
          <p:nvPr/>
        </p:nvCxnSpPr>
        <p:spPr>
          <a:xfrm>
            <a:off x="1045106" y="1654959"/>
            <a:ext cx="0" cy="252000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6985106" y="1654959"/>
            <a:ext cx="0" cy="288000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/>
          <p:cNvCxnSpPr/>
          <p:nvPr/>
        </p:nvCxnSpPr>
        <p:spPr>
          <a:xfrm>
            <a:off x="1045106" y="4174959"/>
            <a:ext cx="5940000" cy="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08470" y="3842373"/>
            <a:ext cx="1664018" cy="665173"/>
          </a:xfrm>
          <a:prstGeom prst="rect">
            <a:avLst/>
          </a:prstGeom>
          <a:solidFill>
            <a:schemeClr val="bg1"/>
          </a:solidFill>
        </p:spPr>
        <p:txBody>
          <a:bodyPr wrap="none" lIns="108000" tIns="36000" rIns="108000" bIns="36000" rtlCol="0" anchor="ctr">
            <a:spAutoFit/>
          </a:bodyPr>
          <a:lstStyle/>
          <a:p>
            <a:pPr algn="ctr"/>
            <a:r>
              <a:rPr lang="ko-KR" altLang="en-US" sz="8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 예상 수치 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서울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경기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algn="ctr"/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평균 </a:t>
            </a:r>
            <a:r>
              <a:rPr lang="en-US" altLang="ko-KR" sz="9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42,635</a:t>
            </a:r>
            <a:endParaRPr lang="en-US" altLang="ko-KR" sz="8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평균 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(VIP) </a:t>
            </a:r>
            <a:r>
              <a:rPr lang="en-US" altLang="ko-KR" sz="9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18,000</a:t>
            </a:r>
            <a:endParaRPr lang="ko-KR" altLang="en-US" sz="9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9" name="직선 연결선 28"/>
          <p:cNvCxnSpPr/>
          <p:nvPr/>
        </p:nvCxnSpPr>
        <p:spPr>
          <a:xfrm>
            <a:off x="9359542" y="1654959"/>
            <a:ext cx="0" cy="378000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1045106" y="1654959"/>
            <a:ext cx="0" cy="378000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/>
          <p:nvPr/>
        </p:nvCxnSpPr>
        <p:spPr>
          <a:xfrm>
            <a:off x="1045106" y="5074959"/>
            <a:ext cx="8316000" cy="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371097" y="4742374"/>
            <a:ext cx="1664018" cy="665173"/>
          </a:xfrm>
          <a:prstGeom prst="rect">
            <a:avLst/>
          </a:prstGeom>
          <a:solidFill>
            <a:schemeClr val="bg1"/>
          </a:solidFill>
        </p:spPr>
        <p:txBody>
          <a:bodyPr wrap="none" lIns="108000" tIns="36000" rIns="108000" bIns="36000" rtlCol="0" anchor="ctr">
            <a:spAutoFit/>
          </a:bodyPr>
          <a:lstStyle/>
          <a:p>
            <a:pPr algn="ctr"/>
            <a:r>
              <a:rPr lang="ko-KR" altLang="en-US" sz="8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배송 예상 수치 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서울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경기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)</a:t>
            </a:r>
          </a:p>
          <a:p>
            <a:pPr algn="ctr"/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평균 </a:t>
            </a:r>
            <a:r>
              <a:rPr lang="en-US" altLang="ko-KR" sz="9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70,736</a:t>
            </a:r>
            <a:endParaRPr lang="en-US" altLang="ko-KR" sz="8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 평균 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(VIP) </a:t>
            </a:r>
            <a:r>
              <a:rPr lang="en-US" altLang="ko-KR" sz="9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29,287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3469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1" name="모서리가 둥근 직사각형 90"/>
          <p:cNvSpPr/>
          <p:nvPr/>
        </p:nvSpPr>
        <p:spPr>
          <a:xfrm>
            <a:off x="324094" y="754959"/>
            <a:ext cx="288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당일배송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시뮬레이션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7704094" y="1510959"/>
          <a:ext cx="3024000" cy="1080000"/>
        </p:xfrm>
        <a:graphic>
          <a:graphicData uri="http://schemas.openxmlformats.org/drawingml/2006/table">
            <a:tbl>
              <a:tblPr>
                <a:effectLst>
                  <a:outerShdw blurRad="25400" dist="25400" dir="2700000" algn="tl" rotWithShape="0">
                    <a:schemeClr val="tx1">
                      <a:lumMod val="75000"/>
                      <a:lumOff val="25000"/>
                      <a:alpha val="50000"/>
                    </a:schemeClr>
                  </a:outerShdw>
                </a:effectLst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팀프레시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CJ</a:t>
                      </a:r>
                      <a:r>
                        <a:rPr lang="ko-KR" altLang="en-US" sz="800" b="1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대한통운</a:t>
                      </a:r>
                    </a:p>
                  </a:txBody>
                  <a:tcPr marL="5413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이상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3,240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3,300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3,430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3,380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3,640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미만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3,550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12,000</a:t>
                      </a:r>
                      <a:r>
                        <a:rPr lang="ko-KR" altLang="en-US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 이하</a:t>
                      </a:r>
                    </a:p>
                  </a:txBody>
                  <a:tcPr marL="97442" marR="5413" marT="5413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3,780</a:t>
                      </a:r>
                    </a:p>
                  </a:txBody>
                  <a:tcPr marL="97442" marR="5413" marT="5413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4094" y="1233052"/>
            <a:ext cx="1878821" cy="195814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주문데이터 분석 </a:t>
            </a:r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(2024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</a:t>
            </a:r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1~6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월</a:t>
            </a:r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6" name="표 15"/>
          <p:cNvGraphicFramePr>
            <a:graphicFrameLocks noGrp="1"/>
          </p:cNvGraphicFramePr>
          <p:nvPr/>
        </p:nvGraphicFramePr>
        <p:xfrm>
          <a:off x="324094" y="1510959"/>
          <a:ext cx="4680000" cy="1764000"/>
        </p:xfrm>
        <a:graphic>
          <a:graphicData uri="http://schemas.openxmlformats.org/drawingml/2006/table">
            <a:tbl>
              <a:tblPr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00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개월 합산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평균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평균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주문상품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1,093,373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156,196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6,008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주문송장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927,998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132,571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5,099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r" fontAlgn="ctr"/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주문상품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553,704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79,101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3,042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우편번호 기준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algn="ctr" fontAlgn="ctr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50.45%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주문송장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468,235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1" i="0" u="none" strike="noStrike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66,891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2,573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r" fontAlgn="ctr"/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  <a:b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&amp; VIP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대상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주문상품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212,590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30,370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1,168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VIP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주문율 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algn="ctr" fontAlgn="ctr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38.39%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주문송장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179,774 </a:t>
                      </a:r>
                    </a:p>
                  </a:txBody>
                  <a:tcPr marL="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1" i="0" u="none" strike="noStrike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25,682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988 </a:t>
                      </a: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r" fontAlgn="ctr"/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4094" y="3465052"/>
            <a:ext cx="1133425" cy="195814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 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택배비 상승 예측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6" name="표 25"/>
          <p:cNvGraphicFramePr>
            <a:graphicFrameLocks noGrp="1"/>
          </p:cNvGraphicFramePr>
          <p:nvPr/>
        </p:nvGraphicFramePr>
        <p:xfrm>
          <a:off x="324094" y="3742959"/>
          <a:ext cx="5940000" cy="2376000"/>
        </p:xfrm>
        <a:graphic>
          <a:graphicData uri="http://schemas.openxmlformats.org/drawingml/2006/table">
            <a:tbl>
              <a:tblPr/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600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택배 비용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건당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 평균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평균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년 평균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일반택배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1,845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4,746,668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123,413,368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1,480,960,414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3,300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8,489,975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220,739,357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2,648,872,286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증감액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1,455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3,743,307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97,325,989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1,167,911,871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  <a:b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&amp; VIP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대상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일반택배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1,845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1,822,439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47,383,415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568,600,976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3,500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3,457,201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89,887,237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1,078,646,838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증감액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1,655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1,634,762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42,503,822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1" i="0" u="none" strike="noStrike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1" i="0" u="none" strike="noStrike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510,045,862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0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경기</a:t>
                      </a:r>
                      <a:b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&amp; VIP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대상</a:t>
                      </a:r>
                      <a:b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&amp;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특정 상품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(30%)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일반택배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1,845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546,731.71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14,215,024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170,580,293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3,700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1,096,426.73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28,507,095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342,085,140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증감액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1,855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549,695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14,292,071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800" b="1" i="0" u="none" strike="noStrike" dirty="0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</a:t>
                      </a:r>
                      <a:r>
                        <a:rPr lang="en-US" altLang="ko-KR" sz="800" b="1" i="0" u="none" strike="noStrike" dirty="0">
                          <a:solidFill>
                            <a:srgbClr val="C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171,504,847 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" name="표 27"/>
          <p:cNvGraphicFramePr>
            <a:graphicFrameLocks noGrp="1"/>
          </p:cNvGraphicFramePr>
          <p:nvPr/>
        </p:nvGraphicFramePr>
        <p:xfrm>
          <a:off x="7704094" y="3058959"/>
          <a:ext cx="2692400" cy="2270760"/>
        </p:xfrm>
        <a:graphic>
          <a:graphicData uri="http://schemas.openxmlformats.org/drawingml/2006/table">
            <a:tbl>
              <a:tblPr/>
              <a:tblGrid>
                <a:gridCol w="751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5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10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등급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주문송장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VIP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6,413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38.39%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6,928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GD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34,499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7.4%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SV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50,995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10.9%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BK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80,946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17.3%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94,748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20.2%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RD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192,296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41.1%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NN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1,427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TTL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468,252 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100.0%</a:t>
                      </a: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cxnSp>
        <p:nvCxnSpPr>
          <p:cNvPr id="30" name="직선 연결선 29"/>
          <p:cNvCxnSpPr/>
          <p:nvPr/>
        </p:nvCxnSpPr>
        <p:spPr>
          <a:xfrm>
            <a:off x="6984094" y="1222959"/>
            <a:ext cx="0" cy="4896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04094" y="1233052"/>
            <a:ext cx="1401126" cy="195814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Appendix. 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단가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704094" y="2781052"/>
            <a:ext cx="1680048" cy="195814"/>
          </a:xfrm>
          <a:prstGeom prst="rect">
            <a:avLst/>
          </a:prstGeom>
          <a:noFill/>
        </p:spPr>
        <p:txBody>
          <a:bodyPr wrap="none" lIns="108000" tIns="36000" rIns="108000" bIns="36000" rtlCol="0" anchor="ctr">
            <a:spAutoFit/>
          </a:bodyPr>
          <a:lstStyle/>
          <a:p>
            <a:r>
              <a:rPr lang="en-US" altLang="ko-KR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Appendix. </a:t>
            </a:r>
            <a:r>
              <a:rPr lang="ko-KR" altLang="en-US" sz="8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회원 등급 별 주문율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모서리가 둥근 직사각형 2"/>
          <p:cNvSpPr/>
          <p:nvPr/>
        </p:nvSpPr>
        <p:spPr>
          <a:xfrm>
            <a:off x="7704094" y="1942883"/>
            <a:ext cx="3024000" cy="216000"/>
          </a:xfrm>
          <a:prstGeom prst="roundRect">
            <a:avLst/>
          </a:prstGeom>
          <a:solidFill>
            <a:schemeClr val="accent2">
              <a:alpha val="10000"/>
            </a:schemeClr>
          </a:solidFill>
          <a:ln w="127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" name="구부러진 연결선 4"/>
          <p:cNvCxnSpPr>
            <a:stCxn id="3" idx="1"/>
          </p:cNvCxnSpPr>
          <p:nvPr/>
        </p:nvCxnSpPr>
        <p:spPr>
          <a:xfrm rot="10800000" flipV="1">
            <a:off x="3197290" y="2050883"/>
            <a:ext cx="4506804" cy="592790"/>
          </a:xfrm>
          <a:prstGeom prst="curvedConnector3">
            <a:avLst/>
          </a:prstGeom>
          <a:solidFill>
            <a:schemeClr val="accent2">
              <a:alpha val="10000"/>
            </a:schemeClr>
          </a:solidFill>
          <a:ln w="12700"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7704094" y="2158883"/>
            <a:ext cx="3024000" cy="216000"/>
          </a:xfrm>
          <a:prstGeom prst="roundRect">
            <a:avLst/>
          </a:prstGeom>
          <a:solidFill>
            <a:schemeClr val="accent2">
              <a:alpha val="10000"/>
            </a:schemeClr>
          </a:solidFill>
          <a:ln w="127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9" name="구부러진 연결선 38"/>
          <p:cNvCxnSpPr>
            <a:stCxn id="36" idx="1"/>
          </p:cNvCxnSpPr>
          <p:nvPr/>
        </p:nvCxnSpPr>
        <p:spPr>
          <a:xfrm rot="10800000" flipV="1">
            <a:off x="3203510" y="2266882"/>
            <a:ext cx="4500584" cy="874423"/>
          </a:xfrm>
          <a:prstGeom prst="curvedConnector3">
            <a:avLst/>
          </a:prstGeom>
          <a:solidFill>
            <a:schemeClr val="accent2">
              <a:alpha val="10000"/>
            </a:schemeClr>
          </a:solidFill>
          <a:ln w="12700"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15785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503485"/>
              </p:ext>
            </p:extLst>
          </p:nvPr>
        </p:nvGraphicFramePr>
        <p:xfrm>
          <a:off x="324094" y="1222959"/>
          <a:ext cx="11520000" cy="5040000"/>
        </p:xfrm>
        <a:graphic>
          <a:graphicData uri="http://schemas.openxmlformats.org/drawingml/2006/table">
            <a:tbl>
              <a:tblPr/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영역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영역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작업내용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비고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FRONT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상품리스트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카테고리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브랜드관 등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표현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 필터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상품상세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상단 영역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하단 영역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표현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배송방법 선택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등급 별 정책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장바구니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패밀리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표현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배송방법 선택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등급 별 정책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패밀리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표현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배송방법 선택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등급 별 정책 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출입 정보 입력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안내 문구 등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마이페이지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주문목록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주문상세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취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반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교 등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표현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배송방법 선택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등급 별 정책 개발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출입 정보 입력 기능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안내 문구 등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메시지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알림톡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문자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주문완료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배송시작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배송지연 등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알림톡 생성 및 적용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000">
                <a:tc rowSpan="1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NBOS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상품관리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세트상품관리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700" b="0" i="0" u="none" strike="noStrike">
                        <a:solidFill>
                          <a:srgbClr val="262626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주문목록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배송지 변경 기능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주문목록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배송지 변경 기능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배송목록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중계지연 현황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출고내역 조회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 가키인 현황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영업일 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운영일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배송예정일기준시간관리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기준 시간 기능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문구 노출 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문구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신규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새벽배송 지역 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우편번호 기준 새벽배송 가능 지역 관리 기능 신규 개발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0000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OMS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상품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컨텐츠 통합조회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주문내역조회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조회화면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상세화면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 하위 메뉴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택배관리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 하위 메뉴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권혁 조회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안산센터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 하위 메뉴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조회 기능 추가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구분 추가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000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배송사 </a:t>
                      </a:r>
                      <a:r>
                        <a:rPr 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API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배송권역조회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배송가능권역 결과값 호출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 접수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취소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 접수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 수정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주문 취소 데이터 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반품 접수 </a:t>
                      </a:r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교환 접수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수거지시 데이터 연동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배송정보조회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1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배송 상태 값 호출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700" b="0" i="0" u="none" strike="noStrike">
                          <a:solidFill>
                            <a:srgbClr val="262626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4" name="모서리가 둥근 직사각형 3"/>
          <p:cNvSpPr/>
          <p:nvPr/>
        </p:nvSpPr>
        <p:spPr>
          <a:xfrm>
            <a:off x="324094" y="754959"/>
            <a:ext cx="288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당일배송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 예상 범위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892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모서리가 둥근 직사각형 109"/>
          <p:cNvSpPr/>
          <p:nvPr/>
        </p:nvSpPr>
        <p:spPr>
          <a:xfrm>
            <a:off x="8508644" y="4661810"/>
            <a:ext cx="2304000" cy="1368000"/>
          </a:xfrm>
          <a:prstGeom prst="roundRect">
            <a:avLst/>
          </a:prstGeom>
          <a:solidFill>
            <a:srgbClr val="FFF9E7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72000" rIns="36000" bIns="36000" rtlCol="0" anchor="ctr"/>
          <a:lstStyle/>
          <a:p>
            <a:pPr algn="ctr"/>
            <a:endParaRPr lang="ko-KR" altLang="en-US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3581624" y="1421999"/>
            <a:ext cx="2304000" cy="1368000"/>
          </a:xfrm>
          <a:prstGeom prst="roundRect">
            <a:avLst/>
          </a:prstGeom>
          <a:solidFill>
            <a:srgbClr val="FFF9E7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72000" rIns="36000" bIns="36000" rtlCol="0" anchor="ctr"/>
          <a:lstStyle/>
          <a:p>
            <a:pPr algn="ctr"/>
            <a:endParaRPr lang="ko-KR" altLang="en-US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모서리가 둥근 직사각형 3"/>
          <p:cNvSpPr/>
          <p:nvPr/>
        </p:nvSpPr>
        <p:spPr>
          <a:xfrm>
            <a:off x="324094" y="754959"/>
            <a:ext cx="216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Operation Flow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23530" y="1799999"/>
            <a:ext cx="504000" cy="612000"/>
            <a:chOff x="902544" y="761636"/>
            <a:chExt cx="504000" cy="612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544" y="761636"/>
              <a:ext cx="360000" cy="36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902544" y="1193636"/>
              <a:ext cx="504000" cy="180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non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7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LFmall</a:t>
              </a:r>
              <a:endParaRPr lang="ko-KR" altLang="en-US" sz="7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323530" y="3419847"/>
            <a:ext cx="504000" cy="612000"/>
            <a:chOff x="902544" y="761636"/>
            <a:chExt cx="504000" cy="612000"/>
          </a:xfrm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544" y="761636"/>
              <a:ext cx="360000" cy="36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902544" y="1193636"/>
              <a:ext cx="504000" cy="180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non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7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OMS</a:t>
              </a:r>
              <a:endParaRPr lang="ko-KR" altLang="en-US" sz="7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323530" y="5039695"/>
            <a:ext cx="504000" cy="612000"/>
            <a:chOff x="902544" y="761636"/>
            <a:chExt cx="504000" cy="612000"/>
          </a:xfrm>
        </p:grpSpPr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544" y="761636"/>
              <a:ext cx="360000" cy="36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902544" y="1193636"/>
              <a:ext cx="504000" cy="180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non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7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물류혁신</a:t>
              </a:r>
            </a:p>
          </p:txBody>
        </p:sp>
      </p:grpSp>
      <p:sp>
        <p:nvSpPr>
          <p:cNvPr id="16" name="타원 15"/>
          <p:cNvSpPr/>
          <p:nvPr/>
        </p:nvSpPr>
        <p:spPr>
          <a:xfrm>
            <a:off x="2501624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장바구니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1269869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상품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상세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617394B-F1B1-4D43-9D55-8D39C6B40841}"/>
              </a:ext>
            </a:extLst>
          </p:cNvPr>
          <p:cNvCxnSpPr>
            <a:cxnSpLocks/>
          </p:cNvCxnSpPr>
          <p:nvPr/>
        </p:nvCxnSpPr>
        <p:spPr>
          <a:xfrm>
            <a:off x="144094" y="2915999"/>
            <a:ext cx="11880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617394B-F1B1-4D43-9D55-8D39C6B40841}"/>
              </a:ext>
            </a:extLst>
          </p:cNvPr>
          <p:cNvCxnSpPr>
            <a:cxnSpLocks/>
          </p:cNvCxnSpPr>
          <p:nvPr/>
        </p:nvCxnSpPr>
        <p:spPr>
          <a:xfrm>
            <a:off x="144094" y="4535847"/>
            <a:ext cx="11880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타원 19"/>
          <p:cNvSpPr/>
          <p:nvPr/>
        </p:nvSpPr>
        <p:spPr>
          <a:xfrm>
            <a:off x="3733379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주문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결제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3221624" y="2105999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22" name="타원 21"/>
          <p:cNvSpPr/>
          <p:nvPr/>
        </p:nvSpPr>
        <p:spPr>
          <a:xfrm>
            <a:off x="7428644" y="4985695"/>
            <a:ext cx="720000" cy="720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송장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출력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3733379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주문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접수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24" idx="6"/>
            <a:endCxn id="60" idx="2"/>
          </p:cNvCxnSpPr>
          <p:nvPr/>
        </p:nvCxnSpPr>
        <p:spPr>
          <a:xfrm>
            <a:off x="4453379" y="3725847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42" name="타원 41"/>
          <p:cNvSpPr/>
          <p:nvPr/>
        </p:nvSpPr>
        <p:spPr>
          <a:xfrm>
            <a:off x="11123906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클레임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반품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교환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17" idx="6"/>
            <a:endCxn id="16" idx="2"/>
          </p:cNvCxnSpPr>
          <p:nvPr/>
        </p:nvCxnSpPr>
        <p:spPr>
          <a:xfrm>
            <a:off x="1989869" y="2105999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51" name="타원 50"/>
          <p:cNvSpPr/>
          <p:nvPr/>
        </p:nvSpPr>
        <p:spPr>
          <a:xfrm>
            <a:off x="7428644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주문조회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4" name="타원 53"/>
          <p:cNvSpPr/>
          <p:nvPr/>
        </p:nvSpPr>
        <p:spPr>
          <a:xfrm>
            <a:off x="9892154" y="1745999"/>
            <a:ext cx="720000" cy="72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완료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965134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출고처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지정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6196889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입고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확정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타원 62"/>
          <p:cNvSpPr/>
          <p:nvPr/>
        </p:nvSpPr>
        <p:spPr>
          <a:xfrm>
            <a:off x="7428644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송장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등록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타원 63"/>
          <p:cNvSpPr/>
          <p:nvPr/>
        </p:nvSpPr>
        <p:spPr>
          <a:xfrm>
            <a:off x="8660399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출고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타원 66"/>
          <p:cNvSpPr/>
          <p:nvPr/>
        </p:nvSpPr>
        <p:spPr>
          <a:xfrm>
            <a:off x="6196889" y="4985695"/>
            <a:ext cx="720000" cy="720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피킹</a:t>
            </a:r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패킹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1" name="타원 70"/>
          <p:cNvSpPr/>
          <p:nvPr/>
        </p:nvSpPr>
        <p:spPr>
          <a:xfrm>
            <a:off x="8660399" y="4985695"/>
            <a:ext cx="720000" cy="720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집하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91" name="그룹 90"/>
          <p:cNvGrpSpPr/>
          <p:nvPr/>
        </p:nvGrpSpPr>
        <p:grpSpPr>
          <a:xfrm>
            <a:off x="4869416" y="1530444"/>
            <a:ext cx="900000" cy="1151109"/>
            <a:chOff x="8991600" y="4776977"/>
            <a:chExt cx="900000" cy="1151109"/>
          </a:xfrm>
        </p:grpSpPr>
        <p:sp>
          <p:nvSpPr>
            <p:cNvPr id="92" name="모서리가 둥근 직사각형 91"/>
            <p:cNvSpPr/>
            <p:nvPr/>
          </p:nvSpPr>
          <p:spPr>
            <a:xfrm>
              <a:off x="8991600" y="4776977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일반배송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93" name="모서리가 둥근 직사각형 92"/>
            <p:cNvSpPr/>
            <p:nvPr/>
          </p:nvSpPr>
          <p:spPr>
            <a:xfrm>
              <a:off x="8991600" y="5208086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당일배송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94" name="모서리가 둥근 직사각형 93"/>
            <p:cNvSpPr/>
            <p:nvPr/>
          </p:nvSpPr>
          <p:spPr>
            <a:xfrm>
              <a:off x="8991600" y="5640086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새벽배송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95" name="연결선: 꺾임 138">
            <a:extLst>
              <a:ext uri="{FF2B5EF4-FFF2-40B4-BE49-F238E27FC236}">
                <a16:creationId xmlns:a16="http://schemas.microsoft.com/office/drawing/2014/main" id="{B6154886-1496-4674-9865-77AC949F3ECE}"/>
              </a:ext>
            </a:extLst>
          </p:cNvPr>
          <p:cNvCxnSpPr>
            <a:cxnSpLocks/>
            <a:stCxn id="20" idx="6"/>
            <a:endCxn id="92" idx="1"/>
          </p:cNvCxnSpPr>
          <p:nvPr/>
        </p:nvCxnSpPr>
        <p:spPr>
          <a:xfrm flipV="1">
            <a:off x="4453379" y="1674444"/>
            <a:ext cx="416037" cy="43155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20" idx="6"/>
            <a:endCxn id="93" idx="1"/>
          </p:cNvCxnSpPr>
          <p:nvPr/>
        </p:nvCxnSpPr>
        <p:spPr>
          <a:xfrm flipV="1">
            <a:off x="4453379" y="2105553"/>
            <a:ext cx="416037" cy="446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06" name="연결선: 꺾임 138">
            <a:extLst>
              <a:ext uri="{FF2B5EF4-FFF2-40B4-BE49-F238E27FC236}">
                <a16:creationId xmlns:a16="http://schemas.microsoft.com/office/drawing/2014/main" id="{B6154886-1496-4674-9865-77AC949F3ECE}"/>
              </a:ext>
            </a:extLst>
          </p:cNvPr>
          <p:cNvCxnSpPr>
            <a:cxnSpLocks/>
            <a:stCxn id="20" idx="6"/>
            <a:endCxn id="94" idx="1"/>
          </p:cNvCxnSpPr>
          <p:nvPr/>
        </p:nvCxnSpPr>
        <p:spPr>
          <a:xfrm>
            <a:off x="4453379" y="2105999"/>
            <a:ext cx="416037" cy="431554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grpSp>
        <p:nvGrpSpPr>
          <p:cNvPr id="111" name="그룹 110"/>
          <p:cNvGrpSpPr/>
          <p:nvPr/>
        </p:nvGrpSpPr>
        <p:grpSpPr>
          <a:xfrm>
            <a:off x="9802154" y="4770217"/>
            <a:ext cx="900000" cy="1151109"/>
            <a:chOff x="8991600" y="4776977"/>
            <a:chExt cx="900000" cy="1151109"/>
          </a:xfrm>
        </p:grpSpPr>
        <p:sp>
          <p:nvSpPr>
            <p:cNvPr id="112" name="모서리가 둥근 직사각형 111"/>
            <p:cNvSpPr/>
            <p:nvPr/>
          </p:nvSpPr>
          <p:spPr>
            <a:xfrm>
              <a:off x="8991600" y="4776977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일반배송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3" name="모서리가 둥근 직사각형 112"/>
            <p:cNvSpPr/>
            <p:nvPr/>
          </p:nvSpPr>
          <p:spPr>
            <a:xfrm>
              <a:off x="8991600" y="5208086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당일배송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4" name="모서리가 둥근 직사각형 113"/>
            <p:cNvSpPr/>
            <p:nvPr/>
          </p:nvSpPr>
          <p:spPr>
            <a:xfrm>
              <a:off x="8991600" y="5640086"/>
              <a:ext cx="900000" cy="288000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>
              <a:outerShdw blurRad="12700" dist="12700" dir="2700000" algn="tl" rotWithShape="0">
                <a:schemeClr val="tx1">
                  <a:lumMod val="75000"/>
                  <a:lumOff val="25000"/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새벽배송</a:t>
              </a:r>
              <a:endParaRPr lang="ko-KR" altLang="en-US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115" name="연결선: 꺾임 138">
            <a:extLst>
              <a:ext uri="{FF2B5EF4-FFF2-40B4-BE49-F238E27FC236}">
                <a16:creationId xmlns:a16="http://schemas.microsoft.com/office/drawing/2014/main" id="{B6154886-1496-4674-9865-77AC949F3ECE}"/>
              </a:ext>
            </a:extLst>
          </p:cNvPr>
          <p:cNvCxnSpPr>
            <a:cxnSpLocks/>
            <a:stCxn id="71" idx="6"/>
            <a:endCxn id="112" idx="1"/>
          </p:cNvCxnSpPr>
          <p:nvPr/>
        </p:nvCxnSpPr>
        <p:spPr>
          <a:xfrm flipV="1">
            <a:off x="9380399" y="4914217"/>
            <a:ext cx="421755" cy="431478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71" idx="6"/>
            <a:endCxn id="113" idx="1"/>
          </p:cNvCxnSpPr>
          <p:nvPr/>
        </p:nvCxnSpPr>
        <p:spPr>
          <a:xfrm flipV="1">
            <a:off x="9380399" y="5345326"/>
            <a:ext cx="421755" cy="369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7" name="연결선: 꺾임 138">
            <a:extLst>
              <a:ext uri="{FF2B5EF4-FFF2-40B4-BE49-F238E27FC236}">
                <a16:creationId xmlns:a16="http://schemas.microsoft.com/office/drawing/2014/main" id="{B6154886-1496-4674-9865-77AC949F3ECE}"/>
              </a:ext>
            </a:extLst>
          </p:cNvPr>
          <p:cNvCxnSpPr>
            <a:cxnSpLocks/>
            <a:stCxn id="71" idx="6"/>
            <a:endCxn id="114" idx="1"/>
          </p:cNvCxnSpPr>
          <p:nvPr/>
        </p:nvCxnSpPr>
        <p:spPr>
          <a:xfrm>
            <a:off x="9380399" y="5345695"/>
            <a:ext cx="421755" cy="43163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20" idx="4"/>
            <a:endCxn id="24" idx="0"/>
          </p:cNvCxnSpPr>
          <p:nvPr/>
        </p:nvCxnSpPr>
        <p:spPr>
          <a:xfrm>
            <a:off x="4093379" y="2465999"/>
            <a:ext cx="0" cy="899848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headEnd type="oval" w="med" len="med"/>
            <a:tailEnd type="oval" w="med" len="med"/>
          </a:ln>
          <a:effectLst/>
        </p:spPr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51" idx="4"/>
            <a:endCxn id="63" idx="0"/>
          </p:cNvCxnSpPr>
          <p:nvPr/>
        </p:nvCxnSpPr>
        <p:spPr>
          <a:xfrm>
            <a:off x="7788644" y="2465999"/>
            <a:ext cx="0" cy="899848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headEnd type="oval" w="med" len="med"/>
            <a:tailEnd type="oval" w="med" len="med"/>
          </a:ln>
          <a:effectLst/>
        </p:spPr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0" idx="6"/>
            <a:endCxn id="62" idx="2"/>
          </p:cNvCxnSpPr>
          <p:nvPr/>
        </p:nvCxnSpPr>
        <p:spPr>
          <a:xfrm>
            <a:off x="5685134" y="3725847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2" idx="6"/>
            <a:endCxn id="63" idx="2"/>
          </p:cNvCxnSpPr>
          <p:nvPr/>
        </p:nvCxnSpPr>
        <p:spPr>
          <a:xfrm>
            <a:off x="6916889" y="3725847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3" idx="6"/>
            <a:endCxn id="64" idx="2"/>
          </p:cNvCxnSpPr>
          <p:nvPr/>
        </p:nvCxnSpPr>
        <p:spPr>
          <a:xfrm>
            <a:off x="8148644" y="3725847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7" idx="6"/>
            <a:endCxn id="22" idx="2"/>
          </p:cNvCxnSpPr>
          <p:nvPr/>
        </p:nvCxnSpPr>
        <p:spPr>
          <a:xfrm>
            <a:off x="6916889" y="5345695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22" idx="6"/>
            <a:endCxn id="71" idx="2"/>
          </p:cNvCxnSpPr>
          <p:nvPr/>
        </p:nvCxnSpPr>
        <p:spPr>
          <a:xfrm>
            <a:off x="8148644" y="5345695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2" idx="4"/>
            <a:endCxn id="67" idx="0"/>
          </p:cNvCxnSpPr>
          <p:nvPr/>
        </p:nvCxnSpPr>
        <p:spPr>
          <a:xfrm>
            <a:off x="6556889" y="4085847"/>
            <a:ext cx="0" cy="899848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headEnd type="oval" w="med" len="med"/>
            <a:tailEnd type="oval" w="med" len="med"/>
          </a:ln>
          <a:effectLst/>
        </p:spPr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3" idx="4"/>
            <a:endCxn id="22" idx="0"/>
          </p:cNvCxnSpPr>
          <p:nvPr/>
        </p:nvCxnSpPr>
        <p:spPr>
          <a:xfrm>
            <a:off x="7788644" y="4085847"/>
            <a:ext cx="0" cy="899848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headEnd type="oval" w="med" len="med"/>
            <a:tailEnd type="oval" w="med" len="med"/>
          </a:ln>
          <a:effectLst/>
        </p:spPr>
      </p:cxnSp>
      <p:sp>
        <p:nvSpPr>
          <p:cNvPr id="152" name="타원 151"/>
          <p:cNvSpPr/>
          <p:nvPr/>
        </p:nvSpPr>
        <p:spPr>
          <a:xfrm>
            <a:off x="9892154" y="3365847"/>
            <a:ext cx="720000" cy="72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12700" dist="127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배송</a:t>
            </a:r>
            <a:endParaRPr lang="en-US" altLang="ko-KR" sz="8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완료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54" idx="4"/>
            <a:endCxn id="152" idx="0"/>
          </p:cNvCxnSpPr>
          <p:nvPr/>
        </p:nvCxnSpPr>
        <p:spPr>
          <a:xfrm>
            <a:off x="10252154" y="2465999"/>
            <a:ext cx="0" cy="899848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headEnd type="oval" w="med" len="med"/>
            <a:tailEnd type="oval" w="med" len="med"/>
          </a:ln>
          <a:effectLst/>
        </p:spPr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54" idx="6"/>
            <a:endCxn id="42" idx="2"/>
          </p:cNvCxnSpPr>
          <p:nvPr/>
        </p:nvCxnSpPr>
        <p:spPr>
          <a:xfrm>
            <a:off x="10612154" y="2105999"/>
            <a:ext cx="511752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lgDash"/>
            <a:tailEnd type="triangle"/>
          </a:ln>
          <a:effectLst/>
        </p:spPr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3D9B20DA-AA59-4AA9-AC84-6C3B8844582A}"/>
              </a:ext>
            </a:extLst>
          </p:cNvPr>
          <p:cNvCxnSpPr>
            <a:cxnSpLocks/>
            <a:stCxn id="64" idx="6"/>
            <a:endCxn id="152" idx="2"/>
          </p:cNvCxnSpPr>
          <p:nvPr/>
        </p:nvCxnSpPr>
        <p:spPr>
          <a:xfrm>
            <a:off x="9380399" y="3725847"/>
            <a:ext cx="511755" cy="0"/>
          </a:xfrm>
          <a:prstGeom prst="straightConnector1">
            <a:avLst/>
          </a:prstGeom>
          <a:noFill/>
          <a:ln w="6350" cap="flat" cmpd="sng" algn="ctr">
            <a:solidFill>
              <a:srgbClr val="FFFFFF">
                <a:lumMod val="50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520267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268" y="1321973"/>
            <a:ext cx="2033605" cy="468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991" y="1321973"/>
            <a:ext cx="2033605" cy="468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</p:pic>
      <p:sp>
        <p:nvSpPr>
          <p:cNvPr id="9" name="모서리가 둥근 직사각형 8"/>
          <p:cNvSpPr/>
          <p:nvPr/>
        </p:nvSpPr>
        <p:spPr>
          <a:xfrm>
            <a:off x="324094" y="754959"/>
            <a:ext cx="2160000" cy="288000"/>
          </a:xfrm>
          <a:prstGeom prst="roundRect">
            <a:avLst>
              <a:gd name="adj" fmla="val 50000"/>
            </a:avLst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새벽배송 </a:t>
            </a:r>
            <a:r>
              <a:rPr lang="en-US" altLang="ko-KR" sz="9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Operation Flow</a:t>
            </a:r>
            <a:endParaRPr lang="ko-KR" altLang="en-US" sz="9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" y="102704"/>
            <a:ext cx="2283548" cy="226591"/>
          </a:xfrm>
          <a:prstGeom prst="rect">
            <a:avLst/>
          </a:prstGeom>
          <a:noFill/>
        </p:spPr>
        <p:txBody>
          <a:bodyPr wrap="none" lIns="360000" tIns="36000" rIns="360000" bIns="36000" rtlCol="0" anchor="ctr">
            <a:spAutoFit/>
          </a:bodyPr>
          <a:lstStyle/>
          <a:p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당일</a:t>
            </a:r>
            <a:r>
              <a:rPr lang="en-US" altLang="ko-KR" sz="1000" b="1">
                <a:solidFill>
                  <a:schemeClr val="bg1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b="1">
                <a:solidFill>
                  <a:schemeClr val="bg1"/>
                </a:solidFill>
                <a:latin typeface="맑은 고딕" panose="020B0503020000020004" pitchFamily="50" charset="-127"/>
              </a:rPr>
              <a:t>새벽 배송서비스 조사</a:t>
            </a:r>
            <a:endParaRPr lang="ko-KR" altLang="en-US" sz="1000" b="1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99" y="1321973"/>
            <a:ext cx="2033605" cy="468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D9B2FB0-E0CD-4CA2-6828-BCE759DB68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0822" y="1321973"/>
            <a:ext cx="2012615" cy="468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F2F0463-B2CC-F9CA-36D1-7549E578F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7545" y="1321973"/>
            <a:ext cx="2012615" cy="468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5400" dist="25400" dir="2700000" algn="tl" rotWithShape="0">
              <a:schemeClr val="tx1">
                <a:lumMod val="75000"/>
                <a:lumOff val="25000"/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0835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3175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 sz="800" dirty="0">
            <a:solidFill>
              <a:schemeClr val="tx1">
                <a:lumMod val="75000"/>
                <a:lumOff val="25000"/>
              </a:schemeClr>
            </a:solidFill>
            <a:latin typeface="맑은 고딕" panose="020B0503020000020004" pitchFamily="50" charset="-127"/>
            <a:ea typeface="맑은 고딕" panose="020B0503020000020004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108000" tIns="36000" rIns="108000" bIns="36000" rtlCol="0" anchor="ctr">
        <a:spAutoFit/>
      </a:bodyPr>
      <a:lstStyle>
        <a:defPPr algn="ctr">
          <a:defRPr sz="800" b="1" dirty="0" smtClean="0">
            <a:solidFill>
              <a:schemeClr val="tx1">
                <a:lumMod val="75000"/>
                <a:lumOff val="25000"/>
              </a:schemeClr>
            </a:solidFill>
            <a:latin typeface="맑은 고딕" panose="020B0503020000020004" pitchFamily="50" charset="-127"/>
            <a:ea typeface="맑은 고딕" panose="020B050302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30371</TotalTime>
  <Words>3268</Words>
  <Application>Microsoft Office PowerPoint</Application>
  <PresentationFormat>사용자 지정</PresentationFormat>
  <Paragraphs>1513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최범열</dc:creator>
  <cp:lastModifiedBy>최범열</cp:lastModifiedBy>
  <cp:revision>9875</cp:revision>
  <dcterms:created xsi:type="dcterms:W3CDTF">2021-02-15T00:35:33Z</dcterms:created>
  <dcterms:modified xsi:type="dcterms:W3CDTF">2026-05-18T08:24:25Z</dcterms:modified>
</cp:coreProperties>
</file>